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14719" y="216000"/>
            <a:ext cx="10490561" cy="10260000"/>
          </a:xfrm>
          <a:prstGeom prst="rect">
            <a:avLst/>
          </a:prstGeom>
          <a:solidFill>
            <a:srgbClr val="F4F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637505" y="469617"/>
            <a:ext cx="9844988" cy="357370"/>
          </a:xfrm>
          <a:prstGeom prst="roundRect">
            <a:avLst>
              <a:gd name="adj" fmla="val 12903"/>
            </a:avLst>
          </a:prstGeom>
          <a:solidFill>
            <a:srgbClr val="5E7249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089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高校共享道路慢行主体的安全认知偏差与行为引导研究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0561" y="942269"/>
            <a:ext cx="1959775" cy="265146"/>
          </a:xfrm>
          <a:prstGeom prst="roundRect">
            <a:avLst>
              <a:gd name="adj" fmla="val 13043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62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研究脉络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4786" y="942269"/>
            <a:ext cx="5694876" cy="265146"/>
          </a:xfrm>
          <a:prstGeom prst="roundRect">
            <a:avLst>
              <a:gd name="adj" fmla="val 13043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62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84112" y="942269"/>
            <a:ext cx="1775325" cy="265146"/>
          </a:xfrm>
          <a:prstGeom prst="roundRect">
            <a:avLst>
              <a:gd name="adj" fmla="val 13043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62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研究方法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37505" y="1449505"/>
            <a:ext cx="9844988" cy="2075056"/>
          </a:xfrm>
          <a:prstGeom prst="roundRect">
            <a:avLst>
              <a:gd name="adj" fmla="val 2222"/>
            </a:avLst>
          </a:prstGeom>
          <a:solidFill>
            <a:srgbClr val="E8EBDE">
              <a:alpha val="5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37505" y="5784067"/>
            <a:ext cx="9844988" cy="2005887"/>
          </a:xfrm>
          <a:prstGeom prst="roundRect">
            <a:avLst>
              <a:gd name="adj" fmla="val 2298"/>
            </a:avLst>
          </a:prstGeom>
          <a:solidFill>
            <a:srgbClr val="E8EBDE">
              <a:alpha val="5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660561" y="1530202"/>
            <a:ext cx="1959776" cy="1913663"/>
          </a:xfrm>
          <a:custGeom>
            <a:avLst/>
            <a:gdLst/>
            <a:ahLst/>
            <a:cxnLst/>
            <a:rect l="l" t="t" r="r" b="b"/>
            <a:pathLst>
              <a:path w="1959776" h="1913663">
                <a:moveTo>
                  <a:pt x="0" y="0"/>
                </a:moveTo>
                <a:lnTo>
                  <a:pt x="1798382" y="0"/>
                </a:lnTo>
                <a:lnTo>
                  <a:pt x="1959776" y="956831"/>
                </a:lnTo>
                <a:lnTo>
                  <a:pt x="1798382" y="1913663"/>
                </a:lnTo>
                <a:lnTo>
                  <a:pt x="0" y="1913663"/>
                </a:lnTo>
                <a:close/>
              </a:path>
            </a:pathLst>
          </a:custGeom>
          <a:solidFill>
            <a:srgbClr val="FC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660561" y="1530202"/>
            <a:ext cx="426540" cy="1913663"/>
          </a:xfrm>
          <a:custGeom>
            <a:avLst/>
            <a:gdLst/>
            <a:ahLst/>
            <a:cxnLst/>
            <a:rect l="l" t="t" r="r" b="b"/>
            <a:pathLst>
              <a:path w="426540" h="1913663">
                <a:moveTo>
                  <a:pt x="0" y="0"/>
                </a:moveTo>
                <a:lnTo>
                  <a:pt x="426540" y="0"/>
                </a:lnTo>
                <a:lnTo>
                  <a:pt x="426540" y="1913663"/>
                </a:lnTo>
                <a:lnTo>
                  <a:pt x="0" y="1913663"/>
                </a:lnTo>
                <a:close/>
              </a:path>
            </a:pathLst>
          </a:custGeom>
          <a:solidFill>
            <a:srgbClr val="97A9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660561" y="1530202"/>
            <a:ext cx="1959776" cy="1913663"/>
          </a:xfrm>
          <a:custGeom>
            <a:avLst/>
            <a:gdLst/>
            <a:ahLst/>
            <a:cxnLst/>
            <a:rect l="l" t="t" r="r" b="b"/>
            <a:pathLst>
              <a:path w="1959776" h="1913663">
                <a:moveTo>
                  <a:pt x="0" y="0"/>
                </a:moveTo>
                <a:lnTo>
                  <a:pt x="1798382" y="0"/>
                </a:lnTo>
                <a:lnTo>
                  <a:pt x="1959776" y="956831"/>
                </a:lnTo>
                <a:lnTo>
                  <a:pt x="1798382" y="1913663"/>
                </a:lnTo>
                <a:lnTo>
                  <a:pt x="0" y="1913663"/>
                </a:lnTo>
                <a:close/>
              </a:path>
            </a:pathLst>
          </a:custGeom>
          <a:noFill/>
          <a:ln w="6916">
            <a:solidFill>
              <a:srgbClr val="B9B9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3617" y="2002853"/>
            <a:ext cx="380426" cy="9683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</a:t>
            </a:r>
          </a:p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征</a:t>
            </a:r>
          </a:p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识</a:t>
            </a:r>
          </a:p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573" y="2291056"/>
            <a:ext cx="1441011" cy="3919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3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高校共享道路</a:t>
            </a:r>
          </a:p>
          <a:p>
            <a:pPr algn="ctr">
              <a:lnSpc>
                <a:spcPct val="128000"/>
              </a:lnSpc>
            </a:pPr>
            <a:r>
              <a:rPr sz="83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交通冲突特征识别</a:t>
            </a:r>
          </a:p>
        </p:txBody>
      </p:sp>
      <p:sp>
        <p:nvSpPr>
          <p:cNvPr id="14" name="Freeform 13"/>
          <p:cNvSpPr/>
          <p:nvPr/>
        </p:nvSpPr>
        <p:spPr>
          <a:xfrm>
            <a:off x="3484820" y="3478449"/>
            <a:ext cx="311258" cy="184449"/>
          </a:xfrm>
          <a:custGeom>
            <a:avLst/>
            <a:gdLst/>
            <a:ahLst/>
            <a:cxnLst/>
            <a:rect l="l" t="t" r="r" b="b"/>
            <a:pathLst>
              <a:path w="311258" h="184449">
                <a:moveTo>
                  <a:pt x="69168" y="0"/>
                </a:moveTo>
                <a:lnTo>
                  <a:pt x="242090" y="0"/>
                </a:lnTo>
                <a:lnTo>
                  <a:pt x="242090" y="103753"/>
                </a:lnTo>
                <a:lnTo>
                  <a:pt x="311258" y="103753"/>
                </a:lnTo>
                <a:lnTo>
                  <a:pt x="155629" y="184449"/>
                </a:lnTo>
                <a:lnTo>
                  <a:pt x="0" y="103753"/>
                </a:lnTo>
                <a:lnTo>
                  <a:pt x="69168" y="103753"/>
                </a:lnTo>
                <a:close/>
              </a:path>
            </a:pathLst>
          </a:custGeom>
          <a:solidFill>
            <a:srgbClr val="C0CC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84112" y="2043202"/>
            <a:ext cx="1775325" cy="242089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2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民族志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84112" y="2365988"/>
            <a:ext cx="1775325" cy="242089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2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访谈法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84112" y="2688775"/>
            <a:ext cx="1775325" cy="242089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2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问卷调研法</a:t>
            </a:r>
          </a:p>
        </p:txBody>
      </p:sp>
      <p:sp>
        <p:nvSpPr>
          <p:cNvPr id="18" name="Freeform 17"/>
          <p:cNvSpPr/>
          <p:nvPr/>
        </p:nvSpPr>
        <p:spPr>
          <a:xfrm>
            <a:off x="2660561" y="3674426"/>
            <a:ext cx="1959776" cy="1959776"/>
          </a:xfrm>
          <a:custGeom>
            <a:avLst/>
            <a:gdLst/>
            <a:ahLst/>
            <a:cxnLst/>
            <a:rect l="l" t="t" r="r" b="b"/>
            <a:pathLst>
              <a:path w="1959776" h="1959776">
                <a:moveTo>
                  <a:pt x="0" y="0"/>
                </a:moveTo>
                <a:lnTo>
                  <a:pt x="1798382" y="0"/>
                </a:lnTo>
                <a:lnTo>
                  <a:pt x="1959776" y="979888"/>
                </a:lnTo>
                <a:lnTo>
                  <a:pt x="1798382" y="1959776"/>
                </a:lnTo>
                <a:lnTo>
                  <a:pt x="0" y="1959776"/>
                </a:lnTo>
                <a:close/>
              </a:path>
            </a:pathLst>
          </a:custGeom>
          <a:solidFill>
            <a:srgbClr val="FC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660561" y="3674426"/>
            <a:ext cx="426540" cy="1959776"/>
          </a:xfrm>
          <a:custGeom>
            <a:avLst/>
            <a:gdLst/>
            <a:ahLst/>
            <a:cxnLst/>
            <a:rect l="l" t="t" r="r" b="b"/>
            <a:pathLst>
              <a:path w="426540" h="1959776">
                <a:moveTo>
                  <a:pt x="0" y="0"/>
                </a:moveTo>
                <a:lnTo>
                  <a:pt x="426540" y="0"/>
                </a:lnTo>
                <a:lnTo>
                  <a:pt x="426540" y="1959776"/>
                </a:lnTo>
                <a:lnTo>
                  <a:pt x="0" y="1959776"/>
                </a:lnTo>
                <a:close/>
              </a:path>
            </a:pathLst>
          </a:custGeom>
          <a:solidFill>
            <a:srgbClr val="97A9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660561" y="3674426"/>
            <a:ext cx="1959776" cy="1959776"/>
          </a:xfrm>
          <a:custGeom>
            <a:avLst/>
            <a:gdLst/>
            <a:ahLst/>
            <a:cxnLst/>
            <a:rect l="l" t="t" r="r" b="b"/>
            <a:pathLst>
              <a:path w="1959776" h="1959776">
                <a:moveTo>
                  <a:pt x="0" y="0"/>
                </a:moveTo>
                <a:lnTo>
                  <a:pt x="1798382" y="0"/>
                </a:lnTo>
                <a:lnTo>
                  <a:pt x="1959776" y="979888"/>
                </a:lnTo>
                <a:lnTo>
                  <a:pt x="1798382" y="1959776"/>
                </a:lnTo>
                <a:lnTo>
                  <a:pt x="0" y="1959776"/>
                </a:lnTo>
                <a:close/>
              </a:path>
            </a:pathLst>
          </a:custGeom>
          <a:noFill/>
          <a:ln w="6916">
            <a:solidFill>
              <a:srgbClr val="B9B9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83617" y="4170134"/>
            <a:ext cx="380426" cy="9683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</a:t>
            </a:r>
          </a:p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型</a:t>
            </a:r>
          </a:p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</a:t>
            </a:r>
          </a:p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5573" y="4360348"/>
            <a:ext cx="1441011" cy="5879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3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共享道路冲突主体</a:t>
            </a:r>
          </a:p>
          <a:p>
            <a:pPr algn="ctr">
              <a:lnSpc>
                <a:spcPct val="128000"/>
              </a:lnSpc>
            </a:pPr>
            <a:r>
              <a:rPr sz="83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安全认知与行为意图</a:t>
            </a:r>
          </a:p>
          <a:p>
            <a:pPr algn="ctr">
              <a:lnSpc>
                <a:spcPct val="128000"/>
              </a:lnSpc>
            </a:pPr>
            <a:r>
              <a:rPr sz="83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作用机理研究</a:t>
            </a:r>
          </a:p>
        </p:txBody>
      </p:sp>
      <p:sp>
        <p:nvSpPr>
          <p:cNvPr id="23" name="Freeform 22"/>
          <p:cNvSpPr/>
          <p:nvPr/>
        </p:nvSpPr>
        <p:spPr>
          <a:xfrm>
            <a:off x="3484820" y="5668786"/>
            <a:ext cx="311258" cy="184449"/>
          </a:xfrm>
          <a:custGeom>
            <a:avLst/>
            <a:gdLst/>
            <a:ahLst/>
            <a:cxnLst/>
            <a:rect l="l" t="t" r="r" b="b"/>
            <a:pathLst>
              <a:path w="311258" h="184449">
                <a:moveTo>
                  <a:pt x="69168" y="0"/>
                </a:moveTo>
                <a:lnTo>
                  <a:pt x="242090" y="0"/>
                </a:lnTo>
                <a:lnTo>
                  <a:pt x="242090" y="103753"/>
                </a:lnTo>
                <a:lnTo>
                  <a:pt x="311258" y="103753"/>
                </a:lnTo>
                <a:lnTo>
                  <a:pt x="155629" y="184449"/>
                </a:lnTo>
                <a:lnTo>
                  <a:pt x="0" y="103753"/>
                </a:lnTo>
                <a:lnTo>
                  <a:pt x="69168" y="103753"/>
                </a:lnTo>
                <a:close/>
              </a:path>
            </a:pathLst>
          </a:custGeom>
          <a:solidFill>
            <a:srgbClr val="C0CC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684112" y="4210483"/>
            <a:ext cx="1775325" cy="242089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2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文献研究法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84112" y="4533269"/>
            <a:ext cx="1775325" cy="242089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2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问卷调研法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4112" y="4856056"/>
            <a:ext cx="1775325" cy="242089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2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实证分析法</a:t>
            </a:r>
          </a:p>
        </p:txBody>
      </p:sp>
      <p:sp>
        <p:nvSpPr>
          <p:cNvPr id="27" name="Freeform 26"/>
          <p:cNvSpPr/>
          <p:nvPr/>
        </p:nvSpPr>
        <p:spPr>
          <a:xfrm>
            <a:off x="2660561" y="5864764"/>
            <a:ext cx="1959776" cy="1844494"/>
          </a:xfrm>
          <a:custGeom>
            <a:avLst/>
            <a:gdLst/>
            <a:ahLst/>
            <a:cxnLst/>
            <a:rect l="l" t="t" r="r" b="b"/>
            <a:pathLst>
              <a:path w="1959776" h="1844494">
                <a:moveTo>
                  <a:pt x="0" y="0"/>
                </a:moveTo>
                <a:lnTo>
                  <a:pt x="1798382" y="0"/>
                </a:lnTo>
                <a:lnTo>
                  <a:pt x="1959776" y="922247"/>
                </a:lnTo>
                <a:lnTo>
                  <a:pt x="1798382" y="1844494"/>
                </a:lnTo>
                <a:lnTo>
                  <a:pt x="0" y="1844494"/>
                </a:lnTo>
                <a:close/>
              </a:path>
            </a:pathLst>
          </a:custGeom>
          <a:solidFill>
            <a:srgbClr val="FC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660561" y="5864764"/>
            <a:ext cx="426540" cy="1844494"/>
          </a:xfrm>
          <a:custGeom>
            <a:avLst/>
            <a:gdLst/>
            <a:ahLst/>
            <a:cxnLst/>
            <a:rect l="l" t="t" r="r" b="b"/>
            <a:pathLst>
              <a:path w="426540" h="1844494">
                <a:moveTo>
                  <a:pt x="0" y="0"/>
                </a:moveTo>
                <a:lnTo>
                  <a:pt x="426540" y="0"/>
                </a:lnTo>
                <a:lnTo>
                  <a:pt x="426540" y="1844494"/>
                </a:lnTo>
                <a:lnTo>
                  <a:pt x="0" y="1844494"/>
                </a:lnTo>
                <a:close/>
              </a:path>
            </a:pathLst>
          </a:custGeom>
          <a:solidFill>
            <a:srgbClr val="97A9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660561" y="5864764"/>
            <a:ext cx="1959776" cy="1844494"/>
          </a:xfrm>
          <a:custGeom>
            <a:avLst/>
            <a:gdLst/>
            <a:ahLst/>
            <a:cxnLst/>
            <a:rect l="l" t="t" r="r" b="b"/>
            <a:pathLst>
              <a:path w="1959776" h="1844494">
                <a:moveTo>
                  <a:pt x="0" y="0"/>
                </a:moveTo>
                <a:lnTo>
                  <a:pt x="1798382" y="0"/>
                </a:lnTo>
                <a:lnTo>
                  <a:pt x="1959776" y="922247"/>
                </a:lnTo>
                <a:lnTo>
                  <a:pt x="1798382" y="1844494"/>
                </a:lnTo>
                <a:lnTo>
                  <a:pt x="0" y="1844494"/>
                </a:lnTo>
                <a:close/>
              </a:path>
            </a:pathLst>
          </a:custGeom>
          <a:noFill/>
          <a:ln w="6916">
            <a:solidFill>
              <a:srgbClr val="B9B9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83617" y="6302831"/>
            <a:ext cx="380426" cy="9683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</a:t>
            </a:r>
          </a:p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求</a:t>
            </a:r>
          </a:p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识</a:t>
            </a:r>
          </a:p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5573" y="6591033"/>
            <a:ext cx="1441011" cy="3919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3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共享道路交通冲突主体</a:t>
            </a:r>
          </a:p>
          <a:p>
            <a:pPr algn="ctr">
              <a:lnSpc>
                <a:spcPct val="128000"/>
              </a:lnSpc>
            </a:pPr>
            <a:r>
              <a:rPr sz="83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认知偏差与需求分析</a:t>
            </a:r>
          </a:p>
        </p:txBody>
      </p:sp>
      <p:sp>
        <p:nvSpPr>
          <p:cNvPr id="32" name="Freeform 31"/>
          <p:cNvSpPr/>
          <p:nvPr/>
        </p:nvSpPr>
        <p:spPr>
          <a:xfrm>
            <a:off x="3484820" y="7743842"/>
            <a:ext cx="311258" cy="184450"/>
          </a:xfrm>
          <a:custGeom>
            <a:avLst/>
            <a:gdLst/>
            <a:ahLst/>
            <a:cxnLst/>
            <a:rect l="l" t="t" r="r" b="b"/>
            <a:pathLst>
              <a:path w="311258" h="184450">
                <a:moveTo>
                  <a:pt x="69168" y="0"/>
                </a:moveTo>
                <a:lnTo>
                  <a:pt x="242090" y="0"/>
                </a:lnTo>
                <a:lnTo>
                  <a:pt x="242090" y="103753"/>
                </a:lnTo>
                <a:lnTo>
                  <a:pt x="311258" y="103753"/>
                </a:lnTo>
                <a:lnTo>
                  <a:pt x="155629" y="184450"/>
                </a:lnTo>
                <a:lnTo>
                  <a:pt x="0" y="103753"/>
                </a:lnTo>
                <a:lnTo>
                  <a:pt x="69168" y="103753"/>
                </a:lnTo>
                <a:close/>
              </a:path>
            </a:pathLst>
          </a:custGeom>
          <a:solidFill>
            <a:srgbClr val="C0CC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684112" y="6343179"/>
            <a:ext cx="1775325" cy="242089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2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问卷调研法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84112" y="6665966"/>
            <a:ext cx="1775325" cy="242089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2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访谈法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84112" y="6988752"/>
            <a:ext cx="1775325" cy="242089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2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实证分析法</a:t>
            </a:r>
          </a:p>
        </p:txBody>
      </p:sp>
      <p:sp>
        <p:nvSpPr>
          <p:cNvPr id="36" name="Freeform 35"/>
          <p:cNvSpPr/>
          <p:nvPr/>
        </p:nvSpPr>
        <p:spPr>
          <a:xfrm>
            <a:off x="2660561" y="7939820"/>
            <a:ext cx="1959776" cy="1844494"/>
          </a:xfrm>
          <a:custGeom>
            <a:avLst/>
            <a:gdLst/>
            <a:ahLst/>
            <a:cxnLst/>
            <a:rect l="l" t="t" r="r" b="b"/>
            <a:pathLst>
              <a:path w="1959776" h="1844494">
                <a:moveTo>
                  <a:pt x="0" y="0"/>
                </a:moveTo>
                <a:lnTo>
                  <a:pt x="1798382" y="0"/>
                </a:lnTo>
                <a:lnTo>
                  <a:pt x="1959776" y="922247"/>
                </a:lnTo>
                <a:lnTo>
                  <a:pt x="1798382" y="1844494"/>
                </a:lnTo>
                <a:lnTo>
                  <a:pt x="0" y="1844494"/>
                </a:lnTo>
                <a:close/>
              </a:path>
            </a:pathLst>
          </a:custGeom>
          <a:solidFill>
            <a:srgbClr val="FC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660561" y="7939820"/>
            <a:ext cx="426540" cy="1844494"/>
          </a:xfrm>
          <a:custGeom>
            <a:avLst/>
            <a:gdLst/>
            <a:ahLst/>
            <a:cxnLst/>
            <a:rect l="l" t="t" r="r" b="b"/>
            <a:pathLst>
              <a:path w="426540" h="1844494">
                <a:moveTo>
                  <a:pt x="0" y="0"/>
                </a:moveTo>
                <a:lnTo>
                  <a:pt x="426540" y="0"/>
                </a:lnTo>
                <a:lnTo>
                  <a:pt x="426540" y="1844494"/>
                </a:lnTo>
                <a:lnTo>
                  <a:pt x="0" y="1844494"/>
                </a:lnTo>
                <a:close/>
              </a:path>
            </a:pathLst>
          </a:custGeom>
          <a:solidFill>
            <a:srgbClr val="97A9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660561" y="7939820"/>
            <a:ext cx="1959776" cy="1844494"/>
          </a:xfrm>
          <a:custGeom>
            <a:avLst/>
            <a:gdLst/>
            <a:ahLst/>
            <a:cxnLst/>
            <a:rect l="l" t="t" r="r" b="b"/>
            <a:pathLst>
              <a:path w="1959776" h="1844494">
                <a:moveTo>
                  <a:pt x="0" y="0"/>
                </a:moveTo>
                <a:lnTo>
                  <a:pt x="1798382" y="0"/>
                </a:lnTo>
                <a:lnTo>
                  <a:pt x="1959776" y="922247"/>
                </a:lnTo>
                <a:lnTo>
                  <a:pt x="1798382" y="1844494"/>
                </a:lnTo>
                <a:lnTo>
                  <a:pt x="0" y="1844494"/>
                </a:lnTo>
                <a:close/>
              </a:path>
            </a:pathLst>
          </a:custGeom>
          <a:noFill/>
          <a:ln w="6916">
            <a:solidFill>
              <a:srgbClr val="B9B9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83617" y="8377887"/>
            <a:ext cx="380426" cy="9683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策</a:t>
            </a:r>
          </a:p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略</a:t>
            </a:r>
          </a:p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</a:t>
            </a:r>
          </a:p>
          <a:p>
            <a:pPr algn="ctr">
              <a:lnSpc>
                <a:spcPct val="128000"/>
              </a:lnSpc>
            </a:pPr>
            <a:r>
              <a:rPr sz="95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75573" y="8568101"/>
            <a:ext cx="1441011" cy="5879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3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高校共享道路</a:t>
            </a:r>
          </a:p>
          <a:p>
            <a:pPr algn="ctr">
              <a:lnSpc>
                <a:spcPct val="128000"/>
              </a:lnSpc>
            </a:pPr>
            <a:r>
              <a:rPr sz="83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安全引导策略</a:t>
            </a:r>
          </a:p>
          <a:p>
            <a:pPr algn="ctr">
              <a:lnSpc>
                <a:spcPct val="128000"/>
              </a:lnSpc>
            </a:pPr>
            <a:r>
              <a:rPr sz="83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生成与验证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84112" y="8579629"/>
            <a:ext cx="1775325" cy="242089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2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问卷调研法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84112" y="8902415"/>
            <a:ext cx="1775325" cy="242089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2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实证研究法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96741" y="1657011"/>
            <a:ext cx="1729213" cy="334314"/>
          </a:xfrm>
          <a:prstGeom prst="roundRect">
            <a:avLst>
              <a:gd name="adj" fmla="val 10344"/>
            </a:avLst>
          </a:prstGeom>
          <a:solidFill>
            <a:srgbClr val="FCFBF7"/>
          </a:solidFill>
          <a:ln w="6916">
            <a:solidFill>
              <a:srgbClr val="B9B9AD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16" b="0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冲突热点区域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29438" y="1657011"/>
            <a:ext cx="1729213" cy="334314"/>
          </a:xfrm>
          <a:prstGeom prst="roundRect">
            <a:avLst>
              <a:gd name="adj" fmla="val 10344"/>
            </a:avLst>
          </a:prstGeom>
          <a:solidFill>
            <a:srgbClr val="FCFBF7"/>
          </a:solidFill>
          <a:ln w="6916">
            <a:solidFill>
              <a:srgbClr val="B9B9AD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16" b="0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冲突行为类型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061348" y="1991325"/>
            <a:ext cx="0" cy="126809"/>
          </a:xfrm>
          <a:prstGeom prst="line">
            <a:avLst/>
          </a:prstGeom>
          <a:ln w="10375">
            <a:solidFill>
              <a:srgbClr val="5A5D52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6061348" y="2118134"/>
            <a:ext cx="1198921" cy="0"/>
          </a:xfrm>
          <a:prstGeom prst="line">
            <a:avLst/>
          </a:prstGeom>
          <a:ln w="10375">
            <a:solidFill>
              <a:srgbClr val="5A5D52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7260269" y="2118134"/>
            <a:ext cx="0" cy="103753"/>
          </a:xfrm>
          <a:prstGeom prst="line">
            <a:avLst/>
          </a:prstGeom>
          <a:ln w="10375">
            <a:solidFill>
              <a:srgbClr val="5A5D52"/>
            </a:solidFill>
            <a:tailEnd type="triangle" w="med" len="med"/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8194044" y="1991325"/>
            <a:ext cx="0" cy="230562"/>
          </a:xfrm>
          <a:prstGeom prst="line">
            <a:avLst/>
          </a:prstGeom>
          <a:ln w="10375">
            <a:solidFill>
              <a:srgbClr val="5A5D52"/>
            </a:solidFill>
            <a:tailEnd type="triangle" w="med" len="med"/>
          </a:ln>
          <a:effectLst/>
        </p:spPr>
      </p:cxnSp>
      <p:sp>
        <p:nvSpPr>
          <p:cNvPr id="49" name="Rounded Rectangle 48"/>
          <p:cNvSpPr/>
          <p:nvPr/>
        </p:nvSpPr>
        <p:spPr>
          <a:xfrm>
            <a:off x="6118988" y="2244943"/>
            <a:ext cx="3227865" cy="334314"/>
          </a:xfrm>
          <a:prstGeom prst="roundRect">
            <a:avLst>
              <a:gd name="adj" fmla="val 10344"/>
            </a:avLst>
          </a:prstGeom>
          <a:solidFill>
            <a:srgbClr val="FCFBF7"/>
          </a:solidFill>
          <a:ln w="6916">
            <a:solidFill>
              <a:srgbClr val="B9B9AD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16" b="0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冲突热点区域的交通环境特征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9784" y="2655055"/>
            <a:ext cx="717104" cy="158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658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数据整理与归纳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698337" y="2590786"/>
            <a:ext cx="0" cy="311258"/>
          </a:xfrm>
          <a:prstGeom prst="line">
            <a:avLst/>
          </a:prstGeom>
          <a:ln w="10375">
            <a:solidFill>
              <a:srgbClr val="5A5D52"/>
            </a:solidFill>
            <a:tailEnd type="triangle" w="med" len="med"/>
          </a:ln>
          <a:effectLst/>
        </p:spPr>
      </p:cxnSp>
      <p:sp>
        <p:nvSpPr>
          <p:cNvPr id="52" name="Freeform 51"/>
          <p:cNvSpPr/>
          <p:nvPr/>
        </p:nvSpPr>
        <p:spPr>
          <a:xfrm>
            <a:off x="5542584" y="2971213"/>
            <a:ext cx="4611236" cy="357371"/>
          </a:xfrm>
          <a:custGeom>
            <a:avLst/>
            <a:gdLst/>
            <a:ahLst/>
            <a:cxnLst/>
            <a:rect l="l" t="t" r="r" b="b"/>
            <a:pathLst>
              <a:path w="4611236" h="357371">
                <a:moveTo>
                  <a:pt x="172921" y="0"/>
                </a:moveTo>
                <a:lnTo>
                  <a:pt x="4438314" y="0"/>
                </a:lnTo>
                <a:lnTo>
                  <a:pt x="4611236" y="178685"/>
                </a:lnTo>
                <a:lnTo>
                  <a:pt x="4438314" y="357371"/>
                </a:lnTo>
                <a:lnTo>
                  <a:pt x="172921" y="357371"/>
                </a:lnTo>
                <a:lnTo>
                  <a:pt x="0" y="178685"/>
                </a:lnTo>
                <a:close/>
              </a:path>
            </a:pathLst>
          </a:custGeom>
          <a:solidFill>
            <a:srgbClr val="AE564A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6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高校共享道路交通冲突热点区域环境特征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42584" y="3732067"/>
            <a:ext cx="4611235" cy="322786"/>
          </a:xfrm>
          <a:prstGeom prst="roundRect">
            <a:avLst>
              <a:gd name="adj" fmla="val 10714"/>
            </a:avLst>
          </a:prstGeom>
          <a:solidFill>
            <a:srgbClr val="FCFBF7"/>
          </a:solidFill>
          <a:ln w="6916">
            <a:solidFill>
              <a:srgbClr val="B9B9AD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16" b="0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共享道路冲突主体感知安全数据收集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848202" y="4054853"/>
            <a:ext cx="0" cy="195978"/>
          </a:xfrm>
          <a:prstGeom prst="line">
            <a:avLst/>
          </a:prstGeom>
          <a:ln w="10375">
            <a:solidFill>
              <a:srgbClr val="5A5D52"/>
            </a:solidFill>
            <a:tailEnd type="triangle" w="med" len="med"/>
          </a:ln>
          <a:effectLst/>
        </p:spPr>
      </p:cxnSp>
      <p:sp>
        <p:nvSpPr>
          <p:cNvPr id="55" name="Rounded Rectangle 54"/>
          <p:cNvSpPr/>
          <p:nvPr/>
        </p:nvSpPr>
        <p:spPr>
          <a:xfrm>
            <a:off x="6464831" y="4285415"/>
            <a:ext cx="2766741" cy="288202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1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行为意图要素集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848202" y="4573617"/>
            <a:ext cx="0" cy="219034"/>
          </a:xfrm>
          <a:prstGeom prst="line">
            <a:avLst/>
          </a:prstGeom>
          <a:ln w="10375">
            <a:solidFill>
              <a:srgbClr val="5A5D52"/>
            </a:solidFill>
            <a:tailEnd type="triangle" w="med" len="med"/>
          </a:ln>
          <a:effectLst/>
        </p:spPr>
      </p:cxnSp>
      <p:sp>
        <p:nvSpPr>
          <p:cNvPr id="57" name="Freeform 56"/>
          <p:cNvSpPr/>
          <p:nvPr/>
        </p:nvSpPr>
        <p:spPr>
          <a:xfrm>
            <a:off x="5773146" y="4861820"/>
            <a:ext cx="4150112" cy="357371"/>
          </a:xfrm>
          <a:custGeom>
            <a:avLst/>
            <a:gdLst/>
            <a:ahLst/>
            <a:cxnLst/>
            <a:rect l="l" t="t" r="r" b="b"/>
            <a:pathLst>
              <a:path w="4150112" h="357371">
                <a:moveTo>
                  <a:pt x="172921" y="0"/>
                </a:moveTo>
                <a:lnTo>
                  <a:pt x="3977191" y="0"/>
                </a:lnTo>
                <a:lnTo>
                  <a:pt x="4150112" y="178685"/>
                </a:lnTo>
                <a:lnTo>
                  <a:pt x="3977191" y="357371"/>
                </a:lnTo>
                <a:lnTo>
                  <a:pt x="172921" y="357371"/>
                </a:lnTo>
                <a:lnTo>
                  <a:pt x="0" y="178685"/>
                </a:lnTo>
                <a:close/>
              </a:path>
            </a:pathLst>
          </a:custGeom>
          <a:solidFill>
            <a:srgbClr val="AE564A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6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共享道路冲突主体的行为决策模型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96741" y="5980044"/>
            <a:ext cx="2190337" cy="334314"/>
          </a:xfrm>
          <a:prstGeom prst="roundRect">
            <a:avLst>
              <a:gd name="adj" fmla="val 10344"/>
            </a:avLst>
          </a:prstGeom>
          <a:solidFill>
            <a:srgbClr val="FCFBF7"/>
          </a:solidFill>
          <a:ln w="6916">
            <a:solidFill>
              <a:srgbClr val="B9B9AD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16" b="0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客观交通环境特征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05842" y="5980044"/>
            <a:ext cx="2190337" cy="334314"/>
          </a:xfrm>
          <a:prstGeom prst="roundRect">
            <a:avLst>
              <a:gd name="adj" fmla="val 10344"/>
            </a:avLst>
          </a:prstGeom>
          <a:solidFill>
            <a:srgbClr val="FCFBF7"/>
          </a:solidFill>
          <a:ln w="6916">
            <a:solidFill>
              <a:srgbClr val="B9B9AD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16" b="0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主观决策行为要素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387078" y="6147202"/>
            <a:ext cx="472652" cy="0"/>
          </a:xfrm>
          <a:prstGeom prst="line">
            <a:avLst/>
          </a:prstGeom>
          <a:ln w="9222">
            <a:solidFill>
              <a:srgbClr val="5A5D52"/>
            </a:solidFill>
            <a:tailEnd type="triangle" w="med" len="med"/>
          </a:ln>
          <a:effectLst/>
        </p:spPr>
      </p:cxnSp>
      <p:cxnSp>
        <p:nvCxnSpPr>
          <p:cNvPr id="61" name="Connector 60"/>
          <p:cNvCxnSpPr/>
          <p:nvPr/>
        </p:nvCxnSpPr>
        <p:spPr>
          <a:xfrm flipH="1">
            <a:off x="7433191" y="6222134"/>
            <a:ext cx="472651" cy="0"/>
          </a:xfrm>
          <a:prstGeom prst="line">
            <a:avLst/>
          </a:prstGeom>
          <a:ln w="9222">
            <a:solidFill>
              <a:srgbClr val="5A5D52"/>
            </a:solidFill>
            <a:tailEnd type="triangle" w="med" len="med"/>
          </a:ln>
          <a:effectLst/>
        </p:spPr>
      </p:cxnSp>
      <p:cxnSp>
        <p:nvCxnSpPr>
          <p:cNvPr id="62" name="Connector 61"/>
          <p:cNvCxnSpPr/>
          <p:nvPr/>
        </p:nvCxnSpPr>
        <p:spPr>
          <a:xfrm flipH="1">
            <a:off x="5000764" y="3149898"/>
            <a:ext cx="541820" cy="0"/>
          </a:xfrm>
          <a:prstGeom prst="line">
            <a:avLst/>
          </a:prstGeom>
          <a:ln w="9222">
            <a:solidFill>
              <a:srgbClr val="7A8E63"/>
            </a:solidFill>
            <a:prstDash val="dash"/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5000764" y="3149898"/>
            <a:ext cx="0" cy="2997304"/>
          </a:xfrm>
          <a:prstGeom prst="line">
            <a:avLst/>
          </a:prstGeom>
          <a:ln w="9222">
            <a:solidFill>
              <a:srgbClr val="7A8E63"/>
            </a:solidFill>
            <a:prstDash val="dash"/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5000764" y="6147202"/>
            <a:ext cx="149865" cy="0"/>
          </a:xfrm>
          <a:prstGeom prst="line">
            <a:avLst/>
          </a:prstGeom>
          <a:ln w="9222">
            <a:solidFill>
              <a:srgbClr val="7A8E63"/>
            </a:solidFill>
            <a:prstDash val="dash"/>
            <a:tailEnd type="triangle" w="med" len="med"/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9923258" y="5040505"/>
            <a:ext cx="380427" cy="0"/>
          </a:xfrm>
          <a:prstGeom prst="line">
            <a:avLst/>
          </a:prstGeom>
          <a:ln w="9222">
            <a:solidFill>
              <a:srgbClr val="7A8E63"/>
            </a:solidFill>
            <a:prstDash val="dash"/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10303685" y="5040505"/>
            <a:ext cx="0" cy="1106697"/>
          </a:xfrm>
          <a:prstGeom prst="line">
            <a:avLst/>
          </a:prstGeom>
          <a:ln w="9222">
            <a:solidFill>
              <a:srgbClr val="7A8E63"/>
            </a:solidFill>
            <a:prstDash val="dash"/>
          </a:ln>
          <a:effectLst/>
        </p:spPr>
      </p:cxnSp>
      <p:cxnSp>
        <p:nvCxnSpPr>
          <p:cNvPr id="67" name="Connector 66"/>
          <p:cNvCxnSpPr/>
          <p:nvPr/>
        </p:nvCxnSpPr>
        <p:spPr>
          <a:xfrm flipH="1">
            <a:off x="10142292" y="6147202"/>
            <a:ext cx="161393" cy="0"/>
          </a:xfrm>
          <a:prstGeom prst="line">
            <a:avLst/>
          </a:prstGeom>
          <a:ln w="9222">
            <a:solidFill>
              <a:srgbClr val="7A8E63"/>
            </a:solidFill>
            <a:prstDash val="dash"/>
            <a:tailEnd type="triangle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7339784" y="6493909"/>
            <a:ext cx="717104" cy="158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658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数据整理与归纳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698337" y="6383528"/>
            <a:ext cx="0" cy="357370"/>
          </a:xfrm>
          <a:prstGeom prst="line">
            <a:avLst/>
          </a:prstGeom>
          <a:ln w="10375">
            <a:solidFill>
              <a:srgbClr val="5A5D52"/>
            </a:solidFill>
            <a:tailEnd type="triangle" w="med" len="med"/>
          </a:ln>
          <a:effectLst/>
        </p:spPr>
      </p:cxnSp>
      <p:sp>
        <p:nvSpPr>
          <p:cNvPr id="70" name="Freeform 69"/>
          <p:cNvSpPr/>
          <p:nvPr/>
        </p:nvSpPr>
        <p:spPr>
          <a:xfrm>
            <a:off x="5715505" y="6810067"/>
            <a:ext cx="4265393" cy="357371"/>
          </a:xfrm>
          <a:custGeom>
            <a:avLst/>
            <a:gdLst/>
            <a:ahLst/>
            <a:cxnLst/>
            <a:rect l="l" t="t" r="r" b="b"/>
            <a:pathLst>
              <a:path w="4265393" h="357371">
                <a:moveTo>
                  <a:pt x="172921" y="0"/>
                </a:moveTo>
                <a:lnTo>
                  <a:pt x="4092472" y="0"/>
                </a:lnTo>
                <a:lnTo>
                  <a:pt x="4265393" y="178685"/>
                </a:lnTo>
                <a:lnTo>
                  <a:pt x="4092472" y="357371"/>
                </a:lnTo>
                <a:lnTo>
                  <a:pt x="172921" y="357371"/>
                </a:lnTo>
                <a:lnTo>
                  <a:pt x="0" y="178685"/>
                </a:lnTo>
                <a:close/>
              </a:path>
            </a:pathLst>
          </a:custGeom>
          <a:solidFill>
            <a:srgbClr val="AE564A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6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高校共享道路安全引导系统需求清单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99691" y="7308657"/>
            <a:ext cx="1397290" cy="1642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680" b="0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认知偏差测度 → 设计需求转化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542584" y="8055101"/>
            <a:ext cx="4611235" cy="322786"/>
          </a:xfrm>
          <a:prstGeom prst="roundRect">
            <a:avLst>
              <a:gd name="adj" fmla="val 10714"/>
            </a:avLst>
          </a:prstGeom>
          <a:solidFill>
            <a:srgbClr val="FCFBF7"/>
          </a:solidFill>
          <a:ln w="6916">
            <a:solidFill>
              <a:srgbClr val="B9B9AD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16" b="0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共享道路安全引导策略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848202" y="8377887"/>
            <a:ext cx="0" cy="207506"/>
          </a:xfrm>
          <a:prstGeom prst="line">
            <a:avLst/>
          </a:prstGeom>
          <a:ln w="10375">
            <a:solidFill>
              <a:srgbClr val="5A5D52"/>
            </a:solidFill>
            <a:tailEnd type="triangle" w="med" len="med"/>
          </a:ln>
          <a:effectLst/>
        </p:spPr>
      </p:cxnSp>
      <p:sp>
        <p:nvSpPr>
          <p:cNvPr id="74" name="Rounded Rectangle 73"/>
          <p:cNvSpPr/>
          <p:nvPr/>
        </p:nvSpPr>
        <p:spPr>
          <a:xfrm>
            <a:off x="5888426" y="8619977"/>
            <a:ext cx="3919550" cy="299730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16" b="0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高校共享道路安全引导系统设计原型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78764" y="8972448"/>
            <a:ext cx="240706" cy="158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58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848202" y="8919707"/>
            <a:ext cx="0" cy="242090"/>
          </a:xfrm>
          <a:prstGeom prst="line">
            <a:avLst/>
          </a:prstGeom>
          <a:ln w="10375">
            <a:solidFill>
              <a:srgbClr val="5A5D52"/>
            </a:solidFill>
            <a:tailEnd type="triangle" w="med" len="med"/>
          </a:ln>
          <a:effectLst/>
        </p:spPr>
      </p:cxnSp>
      <p:sp>
        <p:nvSpPr>
          <p:cNvPr id="77" name="Rounded Rectangle 76"/>
          <p:cNvSpPr/>
          <p:nvPr/>
        </p:nvSpPr>
        <p:spPr>
          <a:xfrm>
            <a:off x="6003707" y="9230966"/>
            <a:ext cx="3688988" cy="322786"/>
          </a:xfrm>
          <a:prstGeom prst="roundRect">
            <a:avLst>
              <a:gd name="adj" fmla="val 10714"/>
            </a:avLst>
          </a:prstGeom>
          <a:solidFill>
            <a:srgbClr val="FCFBF7"/>
          </a:solidFill>
          <a:ln w="6916">
            <a:solidFill>
              <a:srgbClr val="CE8A7C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816" b="0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面向设计原型的可用性评估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692696" y="9392359"/>
            <a:ext cx="645573" cy="0"/>
          </a:xfrm>
          <a:prstGeom prst="line">
            <a:avLst/>
          </a:prstGeom>
          <a:ln w="9222">
            <a:solidFill>
              <a:srgbClr val="AE564A"/>
            </a:solidFill>
            <a:prstDash val="dash"/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10338269" y="8769842"/>
            <a:ext cx="0" cy="622517"/>
          </a:xfrm>
          <a:prstGeom prst="line">
            <a:avLst/>
          </a:prstGeom>
          <a:ln w="9222">
            <a:solidFill>
              <a:srgbClr val="AE564A"/>
            </a:solidFill>
            <a:prstDash val="dash"/>
          </a:ln>
          <a:effectLst/>
        </p:spPr>
      </p:cxnSp>
      <p:cxnSp>
        <p:nvCxnSpPr>
          <p:cNvPr id="80" name="Connector 79"/>
          <p:cNvCxnSpPr/>
          <p:nvPr/>
        </p:nvCxnSpPr>
        <p:spPr>
          <a:xfrm flipH="1">
            <a:off x="9842561" y="8769842"/>
            <a:ext cx="495708" cy="0"/>
          </a:xfrm>
          <a:prstGeom prst="line">
            <a:avLst/>
          </a:prstGeom>
          <a:ln w="9222">
            <a:solidFill>
              <a:srgbClr val="AE564A"/>
            </a:solidFill>
            <a:prstDash val="dash"/>
            <a:tailEnd type="triangle" w="med" len="med"/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10355561" y="8833247"/>
            <a:ext cx="230561" cy="634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658" b="0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优</a:t>
            </a:r>
          </a:p>
          <a:p>
            <a:pPr algn="ctr">
              <a:lnSpc>
                <a:spcPct val="128000"/>
              </a:lnSpc>
            </a:pPr>
            <a:r>
              <a:rPr sz="658" b="0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化</a:t>
            </a:r>
          </a:p>
          <a:p>
            <a:pPr algn="ctr">
              <a:lnSpc>
                <a:spcPct val="128000"/>
              </a:lnSpc>
            </a:pPr>
            <a:r>
              <a:rPr sz="658" b="0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与</a:t>
            </a:r>
          </a:p>
          <a:p>
            <a:pPr algn="ctr">
              <a:lnSpc>
                <a:spcPct val="128000"/>
              </a:lnSpc>
            </a:pPr>
            <a:r>
              <a:rPr sz="658" b="0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迭</a:t>
            </a:r>
          </a:p>
          <a:p>
            <a:pPr algn="ctr">
              <a:lnSpc>
                <a:spcPct val="128000"/>
              </a:lnSpc>
            </a:pPr>
            <a:r>
              <a:rPr sz="658" b="0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代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660561" y="9991820"/>
            <a:ext cx="138337" cy="92224"/>
          </a:xfrm>
          <a:prstGeom prst="roundRect">
            <a:avLst>
              <a:gd name="adj" fmla="val 18750"/>
            </a:avLst>
          </a:prstGeom>
          <a:solidFill>
            <a:srgbClr val="AE56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56539" y="9965593"/>
            <a:ext cx="490232" cy="1478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12" b="0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阶段性成果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536696" y="9991820"/>
            <a:ext cx="138337" cy="92224"/>
          </a:xfrm>
          <a:prstGeom prst="roundRect">
            <a:avLst>
              <a:gd name="adj" fmla="val 1875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32674" y="9965593"/>
            <a:ext cx="490232" cy="1478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12" b="0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过程性输出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412831" y="9991820"/>
            <a:ext cx="138337" cy="92224"/>
          </a:xfrm>
          <a:prstGeom prst="roundRect">
            <a:avLst>
              <a:gd name="adj" fmla="val 18750"/>
            </a:avLst>
          </a:prstGeom>
          <a:solidFill>
            <a:srgbClr val="FCFBF7"/>
          </a:solidFill>
          <a:ln w="6916">
            <a:solidFill>
              <a:srgbClr val="B9B9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08808" y="9965593"/>
            <a:ext cx="401523" cy="1478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12" b="0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研究工作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242853" y="10037932"/>
            <a:ext cx="242090" cy="0"/>
          </a:xfrm>
          <a:prstGeom prst="line">
            <a:avLst/>
          </a:prstGeom>
          <a:ln w="9222">
            <a:solidFill>
              <a:srgbClr val="7A8E63"/>
            </a:solidFill>
            <a:prstDash val="dash"/>
          </a:ln>
          <a:effectLst/>
        </p:spPr>
      </p:cxnSp>
      <p:sp>
        <p:nvSpPr>
          <p:cNvPr id="89" name="TextBox 88"/>
          <p:cNvSpPr txBox="1"/>
          <p:nvPr/>
        </p:nvSpPr>
        <p:spPr>
          <a:xfrm>
            <a:off x="5542584" y="9965593"/>
            <a:ext cx="1022483" cy="1478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12" b="0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成果向下一子任务的输入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868314" y="10037932"/>
            <a:ext cx="242090" cy="0"/>
          </a:xfrm>
          <a:prstGeom prst="line">
            <a:avLst/>
          </a:prstGeom>
          <a:ln w="9222">
            <a:solidFill>
              <a:srgbClr val="AE564A"/>
            </a:solidFill>
            <a:prstDash val="dash"/>
          </a:ln>
          <a:effectLst/>
        </p:spPr>
      </p:cxnSp>
      <p:sp>
        <p:nvSpPr>
          <p:cNvPr id="91" name="TextBox 90"/>
          <p:cNvSpPr txBox="1"/>
          <p:nvPr/>
        </p:nvSpPr>
        <p:spPr>
          <a:xfrm>
            <a:off x="7168044" y="9965593"/>
            <a:ext cx="667649" cy="1478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612" b="0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优化与迭代回路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637505" y="10210853"/>
            <a:ext cx="9844989" cy="0"/>
          </a:xfrm>
          <a:prstGeom prst="line">
            <a:avLst/>
          </a:prstGeom>
          <a:ln w="7493">
            <a:solidFill>
              <a:srgbClr val="D2D2C8"/>
            </a:solidFill>
          </a:ln>
          <a:effectLst/>
        </p:spPr>
      </p:cxnSp>
      <p:sp>
        <p:nvSpPr>
          <p:cNvPr id="93" name="TextBox 92"/>
          <p:cNvSpPr txBox="1"/>
          <p:nvPr/>
        </p:nvSpPr>
        <p:spPr>
          <a:xfrm>
            <a:off x="2637505" y="10255525"/>
            <a:ext cx="917996" cy="136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567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图1  本课题技术路线图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77806" y="10255525"/>
            <a:ext cx="2404687" cy="136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567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四项子任务依“特征识别—模型构建—需求识别—策略生成”逐级供给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4714" y="216000"/>
            <a:ext cx="14510571" cy="10260000"/>
          </a:xfrm>
          <a:prstGeom prst="rect">
            <a:avLst/>
          </a:prstGeom>
          <a:solidFill>
            <a:srgbClr val="F4F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5114" y="369167"/>
            <a:ext cx="468361" cy="3759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558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图5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228" y="426330"/>
            <a:ext cx="1495908" cy="292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11" b="0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行人行为决策模型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5114" y="712877"/>
            <a:ext cx="6506276" cy="19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7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多群组结构方程分析（行人组）；有效问卷 232 份，8 个潜变量、43 个观测题项；路径系数取自表23，R² 取自 4.2.4 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5114" y="978171"/>
            <a:ext cx="13689771" cy="0"/>
          </a:xfrm>
          <a:prstGeom prst="line">
            <a:avLst/>
          </a:prstGeom>
          <a:ln w="9527">
            <a:solidFill>
              <a:srgbClr val="D2D2C8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744428" y="1315285"/>
            <a:ext cx="337114" cy="0"/>
          </a:xfrm>
          <a:prstGeom prst="line">
            <a:avLst/>
          </a:prstGeom>
          <a:ln w="36642" cap="rnd">
            <a:solidFill>
              <a:srgbClr val="AE564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1169485" y="1218548"/>
            <a:ext cx="646380" cy="19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7" b="1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核心传导链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75628" y="1315285"/>
            <a:ext cx="337114" cy="0"/>
          </a:xfrm>
          <a:prstGeom prst="line">
            <a:avLst/>
          </a:prstGeom>
          <a:ln w="17588" cap="rnd">
            <a:solidFill>
              <a:srgbClr val="7A8E63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2400685" y="1218548"/>
            <a:ext cx="529416" cy="19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7" b="0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显著路径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77514" y="1315285"/>
            <a:ext cx="337114" cy="0"/>
          </a:xfrm>
          <a:prstGeom prst="line">
            <a:avLst/>
          </a:prstGeom>
          <a:ln w="12458">
            <a:solidFill>
              <a:srgbClr val="B9B9AD"/>
            </a:solidFill>
            <a:prstDash val="dash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3602571" y="1218548"/>
            <a:ext cx="646380" cy="19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7" b="0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不显著路径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1314" y="1220014"/>
            <a:ext cx="571628" cy="190542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0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R²  解释力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8828" y="1223312"/>
            <a:ext cx="3189192" cy="1879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79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*** p&lt;0.001    ** p&lt;0.01    * p&lt;0.05    n.s. 不显著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00214" y="3880285"/>
            <a:ext cx="3334500" cy="0"/>
          </a:xfrm>
          <a:prstGeom prst="line">
            <a:avLst/>
          </a:prstGeom>
          <a:ln w="351771" cap="rnd">
            <a:solidFill>
              <a:srgbClr val="EEDCD6">
                <a:alpha val="85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5434714" y="3880285"/>
            <a:ext cx="3297857" cy="0"/>
          </a:xfrm>
          <a:prstGeom prst="line">
            <a:avLst/>
          </a:prstGeom>
          <a:ln w="351771" cap="rnd">
            <a:solidFill>
              <a:srgbClr val="EEDCD6">
                <a:alpha val="85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8732571" y="3880285"/>
            <a:ext cx="3737571" cy="1465715"/>
          </a:xfrm>
          <a:prstGeom prst="line">
            <a:avLst/>
          </a:prstGeom>
          <a:ln w="351771" cap="rnd">
            <a:solidFill>
              <a:srgbClr val="EEDCD6">
                <a:alpha val="85000"/>
              </a:srgbClr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3023614" y="3880285"/>
            <a:ext cx="1392428" cy="0"/>
          </a:xfrm>
          <a:prstGeom prst="line">
            <a:avLst/>
          </a:prstGeom>
          <a:ln w="24917">
            <a:solidFill>
              <a:srgbClr val="AE564A"/>
            </a:solidFill>
            <a:tailEnd type="triangle" w="med" len="med"/>
          </a:ln>
          <a:effectLst/>
        </p:spPr>
      </p:cxnSp>
      <p:sp>
        <p:nvSpPr>
          <p:cNvPr id="19" name="Rounded Rectangle 18"/>
          <p:cNvSpPr/>
          <p:nvPr/>
        </p:nvSpPr>
        <p:spPr>
          <a:xfrm>
            <a:off x="3321154" y="3403928"/>
            <a:ext cx="797348" cy="266760"/>
          </a:xfrm>
          <a:prstGeom prst="roundRect">
            <a:avLst>
              <a:gd name="adj" fmla="val 13736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08256" y="3352628"/>
            <a:ext cx="823145" cy="2784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4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0.487***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58114" y="3880285"/>
            <a:ext cx="1355786" cy="0"/>
          </a:xfrm>
          <a:prstGeom prst="line">
            <a:avLst/>
          </a:prstGeom>
          <a:ln w="24917">
            <a:solidFill>
              <a:srgbClr val="AE564A"/>
            </a:solidFill>
            <a:tailEnd type="triangle" w="med" len="med"/>
          </a:ln>
          <a:effectLst/>
        </p:spPr>
      </p:cxnSp>
      <p:sp>
        <p:nvSpPr>
          <p:cNvPr id="22" name="Rounded Rectangle 21"/>
          <p:cNvSpPr/>
          <p:nvPr/>
        </p:nvSpPr>
        <p:spPr>
          <a:xfrm>
            <a:off x="6637332" y="3403928"/>
            <a:ext cx="797348" cy="266760"/>
          </a:xfrm>
          <a:prstGeom prst="roundRect">
            <a:avLst>
              <a:gd name="adj" fmla="val 13736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4434" y="3352628"/>
            <a:ext cx="823145" cy="2784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4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0.516***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45371" y="4159815"/>
            <a:ext cx="2208547" cy="866096"/>
          </a:xfrm>
          <a:prstGeom prst="line">
            <a:avLst/>
          </a:prstGeom>
          <a:ln w="24917">
            <a:solidFill>
              <a:srgbClr val="AE564A"/>
            </a:solidFill>
            <a:tailEnd type="triangle" w="med" len="med"/>
          </a:ln>
          <a:effectLst/>
        </p:spPr>
      </p:cxnSp>
      <p:sp>
        <p:nvSpPr>
          <p:cNvPr id="25" name="Rounded Rectangle 24"/>
          <p:cNvSpPr/>
          <p:nvPr/>
        </p:nvSpPr>
        <p:spPr>
          <a:xfrm>
            <a:off x="10400142" y="4263077"/>
            <a:ext cx="797348" cy="266760"/>
          </a:xfrm>
          <a:prstGeom prst="roundRect">
            <a:avLst>
              <a:gd name="adj" fmla="val 13736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87243" y="4211777"/>
            <a:ext cx="823145" cy="2784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4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0.378***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86673" y="2577584"/>
            <a:ext cx="2744889" cy="2314318"/>
          </a:xfrm>
          <a:prstGeom prst="line">
            <a:avLst/>
          </a:prstGeom>
          <a:ln w="17588">
            <a:solidFill>
              <a:srgbClr val="7A8E63"/>
            </a:solidFill>
            <a:tailEnd type="triangle" w="med" len="med"/>
          </a:ln>
          <a:effectLst/>
        </p:spPr>
      </p:cxnSp>
      <p:sp>
        <p:nvSpPr>
          <p:cNvPr id="28" name="Rounded Rectangle 27"/>
          <p:cNvSpPr/>
          <p:nvPr/>
        </p:nvSpPr>
        <p:spPr>
          <a:xfrm>
            <a:off x="10584914" y="3432806"/>
            <a:ext cx="593321" cy="213408"/>
          </a:xfrm>
          <a:prstGeom prst="roundRect">
            <a:avLst>
              <a:gd name="adj" fmla="val 17170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89076" y="3391766"/>
            <a:ext cx="584995" cy="222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23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0.167**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978894" y="6946895"/>
            <a:ext cx="1478230" cy="227420"/>
          </a:xfrm>
          <a:prstGeom prst="line">
            <a:avLst/>
          </a:prstGeom>
          <a:ln w="17588">
            <a:solidFill>
              <a:srgbClr val="7A8E63"/>
            </a:solidFill>
            <a:tailEnd type="triangle" w="med" len="med"/>
          </a:ln>
          <a:effectLst/>
        </p:spPr>
      </p:cxnSp>
      <p:sp>
        <p:nvSpPr>
          <p:cNvPr id="31" name="Rounded Rectangle 30"/>
          <p:cNvSpPr/>
          <p:nvPr/>
        </p:nvSpPr>
        <p:spPr>
          <a:xfrm>
            <a:off x="3387344" y="6597440"/>
            <a:ext cx="661330" cy="213408"/>
          </a:xfrm>
          <a:prstGeom prst="roundRect">
            <a:avLst>
              <a:gd name="adj" fmla="val 17170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8751" y="6556400"/>
            <a:ext cx="658516" cy="222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23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0.287***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229792" y="5598564"/>
            <a:ext cx="5342343" cy="1502534"/>
          </a:xfrm>
          <a:prstGeom prst="line">
            <a:avLst/>
          </a:prstGeom>
          <a:ln w="17588">
            <a:solidFill>
              <a:srgbClr val="7A8E63"/>
            </a:solidFill>
            <a:tailEnd type="triangle" w="med" len="med"/>
          </a:ln>
          <a:effectLst/>
        </p:spPr>
      </p:cxnSp>
      <p:sp>
        <p:nvSpPr>
          <p:cNvPr id="34" name="Rounded Rectangle 33"/>
          <p:cNvSpPr/>
          <p:nvPr/>
        </p:nvSpPr>
        <p:spPr>
          <a:xfrm>
            <a:off x="8516360" y="5959951"/>
            <a:ext cx="593321" cy="213408"/>
          </a:xfrm>
          <a:prstGeom prst="roundRect">
            <a:avLst>
              <a:gd name="adj" fmla="val 17170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20523" y="5918911"/>
            <a:ext cx="584995" cy="222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23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0.158**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2470142" y="5880985"/>
            <a:ext cx="0" cy="2176586"/>
          </a:xfrm>
          <a:prstGeom prst="line">
            <a:avLst/>
          </a:prstGeom>
          <a:ln w="17588">
            <a:solidFill>
              <a:srgbClr val="7A8E63"/>
            </a:solidFill>
            <a:tailEnd type="triangle" w="med" len="med"/>
          </a:ln>
          <a:effectLst/>
        </p:spPr>
      </p:cxnSp>
      <p:sp>
        <p:nvSpPr>
          <p:cNvPr id="37" name="Rounded Rectangle 36"/>
          <p:cNvSpPr/>
          <p:nvPr/>
        </p:nvSpPr>
        <p:spPr>
          <a:xfrm>
            <a:off x="12793772" y="6887198"/>
            <a:ext cx="525312" cy="213408"/>
          </a:xfrm>
          <a:prstGeom prst="roundRect">
            <a:avLst>
              <a:gd name="adj" fmla="val 17170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0690" y="6846158"/>
            <a:ext cx="511475" cy="222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23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0.134*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80693" y="4056531"/>
            <a:ext cx="5242560" cy="1092200"/>
          </a:xfrm>
          <a:prstGeom prst="line">
            <a:avLst/>
          </a:prstGeom>
          <a:ln w="12458">
            <a:solidFill>
              <a:srgbClr val="B9B9AD"/>
            </a:solidFill>
            <a:prstDash val="dash"/>
            <a:tailEnd type="triangle" w="med" len="med"/>
          </a:ln>
          <a:effectLst/>
        </p:spPr>
      </p:cxnSp>
      <p:sp>
        <p:nvSpPr>
          <p:cNvPr id="40" name="Rounded Rectangle 39"/>
          <p:cNvSpPr/>
          <p:nvPr/>
        </p:nvSpPr>
        <p:spPr>
          <a:xfrm>
            <a:off x="7381815" y="4261396"/>
            <a:ext cx="733589" cy="193401"/>
          </a:xfrm>
          <a:prstGeom prst="roundRect">
            <a:avLst>
              <a:gd name="adj" fmla="val 18946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83592" y="4224203"/>
            <a:ext cx="730035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36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0.094 n.s.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2985442" y="5485034"/>
            <a:ext cx="8501031" cy="1201559"/>
          </a:xfrm>
          <a:prstGeom prst="line">
            <a:avLst/>
          </a:prstGeom>
          <a:ln w="12458">
            <a:solidFill>
              <a:srgbClr val="B9B9AD"/>
            </a:solidFill>
            <a:prstDash val="dash"/>
            <a:tailEnd type="triangle" w="med" len="med"/>
          </a:ln>
          <a:effectLst/>
        </p:spPr>
      </p:cxnSp>
      <p:sp>
        <p:nvSpPr>
          <p:cNvPr id="43" name="Rounded Rectangle 42"/>
          <p:cNvSpPr/>
          <p:nvPr/>
        </p:nvSpPr>
        <p:spPr>
          <a:xfrm>
            <a:off x="5168956" y="6181203"/>
            <a:ext cx="733589" cy="193401"/>
          </a:xfrm>
          <a:prstGeom prst="roundRect">
            <a:avLst>
              <a:gd name="adj" fmla="val 18946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70733" y="6144010"/>
            <a:ext cx="730035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36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0.072 n.s.</a:t>
            </a:r>
          </a:p>
        </p:txBody>
      </p:sp>
      <p:sp>
        <p:nvSpPr>
          <p:cNvPr id="45" name="构念-SN"/>
          <p:cNvSpPr/>
          <p:nvPr/>
        </p:nvSpPr>
        <p:spPr>
          <a:xfrm>
            <a:off x="7823828" y="1769657"/>
            <a:ext cx="1817485" cy="850114"/>
          </a:xfrm>
          <a:prstGeom prst="ellipse">
            <a:avLst/>
          </a:prstGeom>
          <a:solidFill>
            <a:srgbClr val="FCFBF7"/>
          </a:solidFill>
          <a:ln w="14657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主观规范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SN</a:t>
            </a:r>
          </a:p>
        </p:txBody>
      </p:sp>
      <p:sp>
        <p:nvSpPr>
          <p:cNvPr id="46" name="构念-PCE"/>
          <p:cNvSpPr/>
          <p:nvPr/>
        </p:nvSpPr>
        <p:spPr>
          <a:xfrm>
            <a:off x="1191471" y="3455228"/>
            <a:ext cx="1817485" cy="850114"/>
          </a:xfrm>
          <a:prstGeom prst="ellipse">
            <a:avLst/>
          </a:prstGeom>
          <a:solidFill>
            <a:srgbClr val="AE564A"/>
          </a:solidFill>
          <a:ln w="14657">
            <a:solidFill>
              <a:srgbClr val="8E4238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过往冲突经历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PCE</a:t>
            </a:r>
          </a:p>
        </p:txBody>
      </p:sp>
      <p:sp>
        <p:nvSpPr>
          <p:cNvPr id="47" name="构念-RP"/>
          <p:cNvSpPr/>
          <p:nvPr/>
        </p:nvSpPr>
        <p:spPr>
          <a:xfrm>
            <a:off x="4525971" y="3455228"/>
            <a:ext cx="1817485" cy="850114"/>
          </a:xfrm>
          <a:prstGeom prst="ellipse">
            <a:avLst/>
          </a:prstGeom>
          <a:solidFill>
            <a:srgbClr val="AE564A"/>
          </a:solidFill>
          <a:ln w="14657">
            <a:solidFill>
              <a:srgbClr val="8E4238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风险感知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RP</a:t>
            </a:r>
          </a:p>
        </p:txBody>
      </p:sp>
      <p:sp>
        <p:nvSpPr>
          <p:cNvPr id="48" name="构念-AT"/>
          <p:cNvSpPr/>
          <p:nvPr/>
        </p:nvSpPr>
        <p:spPr>
          <a:xfrm>
            <a:off x="7823828" y="3455228"/>
            <a:ext cx="1817485" cy="850114"/>
          </a:xfrm>
          <a:prstGeom prst="ellipse">
            <a:avLst/>
          </a:prstGeom>
          <a:solidFill>
            <a:srgbClr val="AE564A"/>
          </a:solidFill>
          <a:ln w="14657">
            <a:solidFill>
              <a:srgbClr val="8E4238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安全态度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2971" y="3315985"/>
            <a:ext cx="615600" cy="197871"/>
          </a:xfrm>
          <a:prstGeom prst="roundRect">
            <a:avLst>
              <a:gd name="adj" fmla="val 48148"/>
            </a:avLst>
          </a:prstGeom>
          <a:solidFill>
            <a:srgbClr val="D8DFC8"/>
          </a:solidFill>
          <a:ln w="7328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7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R² 26.6%</a:t>
            </a:r>
          </a:p>
        </p:txBody>
      </p:sp>
      <p:sp>
        <p:nvSpPr>
          <p:cNvPr id="50" name="构念-BI"/>
          <p:cNvSpPr/>
          <p:nvPr/>
        </p:nvSpPr>
        <p:spPr>
          <a:xfrm>
            <a:off x="11561400" y="4920942"/>
            <a:ext cx="1817485" cy="850114"/>
          </a:xfrm>
          <a:prstGeom prst="ellipse">
            <a:avLst/>
          </a:prstGeom>
          <a:solidFill>
            <a:srgbClr val="AE564A"/>
          </a:solidFill>
          <a:ln w="14657">
            <a:solidFill>
              <a:srgbClr val="8E4238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行为意图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880542" y="4781700"/>
            <a:ext cx="615600" cy="197871"/>
          </a:xfrm>
          <a:prstGeom prst="roundRect">
            <a:avLst>
              <a:gd name="adj" fmla="val 48148"/>
            </a:avLst>
          </a:prstGeom>
          <a:solidFill>
            <a:srgbClr val="D8DFC8"/>
          </a:solidFill>
          <a:ln w="7328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7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R² 52.3%</a:t>
            </a:r>
          </a:p>
        </p:txBody>
      </p:sp>
      <p:sp>
        <p:nvSpPr>
          <p:cNvPr id="52" name="构念-PEU"/>
          <p:cNvSpPr/>
          <p:nvPr/>
        </p:nvSpPr>
        <p:spPr>
          <a:xfrm>
            <a:off x="1191471" y="6386657"/>
            <a:ext cx="1817485" cy="850114"/>
          </a:xfrm>
          <a:prstGeom prst="ellipse">
            <a:avLst/>
          </a:prstGeom>
          <a:solidFill>
            <a:srgbClr val="FCFBF7"/>
          </a:solidFill>
          <a:ln w="14657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感知易用性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PEU</a:t>
            </a:r>
          </a:p>
        </p:txBody>
      </p:sp>
      <p:sp>
        <p:nvSpPr>
          <p:cNvPr id="53" name="构念-PBC"/>
          <p:cNvSpPr/>
          <p:nvPr/>
        </p:nvSpPr>
        <p:spPr>
          <a:xfrm>
            <a:off x="4525971" y="6899657"/>
            <a:ext cx="1817485" cy="850114"/>
          </a:xfrm>
          <a:prstGeom prst="ellipse">
            <a:avLst/>
          </a:prstGeom>
          <a:solidFill>
            <a:srgbClr val="FCFBF7"/>
          </a:solidFill>
          <a:ln w="14657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知觉行为控制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PBC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67342" y="6760414"/>
            <a:ext cx="615600" cy="197871"/>
          </a:xfrm>
          <a:prstGeom prst="roundRect">
            <a:avLst>
              <a:gd name="adj" fmla="val 48148"/>
            </a:avLst>
          </a:prstGeom>
          <a:solidFill>
            <a:srgbClr val="D8DFC8"/>
          </a:solidFill>
          <a:ln w="7328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7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R² 8.2%</a:t>
            </a:r>
          </a:p>
        </p:txBody>
      </p:sp>
      <p:sp>
        <p:nvSpPr>
          <p:cNvPr id="55" name="构念-PU"/>
          <p:cNvSpPr/>
          <p:nvPr/>
        </p:nvSpPr>
        <p:spPr>
          <a:xfrm>
            <a:off x="11561400" y="8072228"/>
            <a:ext cx="1817485" cy="850114"/>
          </a:xfrm>
          <a:prstGeom prst="ellipse">
            <a:avLst/>
          </a:prstGeom>
          <a:solidFill>
            <a:srgbClr val="FCFBF7"/>
          </a:solidFill>
          <a:ln w="14657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感知有用性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PU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4428" y="7911000"/>
            <a:ext cx="10406571" cy="1685571"/>
          </a:xfrm>
          <a:prstGeom prst="roundRect">
            <a:avLst>
              <a:gd name="adj" fmla="val 4347"/>
            </a:avLst>
          </a:prstGeom>
          <a:solidFill>
            <a:srgbClr val="E8EBD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4971" y="7993080"/>
            <a:ext cx="605046" cy="222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23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构念释义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35914" y="8021661"/>
            <a:ext cx="3880214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名称、代码与定义照录表14《高校共享道路交通安全行为要素表》，序号同表14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4971" y="8233457"/>
            <a:ext cx="10025486" cy="0"/>
          </a:xfrm>
          <a:prstGeom prst="line">
            <a:avLst/>
          </a:prstGeom>
          <a:ln w="7328">
            <a:solidFill>
              <a:srgbClr val="D2D2C8"/>
            </a:solidFill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934971" y="8358775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6885" y="8344484"/>
            <a:ext cx="197013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2628" y="8339721"/>
            <a:ext cx="567231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安全态度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6885" y="8527332"/>
            <a:ext cx="1686304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个体对交通安全重要性的总体评判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9400" y="8358775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1314" y="8344484"/>
            <a:ext cx="197013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SN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07057" y="8339721"/>
            <a:ext cx="567231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主观规范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11314" y="8527332"/>
            <a:ext cx="2012132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个体所感知到的来自重要他人的行为期望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23828" y="8358775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5742" y="8344484"/>
            <a:ext cx="263641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PBC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51485" y="8339721"/>
            <a:ext cx="817868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知觉行为控制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742" y="8527332"/>
            <a:ext cx="1903523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体现个体对执行安全行为的自我效能感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4971" y="8783832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6885" y="8769542"/>
            <a:ext cx="197013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PU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62628" y="8764778"/>
            <a:ext cx="692549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感知有用性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6885" y="8952390"/>
            <a:ext cx="2229351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个体认为遵守交通规则对保障安全的有效程度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79400" y="8783832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11314" y="8769542"/>
            <a:ext cx="263641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PEU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07057" y="8764778"/>
            <a:ext cx="692549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感知易用性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11314" y="8952390"/>
            <a:ext cx="1686304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个体认为执行安全行为的便利程度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23828" y="8783832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55742" y="8769542"/>
            <a:ext cx="197013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RP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51485" y="8764778"/>
            <a:ext cx="567231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风险感知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55742" y="8952390"/>
            <a:ext cx="1360476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对潜在交通危险的主观评估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4971" y="9208890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6885" y="9194599"/>
            <a:ext cx="263641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PCE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62628" y="9189835"/>
            <a:ext cx="817868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过往冲突经历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6885" y="9377447"/>
            <a:ext cx="1577694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反映个体的直接或间接事故经验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79400" y="9208890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11314" y="9194599"/>
            <a:ext cx="197013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BI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07057" y="9189835"/>
            <a:ext cx="567231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行为意图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11314" y="9377447"/>
            <a:ext cx="1469085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作为因变量用于预测实际行为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4428" y="9746807"/>
            <a:ext cx="9113957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0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行人以“过往冲突经历→风险感知→安全态度→行为意图”为主导传导链，安全态度对行为意图的路径系数达 0.378（p&lt;0.001），模型对行为意图的解释力为 52.3%。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15114" y="10138885"/>
            <a:ext cx="13689771" cy="0"/>
          </a:xfrm>
          <a:prstGeom prst="line">
            <a:avLst/>
          </a:prstGeom>
          <a:ln w="9527">
            <a:solidFill>
              <a:srgbClr val="D2D2C8"/>
            </a:solidFill>
          </a:ln>
          <a:effectLst/>
        </p:spPr>
      </p:cxnSp>
      <p:sp>
        <p:nvSpPr>
          <p:cNvPr id="94" name="TextBox 93"/>
          <p:cNvSpPr txBox="1"/>
          <p:nvPr/>
        </p:nvSpPr>
        <p:spPr>
          <a:xfrm>
            <a:off x="715114" y="10195682"/>
            <a:ext cx="1167166" cy="1740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21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图5  行人行为决策模型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43065" y="10195682"/>
            <a:ext cx="3161820" cy="1740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21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两组路径系数的组间差异经 z 检验，核心路径均达显著（见表23）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4714" y="216000"/>
            <a:ext cx="14510571" cy="10260000"/>
          </a:xfrm>
          <a:prstGeom prst="rect">
            <a:avLst/>
          </a:prstGeom>
          <a:solidFill>
            <a:srgbClr val="F4F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5114" y="369167"/>
            <a:ext cx="468361" cy="3759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558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图6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228" y="426330"/>
            <a:ext cx="1671354" cy="292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11" b="0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骑行者行为决策模型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5114" y="712877"/>
            <a:ext cx="6623240" cy="19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7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多群组结构方程分析（骑行者组）；有效问卷 232 份，8 个潜变量、43 个观测题项；路径系数取自表23，R² 取自 4.2.4 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5114" y="978171"/>
            <a:ext cx="13689771" cy="0"/>
          </a:xfrm>
          <a:prstGeom prst="line">
            <a:avLst/>
          </a:prstGeom>
          <a:ln w="9527">
            <a:solidFill>
              <a:srgbClr val="D2D2C8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744428" y="1315285"/>
            <a:ext cx="337114" cy="0"/>
          </a:xfrm>
          <a:prstGeom prst="line">
            <a:avLst/>
          </a:prstGeom>
          <a:ln w="36642" cap="rnd">
            <a:solidFill>
              <a:srgbClr val="AE564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1169485" y="1218548"/>
            <a:ext cx="646380" cy="19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7" b="1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核心传导链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75628" y="1315285"/>
            <a:ext cx="337114" cy="0"/>
          </a:xfrm>
          <a:prstGeom prst="line">
            <a:avLst/>
          </a:prstGeom>
          <a:ln w="17588" cap="rnd">
            <a:solidFill>
              <a:srgbClr val="7A8E63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2400685" y="1218548"/>
            <a:ext cx="529416" cy="19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7" b="0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显著路径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77514" y="1315285"/>
            <a:ext cx="337114" cy="0"/>
          </a:xfrm>
          <a:prstGeom prst="line">
            <a:avLst/>
          </a:prstGeom>
          <a:ln w="12458">
            <a:solidFill>
              <a:srgbClr val="B9B9AD"/>
            </a:solidFill>
            <a:prstDash val="dash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3602571" y="1218548"/>
            <a:ext cx="646380" cy="19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7" b="0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不显著路径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1314" y="1220014"/>
            <a:ext cx="571628" cy="190542"/>
          </a:xfrm>
          <a:prstGeom prst="roundRect">
            <a:avLst>
              <a:gd name="adj" fmla="val 50000"/>
            </a:avLst>
          </a:prstGeom>
          <a:solidFill>
            <a:srgbClr val="D8DFC8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0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R²  解释力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8828" y="1223312"/>
            <a:ext cx="3189192" cy="1879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79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*** p&lt;0.001    ** p&lt;0.01    * p&lt;0.05    n.s. 不显著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00214" y="6811714"/>
            <a:ext cx="3334500" cy="513000"/>
          </a:xfrm>
          <a:prstGeom prst="line">
            <a:avLst/>
          </a:prstGeom>
          <a:ln w="351771" cap="rnd">
            <a:solidFill>
              <a:srgbClr val="EEDCD6">
                <a:alpha val="85000"/>
              </a:srgbClr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 flipV="1">
            <a:off x="5434714" y="5346000"/>
            <a:ext cx="7035428" cy="1978714"/>
          </a:xfrm>
          <a:prstGeom prst="line">
            <a:avLst/>
          </a:prstGeom>
          <a:ln w="351771" cap="rnd">
            <a:solidFill>
              <a:srgbClr val="EEDCD6">
                <a:alpha val="85000"/>
              </a:srgbClr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3023614" y="3880285"/>
            <a:ext cx="1392428" cy="0"/>
          </a:xfrm>
          <a:prstGeom prst="line">
            <a:avLst/>
          </a:prstGeom>
          <a:ln w="17588">
            <a:solidFill>
              <a:srgbClr val="7A8E63"/>
            </a:solidFill>
            <a:tailEnd type="triangle" w="med" len="med"/>
          </a:ln>
          <a:effectLst/>
        </p:spPr>
      </p:cxnSp>
      <p:sp>
        <p:nvSpPr>
          <p:cNvPr id="18" name="Rounded Rectangle 17"/>
          <p:cNvSpPr/>
          <p:nvPr/>
        </p:nvSpPr>
        <p:spPr>
          <a:xfrm>
            <a:off x="3389163" y="3431777"/>
            <a:ext cx="661330" cy="213408"/>
          </a:xfrm>
          <a:prstGeom prst="roundRect">
            <a:avLst>
              <a:gd name="adj" fmla="val 17170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0570" y="3390737"/>
            <a:ext cx="658516" cy="222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23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0.538***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8114" y="3880285"/>
            <a:ext cx="1355786" cy="0"/>
          </a:xfrm>
          <a:prstGeom prst="line">
            <a:avLst/>
          </a:prstGeom>
          <a:ln w="17588">
            <a:solidFill>
              <a:srgbClr val="7A8E63"/>
            </a:solidFill>
            <a:tailEnd type="triangle" w="med" len="med"/>
          </a:ln>
          <a:effectLst/>
        </p:spPr>
      </p:cxnSp>
      <p:sp>
        <p:nvSpPr>
          <p:cNvPr id="21" name="Rounded Rectangle 20"/>
          <p:cNvSpPr/>
          <p:nvPr/>
        </p:nvSpPr>
        <p:spPr>
          <a:xfrm>
            <a:off x="6705342" y="3431777"/>
            <a:ext cx="661330" cy="213408"/>
          </a:xfrm>
          <a:prstGeom prst="roundRect">
            <a:avLst>
              <a:gd name="adj" fmla="val 17170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6749" y="3390737"/>
            <a:ext cx="658516" cy="222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23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0.342***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45371" y="4159815"/>
            <a:ext cx="2208547" cy="866096"/>
          </a:xfrm>
          <a:prstGeom prst="line">
            <a:avLst/>
          </a:prstGeom>
          <a:ln w="17588">
            <a:solidFill>
              <a:srgbClr val="7A8E63"/>
            </a:solidFill>
            <a:tailEnd type="triangle" w="med" len="med"/>
          </a:ln>
          <a:effectLst/>
        </p:spPr>
      </p:cxnSp>
      <p:sp>
        <p:nvSpPr>
          <p:cNvPr id="24" name="Rounded Rectangle 23"/>
          <p:cNvSpPr/>
          <p:nvPr/>
        </p:nvSpPr>
        <p:spPr>
          <a:xfrm>
            <a:off x="10468151" y="4290926"/>
            <a:ext cx="661330" cy="213408"/>
          </a:xfrm>
          <a:prstGeom prst="roundRect">
            <a:avLst>
              <a:gd name="adj" fmla="val 17170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9558" y="4249886"/>
            <a:ext cx="658516" cy="222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23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0.196***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86673" y="2577584"/>
            <a:ext cx="2744889" cy="2314318"/>
          </a:xfrm>
          <a:prstGeom prst="line">
            <a:avLst/>
          </a:prstGeom>
          <a:ln w="17588">
            <a:solidFill>
              <a:srgbClr val="7A8E63"/>
            </a:solidFill>
            <a:tailEnd type="triangle" w="med" len="med"/>
          </a:ln>
          <a:effectLst/>
        </p:spPr>
      </p:cxnSp>
      <p:sp>
        <p:nvSpPr>
          <p:cNvPr id="27" name="Rounded Rectangle 26"/>
          <p:cNvSpPr/>
          <p:nvPr/>
        </p:nvSpPr>
        <p:spPr>
          <a:xfrm>
            <a:off x="10584914" y="3432806"/>
            <a:ext cx="593321" cy="213408"/>
          </a:xfrm>
          <a:prstGeom prst="roundRect">
            <a:avLst>
              <a:gd name="adj" fmla="val 17170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89076" y="3391766"/>
            <a:ext cx="584995" cy="222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23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0.145**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78894" y="6946895"/>
            <a:ext cx="1478230" cy="227420"/>
          </a:xfrm>
          <a:prstGeom prst="line">
            <a:avLst/>
          </a:prstGeom>
          <a:ln w="24917">
            <a:solidFill>
              <a:srgbClr val="AE564A"/>
            </a:solidFill>
            <a:tailEnd type="triangle" w="med" len="med"/>
          </a:ln>
          <a:effectLst/>
        </p:spPr>
      </p:cxnSp>
      <p:sp>
        <p:nvSpPr>
          <p:cNvPr id="30" name="Rounded Rectangle 29"/>
          <p:cNvSpPr/>
          <p:nvPr/>
        </p:nvSpPr>
        <p:spPr>
          <a:xfrm>
            <a:off x="3319335" y="6569591"/>
            <a:ext cx="797348" cy="266760"/>
          </a:xfrm>
          <a:prstGeom prst="roundRect">
            <a:avLst>
              <a:gd name="adj" fmla="val 13736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06437" y="6518291"/>
            <a:ext cx="823145" cy="2784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4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0.456***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229792" y="5598564"/>
            <a:ext cx="5342343" cy="1502534"/>
          </a:xfrm>
          <a:prstGeom prst="line">
            <a:avLst/>
          </a:prstGeom>
          <a:ln w="24917">
            <a:solidFill>
              <a:srgbClr val="AE564A"/>
            </a:solidFill>
            <a:tailEnd type="triangle" w="med" len="med"/>
          </a:ln>
          <a:effectLst/>
        </p:spPr>
      </p:cxnSp>
      <p:sp>
        <p:nvSpPr>
          <p:cNvPr id="33" name="Rounded Rectangle 32"/>
          <p:cNvSpPr/>
          <p:nvPr/>
        </p:nvSpPr>
        <p:spPr>
          <a:xfrm>
            <a:off x="8414347" y="5932102"/>
            <a:ext cx="797348" cy="266760"/>
          </a:xfrm>
          <a:prstGeom prst="roundRect">
            <a:avLst>
              <a:gd name="adj" fmla="val 13736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1448" y="5880802"/>
            <a:ext cx="823145" cy="2784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4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0.324***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2470142" y="5880985"/>
            <a:ext cx="0" cy="2176586"/>
          </a:xfrm>
          <a:prstGeom prst="line">
            <a:avLst/>
          </a:prstGeom>
          <a:ln w="17588">
            <a:solidFill>
              <a:srgbClr val="7A8E63"/>
            </a:solidFill>
            <a:tailEnd type="triangle" w="med" len="med"/>
          </a:ln>
          <a:effectLst/>
        </p:spPr>
      </p:cxnSp>
      <p:sp>
        <p:nvSpPr>
          <p:cNvPr id="36" name="Rounded Rectangle 35"/>
          <p:cNvSpPr/>
          <p:nvPr/>
        </p:nvSpPr>
        <p:spPr>
          <a:xfrm>
            <a:off x="12759768" y="6887198"/>
            <a:ext cx="593321" cy="213408"/>
          </a:xfrm>
          <a:prstGeom prst="roundRect">
            <a:avLst>
              <a:gd name="adj" fmla="val 17170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63930" y="6846158"/>
            <a:ext cx="584995" cy="222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23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0.149**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80693" y="4056531"/>
            <a:ext cx="5242560" cy="1092200"/>
          </a:xfrm>
          <a:prstGeom prst="line">
            <a:avLst/>
          </a:prstGeom>
          <a:ln w="12458">
            <a:solidFill>
              <a:srgbClr val="B9B9AD"/>
            </a:solidFill>
            <a:prstDash val="dash"/>
            <a:tailEnd type="triangle" w="med" len="med"/>
          </a:ln>
          <a:effectLst/>
        </p:spPr>
      </p:cxnSp>
      <p:sp>
        <p:nvSpPr>
          <p:cNvPr id="39" name="Rounded Rectangle 38"/>
          <p:cNvSpPr/>
          <p:nvPr/>
        </p:nvSpPr>
        <p:spPr>
          <a:xfrm>
            <a:off x="7381815" y="4261396"/>
            <a:ext cx="733589" cy="193401"/>
          </a:xfrm>
          <a:prstGeom prst="roundRect">
            <a:avLst>
              <a:gd name="adj" fmla="val 18946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83592" y="4224203"/>
            <a:ext cx="730035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36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0.081 n.s.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2985442" y="5485034"/>
            <a:ext cx="8501031" cy="1201559"/>
          </a:xfrm>
          <a:prstGeom prst="line">
            <a:avLst/>
          </a:prstGeom>
          <a:ln w="12458">
            <a:solidFill>
              <a:srgbClr val="B9B9AD"/>
            </a:solidFill>
            <a:prstDash val="dash"/>
            <a:tailEnd type="triangle" w="med" len="med"/>
          </a:ln>
          <a:effectLst/>
        </p:spPr>
      </p:cxnSp>
      <p:sp>
        <p:nvSpPr>
          <p:cNvPr id="42" name="Rounded Rectangle 41"/>
          <p:cNvSpPr/>
          <p:nvPr/>
        </p:nvSpPr>
        <p:spPr>
          <a:xfrm>
            <a:off x="5168956" y="6181203"/>
            <a:ext cx="733589" cy="193401"/>
          </a:xfrm>
          <a:prstGeom prst="roundRect">
            <a:avLst>
              <a:gd name="adj" fmla="val 18946"/>
            </a:avLst>
          </a:prstGeom>
          <a:solidFill>
            <a:srgbClr val="F4F3ED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0733" y="6144010"/>
            <a:ext cx="730035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36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0.065 n.s.</a:t>
            </a:r>
          </a:p>
        </p:txBody>
      </p:sp>
      <p:sp>
        <p:nvSpPr>
          <p:cNvPr id="44" name="构念-SN"/>
          <p:cNvSpPr/>
          <p:nvPr/>
        </p:nvSpPr>
        <p:spPr>
          <a:xfrm>
            <a:off x="7823828" y="1769657"/>
            <a:ext cx="1817485" cy="850114"/>
          </a:xfrm>
          <a:prstGeom prst="ellipse">
            <a:avLst/>
          </a:prstGeom>
          <a:solidFill>
            <a:srgbClr val="FCFBF7"/>
          </a:solidFill>
          <a:ln w="14657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主观规范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SN</a:t>
            </a:r>
          </a:p>
        </p:txBody>
      </p:sp>
      <p:sp>
        <p:nvSpPr>
          <p:cNvPr id="45" name="构念-PCE"/>
          <p:cNvSpPr/>
          <p:nvPr/>
        </p:nvSpPr>
        <p:spPr>
          <a:xfrm>
            <a:off x="1191471" y="3455228"/>
            <a:ext cx="1817485" cy="850114"/>
          </a:xfrm>
          <a:prstGeom prst="ellipse">
            <a:avLst/>
          </a:prstGeom>
          <a:solidFill>
            <a:srgbClr val="FCFBF7"/>
          </a:solidFill>
          <a:ln w="14657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过往冲突经历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PCE</a:t>
            </a:r>
          </a:p>
        </p:txBody>
      </p:sp>
      <p:sp>
        <p:nvSpPr>
          <p:cNvPr id="46" name="构念-RP"/>
          <p:cNvSpPr/>
          <p:nvPr/>
        </p:nvSpPr>
        <p:spPr>
          <a:xfrm>
            <a:off x="4525971" y="3455228"/>
            <a:ext cx="1817485" cy="850114"/>
          </a:xfrm>
          <a:prstGeom prst="ellipse">
            <a:avLst/>
          </a:prstGeom>
          <a:solidFill>
            <a:srgbClr val="FCFBF7"/>
          </a:solidFill>
          <a:ln w="14657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风险感知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RP</a:t>
            </a:r>
          </a:p>
        </p:txBody>
      </p:sp>
      <p:sp>
        <p:nvSpPr>
          <p:cNvPr id="47" name="构念-AT"/>
          <p:cNvSpPr/>
          <p:nvPr/>
        </p:nvSpPr>
        <p:spPr>
          <a:xfrm>
            <a:off x="7823828" y="3455228"/>
            <a:ext cx="1817485" cy="850114"/>
          </a:xfrm>
          <a:prstGeom prst="ellipse">
            <a:avLst/>
          </a:prstGeom>
          <a:solidFill>
            <a:srgbClr val="FCFBF7"/>
          </a:solidFill>
          <a:ln w="14657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安全态度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2971" y="3315985"/>
            <a:ext cx="615600" cy="197871"/>
          </a:xfrm>
          <a:prstGeom prst="roundRect">
            <a:avLst>
              <a:gd name="adj" fmla="val 48148"/>
            </a:avLst>
          </a:prstGeom>
          <a:solidFill>
            <a:srgbClr val="D8DFC8"/>
          </a:solidFill>
          <a:ln w="7328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7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R² 11.7%</a:t>
            </a:r>
          </a:p>
        </p:txBody>
      </p:sp>
      <p:sp>
        <p:nvSpPr>
          <p:cNvPr id="49" name="构念-BI"/>
          <p:cNvSpPr/>
          <p:nvPr/>
        </p:nvSpPr>
        <p:spPr>
          <a:xfrm>
            <a:off x="11561400" y="4920942"/>
            <a:ext cx="1817485" cy="850114"/>
          </a:xfrm>
          <a:prstGeom prst="ellipse">
            <a:avLst/>
          </a:prstGeom>
          <a:solidFill>
            <a:srgbClr val="AE564A"/>
          </a:solidFill>
          <a:ln w="14657">
            <a:solidFill>
              <a:srgbClr val="8E4238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行为意图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880542" y="4781700"/>
            <a:ext cx="615600" cy="197871"/>
          </a:xfrm>
          <a:prstGeom prst="roundRect">
            <a:avLst>
              <a:gd name="adj" fmla="val 48148"/>
            </a:avLst>
          </a:prstGeom>
          <a:solidFill>
            <a:srgbClr val="D8DFC8"/>
          </a:solidFill>
          <a:ln w="7328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7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R² 44.8%</a:t>
            </a:r>
          </a:p>
        </p:txBody>
      </p:sp>
      <p:sp>
        <p:nvSpPr>
          <p:cNvPr id="51" name="构念-PEU"/>
          <p:cNvSpPr/>
          <p:nvPr/>
        </p:nvSpPr>
        <p:spPr>
          <a:xfrm>
            <a:off x="1191471" y="6386657"/>
            <a:ext cx="1817485" cy="850114"/>
          </a:xfrm>
          <a:prstGeom prst="ellipse">
            <a:avLst/>
          </a:prstGeom>
          <a:solidFill>
            <a:srgbClr val="AE564A"/>
          </a:solidFill>
          <a:ln w="14657">
            <a:solidFill>
              <a:srgbClr val="8E4238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感知易用性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PEU</a:t>
            </a:r>
          </a:p>
        </p:txBody>
      </p:sp>
      <p:sp>
        <p:nvSpPr>
          <p:cNvPr id="52" name="构念-PBC"/>
          <p:cNvSpPr/>
          <p:nvPr/>
        </p:nvSpPr>
        <p:spPr>
          <a:xfrm>
            <a:off x="4525971" y="6899657"/>
            <a:ext cx="1817485" cy="850114"/>
          </a:xfrm>
          <a:prstGeom prst="ellipse">
            <a:avLst/>
          </a:prstGeom>
          <a:solidFill>
            <a:srgbClr val="AE564A"/>
          </a:solidFill>
          <a:ln w="14657">
            <a:solidFill>
              <a:srgbClr val="8E4238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知觉行为控制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PBC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67342" y="6760414"/>
            <a:ext cx="615600" cy="197871"/>
          </a:xfrm>
          <a:prstGeom prst="roundRect">
            <a:avLst>
              <a:gd name="adj" fmla="val 48148"/>
            </a:avLst>
          </a:prstGeom>
          <a:solidFill>
            <a:srgbClr val="D8DFC8"/>
          </a:solidFill>
          <a:ln w="7328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7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R² 20.8%</a:t>
            </a:r>
          </a:p>
        </p:txBody>
      </p:sp>
      <p:sp>
        <p:nvSpPr>
          <p:cNvPr id="54" name="构念-PU"/>
          <p:cNvSpPr/>
          <p:nvPr/>
        </p:nvSpPr>
        <p:spPr>
          <a:xfrm>
            <a:off x="11561400" y="8072228"/>
            <a:ext cx="1817485" cy="850114"/>
          </a:xfrm>
          <a:prstGeom prst="ellipse">
            <a:avLst/>
          </a:prstGeom>
          <a:solidFill>
            <a:srgbClr val="FCFBF7"/>
          </a:solidFill>
          <a:ln w="14657">
            <a:solidFill>
              <a:srgbClr val="97A97F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1211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感知有用性</a:t>
            </a:r>
          </a:p>
          <a:p>
            <a:pPr algn="ctr">
              <a:lnSpc>
                <a:spcPct val="128000"/>
              </a:lnSpc>
            </a:pPr>
            <a:r>
              <a:rPr sz="980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PU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4428" y="7911000"/>
            <a:ext cx="10406571" cy="1685571"/>
          </a:xfrm>
          <a:prstGeom prst="roundRect">
            <a:avLst>
              <a:gd name="adj" fmla="val 4347"/>
            </a:avLst>
          </a:prstGeom>
          <a:solidFill>
            <a:srgbClr val="E8EBD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971" y="7993080"/>
            <a:ext cx="605046" cy="222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23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构念释义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5914" y="8021661"/>
            <a:ext cx="3880214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名称、代码与定义照录表14《高校共享道路交通安全行为要素表》，序号同表14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34971" y="8233457"/>
            <a:ext cx="10025486" cy="0"/>
          </a:xfrm>
          <a:prstGeom prst="line">
            <a:avLst/>
          </a:prstGeom>
          <a:ln w="7328">
            <a:solidFill>
              <a:srgbClr val="D2D2C8"/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934971" y="8358775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6885" y="8344484"/>
            <a:ext cx="197013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AT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62628" y="8339721"/>
            <a:ext cx="567231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安全态度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6885" y="8527332"/>
            <a:ext cx="1686304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个体对交通安全重要性的总体评判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9400" y="8358775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11314" y="8344484"/>
            <a:ext cx="197013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SN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07057" y="8339721"/>
            <a:ext cx="567231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主观规范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11314" y="8527332"/>
            <a:ext cx="2012132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个体所感知到的来自重要他人的行为期望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23828" y="8358775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742" y="8344484"/>
            <a:ext cx="263641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PBC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51485" y="8339721"/>
            <a:ext cx="817868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知觉行为控制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742" y="8527332"/>
            <a:ext cx="1903523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体现个体对执行安全行为的自我效能感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4971" y="8783832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6885" y="8769542"/>
            <a:ext cx="197013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PU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62628" y="8764778"/>
            <a:ext cx="692549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感知有用性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6885" y="8952390"/>
            <a:ext cx="2229351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个体认为遵守交通规则对保障安全的有效程度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79400" y="8783832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11314" y="8769542"/>
            <a:ext cx="263641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PEU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07057" y="8764778"/>
            <a:ext cx="692549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感知易用性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11314" y="8952390"/>
            <a:ext cx="1686304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个体认为执行安全行为的便利程度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23828" y="8783832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5742" y="8769542"/>
            <a:ext cx="197013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RP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51485" y="8764778"/>
            <a:ext cx="567231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风险感知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55742" y="8952390"/>
            <a:ext cx="1360476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对潜在交通危险的主观评估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4971" y="9208890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6885" y="9194599"/>
            <a:ext cx="263641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PCE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62628" y="9189835"/>
            <a:ext cx="817868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过往冲突经历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6885" y="9377447"/>
            <a:ext cx="1577694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反映个体的直接或间接事故经验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79400" y="9208890"/>
            <a:ext cx="116898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11314" y="9194599"/>
            <a:ext cx="197013" cy="201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36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BI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07057" y="9189835"/>
            <a:ext cx="567231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行为意图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11314" y="9377447"/>
            <a:ext cx="1469085" cy="181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作为因变量用于预测实际行为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4428" y="9746807"/>
            <a:ext cx="9045032" cy="208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65" b="0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骑行者以“感知易用性→知觉行为控制→行为意图”为主导传导链，知觉行为控制对行为意图的路径系数达 0.324（p&lt;0.001），模型对行为意图的解释力为 44.8%。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15114" y="10138885"/>
            <a:ext cx="13689771" cy="0"/>
          </a:xfrm>
          <a:prstGeom prst="line">
            <a:avLst/>
          </a:prstGeom>
          <a:ln w="9527">
            <a:solidFill>
              <a:srgbClr val="D2D2C8"/>
            </a:solidFill>
          </a:ln>
          <a:effectLst/>
        </p:spPr>
      </p:cxnSp>
      <p:sp>
        <p:nvSpPr>
          <p:cNvPr id="93" name="TextBox 92"/>
          <p:cNvSpPr txBox="1"/>
          <p:nvPr/>
        </p:nvSpPr>
        <p:spPr>
          <a:xfrm>
            <a:off x="715114" y="10195682"/>
            <a:ext cx="1271598" cy="1740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21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图6  骑行者行为决策模型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43065" y="10195682"/>
            <a:ext cx="3161820" cy="1740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21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两组路径系数的组间差异经 z 检验，核心路径均达显著（见表23）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746727"/>
            <a:ext cx="14688000" cy="9198545"/>
          </a:xfrm>
          <a:prstGeom prst="rect">
            <a:avLst/>
          </a:prstGeom>
          <a:solidFill>
            <a:srgbClr val="F4F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1418" y="901767"/>
            <a:ext cx="474088" cy="3805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577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图8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654" y="959629"/>
            <a:ext cx="2934929" cy="29598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26" b="0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高校共享道路安全引导系统需求清单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418" y="1249680"/>
            <a:ext cx="6680547" cy="197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17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基于 86 份 Kano 问卷，共 14 项需求，分为基本／期望／兴奋三类；需求项、系数与优先级照录表34，各类内部次序同表34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31418" y="1518218"/>
            <a:ext cx="13857163" cy="0"/>
          </a:xfrm>
          <a:prstGeom prst="line">
            <a:avLst/>
          </a:prstGeom>
          <a:ln w="9643">
            <a:solidFill>
              <a:srgbClr val="D2D2C8"/>
            </a:solidFill>
          </a:ln>
          <a:effectLst/>
        </p:spPr>
      </p:cxnSp>
      <p:sp>
        <p:nvSpPr>
          <p:cNvPr id="7" name="需求卡-基本需求"/>
          <p:cNvSpPr/>
          <p:nvPr/>
        </p:nvSpPr>
        <p:spPr>
          <a:xfrm>
            <a:off x="705600" y="2052327"/>
            <a:ext cx="4376727" cy="6483490"/>
          </a:xfrm>
          <a:prstGeom prst="roundRect">
            <a:avLst>
              <a:gd name="adj" fmla="val 1694"/>
            </a:avLst>
          </a:prstGeom>
          <a:solidFill>
            <a:srgbClr val="FCFBF7"/>
          </a:solidFill>
          <a:ln w="8901">
            <a:solidFill>
              <a:srgbClr val="B9B9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5600" y="2052327"/>
            <a:ext cx="4376727" cy="578618"/>
          </a:xfrm>
          <a:prstGeom prst="roundRect">
            <a:avLst>
              <a:gd name="adj" fmla="val 12820"/>
            </a:avLst>
          </a:prstGeom>
          <a:solidFill>
            <a:srgbClr val="AE56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5600" y="2349054"/>
            <a:ext cx="4376727" cy="281890"/>
          </a:xfrm>
          <a:prstGeom prst="rect">
            <a:avLst/>
          </a:prstGeom>
          <a:solidFill>
            <a:srgbClr val="AE56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3636" y="2107221"/>
            <a:ext cx="842112" cy="31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8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基本需求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127" y="2181774"/>
            <a:ext cx="499625" cy="1902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88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Must-be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981" y="2171018"/>
            <a:ext cx="341236" cy="192872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450" y="2167309"/>
            <a:ext cx="206299" cy="2114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7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9160" y="2176952"/>
            <a:ext cx="245823" cy="197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17" b="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  <a:cs typeface="Microsoft YaHei"/>
              </a:rPr>
              <a:t>4项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636" y="2401723"/>
            <a:ext cx="2256610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  <a:cs typeface="Microsoft YaHei"/>
              </a:rPr>
              <a:t>不满足即引发不满，满足亦不显著提升满意度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127" y="2794145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EEDCD6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2327" y="2863134"/>
            <a:ext cx="1209312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清晰的路权划分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33381" y="2912836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AE564A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2327" y="3506290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20" name="Rounded Rectangle 19"/>
          <p:cNvSpPr/>
          <p:nvPr/>
        </p:nvSpPr>
        <p:spPr>
          <a:xfrm>
            <a:off x="1462996" y="3402436"/>
            <a:ext cx="1386458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49454" y="3402436"/>
            <a:ext cx="498501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849454" y="3350509"/>
            <a:ext cx="0" cy="215127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1028624" y="3366087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2138" y="3366087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0.32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9127" y="3892036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EEDCD6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2327" y="3961025"/>
            <a:ext cx="1209312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交叉口冲突标注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33381" y="4010727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AE564A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2327" y="4604181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29" name="Rounded Rectangle 28"/>
          <p:cNvSpPr/>
          <p:nvPr/>
        </p:nvSpPr>
        <p:spPr>
          <a:xfrm>
            <a:off x="1525309" y="4500327"/>
            <a:ext cx="1324145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49454" y="4500327"/>
            <a:ext cx="436189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849454" y="4448400"/>
            <a:ext cx="0" cy="215127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1090937" y="4463978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9825" y="4463978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0.28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9127" y="4989927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EEDCD6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327" y="5058916"/>
            <a:ext cx="1209312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夜间可见性保障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33381" y="5108618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AE564A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02327" y="5702072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38" name="Rounded Rectangle 37"/>
          <p:cNvSpPr/>
          <p:nvPr/>
        </p:nvSpPr>
        <p:spPr>
          <a:xfrm>
            <a:off x="1572043" y="5598218"/>
            <a:ext cx="1277410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49454" y="5598218"/>
            <a:ext cx="545236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849454" y="5546290"/>
            <a:ext cx="0" cy="215128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1137672" y="5561869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−0.82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68872" y="5561869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0.35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9127" y="6087818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EEDCD6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2327" y="6156807"/>
            <a:ext cx="887956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标识适配性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33381" y="6206509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AE564A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02327" y="6799963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47" name="Rounded Rectangle 46"/>
          <p:cNvSpPr/>
          <p:nvPr/>
        </p:nvSpPr>
        <p:spPr>
          <a:xfrm>
            <a:off x="1603200" y="6696109"/>
            <a:ext cx="1246254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49454" y="6696109"/>
            <a:ext cx="482923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849454" y="6644181"/>
            <a:ext cx="0" cy="215128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1168828" y="6659760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−0.80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06560" y="6659760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0.31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9127" y="7185709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F4F3ED">
              <a:alpha val="75000"/>
            </a:srgbClr>
          </a:solidFill>
          <a:ln w="8160">
            <a:solidFill>
              <a:srgbClr val="D2D2C8"/>
            </a:solidFill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——  该类需求共 4 项  ——</a:t>
            </a:r>
          </a:p>
          <a:p>
            <a:pPr algn="ctr">
              <a:lnSpc>
                <a:spcPct val="128000"/>
              </a:lnSpc>
            </a:pPr>
            <a:r>
              <a:rPr sz="759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基本需求为其余两类需求的实现前提，</a:t>
            </a:r>
          </a:p>
          <a:p>
            <a:pPr algn="ctr">
              <a:lnSpc>
                <a:spcPct val="128000"/>
              </a:lnSpc>
            </a:pPr>
            <a:r>
              <a:rPr sz="759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须在系统首轮部署中全部落地。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4339" y="8316610"/>
            <a:ext cx="859247" cy="1902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8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实施顺序：先行</a:t>
            </a:r>
          </a:p>
        </p:txBody>
      </p:sp>
      <p:sp>
        <p:nvSpPr>
          <p:cNvPr id="54" name="需求卡-期望需求"/>
          <p:cNvSpPr/>
          <p:nvPr/>
        </p:nvSpPr>
        <p:spPr>
          <a:xfrm>
            <a:off x="5319709" y="2052327"/>
            <a:ext cx="4376727" cy="6483490"/>
          </a:xfrm>
          <a:prstGeom prst="roundRect">
            <a:avLst>
              <a:gd name="adj" fmla="val 1694"/>
            </a:avLst>
          </a:prstGeom>
          <a:solidFill>
            <a:srgbClr val="FCFBF7"/>
          </a:solidFill>
          <a:ln w="8901">
            <a:solidFill>
              <a:srgbClr val="B9B9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319709" y="2052327"/>
            <a:ext cx="4376727" cy="578618"/>
          </a:xfrm>
          <a:prstGeom prst="roundRect">
            <a:avLst>
              <a:gd name="adj" fmla="val 12820"/>
            </a:avLst>
          </a:prstGeom>
          <a:solidFill>
            <a:srgbClr val="7A8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19709" y="2349054"/>
            <a:ext cx="4376727" cy="281890"/>
          </a:xfrm>
          <a:prstGeom prst="rect">
            <a:avLst/>
          </a:prstGeom>
          <a:solidFill>
            <a:srgbClr val="7A8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97745" y="2107221"/>
            <a:ext cx="842112" cy="31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8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期望需求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9236" y="2181774"/>
            <a:ext cx="1001955" cy="1902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88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One-dimensional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21090" y="2171018"/>
            <a:ext cx="341236" cy="192872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88559" y="2167309"/>
            <a:ext cx="206299" cy="2114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7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3269" y="2176952"/>
            <a:ext cx="245823" cy="197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17" b="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  <a:cs typeface="Microsoft YaHei"/>
              </a:rPr>
              <a:t>5项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97745" y="2401723"/>
            <a:ext cx="1487048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  <a:cs typeface="Microsoft YaHei"/>
              </a:rPr>
              <a:t>满足度与满意度近似线性相关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53236" y="2794145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D8DFC8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16436" y="2863134"/>
            <a:ext cx="727278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盲区提示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47490" y="2912836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616436" y="3506290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67" name="Rounded Rectangle 66"/>
          <p:cNvSpPr/>
          <p:nvPr/>
        </p:nvSpPr>
        <p:spPr>
          <a:xfrm>
            <a:off x="6404247" y="3402436"/>
            <a:ext cx="1059316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463563" y="3402436"/>
            <a:ext cx="1183941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7463563" y="3350509"/>
            <a:ext cx="0" cy="215127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5969875" y="3366087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−0.68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21687" y="3366087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0.76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53236" y="3892036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D8DFC8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16436" y="3961025"/>
            <a:ext cx="727278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速度警示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47490" y="4010727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616436" y="4604181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76" name="Rounded Rectangle 75"/>
          <p:cNvSpPr/>
          <p:nvPr/>
        </p:nvSpPr>
        <p:spPr>
          <a:xfrm>
            <a:off x="6357512" y="4500327"/>
            <a:ext cx="1106050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463563" y="4500327"/>
            <a:ext cx="1277410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7463563" y="4448400"/>
            <a:ext cx="0" cy="215127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5923141" y="4463978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−0.71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15156" y="4463978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0.82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53236" y="4989927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D8DFC8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16436" y="5058916"/>
            <a:ext cx="1048634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推荐速度提示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147490" y="5108618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616436" y="5702072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85" name="Rounded Rectangle 84"/>
          <p:cNvSpPr/>
          <p:nvPr/>
        </p:nvSpPr>
        <p:spPr>
          <a:xfrm>
            <a:off x="6450981" y="5598218"/>
            <a:ext cx="1012581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463563" y="5598218"/>
            <a:ext cx="1215098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7463563" y="5546290"/>
            <a:ext cx="0" cy="215128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88" name="TextBox 87"/>
          <p:cNvSpPr txBox="1"/>
          <p:nvPr/>
        </p:nvSpPr>
        <p:spPr>
          <a:xfrm>
            <a:off x="6016610" y="5561869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−0.65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52843" y="5561869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0.78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453236" y="6087818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D8DFC8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16436" y="6156807"/>
            <a:ext cx="1048634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安全路径指引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147490" y="6206509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616436" y="6799963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94" name="Rounded Rectangle 93"/>
          <p:cNvSpPr/>
          <p:nvPr/>
        </p:nvSpPr>
        <p:spPr>
          <a:xfrm>
            <a:off x="6326356" y="6696109"/>
            <a:ext cx="1137207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463563" y="6696109"/>
            <a:ext cx="1324145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7463563" y="6644181"/>
            <a:ext cx="0" cy="215128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97" name="TextBox 96"/>
          <p:cNvSpPr txBox="1"/>
          <p:nvPr/>
        </p:nvSpPr>
        <p:spPr>
          <a:xfrm>
            <a:off x="5891984" y="6659760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−0.73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61890" y="6659760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0.85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453236" y="7185709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D8DFC8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616436" y="7254698"/>
            <a:ext cx="1048634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分层信息呈现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47490" y="7304400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7A8E63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5616436" y="7897854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103" name="Rounded Rectangle 102"/>
          <p:cNvSpPr/>
          <p:nvPr/>
        </p:nvSpPr>
        <p:spPr>
          <a:xfrm>
            <a:off x="6497716" y="7794000"/>
            <a:ext cx="965847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463563" y="7794000"/>
            <a:ext cx="1168363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7463563" y="7742072"/>
            <a:ext cx="0" cy="215128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106" name="TextBox 105"/>
          <p:cNvSpPr txBox="1"/>
          <p:nvPr/>
        </p:nvSpPr>
        <p:spPr>
          <a:xfrm>
            <a:off x="6063344" y="7757650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−0.62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06109" y="7757650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78448" y="8316610"/>
            <a:ext cx="859247" cy="1902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8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实施顺序：次之</a:t>
            </a:r>
          </a:p>
        </p:txBody>
      </p:sp>
      <p:sp>
        <p:nvSpPr>
          <p:cNvPr id="109" name="需求卡-兴奋需求"/>
          <p:cNvSpPr/>
          <p:nvPr/>
        </p:nvSpPr>
        <p:spPr>
          <a:xfrm>
            <a:off x="9933818" y="2052327"/>
            <a:ext cx="4376727" cy="6483490"/>
          </a:xfrm>
          <a:prstGeom prst="roundRect">
            <a:avLst>
              <a:gd name="adj" fmla="val 1694"/>
            </a:avLst>
          </a:prstGeom>
          <a:solidFill>
            <a:srgbClr val="FCFBF7"/>
          </a:solidFill>
          <a:ln w="8901">
            <a:solidFill>
              <a:srgbClr val="B9B9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9933818" y="2052327"/>
            <a:ext cx="4376727" cy="578618"/>
          </a:xfrm>
          <a:prstGeom prst="roundRect">
            <a:avLst>
              <a:gd name="adj" fmla="val 12820"/>
            </a:avLst>
          </a:prstGeom>
          <a:solidFill>
            <a:srgbClr val="A6B2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933818" y="2349054"/>
            <a:ext cx="4376727" cy="281890"/>
          </a:xfrm>
          <a:prstGeom prst="rect">
            <a:avLst/>
          </a:prstGeom>
          <a:solidFill>
            <a:srgbClr val="A6B2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111854" y="2107221"/>
            <a:ext cx="842112" cy="31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8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兴奋需求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3345" y="2181774"/>
            <a:ext cx="687999" cy="1902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88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Attractive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435200" y="2171018"/>
            <a:ext cx="341236" cy="192872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3502668" y="2167309"/>
            <a:ext cx="206299" cy="2114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7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757379" y="2176952"/>
            <a:ext cx="245823" cy="197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17" b="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  <a:cs typeface="Microsoft YaHei"/>
              </a:rPr>
              <a:t>5项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111854" y="2401723"/>
            <a:ext cx="2146673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  <a:cs typeface="Microsoft YaHei"/>
              </a:rPr>
              <a:t>不满足不引发不满，满足则显著提升满意度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067345" y="2794145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DFE5E8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230545" y="2863134"/>
            <a:ext cx="1048634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动态流量显示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3761600" y="2912836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A6B2B9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0230545" y="3506290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122" name="Rounded Rectangle 121"/>
          <p:cNvSpPr/>
          <p:nvPr/>
        </p:nvSpPr>
        <p:spPr>
          <a:xfrm>
            <a:off x="11844000" y="3402436"/>
            <a:ext cx="233672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2077672" y="3402436"/>
            <a:ext cx="1152785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12077672" y="3350509"/>
            <a:ext cx="0" cy="215127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125" name="TextBox 124"/>
          <p:cNvSpPr txBox="1"/>
          <p:nvPr/>
        </p:nvSpPr>
        <p:spPr>
          <a:xfrm>
            <a:off x="11409628" y="3366087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−0.15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304640" y="3366087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0.74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067345" y="3892036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DFE5E8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230545" y="3961025"/>
            <a:ext cx="1209312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社会规范可视化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3761600" y="4010727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A6B2B9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0230545" y="4604181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131" name="Rounded Rectangle 130"/>
          <p:cNvSpPr/>
          <p:nvPr/>
        </p:nvSpPr>
        <p:spPr>
          <a:xfrm>
            <a:off x="11890734" y="4500327"/>
            <a:ext cx="186938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12077672" y="4500327"/>
            <a:ext cx="1059316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12077672" y="4448400"/>
            <a:ext cx="0" cy="215127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134" name="TextBox 133"/>
          <p:cNvSpPr txBox="1"/>
          <p:nvPr/>
        </p:nvSpPr>
        <p:spPr>
          <a:xfrm>
            <a:off x="11456362" y="4463978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211170" y="4463978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0.68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067345" y="4989927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DFE5E8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230545" y="5058916"/>
            <a:ext cx="1048634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听觉辅助提示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3761600" y="5108618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A6B2B9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10230545" y="5702072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140" name="Rounded Rectangle 139"/>
          <p:cNvSpPr/>
          <p:nvPr/>
        </p:nvSpPr>
        <p:spPr>
          <a:xfrm>
            <a:off x="11797265" y="5598218"/>
            <a:ext cx="280407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12077672" y="5598218"/>
            <a:ext cx="965847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12077672" y="5546290"/>
            <a:ext cx="0" cy="215128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143" name="TextBox 142"/>
          <p:cNvSpPr txBox="1"/>
          <p:nvPr/>
        </p:nvSpPr>
        <p:spPr>
          <a:xfrm>
            <a:off x="11362893" y="5561869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−0.18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3117701" y="5561869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0.62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0067345" y="6087818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DFE5E8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230545" y="6156807"/>
            <a:ext cx="1209312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情感化设计元素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3761600" y="6206509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A6B2B9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10230545" y="6799963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149" name="Rounded Rectangle 148"/>
          <p:cNvSpPr/>
          <p:nvPr/>
        </p:nvSpPr>
        <p:spPr>
          <a:xfrm>
            <a:off x="11859578" y="6696109"/>
            <a:ext cx="218094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12077672" y="6696109"/>
            <a:ext cx="1012581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1" name="Connector 150"/>
          <p:cNvCxnSpPr/>
          <p:nvPr/>
        </p:nvCxnSpPr>
        <p:spPr>
          <a:xfrm>
            <a:off x="12077672" y="6644181"/>
            <a:ext cx="0" cy="215128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11425206" y="6659760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−0.14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164436" y="6659760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0.65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067345" y="7185709"/>
            <a:ext cx="4109672" cy="949527"/>
          </a:xfrm>
          <a:prstGeom prst="roundRect">
            <a:avLst>
              <a:gd name="adj" fmla="val 6250"/>
            </a:avLst>
          </a:prstGeom>
          <a:solidFill>
            <a:srgbClr val="DFE5E8">
              <a:alpha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230545" y="7254698"/>
            <a:ext cx="1048634" cy="267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09" b="1">
                <a:solidFill>
                  <a:srgbClr val="31332C"/>
                </a:solidFill>
                <a:latin typeface="Microsoft YaHei"/>
                <a:ea typeface="Microsoft YaHei"/>
                <a:cs typeface="Microsoft YaHei"/>
              </a:rPr>
              <a:t>景观融合设计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3761600" y="7304400"/>
            <a:ext cx="267054" cy="163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128000"/>
              </a:lnSpc>
            </a:pPr>
            <a:r>
              <a:rPr sz="759" b="1">
                <a:solidFill>
                  <a:srgbClr val="A6B2B9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10230545" y="7897854"/>
            <a:ext cx="3783273" cy="0"/>
          </a:xfrm>
          <a:prstGeom prst="line">
            <a:avLst/>
          </a:prstGeom>
          <a:ln w="7418">
            <a:solidFill>
              <a:srgbClr val="D2D2C8"/>
            </a:solidFill>
          </a:ln>
          <a:effectLst/>
        </p:spPr>
      </p:cxnSp>
      <p:sp>
        <p:nvSpPr>
          <p:cNvPr id="158" name="Rounded Rectangle 157"/>
          <p:cNvSpPr/>
          <p:nvPr/>
        </p:nvSpPr>
        <p:spPr>
          <a:xfrm>
            <a:off x="11906312" y="7794000"/>
            <a:ext cx="171360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2077672" y="7794000"/>
            <a:ext cx="950269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>
            <a:off x="12077672" y="7742072"/>
            <a:ext cx="0" cy="215128"/>
          </a:xfrm>
          <a:prstGeom prst="line">
            <a:avLst/>
          </a:prstGeom>
          <a:ln w="10385">
            <a:solidFill>
              <a:srgbClr val="8A8D80"/>
            </a:solidFill>
          </a:ln>
          <a:effectLst/>
        </p:spPr>
      </p:cxnSp>
      <p:sp>
        <p:nvSpPr>
          <p:cNvPr id="161" name="TextBox 160"/>
          <p:cNvSpPr txBox="1"/>
          <p:nvPr/>
        </p:nvSpPr>
        <p:spPr>
          <a:xfrm>
            <a:off x="11471941" y="7757650"/>
            <a:ext cx="360189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59" b="1">
                <a:solidFill>
                  <a:srgbClr val="8E4238"/>
                </a:solidFill>
                <a:latin typeface="Microsoft YaHei"/>
                <a:ea typeface="Microsoft YaHei"/>
                <a:cs typeface="Microsoft YaHei"/>
              </a:rPr>
              <a:t>−0.11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3102123" y="7757650"/>
            <a:ext cx="299724" cy="18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59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0.61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692557" y="8316610"/>
            <a:ext cx="859247" cy="1902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8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实施顺序：增值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705600" y="8832545"/>
            <a:ext cx="13708800" cy="712145"/>
          </a:xfrm>
          <a:prstGeom prst="roundRect">
            <a:avLst>
              <a:gd name="adj" fmla="val 10416"/>
            </a:avLst>
          </a:prstGeom>
          <a:solidFill>
            <a:srgbClr val="E8EB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13309" y="8930465"/>
            <a:ext cx="612445" cy="2255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34" b="1">
                <a:solidFill>
                  <a:srgbClr val="465736"/>
                </a:solidFill>
                <a:latin typeface="Microsoft YaHei"/>
                <a:ea typeface="Microsoft YaHei"/>
                <a:cs typeface="Microsoft YaHei"/>
              </a:rPr>
              <a:t>读图说明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788654" y="8966072"/>
            <a:ext cx="222545" cy="111272"/>
          </a:xfrm>
          <a:prstGeom prst="roundRect">
            <a:avLst>
              <a:gd name="adj" fmla="val 20000"/>
            </a:avLst>
          </a:prstGeom>
          <a:solidFill>
            <a:srgbClr val="AE564A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070545" y="8939738"/>
            <a:ext cx="3251021" cy="1902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88" b="0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不满意度系数 = −（基本+期望）/（兴奋+期望+基本+无差异）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393890" y="8966072"/>
            <a:ext cx="222545" cy="111272"/>
          </a:xfrm>
          <a:prstGeom prst="roundRect">
            <a:avLst>
              <a:gd name="adj" fmla="val 20000"/>
            </a:avLst>
          </a:prstGeom>
          <a:solidFill>
            <a:srgbClr val="97A97F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675781" y="8939738"/>
            <a:ext cx="3770476" cy="1902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88" b="0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满意度系数 = （兴奋+期望）/（兴奋+期望+基本+无差异）（见表34注）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13309" y="9191956"/>
            <a:ext cx="8748106" cy="1902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88" b="0">
                <a:solidFill>
                  <a:srgbClr val="5A5D52"/>
                </a:solidFill>
                <a:latin typeface="Microsoft YaHei"/>
                <a:ea typeface="Microsoft YaHei"/>
                <a:cs typeface="Microsoft YaHei"/>
              </a:rPr>
              <a:t>需求间存在层级依赖：盲区提示与安全路径指引须以清晰的路权划分为前提，社会规范可视化与情感化设计亦以基本需求的满足为条件，故实施遵循“先基础后提升”的顺序。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631418" y="9604036"/>
            <a:ext cx="13857163" cy="0"/>
          </a:xfrm>
          <a:prstGeom prst="line">
            <a:avLst/>
          </a:prstGeom>
          <a:ln w="9643">
            <a:solidFill>
              <a:srgbClr val="D2D2C8"/>
            </a:solidFill>
          </a:ln>
          <a:effectLst/>
        </p:spPr>
      </p:cxnSp>
      <p:sp>
        <p:nvSpPr>
          <p:cNvPr id="172" name="TextBox 171"/>
          <p:cNvSpPr txBox="1"/>
          <p:nvPr/>
        </p:nvSpPr>
        <p:spPr>
          <a:xfrm>
            <a:off x="631418" y="9661527"/>
            <a:ext cx="2027110" cy="1761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73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图8  高校共享道路安全引导系统需求清单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1652796" y="9661527"/>
            <a:ext cx="2835785" cy="1761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730" b="0">
                <a:solidFill>
                  <a:srgbClr val="8A8D80"/>
                </a:solidFill>
                <a:latin typeface="Microsoft YaHei"/>
                <a:ea typeface="Microsoft YaHei"/>
                <a:cs typeface="Microsoft YaHei"/>
              </a:rPr>
              <a:t>需求项与系数取自表34《基于KANO模型的需求分类统计表》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