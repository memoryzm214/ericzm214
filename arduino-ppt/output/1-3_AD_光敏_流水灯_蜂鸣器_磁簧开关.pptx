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3a60dfff-de07-cc36-80f6-e9764de07a85}">
          <p14:sldIdLst>
            <p14:sldId id="257"/>
            <p14:sldId id="258"/>
          </p14:sldIdLst>
        </p14:section>
        <p14:section name="实验一　AD 模数转换" id="{9e98c95d-ca89-f074-42b0-670b65c6ae4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实验二　光敏电阻" id="{8b0b1aff-cce6-695f-aec2-93d1af11b33e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实验三　LED 流水灯" id="{5a2bd247-0b5a-bedc-1bef-c5c1b94f248e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实验四　蜂鸣器" id="{d49b7703-bbd2-47a8-6cef-7bc53951641a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实验五　小磁簧开关" id="{e394f4eb-745a-f925-e70d-1400d53a74c9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小结" id="{9203bfe1-d939-6d47-0c52-040ad1a3a615}">
          <p14:sldIdLst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这节课是 1-3，一共五个实验，按指南顺序来：先用电位器和光敏电阻做“模拟输入”，再用 LED 流水灯和蜂鸣器做“声光输出”，最后用小磁簧开关把“感知”和“输出”连起来。开场可以问学生：路灯怎么知道天黑了该亮？红绿灯、电梯提示音又是怎么被控制的？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先给学生一张地图：这节课按指南顺序做五个实验。左边三块是信号的方向：实验一、二把旋钮和光线的变化“读进来”（模拟输入）；实验三、四用 HIGH / LOW 把灯光和声音“送出去”（数字输出）；实验五读磁簧开关的 0 / 1，再控制灯和蜂鸣器，把前面学的连起来。右边的标签是每个实验要学的新语法，下课前回来对照一遍。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用电灯开关和调光旋钮做对比：开关只有两档，旋钮可以停在任何位置。ADC 就像给连续的电压配一把尺子，UNO 的尺子有 1024 格，所以读数是 0～1023。右图为了看清只画了 8 级，提醒学生实际台阶细得多。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实验一分四步：先理解电位器和换算公式，再接线、读代码、看串口结果。提醒学生准备好 10k 电位器、LED 和 220Ω 电阻，先不要急着接线。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原指南的介绍比较拗口，这里只抓三点：模拟量要先由传感器变成电压；A/D 是模拟变数字，D/A 正好相反；UNO 的 A/D 是 10 位，所以有 1024 级。A0～A5 也能当数字口用（编号 14～19），以后数字引脚不够时可以借用。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对照清单把元件逐一拿出来，特别认一下电位器的三个脚。LED 在这个实验里不是主角，它像一个“心跳灯”，告诉我们程序正在运行。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可以在黑板上画一条电阻：两头接 5V 和地，中间的滑片在上面滑动。滑片越靠近 5V，中间脚电压越高。讲右图前先让学生猜：旋钮转到正中间，读数大约是多少？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公式看着复杂，其实就是“读数占满格的几分之几，再乘 5V”。用串口截图里的 399 现场算一遍：399 ÷ 1023 × 5 ≈ 1.95，和截图完全对上。下面四步就是程序的骨架，后面看代码时会一一对应。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先断电再接线。红线 5V、黑线 GND、黄线 A0 是电位器的三根线；蓝线从 13 号脚到 LED，LED 另一脚经 220Ω 电阻回到 GND。提醒学生 LED 长脚是正极，接反了不会亮。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analogRead 就像量尺：只能用在 A0～A5，返回 0～1023 的整数。重点讲整数除法的坑：两个整数相除只保留整数部分，399 / 1023 等于 0，哪怕结果再存进 float 也晚了。加上 (float) 先把读数变成小数，除出来才是 0.39；程序里写的 ( ( float )value )/1023 是同一个意思。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串口监视器就是 Arduino 和电脑“聊天”的窗口，记得波特率选 9600。print 和 println 的区别只在于说完换不换行；\n 是藏在文字里的换行符。对照右边：第 17、18 行拼成第一行，第 19 行开头的 \n 把这一行结束，再打出 voltage = 并换行，第 20 行打出电压。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12 行都是准备工作：起名字、准备盒子、设置引脚和串口。注释里写 115200，但代码是 9600，以代码为准；串口监视器右下角也要选 9600，否则会看到乱码。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一轮做这几件事：亮灯、读数、换算、打印、灭灯、等待。第 15、16 行就是上一页的换算公式。原指南第 3 页把最后的大括号印到了 delay(1000) 前面，照抄会编译报错，这里已经改正——遇到报错先数一数括号是否成对。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上传后打开串口监视器，波特率选 9600。让学生慢慢转旋钮，观察读数从 0 变到 1023、电压从 0 变到 5V。不动旋钮时 398、399 来回跳是正常的测量误差。这种“读模拟值再换算”的方法，以后读大多数传感器都会用到。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每组挑一两个改动做，改完上传再看效果。第 4 题答案：3.3 ÷ 5 × 1023 ≈ 675，旋到头读数约 675。也可以鼓励学生自己发明改法，比如读数大于 512 时才点亮 LED。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实验二把电位器换成光敏电阻：原来是手转旋钮，现在是光线来“转旋钮”。同时多了一个输出——用读数控制 RGB 模块红灯的亮度。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光敏电阻的核心一句话：光越强，电阻越小。亮电阻不到 1kΩ、暗电阻约 1.5MΩ，相差上千倍，所以非常灵敏。可以让学生想想生活中的光控路灯、小夜灯是怎么“知道”天黑的。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强调这是一条因果链：光线 → 电阻 → 电压 → 读数 → 亮度。第 3 步是关键：模块里光敏电阻和一个固定电阻串联分压，和实验一的电位器是同一个道理。注意清单写的是 LED 模块，接线图实际用的是 RGB LED 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光敏模块三根线：S 接 A0、G 接 GND、V 接 5V；RGB 模块只接 R 和 GND 两根。提醒学生 R 接的是 11 号——板上 11 旁边有 ~ 号，表示它能输出 PWM，下一页就讲。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数字引脚本身只能输出 0V 或 5V，PWM 用“快速开关”模拟出中间的亮度。用右边的波形说明：开着的时间占 25%，灯看起来就大约是 25% 的亮度。只有带 ~ 的引脚能用 analogWrite，UNO 上是 3、5、6、9、10、11；11 号脚每秒开关约 490 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先说明来源：原指南这一节的程序是空白的，这里用同套件教程第 2.20 讲的程序，接线完全一致。前 10 行和实验一几乎一样，可以让学生自己找不同：LED 换到了 11 号脚。注意 voltage 这里存的是 0～1 的比例，并不是电压。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 行和实验一相同，先求出 0～1 的比例；第 15 行乘 256 再用 (int) 去掉小数，得到亮度值。第 16、17 行一边打印、一边输出到红灯。第 15 行藏着一个越界的小坑，留到后面专门讲。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打开串口监视器（9600），按表格顺序做三次：正常光线、用手盖住、用手机手电筒照，每次把串口数值和红灯亮度填进表里。数值是变大还是变小取决于模块内部电路，原指南没有写，让学生自己测出来、再和同桌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(int) 是直接截断，不是四舍五入。表格前三行都正常，只有读数正好 1023 时算出 256，超出 analogWrite 的范围，灯会突然几乎熄灭，而不是最亮。修复方法：用 map(value, 0, 1023, 0, 255)，或者把 256 改成 255。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前两个实验是把外界的变化“读进来”，从实验三开始反过来，用 digitalWrite() 把 HIGH / LOW “送出去”。实验三分四步：先认识 LED 和限流电阻，再看原理图和接线，然后学新语法、逐行读代码，最后看效果。提醒学生准备 8 个 LED 和 8 个 1kΩ 电阻，先不要急着插线。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拿一颗 LED 让学生看两条腿：长的是正极，短的是负极。“单向导通”可以类比地铁的单向闸机：只能从一边进。原指南这里把两种颜色的材料印成了同一个名字（印刷错误），讲课时只讲结论：材料不同，颜色就不同。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公式不用死记，记住“电源电压减去 LED 吃掉的电压，剩下的由电阻承担”。现场算一遍：(5−2)÷0.015≈200Ω，取常见规格 220Ω。本套件用的是 1kΩ，电流只有约 3mA，灯稍暗但完全够看，接错也不容易烧。顺便提醒：LED 反向最多只能承受约 5V，不要反接到更高的电压上。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对照清单把元件拿出来：8 个 LED、8 个 1kΩ 电阻。可以问学生：为什么从 D2 开始而不是 D0？因为 D0、D1 是 Arduino 和电脑通信的串口，接了别的东西可能导致上传程序失败。右下的小图先让学生想象一下“流水”的样子。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这一页是整个实验的关键。很多同学以为 HIGH 才是亮，这里正好相反：LED 正极已经接在 5V 上，引脚拉到 LOW（0V）时两端有电压差，电流从 5V 经 LED、电阻流进引脚，灯就亮；引脚输出 HIGH 时两端都是 5V，没有电流，灯就灭。用“水往低处流”来类比。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先断电再接线。8 个 LED 方向要一致：长脚全部朝 5V 电源轨。每个短脚串一个电阻再接到数字口，电源轨用一根红线接到 UNO 的 5V。接完数一数：8 根信号线、1 根电源线。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右边是“慢动作回放”：每一行是 0.1 秒后的样子。上半部分是单灯跑：每次只有一盏亮；下半部分是逐个点亮：亮了就不关。原指南文字里写的是 500ms、从 D9 开始，但程序里 flash_speed = 100、数组从 2 号脚开始，讲的时候以程序为准。可以提问：间隔改成 1 毫秒会怎样？（太快了，眼睛看着像全都亮着）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数组就像学校的一排储物柜：柜子统一叫 led_array，每个柜子有编号，里面放着一个引脚号。最容易错的是编号从 0 开始，8 个柜子的编号是 0～7，没有 led_array[8]。for 循环像操场跑圈：起点、什么时候停、每圈之后做什么，三件事写在一对括号里，用分号隔开。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函数就是菜谱：定义的时候写清楚步骤，调用的时候只要喊菜名。void 在英语里是“空”，表示做完不交回任何结果；括号里的 void 表示不需要额外材料。setup() 和 loop() 其实也是函数，只不过是 Arduino 规定好名字、自动调用的。让学生体会：loop() 里三行就读懂了整个流水灯的流程。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行一次装下 8 个引脚号，后面就能用 led_array[i] 按编号取。第 10～12 行是流水灯的核心：拉低让这盏亮，等 0.1 秒，再拉高让它灭，然后 for 循环换到下一盏。再强调一次：这里 LOW 才是亮。第 4 行注释里的 form 是 from 的笔误，不影响程序。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让学生先找不同：两个函数只有高亮的那一行不一样。和上一页的 led_flash() 比，led_turn_on() 少了“拉高熄灭”这一步，所以灯亮了就不再灭，越来越多。led_turn_off() 反过来，一盏一盏关掉。每个函数都要 8 × 0.1 = 0.8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setup() 像上课前摆好桌椅，只做一次：把 8 个引脚设成输出，并先输出 HIGH 让灯全灭。Serial.begin(115200) 打开了串口，loop() 每轮会发一句 start flash led !，要看的话串口监视器选 115200。loop() 里三行函数调用就是整个流水灯的流程，读起来像说话——这就是自定义函数的好处。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先别揭晓答案，让学生根据代码推一推：第一轮结束时灯是什么状态？（全亮）第二轮 led_flash() 把每盏灯“拉低再拉高”，原本亮着的灯就被逐个关掉了，看起来不再是单灯跑。led_turn_off() 执行时灯已经全灭，所以只是停顿 0.8 秒。把 loop() 的顺序换一下，每轮就都能看到单灯跑了。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原指南的结果照片里用了黄、红两种颜色的 LED，效果更好看。原指南最后半开玩笑地建议“做一个心形流水灯”，可以作为课后小挑战：同样的 8 个引脚，换一种摆法就是新作品——这正是工业设计同学的强项。右边三个小改动建议当堂试，每次只改一处。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实验四换成“声音”。先认清两种蜂鸣器的区别，接线只有三根线，两种蜂鸣器接法一样。重点是理解：声音就是很快的开关，开关越快音调越高。教室里同时响会很吵，可以让各组轮流测试。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有源”“无源”最容易被误解成有没有电源，其实指的是有没有内部振荡器。有源蜂鸣器像带节拍器的音乐盒，一通电就按固定音调响；无源蜂鸣器像一面鼓，要有人按节奏敲它才响，敲得快慢不同，音调就不同。两种模块都有三根针：信号、电源、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只有三根线：红线 5V 接 V，黑线 GND 接 G，黄线 9 号脚接 S。原指南表格里写的 VCC 就是 UNO 上的 5V。无源模块上印的是 VCC、I/O、GND，对应关系一样。对照下面的组件清单检查一遍再通电。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这段程序和最早的 Blink 闪灯几乎一模一样，只是把灯换成了蜂鸣器。有源蜂鸣器里有振荡器，所以给 HIGH 就能响。第 1 行用变量 buzzer 代替数字 9，以后换引脚只改这一处。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上传后能听到“滴——滴——”，每声 1 秒。照片里模块上的红灯是电源指示灯。让学生思考：既然音调固定，有源蜂鸣器适合做什么？（报警、提示音、倒计时）想要旋律，就得用无源蜂鸣器。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无源蜂鸣器里有一片薄膜，每给一次高电平就被吸一下，变低又弹回，一开一关就振动一次，每秒振动的次数就是频率。可以联系初中物理拨钢尺的实验：钢尺振得越快，音调越高。左图按真实比例画：同样 8 毫秒，上面只开关 2 次，下面开关 8 次。频率 = 1000 ÷ 周期（毫秒），用这个式子就能算出程序注释里的 250 Hz 和 1 kHz。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和有源蜂鸣器不同，这里要自己用 for 循环快速开关。每一圈“开一下、关一下”就是一个周期，800 圈就是 800 个周期，次数决定响多久。注释写的是 1k HZ，想法是对的：0.5 + 0.5 = 1 毫秒一个周期。但 delay(0.5) 有个坑，下下页专门讲。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frequence_2() 和 frequence_1() 结构完全一样，只是每次等 2 毫秒，所以周期 4 毫秒、频率 250 Hz，800 个周期大约 3.2 秒。loop() 先放高音、停 1 秒，再放低音、停 1 秒，周而复始。可以让学生算算：一轮大约多长时间？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这是原指南程序里的一个真实 bug，正好用来讲“单位”。delay() 的参数是整数毫秒，写 0.5 会被截成 0，所以 frequence_1() 的 800 次开关一眨眼就做完了，频率远远超过 1 kHz，人耳基本听不到。改成 delayMicroseconds(500)，每次等 500 微秒，也就是 0.5 毫秒，才能得到真正的 1 kHz。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原指南的照片里用的是一只单独的无源蜂鸣器，直接插在面包板上，再用跳线连到 UNO。原指南说能听到两种频率；实际上要把 delay(0.5) 改成 delayMicroseconds(500)，1 kHz 那一段才明显。可以让学生对比改之前和改之后，用耳朵验证上一页的结论。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四个小任务由易到难，建议每组至少完成前两个。第 3 个把流水灯和蜂鸣器结合起来：流水灯已经占用了 D2～D9，蜂鸣器必须换一个引脚，这时就体会到用变量 buzzer 的好处。第 4 个是以后会用到的 tone() 函数，它在后台帮我们生成方波，不用自己写循环。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实验五是本节最后一个实验，把前面的“读进来”和“送出去”连在一起：磁簧开关是输入，LED 和蜂鸣器是输出。开场可以拿出一块磁铁和模块现场演示——磁铁一靠近，灯亮、蜂鸣器响，然后问学生：它是怎么“知道”磁铁来了的？带着这个问题往下学。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模块传下去，让学生看清玻璃管里的两片簧片。重点讲“常开”：平时断开，磁铁靠近才接通。原指南提到的惰性气体和铑、钌镀层属于小知识，知道它们让开关更耐用就够了。提醒：玻璃管很脆，不要用力掰它的引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从左到右的顺序讲三个状态，可以配合手势：两根手指分开、靠拢、再分开。强调簧片能吸合，是因为它被磁铁磁化了；能弹开，是因为它本身有弹性。最后联系生活：门窗报警、笔记本合盖、自行车码表，都用到“磁铁靠近就触发”的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实验目的照原指南念即可。下方的信号链是这个实验的主线：磁铁 → 簧片 → 读数 → 输出，后面的代码就是把这条链一步步写出来。第三步“读到 0”是关键，下一页专门解释为什么有磁铁时反而读到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这一页解释“低电平有效”。上拉电阻像一根弹簧，平时把 OUT 往 5V 拉，所以读到 1；簧片一吸合，OUT 直接接到 GND，被“按”到 0V，读到 0。图是原理示意，不要求学生会画电路，只要记住：这个模块有磁铁 = 0，没磁铁 = 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对照清单把元件拿出来，别忘了准备一块磁铁。右边三张卡片帮学生分清输入和输出：磁簧开关是输入，Arduino 去“听”它；LED 和蜂鸣器是输出，Arduino 去“说”给它们。“有源”蜂鸣器内部自带发声电路，给高电平就响。原指南接线图里的 LED 模块用的是 RGB 灯模块，用普通 LED 模块也可以。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三张表照原指南抄录，接线时一张一张对着接。提醒学生：模块上印的不是 VCC / OUT，而是 S、中间脚和 −，对应关系看下面的卡片；表里括号中的 R、Y 可以对照接线图里的红线、黄线来记。所有模块的 GND 都接到 UNO 的 GND，UNO 上有好几个 GND 口，哪个都可以。接线时先拔掉 USB。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对照原指南接线图，从上到下找到三个模块。图里黄线都是信号线，红线是 5V，黑线是 GND，按颜色找最不容易乱。接完后同桌互相检查一遍，再插 USB 上传程序。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digitalRead 只有两个答案，适合开关、按键这类“有或没有”的传感器；实验一、二用过的 analogRead 回答的是“有多少”。Serial.println 是我们的“透视眼”：传感器的状态平时看不见，打印到串口就一目了然。打开串口监视器后，记得把波特率选成 9600。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用“岔路口”类比 if / else：条件成立走 if 的路，不成立走 else 的路，两条只走一条。重点强调 == 和 = 的区别，这是初学者最常犯的错：写成 if(val=0) 也能编译通过，但灯永远不会亮。可以让学生故意写错一次，看看现象。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4 行准备了四个“盒子”：三个装引脚号，一个装读数。给引脚起名字的好处是：以后换引脚只改这里，程序里其他地方都不用动。setup() 里用 pinMode 告诉 Arduino 哪些脚是输出、哪个是输入，最后打开串口。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loop() 是程序的核心，一共只做三件事：读、打印、判断。第 16 行的 val==0 对应“磁铁靠近”，所以成立时灯亮、蜂鸣器响；else 分支把它们关掉。第 26 行的大括号结束后，loop 会立刻从第 12 行再来一遍。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流程图把程序画成一张路线图：椭圆是开始，方框是做事，菱形是判断。可以请学生用手指沿着箭头走一遍，分别模拟“有磁铁”和“没有磁铁”两种情况。loop 转得非常快：就算每圈都要往串口打印一个数，每秒也能转几百圈，所以磁铁一靠近，灯几乎同时就亮了。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上传程序后打开串口监视器，拿磁铁慢慢靠近再拿开，观察灯、蜂鸣器和串口数字三者同步变化。右边串口画面是示意，实际上因为 loop 里没有 delay，数字会刷得非常快。如果现象不对，先看串口数字，再查接线。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 V5.0 扩展板直接插在 UNO 上，把每个数字脚都扩展成 G、V、S 三根针，接传感器模块非常方便。按同样的引脚号接，程序不用改。注意排针顺序：磁簧开关是 G 对 −，V 对中间脚，S 对 S；两针的 LED 和蜂鸣器只用 S 和 G，+ 接 S，− 接 G。没有扩展板就用面包板接法。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查问题的口诀：先看串口，再查接线。串口数字会随磁铁变化，说明输入没问题，去查灯和蜂鸣器；数字不变，就查磁簧开关那三根线。右边四种是课堂上最常见的情况，可以让学生先自己对照排查，再举手求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两个小改动都只需要改几行。门磁报警把条件反过来：门关着时磁铁贴着开关，读数是 0；门打开、磁铁离开才是 1，这时才报警。“想一想”的答案也是门磁写法：冰箱门打开时磁铁离开，val 是 1。滴滴声靠 delay 控制节奏，可以让学生比较 100 和 300 两种节奏的区别。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先用上面五个方块从左到右、按实验顺序回顾：读数 0～1023 换算成电压、PWM 输出 0～255、LOW 点亮的流水灯、频率决定音调、磁簧开关读到 0 / 1。下面三张卡片是本节的主线：把传感器的值“读进来”，再用引脚“送出去”控制灯光和声音。最后再提醒几个常见的坑：整数相除会丢小数、数组编号从 0 开始、delay() 只认整数毫秒、比较相等要写 ==。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课后挑战三选一：① 用电位器控制 LED 亮度——LED 改接带 ~ 的 11 号脚，把读数换算成 0～255 送进 analogWrite；② 心形流水灯，或者用蜂鸣器给流水灯配上“嘀”声；③ 用磁簧开关做一个抽屉提醒器或门磁报警器。下一节 2-1 会用 PWM 调 LED 亮度、控制舵机，开头请两三位同学展示作品。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　传感器与声光输出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　传感器与声光输出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image" Target="../media/image-55-7.png"/><Relationship Id="rId8" Type="http://schemas.openxmlformats.org/officeDocument/2006/relationships/image" Target="../media/image-55-8.png"/><Relationship Id="rId9" Type="http://schemas.openxmlformats.org/officeDocument/2006/relationships/image" Target="../media/image-55-9.png"/><Relationship Id="rId10" Type="http://schemas.openxmlformats.org/officeDocument/2006/relationships/image" Target="../media/image-55-10.png"/><Relationship Id="rId11" Type="http://schemas.openxmlformats.org/officeDocument/2006/relationships/image" Target="../media/image-55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1-3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　传感器与声光输出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 · 光敏电阻 · LED 流水灯 · 蜂鸣器 · 小磁簧开关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五个实验，按指南顺序：先把外界的变化“读进来”，再把灯光和声音“送出去”，最后把两者连起来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914400" cy="1261872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34440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模拟输入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读进来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587752"/>
            <a:ext cx="914400" cy="1261872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58775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数字输出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送出去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3941064"/>
            <a:ext cx="914400" cy="585216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394106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数字输入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+ 判断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63040" y="1234440"/>
            <a:ext cx="7269480" cy="585216"/>
          </a:xfrm>
          <a:prstGeom prst="roundRect">
            <a:avLst>
              <a:gd name="adj" fmla="val 187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91056" y="1335024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228" y="1427196"/>
            <a:ext cx="199705" cy="199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03120" y="1298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103120" y="15636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转动电位器，读出 0～1023 再换算成电压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257800" y="1406398"/>
            <a:ext cx="1152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57800" y="1406398"/>
            <a:ext cx="1152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83096" y="1406398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83096" y="1406398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174992" y="1406398"/>
            <a:ext cx="1304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174992" y="1406398"/>
            <a:ext cx="1304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463040" y="1911096"/>
            <a:ext cx="7269480" cy="585216"/>
          </a:xfrm>
          <a:prstGeom prst="roundRect">
            <a:avLst>
              <a:gd name="adj" fmla="val 187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591056" y="2011680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28" y="2103852"/>
            <a:ext cx="199705" cy="1997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103120" y="1975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光敏电阻模块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2103120" y="22402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光敏电阻感知亮度，PWM 调节红灯亮度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257800" y="2083054"/>
            <a:ext cx="1228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257800" y="2083054"/>
            <a:ext cx="1228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559296" y="2083054"/>
            <a:ext cx="466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559296" y="2083054"/>
            <a:ext cx="466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098792" y="2083054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098792" y="2083054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790688" y="2083054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790688" y="2083054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1463040" y="2587752"/>
            <a:ext cx="7269480" cy="585216"/>
          </a:xfrm>
          <a:prstGeom prst="roundRect">
            <a:avLst>
              <a:gd name="adj" fmla="val 187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591056" y="2688336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28" y="2780508"/>
            <a:ext cx="199705" cy="19970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2103120" y="26517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流水灯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2103120" y="2916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 LED 依次点亮，像流水一样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5257800" y="2759710"/>
            <a:ext cx="1152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5257800" y="2759710"/>
            <a:ext cx="1152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led_array[i]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6483096" y="2759710"/>
            <a:ext cx="999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483096" y="2759710"/>
            <a:ext cx="999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 ; ; )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7555992" y="2759710"/>
            <a:ext cx="1025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7555992" y="2759710"/>
            <a:ext cx="1025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函数()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1463040" y="3264408"/>
            <a:ext cx="7269480" cy="585216"/>
          </a:xfrm>
          <a:prstGeom prst="roundRect">
            <a:avLst>
              <a:gd name="adj" fmla="val 187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591056" y="336499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228" y="3457164"/>
            <a:ext cx="199705" cy="199705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2103120" y="3328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蜂鸣器模块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2103120" y="35935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有源“滴滴”响，无源唱出两种音调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5257800" y="3436366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5257800" y="3436366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6102096" y="3436366"/>
            <a:ext cx="1685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6102096" y="3436366"/>
            <a:ext cx="1685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delayMicroseconds()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7860792" y="3436366"/>
            <a:ext cx="390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7860792" y="3436366"/>
            <a:ext cx="390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Hz</a:t>
            </a:r>
            <a:endParaRPr lang="en-US" sz="1000" dirty="0"/>
          </a:p>
        </p:txBody>
      </p:sp>
      <p:sp>
        <p:nvSpPr>
          <p:cNvPr id="58" name="Shape 51"/>
          <p:cNvSpPr/>
          <p:nvPr/>
        </p:nvSpPr>
        <p:spPr>
          <a:xfrm>
            <a:off x="1463040" y="3941064"/>
            <a:ext cx="7269480" cy="585216"/>
          </a:xfrm>
          <a:prstGeom prst="roundRect">
            <a:avLst>
              <a:gd name="adj" fmla="val 187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591056" y="404164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228" y="4133820"/>
            <a:ext cx="199705" cy="199705"/>
          </a:xfrm>
          <a:prstGeom prst="rect">
            <a:avLst/>
          </a:prstGeom>
        </p:spPr>
      </p:pic>
      <p:sp>
        <p:nvSpPr>
          <p:cNvPr id="61" name="Text 53"/>
          <p:cNvSpPr txBox="1"/>
          <p:nvPr/>
        </p:nvSpPr>
        <p:spPr>
          <a:xfrm>
            <a:off x="2103120" y="40050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05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</a:t>
            </a:r>
            <a:endParaRPr lang="en-US" sz="1400" dirty="0"/>
          </a:p>
        </p:txBody>
      </p:sp>
      <p:sp>
        <p:nvSpPr>
          <p:cNvPr id="62" name="Text 54"/>
          <p:cNvSpPr txBox="1"/>
          <p:nvPr/>
        </p:nvSpPr>
        <p:spPr>
          <a:xfrm>
            <a:off x="2103120" y="42702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磁铁靠近：灯亮、蜂鸣器响；拿开就停</a:t>
            </a:r>
            <a:endParaRPr lang="en-US" sz="1200" dirty="0"/>
          </a:p>
        </p:txBody>
      </p:sp>
      <p:sp>
        <p:nvSpPr>
          <p:cNvPr id="63" name="Shape 55"/>
          <p:cNvSpPr/>
          <p:nvPr/>
        </p:nvSpPr>
        <p:spPr>
          <a:xfrm>
            <a:off x="5257800" y="4113022"/>
            <a:ext cx="1228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5257800" y="4113022"/>
            <a:ext cx="1228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6559296" y="4113022"/>
            <a:ext cx="923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6559296" y="4113022"/>
            <a:ext cx="923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</a:t>
            </a:r>
            <a:endParaRPr lang="en-US" sz="1000" dirty="0"/>
          </a:p>
        </p:txBody>
      </p:sp>
      <p:sp>
        <p:nvSpPr>
          <p:cNvPr id="67" name="Shape 59"/>
          <p:cNvSpPr/>
          <p:nvPr/>
        </p:nvSpPr>
        <p:spPr>
          <a:xfrm>
            <a:off x="7555992" y="4113022"/>
            <a:ext cx="390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7555992" y="4113022"/>
            <a:ext cx="390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先懂一个概念：数字信号与模拟信号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数字信号只有开 / 关两种状态；模拟信号连续变化——ADC 负责把它切成 1024 级台阶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4904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92808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只有两种状态：开和关，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也就是 HIGH 和 LOW。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就像电灯开关，非亮即灭。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063240" y="244144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3291840" y="1892808"/>
            <a:ext cx="91" cy="54864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91840" y="189280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20440" y="1892808"/>
            <a:ext cx="91" cy="54864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20440" y="244144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V="1">
            <a:off x="3749040" y="1892808"/>
            <a:ext cx="91" cy="54864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49040" y="189280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063240" y="2496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跳变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044952"/>
            <a:ext cx="374904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3209544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301716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06424" y="3209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模拟信号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94360" y="370332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可以连续变化：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0～5V 之间任何值都行。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就像调光旋钮、水龙头。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 flipV="1">
            <a:off x="3063240" y="3898009"/>
            <a:ext cx="28575" cy="7963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 flipV="1">
            <a:off x="3091815" y="3825236"/>
            <a:ext cx="28575" cy="72773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 flipV="1">
            <a:off x="3120390" y="3765588"/>
            <a:ext cx="28575" cy="59648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V="1">
            <a:off x="3148965" y="3724201"/>
            <a:ext cx="28575" cy="4138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 flipV="1">
            <a:off x="3177540" y="3704641"/>
            <a:ext cx="28575" cy="195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206115" y="3704641"/>
            <a:ext cx="28575" cy="395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34690" y="3708591"/>
            <a:ext cx="28575" cy="2712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263265" y="3735711"/>
            <a:ext cx="28575" cy="4795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91840" y="3783666"/>
            <a:ext cx="28575" cy="646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320415" y="3848326"/>
            <a:ext cx="28575" cy="7579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348990" y="3924123"/>
            <a:ext cx="28575" cy="8040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377565" y="4004528"/>
            <a:ext cx="28575" cy="7809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406140" y="4082618"/>
            <a:ext cx="28575" cy="6904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434715" y="4151667"/>
            <a:ext cx="28575" cy="5406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463290" y="4205729"/>
            <a:ext cx="28575" cy="3441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491865" y="4240148"/>
            <a:ext cx="28575" cy="1181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 flipV="1">
            <a:off x="3520440" y="4240148"/>
            <a:ext cx="28575" cy="1181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 flipV="1">
            <a:off x="3549015" y="4205729"/>
            <a:ext cx="28575" cy="3441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 flipV="1">
            <a:off x="3577590" y="4151667"/>
            <a:ext cx="28575" cy="5406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 flipV="1">
            <a:off x="3606165" y="4082618"/>
            <a:ext cx="28575" cy="6904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 flipV="1">
            <a:off x="3634740" y="4004528"/>
            <a:ext cx="28575" cy="7809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 flipV="1">
            <a:off x="3663315" y="3924123"/>
            <a:ext cx="28575" cy="8040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 flipV="1">
            <a:off x="3691890" y="3848326"/>
            <a:ext cx="28575" cy="7579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 flipV="1">
            <a:off x="3720465" y="3783666"/>
            <a:ext cx="28575" cy="646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 flipV="1">
            <a:off x="3749040" y="3735711"/>
            <a:ext cx="28575" cy="4795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 flipV="1">
            <a:off x="3777615" y="3708591"/>
            <a:ext cx="28575" cy="2712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 flipV="1">
            <a:off x="3806190" y="3704641"/>
            <a:ext cx="28575" cy="395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834765" y="3704641"/>
            <a:ext cx="28575" cy="195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863340" y="3724201"/>
            <a:ext cx="28575" cy="4138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891915" y="3765588"/>
            <a:ext cx="28575" cy="59648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920490" y="3825236"/>
            <a:ext cx="28575" cy="72773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949065" y="3898009"/>
            <a:ext cx="28575" cy="7963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3063240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4434840" y="1234440"/>
            <a:ext cx="42976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4636008" y="136245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ADC：把连续电压切成 1024 级台阶</a:t>
            </a:r>
            <a:endParaRPr lang="en-US" sz="1400" dirty="0"/>
          </a:p>
        </p:txBody>
      </p:sp>
      <p:sp>
        <p:nvSpPr>
          <p:cNvPr id="59" name="Shape 54"/>
          <p:cNvSpPr/>
          <p:nvPr/>
        </p:nvSpPr>
        <p:spPr>
          <a:xfrm>
            <a:off x="5148072" y="3310128"/>
            <a:ext cx="2240280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60" name="Shape 55"/>
          <p:cNvSpPr/>
          <p:nvPr/>
        </p:nvSpPr>
        <p:spPr>
          <a:xfrm flipV="1">
            <a:off x="5148072" y="1691640"/>
            <a:ext cx="91" cy="161848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61" name="Shape 56"/>
          <p:cNvSpPr/>
          <p:nvPr/>
        </p:nvSpPr>
        <p:spPr>
          <a:xfrm flipV="1">
            <a:off x="5148072" y="1892808"/>
            <a:ext cx="2011680" cy="1417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</p:sp>
      <p:sp>
        <p:nvSpPr>
          <p:cNvPr id="62" name="Shape 57"/>
          <p:cNvSpPr/>
          <p:nvPr/>
        </p:nvSpPr>
        <p:spPr>
          <a:xfrm>
            <a:off x="5148072" y="3310128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 flipV="1">
            <a:off x="5399532" y="3107654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399532" y="3107654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 flipV="1">
            <a:off x="5650992" y="2905179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650992" y="2905179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 flipV="1">
            <a:off x="5902452" y="2702705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5902452" y="2702705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 flipV="1">
            <a:off x="6153912" y="2500231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153912" y="2500231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 flipV="1">
            <a:off x="6405372" y="2297757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405372" y="2297757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 flipV="1">
            <a:off x="6656832" y="2095282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656832" y="2095282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 flipV="1">
            <a:off x="6908292" y="1892808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6908292" y="1892808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4965192" y="3355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5925312" y="3355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2.5V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6976872" y="3355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4690872" y="3209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4636008" y="17922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1023</a:t>
            </a:r>
            <a:endParaRPr lang="en-US" sz="1000" dirty="0"/>
          </a:p>
        </p:txBody>
      </p:sp>
      <p:sp>
        <p:nvSpPr>
          <p:cNvPr id="82" name="Shape 77"/>
          <p:cNvSpPr/>
          <p:nvPr/>
        </p:nvSpPr>
        <p:spPr>
          <a:xfrm>
            <a:off x="7571232" y="2011680"/>
            <a:ext cx="3657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7571232" y="2103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一级一级跳</a:t>
            </a:r>
            <a:endParaRPr lang="en-US" sz="1050" dirty="0"/>
          </a:p>
        </p:txBody>
      </p:sp>
      <p:sp>
        <p:nvSpPr>
          <p:cNvPr id="84" name="Shape 79"/>
          <p:cNvSpPr/>
          <p:nvPr/>
        </p:nvSpPr>
        <p:spPr>
          <a:xfrm>
            <a:off x="7571232" y="2697480"/>
            <a:ext cx="365760" cy="91"/>
          </a:xfrm>
          <a:prstGeom prst="line">
            <a:avLst/>
          </a:prstGeom>
          <a:noFill/>
          <a:ln w="19050">
            <a:solidFill>
              <a:srgbClr val="6B6B6B"/>
            </a:solidFill>
            <a:prstDash val="dash"/>
          </a:ln>
        </p:spPr>
      </p:sp>
      <p:sp>
        <p:nvSpPr>
          <p:cNvPr id="85" name="Text 80"/>
          <p:cNvSpPr txBox="1"/>
          <p:nvPr/>
        </p:nvSpPr>
        <p:spPr>
          <a:xfrm>
            <a:off x="7571232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连续变化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4636008" y="35661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示意图只画了 8 级，UNO 实际有 1024 级，台阶细得多</a:t>
            </a:r>
            <a:endParaRPr lang="en-US" sz="1000" dirty="0"/>
          </a:p>
        </p:txBody>
      </p:sp>
      <p:sp>
        <p:nvSpPr>
          <p:cNvPr id="87" name="Shape 82"/>
          <p:cNvSpPr/>
          <p:nvPr/>
        </p:nvSpPr>
        <p:spPr>
          <a:xfrm>
            <a:off x="4617720" y="384048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4727448" y="396392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841" y="4047317"/>
            <a:ext cx="180685" cy="180685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5202936" y="384048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像一把刻了 1024 格的尺子：analogRead() 读出电压落在第几格，每格约 4.9 mV。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转动电位器旋钮，让 Arduino 读出 0～1023 的数字，再换算成真实电压，显示在电脑屏幕上。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电位器分压 · 换算公式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电位器中间脚 → A0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 · (float)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串口监视器看数字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实验介绍：A/D 转换是什么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A/D 转换就是把模拟信号变成数字信号——Arduino 正是靠它“读懂”各种传感器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模拟量到处都是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611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温度、光线、声音、压力……都在连续变化。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传感器先把它们变成电压，再交给 Arduino。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237105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A/D 与 D/A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548001"/>
            <a:ext cx="361188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只认数字，要用 A/D 转换器把电压变成数字，叫模数转换；反过来，把数字变回电压叫 D/A，即数模转换。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466783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位 = 1024 级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777679"/>
            <a:ext cx="3611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的 A/D 是 10 位，读数范围 0～1023。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位数越多，刻度越细。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1234440"/>
            <a:ext cx="219456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38074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模数转换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 → 数字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本实验的主角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37960" y="1234440"/>
            <a:ext cx="219456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0840" y="138074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D/A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数模转换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→ 模拟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正好是 A/D 反过来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43400" y="2903220"/>
            <a:ext cx="219456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304952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A0～A5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个模拟输入口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也能当数字口用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 14～19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2903220"/>
            <a:ext cx="219456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20840" y="304952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10K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会转的“分压旋钮”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本实验的信号来源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组件清单与实验目的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 UNO、一个电位器、一颗 LED，就能把“旋钮转了多少”变成屏幕上的数字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" y="17099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793321"/>
            <a:ext cx="180685" cy="18068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160020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926080" y="160020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35808" y="17099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201" y="1793321"/>
            <a:ext cx="180685" cy="1806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02152" y="160020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11480" y="233172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" y="24414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2524841"/>
            <a:ext cx="180685" cy="1806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87552" y="233172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926080" y="233172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035808" y="24414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201" y="2524841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02152" y="233172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10k 电位器 ×1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11480" y="306324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21208" y="317296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" y="3256361"/>
            <a:ext cx="180685" cy="18068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7552" y="306324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×1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2926080" y="306324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035808" y="317296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201" y="3256361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502152" y="306324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220Ω 电阻 ×1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11480" y="379476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21208" y="39044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01" y="3987881"/>
            <a:ext cx="180685" cy="18068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87552" y="379476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5486400" y="1234440"/>
            <a:ext cx="3246120" cy="1536192"/>
          </a:xfrm>
          <a:prstGeom prst="roundRect">
            <a:avLst>
              <a:gd name="adj" fmla="val 714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563270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1708" y="1459748"/>
            <a:ext cx="171176" cy="17117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089904" y="13716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6089904" y="1682496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把电位器旋钮的位置变成 Arduino 能读的数值（0～1023），再换算成电压，显示在电脑屏幕上。这是以后读各种传感器的基本功。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5486400" y="3044952"/>
            <a:ext cx="324612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5632704" y="319125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1708" y="3270260"/>
            <a:ext cx="171176" cy="17117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089904" y="31821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起什么作用？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6089904" y="3493008"/>
            <a:ext cx="2496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程序让 13 号脚的 LED 亮 1 秒、灭 1 秒。看到它在闪，就说明程序正在一遍遍运行。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实验原理①：电位器是一个“分压旋钮”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两端接 5V 和 GND，中间脚的电压随旋钮在 0～5V 之间变化，A0 读的就是它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527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1234440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电位器有 3 个脚：两端之间是一整条电阻，中间脚连着一个能滑动的“滑片”。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09397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" y="207568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两端接 5V 和 GND 后，沿着电阻条从 GND 一端到 5V 一端，电压由 0V 逐渐升到 5V。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935224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2916936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转动旋钮就是移动滑片：滑片停在哪，中间脚就输出那里的电压，接到 A0 上去读。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94760"/>
            <a:ext cx="3063240" cy="777240"/>
          </a:xfrm>
          <a:prstGeom prst="roundRect">
            <a:avLst>
              <a:gd name="adj" fmla="val 141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" y="39410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020068"/>
            <a:ext cx="171176" cy="171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14984" y="39319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记住：离 5V 越近 → 电压越高 → 读数越大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749040" y="1234440"/>
            <a:ext cx="1508760" cy="33375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32504" y="1389888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032504" y="13898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97764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97764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133088" y="1737360"/>
            <a:ext cx="237744" cy="152704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69664" y="3191256"/>
            <a:ext cx="164592" cy="36576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H="1">
            <a:off x="4416552" y="3191256"/>
            <a:ext cx="42976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4846320" y="30723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388620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 GND 一端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886200" y="40507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≈ 0 V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886200" y="4270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≈ 0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0" y="1234440"/>
            <a:ext cx="1508760" cy="33375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769864" y="1389888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769864" y="13898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71500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71500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870448" y="1737360"/>
            <a:ext cx="237744" cy="152704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907024" y="2500884"/>
            <a:ext cx="164592" cy="72694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 flipH="1">
            <a:off x="6153912" y="2500884"/>
            <a:ext cx="42976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9" name="Text 35"/>
          <p:cNvSpPr txBox="1"/>
          <p:nvPr/>
        </p:nvSpPr>
        <p:spPr>
          <a:xfrm>
            <a:off x="6583680" y="23820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62356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旋到正中间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5623560" y="40507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≈ 2.5 V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5623560" y="4270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≈ 512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7223760" y="1234440"/>
            <a:ext cx="1508760" cy="33375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507224" y="1389888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507224" y="13898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745236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5236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607808" y="1737360"/>
            <a:ext cx="237744" cy="152704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644384" y="1810512"/>
            <a:ext cx="164592" cy="1417320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 flipH="1">
            <a:off x="7891272" y="1810512"/>
            <a:ext cx="42976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51" name="Text 47"/>
          <p:cNvSpPr txBox="1"/>
          <p:nvPr/>
        </p:nvSpPr>
        <p:spPr>
          <a:xfrm>
            <a:off x="8321040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736092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 5V 一端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7360920" y="40507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≈ 5 V</a:t>
            </a:r>
            <a:endParaRPr lang="en-US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7360920" y="4270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≈ 1023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实验原理②：读数怎么换算成电压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 读到 0～1023 的数；除以 1023 再乘 5V，就是引脚上的真实电压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36268"/>
            <a:ext cx="6583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ctr" indent="0" marL="0">
              <a:lnSpc>
                <a:spcPct val="115000"/>
              </a:lnSpc>
              <a:buNone/>
            </a:pPr>
            <a:r>
              <a:rPr lang="en-US" sz="20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</a:t>
            </a:r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89304" y="1452880"/>
            <a:ext cx="11562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289304" y="1801368"/>
            <a:ext cx="1156208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9304" y="1819656"/>
            <a:ext cx="11562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pPr algn="ctr" indent="0" marL="0">
              <a:lnSpc>
                <a:spcPct val="115000"/>
              </a:lnSpc>
              <a:buNone/>
            </a:pPr>
            <a:r>
              <a:rPr lang="en-US" sz="2000" baseline="3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− 1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482088" y="1636268"/>
            <a:ext cx="82092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V</a:t>
            </a:r>
            <a:pPr algn="ctr" indent="0" marL="0">
              <a:lnSpc>
                <a:spcPct val="115000"/>
              </a:lnSpc>
              <a:buNone/>
            </a:pPr>
            <a:r>
              <a:rPr lang="en-US" sz="20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也就是：电压 = 读数 ÷ 1023 × 5V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：实际电压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09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Value：读数 0～1023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3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− 1 = 1023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：参考电压 5V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80760" y="12344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举个例子：读数 399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709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399 ÷ 1023 × 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0208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1.95 V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459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和串口截图里的 1.95 对上了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" y="32095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旋钮分出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0～5V 的电压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306574" y="3817620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57175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18054" y="3209544"/>
            <a:ext cx="347472" cy="34747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1805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271805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71805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把电压变成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0～1023 的读数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466844" y="3817620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473202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78324" y="32095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7832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87832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87832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÷ 1023 × 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得到电压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627114" y="3817620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689229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38594" y="32095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03859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03859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03859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把读数和电压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发到电脑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接线：电位器接 A0，LED 接 13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电位器两端接 5V 和 GND，中间脚接 A0；LED 和 220Ω 电阻串联，接在 13 号脚与 GND 之间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6634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红线 5V · 黄线 A0 · 黑线 GND · 蓝线 13 号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40" y="1344168"/>
            <a:ext cx="3914520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原指南接线图：红线 5V · 黄线 A0 · 黑线 GND · 蓝线 13 号脚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234440"/>
          <a:ext cx="3383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10K 电位器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中间引脚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另一端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606040"/>
          <a:ext cx="3383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LED（串 220Ω 电阻）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正极（长脚）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220Ω 电阻 → LED 负极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349240" y="37033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49554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548" y="3928628"/>
            <a:ext cx="171176" cy="1711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952744" y="3840480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电位器两端的 5V、GND 对调也能用，只是读数随旋钮变化的方向会反过来。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新语法①：analogRead() 和 (float)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 负责“量电压”；(float) 让除法保留小数，否则 399 / 1023 会得到 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analogRead(引脚)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像拿尺子量一下：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读出引脚电压落在 0～1023 的第几格。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432304"/>
            <a:ext cx="3657600" cy="336296"/>
          </a:xfrm>
          <a:prstGeom prst="roundRect">
            <a:avLst>
              <a:gd name="adj" fmla="val 217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2376" y="2505456"/>
            <a:ext cx="34015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~ 1023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80944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能读到什么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digitalRead()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只有 0 或 1（开 / 关）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analogRead()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0～1023 之间的整数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594360" y="4005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 A0～A5 能用 analogRead()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9204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212" y="1482060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04104" y="13898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float 与 (float)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892040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 只装整数，float 能装小数。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(float) 能让整数临时变成小数。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892040" y="2395728"/>
            <a:ext cx="36576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01768" y="2505456"/>
            <a:ext cx="274320" cy="2743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605" y="2571293"/>
            <a:ext cx="142646" cy="14264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94960" y="248716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 value / 1023;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394960" y="2788920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399 / 1023 → 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两个整数相除，小数部分被直接扔掉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892040" y="3511296"/>
            <a:ext cx="3657600" cy="896112"/>
          </a:xfrm>
          <a:prstGeom prst="roundRect">
            <a:avLst>
              <a:gd name="adj" fmla="val 1224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001768" y="362102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605" y="3686861"/>
            <a:ext cx="142646" cy="14264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360273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 ((float)value)/1023;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394960" y="390448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399.0 / 1023 → 0.39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先变成小数再除，结果才对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新语法②：Serial.print() 和 println()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串口是 Arduino 和电脑聊天的窗口：print 说完不换行，println 说完换行，"\n" 表示在这里换行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44168"/>
            <a:ext cx="145846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344168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Serial.print(x)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76072" y="165506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x 发到电脑，说完不换行；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下一次接着写在同一行。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4231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2532888"/>
            <a:ext cx="162610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" y="2532888"/>
            <a:ext cx="1626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Serial.println(x)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" y="284378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发完 x 再换行（ln = line）；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下一次从新的一行开始。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" y="3721608"/>
            <a:ext cx="53644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" y="3721608"/>
            <a:ext cx="536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" y="403250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藏在文字里的“换行符”。第 19 行开头的 \n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先结束读数那行，“voltage =”另起一行。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123444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71416" y="129844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ad_convert.ino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099048" y="12984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17–20 行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3484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787936" y="1545336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ad pin value 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43484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787936" y="1743964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//printf Analog pin value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43484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87936" y="1942592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89120" y="2141220"/>
            <a:ext cx="42976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43484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787936" y="2141220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"\nvoltage =  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43484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787936" y="2339848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537960" y="2743200"/>
            <a:ext cx="91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6675120" y="2715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串口里看到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343400" y="3017520"/>
            <a:ext cx="4389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61688" y="3035808"/>
            <a:ext cx="435254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71416" y="3054096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537960" y="305409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489704" y="34381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ad pin value 399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489704" y="3767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489704" y="40965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1.95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3438144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第 17、18 行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3767328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第 19 行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4096512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第 20 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先准备四个“盒子”（变量），再在 setup() 里把引脚和串口设置好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ad_convert.ino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1–12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141220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6016" y="214122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56016" y="233984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ADPIN input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93573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LEDPIN output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56016" y="313436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3332988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//Serial Baud rate is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353161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56016" y="373024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92887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412750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53212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53212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346952" y="1591056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起名字：ADPIN 就是 A0，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LEDPIN 就是 13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532120" y="210921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532120" y="210921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346952" y="2100072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两个盒子：value 装整数读数；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 装带小数的电压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532120" y="272669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532120" y="272669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46952" y="2717546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设为输入（读电压）；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设为输出（点亮 LED）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532120" y="332257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532120" y="332257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202172" y="3313430"/>
            <a:ext cx="253034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打开串口，速度 9600；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注释写 115200 是笔误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532120" y="391845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532120" y="391845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279388" y="3909314"/>
            <a:ext cx="2453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里的内容会反复执行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代码逐行看懂（2/2）：读数、换算、打印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每一轮：亮灯 → 读 A0 → 换算成电压 → 打印 → 灭灯，每 2 秒重复一次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66344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ad_convert.ino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76856" y="129844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13–24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light on led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5328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2254" y="1735328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analog pin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25320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115312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2254" y="2115312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(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305304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305304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convert analog raw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495296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495296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to real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685288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ad pin value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//printf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2875280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 pin value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42254" y="3065272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3255264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255264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"\nvoltage = 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445256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635248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3825240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//turn off led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015232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205224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842254" y="4205224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3492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349240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349240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13–14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318504" y="1591056"/>
            <a:ext cx="24140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先点亮 LED，再读 A0：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 → 0，5V → 1023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349240" y="210921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349240" y="21092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15–16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18504" y="2100072"/>
            <a:ext cx="241401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(float) 先变小数，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 ÷1023 得到 0～1 的比例，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5 就是电压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349240" y="280873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349240" y="280873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17–20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318504" y="2799588"/>
            <a:ext cx="24140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3 行：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读数、“voltage =”、电压值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349240" y="362051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349240" y="36205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21–24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318504" y="3611372"/>
            <a:ext cx="241401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 1 秒 → 灭灯 → 再等 1 秒。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原指南把第 24 行的 } 印早了一行（会报错），这里已放回最后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实验结果：转动旋钮，数字跟着变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串口监视器（9600 波特率）每 2 秒打印一组：读数、提示文字、电压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011394" cy="2368296"/>
          </a:xfrm>
          <a:prstGeom prst="roundRect">
            <a:avLst>
              <a:gd name="adj" fmla="val 46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实物连接（原指南照片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44168"/>
            <a:ext cx="2791938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55264"/>
            <a:ext cx="2791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实物连接（原指南照片）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97194" y="1234440"/>
            <a:ext cx="2519072" cy="2368296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0" name="Image 1" descr="串口监视器（原指南截图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22" y="1344168"/>
            <a:ext cx="2299616" cy="1874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06922" y="3255264"/>
            <a:ext cx="22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串口监视器（原指南截图）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490586" y="1234440"/>
            <a:ext cx="2241934" cy="3337560"/>
          </a:xfrm>
          <a:prstGeom prst="roundRect">
            <a:avLst>
              <a:gd name="adj" fmla="val 489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636890" y="1362456"/>
            <a:ext cx="1949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输出怎么读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600314" y="1746504"/>
            <a:ext cx="20224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73466" y="1746504"/>
            <a:ext cx="1876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ad pin value 399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636890" y="2039112"/>
            <a:ext cx="1949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的读数是 399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00314" y="2350008"/>
            <a:ext cx="20224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73466" y="2350008"/>
            <a:ext cx="1876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636890" y="2642616"/>
            <a:ext cx="1949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提示文字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600314" y="2953512"/>
            <a:ext cx="20224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73466" y="2953512"/>
            <a:ext cx="1876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1.95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636890" y="3246120"/>
            <a:ext cx="1949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1.95 V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600314" y="3611880"/>
            <a:ext cx="2022478" cy="822960"/>
          </a:xfrm>
          <a:prstGeom prst="roundRect">
            <a:avLst>
              <a:gd name="adj" fmla="val 13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710042" y="3611880"/>
            <a:ext cx="18030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验算：399 ÷ 1023 × 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1.95，和屏幕一致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11480" y="3877056"/>
            <a:ext cx="5804786" cy="694944"/>
          </a:xfrm>
          <a:prstGeom prst="roundRect">
            <a:avLst>
              <a:gd name="adj" fmla="val 157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7784" y="402336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" y="4102364"/>
            <a:ext cx="171176" cy="17117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14984" y="4014216"/>
            <a:ext cx="5054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转动电位器，读数和电压一起变；不动旋钮时，数字在 398、399 之间轻轻跳动，属于正常的小误差。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动手改一改：小改动，看变化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每次只改一处，上传后看串口有什么不同——改代码是读懂代码最快的办法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988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只看电压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" y="1819656"/>
            <a:ext cx="3694176" cy="327660"/>
          </a:xfrm>
          <a:prstGeom prst="roundRect">
            <a:avLst>
              <a:gd name="adj" fmla="val 2232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" y="1892808"/>
            <a:ext cx="343814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删掉 17–19 行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" y="224028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串口只剩一列电压；打开“工具 → 串口绘图器”，还能看到随旋钮起伏的曲线。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38988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73752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94376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刷新快一点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73752" y="1819656"/>
            <a:ext cx="3694176" cy="327660"/>
          </a:xfrm>
          <a:prstGeom prst="roundRect">
            <a:avLst>
              <a:gd name="adj" fmla="val 2232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01768" y="1892808"/>
            <a:ext cx="343814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两处 delay(1000) 都改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873752" y="224028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0.2 秒刷新一次，转旋钮时数字跟得更紧，LED 也闪得更快。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044952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" y="320040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96696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换成百分比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76072" y="3630168"/>
            <a:ext cx="3694176" cy="327660"/>
          </a:xfrm>
          <a:prstGeom prst="roundRect">
            <a:avLst>
              <a:gd name="adj" fmla="val 2232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4088" y="3703320"/>
            <a:ext cx="343814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76072" y="4050792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0～1023 按比例换成 0～100，再打印 percent，旋钮位置一看就懂。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3044952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73752" y="320040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367" y="3275015"/>
            <a:ext cx="161666" cy="16166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294376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想一想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873752" y="361188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把电位器接 5V 的那根线改接到 3.3V，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旋到头时，读数大约是多少？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4873752" y="412394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提示：用 3.3 ÷ 5 × 1023 算一算。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光敏电阻会随光线改变阻值。把它接到 A0 读出环境亮度，再用这个数控制 RGB 灯里红灯的亮度。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认识模块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光越强，电阻越小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→ A0，R → 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盖住它，看灯的变化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认识光敏电阻：光越强，电阻越小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光敏电阻对光线非常敏感，常用来检测周围环境的亮度，做光控灯、自动调光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3832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一种会“看光”的电阻，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用硫化镉等半导体材料做成。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23710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为什么会变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548001"/>
            <a:ext cx="33832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光一照，材料里能自由移动的电荷变多，电流更容易通过，电阻就变小（内光电效应）。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23977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变化有多大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550666"/>
            <a:ext cx="33832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强光下可小于 1 kΩ，完全无光时约 1.5 MΩ——相差上千倍，所以非常灵敏。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69080" y="123444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3" name="Image 0" descr="ldr_module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26826"/>
            <a:ext cx="4480560" cy="21012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69080" y="3794760"/>
            <a:ext cx="14020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06240" y="3877056"/>
            <a:ext cx="112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 1 kΩ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206240" y="4206240"/>
            <a:ext cx="112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强光下的电阻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699760" y="3794760"/>
            <a:ext cx="14020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36920" y="3877056"/>
            <a:ext cx="112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1.5 MΩ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836920" y="4206240"/>
            <a:ext cx="112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无光时的电阻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30440" y="3794760"/>
            <a:ext cx="14020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67600" y="3877056"/>
            <a:ext cx="112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V G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467600" y="4206240"/>
            <a:ext cx="112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 电源 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组件清单与实验原理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光线一变，电阻就变，A0 上的电压和读数跟着变，最后变成红灯的亮度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" y="136245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" y="177393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8" y="1844162"/>
            <a:ext cx="152156" cy="1521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8408" y="17465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76072" y="2167128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8" y="2237354"/>
            <a:ext cx="152156" cy="1521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8408" y="21396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76072" y="256032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8" y="2630546"/>
            <a:ext cx="152156" cy="1521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8408" y="25328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76072" y="295351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8" y="3023738"/>
            <a:ext cx="152156" cy="1521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78408" y="2926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 ×1（模块）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76072" y="334670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8" y="3416930"/>
            <a:ext cx="152156" cy="1521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78408" y="3319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 ×1 *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76072" y="373989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98" y="3810122"/>
            <a:ext cx="152156" cy="15215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78408" y="37124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50" dirty="0"/>
          </a:p>
        </p:txBody>
      </p:sp>
      <p:sp>
        <p:nvSpPr>
          <p:cNvPr id="26" name="Text 17"/>
          <p:cNvSpPr txBox="1"/>
          <p:nvPr/>
        </p:nvSpPr>
        <p:spPr>
          <a:xfrm>
            <a:off x="576072" y="408736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接线图用的是 RGB LED 模块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（只接了红色 R）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3611880" y="1691640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3977640" y="1234440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142232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光线变化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566928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用手盖住它，或用手电筒照它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3611880" y="2386584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3429000" y="2020824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342900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3977640" y="1929384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4142232" y="1929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电阻变化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669280" y="19293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光越强电阻越小，越暗电阻越大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3611880" y="3081528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3429000" y="271576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34290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3977640" y="2624328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4142232" y="26243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电压变化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669280" y="2624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模块里光敏电阻和固定电阻串联分压，电阻一变，S 脚电压就变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3611880" y="3776472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3429000" y="3410712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342900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3977640" y="3319272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4142232" y="33192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0～1023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5669280" y="3319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analogRead(A0) 把电压读成数字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3429000" y="4105656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342900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3977640" y="4014216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142232" y="4014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 0～255</a:t>
            </a:r>
            <a:endParaRPr lang="en-US" sz="1400" dirty="0"/>
          </a:p>
        </p:txBody>
      </p:sp>
      <p:sp>
        <p:nvSpPr>
          <p:cNvPr id="55" name="Text 46"/>
          <p:cNvSpPr txBox="1"/>
          <p:nvPr/>
        </p:nvSpPr>
        <p:spPr>
          <a:xfrm>
            <a:off x="5669280" y="40142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换算后用 analogWrite(11, 值) 点亮红灯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接线：光敏模块接 A0，RGB 模块红灯接 11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光敏电阻模块 S → A0、G → GND、V → 5V；RGB LED 模块 R → 11、GND →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上方是 RGB LED 模块，下方是光敏电阻模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250" y="1344168"/>
            <a:ext cx="3891101" cy="18836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64408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原指南接线图：上方是 RGB LED 模块，下方是光敏电阻模块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23444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 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光敏电阻模块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806440" y="2377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= 信号　G = 地　V = 电源</a:t>
            </a:r>
            <a:endParaRPr lang="en-US" sz="10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78892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 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RGB LED 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411480" y="3886200"/>
            <a:ext cx="832104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57784" y="40325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4111508"/>
            <a:ext cx="171176" cy="17117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14984" y="4023360"/>
            <a:ext cx="7571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注意：组件清单写的是“LED 模块”，接线图用的是 RGB LED 模块。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这里只接了 R（红色）一路，所以亮的是红灯。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新语法：analogWrite() 和 PWM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数字引脚只会开 / 关；PWM 让它飞快地开关，用“开着的时间占多少”来调节亮度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打个比方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飞快地开关灯：一秒开关几百次，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眼睛看不出闪烁，只觉得灯暗了一些。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开着的时间越长，看起来越亮。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834640"/>
            <a:ext cx="356616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9496" y="2907792"/>
            <a:ext cx="33101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一半亮度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42900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值的范围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0～255（0 灭，255 最亮）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能用的引脚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5 6 9 10 11（带 ~ 的）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 号脚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每秒开关约 490 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343400" y="1234440"/>
            <a:ext cx="43891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26280" y="1362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同样是 5V，开着的时间比例不同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507992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0)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309360" y="2258568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836408" y="1965960"/>
            <a:ext cx="274320" cy="274320"/>
          </a:xfrm>
          <a:prstGeom prst="ellipse">
            <a:avLst/>
          </a:prstGeom>
          <a:solidFill>
            <a:srgbClr val="40E0D0">
              <a:alpha val="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56448" y="19659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0%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07992" y="2624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64)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309360" y="2916936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093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522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951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380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836408" y="2624328"/>
            <a:ext cx="274320" cy="274320"/>
          </a:xfrm>
          <a:prstGeom prst="ellipse">
            <a:avLst/>
          </a:prstGeom>
          <a:solidFill>
            <a:srgbClr val="40E0D0">
              <a:alpha val="2500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56448" y="26243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507992" y="32826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128)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309360" y="3575304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3093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522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951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380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36408" y="3282696"/>
            <a:ext cx="274320" cy="274320"/>
          </a:xfrm>
          <a:prstGeom prst="ellipse">
            <a:avLst/>
          </a:prstGeom>
          <a:solidFill>
            <a:srgbClr val="40E0D0">
              <a:alpha val="5000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156448" y="3282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4507992" y="3941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255)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309360" y="4233672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3093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6522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9951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380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836408" y="3941064"/>
            <a:ext cx="274320" cy="274320"/>
          </a:xfrm>
          <a:prstGeom prst="ellipse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156448" y="39410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代码逐行看懂（1/2）：和实验一几乎一样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变量和 setup() 与实验一基本相同，只是 LED 换到了能输出 PWM 的 11 号脚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light_sensor.ino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1–10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5328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2254" y="173532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15312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30530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49529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2254" y="268528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2254" y="287528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306527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//Serial Baud rate is 115200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25526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11480" y="388620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7784" y="40325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111508"/>
            <a:ext cx="171176" cy="17117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014984" y="402336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原指南这一节程序是空白的，这里的程序来自同套件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《Arduino 编程入门学习教程》第 2.20 讲，接线一致。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6235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6235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6438392" y="1591056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读光敏电阻；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换到带 ~ 的 11 号脚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623560" y="207264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623560" y="207264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6438392" y="2063496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 装读数；voltage 装的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0～1 的比例，不是电压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623560" y="267055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623560" y="267055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6438392" y="2661412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号设为输出，A0 设为输入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（顺序反过来也没关系）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5623560" y="314299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623560" y="314299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6293612" y="3133852"/>
            <a:ext cx="24389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 9600；注释里的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115200 同样是笔误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代码逐行看懂（2/2）：读光线，调亮度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每秒一轮：读 A0 → 算出 0～1 的比例 → 换算成亮度值 → 打印 → 送到红灯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light_sensor.ino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11–19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25320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2254" y="211531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(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305304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30530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//convert voltage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495296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 value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875280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388620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7784" y="403250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111508"/>
            <a:ext cx="171176" cy="171176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014984" y="402336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读数满 1023 时，第 15 行会算出 256，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超出 analogWrite 的 0～255——后面专门讲怎么修。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623560" y="191058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623560" y="191058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6370828" y="1901444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读光敏电阻，得到 0～1023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623560" y="220319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23560" y="220319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6370828" y="2194052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先变小数再 ÷1023 → 0～1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5623560" y="249580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623560" y="249580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6370828" y="2486660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256，(int) 去小数 → 亮度值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623560" y="278841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623560" y="278841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16–17 行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6592824" y="27792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打印亮度值，再送到红灯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5623560" y="30810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623560" y="30810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 行</a:t>
            </a:r>
            <a:endParaRPr lang="en-US" sz="950" dirty="0"/>
          </a:p>
        </p:txBody>
      </p:sp>
      <p:sp>
        <p:nvSpPr>
          <p:cNvPr id="52" name="Text 48"/>
          <p:cNvSpPr txBox="1"/>
          <p:nvPr/>
        </p:nvSpPr>
        <p:spPr>
          <a:xfrm>
            <a:off x="6370828" y="3071876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1 秒，回到第 13 行再读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实验结果：盖住光敏电阻，红灯亮度跟着变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用手盖住或用灯照光敏电阻，红灯亮度明显改变，串口里的数值也跟着跳变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8862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实物：光敏模块和 RGB 模块接在 UNO 上，红灯亮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92177"/>
            <a:ext cx="3666744" cy="27477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666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实物：光敏模块和 RGB 模块接在 UNO 上，红灯亮起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0" y="1234440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1830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30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75504" y="1371600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原指南：“现在我们盖住光敏电阻，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我们将清楚地看到光的亮度变化。”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2402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动手观察：测一测，填一填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587752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光线条件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串口数值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红灯亮度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正常光线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用手盖住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手电筒照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4572000" y="412394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226" y="4194170"/>
            <a:ext cx="152156" cy="1521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74336" y="4105656"/>
            <a:ext cx="37581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变大还是变小取决于模块电路，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原指南没写——自己测出来才算数。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换算细节：(int) 和越界的 256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(int) 直接去掉小数；读数满 1023 时会算出 256，超出 analogWrite 的 0～255，改用 map() 更稳妥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(int)：把小数砍掉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像量身高只记整厘米：172.9 cm 记作 172。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(int) 不四舍五入，直接扔掉小数部分。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87168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8686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读数 value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÷ 1023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× 256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(int) 结果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128.1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250.2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越界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9436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前三行都没问题，只有满量程 1023 这一格出界。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92040" y="12344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038344" y="138074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348" y="1459748"/>
            <a:ext cx="171176" cy="171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95544" y="1371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小心：256 越界了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95544" y="168249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 只认 0～255。读数正好 1023 时算出 256，超出范围，灯会突然变得几乎不亮，而不是最亮。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92040" y="292608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038344" y="30723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48" y="3151388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95544" y="3063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更稳妥：用 map() 换算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038344" y="3493008"/>
            <a:ext cx="3547872" cy="336296"/>
          </a:xfrm>
          <a:prstGeom prst="roundRect">
            <a:avLst>
              <a:gd name="adj" fmla="val 217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166360" y="3566160"/>
            <a:ext cx="329184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038344" y="39502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map() 把 0～1023 按比例换成 0～255，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最大正好是 255，不会越界。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流水灯实验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8 盏 LED 一个接一个亮起来，像水一样“流”过去。顺便学会三样新本领：数组、for 循环和自定义函数。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限流电阻 · 低电平点亮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 → D2～D9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 · for · 函数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看灯怎么“流”起来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LED：会发光的二极管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只让电流从正极流向负极——长脚接正、短脚接负，接反了就不亮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56616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是“发光二极管”的英文缩写。电流流过它就会发光，省电又耐用，指示灯、屏幕、车灯里到处都是。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44583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为什么有不同颜色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756726"/>
            <a:ext cx="356616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用的半导体材料不同（镓、砷、磷等元素的化合物），发出的光颜色就不同：红、绿、黄……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43020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单向导通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741103"/>
            <a:ext cx="356616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电流只能从正极（长脚）流到负极（短脚），像只能单向通过的闸机。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4304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注：原指南此处材料名印重复了，这里只保留结论。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3400" y="12344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4" name="Image 0" descr="实物：红色 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1507344"/>
            <a:ext cx="1837944" cy="14658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53128" y="3172968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实物：红色 LED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675120" y="12344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7" name="Image 1" descr="电路符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596052"/>
            <a:ext cx="1837944" cy="1288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84848" y="3172968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电路符号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343400" y="37947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489704" y="3982212"/>
            <a:ext cx="402336" cy="40233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489704" y="39822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001768" y="390448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长脚 = 正极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5001768" y="4197096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接电源这一边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675120" y="37947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21424" y="3982212"/>
            <a:ext cx="402336" cy="40233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821424" y="39822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333488" y="390448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短脚 = 负极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7333488" y="4197096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三角形尖端指向它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为什么要串电阻：限流电阻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自己不会“限速”，电流太大就会烧坏；串一个电阻，把电流控制在安全范围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11198"/>
            <a:ext cx="53441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=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229360" y="1447292"/>
            <a:ext cx="105460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 − V</a:t>
            </a:r>
            <a:pPr algn="ctr" indent="0" marL="0">
              <a:lnSpc>
                <a:spcPct val="115000"/>
              </a:lnSpc>
              <a:buNone/>
            </a:pPr>
            <a:r>
              <a:rPr lang="en-US" sz="2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29360" y="1892808"/>
            <a:ext cx="1054608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29360" y="1911096"/>
            <a:ext cx="105460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 = 电阻要分担的电压 ÷ 电流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E：电源电压，这里是 5V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：LED 压降，约 1.5～2V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I：工作电流，约 10～20 mA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1234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15000" y="1362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算一算：红色 LED 接 5V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(5 − 2) V ÷ 15 mA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19842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200 Ω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2459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取常见的规格：220 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154680"/>
            <a:ext cx="25908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3101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53" y="3393521"/>
            <a:ext cx="180685" cy="18068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69848" y="3310128"/>
            <a:ext cx="174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为什么必须串电阻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594360" y="3767328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的脾气很“陡”：电压只高一点点，电流就猛增，很快就烧坏了。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76600" y="3154680"/>
            <a:ext cx="25908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459480" y="33101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873" y="3393521"/>
            <a:ext cx="180685" cy="18068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934968" y="3310128"/>
            <a:ext cx="174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像水龙头的阀门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3459480" y="3767328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电阻越大，电流越小。灯会暗一些，但更安全。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141720" y="3154680"/>
            <a:ext cx="25908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24600" y="33101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93" y="3393521"/>
            <a:ext cx="180685" cy="18068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800088" y="3310128"/>
            <a:ext cx="174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本套件用 1kΩ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324600" y="3767328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(5 − 2) V ÷ 1000 Ω ≈ 3 mA：灯稍暗，但更省电、更安全，照样看得清。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实验目的与组件清单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目标：让灯光像流水一样，从一头“流”到另一头——先单灯跑，再逐个点亮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" y="170078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784177"/>
            <a:ext cx="180685" cy="18068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160020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71800" y="160020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81528" y="170078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21" y="1784177"/>
            <a:ext cx="180685" cy="1806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47872" y="160020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11480" y="2313432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" y="241401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2497409"/>
            <a:ext cx="180685" cy="1806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87552" y="2313432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971800" y="2313432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081528" y="241401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921" y="2497409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47872" y="2313432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×8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11480" y="3026664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21208" y="31272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" y="3210641"/>
            <a:ext cx="180685" cy="18068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7552" y="302666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1kΩ 电阻 ×8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2971800" y="3026664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081528" y="31272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921" y="3210641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547872" y="302666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11480" y="384048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5778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88" y="4065788"/>
            <a:ext cx="171176" cy="17117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14984" y="3977640"/>
            <a:ext cx="4187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D0、D1 是和电脑通信（串口）用的，先空着，所以 8 盏灯从 D2 接到 D9。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623560" y="12344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57698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8868" y="1459748"/>
            <a:ext cx="171176" cy="17117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227064" y="1371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6227064" y="1682496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什么是流水灯？就像山间的小溪，让灯光一盏接一盏地亮起来，看上去在流动。先让单个灯从头跑到尾，再让所有灯依次点亮，如此循环。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5623560" y="333756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5806440" y="3429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想象一下“流水”的样子：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5806440" y="37856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单灯跑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6575108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683228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7089458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734663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7558088" y="3767328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7603808" y="3813048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786098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8118158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837533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5806440" y="4133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逐个点亮</a:t>
            </a:r>
            <a:endParaRPr lang="en-US" sz="1050" dirty="0"/>
          </a:p>
        </p:txBody>
      </p:sp>
      <p:sp>
        <p:nvSpPr>
          <p:cNvPr id="53" name="Shape 42"/>
          <p:cNvSpPr/>
          <p:nvPr/>
        </p:nvSpPr>
        <p:spPr>
          <a:xfrm>
            <a:off x="6529388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575108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786563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832283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7043738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7089458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7300913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7346633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7558088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7603808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7860983" y="4160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8118158" y="4160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8375333" y="4160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原理图：低电平点亮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 LED 的正极都接 5V，负极经 1kΩ 电阻接 D2～D9——引脚输出 LOW 灯亮，HIGH 灯灭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原理图：VCC_5V → LED1～LED8 → 1K 电阻 → D2～D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887" y="1344168"/>
            <a:ext cx="4984986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原指南原理图：VCC_5V → LED1～LED8 → 1K 电阻 → D2～D9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0" y="1234440"/>
            <a:ext cx="2788920" cy="10515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26480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1325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1746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 0V，比正极低 5V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电流流过 LED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2286000"/>
            <a:ext cx="2788920" cy="105156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2648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377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灯灭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27980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引脚也是 5V，两头一样高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没有电流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3611880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37581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08" y="3837188"/>
            <a:ext cx="171176" cy="171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47104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水往低处流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547104" y="40599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正极在 5V 高处，引脚降到 0V，电流才流下来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接线：8 盏灯接 D2～D9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长脚插 5V 电源轨，短脚各串一个 1kΩ 电阻，再分别接到 D2～D9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（短脚 · 电阻 1K · 长脚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08" y="1344168"/>
            <a:ext cx="3323903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原指南接线图（短脚 · 电阻 1K · 长脚）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34440"/>
          <a:ext cx="1874520" cy="91440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234440"/>
          <a:ext cx="1874520" cy="91440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709160" y="28803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489204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接线三步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892040" y="335584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89204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5276088" y="33375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长脚（+）全部插到 5V 电源轨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892040" y="375818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920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276088" y="37398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短脚（−）各串一个 1kΩ 电阻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892040" y="416052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920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76088" y="41422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电阻另一头接 D2～D9，电源轨接 5V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程序原理：灯是怎么“流”起来的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一次只改一个引脚，停一小会儿再改下一个——快速接力，看起来就像水在流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527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1234440"/>
            <a:ext cx="280720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准备：D2～D9 都输出 HIGH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盏灯全部熄灭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889633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18896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" y="1871345"/>
            <a:ext cx="2807208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单灯跑：按 2 → 9 号的顺序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拉低一个引脚（亮），等 0.1 秒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再拉高（灭），然后换下一盏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753551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7535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2735263"/>
            <a:ext cx="280720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逐个点亮：一盏接一盏拉低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亮了就不再关，直到 8 盏全亮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52044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" y="3666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3745748"/>
            <a:ext cx="171176" cy="171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14984" y="3657600"/>
            <a:ext cx="2496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原指南文字写“每盏 500ms”，程序里 flash_speed = 100，即 0.1 秒，以程序为准。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977640" y="123444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160520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12064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54926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97789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40651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83514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726376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769239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812101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4160520" y="1618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led_flash()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单灯跑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160520" y="19476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步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211509" y="193852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252657" y="197967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68128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09907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53853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67157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39578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824407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25303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160520" y="2176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步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525265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640134" y="216712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681282" y="220827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10990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538532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6715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395782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82440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53032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160520" y="24048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步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5252657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68128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068759" y="239572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109907" y="243687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53853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967157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39578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824407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25303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160520" y="2596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⋮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4160520" y="2724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步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525265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681282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10990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6538532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96715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395782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782440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8211884" y="271576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253032" y="275691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416052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led_turn_on()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逐个点亮</a:t>
            </a:r>
            <a:endParaRPr lang="en-US" sz="1200" dirty="0"/>
          </a:p>
        </p:txBody>
      </p:sp>
      <p:sp>
        <p:nvSpPr>
          <p:cNvPr id="72" name="Text 68"/>
          <p:cNvSpPr txBox="1"/>
          <p:nvPr/>
        </p:nvSpPr>
        <p:spPr>
          <a:xfrm>
            <a:off x="4160520" y="33924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步</a:t>
            </a:r>
            <a:endParaRPr lang="en-US" sz="1050" dirty="0"/>
          </a:p>
        </p:txBody>
      </p:sp>
      <p:sp>
        <p:nvSpPr>
          <p:cNvPr id="73" name="Shape 69"/>
          <p:cNvSpPr/>
          <p:nvPr/>
        </p:nvSpPr>
        <p:spPr>
          <a:xfrm>
            <a:off x="5211509" y="33832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252657" y="34244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568128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109907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653853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967157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39578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7824407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825303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160520" y="36210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步</a:t>
            </a:r>
            <a:endParaRPr lang="en-US" sz="1050" dirty="0"/>
          </a:p>
        </p:txBody>
      </p:sp>
      <p:sp>
        <p:nvSpPr>
          <p:cNvPr id="83" name="Shape 79"/>
          <p:cNvSpPr/>
          <p:nvPr/>
        </p:nvSpPr>
        <p:spPr>
          <a:xfrm>
            <a:off x="5211509" y="36118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5252657" y="36530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640134" y="36118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5681282" y="36530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6109907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538532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967157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395782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824407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253032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4160520" y="38496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步</a:t>
            </a:r>
            <a:endParaRPr lang="en-US" sz="1050" dirty="0"/>
          </a:p>
        </p:txBody>
      </p:sp>
      <p:sp>
        <p:nvSpPr>
          <p:cNvPr id="94" name="Shape 90"/>
          <p:cNvSpPr/>
          <p:nvPr/>
        </p:nvSpPr>
        <p:spPr>
          <a:xfrm>
            <a:off x="5211509" y="38404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252657" y="38816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5640134" y="38404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681282" y="38816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6068759" y="38404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109907" y="38816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6538532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6967157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395782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7824407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8253032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4160520" y="4041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⋮</a:t>
            </a:r>
            <a:endParaRPr lang="en-US" sz="1000" dirty="0"/>
          </a:p>
        </p:txBody>
      </p:sp>
      <p:sp>
        <p:nvSpPr>
          <p:cNvPr id="106" name="Text 102"/>
          <p:cNvSpPr txBox="1"/>
          <p:nvPr/>
        </p:nvSpPr>
        <p:spPr>
          <a:xfrm>
            <a:off x="4160520" y="416966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步</a:t>
            </a:r>
            <a:endParaRPr lang="en-US" sz="1050" dirty="0"/>
          </a:p>
        </p:txBody>
      </p:sp>
      <p:sp>
        <p:nvSpPr>
          <p:cNvPr id="107" name="Shape 103"/>
          <p:cNvSpPr/>
          <p:nvPr/>
        </p:nvSpPr>
        <p:spPr>
          <a:xfrm>
            <a:off x="521150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525265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64013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568128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606875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10990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649738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653853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692600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696715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735463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739578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778325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782440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821188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825303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新语法①：数组和 for 循环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数组把 8 个引脚号排进一排编号的柜子；for 循环从 0 号柜开始，挨个打开处理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832104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 = 一排编号的柜子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74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一个名字装 8 个引脚号，按编号取用。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注意：编号从 0 开始！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2900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2900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06908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6908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06908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0916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916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34924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34924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34924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598932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8932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8932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62940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62940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62940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26948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26948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26948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790956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90956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90956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3429000" y="2130552"/>
            <a:ext cx="5029200" cy="336296"/>
          </a:xfrm>
          <a:prstGeom prst="roundRect">
            <a:avLst>
              <a:gd name="adj" fmla="val 217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557016" y="2203704"/>
            <a:ext cx="47731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;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11480" y="28346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94360" y="29900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" y="3073481"/>
            <a:ext cx="180685" cy="18068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069848" y="29900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循环 = 数着圈跑步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594360" y="3429000"/>
            <a:ext cx="3657600" cy="353568"/>
          </a:xfrm>
          <a:prstGeom prst="roundRect">
            <a:avLst>
              <a:gd name="adj" fmla="val 206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22376" y="3502152"/>
            <a:ext cx="340156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594360" y="3867912"/>
            <a:ext cx="11582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94360" y="386791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 = 0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594360" y="414223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0 开始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1844040" y="3867912"/>
            <a:ext cx="11582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844040" y="386791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i &lt; 8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1844040" y="414223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小于 8 就继续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3093720" y="3867912"/>
            <a:ext cx="11582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3093720" y="386791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i++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3093720" y="414223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每圈加 1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4709160" y="28346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892040" y="29900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433" y="3073481"/>
            <a:ext cx="180685" cy="180685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5367528" y="29900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合起来：挨个开柜子</a:t>
            </a:r>
            <a:endParaRPr lang="en-US" sz="1400" dirty="0"/>
          </a:p>
        </p:txBody>
      </p:sp>
      <p:sp>
        <p:nvSpPr>
          <p:cNvPr id="56" name="Shape 50"/>
          <p:cNvSpPr/>
          <p:nvPr/>
        </p:nvSpPr>
        <p:spPr>
          <a:xfrm>
            <a:off x="4892040" y="3429000"/>
            <a:ext cx="3657600" cy="493776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5020056" y="3485896"/>
            <a:ext cx="34015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5020056" y="3675888"/>
            <a:ext cx="34015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4892040" y="40690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= 0 点 2 号脚，i = 1 点 3 号脚……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= 7 点 9 号脚，8 盏灯全部处理完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新语法②：自定义函数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把一串动作装进一个有名字的“菜谱”，以后喊一声名字，就把整套动作做一遍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605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477670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89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定义：写一份菜谱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1865376"/>
            <a:ext cx="3794760" cy="975360"/>
          </a:xfrm>
          <a:prstGeom prst="roundRect">
            <a:avLst>
              <a:gd name="adj" fmla="val 75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" y="1938528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22376" y="2145792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22376" y="2353056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一串动作写在这里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" y="2560320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30510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51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755648" y="302361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做完不交回结果（“空”）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4360" y="343509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34350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755648" y="3407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菜谱的名字，自己起，最好见名知意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4360" y="381914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94360" y="38191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(void)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755648" y="37917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不需要额外的“材料”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94360" y="42031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4360" y="42031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755648" y="41757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具体步骤都写在大括号里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123444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2920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82" y="1477670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522976" y="13898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调用：喊一声名字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5029200" y="1865376"/>
            <a:ext cx="3520440" cy="742188"/>
          </a:xfrm>
          <a:prstGeom prst="roundRect">
            <a:avLst>
              <a:gd name="adj" fmla="val 985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157216" y="1938528"/>
            <a:ext cx="32644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单灯跑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5157216" y="2137156"/>
            <a:ext cx="32644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逐个熄灭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157216" y="2335784"/>
            <a:ext cx="32644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逐个点亮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502920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写一行名字 = 照着菜谱做一遍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846320" y="3337560"/>
            <a:ext cx="1173480" cy="1234440"/>
          </a:xfrm>
          <a:prstGeom prst="roundRect">
            <a:avLst>
              <a:gd name="adj" fmla="val 93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99262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28" y="3562868"/>
            <a:ext cx="171176" cy="17117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394960" y="3483864"/>
            <a:ext cx="53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好读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4992624" y="3922776"/>
            <a:ext cx="899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读起来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像说话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6202680" y="3337560"/>
            <a:ext cx="1173480" cy="1234440"/>
          </a:xfrm>
          <a:prstGeom prst="roundRect">
            <a:avLst>
              <a:gd name="adj" fmla="val 93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34898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988" y="3562868"/>
            <a:ext cx="171176" cy="17117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751320" y="3483864"/>
            <a:ext cx="53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好改</a:t>
            </a:r>
            <a:endParaRPr lang="en-US" sz="1350" dirty="0"/>
          </a:p>
        </p:txBody>
      </p:sp>
      <p:sp>
        <p:nvSpPr>
          <p:cNvPr id="45" name="Text 38"/>
          <p:cNvSpPr txBox="1"/>
          <p:nvPr/>
        </p:nvSpPr>
        <p:spPr>
          <a:xfrm>
            <a:off x="6348984" y="3922776"/>
            <a:ext cx="899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改一处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处处生效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7559040" y="3337560"/>
            <a:ext cx="1173480" cy="1234440"/>
          </a:xfrm>
          <a:prstGeom prst="roundRect">
            <a:avLst>
              <a:gd name="adj" fmla="val 93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70534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348" y="3562868"/>
            <a:ext cx="171176" cy="17117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107680" y="3483864"/>
            <a:ext cx="53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好复用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7705344" y="3922776"/>
            <a:ext cx="899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想用几次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就用几次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代码逐行看懂（1/3）：数组和单灯跑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先准备好“柜子”和速度，再把“一盏灯从头跑到尾”打包成 led_flash()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2120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96312" y="129844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1–14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flash led form left to right one by one */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875280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255264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254" y="3255264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45256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445256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3635248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2254" y="3635248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42254" y="3825240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42254" y="4015232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85216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8521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521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666992" y="1591056"/>
            <a:ext cx="20655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数组：[0] 是 2，[7] 是 9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每一步停 100 毫秒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852160" y="229057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852160" y="229057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522212" y="2281428"/>
            <a:ext cx="22103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把“单灯跑一趟”打包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852160" y="286054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852160" y="286054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522212" y="2851404"/>
            <a:ext cx="22103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从 0 数到 7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盏灯挨个处理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852160" y="333298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852160" y="333298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10–12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821424" y="3323844"/>
            <a:ext cx="191109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拉低 → 这盏亮；等 0.1 秒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拉高 → 熄灭，换下一盏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代码逐行看懂（2/3）：一对“双胞胎”函数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led_turn_on() 逐个点亮，led_turn_off() 逐个熄灭——两段代码只差 LOW 和 HIGH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2082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16–25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turn on all led form left to right */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92532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211531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30530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49529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685288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68528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87528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306527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325526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379476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1480" y="379476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 行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158748" y="3785616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LOW：点亮这一盏，而且不再熄灭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11480" y="412394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1480" y="412394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 行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1158748" y="4114800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0.1 秒再点下一盏 → 灯越亮越多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709160" y="12344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3717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31850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27–36 行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80060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5139934" y="154533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turn off all led  */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80060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139934" y="173532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80060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139934" y="192532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80060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5139934" y="211531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80060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139934" y="230530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80060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5139934" y="249529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754880" y="2685288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80060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139934" y="268528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80060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5139934" y="287528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80060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5139934" y="306527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480060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5139934" y="325526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4709160" y="379476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709160" y="379476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33 行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5456428" y="3785616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HIGH：熄灭这一盏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709160" y="412394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709160" y="412394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34 行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456428" y="4114800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0.1 秒再关下一盏 → 灯越来越少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代码逐行看懂（3/3）：setup() 和 loop()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 开机只做一次准备；loop() 按顺序调用三个函数，一遍又一遍地重复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93976" y="12984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37–46 行 · 只做一次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4730" y="154533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14730" y="171805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your setup code here, to run once: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4730" y="189077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06349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4730" y="206349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14730" y="223621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14730" y="240893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58165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14730" y="258165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275437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14730" y="275437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led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292709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4730" y="292709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control pin defalut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off all LED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14730" y="309981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" y="327253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39319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1480" y="39319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40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158748" y="3922776"/>
            <a:ext cx="3458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打开串口（速度 115200），给第 50 行用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1148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1148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43–44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380744" y="42519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个引脚设为输出，先输出 HIGH → 全部熄灭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892040" y="12344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20056" y="129844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428232" y="129844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48–54 行 · 反复执行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98348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295290" y="154533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98348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295290" y="171805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your main code here, to run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98348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295290" y="189077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repeatedly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498348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5295290" y="206349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 flash led !"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937760" y="2236216"/>
            <a:ext cx="37490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98348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295290" y="223621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led_flash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937760" y="2408936"/>
            <a:ext cx="37490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8348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5295290" y="240893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led_turn_off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937760" y="2581656"/>
            <a:ext cx="37490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98348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5295290" y="258165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led_turn_on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98348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5295290" y="275437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892040" y="32461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892040" y="32461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50 行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639308" y="3236976"/>
            <a:ext cx="309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串口发一句 start flash led !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892040" y="35753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892040" y="35753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51–53 行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5861304" y="356616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单灯跑 → 逐个熄灭 → 逐个点亮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4892040" y="3904488"/>
            <a:ext cx="424180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892040" y="3904488"/>
            <a:ext cx="424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然后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5407660" y="3895344"/>
            <a:ext cx="3324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 loop() 开头，再来一遍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想一想：实际跑起来是什么样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第一轮是“单灯跑”，从第二轮起变成“逐个熄灭”——因为上一轮结束时灯已经全亮了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13610" y="1234440"/>
            <a:ext cx="119634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13610" y="1234440"/>
            <a:ext cx="119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led_flash()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11040" y="1234440"/>
            <a:ext cx="144780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11040" y="123444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76110" y="1234440"/>
            <a:ext cx="136398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76110" y="1234440"/>
            <a:ext cx="1363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led_turn_on()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1801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轮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2093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灯从全灭开始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37360" y="1673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23097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57412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91727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91753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626042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6035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9467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2898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63302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74520" y="2075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一盏灯从 2 号跑到 9 号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0520" y="1673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4625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8057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1488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4920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8351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1783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5214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8646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97680" y="2075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已经全灭，只停顿 0.8 秒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583680" y="1673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35128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69417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69443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03733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03758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38047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438072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72363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0667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4099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7530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0962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720840" y="2075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一盏接一盏点亮，最后全亮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11480" y="2944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轮起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411480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灯从全亮开始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1737360" y="2816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23097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157412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391727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626042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82606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860358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060383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094673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29469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328988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29013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63302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7452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2 号到 9 号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变成逐个熄灭！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160520" y="2816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4625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8057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81488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04920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28351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51783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75214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98646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29768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又停顿 0.8 秒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6583680" y="2816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73512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769417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969443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003733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20375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238047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38072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472363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70667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94099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17530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40962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72084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再逐个点亮……如此循环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411480" y="3959352"/>
            <a:ext cx="8321040" cy="612648"/>
          </a:xfrm>
          <a:prstGeom prst="roundRect">
            <a:avLst>
              <a:gd name="adj" fmla="val 1791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76072" y="40919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" y="4175333"/>
            <a:ext cx="180685" cy="180685"/>
          </a:xfrm>
          <a:prstGeom prst="rect">
            <a:avLst/>
          </a:prstGeom>
        </p:spPr>
      </p:pic>
      <p:sp>
        <p:nvSpPr>
          <p:cNvPr id="92" name="Text 88"/>
          <p:cNvSpPr txBox="1"/>
          <p:nvPr/>
        </p:nvSpPr>
        <p:spPr>
          <a:xfrm>
            <a:off x="1051560" y="3959352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想每轮都看到单灯跑？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loop() 里的顺序换成：</a:t>
            </a:r>
            <a:endParaRPr lang="en-US" sz="1250" dirty="0"/>
          </a:p>
        </p:txBody>
      </p:sp>
      <p:sp>
        <p:nvSpPr>
          <p:cNvPr id="93" name="Shape 89"/>
          <p:cNvSpPr/>
          <p:nvPr/>
        </p:nvSpPr>
        <p:spPr>
          <a:xfrm>
            <a:off x="4206240" y="4091940"/>
            <a:ext cx="4361688" cy="347472"/>
          </a:xfrm>
          <a:prstGeom prst="roundRect">
            <a:avLst>
              <a:gd name="adj" fmla="val 2105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4334256" y="4166362"/>
            <a:ext cx="4105656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实验结果：8 盏灯接力闪亮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上传程序后，灯一盏接一盏亮起又熄灭；改一改 flash_speed，“水流”就会变快或变慢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8 个 LED 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38688"/>
            <a:ext cx="4718304" cy="26547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原指南实物照片：8 个 LED 接 UNO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23560" y="123444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7698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86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27064" y="1371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小挑战：心形流水灯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227064" y="168249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原指南的彩蛋：把 LED 摆成心形，做一盏送给重要的人。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623560" y="256032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80644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06440" y="303580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0644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190488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改成 300 慢慢流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改成 5 快到像全亮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06440" y="354787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064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190488" y="3511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数组倒过来写成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{9,8,…,2}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水流方向就反过来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806440" y="4059936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80644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190488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里的顺序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每轮都有单灯跑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管“光”，蜂鸣器管“声”。还是用 digitalWrite()：先让有源蜂鸣器“滴滴”响，再让无源蜂鸣器唱出两种音调——频率对上乐谱，就能演奏音乐。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 vs 无源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→ 9 号脚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开关的快慢 = 音调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听出两种声音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认识蜂鸣器：有源和无源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“源”指的是内部振荡器，不是电源——有源通电就响，无源要 Arduino 替它打拍子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40280" y="1234440"/>
            <a:ext cx="29032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buzzer_active_modu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6712" y="1344168"/>
            <a:ext cx="850356" cy="12435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00700" y="1234440"/>
            <a:ext cx="29032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9" name="Image 1" descr="buzzer_passive_modu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635" y="1344168"/>
            <a:ext cx="1565350" cy="124358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11480" y="1234440"/>
            <a:ext cx="132588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57784" y="13624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“源”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557784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振荡器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57784" y="22585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不是电源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83210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360420"/>
                <a:gridCol w="33604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有源蜂鸣器（黑色）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无源蜂鸣器（蓝色）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内部振荡器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通电以后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不响，要喂 2～5 kHz 方波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固定一种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随频率变化，能“唱歌”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程序怎么写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响，LOW 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快速来回切换 HIGH / LOW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三根针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 · V · 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I/O · VCC · GND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接线：S 接 9 号脚，两种蜂鸣器接法一样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接 5V、G 接 GND、S 接 9 号脚——测完有源蜂鸣器，换上无源的，线一根都不用动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黄线 9 → S · 红线 5V → V · 黑线 GND → 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648" y="1344168"/>
            <a:ext cx="5015464" cy="21122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493008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原指南接线图：黄线 9 → S · 红线 5V → V · 黑线 GND → G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34440"/>
          <a:ext cx="2788920" cy="914400"/>
        </p:xfrm>
        <a:graphic>
          <a:graphicData uri="http://schemas.openxmlformats.org/drawingml/2006/table">
            <a:tbl>
              <a:tblPr/>
              <a:tblGrid>
                <a:gridCol w="1533906"/>
                <a:gridCol w="125501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蜂鸣器模块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5V（VCC）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943600" y="2679192"/>
            <a:ext cx="2788920" cy="1161288"/>
          </a:xfrm>
          <a:prstGeom prst="roundRect">
            <a:avLst>
              <a:gd name="adj" fmla="val 944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089904" y="28254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08" y="2904500"/>
            <a:ext cx="171176" cy="1711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47104" y="281635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接法完全一样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547104" y="3127248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三根针：信号、电源、地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换模块，线不用动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11480" y="4114800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76072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1435608" y="4206240"/>
            <a:ext cx="13634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435608" y="4206240"/>
            <a:ext cx="136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主板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872232" y="4206240"/>
            <a:ext cx="6202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2872232" y="4206240"/>
            <a:ext cx="620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565652" y="4206240"/>
            <a:ext cx="93319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565652" y="4206240"/>
            <a:ext cx="933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0" y="4206240"/>
            <a:ext cx="13914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0" y="4206240"/>
            <a:ext cx="1391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有源蜂鸣器模块 ×1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036564" y="4206240"/>
            <a:ext cx="13914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036564" y="4206240"/>
            <a:ext cx="1391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无源蜂鸣器模块 ×1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501128" y="4206240"/>
            <a:ext cx="7599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01128" y="4206240"/>
            <a:ext cx="75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有源蜂鸣器代码：让它“滴——滴——”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号脚输出 HIGH 就响，输出 LOW 就停，各持续 1 秒，然后不停循环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active_buzzer.ino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 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2141220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2339848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56016" y="2339848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935732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134360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//sound production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332988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3531616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531616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" y="3730244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730244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3928872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623560" y="160020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160020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293612" y="1591056"/>
            <a:ext cx="24389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9 号脚起名 buzzer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以后换引脚只改这里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23560" y="232943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232943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293612" y="2320290"/>
            <a:ext cx="243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设为输出：Arduino 来发号施令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623560" y="3123946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23560" y="3123946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9–10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515608" y="3114802"/>
            <a:ext cx="221691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HIGH：通电就响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 1 秒（1000 毫秒）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623560" y="359638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23560" y="359638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11–12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592824" y="3587242"/>
            <a:ext cx="213969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LOW：声音停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安静 1 秒后 loop() 从头再来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有源蜂鸣器结果：只有一种音调的“滴滴”声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有源蜂鸣器只能发出一个固定频率的声音——程序能控制的只是“响多久、停多久”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有源蜂鸣器模块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04" y="1344168"/>
            <a:ext cx="3791712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原指南实物照片：有源蜂鸣器模块接 UNO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12080" y="12344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583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38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15584" y="13716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815584" y="168249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有源蜂鸣器发出只有一个频率的“滴滴”声。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212080" y="237744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394960" y="2468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一个循环 = 2 秒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394960" y="2779776"/>
            <a:ext cx="157734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972300" y="2779776"/>
            <a:ext cx="15773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94960" y="2779776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 · 响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972300" y="2779776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 · 停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3145536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972300" y="3145536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12080" y="37033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5838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88" y="3928628"/>
            <a:ext cx="171176" cy="171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15584" y="3840480"/>
            <a:ext cx="2770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试一试：两个 delay 都改成 200，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变成急促的“嘀嘀嘀”，像倒车雷达。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声音的原理：开关越快，音调越高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每秒“开-关”多少次就叫频率，单位赫兹（Hz）——像拨动桌边的钢尺，振得越快，音调越高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441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 8 毫秒里，开关的快慢不同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 2 ms + 低 2 ms = 周期 4 ms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 Hz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（低沉）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118872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21031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25603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320040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21031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25603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" y="2011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76072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788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 0.5 ms + 低 0.5 ms = 周期 1 ms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Hz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（尖细）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V="1">
            <a:off x="11887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4018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4018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169164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9164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4310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4310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19456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9456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460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4602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269748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69748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94894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4894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320040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0040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5186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45186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37033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70332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5478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5478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420624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0624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45770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45770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470916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0916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9606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6062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76072" y="3108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76072" y="3566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188720" y="3840480"/>
            <a:ext cx="4133088" cy="91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5" name="Text 52"/>
          <p:cNvSpPr txBox="1"/>
          <p:nvPr/>
        </p:nvSpPr>
        <p:spPr>
          <a:xfrm>
            <a:off x="91440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92024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292608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393192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493776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ms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594360" y="42062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开关越快 → 周期越短 → 频率越高 → 音调越尖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5760720" y="123444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897880" y="1678940"/>
            <a:ext cx="6766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 =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6629400" y="1524508"/>
            <a:ext cx="1402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629400" y="1805940"/>
            <a:ext cx="1402080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629400" y="1833372"/>
            <a:ext cx="1402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周期（毫秒）</a:t>
            </a:r>
            <a:endParaRPr lang="en-US" sz="1600" dirty="0"/>
          </a:p>
        </p:txBody>
      </p:sp>
      <p:sp>
        <p:nvSpPr>
          <p:cNvPr id="66" name="Text 63"/>
          <p:cNvSpPr txBox="1"/>
          <p:nvPr/>
        </p:nvSpPr>
        <p:spPr>
          <a:xfrm>
            <a:off x="8086344" y="1678940"/>
            <a:ext cx="3352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Hz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5760720" y="2651760"/>
            <a:ext cx="2971800" cy="82296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5943600" y="27614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4 ms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943600" y="3035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÷ 4 = 250 Hz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5760720" y="3749040"/>
            <a:ext cx="2971800" cy="82296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943600" y="38587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1 ms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943600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÷ 1 = 1000 Hz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无源蜂鸣器代码（1/2）：frequence_1() 想发 1 kHz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无源蜂鸣器要靠程序“打拍子”：开 0.5 毫秒、关 0.5 毫秒，重复 800 次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2920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129844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//# define frequence_2()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42592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1942592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frequence_1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1k HZ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538476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538476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737104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2935732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2935732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//sound production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134360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134360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3332988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332988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" y="3531616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531616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3730244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56016" y="3928872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71500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71500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71500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529832" y="1591056"/>
            <a:ext cx="220268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蜂鸣器还是接 9 号脚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行被注释掉，不起作用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715000" y="205435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15000" y="205435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385052" y="2045208"/>
            <a:ext cx="2347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高音函数，注释说要发 1 kHz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715000" y="252806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715000" y="252806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85052" y="2518918"/>
            <a:ext cx="23474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 800 次“开-关”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次数决定响多久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715000" y="2982214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715000" y="2982214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8–11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607048" y="2973070"/>
            <a:ext cx="212547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 0.5 + 关 0.5 毫秒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周期 1 毫秒（1 kHz）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注意：delay(0.5) 有坑！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无源蜂鸣器代码（2/2）：低音函数和主程序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frequence_2() 开 2 毫秒、关 2 毫秒，音调更低；loop() 让两种音调轮流播放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7200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2984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15–25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8492" y="1545336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frequence_2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250 HZ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28492" y="1726692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8492" y="1908048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28492" y="2089404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28492" y="2270760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28492" y="2452116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//sound production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633472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28492" y="2633472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28492" y="2814828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2996184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28492" y="2996184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8492" y="3177540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28492" y="3358896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11480" y="39319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1480" y="39319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158748" y="3922776"/>
            <a:ext cx="382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低音函数，注释写 250 Hz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1148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148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21–23 行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1380744" y="42519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4 毫秒 → 250 Hz，约响 3.2 秒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257800" y="12344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385816" y="12984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buzzer.ino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647688" y="12984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26–36 行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534924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674812" y="1545336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534924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674812" y="1726692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303520" y="1908048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34924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74812" y="1908048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534924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5674812" y="2089404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534924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674812" y="2270760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534924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674812" y="2452116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5303520" y="2633472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34924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5674812" y="2633472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frequence_1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5303520" y="2814828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34924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5674812" y="2814828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5303520" y="2996184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34924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674812" y="2996184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frequence_2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5303520" y="3177540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34924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5674812" y="3177540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534924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5674812" y="3358896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5257800" y="39319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257800" y="39319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28 行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6005068" y="3922776"/>
            <a:ext cx="2727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号脚设为输出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525780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25780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32–35 行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6227064" y="425196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高音 → 停 1 秒 → 低音 → 停 1 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小心：delay(0.5) 其实是 delay(0)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只认整数毫秒，0.5 会被直接砍成 0——frequence_1() 几乎不等待，基本听不到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486814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原指南写法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11096"/>
            <a:ext cx="3657600" cy="353568"/>
          </a:xfrm>
          <a:prstGeom prst="roundRect">
            <a:avLst>
              <a:gd name="adj" fmla="val 206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" y="1984248"/>
            <a:ext cx="340156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被截成 delay(0)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423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只收整数毫秒：0.5 变成 0，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几乎不等待。800 次开关一眨眼就做完，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频率远高于 1 kHz，人耳基本听不到。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92040" y="1399032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822" y="1486814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85816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改成这样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892040" y="1911096"/>
            <a:ext cx="3657600" cy="353568"/>
          </a:xfrm>
          <a:prstGeom prst="roundRect">
            <a:avLst>
              <a:gd name="adj" fmla="val 206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020056" y="1984248"/>
            <a:ext cx="340156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0.5 毫秒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92040" y="2423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delayMicroseconds() 按微秒计时：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微秒 = 0.5 毫秒。开 0.5 + 关 0.5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1 毫秒 → 正好 1 kHz，800 次约 0.8 秒。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11480" y="35661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2788920" y="35661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3383280" y="35661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5204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毫秒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3520440" y="4023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的单位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760720" y="35661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6355080" y="35661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922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1000000 微秒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6492240" y="4023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delayMicroseconds() 的单位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无源蜂鸣器结果：两种不同的蜂鸣声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接线不变，把有源蜂鸣器换成无源蜂鸣器，就能听到两种频率不一样的声音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06" y="1344168"/>
            <a:ext cx="2014347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1234440"/>
            <a:ext cx="5532120" cy="1005840"/>
          </a:xfrm>
          <a:prstGeom prst="roundRect">
            <a:avLst>
              <a:gd name="adj" fmla="val 1090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4670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0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03904" y="13716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803904" y="1682496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接线不变，直接用无源蜂鸣器替换有源蜂鸣器；无源蜂鸣器没有正负极之分；可以听到两个频率不一样的蜂鸣声。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200400" y="2514600"/>
            <a:ext cx="553212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383280" y="2606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一轮大约 6 秒（改用 delayMicroseconds 之后）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383280" y="2935224"/>
            <a:ext cx="688848" cy="347472"/>
          </a:xfrm>
          <a:prstGeom prst="rect">
            <a:avLst/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383280" y="2935224"/>
            <a:ext cx="68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kHz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383280" y="3319272"/>
            <a:ext cx="68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 秒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072128" y="2935224"/>
            <a:ext cx="8610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072128" y="2935224"/>
            <a:ext cx="861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072128" y="3319272"/>
            <a:ext cx="861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33188" y="2935224"/>
            <a:ext cx="2755392" cy="347472"/>
          </a:xfrm>
          <a:prstGeom prst="rect">
            <a:avLst/>
          </a:prstGeom>
          <a:solidFill>
            <a:srgbClr val="2D2D2D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933188" y="2935224"/>
            <a:ext cx="2755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 Hz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933188" y="3319272"/>
            <a:ext cx="2755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秒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688580" y="2935224"/>
            <a:ext cx="8610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688580" y="2935224"/>
            <a:ext cx="861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688580" y="3319272"/>
            <a:ext cx="861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200400" y="3840480"/>
            <a:ext cx="553212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34670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08" y="4065788"/>
            <a:ext cx="171176" cy="17117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3803904" y="3977640"/>
            <a:ext cx="4782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对比听一听：保留原来的 delay(0.5)，第一段几乎听不到，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只剩低沉的 250 Hz。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动手改一改：做一个会变调的蜂鸣器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每次只改一个数字，上传后听一听——耳朵就是最好的“测量仪器”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7160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33272" y="1371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音调变高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80136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2376" y="187452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原来是 delay(2)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18541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低音函数里两个 delay(2) 都改成 delay(1)：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2 毫秒 → 500 Hz，音调升高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37160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30952" y="1371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响得更久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92040" y="180136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0056" y="187452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218541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低音函数的 800 次改成 1600 次：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响的时间翻倍，3.2 秒 → 6.4 秒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17754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1775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33272" y="31775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声光联动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" y="360730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2376" y="368046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399135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流水灯占了 D2～D9，蜂鸣器改接 10 号脚：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程序里只改这一行，不用到处找 9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92040" y="317754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31775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330952" y="31775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进阶预告：tone()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892040" y="360730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0056" y="368046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4892040" y="399135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自带的发声函数：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262 Hz（中音 do）响 500 毫秒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05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用一块磁铁当“钥匙”：磁铁靠近，灯亮、蜂鸣器响；磁铁拿开，全部停下。新学 digitalRead() 读开关的 0 / 1，再用 if / else 做判断。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认识元件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磁铁靠近就接通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三个模块 · 三张接线表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 + if / else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看灯、听声、读串口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认识小磁簧开关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磁簧开关是一个用磁铁“隔空按”的开关：磁铁靠近就接通，磁铁拿开就断开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和按键开关是亲戚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81912"/>
            <a:ext cx="4754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普通按键要用手指按下去才接通；磁簧开关不用碰它，磁铁一靠近，它自己就接通了。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237105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2371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2265124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玻璃管里封着两片铁镍簧片，中间只隔几微米的缝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2639441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26394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" y="2667460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平时两片簧片不接触，电路断开——这叫“常开”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" y="3041777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30417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" y="3069796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磁铁靠近：簧片被磁化、互相吸住 → 电路接通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11480" y="3444113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" y="3444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" y="3472132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磁铁移开：簧片靠自身弹力弹开 → 电路断开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11480" y="3992753"/>
            <a:ext cx="4754880" cy="579247"/>
          </a:xfrm>
          <a:prstGeom prst="roundRect">
            <a:avLst>
              <a:gd name="adj" fmla="val 1894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" y="41086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4192034"/>
            <a:ext cx="180685" cy="18068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14984" y="3992753"/>
            <a:ext cx="4023360" cy="57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小知识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管内充有惰性气体（如氮气）；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触点镀了很硬的铑、钌，开关次数更多、寿命更长。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0" y="1234440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25" name="Image 1" descr="小磁簧开关模块：左上方的玻璃管就是磁簧开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540261"/>
            <a:ext cx="3026664" cy="245159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596128" y="422452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小磁簧开关模块：左上方的玻璃管就是磁簧开关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工作过程图解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没有磁铁 → 断开；磁铁靠近 → 吸合接通；磁铁移开 → 弹开断开，全靠磁力和弹力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074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没有磁铁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5820" y="1828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" y="195224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08760" y="208940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断开：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两片簧片之间有缝，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电流过不去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26664" y="2020824"/>
            <a:ext cx="210312" cy="91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56432" y="1380744"/>
            <a:ext cx="292608" cy="29260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56432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726180" y="1828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70148" y="1952244"/>
            <a:ext cx="790956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1952244"/>
            <a:ext cx="493776" cy="57607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89120" y="2031797"/>
            <a:ext cx="493776" cy="57607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82896" y="2089404"/>
            <a:ext cx="790956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03420" y="1952244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69080" y="2331720"/>
            <a:ext cx="50292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2331720"/>
            <a:ext cx="502920" cy="246888"/>
          </a:xfrm>
          <a:prstGeom prst="rect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69080" y="23317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23317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456432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吸合：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簧片被磁化、互相吸住，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电路接通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907024" y="2020824"/>
            <a:ext cx="210312" cy="91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17220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36792" y="138074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6792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72084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磁铁移开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606540" y="1828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0508" y="195224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69480" y="208940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43800" y="2386584"/>
            <a:ext cx="502920" cy="246888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46720" y="2386584"/>
            <a:ext cx="502920" cy="246888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43800" y="23865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046720" y="23865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949440" y="2510028"/>
            <a:ext cx="5029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336792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弹开：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簧片靠自身弹力分开，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电路又断开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生活里的磁簧开关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11480" y="3867912"/>
            <a:ext cx="2560320" cy="704088"/>
          </a:xfrm>
          <a:prstGeom prst="roundRect">
            <a:avLst>
              <a:gd name="adj" fmla="val 155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7784" y="40279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56" y="4120104"/>
            <a:ext cx="199705" cy="199705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1051560" y="3867912"/>
            <a:ext cx="18105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门窗报警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开门时磁铁离开 → 报警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3291840" y="3867912"/>
            <a:ext cx="2560320" cy="704088"/>
          </a:xfrm>
          <a:prstGeom prst="roundRect">
            <a:avLst>
              <a:gd name="adj" fmla="val 155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438144" y="40279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316" y="4120104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3931920" y="3867912"/>
            <a:ext cx="18105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合盖检测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盖里的磁铁靠近 → 熄屏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6172200" y="3867912"/>
            <a:ext cx="2560320" cy="704088"/>
          </a:xfrm>
          <a:prstGeom prst="roundRect">
            <a:avLst>
              <a:gd name="adj" fmla="val 155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318504" y="40279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76" y="4120104"/>
            <a:ext cx="199705" cy="199705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6812280" y="3867912"/>
            <a:ext cx="18105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自行车码表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轮上磁铁转一圈 → 计一次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实验目的与实验原理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用磁铁去“按”磁簧开关，让 Arduino 读到开关状态，再控制 LED 和蜂鸣器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1188720"/>
          </a:xfrm>
          <a:prstGeom prst="roundRect">
            <a:avLst>
              <a:gd name="adj" fmla="val 923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2506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学习磁簧开关的特性和工作原理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使用小磁簧开关控制 LED 灯的亮灭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32020" y="1234440"/>
            <a:ext cx="4000500" cy="118872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783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328" y="1459748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5524" y="1371600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335524" y="1682496"/>
            <a:ext cx="32506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没有磁铁时，开关处于断开状态；磁铁靠近，磁感线穿过开关使它导通——LED 灯亮起来，蜂鸣器响。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11480" y="2697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从磁铁到蜂鸣器：一条信号链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1148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7784" y="31912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5778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5778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5778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磁感线穿过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玻璃管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306574" y="3808476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257175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18054" y="31912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71805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271805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簧片吸合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271805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开关接通，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连到 GND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466844" y="3808476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473202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78324" y="3191256"/>
            <a:ext cx="347472" cy="34747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87832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87832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 0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487832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digitalRead(12)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0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627114" y="3808476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689229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038594" y="31912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03859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703859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 + 响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703859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11、13 号脚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输出高电平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数字输入：模块只回答 0 或 1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模块里有个上拉电阻：簧片断开时 OUT 是高电平（1），簧片吸合时 OUT 接到 GND（0）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057400" cy="333756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62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没有磁铁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78408" y="1984248"/>
            <a:ext cx="29260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4712" y="1984248"/>
            <a:ext cx="91" cy="14630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3272" y="2130552"/>
            <a:ext cx="1828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24712" y="2587752"/>
            <a:ext cx="91" cy="219456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4420" y="2756916"/>
            <a:ext cx="100584" cy="1005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4712" y="2807208"/>
            <a:ext cx="56692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197864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746504" y="269748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号脚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124712" y="2807208"/>
            <a:ext cx="91" cy="23774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8136" y="300837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88136" y="3447288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124712" y="3118104"/>
            <a:ext cx="274320" cy="365760"/>
          </a:xfrm>
          <a:prstGeom prst="line">
            <a:avLst/>
          </a:prstGeom>
          <a:noFill/>
          <a:ln w="31750">
            <a:solidFill>
              <a:srgbClr val="2D2D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124712" y="3483864"/>
            <a:ext cx="91" cy="23774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" y="3721608"/>
            <a:ext cx="36576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5840" y="3794760"/>
            <a:ext cx="237744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9848" y="3867912"/>
            <a:ext cx="10972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80744" y="3685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" y="4032504"/>
            <a:ext cx="17647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7784" y="4032504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约 5V → 读到 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743200" y="1234440"/>
            <a:ext cx="2057400" cy="3337560"/>
          </a:xfrm>
          <a:prstGeom prst="roundRect">
            <a:avLst>
              <a:gd name="adj" fmla="val 5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26080" y="1362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磁铁靠近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3136392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310128" y="1984248"/>
            <a:ext cx="29260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56432" y="1984248"/>
            <a:ext cx="91" cy="14630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364992" y="2130552"/>
            <a:ext cx="1828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816352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56432" y="2587752"/>
            <a:ext cx="91" cy="219456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06140" y="2756916"/>
            <a:ext cx="100584" cy="1005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456432" y="2807208"/>
            <a:ext cx="56692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3529584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4078224" y="269748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号脚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456432" y="2807208"/>
            <a:ext cx="91" cy="237744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19856" y="3008376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19856" y="3447288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3456432" y="3044952"/>
            <a:ext cx="91" cy="438912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816352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767328" y="30815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721" y="3164921"/>
            <a:ext cx="180685" cy="180685"/>
          </a:xfrm>
          <a:prstGeom prst="rect">
            <a:avLst/>
          </a:prstGeom>
        </p:spPr>
      </p:pic>
      <p:sp>
        <p:nvSpPr>
          <p:cNvPr id="49" name="Shape 45"/>
          <p:cNvSpPr/>
          <p:nvPr/>
        </p:nvSpPr>
        <p:spPr>
          <a:xfrm>
            <a:off x="3456432" y="3483864"/>
            <a:ext cx="91" cy="237744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273552" y="3721608"/>
            <a:ext cx="365760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337560" y="3794760"/>
            <a:ext cx="237744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401568" y="3867912"/>
            <a:ext cx="109728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712464" y="3685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2889504" y="4032504"/>
            <a:ext cx="1764792" cy="40233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889504" y="4032504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约 0V → 读到 0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5120640" y="12344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为什么“有磁铁”反而是 0？</a:t>
            </a:r>
            <a:endParaRPr lang="en-US" sz="1400" dirty="0"/>
          </a:p>
        </p:txBody>
      </p:sp>
      <p:sp>
        <p:nvSpPr>
          <p:cNvPr id="57" name="Text 53"/>
          <p:cNvSpPr txBox="1"/>
          <p:nvPr/>
        </p:nvSpPr>
        <p:spPr>
          <a:xfrm>
            <a:off x="5120640" y="1581912"/>
            <a:ext cx="361188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模块里有一个电阻把 OUT 接到 5V，叫“上拉”。簧片断开时，OUT 被拉成高电平；簧片一吸合，OUT 直接连到 GND，变成低电平。</a:t>
            </a:r>
            <a:endParaRPr lang="en-US" sz="12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511076"/>
          <a:ext cx="3611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18872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簧片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 电平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digitalRead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远离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断开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高（约 5V）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靠近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吸合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低（约 0V）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9" name="Shape 54"/>
          <p:cNvSpPr/>
          <p:nvPr/>
        </p:nvSpPr>
        <p:spPr>
          <a:xfrm>
            <a:off x="5120640" y="3718084"/>
            <a:ext cx="3611880" cy="853916"/>
          </a:xfrm>
          <a:prstGeom prst="roundRect">
            <a:avLst>
              <a:gd name="adj" fmla="val 1285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266944" y="397130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337" y="4054699"/>
            <a:ext cx="180685" cy="180685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5742432" y="3718084"/>
            <a:ext cx="2880360" cy="8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记住“低电平有效”：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有磁铁 = 0，没磁铁 = 1，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所以程序里写 if(val==0)。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三个模块各管一件事：磁簧开关负责“听”，LED 和蜂鸣器负责“说”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组件清单（原指南）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45920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173736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56" y="1816364"/>
            <a:ext cx="171176" cy="171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8408" y="16459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88920" y="1645920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07792" y="173736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96" y="1816364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55848" y="16459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11480" y="2432304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0352" y="2523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6" y="2602748"/>
            <a:ext cx="171176" cy="171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8408" y="243230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788920" y="2432304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907792" y="2523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796" y="2602748"/>
            <a:ext cx="171176" cy="171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355848" y="243230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 ×1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11480" y="3218688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30352" y="331012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56" y="3389132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8408" y="321868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×1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2788920" y="3218688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907792" y="331012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796" y="3389132"/>
            <a:ext cx="171176" cy="17117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355848" y="321868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 ×1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11480" y="4005072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30352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356" y="4175516"/>
            <a:ext cx="171176" cy="17117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78408" y="400507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2788920" y="4005072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2907792" y="4096512"/>
            <a:ext cx="329184" cy="3291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6796" y="4175516"/>
            <a:ext cx="171176" cy="17117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355848" y="400507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另备：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一块小磁铁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5257800" y="1234440"/>
            <a:ext cx="347472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5422392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4564" y="1491204"/>
            <a:ext cx="199705" cy="19970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934456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</a:t>
            </a:r>
            <a:endParaRPr lang="en-US" sz="1400" dirty="0"/>
          </a:p>
        </p:txBody>
      </p:sp>
      <p:sp>
        <p:nvSpPr>
          <p:cNvPr id="43" name="Shape 31"/>
          <p:cNvSpPr/>
          <p:nvPr/>
        </p:nvSpPr>
        <p:spPr>
          <a:xfrm>
            <a:off x="7325360" y="1481328"/>
            <a:ext cx="455168" cy="2413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7325360" y="1481328"/>
            <a:ext cx="45516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5934456" y="1801368"/>
            <a:ext cx="263347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感知磁铁，用 0 / 1 告诉 Arduino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5257800" y="2438400"/>
            <a:ext cx="347472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5422392" y="2602992"/>
            <a:ext cx="384048" cy="384048"/>
          </a:xfrm>
          <a:prstGeom prst="ellipse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4564" y="2695164"/>
            <a:ext cx="199705" cy="1997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5934456" y="2602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</a:t>
            </a:r>
            <a:endParaRPr lang="en-US" sz="1400" dirty="0"/>
          </a:p>
        </p:txBody>
      </p:sp>
      <p:sp>
        <p:nvSpPr>
          <p:cNvPr id="50" name="Shape 37"/>
          <p:cNvSpPr/>
          <p:nvPr/>
        </p:nvSpPr>
        <p:spPr>
          <a:xfrm>
            <a:off x="6834632" y="2685288"/>
            <a:ext cx="455168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6834632" y="2685288"/>
            <a:ext cx="45516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000" dirty="0"/>
          </a:p>
        </p:txBody>
      </p:sp>
      <p:sp>
        <p:nvSpPr>
          <p:cNvPr id="52" name="Text 39"/>
          <p:cNvSpPr txBox="1"/>
          <p:nvPr/>
        </p:nvSpPr>
        <p:spPr>
          <a:xfrm>
            <a:off x="5934456" y="3005328"/>
            <a:ext cx="263347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号脚给高电平，灯就亮</a:t>
            </a:r>
            <a:endParaRPr lang="en-US" sz="1200" dirty="0"/>
          </a:p>
        </p:txBody>
      </p:sp>
      <p:sp>
        <p:nvSpPr>
          <p:cNvPr id="53" name="Shape 40"/>
          <p:cNvSpPr/>
          <p:nvPr/>
        </p:nvSpPr>
        <p:spPr>
          <a:xfrm>
            <a:off x="5257800" y="3642360"/>
            <a:ext cx="347472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5422392" y="3806952"/>
            <a:ext cx="384048" cy="384048"/>
          </a:xfrm>
          <a:prstGeom prst="ellipse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4564" y="3899124"/>
            <a:ext cx="199705" cy="199705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5934456" y="3806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</a:t>
            </a:r>
            <a:endParaRPr lang="en-US" sz="1400" dirty="0"/>
          </a:p>
        </p:txBody>
      </p:sp>
      <p:sp>
        <p:nvSpPr>
          <p:cNvPr id="57" name="Shape 43"/>
          <p:cNvSpPr/>
          <p:nvPr/>
        </p:nvSpPr>
        <p:spPr>
          <a:xfrm>
            <a:off x="6969760" y="3889248"/>
            <a:ext cx="455168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6969760" y="3889248"/>
            <a:ext cx="45516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5934456" y="4209288"/>
            <a:ext cx="263347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号脚给高电平，它就响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照原指南三张表接线：开关信号进 12 号脚，LED 模块接 11，蜂鸣器接 13，GND 都接 UNO 的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4358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43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234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小磁簧开关（输入）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81912"/>
          <a:ext cx="2560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小磁簧开关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VCC(R)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GND(G)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OUT(Y)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91840" y="124358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91840" y="1243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1234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模块（输出）</a:t>
            </a:r>
            <a:endParaRPr lang="en-US" sz="130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581912"/>
          <a:ext cx="2560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模块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172200" y="124358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72200" y="1243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510528" y="1234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有源蜂鸣器（输出）</a:t>
            </a:r>
            <a:endParaRPr lang="en-US" sz="1300" dirty="0"/>
          </a:p>
        </p:txBody>
      </p:sp>
      <p:graphicFrame>
        <p:nvGraphicFramePr>
          <p:cNvPr id="16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81912"/>
          <a:ext cx="2560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有源蜂鸣器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411480" y="3118104"/>
            <a:ext cx="2560320" cy="1453896"/>
          </a:xfrm>
          <a:prstGeom prst="roundRect">
            <a:avLst>
              <a:gd name="adj" fmla="val 75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94360" y="32826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3361700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51560" y="3282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模块上的标记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94360" y="3703320"/>
            <a:ext cx="2194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模块上印的 S 就是 OUT，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中间脚是 VCC，− 是 GND。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291840" y="3118104"/>
            <a:ext cx="2560320" cy="1453896"/>
          </a:xfrm>
          <a:prstGeom prst="roundRect">
            <a:avLst>
              <a:gd name="adj" fmla="val 75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474720" y="32826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24" y="3361700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931920" y="3282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图里用 RGB 灯模块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3474720" y="3703320"/>
            <a:ext cx="2194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接线图用 RGB 灯模块代替，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号脚接它的 R 脚，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所以亮的是红灯。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72200" y="3118104"/>
            <a:ext cx="2560320" cy="1453896"/>
          </a:xfrm>
          <a:prstGeom prst="roundRect">
            <a:avLst>
              <a:gd name="adj" fmla="val 75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355080" y="32826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84" y="3361700"/>
            <a:ext cx="171176" cy="17117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12280" y="3282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蜂鸣器分正负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6355080" y="3703320"/>
            <a:ext cx="2194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脚（接线图里的红线头）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 13，另一脚接 GND。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接线图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从上到下找三个模块：上 RGB 灯模块、中 磁簧开关、下 蜂鸣器；黄线是信号，红线 5V，黑线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22" y="1344168"/>
            <a:ext cx="3572357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123444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55464" y="15346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55464" y="153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276088" y="1307592"/>
            <a:ext cx="12801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灯模块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 LED 模块用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665976" y="14523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→ R 脚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16992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 → − 脚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09160" y="243840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5464" y="2738628"/>
            <a:ext cx="329184" cy="3291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55464" y="2738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276088" y="2511552"/>
            <a:ext cx="12801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665976" y="25328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→ S 脚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665976" y="27797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 → 中间脚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665976" y="30266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 → − 脚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09160" y="364236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55464" y="394258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55464" y="3942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276088" y="3715512"/>
            <a:ext cx="12801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65976" y="38602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→ + 脚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665976" y="41071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 → − 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新语法①：digitalRead() 与 Serial.println()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digitalRead() 问开关“通了没有”，只回答 0 或 1；Serial.println() 把答案显示在电脑上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digitalRead(引脚)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911096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像问开关一句：“你现在通了没有？”它只回答两种：1（高电平）或 0（低电平）。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475675"/>
            <a:ext cx="3634740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56711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当“耳朵”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40664" y="275380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或 1</a:t>
            </a:r>
            <a:endParaRPr lang="en-US" sz="10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14814"/>
          <a:ext cx="36347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914400"/>
                <a:gridCol w="12115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回答什么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适合读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digitalRead()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或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开关、按键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analogRead()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0～1023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旋钮、光线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94360" y="4147503"/>
            <a:ext cx="3634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一个读“有没有”，一个读“有多少”（实验一）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1490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072" y="1491204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26964" y="1399032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Serial.println(val)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914900" y="1911096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串口是 Arduino 和电脑聊天的窗口。把 val 打印出来，看不见的开关状态就“看得见”了。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914900" y="2457387"/>
            <a:ext cx="36347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933188" y="2475675"/>
            <a:ext cx="359816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042916" y="2493963"/>
            <a:ext cx="2180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732270" y="2493963"/>
            <a:ext cx="1689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097780" y="287801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097780" y="306089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097780" y="324377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097780" y="342665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5097780" y="360953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600700" y="2878010"/>
            <a:ext cx="283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没有磁铁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600700" y="3243770"/>
            <a:ext cx="283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磁铁靠近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600700" y="3609530"/>
            <a:ext cx="283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磁铁拿开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4914900" y="4048443"/>
            <a:ext cx="3634740" cy="43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打印完自动换行；打开方法：IDE 右上角放大镜图标，波特率选 9600。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新语法②：if / else 与 ==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 是程序里的岔路口：条件成立走一条路，不成立走另一条；比较“相等”要写两个等号 ==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148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像走到岔路口看路牌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92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路牌上写着条件：成立就走左边，不成立就走右边，两条路只能选一条。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600200" y="2423160"/>
            <a:ext cx="1737360" cy="67665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600200" y="242316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 0 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 flipH="1">
            <a:off x="1371600" y="2761488"/>
            <a:ext cx="22860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71600" y="2761488"/>
            <a:ext cx="91" cy="667512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337560" y="2761488"/>
            <a:ext cx="22860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66160" y="2761488"/>
            <a:ext cx="91" cy="667512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1444752" y="28163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907792" y="28163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不成立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4290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4944" y="342900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里的代码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灯亮、蜂鸣器响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834640" y="34290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889504" y="342900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里的代码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全部关掉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594360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可以不写：不写就是“不成立时什么也不做”。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1234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写法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46320" y="1563624"/>
            <a:ext cx="3886200" cy="1205230"/>
          </a:xfrm>
          <a:prstGeom prst="roundRect">
            <a:avLst>
              <a:gd name="adj" fmla="val 607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992624" y="165506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(条件) {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4992624" y="185953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条件成立：做这里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4992624" y="206400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4992624" y="226847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不成立：做这里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4992624" y="247294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46320" y="3043174"/>
            <a:ext cx="1805940" cy="1528826"/>
          </a:xfrm>
          <a:prstGeom prst="roundRect">
            <a:avLst>
              <a:gd name="adj" fmla="val 717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992624" y="318947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39" y="3264093"/>
            <a:ext cx="161666" cy="16166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394960" y="3189478"/>
            <a:ext cx="1165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 0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4992624" y="3610102"/>
            <a:ext cx="1513332" cy="8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两个等号是“比较”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问一句：val 等于 0 吗？答案只有“是”或“不是”。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926580" y="3043174"/>
            <a:ext cx="1805940" cy="1528826"/>
          </a:xfrm>
          <a:prstGeom prst="roundRect">
            <a:avLst>
              <a:gd name="adj" fmla="val 717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072884" y="3189478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499" y="3264093"/>
            <a:ext cx="161666" cy="16166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475220" y="3189478"/>
            <a:ext cx="1165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0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7072884" y="3610102"/>
            <a:ext cx="1513332" cy="8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一个等号是“赋值”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0 放进 val！写成 if(val=0)，条件永远不成立。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先准备四个“盒子”记住引脚号和读数，再在 setup() 里告诉 Arduino 谁是输入、谁是输出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reed_switch.ino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984248" y="12984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42592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1942592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56016" y="2538476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6016" y="2737104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3134360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56016" y="3134360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66344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6344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1–3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478272" y="1591056"/>
            <a:ext cx="325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给三个引脚起名字：11、13、12 号脚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663440" y="213080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663440" y="213080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333492" y="2121662"/>
            <a:ext cx="3399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val：装读数的盒子，先放一个 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663440" y="245999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663440" y="245999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333492" y="2450846"/>
            <a:ext cx="3399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setup()：通电后只运行一次，做准备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663440" y="278917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63440" y="278917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478272" y="2780030"/>
            <a:ext cx="325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LED、蜂鸣器设为输出：Arduino 去“说”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663440" y="312394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663440" y="312394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333492" y="3114802"/>
            <a:ext cx="3399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磁簧开关设为输入：Arduino 去“听”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663440" y="345313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663440" y="345313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410708" y="3443986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打开串口，速度 9600，准备和电脑聊天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663440" y="3946906"/>
            <a:ext cx="4069080" cy="625094"/>
          </a:xfrm>
          <a:prstGeom prst="roundRect">
            <a:avLst>
              <a:gd name="adj" fmla="val 175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809744" y="409321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748" y="4172214"/>
            <a:ext cx="171176" cy="171176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5266944" y="4084066"/>
            <a:ext cx="3319272" cy="34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起名字的好处：换引脚时只改第 1–3 行，下面的代码一字不动。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代码逐行看懂（2/2）：读、打印、判断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不停地重复三件事：读开关、把读数打印出来、按读数决定灯和蜂鸣器开还是关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reed_switch.ino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984248" y="12984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12–26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25320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15312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875280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3065272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255264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445256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635248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825240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4015232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205224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663440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663440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410708" y="1591056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loop()：里面的代码一遍又一遍地重复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663440" y="191109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663440" y="191109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410708" y="1901952"/>
            <a:ext cx="332181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12 号脚，结果存进 val：有磁铁是 0，没有磁铁是 1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663440" y="238353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663440" y="238353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5410708" y="2374392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val 打印到串口，一行一个数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663440" y="269443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663440" y="269443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410708" y="2685288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岔路口：val 等于 0 吗？（== 是比较）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663440" y="300532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663440" y="300532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18–19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5632704" y="2996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成立（有磁铁）：LED 亮、蜂鸣器响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663440" y="331622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663440" y="331622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5410708" y="3307080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否则（val 是 1，没有磁铁）……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4663440" y="362712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663440" y="362712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23–24 行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632704" y="361797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……LED 灭、蜂鸣器停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663440" y="419049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663440" y="419049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26 行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5410708" y="4181348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 结束，马上回到第 12 行再来一遍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程序流程图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把程序画成路线图：setup() 只走一次，loop() 一圈圈地“读 → 判断 → 输出”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图例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581912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9659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做一件事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331720"/>
            <a:ext cx="384048" cy="2743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6968" y="2350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做判断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48840" y="12618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4884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开始（通电）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26080" y="1627632"/>
            <a:ext cx="91" cy="20116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874520" y="182880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29384" y="1828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　只做一次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设引脚、开串口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926080" y="2395728"/>
            <a:ext cx="91" cy="219456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874520" y="2615184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29384" y="26151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digitalRead(12)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并打印到串口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926080" y="3218688"/>
            <a:ext cx="91" cy="219456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874520" y="3438144"/>
            <a:ext cx="2103120" cy="8412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74520" y="343814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 0 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977640" y="3858768"/>
            <a:ext cx="41148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023360" y="35661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89120" y="3557016"/>
            <a:ext cx="1554480" cy="603504"/>
          </a:xfrm>
          <a:prstGeom prst="roundRect">
            <a:avLst>
              <a:gd name="adj" fmla="val 12121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43984" y="3557016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亮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蜂鸣器响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 flipH="1">
            <a:off x="1508760" y="3858768"/>
            <a:ext cx="36576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1545336" y="35661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11480" y="3557016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" y="3557016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灭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蜂鸣器停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 flipV="1">
            <a:off x="5166360" y="2916936"/>
            <a:ext cx="91" cy="640080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3977640" y="2916936"/>
            <a:ext cx="1188720" cy="91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V="1">
            <a:off x="960120" y="2916936"/>
            <a:ext cx="91" cy="640080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0120" y="2916936"/>
            <a:ext cx="914400" cy="91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4087368" y="26243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 loop() 开头，重复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355080" y="1234440"/>
            <a:ext cx="2377440" cy="333756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37960" y="1362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对照代码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537960" y="1746504"/>
            <a:ext cx="85140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537960" y="1746504"/>
            <a:ext cx="85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5–11 行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setup()：只做一次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537960" y="2295144"/>
            <a:ext cx="93268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37960" y="2295144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14–15 行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537960" y="2542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读开关、打印读数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537960" y="2843784"/>
            <a:ext cx="69900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37960" y="2843784"/>
            <a:ext cx="699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537960" y="3090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 val 是不是 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537960" y="3392424"/>
            <a:ext cx="93268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537960" y="3392424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18–19 行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6537960" y="3639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是：LED 亮、蜂鸣器响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6537960" y="3941064"/>
            <a:ext cx="93268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537960" y="3941064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23–24 行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537960" y="4187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否：LED 灭、蜂鸣器停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磁铁靠近：开关输出低电平，LED 灯亮、蜂鸣器响；磁铁拿开：全部停下，串口里的数字跟着变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262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：磁铁靠近磁簧开关，RGB 灯亮红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28" y="1344168"/>
            <a:ext cx="3971784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306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原指南实物图：磁铁靠近磁簧开关，RGB 灯亮红光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57800" y="1234440"/>
            <a:ext cx="34747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276088" y="1252728"/>
            <a:ext cx="343814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85816" y="12710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串口监视器（示意）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995160" y="12710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1655064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40680" y="1857629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2060194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2262759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2465324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2667889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897880" y="1655064"/>
            <a:ext cx="2724912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没有磁铁：灯灭、不响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897880" y="2060194"/>
            <a:ext cx="2724912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磁铁靠近：灯亮、响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897880" y="2465324"/>
            <a:ext cx="2724912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磁铁拿开：全部停下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257800" y="3209544"/>
            <a:ext cx="3474720" cy="1362456"/>
          </a:xfrm>
          <a:prstGeom prst="roundRect">
            <a:avLst>
              <a:gd name="adj" fmla="val 805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04104" y="33558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108" y="3434852"/>
            <a:ext cx="171176" cy="17117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61304" y="334670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861304" y="3657600"/>
            <a:ext cx="2724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用一个磁铁靠近小磁簧开关，会使得小磁簧开关输出低电平，从而点亮 LED 灯，蜂鸣器响。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更方便的接法：Sensor V5.0 扩展板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扩展板把每个引脚都做成 G · V · S 三针一排，模块用杜邦线直插，不用面包板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扩展板接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61" y="1344168"/>
            <a:ext cx="2132838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原指南：扩展板接法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46120" y="123444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924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2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49624" y="1371600"/>
            <a:ext cx="4736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原指南：如果你的套件中有 Sensor V5.0 的扩展板，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按照下图（即左图）接线，更加方便。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246120" y="2221992"/>
            <a:ext cx="1645920" cy="1481328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29000" y="23865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004" y="2465588"/>
            <a:ext cx="171176" cy="171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8620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三针一排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429000" y="2825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每个数字脚旁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都有 G、V、S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三根针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166360" y="2221992"/>
            <a:ext cx="1645920" cy="1481328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349240" y="23865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244" y="2465588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0644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349240" y="2825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模块用杜邦线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直接插上，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不用面包板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086600" y="2221992"/>
            <a:ext cx="1645920" cy="1481328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269480" y="23865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484" y="2465588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2668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不改程序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7269480" y="2825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引脚号不变：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13、12、11，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代码不用改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3246120" y="397764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392424" y="411022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428" y="4189232"/>
            <a:ext cx="171176" cy="17117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849624" y="3977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对准排针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4764024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磁簧开关：G 接 −，V 接中间脚，S 接 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LED、蜂鸣器：+ 接 S，− 接 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排查口诀：先看串口，再查接线——串口里的 0 / 1 会告诉你问题出在输入还是输出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排查步骤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550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1645920"/>
            <a:ext cx="211226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打开串口监视器，盯住 val 的值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311083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23110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3816" y="2301939"/>
            <a:ext cx="211226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拿磁铁靠近、拿开，看 0 / 1 变不变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2967101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29671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" y="2957957"/>
            <a:ext cx="211226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会变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输入正常，去查灯和蜂鸣器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362312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" y="362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" y="3651139"/>
            <a:ext cx="211226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去查磁簧开关的接线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246120" y="123444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10712" y="13990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5327" y="1473647"/>
            <a:ext cx="161666" cy="16166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831336" y="13990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磁铁靠近没反应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3410712" y="181965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接在 12 号脚了吗？磁铁要贴近玻璃管、顺着管子方向放，离远了吸不动。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26480" y="123444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91072" y="13990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87" y="1473647"/>
            <a:ext cx="161666" cy="16166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711696" y="13990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一直亮、一直响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6291072" y="181965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串口一直是 0？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先查模块中间脚有没有接 5V，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再看旁边有没有别的磁铁，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最后核对程序里的引脚号。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246120" y="304038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410712" y="32049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327" y="3279587"/>
            <a:ext cx="161666" cy="16166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3831336" y="32049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读数乱跳、灯忽亮忽灭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3410712" y="362559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号脚的信号线没插牢时，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引脚“悬空”，读数会乱跳。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把信号线重新插紧就好。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126480" y="304038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291072" y="32049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687" y="3279587"/>
            <a:ext cx="161666" cy="16166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711696" y="32049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串口乱码、刷屏太快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6291072" y="362559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波特率选 9600，和程序一致。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嫌刷得太快，可在 loop() 末尾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临时加一句 delay(200)。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实验五　小磁簧开关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改一个数字、加几行代码，同一套硬件就能变成门磁报警器和“滴滴”提醒器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177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1　门磁报警器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929384"/>
            <a:ext cx="3634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门关着：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磁铁贴着开关 → val 是 0，安静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门打开：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磁铁离开 → val 是 1 → 报警！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587752"/>
            <a:ext cx="3634740" cy="574040"/>
          </a:xfrm>
          <a:prstGeom prst="roundRect">
            <a:avLst>
              <a:gd name="adj" fmla="val 1274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679192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原来：磁铁靠近才响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874772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" y="2874772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改成：磁铁离开才响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3308096"/>
            <a:ext cx="3634740" cy="658368"/>
          </a:xfrm>
          <a:prstGeom prst="roundRect">
            <a:avLst>
              <a:gd name="adj" fmla="val 1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0664" y="345440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68" y="3533404"/>
            <a:ext cx="171176" cy="171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97864" y="3445256"/>
            <a:ext cx="28849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只改第 16 行的一个数字。把磁铁贴在门上、开关贴在门框上，就是真的门磁。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94360" y="4131056"/>
            <a:ext cx="3634740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想一想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冰箱门没关好就提醒，该用哪一种写法？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1490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72" y="1491204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6964" y="1399032"/>
            <a:ext cx="3177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2　“滴滴”提醒声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914900" y="1929384"/>
            <a:ext cx="3634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18–19 行的“长鸣”改成响一下、停一下：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914900" y="2331720"/>
            <a:ext cx="3634740" cy="1160780"/>
          </a:xfrm>
          <a:prstGeom prst="roundRect">
            <a:avLst>
              <a:gd name="adj" fmla="val 630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061204" y="242316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061204" y="261874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960620" y="2814320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061204" y="281432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响 0.1 秒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960620" y="3009900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61204" y="300990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960620" y="3205480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061204" y="320548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停 0.1 秒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4914900" y="3693668"/>
            <a:ext cx="3634740" cy="74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一圈圈重复，就成了“滴滴滴”。把 100 改成 300 试试，节奏会怎样变？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五个实验一条主线：传感器把变化变成电压或开关信号 → Arduino 读进来 → 用引脚控制灯光和声音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664208" cy="17373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0744"/>
            <a:ext cx="12984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0～1023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406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69820"/>
            <a:ext cx="12984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÷ 1023 × 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就是电压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75688" y="1234440"/>
            <a:ext cx="1664208" cy="173736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58568" y="1380744"/>
            <a:ext cx="12984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0～255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258568" y="20406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258568" y="2369820"/>
            <a:ext cx="12984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光越强电阻越小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调亮度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39896" y="1234440"/>
            <a:ext cx="1664208" cy="173736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1380744"/>
            <a:ext cx="12984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 = 亮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20406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流水灯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22776" y="2369820"/>
            <a:ext cx="12984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 + for + 函数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批量控制 8 盏灯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04104" y="1234440"/>
            <a:ext cx="166420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86984" y="1380744"/>
            <a:ext cx="12984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 Hz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586984" y="20406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586984" y="2369820"/>
            <a:ext cx="12984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开关越快音调越高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无源才能变音调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68312" y="1234440"/>
            <a:ext cx="1664208" cy="17373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51192" y="1380744"/>
            <a:ext cx="12984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/ 1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251192" y="20406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251192" y="2369820"/>
            <a:ext cx="12984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有磁铁读到 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 做判断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4015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3480572"/>
            <a:ext cx="171176" cy="17117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51560" y="3401568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读进来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594360" y="3803904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analogRead()：0～1023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digitalRead()：0 或 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看不见的数值，打印到串口看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27660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459480" y="34015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484" y="3480572"/>
            <a:ext cx="171176" cy="17117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3916680" y="3401568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送出去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3459480" y="3803904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digitalWrite()：HIGH / LOW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analogWrite()：0～255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切换得飞快，就成了声音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14172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24600" y="3401568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604" y="3480572"/>
            <a:ext cx="171176" cy="17117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781800" y="3401568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小心这几个坑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6324600" y="3803904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(float) 再除，小数才不丢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数组从 [0] 开始，比较要写 ==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只认整数毫秒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感知世界，再用灯光和声音回应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从传感器读数到声光输出，五个实验走完了一条完整的链——下一节：2-1 PWM 与舵机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1-3 传感器与声光输出：AD 模数转换、光敏电阻、LED 流水灯、蜂鸣器、小磁簧开关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2026-10-12T14:43:12Z</dcterms:created>
  <dcterms:modified xsi:type="dcterms:W3CDTF">2026-10-12T14:43:12Z</dcterms:modified>
</cp:coreProperties>
</file>