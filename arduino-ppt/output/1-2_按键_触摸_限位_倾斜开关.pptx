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导入" id="{17047593-cf53-c4d1-0988-90c0ff8c5d16}">
          <p14:sldIdLst>
            <p14:sldId id="257"/>
          </p14:sldIdLst>
        </p14:section>
        <p14:section name="实验一　按键模块" id="{c4fff926-bed1-9ca4-f0e7-7121586a4c3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实验二　触摸开关" id="{044aad98-e40e-d3f1-605d-773bfb259b71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实验三　限位开关" id="{514b8289-1f6a-ebcf-1439-189e770d48f7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实验四　倾斜开关" id="{b72f2f11-cb93-760d-67e2-dbd14866aa81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小结" id="{67e847b0-d74b-234e-db8e-c60dab4996d3}">
          <p14:sldIdLst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这节课按指南顺序做四个实验：按键、触摸开关、限位开关、倾斜开关。它们都是“开关类”传感器，只回答“是”或“不是”，正好用来学习数字输入。开场可以问学生：电梯按钮、台灯的触摸开关、3D 打印机走到头会停，这些“感觉”是怎么交给程序的？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按指南顺序介绍四个实验，每张卡片下面写着“触发时读到几”，这是整节课最重要的线索：有的按下是 0，有的摸到是 1。下面一排是四个程序共用的骨架：读、打印、判断、输出。后两个实验的程序和第一个几乎一样，只是换了传感器，学会第一个，后面就轻松了。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第一个实验最重要，新语法都在这里学：pinMode 设成输入、digitalRead 读取、if / else 做判断。先认识按键模块，再弄清“按下为什么是低电平”，然后接线、读代码、看结果。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 I/O 口就是“输入 / 输出”口。之前点 LED 只用了输出，这节课第一次用输入：从外部元件读回一个值。请学生看模块反面的丝印“按下输出低电平”，下一页会解释为什么。D0、D1 兼做串口，上传程序时要和电脑通信，所以按键和灯都不接在这两个脚上。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用左边两幅简图讲“低电平有效”：上拉电阻像一根弹簧，平时把 S 脚拉在 5V，所以读到 1；按下按键，S 脚直接接到 GND，读到 0。原指南的文字把这件事说反了，以模块丝印和程序为准。不要求学生会画电路，只要记住：这块按键模块按下 = 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照原指南两张表接线，先拔掉 USB。按键模块三根针的顺序是 S、V、G，对着模块上的丝印插，别插反。接线图里的 LED 插在面包板上，并在 11 号脚和 LED 之间串了一个电阻限流；如果用的是 LED 模块，模块上已经带了电阻，直接接 + 和 − 就行。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类比：引脚像人，OUTPUT 是嘴巴，用 digitalWrite 往外说；INPUT 是耳朵，用 digitalRead 听外面的动静。digitalRead 只有两个答案，HIGH 也可以写成 1，LOW 也可以写成 0，这两种写法后面四个实验都会见到。最容易混淆的是：它回答的是电平高低，不是“按下 / 松开”，按下对应哪一个要看模块。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用“岔路口”类比 if / else：条件成立走 if 的路，不成立走 else 的路，两条只走一条。重点强调 == 和 = 的区别，这是初学者最常犯的错：写成 if( value = LOW ) 也能编译通过，但它把 LOW 放进了 value，条件永远不成立，按了灯也不亮。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前三行准备了三个“盒子”：两个装引脚号，一个装读数。value 没有给初值也没关系，loop() 一开始就会把读数装进去。setup() 只在通电时运行一次：11 号设为输出、7 号设为输入，并先让 LED 熄灭。代码里的英文注释只是给人看的说明，下面的提示框给出了中文意思。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loop() 是程序的核心，只做两件事：读、判断。第 13 行问“value 等于 LOW 吗”，等于就说明按下了，走 if 让灯亮；否则走 else 让灯灭。第 20 行的注释写成了 is down，其实这里是松开时关灯，注释笔误不影响运行。loop 转得飞快，所以手一按灯几乎同时就亮。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原指南“实验结论”下面只有标题没有文字，这里按程序写出现象。让学生按住、松开、快速连按，观察灯是否跟得上。可以对照右边的表复述一遍：按下 → 读到 LOW → 走 if → 灯亮。照片里用的是黄色 LED，颜色不影响结果。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左边三个坑是课堂上最常见的：等号写错、接到 D0 / D1、模块没供电。模块上的 Power 灯可以帮忙判断有没有通电。右边两个小改动建议当堂做：第一个把条件反过来；第二个给程序加上串口，让按键“开口说话”，这正好引出下一个实验要学的 Serial.println。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第二个实验换成触摸开关。注意两个新变化：一是摸到时读到的是 1，和按键相反；二是程序里多了串口打印，可以在电脑上看到读数。另外，这次的信号脚接在 A0、A5 上，我们会解释模拟口为什么也能当数字口用。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点动型”的意思是：摸着才有信号，手一松信号就没了，和按键一样。低功耗、快速模式是芯片自己切换的，编程时不用管。可以现场演示隔着一张纸触摸，让学生体会“隐藏按键”的设计可能：做产品时，开关可以藏在外壳后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实验原理一句话：摸到 → 高电平 → 读到 1 → 灯亮。原文“负责 LED 灯灭”是“否则”的错别字。下面两张卡片请学生对比：按键是“按下 = 0”，触摸是“摸到 = 1”，所以 if 的条件一个写 LOW、一个写 1。以后遇到新传感器，第一步就是弄清楚触发时是 0 还是 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照两张表接线：触摸模块三根针 SIG、VCC、GND 分别接 A0、5V、GND。原指南接线图里的“LED”其实是一块 RGB 贴片模块，A5 接它的 R 脚，所以亮的是红灯；用普通 LED 模块也可以，A5 接 +。A0、A5 本来是模拟口，这里当数字口用，下一页专门讲。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Serial.begin(9600) 在 setup 里打开聊天窗口，9600 是说话的速度；Serial.println(val) 每次说一句并换行。在 IDE 右上角点放大镜图标打开串口监视器，波特率选 9600。A0～A5 平时用来读模拟量，也能当数字口，但要写 A0 而不是 0——数字 0 指的是 D0 号脚。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原指南的“ArduinoIDE 编程程序”下面是空白，这里用同一套件《Arduino 编程入门学习教程》第 2.19 讲的程序，引脚和本指南的接线完全一致。请学生和按键程序对比：骨架一样，只多了串口两句，条件换成 val==1。val==1 也可以写成 val==HIGH，意思相同。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上传程序后打开串口监视器，一边摸一边看：摸到时打印 1、灯亮，松开打印 0、灯灭。因为 loop 里没有 delay，数字会刷得很快，示意图只画了几行。如果手头有 Sensor V5.0 扩展板，可以照右边的照片接，每个引脚都有 G、V、S 三根针，模块直接插上，程序不用改。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TTP223B 通电后大约半秒内在自动校准，这时手放在触摸区上，它会把“有手”当成平常状态，之后就不灵了；松开手重新上电即可。只能隔着塑料、玻璃、纸这类非金属，而且越薄越灵敏。右边第一个改动可以让学生找张便利贴试试，第二个只改第 14 行的一个数字。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原指南把这一部分叫作“第 2.17 讲：限位开关模块实验”。这个实验的新东西不在代码，而在原理图：我们第一次照着原理图，弄清楚为什么压下时读到 0。代码部分只要找出和按键程序的不同之处。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限位开关本质上就是一个装了摆杆的微动开关，摆杆被碰到、压下，开关就切换。原指南列了四种用途：行程控制、限位保护、报警、联锁启停。生活里的例子：3D 打印机开机先“回原点”，喷头碰到限位开关才知道走到头了。组件清单里的 220Ω 电阻给 LED 限流。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原指南的实验原理只有这张原理图，我们一起读：R2 是 10K 上拉电阻，把 OUT 平时拉在 5V；开关 K 一头接地。压下限位开关，K 接通，OUT 直接接地变成 0V；同时 +5V 经 R1、模块上的 LED、K 流到地，模块上的指示灯亮。结论和按键模块一样：低电平有效。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照两张表接线。表里“LED（中间加电阻）”的意思是：11 号脚和 LED 长脚之间串一个 220Ω 电阻。注意接线图里的模块画成了另一种外形，印的是 S、G、V，对应关系是 S＝OUT、G＝GND、V＝VCC，按丝印接就不会错。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先请学生自己找不同：和按键程序相比，引脚从 7 换成 10，多了串口两句，条件从 value == LOW 换成 val==0，意思完全一样。第 7 行注释写“输出接口”是笔误，代码是 INPUT，Arduino 只看代码不看注释。这就是“学会一个，会一类”。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上传后打开串口，用手指压下摆杆，观察灯和串口数字同时变化。排查口诀：先看串口，再查接线。串口数字会变，说明限位开关这一路没问题，去查 LED 的方向和电阻；数字不变，就查 OUT 有没有接在 10 号脚。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最后一个实验：倾斜开关。程序骨架还是一样，新东西有两个：一个 if 同时控制灯和蜂鸣器两个输出；用 // 把一句代码“注释掉”。原指南对“哪种状态输出 0”有两种说法，我们用串口亲眼观察来解决。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可以把模块拿起来轻轻摇，能听到钢珠滚动的声音。右边两幅图讲清原指南第 2 条的意思：引脚那一端朝下超过 10°，钢珠滚到两根引脚上把它们接通；帽盖那一端朝下超过 10°，钢珠滚走，电路断开。SW-520D 这类开关只对这一个方向的倾斜敏感，所以叫“单方向触发”。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原指南介绍里说“倾斜时输出低电平”，实验原理里又说“静止时闭合、碰一下断开就报警”，两种说法角度不同，容易把人绕晕。不用死记哪种状态是 0：程序的规则只有 if(val==0) 一条，到底哪种姿势读到 0，上传程序后打开串口亲眼看一看，记在“实验结果”页的表里。组件里的“贴片模块”就是 RGB 贴片灯模块。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照三张表一张一张接。接线图里 UNO 的 5V 和 GND 先接到面包板的电源轨，倾斜开关和蜂鸣器的 V、G 再从电源轨取电。“贴片模块”是 RGB 贴片灯模块，11 号脚接它的 R 脚，所以报警时亮红灯；它的 GND 直接接 UNO 的 GND。接完同桌互相检查一遍再上电。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大括号就像一个打包袋，if 成立时袋子里的几句话从上到下全部执行，所以灯和蜂鸣器同时动作。漏写大括号时 if 只管紧跟的第一句，有 else 时还会编译报错。// 后面的内容是写给人看的便利贴，Arduino 一律跳过；在一行代码前加 // 叫“注释掉”，调试时很常用。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前四行准备了四个盒子：三个装引脚号，一个装读数。变量名 buttonpin 是沿用按键实验的名字，实际接的是倾斜开关——名字可以随便起，但最好见名知意。第 9 行注释写“输出接口”是笔误，代码写的是 INPUT。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和前面三个程序比，唯一的新东西是 if 和 else 里各有两句，同时管灯和蜂鸣器。第 14 行注释说读的是 A5，第 16 行注释说 LED 闪烁，都是笔误：读的是 12 号脚，灯是常亮：if 里只有点亮、没有熄灭，就算恢复第 20 行的 delay 也不会闪。想让它真的闪，后面“动手改一改”会讲。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先照原指南的说法轻碰模块，听到蜂鸣器响、看到红灯亮就成功了。然后做右边的观察：打开串口，把模块分别平放、引脚端朝下、帽盖端朝下、轻碰一下，记录 val 和报警情况。学生会自己发现：读到 0 的那几种姿势就会报警，这比背结论可靠。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三处注释笔误都不影响运行，但很容易误导人，这正是“以代码为准”的好例子。一直报警停不下来时，先看串口：一直是 0，说明模块此刻的姿势正好读到 0，换个姿势放；数字乱跳，多半是 S 线没插牢。右边的改法：亮 0.1 秒、灭 0.1 秒，loop 一圈圈转，就成了“滴滴”闪响。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用这张表把四个实验串起来：骨架不变，变的只有输入脚、触发时读到几、if 的条件和控制的输出。请学生合上课件，说出每一行的“触发时读到几”。最后强调三件事：== 是比较、A0～A5 也能当数字口、注释只给人看。下节课遇到新的开关类传感器，先用串口看它触发时是 0 还是 1，再套这个骨架。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课后任务：从四个传感器里选一个，设计一个小装置，比如隐藏式触摸台灯、抽屉防盗报警器、走到头会停的小车，下节课分享。提醒学生：先用串口确认传感器触发时是 0 还是 1，再写判断。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开关类传感器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30000"/>
              </a:lnSpc>
              <a:buNone/>
              <a:def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754880"/>
            <a:ext cx="182880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365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开关类传感器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">
    <p:bg>
      <p:bgPr>
        <a:solidFill>
          <a:srgbClr val="40E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46120"/>
            <a:ext cx="1325880" cy="1325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开源硬件与 AI 辅助编程　/　实验 1-2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02920" y="86868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1-2　开关类传感器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02920" y="173736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 · 触摸开关 · 限位开关 · 倾斜开关</a:t>
            </a:r>
            <a:endParaRPr lang="en-US" sz="28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4206240" y="4069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湖北工业大学 · 工业设计学院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本节导览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四个开关类传感器，一条主线：用 digitalRead() 让 Arduino “听”外面的动静，再决定灯亮不亮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" y="1399032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399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576072" y="2002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按键模块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76072" y="242316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" y="2423160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 → 读到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76072" y="2843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· ==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60320" y="1234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24912" y="1399032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5087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91840" y="1399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2724912" y="2002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触摸开关模块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2724912" y="242316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724912" y="2423160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摸到 → 读到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2724912" y="2843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Serial.println()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 当数字口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09160" y="1234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73752" y="1399032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0876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40680" y="1399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4873752" y="2002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限位开关模块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873752" y="242316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873752" y="2423160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压下 → 读到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4873752" y="2843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程序骨架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和实验 01 一样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858000" y="1234440"/>
            <a:ext cx="1874520" cy="2103120"/>
          </a:xfrm>
          <a:prstGeom prst="roundRect">
            <a:avLst>
              <a:gd name="adj" fmla="val 585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022592" y="1399032"/>
            <a:ext cx="457200" cy="45720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508760"/>
            <a:ext cx="237744" cy="23774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589520" y="139903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7022592" y="200253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倾斜开关模块</a:t>
            </a:r>
            <a:endParaRPr lang="en-US" sz="1500" dirty="0"/>
          </a:p>
        </p:txBody>
      </p:sp>
      <p:sp>
        <p:nvSpPr>
          <p:cNvPr id="35" name="Shape 28"/>
          <p:cNvSpPr/>
          <p:nvPr/>
        </p:nvSpPr>
        <p:spPr>
          <a:xfrm>
            <a:off x="7022592" y="2423160"/>
            <a:ext cx="154533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022592" y="2423160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</a:t>
            </a:r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报警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7022592" y="284378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if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管两个输出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1148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四个程序共用一个骨架</a:t>
            </a:r>
            <a:endParaRPr lang="en-US" sz="1300" dirty="0"/>
          </a:p>
        </p:txBody>
      </p:sp>
      <p:sp>
        <p:nvSpPr>
          <p:cNvPr id="39" name="Shape 32"/>
          <p:cNvSpPr/>
          <p:nvPr/>
        </p:nvSpPr>
        <p:spPr>
          <a:xfrm>
            <a:off x="411480" y="3941064"/>
            <a:ext cx="184023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557784" y="3941064"/>
            <a:ext cx="162077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读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150" dirty="0"/>
          </a:p>
        </p:txBody>
      </p:sp>
      <p:sp>
        <p:nvSpPr>
          <p:cNvPr id="41" name="Shape 34"/>
          <p:cNvSpPr/>
          <p:nvPr/>
        </p:nvSpPr>
        <p:spPr>
          <a:xfrm>
            <a:off x="2297430" y="4256532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2" name="Shape 35"/>
          <p:cNvSpPr/>
          <p:nvPr/>
        </p:nvSpPr>
        <p:spPr>
          <a:xfrm>
            <a:off x="2571750" y="3941064"/>
            <a:ext cx="184023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2718054" y="3941064"/>
            <a:ext cx="162077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打印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Serial.println()</a:t>
            </a:r>
            <a:endParaRPr lang="en-US" sz="1150" dirty="0"/>
          </a:p>
        </p:txBody>
      </p:sp>
      <p:sp>
        <p:nvSpPr>
          <p:cNvPr id="44" name="Shape 37"/>
          <p:cNvSpPr/>
          <p:nvPr/>
        </p:nvSpPr>
        <p:spPr>
          <a:xfrm>
            <a:off x="4457700" y="4256532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4732020" y="3941064"/>
            <a:ext cx="1840230" cy="630936"/>
          </a:xfrm>
          <a:prstGeom prst="roundRect">
            <a:avLst>
              <a:gd name="adj" fmla="val 1739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4878324" y="3941064"/>
            <a:ext cx="162077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判断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… else</a:t>
            </a:r>
            <a:endParaRPr lang="en-US" sz="1150" dirty="0"/>
          </a:p>
        </p:txBody>
      </p:sp>
      <p:sp>
        <p:nvSpPr>
          <p:cNvPr id="47" name="Shape 40"/>
          <p:cNvSpPr/>
          <p:nvPr/>
        </p:nvSpPr>
        <p:spPr>
          <a:xfrm>
            <a:off x="6617970" y="4256532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48" name="Shape 41"/>
          <p:cNvSpPr/>
          <p:nvPr/>
        </p:nvSpPr>
        <p:spPr>
          <a:xfrm>
            <a:off x="6892290" y="3941064"/>
            <a:ext cx="1840230" cy="630936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7038594" y="3941064"/>
            <a:ext cx="162077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输出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01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以前的 LED 实验只用了引脚的“输出”功能。这一次反过来，让 Arduino 读取按键的状态：按下按键，LED 亮；松开，LED 灭。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 = 低电平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 → D7，LED → D11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digitalRead · if / else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按下就亮，松开就灭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认识按键模块：从“输出”到“输入”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引脚既能“说”（OUTPUT 输出），也能“听”（INPUT 输入）；这次用按键做输入、LED 做输出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按键开关模块正面 / 反面（反面印着“按下输出低电平”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066" y="1289304"/>
            <a:ext cx="3131068" cy="199339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" y="331927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原指南：按键开关模块正面 / 反面（反面印着“按下输出低电平”）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38862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9496" y="4064508"/>
            <a:ext cx="329184" cy="329184"/>
          </a:xfrm>
          <a:prstGeom prst="ellipse">
            <a:avLst/>
          </a:prstGeom>
          <a:solidFill>
            <a:srgbClr val="474747"/>
          </a:solidFill>
          <a:ln w="12700">
            <a:solidFill>
              <a:srgbClr val="4747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00" y="4143512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0120" y="397764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OUTPUT　输出</a:t>
            </a:r>
            <a:endParaRPr lang="en-US" sz="1250" dirty="0"/>
          </a:p>
        </p:txBody>
      </p:sp>
      <p:sp>
        <p:nvSpPr>
          <p:cNvPr id="13" name="Text 8"/>
          <p:cNvSpPr txBox="1"/>
          <p:nvPr/>
        </p:nvSpPr>
        <p:spPr>
          <a:xfrm>
            <a:off x="960120" y="427024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以前：点亮 LED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651760" y="3886200"/>
            <a:ext cx="1965960" cy="685800"/>
          </a:xfrm>
          <a:prstGeom prst="roundRect">
            <a:avLst>
              <a:gd name="adj" fmla="val 16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779776" y="406450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780" y="4143512"/>
            <a:ext cx="171176" cy="17117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200400" y="3977640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INPUT　输入</a:t>
            </a:r>
            <a:endParaRPr lang="en-US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3200400" y="427024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这次：读取按键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937760" y="123444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937760" y="1581912"/>
            <a:ext cx="379476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按键接 D7，LED 接 D11：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按下按键 LED 亮，松开 LED 灭。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37760" y="2173097"/>
            <a:ext cx="379476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084064" y="2319401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068" y="2398405"/>
            <a:ext cx="171176" cy="17117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41264" y="2310257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为什么不用 D0、D1？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5541264" y="2621153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D0、D1 兼做串口，上传程序时要和电脑通信，所以先空着。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4937760" y="3407537"/>
            <a:ext cx="3794760" cy="1164463"/>
          </a:xfrm>
          <a:prstGeom prst="roundRect">
            <a:avLst>
              <a:gd name="adj" fmla="val 942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102352" y="3517265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5102352" y="3837305"/>
            <a:ext cx="141122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5102352" y="3837305"/>
            <a:ext cx="141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主板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6728" y="3837305"/>
            <a:ext cx="65760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6586728" y="3837305"/>
            <a:ext cx="657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7317486" y="3837305"/>
            <a:ext cx="98475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317486" y="3837305"/>
            <a:ext cx="98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102352" y="4193921"/>
            <a:ext cx="7335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5102352" y="4193921"/>
            <a:ext cx="73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 ×1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5909056" y="4193921"/>
            <a:ext cx="12067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5909056" y="4193921"/>
            <a:ext cx="1206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灯模块 ×1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7188962" y="4193921"/>
            <a:ext cx="803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188962" y="4193921"/>
            <a:ext cx="80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实验原理：按下按键 = 低电平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模块里有个上拉电阻：松开时 S 脚是高电平（1）；按下时 S 脚被接到 GND，变成低电平（0）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920240" cy="333756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松开按键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7840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2471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3327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12471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7442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2471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119786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746504" y="26974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D7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124712" y="2807208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88136" y="3008376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88136" y="3447288"/>
            <a:ext cx="73152" cy="73152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1124712" y="3118104"/>
            <a:ext cx="274320" cy="365760"/>
          </a:xfrm>
          <a:prstGeom prst="line">
            <a:avLst/>
          </a:prstGeom>
          <a:noFill/>
          <a:ln w="31750">
            <a:solidFill>
              <a:srgbClr val="2D2D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124712" y="3483864"/>
            <a:ext cx="91" cy="23774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" y="3721608"/>
            <a:ext cx="365760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5840" y="3794760"/>
            <a:ext cx="237744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69848" y="3867912"/>
            <a:ext cx="10972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38074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39496" y="4032504"/>
            <a:ext cx="16642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9496" y="403250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约 5V → 读到 1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606040" y="1234440"/>
            <a:ext cx="1920240" cy="3337560"/>
          </a:xfrm>
          <a:prstGeom prst="roundRect">
            <a:avLst>
              <a:gd name="adj" fmla="val 571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788920" y="13624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按下按键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2999232" y="17373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172968" y="1984248"/>
            <a:ext cx="292608" cy="91"/>
          </a:xfrm>
          <a:prstGeom prst="line">
            <a:avLst/>
          </a:prstGeom>
          <a:noFill/>
          <a:ln w="25400">
            <a:solidFill>
              <a:srgbClr val="2D2D2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319272" y="1984248"/>
            <a:ext cx="91" cy="146304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27832" y="2130552"/>
            <a:ext cx="182880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679192" y="21488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上拉</a:t>
            </a:r>
            <a:endParaRPr lang="en-US" sz="10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电阻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319272" y="2587752"/>
            <a:ext cx="91" cy="219456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68980" y="2756916"/>
            <a:ext cx="100584" cy="10058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319272" y="2807208"/>
            <a:ext cx="566928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3392424" y="25694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3941064" y="26974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D7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319272" y="2807208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282696" y="3008376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82696" y="3447288"/>
            <a:ext cx="73152" cy="73152"/>
          </a:xfrm>
          <a:prstGeom prst="ellipse">
            <a:avLst/>
          </a:prstGeom>
          <a:solidFill>
            <a:srgbClr val="1A9E92"/>
          </a:solidFill>
          <a:ln w="12700">
            <a:solidFill>
              <a:srgbClr val="1A9E92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3319272" y="3044952"/>
            <a:ext cx="91" cy="438912"/>
          </a:xfrm>
          <a:prstGeom prst="line">
            <a:avLst/>
          </a:prstGeom>
          <a:noFill/>
          <a:ln w="31750">
            <a:solidFill>
              <a:srgbClr val="1A9E9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679192" y="31546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3630168" y="308152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3561" y="3164921"/>
            <a:ext cx="180685" cy="180685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3319272" y="3483864"/>
            <a:ext cx="91" cy="237744"/>
          </a:xfrm>
          <a:prstGeom prst="line">
            <a:avLst/>
          </a:prstGeom>
          <a:noFill/>
          <a:ln w="19050">
            <a:solidFill>
              <a:srgbClr val="1A9E92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136392" y="3721608"/>
            <a:ext cx="365760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3200400" y="3794760"/>
            <a:ext cx="237744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264408" y="3867912"/>
            <a:ext cx="109728" cy="91"/>
          </a:xfrm>
          <a:prstGeom prst="line">
            <a:avLst/>
          </a:prstGeom>
          <a:noFill/>
          <a:ln w="25400">
            <a:solidFill>
              <a:srgbClr val="1A9E92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3575304" y="3685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GND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2734056" y="4032504"/>
            <a:ext cx="1664208" cy="40233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2734056" y="403250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约 0V → 读到 0</a:t>
            </a:r>
            <a:endParaRPr lang="en-US" sz="1200" dirty="0"/>
          </a:p>
        </p:txBody>
      </p:sp>
      <p:sp>
        <p:nvSpPr>
          <p:cNvPr id="56" name="Text 52"/>
          <p:cNvSpPr txBox="1"/>
          <p:nvPr/>
        </p:nvSpPr>
        <p:spPr>
          <a:xfrm>
            <a:off x="4846320" y="12344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为什么“按下”反而是 0？</a:t>
            </a:r>
            <a:endParaRPr lang="en-US" sz="1400" dirty="0"/>
          </a:p>
        </p:txBody>
      </p:sp>
      <p:sp>
        <p:nvSpPr>
          <p:cNvPr id="57" name="Text 53"/>
          <p:cNvSpPr txBox="1"/>
          <p:nvPr/>
        </p:nvSpPr>
        <p:spPr>
          <a:xfrm>
            <a:off x="4846320" y="1581912"/>
            <a:ext cx="388620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模块里有个电阻把 S 脚接到 5V（上拉）：松开时 S 是高电平；按下时 S 直接接到 GND，变成低电平。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201355"/>
          <a:ext cx="38862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960120"/>
                <a:gridCol w="1371600"/>
                <a:gridCol w="9144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 脚电压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digitalRead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松开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5V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1（HIGH）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0V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0（LOW）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9" name="Shape 54"/>
          <p:cNvSpPr/>
          <p:nvPr/>
        </p:nvSpPr>
        <p:spPr>
          <a:xfrm>
            <a:off x="4846320" y="3408363"/>
            <a:ext cx="3886200" cy="1163637"/>
          </a:xfrm>
          <a:prstGeom prst="roundRect">
            <a:avLst>
              <a:gd name="adj" fmla="val 943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0" name="Shape 55"/>
          <p:cNvSpPr/>
          <p:nvPr/>
        </p:nvSpPr>
        <p:spPr>
          <a:xfrm>
            <a:off x="4992624" y="3554667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628" y="3633671"/>
            <a:ext cx="171176" cy="171176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5449824" y="3545523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原指南此处写反了</a:t>
            </a:r>
            <a:endParaRPr lang="en-US" sz="1300" dirty="0"/>
          </a:p>
        </p:txBody>
      </p:sp>
      <p:sp>
        <p:nvSpPr>
          <p:cNvPr id="63" name="Text 57"/>
          <p:cNvSpPr txBox="1"/>
          <p:nvPr/>
        </p:nvSpPr>
        <p:spPr>
          <a:xfrm>
            <a:off x="5449824" y="3856419"/>
            <a:ext cx="3136392" cy="5692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原文说“按下时 D7 是高电平”，与丝印和程序都不符。以程序为准：按下 → LOW → 灯亮。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接线：按键接 D7，LED 接 D11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按键模块的 S、G、V 分别接 7、GND、5V；LED 正极接 11，负极接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绿线 7 → S · 红线 5V → V · 黑线 GND → 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343" y="1344168"/>
            <a:ext cx="4344273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原指南接线图：绿线 7 → S · 红线 5V → V · 黑线 GND → G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34440"/>
          <a:ext cx="3429000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按键模块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606040"/>
          <a:ext cx="3429000" cy="9144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 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303520" y="37033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44982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828" y="3928628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907024" y="3840480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图中 LED 插在面包板上，还串了一个电阻；换成 LED 模块时，直接接模块的正、负极即可。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新语法①：pinMode(INPUT) 与 digitalRead()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pinMode 先说好哪个引脚当“耳朵”，digitalRead 再去听：答案只有 HIGH（1）和 LOW（0）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耳朵和嘴巴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引脚像人：OUTPUT 是“嘴巴”，往外说；INPUT 是“耳朵”，听外面的动静。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429955"/>
            <a:ext cx="363474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52139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11 号当嘴巴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40664" y="270808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 号当耳朵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" y="3132519"/>
            <a:ext cx="172593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2376" y="3132519"/>
            <a:ext cx="1543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嘴巴：OUTPUT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2503170" y="3132519"/>
            <a:ext cx="1725930" cy="566928"/>
          </a:xfrm>
          <a:prstGeom prst="roundRect">
            <a:avLst>
              <a:gd name="adj" fmla="val 19355"/>
            </a:avLst>
          </a:prstGeom>
          <a:solidFill>
            <a:srgbClr val="E3FAF7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631186" y="3132519"/>
            <a:ext cx="15430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耳朵：INPUT</a:t>
            </a:r>
            <a:endParaRPr lang="en-US" sz="11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94360" y="3882327"/>
            <a:ext cx="36347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04088" y="3955479"/>
            <a:ext cx="256032" cy="25603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6" y="4016926"/>
            <a:ext cx="133137" cy="13313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69848" y="3882327"/>
            <a:ext cx="3049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把按键脚设成 OUTPUT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读不到按键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1490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72" y="1482060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42696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digitalRead(引脚)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914900" y="1883664"/>
            <a:ext cx="3634740" cy="378460"/>
          </a:xfrm>
          <a:prstGeom prst="roundRect">
            <a:avLst>
              <a:gd name="adj" fmla="val 193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61204" y="1975104"/>
            <a:ext cx="334213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听一次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914900" y="2390140"/>
            <a:ext cx="3634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像问一句“现在是高还是低？”答案只有两个：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4900" y="2719324"/>
          <a:ext cx="36347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234440"/>
                <a:gridCol w="12573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答案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也可以写成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5V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 0V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30" name="Shape 23"/>
          <p:cNvSpPr/>
          <p:nvPr/>
        </p:nvSpPr>
        <p:spPr>
          <a:xfrm>
            <a:off x="4914900" y="3670300"/>
            <a:ext cx="3634740" cy="755396"/>
          </a:xfrm>
          <a:prstGeom prst="roundRect">
            <a:avLst>
              <a:gd name="adj" fmla="val 1452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33772" y="378917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998" y="3859398"/>
            <a:ext cx="152156" cy="15215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454396" y="3789172"/>
            <a:ext cx="297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以为 HIGH 就是“按下”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5454396" y="4136644"/>
            <a:ext cx="2976372" cy="22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这块按键模块按下时反而是 LOW。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新语法②：if / else 与 ==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/ else 是程序里的岔路口：条件成立走一条路，不成立走另一条；比较“相等”要写两个等号 ==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1148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99032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91204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9903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像走到岔路口看路牌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928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路牌上写着条件：成立就走左边，不成立就走右边，两条路只能选一条。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1463040" y="2441448"/>
            <a:ext cx="2011680" cy="71323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63040" y="24414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== LOW ?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 flipH="1">
            <a:off x="1348740" y="2798064"/>
            <a:ext cx="1143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48740" y="2798064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474720" y="2798064"/>
            <a:ext cx="114300" cy="91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89020" y="2798064"/>
            <a:ext cx="91" cy="667512"/>
          </a:xfrm>
          <a:prstGeom prst="line">
            <a:avLst/>
          </a:prstGeom>
          <a:noFill/>
          <a:ln w="19050">
            <a:solidFill>
              <a:srgbClr val="2D2D2D"/>
            </a:solidFill>
            <a:prstDash val="solid"/>
            <a:tailEnd type="triangle"/>
          </a:ln>
        </p:spPr>
      </p:sp>
      <p:sp>
        <p:nvSpPr>
          <p:cNvPr id="17" name="Text 13"/>
          <p:cNvSpPr txBox="1"/>
          <p:nvPr/>
        </p:nvSpPr>
        <p:spPr>
          <a:xfrm>
            <a:off x="745236" y="2871216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成立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662172" y="28712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不成立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46557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94944" y="346557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亮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2880360" y="3465576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BEBEB"/>
          </a:solidFill>
          <a:ln w="12700">
            <a:solidFill>
              <a:srgbClr val="EBEBE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935224" y="3465576"/>
            <a:ext cx="1307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里的代码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灭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594360" y="4178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else 可以不写：不写就是“不成立时什么也不做”。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4846320" y="12344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写法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4846320" y="1563624"/>
            <a:ext cx="3886200" cy="1160780"/>
          </a:xfrm>
          <a:prstGeom prst="roundRect">
            <a:avLst>
              <a:gd name="adj" fmla="val 6302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992624" y="1655064"/>
            <a:ext cx="359359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(条件) {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4992624" y="1850644"/>
            <a:ext cx="359359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条件成立：做这里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4992624" y="2046224"/>
            <a:ext cx="359359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4992624" y="2241804"/>
            <a:ext cx="359359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不成立：做这里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4992624" y="2437384"/>
            <a:ext cx="359359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846320" y="2998724"/>
            <a:ext cx="3886200" cy="649478"/>
          </a:xfrm>
          <a:prstGeom prst="roundRect">
            <a:avLst>
              <a:gd name="adj" fmla="val 1689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974336" y="3158871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40" y="3237875"/>
            <a:ext cx="171176" cy="171176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5431536" y="2998724"/>
            <a:ext cx="3191256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两个等号是“比较”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问：value 等于 LOW 吗？答：是 / 不是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4846320" y="3922522"/>
            <a:ext cx="3886200" cy="649478"/>
          </a:xfrm>
          <a:prstGeom prst="roundRect">
            <a:avLst>
              <a:gd name="adj" fmla="val 16895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974336" y="4082669"/>
            <a:ext cx="329184" cy="329184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340" y="4161673"/>
            <a:ext cx="171176" cy="171176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5431536" y="3922522"/>
            <a:ext cx="3191256" cy="649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　一个等号是“赋值”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LOW 存进 value，条件永远不成立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代码逐行看懂（1/2）：准备工作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先给两个引脚起名字、准备一个装读数的盒子，再在 setup() 里分好谁是输入、谁是输出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2286000"/>
          </a:xfrm>
          <a:prstGeom prst="roundRect">
            <a:avLst>
              <a:gd name="adj" fmla="val 4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298448"/>
            <a:ext cx="2615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1–9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48215" y="1545336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led_out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//GPIO 11 LED pin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1726692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26692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48215" y="1726692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keypad_pin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//GPIO 7 key pin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1908048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08048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748215" y="1908048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089404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48215" y="2089404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270760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48215" y="2270760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2452116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452116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48215" y="2452116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led_out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 led pin output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2633472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633472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48215" y="2633472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keypad_pin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init key pin input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2814828"/>
            <a:ext cx="448056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2814828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48215" y="2814828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led_out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2996184"/>
            <a:ext cx="128443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748215" y="2996184"/>
            <a:ext cx="410724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411480" y="379476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57784" y="394106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4020068"/>
            <a:ext cx="171176" cy="171176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014984" y="3931920"/>
            <a:ext cx="38221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注释翻译：key pin = 按键引脚；init … output / input = 设为输出 / 输入。// 后面的注释 Arduino 不执行。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349240" y="1234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34924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34924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40" name="Text 36"/>
          <p:cNvSpPr txBox="1"/>
          <p:nvPr/>
        </p:nvSpPr>
        <p:spPr>
          <a:xfrm>
            <a:off x="6164072" y="1591056"/>
            <a:ext cx="256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起名字：11 号接 LED，7 号接按键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5349240" y="192938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5349240" y="192938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 行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6019292" y="1920240"/>
            <a:ext cx="27132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value：装读数的盒子，没写初值，开机是 0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5349240" y="2420112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5349240" y="2420112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46" name="Text 42"/>
          <p:cNvSpPr txBox="1"/>
          <p:nvPr/>
        </p:nvSpPr>
        <p:spPr>
          <a:xfrm>
            <a:off x="6019292" y="2410968"/>
            <a:ext cx="2713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setup()：通电后只运行一次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5349240" y="2749296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5349240" y="2749296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6–7 行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6164072" y="2740152"/>
            <a:ext cx="256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号当“嘴巴”，7 号当“耳朵”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5349240" y="307848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5349240" y="307848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8 行</a:t>
            </a:r>
            <a:endParaRPr lang="en-US" sz="950" dirty="0"/>
          </a:p>
        </p:txBody>
      </p:sp>
      <p:sp>
        <p:nvSpPr>
          <p:cNvPr id="52" name="Text 48"/>
          <p:cNvSpPr txBox="1"/>
          <p:nvPr/>
        </p:nvSpPr>
        <p:spPr>
          <a:xfrm>
            <a:off x="6019292" y="3069336"/>
            <a:ext cx="2713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开机先让 LED 熄灭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代码逐行看懂（2/2）：读按键、做判断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不停地重复：读 7 号脚 → 是 LOW（按下了）就点亮 LED → 否则熄灭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50008" y="1298448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10–22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8492" y="154533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72669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8492" y="172669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1908048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" y="190804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28492" y="190804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keypad_pin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 key pad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57200" y="2089404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208940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28492" y="208940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pin vaule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270760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" y="227076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828492" y="227076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5211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28492" y="245211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633472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2920" y="263347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828492" y="263347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led_out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key value is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2814828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2920" y="281482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28492" y="281482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down turn on LED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299618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28492" y="299618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17754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28492" y="317754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57200" y="3358896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35889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828492" y="335889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540252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28492" y="3540252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457200" y="3721608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02920" y="3721608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28492" y="3721608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led_out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if key value is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57200" y="3902964"/>
            <a:ext cx="4754880" cy="181356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02920" y="3902964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950" dirty="0"/>
          </a:p>
        </p:txBody>
      </p:sp>
      <p:sp>
        <p:nvSpPr>
          <p:cNvPr id="44" name="Text 41"/>
          <p:cNvSpPr txBox="1"/>
          <p:nvPr/>
        </p:nvSpPr>
        <p:spPr>
          <a:xfrm>
            <a:off x="828492" y="3902964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down turn off LED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502920" y="4084320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28492" y="4084320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4265676"/>
            <a:ext cx="208719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828492" y="4265676"/>
            <a:ext cx="4301292" cy="181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5577840" y="12344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5577840" y="1888998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577840" y="1888998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</a:t>
            </a:r>
            <a:endParaRPr lang="en-US" sz="950" dirty="0"/>
          </a:p>
        </p:txBody>
      </p:sp>
      <p:sp>
        <p:nvSpPr>
          <p:cNvPr id="52" name="Text 49"/>
          <p:cNvSpPr txBox="1"/>
          <p:nvPr/>
        </p:nvSpPr>
        <p:spPr>
          <a:xfrm>
            <a:off x="6325108" y="1879854"/>
            <a:ext cx="2407412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7 号脚存进 value：按下 LOW，松开 HIGH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577840" y="237972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577840" y="237972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13–15 行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6547104" y="2370582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等于 LOW（按下了）→ 11 号输出 HIGH，LED 亮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5577840" y="3339846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577840" y="333984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18–20 行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6547104" y="3330702"/>
            <a:ext cx="218541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否则（松开）→ LED 灭；注释“is down”是笔误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5577840" y="424662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577840" y="424662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 行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6325108" y="4237482"/>
            <a:ext cx="24074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回到第 12 行再读一次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实验结果：按下就亮，松开就灭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跟着按键走：按住按键灯一直亮，一松手灯就灭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按键模块 + 面包板上的 LED 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04" y="1344168"/>
            <a:ext cx="3791712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261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原指南实物照片：按键模块 + 面包板上的 LED 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212080" y="123444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83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388" y="1459748"/>
            <a:ext cx="171176" cy="17117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15584" y="1371600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原指南“实验结论”处空白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5815584" y="1682496"/>
            <a:ext cx="2770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按程序运行：按住按键 LED 亮，松开 LED 灭。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212080" y="246888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一按一放，程序这样走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2798064"/>
          <a:ext cx="3520440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188720"/>
                <a:gridCol w="960120"/>
                <a:gridCol w="7132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D7 读到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走哪条路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松开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HIGH（1）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else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LOW（0）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212080" y="4005072"/>
            <a:ext cx="3520440" cy="566928"/>
          </a:xfrm>
          <a:prstGeom prst="roundRect">
            <a:avLst>
              <a:gd name="adj" fmla="val 1935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340096" y="41239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100" y="4202948"/>
            <a:ext cx="171176" cy="17117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779008" y="4005072"/>
            <a:ext cx="2843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快速连按几下，灯也跟着闪：loop 转得比手快得多。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实验一　按键模块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先对照三个常见错误排查，再改一两行代码，看看灯的反应怎么变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135331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78" y="1423538"/>
            <a:ext cx="152156" cy="1521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1353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写成 if( value = LOW 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50976" y="170078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一个等号是赋值，条件永远不成立，怎么按灯都不亮。比较要写 ==。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43840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0352" y="255727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8" y="2627498"/>
            <a:ext cx="152156" cy="1521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0976" y="25572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按键接到了 D0 / D1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50976" y="290474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这两个脚兼做串口，可能让上传失败、读数不准。按指南接 D7。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64236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376123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8" y="3831458"/>
            <a:ext cx="152156" cy="1521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0976" y="37612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模块没供电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50976" y="410870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V、G 没接好时，模块上的 Power 灯不亮，按了也没反应。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54880" y="1234440"/>
            <a:ext cx="397764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19472" y="13716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91947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340096" y="13716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反过来：按下灯灭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919472" y="1783080"/>
            <a:ext cx="3648456" cy="378460"/>
          </a:xfrm>
          <a:prstGeom prst="roundRect">
            <a:avLst>
              <a:gd name="adj" fmla="val 193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65776" y="1874520"/>
            <a:ext cx="3355848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原来是 LOW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4919472" y="225298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只改第 13 行：松开时灯亮，按下时灯灭。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754880" y="3040380"/>
            <a:ext cx="3977640" cy="1531620"/>
          </a:xfrm>
          <a:prstGeom prst="roundRect">
            <a:avLst>
              <a:gd name="adj" fmla="val 716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919472" y="317754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919472" y="31775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340096" y="31775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让按键“开口说话”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4919472" y="3589020"/>
            <a:ext cx="3648456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065776" y="3680460"/>
            <a:ext cx="335584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加进 setup()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5065776" y="3867150"/>
            <a:ext cx="3355848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加进 loop()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919472" y="423672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打开串口监视器：按下是 0，松开是 1。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02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触摸开关模块实验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不用按，轻轻一摸就能开灯。触摸模块和按键正好相反：摸到时输出高电平。这一次还要打开串口，亲眼“看见”传感器的读数。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TTP223B 电容触摸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读触摸，A5 控灯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Serial.println()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一摸就亮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认识触摸开关模块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手指一靠近，触摸芯片就能感觉到：平时输出低电平，摸到时输出高电平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234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1225296"/>
            <a:ext cx="4443984" cy="4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核心是触摸检测芯片 TTP223B：电容式、点动型，摸着才有信号，松手就没有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" y="1834769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" y="18347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3816" y="1858423"/>
            <a:ext cx="4443984" cy="245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平时输出低电平，处在省电的低功耗模式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255393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11480" y="22553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" y="2246249"/>
            <a:ext cx="4443984" cy="4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手指一摸，输出高电平并切换到快速模式；连续 12 秒没人摸，又回到低功耗模式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2855722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28557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13816" y="2846578"/>
            <a:ext cx="4443984" cy="47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可以装在塑料、玻璃等非金属表面后面，盖一张薄纸也能用，做成藏在墙上、桌面里的“隐藏按键”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1480" y="365760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" y="3931920"/>
            <a:ext cx="365760" cy="36576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" y="4019702"/>
            <a:ext cx="190195" cy="1901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051560" y="3657600"/>
            <a:ext cx="4078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和手机触摸屏一个道理：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手指能导电，靠近感应区时会改变它的电容，芯片据此判断“有人摸”。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577840" y="1234440"/>
            <a:ext cx="3154680" cy="3337560"/>
          </a:xfrm>
          <a:prstGeom prst="roundRect">
            <a:avLst>
              <a:gd name="adj" fmla="val 347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23" name="Image 1" descr="原指南：触摸开关模块实物图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577" y="1344168"/>
            <a:ext cx="2511206" cy="28437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687568" y="422452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原指南：触摸开关模块实物图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实验目的、组件与原理：摸到 = 高电平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触摸模块检测到手指就输出高电平：Arduino 读到 1 就点亮 LED，否则熄灭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了解触摸开关模块的工作原理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用 Arduino 读取触摸开关，控制 LED 灯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709160" y="123444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5546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68" y="1459748"/>
            <a:ext cx="171176" cy="17117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12664" y="1371600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312664" y="1682496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手指触摸模块，Arduino 检测到高电平就让 LED 亮，否则灭（原文“负责”应为“否则”）。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2651760"/>
            <a:ext cx="8321040" cy="420624"/>
          </a:xfrm>
          <a:prstGeom prst="roundRect">
            <a:avLst>
              <a:gd name="adj" fmla="val 2608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6072" y="2651760"/>
            <a:ext cx="51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089152" y="2724912"/>
            <a:ext cx="16682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089152" y="2724912"/>
            <a:ext cx="166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830576" y="2724912"/>
            <a:ext cx="65760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830576" y="2724912"/>
            <a:ext cx="657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3561334" y="2724912"/>
            <a:ext cx="98475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561334" y="2724912"/>
            <a:ext cx="98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619244" y="2724912"/>
            <a:ext cx="13177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619244" y="2724912"/>
            <a:ext cx="131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触摸开关模块 ×1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010148" y="2724912"/>
            <a:ext cx="10607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6010148" y="2724912"/>
            <a:ext cx="106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模块 ×1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7144004" y="2724912"/>
            <a:ext cx="803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144004" y="2724912"/>
            <a:ext cx="80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11480" y="3346704"/>
            <a:ext cx="4023360" cy="1225296"/>
          </a:xfrm>
          <a:prstGeom prst="roundRect">
            <a:avLst>
              <a:gd name="adj" fmla="val 89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76072" y="346557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76" y="3544580"/>
            <a:ext cx="171176" cy="17117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14984" y="3465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按键模块（实验 01）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576072" y="38587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按下 → 输出低电平 → 读到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576072" y="4187952"/>
            <a:ext cx="185166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76072" y="4187952"/>
            <a:ext cx="18516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 value == LOW )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4709160" y="3346704"/>
            <a:ext cx="4023360" cy="1225296"/>
          </a:xfrm>
          <a:prstGeom prst="roundRect">
            <a:avLst>
              <a:gd name="adj" fmla="val 895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873752" y="3465576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756" y="3544580"/>
            <a:ext cx="171176" cy="17117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312664" y="34655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触摸开关模块（实验 02）</a:t>
            </a:r>
            <a:endParaRPr lang="en-US" sz="1350" dirty="0"/>
          </a:p>
        </p:txBody>
      </p:sp>
      <p:sp>
        <p:nvSpPr>
          <p:cNvPr id="41" name="Text 34"/>
          <p:cNvSpPr txBox="1"/>
          <p:nvPr/>
        </p:nvSpPr>
        <p:spPr>
          <a:xfrm>
            <a:off x="4873752" y="385876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摸到 → 输出高电平 → 读到 </a:t>
            </a:r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4873752" y="4187952"/>
            <a:ext cx="1150620" cy="274320"/>
          </a:xfrm>
          <a:prstGeom prst="roundRect">
            <a:avLst>
              <a:gd name="adj" fmla="val 5000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4873752" y="4187952"/>
            <a:ext cx="1150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if(val==1)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接线：A0 读触摸，A5 控制灯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触摸模块 SIG 接 A0；灯接 A5——模拟口 A0～A5 在这里当普通数字口用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57200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黄线是信号，红线 5V，黑线 G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38" y="1344168"/>
            <a:ext cx="4029885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352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原指南接线图：黄线是信号，红线 5V，黑线 GND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234440"/>
          <a:ext cx="3429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触摸开关模块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SIG（信号引脚）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VCC(+)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GND(-)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2606040"/>
          <a:ext cx="3429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57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GND(-)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303520" y="3703320"/>
            <a:ext cx="342900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44982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828" y="3928628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907024" y="3840480"/>
            <a:ext cx="26791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图中的“LED”是一块 RGB 贴片模块：A5 接它的 R 脚，GND 接 − 脚，所以亮红灯。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新语法③：Serial.println() 与“兼职”的 A0～A5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串口是 Arduino 和电脑聊天的窗口，把读数打印出来，看不见的传感器状态就“看得见”了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Serial.println(val)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4360" y="1883664"/>
            <a:ext cx="3634740" cy="556260"/>
          </a:xfrm>
          <a:prstGeom prst="roundRect">
            <a:avLst>
              <a:gd name="adj" fmla="val 13151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0664" y="197510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打开聊天窗口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40664" y="216179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说一句并换行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" y="2604516"/>
            <a:ext cx="36347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12648" y="2622804"/>
            <a:ext cx="359816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2376" y="2641092"/>
            <a:ext cx="22535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411730" y="2641092"/>
            <a:ext cx="16893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77240" y="30068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77240" y="31714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3360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35006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1280160" y="3006852"/>
            <a:ext cx="2857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没摸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1280160" y="3171444"/>
            <a:ext cx="2857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摸到了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1280160" y="3500628"/>
            <a:ext cx="2857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松开手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594360" y="3921252"/>
            <a:ext cx="3634740" cy="402336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04088" y="3994404"/>
            <a:ext cx="256032" cy="25603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6" y="4055852"/>
            <a:ext cx="133137" cy="13313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69848" y="3921252"/>
            <a:ext cx="30495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波特率没选 9600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→ 串口显示乱码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91490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72" y="1482060"/>
            <a:ext cx="199705" cy="19970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42696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 也能当数字口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4914900" y="1883664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 本职是读模拟量（analogRead），也能“兼职”当普通数字口用。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4914900" y="2429955"/>
            <a:ext cx="3634740" cy="929640"/>
          </a:xfrm>
          <a:prstGeom prst="roundRect">
            <a:avLst>
              <a:gd name="adj" fmla="val 786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061204" y="252139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A5 接灯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5061204" y="270808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</a:t>
            </a:r>
            <a:pPr indent="0" marL="0">
              <a:buNone/>
            </a:pPr>
            <a:r>
              <a:rPr lang="en-US" sz="105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A0 接触摸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5061204" y="289477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5061204" y="3081465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914900" y="3542474"/>
            <a:ext cx="3634740" cy="883222"/>
          </a:xfrm>
          <a:prstGeom prst="roundRect">
            <a:avLst>
              <a:gd name="adj" fmla="val 12424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5033772" y="3661346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998" y="3731572"/>
            <a:ext cx="152156" cy="15215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454396" y="3661346"/>
            <a:ext cx="297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A0 写成 0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5454396" y="4008818"/>
            <a:ext cx="2976372" cy="35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0 指的是 D0 号脚，不是 A0！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代码逐行看懂：读数、打印、判断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原指南此处空白：程序取自同一套件《Arduino 编程入门学习教程》第 2.19 讲，接线与本指南一致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48056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touch_led.ino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203704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43891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A5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接口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43891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42254" y="1925320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42254" y="2115312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305304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495296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为输出接口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685288"/>
            <a:ext cx="43891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685288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875280"/>
            <a:ext cx="43891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875280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842254" y="3065272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842254" y="3255264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42254" y="3445256"/>
            <a:ext cx="39217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11480" y="393192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11480" y="393192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1–2 行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226312" y="3922776"/>
            <a:ext cx="366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A5 接灯、A0 接触摸：两个模拟口都当数字口用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11480" y="4261104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11480" y="4261104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1226312" y="4251960"/>
            <a:ext cx="366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 设为输入，再打开串口（速度 9600）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166360" y="12344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294376" y="1298448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touch_led.ino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92824" y="1298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12–22 行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212080" y="1545336"/>
            <a:ext cx="3474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25780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5597134" y="1545336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5212080" y="1735328"/>
            <a:ext cx="3474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25780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597134" y="1735328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5212080" y="1925320"/>
            <a:ext cx="3474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525780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5597134" y="1925320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25780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5597134" y="2115312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55" name="Text 52"/>
          <p:cNvSpPr txBox="1"/>
          <p:nvPr/>
        </p:nvSpPr>
        <p:spPr>
          <a:xfrm>
            <a:off x="525780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5597134" y="2305304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525780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5597134" y="2495296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5212080" y="2685288"/>
            <a:ext cx="347472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525780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5597134" y="2685288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525780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5597134" y="2875280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64" name="Text 61"/>
          <p:cNvSpPr txBox="1"/>
          <p:nvPr/>
        </p:nvSpPr>
        <p:spPr>
          <a:xfrm>
            <a:off x="525780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5597134" y="3065272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525780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5597134" y="3255264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68" name="Text 65"/>
          <p:cNvSpPr txBox="1"/>
          <p:nvPr/>
        </p:nvSpPr>
        <p:spPr>
          <a:xfrm>
            <a:off x="525780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597134" y="3445256"/>
            <a:ext cx="300737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5166360" y="393192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5166360" y="393192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12–13 行</a:t>
            </a:r>
            <a:endParaRPr lang="en-US" sz="950" dirty="0"/>
          </a:p>
        </p:txBody>
      </p:sp>
      <p:sp>
        <p:nvSpPr>
          <p:cNvPr id="72" name="Text 69"/>
          <p:cNvSpPr txBox="1"/>
          <p:nvPr/>
        </p:nvSpPr>
        <p:spPr>
          <a:xfrm>
            <a:off x="6135624" y="392277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A0 并打印：没摸 0，摸到 1</a:t>
            </a:r>
            <a:endParaRPr lang="en-US" sz="1200" dirty="0"/>
          </a:p>
        </p:txBody>
      </p:sp>
      <p:sp>
        <p:nvSpPr>
          <p:cNvPr id="73" name="Shape 70"/>
          <p:cNvSpPr/>
          <p:nvPr/>
        </p:nvSpPr>
        <p:spPr>
          <a:xfrm>
            <a:off x="5166360" y="426110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166360" y="426110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14–21 行</a:t>
            </a:r>
            <a:endParaRPr lang="en-US" sz="950" dirty="0"/>
          </a:p>
        </p:txBody>
      </p:sp>
      <p:sp>
        <p:nvSpPr>
          <p:cNvPr id="75" name="Text 72"/>
          <p:cNvSpPr txBox="1"/>
          <p:nvPr/>
        </p:nvSpPr>
        <p:spPr>
          <a:xfrm>
            <a:off x="6135624" y="42519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是 1 → 灯亮；否则灯灭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实验结果：一摸就亮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手指按在触摸区上，RGB 模块亮红灯；松开手，灯就灭——串口里的数字同步在 0 和 1 之间切换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2240280" cy="333756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触摸后亮红灯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10629"/>
            <a:ext cx="2020824" cy="27108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原指南：触摸后亮红灯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26080" y="1234440"/>
            <a:ext cx="329184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944368" y="1252728"/>
            <a:ext cx="325526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054096" y="1271016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串口监视器（示意）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1271016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3108960" y="1636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108960" y="1819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2002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108960" y="2185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3108960" y="2368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3493008" y="16367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没摸：灯灭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3493008" y="200253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摸到：灯亮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493008" y="236829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松开：灯灭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926080" y="2990088"/>
            <a:ext cx="3291840" cy="1581912"/>
          </a:xfrm>
          <a:prstGeom prst="roundRect">
            <a:avLst>
              <a:gd name="adj" fmla="val 6936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072384" y="313639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1388" y="3215396"/>
            <a:ext cx="171176" cy="17117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29584" y="31272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原指南：扩展板接法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3529584" y="3438144"/>
            <a:ext cx="25420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套件里有 Sensor V5.0 扩展板的话，可以照右图接线：模块直接插到对应引脚的三针座上，程序不用改。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492240" y="1234440"/>
            <a:ext cx="2240280" cy="3337560"/>
          </a:xfrm>
          <a:prstGeom prst="roundRect">
            <a:avLst>
              <a:gd name="adj" fmla="val 489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27" name="Image 2" descr="Sensor V5.0 扩展板接法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418844"/>
            <a:ext cx="2020824" cy="26944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01968" y="4224528"/>
            <a:ext cx="2020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Sensor V5.0 扩展板接法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实验二　触摸开关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触摸模块很灵敏，也有自己的“小脾气”；改一个数字、盖一张纸，就能玩出新花样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135331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78" y="1423538"/>
            <a:ext cx="152156" cy="1521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50976" y="13533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一上电就不灵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950976" y="170078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通电后约半秒芯片在自动校准，这时别碰触摸区；不灵就松手、重新上电。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1480" y="243840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30352" y="255727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8" y="2627498"/>
            <a:ext cx="152156" cy="15215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50976" y="25572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隔着东西摸没反应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950976" y="290474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只能隔塑料、玻璃、纸这类非金属，而且要薄。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3642360"/>
            <a:ext cx="4023360" cy="929640"/>
          </a:xfrm>
          <a:prstGeom prst="roundRect">
            <a:avLst>
              <a:gd name="adj" fmla="val 1180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30352" y="376123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78" y="3831458"/>
            <a:ext cx="152156" cy="1521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50976" y="376123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摸了，灯却不亮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950976" y="4108704"/>
            <a:ext cx="336499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先看模块上的小指示灯：亮了说明触摸没问题，去查 A5 和灯；不亮就查 VCC、GND。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54880" y="1234440"/>
            <a:ext cx="3977640" cy="1531620"/>
          </a:xfrm>
          <a:prstGeom prst="roundRect">
            <a:avLst>
              <a:gd name="adj" fmla="val 7164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919472" y="137160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4919472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340096" y="137160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做一个“隐藏开关”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4919472" y="1801368"/>
            <a:ext cx="364845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在模块上盖一张便利贴或薄塑料片，隔着它摸，灯照样会亮。开关可以藏进产品外壳里。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54880" y="3040380"/>
            <a:ext cx="3977640" cy="1531620"/>
          </a:xfrm>
          <a:prstGeom prst="roundRect">
            <a:avLst>
              <a:gd name="adj" fmla="val 7164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19472" y="3177540"/>
            <a:ext cx="310896" cy="310896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919472" y="31775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340096" y="31775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反过来：摸着灯灭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919472" y="3589020"/>
            <a:ext cx="3648456" cy="378460"/>
          </a:xfrm>
          <a:prstGeom prst="roundRect">
            <a:avLst>
              <a:gd name="adj" fmla="val 19329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65776" y="3680460"/>
            <a:ext cx="3355848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原来是 val==1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4919472" y="405892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只改第 14 行：松手时灯亮，摸着时灯灭。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03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机器上的“到位报告员”：被压下就报告。它的程序和按键实验几乎一模一样，只是换了一个传感器、换了一个引脚。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看懂原理图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和按键同一个骨架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压下就亮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认识限位开关：机器的“到位报告员”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限位开关又叫行程开关：机器的运动部件走到预定位置、把它压下，电路就切换，相当于报告“到位了”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931920" cy="1965960"/>
          </a:xfrm>
          <a:prstGeom prst="roundRect">
            <a:avLst>
              <a:gd name="adj" fmla="val 558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限位开关模块（引脚 OUT · GND · VCC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378" y="1344168"/>
            <a:ext cx="1976124" cy="1472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2852928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原指南：限位开关模块（引脚 OUT · GND · VCC）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34747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它是做什么的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3822192"/>
            <a:ext cx="393192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限位开关用来反映设备机械位置的变化：设备一到预定位置就切换电路，从而实现右边这四种功能。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234440"/>
            <a:ext cx="189738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791456" y="13898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849" y="1473281"/>
            <a:ext cx="180685" cy="18068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30368" y="1234440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行程控制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走到头就停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835140" y="1234440"/>
            <a:ext cx="189738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63156" y="1389888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549" y="1473281"/>
            <a:ext cx="180685" cy="18068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02068" y="1234440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限位保护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防止冲过头撞坏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663440" y="2167128"/>
            <a:ext cx="189738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91456" y="232257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849" y="2405969"/>
            <a:ext cx="180685" cy="180685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30368" y="2167128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到位或越位就提醒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835140" y="2167128"/>
            <a:ext cx="1897380" cy="658368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963156" y="2322576"/>
            <a:ext cx="347472" cy="347472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549" y="2405969"/>
            <a:ext cx="180685" cy="180685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402068" y="2167128"/>
            <a:ext cx="12573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联锁启停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到位后再下一步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63440" y="3099816"/>
            <a:ext cx="4069080" cy="1472184"/>
          </a:xfrm>
          <a:prstGeom prst="roundRect">
            <a:avLst>
              <a:gd name="adj" fmla="val 745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4828032" y="3209544"/>
            <a:ext cx="3739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4828032" y="3529584"/>
            <a:ext cx="16682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4828032" y="3529584"/>
            <a:ext cx="166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569456" y="3529584"/>
            <a:ext cx="98475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6569456" y="3529584"/>
            <a:ext cx="98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4828032" y="3886200"/>
            <a:ext cx="13177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828032" y="3886200"/>
            <a:ext cx="131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限位开关模块 ×1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218936" y="3886200"/>
            <a:ext cx="120675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6218936" y="3886200"/>
            <a:ext cx="1206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LED 灯模块 ×1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4828032" y="4242816"/>
            <a:ext cx="11424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828032" y="4242816"/>
            <a:ext cx="1142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220Ω 电阻 ×1</a:t>
            </a:r>
            <a:endParaRPr lang="en-US" sz="1150" dirty="0"/>
          </a:p>
        </p:txBody>
      </p:sp>
      <p:sp>
        <p:nvSpPr>
          <p:cNvPr id="39" name="Shape 31"/>
          <p:cNvSpPr/>
          <p:nvPr/>
        </p:nvSpPr>
        <p:spPr>
          <a:xfrm>
            <a:off x="6043676" y="4242816"/>
            <a:ext cx="803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043676" y="4242816"/>
            <a:ext cx="80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实验原理：读懂原理图，压下为什么是 0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OUT 经 10K 电阻接到 5V（上拉），开关 K 一头接地：松开时 OUT 是高电平，压下时 OUT 被拉到 0V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9768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原理图：R1 1K · R2 10K · 开关 K · 接口 J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844" y="1344168"/>
            <a:ext cx="3672951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078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原指南原理图：R1 1K · R2 10K · 开关 K · 接口 J1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0" y="1234440"/>
            <a:ext cx="3703320" cy="1051560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212080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715000" y="132588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松开：OUT = 高电平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212080" y="17465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断开，R2 把 OUT 拉到 5V；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0D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模块上的 LED 两头都是 5V，不亮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029200" y="2286000"/>
            <a:ext cx="3703320" cy="1051560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12080" y="2377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0" y="237744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压下：OUT = 低电平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212080" y="279806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接通，OUT 直接接地；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电流经 R1、LED 流到地，模块上的 LED 亮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0" y="3611880"/>
            <a:ext cx="3703320" cy="960120"/>
          </a:xfrm>
          <a:prstGeom prst="roundRect">
            <a:avLst>
              <a:gd name="adj" fmla="val 11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75504" y="375818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508" y="3837188"/>
            <a:ext cx="171176" cy="1711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632704" y="37490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和按键模块一样：低电平有效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632704" y="4059936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R2 像弹簧把 OUT 拉在高处，压下才被拉到地，所以程序写 if(val==0)。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接线：OUT 接 10 号脚，LED 接 11 号脚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 OUT、GND、VCC 接 10、GND、5V；LED 长脚经 220Ω 电阻接 11，短脚接 GND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6634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黄线 10 → S · 红线 5V → V · 黑线 GND → 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353848"/>
            <a:ext cx="4443984" cy="28244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443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原指南接线图：黄线 10 → S · 红线 5V → V · 黑线 GND → G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34440"/>
          <a:ext cx="333756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限位开关模块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VCC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2606040"/>
          <a:ext cx="3337560" cy="91440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LED（中间加电阻）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长脚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短脚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5"/>
          <p:cNvSpPr/>
          <p:nvPr/>
        </p:nvSpPr>
        <p:spPr>
          <a:xfrm>
            <a:off x="5394960" y="370332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541264" y="384962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268" y="3928628"/>
            <a:ext cx="171176" cy="171176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998464" y="3840480"/>
            <a:ext cx="25877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接线图里的模块印着 S、G、V，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分别对应 OUT、GND、VCC。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代码：和按键实验是同一个骨架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→ 打印 → 判断 → 输出，四步不变；只是换成 10 号脚，条件写成 val==0（0 就是 LOW）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75488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limit_switch.ino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313432" y="129844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1–11 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4730" y="154533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接口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718056"/>
            <a:ext cx="46634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4730" y="171805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//定义限位开关接口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14730" y="189077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//定义数字变量 val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4730" y="206349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14730" y="223621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" y="240893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为输出接口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2581656"/>
            <a:ext cx="46634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814730" y="258165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//定义限位开关引脚为输出接口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2754376"/>
            <a:ext cx="466344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14730" y="275437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814730" y="292709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14730" y="309981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14730" y="3272536"/>
            <a:ext cx="422361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11480" y="3794760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11480" y="3794760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行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1081532" y="3785616"/>
            <a:ext cx="40848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限位开关接 10 号脚（按键实验接的是 7 号）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1480" y="4123944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11480" y="4123944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 行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1081532" y="4114800"/>
            <a:ext cx="40848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注释写“输出接口”是笔误：INPUT 是输入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440680" y="1234440"/>
            <a:ext cx="3291840" cy="2377440"/>
          </a:xfrm>
          <a:prstGeom prst="roundRect">
            <a:avLst>
              <a:gd name="adj" fmla="val 3846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568696" y="1298448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limit_switch.ino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757416" y="129844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12–22 行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5486400" y="1545336"/>
            <a:ext cx="32004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5321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5843930" y="154533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486400" y="1718056"/>
            <a:ext cx="32004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5321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5843930" y="171805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486400" y="1890776"/>
            <a:ext cx="32004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321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5843930" y="189077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55321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900" dirty="0"/>
          </a:p>
        </p:txBody>
      </p:sp>
      <p:sp>
        <p:nvSpPr>
          <p:cNvPr id="53" name="Text 50"/>
          <p:cNvSpPr txBox="1"/>
          <p:nvPr/>
        </p:nvSpPr>
        <p:spPr>
          <a:xfrm>
            <a:off x="5843930" y="206349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55321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900" dirty="0"/>
          </a:p>
        </p:txBody>
      </p:sp>
      <p:sp>
        <p:nvSpPr>
          <p:cNvPr id="55" name="Text 52"/>
          <p:cNvSpPr txBox="1"/>
          <p:nvPr/>
        </p:nvSpPr>
        <p:spPr>
          <a:xfrm>
            <a:off x="5843930" y="223621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55321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900" dirty="0"/>
          </a:p>
        </p:txBody>
      </p:sp>
      <p:sp>
        <p:nvSpPr>
          <p:cNvPr id="57" name="Text 54"/>
          <p:cNvSpPr txBox="1"/>
          <p:nvPr/>
        </p:nvSpPr>
        <p:spPr>
          <a:xfrm>
            <a:off x="5843930" y="240893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486400" y="2581656"/>
            <a:ext cx="32004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5321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900" dirty="0"/>
          </a:p>
        </p:txBody>
      </p:sp>
      <p:sp>
        <p:nvSpPr>
          <p:cNvPr id="60" name="Text 57"/>
          <p:cNvSpPr txBox="1"/>
          <p:nvPr/>
        </p:nvSpPr>
        <p:spPr>
          <a:xfrm>
            <a:off x="5843930" y="258165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55321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900" dirty="0"/>
          </a:p>
        </p:txBody>
      </p:sp>
      <p:sp>
        <p:nvSpPr>
          <p:cNvPr id="62" name="Text 59"/>
          <p:cNvSpPr txBox="1"/>
          <p:nvPr/>
        </p:nvSpPr>
        <p:spPr>
          <a:xfrm>
            <a:off x="5843930" y="275437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55321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64" name="Text 61"/>
          <p:cNvSpPr txBox="1"/>
          <p:nvPr/>
        </p:nvSpPr>
        <p:spPr>
          <a:xfrm>
            <a:off x="5843930" y="292709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55321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900" dirty="0"/>
          </a:p>
        </p:txBody>
      </p:sp>
      <p:sp>
        <p:nvSpPr>
          <p:cNvPr id="66" name="Text 63"/>
          <p:cNvSpPr txBox="1"/>
          <p:nvPr/>
        </p:nvSpPr>
        <p:spPr>
          <a:xfrm>
            <a:off x="5843930" y="309981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55321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5843930" y="3272536"/>
            <a:ext cx="27605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5440680" y="379476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5440680" y="379476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12–13 行</a:t>
            </a:r>
            <a:endParaRPr lang="en-US" sz="950" dirty="0"/>
          </a:p>
        </p:txBody>
      </p:sp>
      <p:sp>
        <p:nvSpPr>
          <p:cNvPr id="71" name="Text 68"/>
          <p:cNvSpPr txBox="1"/>
          <p:nvPr/>
        </p:nvSpPr>
        <p:spPr>
          <a:xfrm>
            <a:off x="6409944" y="378561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10 号脚并打印</a:t>
            </a:r>
            <a:endParaRPr lang="en-US" sz="1200" dirty="0"/>
          </a:p>
        </p:txBody>
      </p:sp>
      <p:sp>
        <p:nvSpPr>
          <p:cNvPr id="72" name="Shape 69"/>
          <p:cNvSpPr/>
          <p:nvPr/>
        </p:nvSpPr>
        <p:spPr>
          <a:xfrm>
            <a:off x="5440680" y="412394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5440680" y="412394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14–21 行</a:t>
            </a:r>
            <a:endParaRPr lang="en-US" sz="950" dirty="0"/>
          </a:p>
        </p:txBody>
      </p:sp>
      <p:sp>
        <p:nvSpPr>
          <p:cNvPr id="74" name="Text 71"/>
          <p:cNvSpPr txBox="1"/>
          <p:nvPr/>
        </p:nvSpPr>
        <p:spPr>
          <a:xfrm>
            <a:off x="6409944" y="4114800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val==0（压下）→ 灯亮；否则灭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实验三　限位开关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实验结果：压下开关，灯就亮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原指南：上传程序之后，按下限位开关，灯会随之亮起；串口里，松开是 1，压下是 0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84632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限位开关模块 + 面包板上的 LED 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63997"/>
            <a:ext cx="4626864" cy="26041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626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原指南实物照片：限位开关模块 + 面包板上的 LED 接 UNO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577840" y="1234440"/>
            <a:ext cx="31546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596128" y="1252728"/>
            <a:ext cx="3118104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705856" y="1271016"/>
            <a:ext cx="19559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串口监视器（示意）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155180" y="1271016"/>
            <a:ext cx="1449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9600 波特率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16367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5760720" y="181965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002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218541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5760720" y="236829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0" y="163677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松开：灯灭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6126480" y="200253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压下：灯亮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126480" y="236829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A9E9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← 松开：灯灭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577840" y="2990088"/>
            <a:ext cx="3154680" cy="1581912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96712" y="3108960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938" y="3179186"/>
            <a:ext cx="152156" cy="15215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117336" y="3108960"/>
            <a:ext cx="2496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压下了，灯却不亮？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117336" y="3456432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先看串口：数字会变 0，就去查 LED（长脚经电阻接 11）；数字不变，查 OUT 是否接在 10 号脚。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411480" y="3840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04</a:t>
            </a:r>
            <a:endParaRPr lang="en-US" sz="1100" dirty="0"/>
          </a:p>
        </p:txBody>
      </p:sp>
      <p:sp>
        <p:nvSpPr>
          <p:cNvPr id="4" name="Text 1"/>
          <p:cNvSpPr/>
          <p:nvPr>
            <p:ph idx="104" type="title" hasCustomPrompt="1"/>
          </p:nvPr>
        </p:nvSpPr>
        <p:spPr>
          <a:xfrm>
            <a:off x="411480" y="71323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倾斜开关模块实验</a:t>
            </a:r>
            <a:endParaRPr lang="en-US" sz="2800" dirty="0"/>
          </a:p>
        </p:txBody>
      </p:sp>
      <p:sp>
        <p:nvSpPr>
          <p:cNvPr id="5" name="Text 1"/>
          <p:cNvSpPr/>
          <p:nvPr>
            <p:ph idx="105" type="body" hasCustomPrompt="1"/>
          </p:nvPr>
        </p:nvSpPr>
        <p:spPr>
          <a:xfrm>
            <a:off x="411480" y="187452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里面藏着一颗会滚的小钢珠：一倾斜、一碰撞，电路就接通或断开。用它加上灯和蜂鸣器，做一个“碰一下就报警”的防盗装置。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60520" y="347472"/>
            <a:ext cx="2286000" cy="2112264"/>
          </a:xfrm>
          <a:prstGeom prst="rect">
            <a:avLst/>
          </a:prstGeom>
          <a:solidFill>
            <a:srgbClr val="40E0D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61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361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滚珠开关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47472"/>
            <a:ext cx="2286000" cy="2112264"/>
          </a:xfrm>
          <a:prstGeom prst="rect">
            <a:avLst/>
          </a:prstGeom>
          <a:solidFill>
            <a:srgbClr val="EBEBEB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7688" y="512064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1389888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原理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1801368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先观察，再判断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2459736"/>
            <a:ext cx="2286000" cy="2112264"/>
          </a:xfrm>
          <a:prstGeom prst="rect">
            <a:avLst/>
          </a:prstGeom>
          <a:solidFill>
            <a:srgbClr val="2D2D2D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61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361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FC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if 管两个输出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2459736"/>
            <a:ext cx="2286000" cy="21122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47688" y="262432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3502152"/>
            <a:ext cx="1883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39136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碰一下就报警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认识倾斜开关：管子里有颗小钢珠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倾斜开关又叫滚珠开关：钢珠滚到引脚那一端就把电路接通，滚走就断开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：倾斜传感器（正面）/（反面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09140"/>
            <a:ext cx="4096512" cy="16794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66344" y="3044952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原指南：倾斜传感器（正面）/（反面）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11480" y="36118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一颗钢珠当开关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11480" y="3959352"/>
            <a:ext cx="4206240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也叫钢珠开关、珠子开关，是震动开关的一种：靠珠子滚动去碰导针，让电路接通或断开。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937760" y="123444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120640" y="1915668"/>
            <a:ext cx="1371600" cy="91"/>
          </a:xfrm>
          <a:prstGeom prst="line">
            <a:avLst/>
          </a:prstGeom>
          <a:noFill/>
          <a:ln w="9525">
            <a:solidFill>
              <a:srgbClr val="9A9A9A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 flipH="1">
            <a:off x="5092753" y="1939835"/>
            <a:ext cx="443619" cy="110607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 flipH="1">
            <a:off x="5123723" y="2064048"/>
            <a:ext cx="443619" cy="110607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rot="20760000">
            <a:off x="5394960" y="17602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5000"/>
            </a:srgbClr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7553" y="1880639"/>
            <a:ext cx="223845" cy="223845"/>
          </a:xfrm>
          <a:prstGeom prst="ellipse">
            <a:avLst/>
          </a:prstGeom>
          <a:solidFill>
            <a:srgbClr val="40E0D0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907070" y="21674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157261" y="139166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帽盖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720840" y="13624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引脚端朝下超过 10°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720840" y="170992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钢珠滚到引脚处，把两根引脚接通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闭路 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937760" y="2834640"/>
            <a:ext cx="3794760" cy="1325880"/>
          </a:xfrm>
          <a:prstGeom prst="roundRect">
            <a:avLst>
              <a:gd name="adj" fmla="val 827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120640" y="3515868"/>
            <a:ext cx="1371600" cy="91"/>
          </a:xfrm>
          <a:prstGeom prst="line">
            <a:avLst/>
          </a:prstGeom>
          <a:noFill/>
          <a:ln w="9525">
            <a:solidFill>
              <a:srgbClr val="9A9A9A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 flipH="1" flipV="1">
            <a:off x="5123723" y="3256881"/>
            <a:ext cx="443619" cy="110607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flipH="1" flipV="1">
            <a:off x="5092753" y="3381095"/>
            <a:ext cx="443619" cy="110607"/>
          </a:xfrm>
          <a:prstGeom prst="line">
            <a:avLst/>
          </a:prstGeom>
          <a:noFill/>
          <a:ln w="28575">
            <a:solidFill>
              <a:srgbClr val="B8860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 rot="840000">
            <a:off x="5394960" y="336042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85000"/>
            </a:srgbClr>
          </a:solidFill>
          <a:ln w="15875">
            <a:solidFill>
              <a:srgbClr val="2D2D2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94362" y="3480839"/>
            <a:ext cx="223845" cy="223845"/>
          </a:xfrm>
          <a:prstGeom prst="ellipse">
            <a:avLst/>
          </a:prstGeom>
          <a:solidFill>
            <a:srgbClr val="9A9A9A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907070" y="30263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引脚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6157261" y="3820415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帽盖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6720840" y="29626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帽盖端朝下超过 10°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6720840" y="3310128"/>
            <a:ext cx="1883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钢珠滚到帽盖端，离开引脚 → </a:t>
            </a:r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开路 OFF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4937760" y="4233672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注：SW-520D 这类滚珠开关是“单方向触发”，只对这一个方向的倾斜敏感。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实验目的与原理：先观察，再判断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原指南对“何时输出低电平”有两种说法；程序只认一条规则：读到 0 就报警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788" y="1459748"/>
            <a:ext cx="171176" cy="17117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14984" y="13716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实验目的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014984" y="1682496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了解倾斜开关模块的工作原理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用倾斜开关做一个防盗报警装置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11480" y="2560320"/>
            <a:ext cx="3657600" cy="2011680"/>
          </a:xfrm>
          <a:prstGeom prst="roundRect">
            <a:avLst>
              <a:gd name="adj" fmla="val 5455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" y="267004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组件清单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76072" y="2990088"/>
            <a:ext cx="166827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76072" y="2990088"/>
            <a:ext cx="1668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Arduino UNO R3 主板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317496" y="2990088"/>
            <a:ext cx="65760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317496" y="2990088"/>
            <a:ext cx="6576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面包板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76072" y="3346704"/>
            <a:ext cx="98475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76072" y="3346704"/>
            <a:ext cx="98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USB 数据线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1633982" y="3346704"/>
            <a:ext cx="13177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633982" y="3346704"/>
            <a:ext cx="131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倾斜开关模块 ×1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76072" y="3703320"/>
            <a:ext cx="102565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76072" y="3703320"/>
            <a:ext cx="10256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贴片模块 ×1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1674876" y="3703320"/>
            <a:ext cx="117170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674876" y="3703320"/>
            <a:ext cx="1171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有源蜂鸣器 ×1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2919730" y="3703320"/>
            <a:ext cx="80365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919730" y="3703320"/>
            <a:ext cx="803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若干跳线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576072" y="4151376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注：“贴片模块”就是 RGB 贴片灯模块。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4389120" y="123444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原指南的两种说法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389120" y="1581912"/>
            <a:ext cx="4343400" cy="676656"/>
          </a:xfrm>
          <a:prstGeom prst="roundRect">
            <a:avLst>
              <a:gd name="adj" fmla="val 1621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535424" y="1700784"/>
            <a:ext cx="1001776" cy="21945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535424" y="1700784"/>
            <a:ext cx="1001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说法 A · 介绍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4535424" y="1984248"/>
            <a:ext cx="4050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感应到倾斜时，模块输出低电平，否则输出高电平。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389120" y="2532888"/>
            <a:ext cx="4343400" cy="914400"/>
          </a:xfrm>
          <a:prstGeom prst="roundRect">
            <a:avLst>
              <a:gd name="adj" fmla="val 12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535424" y="2651760"/>
            <a:ext cx="1255776" cy="219456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4535424" y="2651760"/>
            <a:ext cx="1255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说法 B · 实验原理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4535424" y="293522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静止时开关闭合；外力一碰，钢珠和导针分开、电路断开，就触发报警：LED 亮，蜂鸣器响。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4389120" y="3721608"/>
            <a:ext cx="4343400" cy="850392"/>
          </a:xfrm>
          <a:prstGeom prst="roundRect">
            <a:avLst>
              <a:gd name="adj" fmla="val 1290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572000" y="38313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程序只认一条规则：</a:t>
            </a:r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if(val==0) → 报警</a:t>
            </a:r>
            <a:endParaRPr lang="en-US" sz="1350" dirty="0"/>
          </a:p>
        </p:txBody>
      </p:sp>
      <p:sp>
        <p:nvSpPr>
          <p:cNvPr id="39" name="Text 35"/>
          <p:cNvSpPr txBox="1"/>
          <p:nvPr/>
        </p:nvSpPr>
        <p:spPr>
          <a:xfrm>
            <a:off x="4572000" y="41788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哪种姿势读到 0？上传程序后，打开串口自己看。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接线：三个模块，三张表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 S 接 12，RGB 贴片模块 R 接 11，蜂鸣器 S 接 13；倾斜开关和蜂鸣器从面包板电源轨取电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38912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pic>
        <p:nvPicPr>
          <p:cNvPr id="7" name="Image 0" descr="原指南接线图：上 RGB 贴片模块 · 中 蜂鸣器 · 下 倾斜开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511" y="1344168"/>
            <a:ext cx="4077058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原指南接线图：上 RGB 贴片模块 · 中 蜂鸣器 · 下 倾斜开关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234440"/>
          <a:ext cx="3611880" cy="914400"/>
        </p:xfrm>
        <a:graphic>
          <a:graphicData uri="http://schemas.openxmlformats.org/drawingml/2006/table">
            <a:tbl>
              <a:tblPr/>
              <a:tblGrid>
                <a:gridCol w="1805940"/>
                <a:gridCol w="18059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倾斜开关模块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2496312"/>
          <a:ext cx="3611880" cy="914400"/>
        </p:xfrm>
        <a:graphic>
          <a:graphicData uri="http://schemas.openxmlformats.org/drawingml/2006/table">
            <a:tbl>
              <a:tblPr/>
              <a:tblGrid>
                <a:gridCol w="1805940"/>
                <a:gridCol w="18059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贴片模块（RGB 灯）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3511296"/>
          <a:ext cx="3611880" cy="914400"/>
        </p:xfrm>
        <a:graphic>
          <a:graphicData uri="http://schemas.openxmlformats.org/drawingml/2006/table">
            <a:tbl>
              <a:tblPr/>
              <a:tblGrid>
                <a:gridCol w="1805940"/>
                <a:gridCol w="18059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Arduino UNO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有源蜂鸣器</a:t>
                      </a:r>
                      <a:endParaRPr lang="en-US" sz="10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GND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新语法④：一个 if 管两件事，// 让代码“休息”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大括号里可以写好几句，条件成立时一起执行；行首加 // 的代码变成注释，Arduino 会跳过它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1482060"/>
            <a:ext cx="199705" cy="19970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0642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if，管两件事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1883664"/>
            <a:ext cx="3634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大括号像打包袋：成立时，里面几句一起执行。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94360" y="2249424"/>
            <a:ext cx="3634740" cy="1116330"/>
          </a:xfrm>
          <a:prstGeom prst="roundRect">
            <a:avLst>
              <a:gd name="adj" fmla="val 655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" y="234086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740664" y="252755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2714244"/>
            <a:ext cx="354330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" y="271424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0080" y="2900934"/>
            <a:ext cx="3543300" cy="18669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40664" y="290093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5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40664" y="3087624"/>
            <a:ext cx="3342132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94360" y="3548634"/>
            <a:ext cx="3634740" cy="877062"/>
          </a:xfrm>
          <a:prstGeom prst="roundRect">
            <a:avLst>
              <a:gd name="adj" fmla="val 12511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13232" y="3667506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58" y="3737732"/>
            <a:ext cx="152156" cy="1521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33856" y="3667506"/>
            <a:ext cx="297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漏写大括号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133856" y="4014978"/>
            <a:ext cx="2976372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if 只管第一句；有 else 时还会报错。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32020" y="1234440"/>
            <a:ext cx="400050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490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072" y="1482060"/>
            <a:ext cx="199705" cy="199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26964" y="1389888"/>
            <a:ext cx="31226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// 注释：写给人看的便利贴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4914900" y="1883664"/>
            <a:ext cx="3634740" cy="436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// 后面的内容 Arduino 一律跳过。在一行代码前加上 //，它就“休息”了，这叫“注释掉”。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914900" y="2429955"/>
            <a:ext cx="3634740" cy="387350"/>
          </a:xfrm>
          <a:prstGeom prst="roundRect">
            <a:avLst>
              <a:gd name="adj" fmla="val 18885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061204" y="2521395"/>
            <a:ext cx="3342132" cy="204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delay(1000);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4914900" y="2908745"/>
            <a:ext cx="36347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20 行就是这样：delay 被注释掉了，不执行。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914900" y="3512249"/>
            <a:ext cx="3634740" cy="913448"/>
          </a:xfrm>
          <a:prstGeom prst="roundRect">
            <a:avLst>
              <a:gd name="adj" fmla="val 12013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5033772" y="3631120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3998" y="3701346"/>
            <a:ext cx="152156" cy="15215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54396" y="3631120"/>
            <a:ext cx="29763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注释也会写错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5454396" y="3978592"/>
            <a:ext cx="2976372" cy="383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9、14、16 行的注释都和代码不符。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代码逐行看懂（1/2）：三个引脚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这次要管三个元件：灯和蜂鸣器是输出，倾斜开关是输入，另外打开串口用来观察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2697480"/>
          </a:xfrm>
          <a:prstGeom prst="roundRect">
            <a:avLst>
              <a:gd name="adj" fmla="val 339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tilt_alarm.ino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129844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1–13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50292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814730" y="154533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接口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8056"/>
            <a:ext cx="50292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180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14730" y="171805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1890776"/>
            <a:ext cx="50292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8907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14730" y="189077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//定义倾斜开关传感器接口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20634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14730" y="206349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//定义数字变量 val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22362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14730" y="223621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24089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14730" y="240893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502920" y="25816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14730" y="258165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 LED 为输出接口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27543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14730" y="275437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2927096"/>
            <a:ext cx="50292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02920" y="292709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814730" y="292709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pinMode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0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//定义倾斜开关传感器为输出接口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457200" y="3099816"/>
            <a:ext cx="5029200" cy="17272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02920" y="309981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14730" y="309981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327253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814730" y="327253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" y="344525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814730" y="344525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502920" y="3617976"/>
            <a:ext cx="198780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14730" y="3617976"/>
            <a:ext cx="4589374" cy="172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11480" y="4206240"/>
            <a:ext cx="5120640" cy="365760"/>
          </a:xfrm>
          <a:prstGeom prst="roundRect">
            <a:avLst>
              <a:gd name="adj" fmla="val 30000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7784" y="4251960"/>
            <a:ext cx="274320" cy="274320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317797"/>
            <a:ext cx="142646" cy="142646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960120" y="42062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12 行起是 loop()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：读开关、判断、报警，下一页接着看</a:t>
            </a:r>
            <a:endParaRPr lang="en-US" sz="1200" dirty="0"/>
          </a:p>
        </p:txBody>
      </p:sp>
      <p:sp>
        <p:nvSpPr>
          <p:cNvPr id="44" name="Text 40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5852160" y="1600200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5852160" y="1600200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1–3 行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6666992" y="1591056"/>
            <a:ext cx="206552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接灯，13 接蜂鸣器，12 接倾斜开关</a:t>
            </a:r>
            <a:endParaRPr lang="en-US" sz="1200" dirty="0"/>
          </a:p>
        </p:txBody>
      </p:sp>
      <p:sp>
        <p:nvSpPr>
          <p:cNvPr id="48" name="Shape 44"/>
          <p:cNvSpPr/>
          <p:nvPr/>
        </p:nvSpPr>
        <p:spPr>
          <a:xfrm>
            <a:off x="5852160" y="209092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5"/>
          <p:cNvSpPr txBox="1"/>
          <p:nvPr/>
        </p:nvSpPr>
        <p:spPr>
          <a:xfrm>
            <a:off x="5852160" y="209092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4 行</a:t>
            </a:r>
            <a:endParaRPr lang="en-US" sz="950" dirty="0"/>
          </a:p>
        </p:txBody>
      </p:sp>
      <p:sp>
        <p:nvSpPr>
          <p:cNvPr id="50" name="Text 46"/>
          <p:cNvSpPr txBox="1"/>
          <p:nvPr/>
        </p:nvSpPr>
        <p:spPr>
          <a:xfrm>
            <a:off x="6522212" y="2081784"/>
            <a:ext cx="22103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val：装读数的盒子，先放 0</a:t>
            </a:r>
            <a:endParaRPr lang="en-US" sz="1200" dirty="0"/>
          </a:p>
        </p:txBody>
      </p:sp>
      <p:sp>
        <p:nvSpPr>
          <p:cNvPr id="51" name="Shape 47"/>
          <p:cNvSpPr/>
          <p:nvPr/>
        </p:nvSpPr>
        <p:spPr>
          <a:xfrm>
            <a:off x="5852160" y="2558288"/>
            <a:ext cx="72339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8"/>
          <p:cNvSpPr txBox="1"/>
          <p:nvPr/>
        </p:nvSpPr>
        <p:spPr>
          <a:xfrm>
            <a:off x="5852160" y="2558288"/>
            <a:ext cx="72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7–8 行</a:t>
            </a:r>
            <a:endParaRPr lang="en-US" sz="950" dirty="0"/>
          </a:p>
        </p:txBody>
      </p:sp>
      <p:sp>
        <p:nvSpPr>
          <p:cNvPr id="53" name="Text 49"/>
          <p:cNvSpPr txBox="1"/>
          <p:nvPr/>
        </p:nvSpPr>
        <p:spPr>
          <a:xfrm>
            <a:off x="6666992" y="2549144"/>
            <a:ext cx="206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灯和蜂鸣器设为输出</a:t>
            </a:r>
            <a:endParaRPr lang="en-US" sz="1200" dirty="0"/>
          </a:p>
        </p:txBody>
      </p:sp>
      <p:sp>
        <p:nvSpPr>
          <p:cNvPr id="54" name="Shape 50"/>
          <p:cNvSpPr/>
          <p:nvPr/>
        </p:nvSpPr>
        <p:spPr>
          <a:xfrm>
            <a:off x="5852160" y="2903728"/>
            <a:ext cx="578612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5852160" y="2903728"/>
            <a:ext cx="578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950" dirty="0"/>
          </a:p>
        </p:txBody>
      </p:sp>
      <p:sp>
        <p:nvSpPr>
          <p:cNvPr id="56" name="Text 52"/>
          <p:cNvSpPr txBox="1"/>
          <p:nvPr/>
        </p:nvSpPr>
        <p:spPr>
          <a:xfrm>
            <a:off x="6522212" y="2894584"/>
            <a:ext cx="2210308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倾斜开关设为输入（注释“输出”是笔误）</a:t>
            </a:r>
            <a:endParaRPr lang="en-US" sz="1200" dirty="0"/>
          </a:p>
        </p:txBody>
      </p:sp>
      <p:sp>
        <p:nvSpPr>
          <p:cNvPr id="57" name="Shape 53"/>
          <p:cNvSpPr/>
          <p:nvPr/>
        </p:nvSpPr>
        <p:spPr>
          <a:xfrm>
            <a:off x="5852160" y="3394456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5852160" y="3394456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 行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6599428" y="3385312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打开串口，速度 9600</a:t>
            </a:r>
            <a:endParaRPr lang="en-US" sz="1200" dirty="0"/>
          </a:p>
        </p:txBody>
      </p:sp>
      <p:sp>
        <p:nvSpPr>
          <p:cNvPr id="60" name="Shape 56"/>
          <p:cNvSpPr/>
          <p:nvPr/>
        </p:nvSpPr>
        <p:spPr>
          <a:xfrm>
            <a:off x="5852160" y="3833368"/>
            <a:ext cx="2880360" cy="738632"/>
          </a:xfrm>
          <a:prstGeom prst="roundRect">
            <a:avLst>
              <a:gd name="adj" fmla="val 1485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998464" y="397967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468" y="4058676"/>
            <a:ext cx="171176" cy="171176"/>
          </a:xfrm>
          <a:prstGeom prst="rect">
            <a:avLst/>
          </a:prstGeom>
        </p:spPr>
      </p:pic>
      <p:sp>
        <p:nvSpPr>
          <p:cNvPr id="63" name="Text 58"/>
          <p:cNvSpPr txBox="1"/>
          <p:nvPr/>
        </p:nvSpPr>
        <p:spPr>
          <a:xfrm>
            <a:off x="6455664" y="3970528"/>
            <a:ext cx="2130552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buttonpin 是沿用按键实验的名字，其实接的是倾斜开关。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代码逐行看懂（2/2）：读到 0 就报警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loop() 一直在问：倾斜开关读到 0 了吗？是 → 灯亮、蜂鸣器响；否 → 全部关掉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5120640" cy="3337560"/>
          </a:xfrm>
          <a:prstGeom prst="roundRect">
            <a:avLst>
              <a:gd name="adj" fmla="val 2740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9496" y="129844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tilt_alarm.ino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459736" y="129844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9A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14–27 行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545336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154533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842254" y="1545336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//将数字接口 A5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35328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173532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42254" y="1735328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的值读取赋给 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1925320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92532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42254" y="1925320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115312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211531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842254" y="2115312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//当倾斜开关传感器检测有信号时，LED 闪烁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02920" y="230530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842254" y="2305304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2495296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" y="249529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842254" y="2495296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57200" y="2685288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" y="268528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42254" y="2685288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2875280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02920" y="287528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42254" y="2875280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i="1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delay(1000);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" y="306527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42254" y="3065272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3255264"/>
            <a:ext cx="5029200" cy="189992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02920" y="325526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42254" y="3255264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rgbClr val="40E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3445256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842254" y="3445256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02920" y="3635248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842254" y="3635248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" y="3825240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42254" y="3825240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02920" y="4015232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842254" y="4015232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502920" y="4205224"/>
            <a:ext cx="218658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842254" y="4205224"/>
            <a:ext cx="4561850" cy="189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852160" y="1234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逐行看懂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5852160" y="1600200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852160" y="1600200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14–15 行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6821424" y="1591056"/>
            <a:ext cx="19110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12 号脚存进 val，再打印出来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852160" y="2100580"/>
            <a:ext cx="655828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852160" y="2100580"/>
            <a:ext cx="6558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6599428" y="2091436"/>
            <a:ext cx="21330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 是 0 就报警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5852160" y="2480564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852160" y="2480564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18–20 行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6821424" y="2471420"/>
            <a:ext cx="1911096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灯亮、蜂鸣器响；第 20 行不执行</a:t>
            </a:r>
            <a:endParaRPr lang="en-US" sz="1200" dirty="0"/>
          </a:p>
        </p:txBody>
      </p:sp>
      <p:sp>
        <p:nvSpPr>
          <p:cNvPr id="57" name="Shape 54"/>
          <p:cNvSpPr/>
          <p:nvPr/>
        </p:nvSpPr>
        <p:spPr>
          <a:xfrm>
            <a:off x="5852160" y="3240532"/>
            <a:ext cx="877824" cy="219456"/>
          </a:xfrm>
          <a:prstGeom prst="roundRect">
            <a:avLst>
              <a:gd name="adj" fmla="val 50000"/>
            </a:avLst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5852160" y="3240532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22–25 行</a:t>
            </a:r>
            <a:endParaRPr lang="en-US" sz="950" dirty="0"/>
          </a:p>
        </p:txBody>
      </p:sp>
      <p:sp>
        <p:nvSpPr>
          <p:cNvPr id="59" name="Text 56"/>
          <p:cNvSpPr txBox="1"/>
          <p:nvPr/>
        </p:nvSpPr>
        <p:spPr>
          <a:xfrm>
            <a:off x="6821424" y="3231388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否则：灯灭、蜂鸣器停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5852160" y="3675888"/>
            <a:ext cx="2880360" cy="896112"/>
          </a:xfrm>
          <a:prstGeom prst="roundRect">
            <a:avLst>
              <a:gd name="adj" fmla="val 12245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998464" y="382219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7468" y="3901196"/>
            <a:ext cx="171176" cy="171176"/>
          </a:xfrm>
          <a:prstGeom prst="rect">
            <a:avLst/>
          </a:prstGeom>
        </p:spPr>
      </p:pic>
      <p:sp>
        <p:nvSpPr>
          <p:cNvPr id="63" name="Text 59"/>
          <p:cNvSpPr txBox="1"/>
          <p:nvPr/>
        </p:nvSpPr>
        <p:spPr>
          <a:xfrm>
            <a:off x="6455664" y="3813048"/>
            <a:ext cx="21305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注释笔误：第 14 行读的是 12 号脚，不是 A5；第 16 行灯是常亮，不是闪烁。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实验结果：碰一下就报警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原指南：烧录程序后，把倾斜开关模块稍微触碰一下，即可触发报警——LED 灯亮，蜂鸣器响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206240" cy="3337560"/>
          </a:xfrm>
          <a:prstGeom prst="roundRect">
            <a:avLst>
              <a:gd name="adj" fmla="val 3288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pic>
        <p:nvPicPr>
          <p:cNvPr id="7" name="Image 0" descr="原指南实物照片：倾斜开关、RGB 贴片模块、有源蜂鸣器接 U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163" y="1344168"/>
            <a:ext cx="3794874" cy="28437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1208" y="4224528"/>
            <a:ext cx="3986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原指南实物照片：倾斜开关、RGB 贴片模块、有源蜂鸣器接 UNO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937760" y="1234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动手观察：打开串口，填一填</a:t>
            </a:r>
            <a:endParaRPr lang="en-US" sz="13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600200"/>
          <a:ext cx="37947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模块的姿势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报警了吗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平放、静止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引脚端朝下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帽盖端朝下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轻轻碰一下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4937760" y="3429000"/>
            <a:ext cx="3794760" cy="1143000"/>
          </a:xfrm>
          <a:prstGeom prst="roundRect">
            <a:avLst>
              <a:gd name="adj" fmla="val 9600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5084064" y="3575304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068" y="3654308"/>
            <a:ext cx="171176" cy="17117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541264" y="356616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找规律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5541264" y="3877056"/>
            <a:ext cx="3044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读到 0 的姿势就会报警；以你在串口里看到的为准，不用死记。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实验四　倾斜开关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常见坑与动手改一改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原程序有三处注释和代码对不上；加上熄灭和 delay，就能做出真正“闪烁”的报警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40233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57784" y="1380744"/>
            <a:ext cx="310896" cy="31089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99" y="1455359"/>
            <a:ext cx="161666" cy="16166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96696" y="1380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三处注释和代码对不上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" y="1837944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94360" y="183794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9 行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435608" y="18196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注释写“输出接口”，代码是 INPUT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4360" y="2185416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" y="218541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 行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435608" y="2167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注释写“A5”，实际读 12 号脚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94360" y="2532888"/>
            <a:ext cx="749808" cy="237744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94360" y="253288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16 行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1435608" y="2514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注释写“闪烁”，实际是常亮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32004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0352" y="3319272"/>
            <a:ext cx="292608" cy="29260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8" y="3389498"/>
            <a:ext cx="152156" cy="15215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50976" y="331927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一直报警，停不下来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950976" y="3666744"/>
            <a:ext cx="336499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先看串口：一直是 0，说明模块此刻的姿势正好读到 0，换个姿势放；数字乱跳，查 S 线是否插牢在 12 号脚。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754880" y="1234440"/>
            <a:ext cx="3977640" cy="3337560"/>
          </a:xfrm>
          <a:prstGeom prst="roundRect">
            <a:avLst>
              <a:gd name="adj" fmla="val 3288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37760" y="1389888"/>
            <a:ext cx="384048" cy="384048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932" y="1482060"/>
            <a:ext cx="199705" cy="19970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449824" y="138988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动手改一改：真的“闪”起来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4937760" y="18928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if 里的两句换成下面 6 句：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4937760" y="2240280"/>
            <a:ext cx="3611880" cy="1356360"/>
          </a:xfrm>
          <a:prstGeom prst="roundRect">
            <a:avLst>
              <a:gd name="adj" fmla="val 5393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5084064" y="233172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5084064" y="252730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983480" y="2722880"/>
            <a:ext cx="352044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084064" y="272288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亮 0.1 秒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5084064" y="291846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5084064" y="311404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D9D9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Buzzer_pin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4983480" y="3309620"/>
            <a:ext cx="3520440" cy="195580"/>
          </a:xfrm>
          <a:prstGeom prst="rect">
            <a:avLst/>
          </a:prstGeom>
          <a:solidFill>
            <a:srgbClr val="3E5250"/>
          </a:solidFill>
          <a:ln w="12700">
            <a:solidFill>
              <a:srgbClr val="3E5250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084064" y="3309620"/>
            <a:ext cx="3319272" cy="195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7C8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indent="0" marL="0">
              <a:buNone/>
            </a:pPr>
            <a:r>
              <a:rPr lang="en-US" sz="1100" dirty="0">
                <a:solidFill>
                  <a:srgbClr val="BDBD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  <a:pPr indent="0" marL="0">
              <a:buNone/>
            </a:pPr>
            <a:r>
              <a:rPr lang="en-US" sz="1100" dirty="0">
                <a:solidFill>
                  <a:srgbClr val="8E8E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灭 0.1 秒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4937760" y="3733800"/>
            <a:ext cx="3611880" cy="728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loop 一圈圈重复，报警就变成“滴滴”闪响。把 100 改成 300，节奏会怎样？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0" y="473659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8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本节小结：四个传感器，一个骨架</a:t>
            </a:r>
            <a:endParaRPr lang="en-US" sz="2400" dirty="0"/>
          </a:p>
        </p:txBody>
      </p:sp>
      <p:sp>
        <p:nvSpPr>
          <p:cNvPr id="4" name="Text 1"/>
          <p:cNvSpPr/>
          <p:nvPr>
            <p:ph idx="104" type="body" hasCustomPrompt="1"/>
          </p:nvPr>
        </p:nvSpPr>
        <p:spPr>
          <a:xfrm>
            <a:off x="411480" y="78638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四个程序都是“读 → 打印 → 判断 → 输出”；变的只是引脚号，以及触发时读到 0 还是 1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" y="1234440"/>
            <a:ext cx="1840230" cy="658368"/>
          </a:xfrm>
          <a:prstGeom prst="roundRect">
            <a:avLst>
              <a:gd name="adj" fmla="val 1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7784" y="1234440"/>
            <a:ext cx="1620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 读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digitalRead()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97430" y="1563624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71750" y="1234440"/>
            <a:ext cx="1840230" cy="658368"/>
          </a:xfrm>
          <a:prstGeom prst="roundRect">
            <a:avLst>
              <a:gd name="adj" fmla="val 1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18054" y="1234440"/>
            <a:ext cx="1620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 打印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Serial.println()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57700" y="1563624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732020" y="1234440"/>
            <a:ext cx="1840230" cy="658368"/>
          </a:xfrm>
          <a:prstGeom prst="roundRect">
            <a:avLst>
              <a:gd name="adj" fmla="val 16667"/>
            </a:avLst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78324" y="1234440"/>
            <a:ext cx="1620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0E0D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 判断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… else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617970" y="1563624"/>
            <a:ext cx="228600" cy="91"/>
          </a:xfrm>
          <a:prstGeom prst="line">
            <a:avLst/>
          </a:prstGeom>
          <a:noFill/>
          <a:ln w="1587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892290" y="1234440"/>
            <a:ext cx="1840230" cy="658368"/>
          </a:xfrm>
          <a:prstGeom prst="roundRect">
            <a:avLst>
              <a:gd name="adj" fmla="val 16667"/>
            </a:avLst>
          </a:prstGeom>
          <a:solidFill>
            <a:srgbClr val="E3FAF7"/>
          </a:solidFill>
          <a:ln w="12700">
            <a:solidFill>
              <a:srgbClr val="E3FAF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038594" y="1234440"/>
            <a:ext cx="16207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 输出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digitalWrite()</a:t>
            </a:r>
            <a:endParaRPr lang="en-US" sz="11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67128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960120"/>
                <a:gridCol w="1188720"/>
                <a:gridCol w="1600200"/>
                <a:gridCol w="2468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传感器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输入脚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触发动作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触发时读到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if 的条件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控制的输出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按键模块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0（LOW）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value == LOW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LED（11）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触摸开关模块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摸到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1（HIGH）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val==1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灯（A5）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限位开关模块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val==0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LED（11）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倾斜开关模块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看串口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时报警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val==0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灯（11）＋ 蜂鸣器（13）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41148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3949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500" y="4175516"/>
            <a:ext cx="171176" cy="17117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78408" y="3950208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== 是比较，= 是赋值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327660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40461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620" y="4175516"/>
            <a:ext cx="171176" cy="17117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843528" y="3950208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A0～A5 也能当数字口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141720" y="3950208"/>
            <a:ext cx="2590800" cy="621792"/>
          </a:xfrm>
          <a:prstGeom prst="roundRect">
            <a:avLst>
              <a:gd name="adj" fmla="val 1764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269736" y="4096512"/>
            <a:ext cx="329184" cy="329184"/>
          </a:xfrm>
          <a:prstGeom prst="ellipse">
            <a:avLst/>
          </a:prstGeom>
          <a:solidFill>
            <a:srgbClr val="40E0D0"/>
          </a:solidFill>
          <a:ln w="12700">
            <a:solidFill>
              <a:srgbClr val="40E0D0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40" y="4175516"/>
            <a:ext cx="171176" cy="17117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708648" y="3950208"/>
            <a:ext cx="19324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注释只给人看，以代码为准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4736592"/>
            <a:ext cx="393192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00">
                <a:solidFill>
                  <a:srgbClr val="6B6B6B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一个骨架，四种感知</a:t>
            </a:r>
            <a:endParaRPr lang="en-US" sz="3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02920" y="2057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学会了数字输入，Arduino 就能“听见”按键、手指、碰撞和倾斜。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把它们用进你的设计吧！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duino Turquoise">
  <a:themeElements>
    <a:clrScheme name="Arduino Turquoise">
      <a:dk1>
        <a:srgbClr val="2D2D2D"/>
      </a:dk1>
      <a:lt1>
        <a:srgbClr val="FFFFFF"/>
      </a:lt1>
      <a:dk2>
        <a:srgbClr val="6B6B6B"/>
      </a:dk2>
      <a:lt2>
        <a:srgbClr val="F5F5F5"/>
      </a:lt2>
      <a:accent1>
        <a:srgbClr val="40E0D0"/>
      </a:accent1>
      <a:accent2>
        <a:srgbClr val="EBEBEB"/>
      </a:accent2>
      <a:accent3>
        <a:srgbClr val="E2E2E2"/>
      </a:accent3>
      <a:accent4>
        <a:srgbClr val="2D2D2D"/>
      </a:accent4>
      <a:accent5>
        <a:srgbClr val="E5484D"/>
      </a:accent5>
      <a:accent6>
        <a:srgbClr val="1A9E92"/>
      </a:accent6>
      <a:hlink>
        <a:srgbClr val="1A9E92"/>
      </a:hlink>
      <a:folHlink>
        <a:srgbClr val="6B6B6B"/>
      </a:folHlink>
    </a:clrScheme>
    <a:fontScheme name="Arduino Turquois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湖北工业大学 · 工业设计学院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1-2 开关类传感器：按键 · 触摸开关 · 限位开关 · 倾斜开关</dc:title>
  <dc:subject>Arduino 编程</dc:subject>
  <dc:creator>湖北工业大学 · 工业设计学院</dc:creator>
  <cp:lastModifiedBy>湖北工业大学 · 工业设计学院</cp:lastModifiedBy>
  <cp:revision>1</cp:revision>
  <dcterms:created xsi:type="dcterms:W3CDTF">2026-10-14T14:26:04Z</dcterms:created>
  <dcterms:modified xsi:type="dcterms:W3CDTF">2026-10-14T14:26:04Z</dcterms:modified>
</cp:coreProperties>
</file>