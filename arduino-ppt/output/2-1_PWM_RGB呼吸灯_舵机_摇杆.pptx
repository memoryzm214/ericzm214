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导入" id="{01ba78de-8c5a-0ccd-4741-291bc1eb5f6d}">
          <p14:sldIdLst>
            <p14:sldId id="257"/>
          </p14:sldIdLst>
        </p14:section>
        <p14:section name="实验一　PWM 调光" id="{729ccd82-546a-4974-0c9c-b6dcad6b0d49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实验二　RGB 呼吸灯" id="{fbeb1942-9aef-2425-5100-4567e135d136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实验三　电位器调节舵机" id="{334a3cb9-8f71-8fed-ab3b-c76ca08c99e9}">
          <p14:sldIdLst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实验四　摇杆模块" id="{ce54f869-7e5e-1e64-89a5-0454c0c27d45}">
          <p14:sldIdLst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</p14:sldIdLst>
        </p14:section>
        <p14:section name="小结" id="{8f3c4f69-1afc-7f4e-a897-45a34f74ca95}">
          <p14:sldIdLst>
            <p14:sldId id="299"/>
            <p14:sldId id="30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这节课做四个实验，主题是“中间值”：数字引脚只会 0V 和 5V，怎样让 LED 半亮、让 RGB 灯混出颜色、让舵机停在 37°？开场可以先展示一个呼吸灯或转动的舵机，再问学生：Arduino 只会开和关，它是怎么做到的？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先给学生一张地图：这节课按指南顺序做四个实验。前两个用 PWM 让 LED 有“半亮”、让 RGB 灯混出颜色；第三个用脉冲宽度指挥舵机转到指定角度；第四个反过来，读摇杆里两个电位器的“中间值”和七个按键。右边的标签是每个实验要学的新语法，下课前再回来对照一遍。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实验一分四步：先弄懂 PWM 怎样用“快速开关”调出中间电压，再接线、读代码、看结果。1-3 光敏实验里已经见过 analogWrite()，这次把它讲透。提醒学生准备 10k 电位器、红色 LED 和 220Ω 电阻。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先问学生：数字引脚只会 0V 和 5V，怎么让 LED 半亮？答案是“快速开关”。用右图验证公式：75% 的时间是 5V，平均就是 5 × 75% = 3.75V；50% 对应 2.5V，20% 对应 1V。“开着的时间占整个周期的比例”就叫占空比，左下角是原指南列出的 PWM 三个要素。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1-3 的 AD 实验已经用过电位器，这里复习它的接法。右边四条是原指南的说明：两端之间电阻固定，中间脚像一个滑块；本实验把它当分压器用，所以两端接 5V 和 GND，中间脚接 A0。左图红色箭头标的“接地 / 输出 / 输入”就是这三个脚。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原指南只给了接线图，右边的表格是从图上读出来的：电位器左脚经红线接 5V，右脚经黑线接 GND，中间脚经蓝线接 A0；黄线从 11 号脚接到 LED 长脚，LED 短脚串一个 220Ω 电阻接到 GND。强调 LED 一定要接带 ~ 的引脚，11 号正好是。接线前先拔掉 USB。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1-3 光敏实验见过 analogWrite()，这次把它讲透：第二个参数 0～255 共 256 档，数值越大，“开”的时间占比越大，平均电压越高。左图四行把数值、波形、占空比和平均电压对应起来，128 正好约一半，平均约 2.5V。原指南写“频率固定 50Hz、参数 0～256”是笔误：UNO 的 PWM 约 490Hz（5、6 号约 980Hz），范围是 0～255。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 4 行准备了引脚名和两个变量：value 是整数，装读数；voltage 是 float，能装小数。setup() 里把 A0 设为输入、11 号设为输出，再打开串口。下方的四步是原指南的“程序原理”：读旋钮 → 换成比例 → 换成 PWM 值 → 输出，下一页的 loop() 就是照这四步写的。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高亮的四行就是上一页的四步。第 16 行先用 (float) 把读数变成小数再除以 1023，得到 0～1 的比例——原注释写“计算电压”，其实没有乘 5，所以它并不是电压。第 19 行乘 256 再用 (int) 去掉小数，得到 PWM 值；读数满 1023 时会算出 256，这个坑后面专门讲。其余几行把三个数打印到同一行，delay(0) 等于不等待。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上传程序后打开串口监视器（9600），一边转旋钮一边看灯和数字。提醒学生两点：voltage 只在 0.00～1.00 之间变化，因为程序算的是比例；截图是“两行一组”，而这段程序打印的是一行三项，说明截图来自旧版程序，以自己屏幕上的输出为准。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左边三个坑都来自这段程序本身。最隐蔽的是第二个：读数正好 1023 时算出 256，超出 analogWrite 的 0～255，灯会突然几乎熄灭，而不是最亮。右边三个改法当堂试：用 map() 一步换算、乘 5 打印真实电压、把 map 的最后两个数对调让旋钮反着调。每次只改一处，上传后看串口验证。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实验二接着用 PWM，只是一次控制三路。新语法有两个：#define 给数字起外号、带参数的函数 setColor()。for 循环 1-3 学过，这次让循环变量 i 直接当亮度用，就有了渐变效果。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RGB 是红、绿、蓝三个英文单词的首字母，屏幕上的每个像素也是这样混色的。每个通道 256 级，三个通道自由组合就是 256 × 256 × 256 = 16777216 种颜色，多到肉眼几乎分不出和真实颜色的差别。右图是“加色混合”：光叠加得越多越亮，三色全开就是白光——这和颜料越混越暗正好相反。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照接线表接四根线：红线 R 接 11，绿线 G 接 10，蓝线 B 接 9，黑线接 GND。三个颜色脚都必须接带 ~ 的引脚，因为每一路都要用 PWM 调亮度。这个模块用法和光敏实验里的 RGB 模块一样，只是这次三种颜色都用上了。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#define 像手机通讯录：存一次“RGB_RED 就是 11”，以后写名字就行，编译时会自动换回 11。1-3 学过的函数是“不带材料”的菜谱；这次的 setColor 带三个参数，像点奶茶要报甜度和冰量，调用时报的三个数会按顺序装进 red、green、blue。两个常见错误：#define 行末加分号或等号；参数顺序弄反，颜色就错了。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1–3 行用 #define 起外号，注意行末没有分号。setup() 只做一次：三个颜色脚都设为输出。第 12–17 行定义 setColor()：括号里的 int red, int green, int blue 是三个参数，调用时传进来的三个数就装在里面，再由三个 analogWrite 分别送到 11、10、9 号脚。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循环 1-3 学过：起点 i=0，条件 i&lt;256，每圈 i++。这次的新用法是把计数器 i 直接当亮度：setColor(i,0,0) 让红色等于 i，绿和蓝为 0。256 级 × 4 毫秒约 1 秒，所以红灯用 1 秒从灭到最亮，然后停 0.5 秒。可以请学生算一算：delay(4) 改成 delay(10) 要多久？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让学生先找不同：三段 for 只有 setColor 里 i 的位置不一样。注意 setColor(0,i,0) 一开始就把红色设成 0，所以红灯是“突然熄灭”的，下一页的实验结果和后面的“动手改一改”都会用到这个发现。第 42 行的右大括号结束 loop()，然后马上回到第 19 行，红色重新开始。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原指南的结果写的是“先是红色，然后绿色、蓝色”，照片拍下的是绿色那一段。让学生对照右边的时间线观察：渐亮约 1 秒，停 0.5 秒，然后颜色突然切换。一轮 1.02 + 0.5 + 1.02 + 0.5 + 1.02 + 0.1 ≈ 4.2 秒。看到“突然熄灭”了吗？这说明它还不是真正的“呼吸”，下一页来改。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先看左边两张亮度曲线：原程序像锯齿，亮到顶就掉下来；真正的呼吸像山峰，一呼一吸。改法很简单：在红色渐亮的 for 后面，再加一个 i 从 255 减到 0 的 for，绿色、蓝色照样各加一段。i-- 表示每圈减 1。顺便提醒一个边界错误：i&lt;256 不能写成 i&lt;=256，否则 i 会数到 256，超出 0～255。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实验三从“调亮度”变成“调角度”。先认识舵机内部的闭环反馈，再看它听懂的信号：每 20 毫秒一个脉冲，脉冲越宽角度越大。代码部分第一次用到“库”，Servo 库帮我们把复杂的脉冲都发好，我们只管说角度。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 SG90 舵机传下去让学生看：一个小盒子、一根输出轴、三根线。“舵机”是俗称，本名叫伺服电机：普通电机只会一直转，舵机能转到指定角度并停住，外力推它还会顶回去。它里面有四样东西：电机、减速齿轮、检测角度的电位器和控制电路，下一页看它们怎么配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左边是原指南拆开的舵机：电路板、电机和外壳，齿轮和电位器在外壳里。右边按顺序讲闭环：收到信号知道目标角度 → 和电位器测到的实际角度比较 → 差多少电机就转多少，正负决定方向 → 齿轮带着电位器一起转，实际角度变了，再回去比较，直到差为 0 才停。这种“边做边检查”的控制就叫闭环反馈。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舵机听懂的“暗号”是脉冲宽度：像按门铃，每 20 毫秒按一次，按住的时间越长，角度越大。左下图三行分别是最小、中间、最大脉冲。原指南这里有一句机翻，意思是：从中间位置（1.5ms，90°）转到最小角度和转到最大角度，转过的角度相等。舵机要一直收到脉冲才能稳住角度——这些脉冲稍后交给 Servo 库来发。原指南还提醒：不同品牌、甚至同一品牌的不同舵机，最小和最大脉宽可能略有不同，所以 0° 和 180° 不一定分毫不差。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照原指南接线：电位器左脚接 3.3V（注意不是 5V），右脚接 GND，中间脚接 A0；舵机三根线，红线接 5V，黑线接 GND，黄线是信号线接 7 号脚。SG90 实物的线是棕、红、橙三色，棕对应 GND、橙对应信号。电位器接 3.3V 会让舵机转不满 180°，实验结果那一页再细说。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舵机要每 20 毫秒收到一个精确的脉冲，自己写很麻烦。Servo 库就像手机上装好的 App：引进来以后，领一个“遥控器”（对象 myservo），和 7 号脚配对，再按“转到 90°”就行，脉冲由库在后台一直发。Servo 库是 Arduino IDE 自带的，不用另外安装。最常见的错误是大小写写错，或者忘了第一行的 #include。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1、2 行就是新语法的前两步：引入库、领遥控器。第 8 行 attach 把 myservo 和 7 号脚配对，从这以后 myservo 发出的脉冲都从 7 号脚出去。第 7 行把 7 号脚设为输出其实可以省略，attach 会自己处理。第 8 行的英文注释写的是 pin 9，那是沿用官方例程的旧注释，实际接的是 7 号脚。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12 行读电位器，得到 0～1023；第 13 行除以 4 换成角度——这是整数除法，小数直接扔掉。第 14 行 write 让舵机转到 angle 度，英文注释里的 pos 也是旧例程留下的，实际变量是 angle。最后提醒：原指南第 4 页的程序框在 delay(15); 后断页，loop() 的右大括号漏印了，照抄会报错，第 16 行已经补上。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先演示：转动电位器，舵机跟着转。再算一笔账：电位器接 3.3V，A0 最大读数约 3.3 ÷ 5 × 1023 ≈ 675，除以 4 约 168°，所以转到底也到不了 180°。如果电位器改接 5V 但仍除以 4，读数到 1023 时得 255，Servo 库把超过 180 的都当 180，旋钮最后一段就没反应了。最稳妥的是电位器接 5V，再用 map(readValue, 0, 1023, 0, 180)（注意：仍接 3.3V 时这样写只能转到约 118°）；想反着转，就把最后两个数换成 180, 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实验四从“输出”回到“输入”：前三个实验是让 Arduino 输出中间值，这次是读摇杆里两个电位器的中间值。指南里有两段程序：程序①先看摇杆不动时读数是多少，程序②再判断方向和按键。新语法是内部上拉电阻和 else if 连环判断。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指南说它提供了老式任天堂游戏手柄上的功能：摇杆可以控制音乐旋律或屏幕上的像素，按键可以做菜单导航或游戏控制。重点讲摇杆的本质：左右推是在转一个电位器，上下推是在转另一个电位器，所以读出来是 0～1023 的模拟值；按键只有按下和松开，是数字量。这块扩展板直接插在 UNO 上，不用面包板。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对照原理图：左下的 Joystick 有五个脚，VRx、VRy 分别接到端口的 X-out、Y-out，就是两个电位器的输出；SW 经 R1（10K）接到 VCC，松开时是高电平，按下接地变成低电平；两颗 LED 是指示灯。右图是摇杆的“坐标”：不推时两个电位器都停在中间，读数约 512；按程序的判断，往左推 X 变小、往右推 X 变大，往上推 Y 变大、往下推 Y 变小。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扩展板对准排针直接插到 UNO 上就行，不用接线。表格照原指南抄录，但要提醒两点：表里的 0、1 指的是模拟口 A0、A1（程序里写 analogRead(0)），不是数字 0、1 号脚；摇杆按下的 K 接 8 号脚，原表没有列，是从程序里补上的。接线图里按键旁的丝印和表格编号不完全一致（不同版本扩展板），以程序和串口打印为准。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原指南说这个程序也可以直接打开 .ino 文件运行，打开方法参考套件的 Hello Arduino 实验。#define 在实验二学过，这里把 0、1 起名为 PIN_ANALOG_X、PIN_ANALOG_Y；analogRead(0) 和 analogRead(A0) 读的是同一个口。Serial.print 不换行、println 换行，所以串口里 x、y 各占一行，每 0.5 秒刷新一组。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串口里 x 一直是 525、y 一直是 518：静止时读数接近中间，但每个摇杆都有一点偏差。程序②判断方向时，在静止值两边留了一小段“不算数”的区间，这叫死区：X 小于 520 才算左、大于 530 才算右；Y 大于 520 才算上、小于 515 才算下。好比汽车方向盘中间有一点空行程，轻轻碰一下车不会拐。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左边：1-2 课的按键模块里有一颗上拉电阻，像弹簧把引脚拉在高电平；这块扩展板上有没有上拉电阻都不要紧，程序直接打开芯片引脚里面的那颗。老写法是先 pinMode 设为 INPUT，再 digitalWrite 写 HIGH；新写法一句 INPUT_PULLUP。所以松开读到 HIGH，按下读到 LOW。右边：else if 像排队过安检，一个个问，第一个“是”就进门，后面的都不问了；如果写成一串独立的 if，几个条件同时成立时会打印好几行。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先对照右图认一认：四个大按键按“上、右、下、左”分别是 A、B、C、D，接 2～5 号脚；两个小按键 E、F 接 6、7；按下摇杆是 K，接 8 号脚。名字里的 UP、RIGHT、DOWN、LEFT 说的就是按键的位置。最后一行把 500 起名为 DELAY，后面每次打印都停 0.5 秒，想改快慢只改这一处。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13、14 行的英文注释说明了意图：要打开上拉电阻，先设引脚模式，再把引脚写成 HIGH。下面 14 行其实是 7 个按键各两步，一模一样。可以让学生动手把它们改成 7 行 pinMode(按键, INPUT_PULLUP);，上传后效果完全相同。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 else if 链的开头。第 31 行先问 A 键：读到 LOW 说明按下了，就打印 Button A is pressed，再停 0.5 秒，然后整个链条结束，后面的都不问。没按才轮到第 35 行问 B 键，C、D 写法完全一样。停 0.5 秒是为了让按一次只打印一行，不然串口会刷屏。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E、F 两个小按键和前面一样。从第 55 行开始读模拟值：X 小于 520 算往左，大于 530 算往右，520～530 是死区。注意这些方向判断都排在按键后面，按住任何一个按键时，摇杆方向就不会被打印——这就是 else if 的“优先级”。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上下方向和左右一样，只是死区是 515～520。第 71 行的注释是从程序①抄过来的，和下面的代码关系不大。K 键用的是一个独立的 if：不管前面的链条打印了什么，每一轮都会检查 K。所以一边推摇杆一边按下它，可能先打印方向，再打印 Button k is pressed。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上传程序②后打开串口监视器（9600），先推摇杆四个方向，再逐个按 A～F 键，最后按下摇杆。原指南的结论说“往上拨时对应的 LED 灯会亮起”，但这段程序只在串口打印，并不控制 LED；扩展板上也没有每个方向对应的灯，原理图里的两颗指示灯属于单独的摇杆模块。以串口里的文字为准。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左边三个坑按出现频率排：按键乱报，多半是没开上拉；摇杆不动也报方向，说明你的摇杆静止值和截图不同，先用程序①测一下再改死区；按住按键时方向不打印，是 else if 的优先级，不是坏了。右边的挑战把实验三和实验四连起来：摇杆的 X 读数用 map 换成角度，直接送给舵机，就是一个遥控云台的雏形。注意扩展板占用了 2～8 号脚，实验三用的 7 号脚正好是 F 键，舵机信号线要改接 9 号脚，并写 myservo.attach(9)。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先用上面四个方块按实验顺序回顾：analogWrite 的 0～255、RGB 的 256³ 种颜色、舵机的 0.5～2.5ms 脉宽、摇杆的死区。下面三张卡片是本节的三条主线：送出去、读进来、以及这节课遇到的几个坑。课后可以先做“摇杆遥控舵机”，下一节 2-2 还会用串口来调舵机角度。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课后挑战二选一：① 把 RGB 程序改成真正的呼吸灯，再试着混出黄、青、品红；② 用摇杆遥控实验三的舵机。下一节 2-2 会用超声波测距、用串口输入角度控制舵机，开头请两三位同学展示作品。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40E0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46120"/>
            <a:ext cx="1325880" cy="13258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411480"/>
            <a:ext cx="81381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02920" y="868680"/>
            <a:ext cx="81381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02920" y="1737360"/>
            <a:ext cx="81381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4206240" y="4069080"/>
            <a:ext cx="44805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754880"/>
            <a:ext cx="182880" cy="182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7365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2-1　PWM 与舵机控制</a:t>
            </a:r>
            <a:endParaRPr lang="en-US" sz="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411480" y="384048"/>
            <a:ext cx="33832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6" name="Text 1"/>
          <p:cNvSpPr/>
          <p:nvPr>
            <p:ph idx="104" type="title" hasCustomPrompt="1"/>
          </p:nvPr>
        </p:nvSpPr>
        <p:spPr>
          <a:xfrm>
            <a:off x="411480" y="713232"/>
            <a:ext cx="33832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411480" y="1874520"/>
            <a:ext cx="324612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30000"/>
              </a:lnSpc>
              <a:buNone/>
              <a:def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754880"/>
            <a:ext cx="182880" cy="182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7365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2-1　PWM 与舵机控制</a:t>
            </a:r>
            <a:endParaRPr lang="en-US" sz="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bg>
      <p:bgPr>
        <a:solidFill>
          <a:srgbClr val="40E0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46120"/>
            <a:ext cx="1325880" cy="13258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1097280"/>
            <a:ext cx="81381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2920" y="2057400"/>
            <a:ext cx="81381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jp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image" Target="../media/image-42-2.png"/><Relationship Id="rId3" Type="http://schemas.openxmlformats.org/officeDocument/2006/relationships/image" Target="../media/image-42-3.jp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02920" y="4114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开源硬件与 AI 辅助编程　/　实验 2-1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02920" y="86868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2-1　PWM 与舵机控制</a:t>
            </a:r>
            <a:endParaRPr lang="en-US" sz="4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02920" y="173736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PWM 调光 · RGB 呼吸灯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电位器调节舵机 · 摇杆</a:t>
            </a:r>
            <a:endParaRPr lang="en-US" sz="2800" dirty="0"/>
          </a:p>
        </p:txBody>
      </p:sp>
      <p:sp>
        <p:nvSpPr>
          <p:cNvPr id="5" name="Text 0"/>
          <p:cNvSpPr/>
          <p:nvPr>
            <p:ph idx="104" type="body" hasCustomPrompt="1"/>
          </p:nvPr>
        </p:nvSpPr>
        <p:spPr>
          <a:xfrm>
            <a:off x="4206240" y="40690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湖北工业大学 · 工业设计学院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导入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本节导览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四个实验，一条主线：让只会“开 / 关”的数字引脚，做出亮度、颜色和角度的“中间值”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1115568" cy="1600200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11480" y="1234440"/>
            <a:ext cx="11155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PWM 输出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调亮度 · 调颜色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2971800"/>
            <a:ext cx="1115568" cy="731520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11480" y="2971800"/>
            <a:ext cx="1115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舵机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0D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调角度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11480" y="3840480"/>
            <a:ext cx="1115568" cy="731520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1480" y="3840480"/>
            <a:ext cx="1115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模拟输入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摇杆 · 按键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664208" y="1234440"/>
            <a:ext cx="7068312" cy="73152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819656" y="1380744"/>
            <a:ext cx="438912" cy="43891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4995" y="1486083"/>
            <a:ext cx="228234" cy="22823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414016" y="1325880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01　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PWM 调节 LED 灯亮度</a:t>
            </a:r>
            <a:endParaRPr lang="en-US" sz="1450" dirty="0"/>
          </a:p>
        </p:txBody>
      </p:sp>
      <p:sp>
        <p:nvSpPr>
          <p:cNvPr id="16" name="Text 12"/>
          <p:cNvSpPr txBox="1"/>
          <p:nvPr/>
        </p:nvSpPr>
        <p:spPr>
          <a:xfrm>
            <a:off x="2414016" y="1636776"/>
            <a:ext cx="3273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转动电位器，LED 从暗到亮连续变化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824728" y="1479550"/>
            <a:ext cx="12283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824728" y="1479550"/>
            <a:ext cx="12283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analogWrite()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126224" y="1479550"/>
            <a:ext cx="4663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126224" y="1479550"/>
            <a:ext cx="4663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7665720" y="1479550"/>
            <a:ext cx="6187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665720" y="1479550"/>
            <a:ext cx="6187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占空比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1664208" y="2103120"/>
            <a:ext cx="7068312" cy="73152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819656" y="2249424"/>
            <a:ext cx="438912" cy="43891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995" y="2354763"/>
            <a:ext cx="228234" cy="228234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2414016" y="2194560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02　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RGB 贴片模块呼吸灯</a:t>
            </a:r>
            <a:endParaRPr lang="en-US" sz="1450" dirty="0"/>
          </a:p>
        </p:txBody>
      </p:sp>
      <p:sp>
        <p:nvSpPr>
          <p:cNvPr id="27" name="Text 22"/>
          <p:cNvSpPr txBox="1"/>
          <p:nvPr/>
        </p:nvSpPr>
        <p:spPr>
          <a:xfrm>
            <a:off x="2414016" y="2505456"/>
            <a:ext cx="3273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红、绿、蓝三种颜色依次由暗渐亮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5824728" y="2348230"/>
            <a:ext cx="7711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5824728" y="2348230"/>
            <a:ext cx="7711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6669024" y="2348230"/>
            <a:ext cx="13807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6669024" y="2348230"/>
            <a:ext cx="13807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setColor(r,g,b)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8122920" y="2348230"/>
            <a:ext cx="4663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8122920" y="2348230"/>
            <a:ext cx="4663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1664208" y="2971800"/>
            <a:ext cx="7068312" cy="73152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1819656" y="3118104"/>
            <a:ext cx="438912" cy="43891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995" y="3223443"/>
            <a:ext cx="228234" cy="228234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2414016" y="3063240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03　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电位器调节舵机</a:t>
            </a:r>
            <a:endParaRPr lang="en-US" sz="1450" dirty="0"/>
          </a:p>
        </p:txBody>
      </p:sp>
      <p:sp>
        <p:nvSpPr>
          <p:cNvPr id="38" name="Text 32"/>
          <p:cNvSpPr txBox="1"/>
          <p:nvPr/>
        </p:nvSpPr>
        <p:spPr>
          <a:xfrm>
            <a:off x="2414016" y="3374136"/>
            <a:ext cx="3273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旋钮转到哪里，舵机就转到哪里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5824728" y="3216910"/>
            <a:ext cx="8473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5824728" y="3216910"/>
            <a:ext cx="8473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6745224" y="3216910"/>
            <a:ext cx="6187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6745224" y="3216910"/>
            <a:ext cx="6187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Servo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7437120" y="3216910"/>
            <a:ext cx="7711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7437120" y="3216910"/>
            <a:ext cx="7711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write()</a:t>
            </a:r>
            <a:endParaRPr lang="en-US" sz="1000" dirty="0"/>
          </a:p>
        </p:txBody>
      </p:sp>
      <p:sp>
        <p:nvSpPr>
          <p:cNvPr id="45" name="Shape 39"/>
          <p:cNvSpPr/>
          <p:nvPr/>
        </p:nvSpPr>
        <p:spPr>
          <a:xfrm>
            <a:off x="1664208" y="3840480"/>
            <a:ext cx="7068312" cy="73152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1819656" y="3986784"/>
            <a:ext cx="438912" cy="43891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4995" y="4092123"/>
            <a:ext cx="228234" cy="228234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2414016" y="3931920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04　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摇杆模块</a:t>
            </a:r>
            <a:endParaRPr lang="en-US" sz="1450" dirty="0"/>
          </a:p>
        </p:txBody>
      </p:sp>
      <p:sp>
        <p:nvSpPr>
          <p:cNvPr id="49" name="Text 42"/>
          <p:cNvSpPr txBox="1"/>
          <p:nvPr/>
        </p:nvSpPr>
        <p:spPr>
          <a:xfrm>
            <a:off x="2414016" y="4242816"/>
            <a:ext cx="3273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推摇杆、按按键，串口报出方向</a:t>
            </a:r>
            <a:endParaRPr lang="en-US" sz="1200" dirty="0"/>
          </a:p>
        </p:txBody>
      </p:sp>
      <p:sp>
        <p:nvSpPr>
          <p:cNvPr id="50" name="Shape 43"/>
          <p:cNvSpPr/>
          <p:nvPr/>
        </p:nvSpPr>
        <p:spPr>
          <a:xfrm>
            <a:off x="5824728" y="4085590"/>
            <a:ext cx="11521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51" name="Text 44"/>
          <p:cNvSpPr txBox="1"/>
          <p:nvPr/>
        </p:nvSpPr>
        <p:spPr>
          <a:xfrm>
            <a:off x="5824728" y="4085590"/>
            <a:ext cx="11521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INPUT_PULLUP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050024" y="4085590"/>
            <a:ext cx="7711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53" name="Text 46"/>
          <p:cNvSpPr txBox="1"/>
          <p:nvPr/>
        </p:nvSpPr>
        <p:spPr>
          <a:xfrm>
            <a:off x="7050024" y="4085590"/>
            <a:ext cx="7711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7894320" y="4085590"/>
            <a:ext cx="491744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55" name="Text 48"/>
          <p:cNvSpPr txBox="1"/>
          <p:nvPr/>
        </p:nvSpPr>
        <p:spPr>
          <a:xfrm>
            <a:off x="7894320" y="4085590"/>
            <a:ext cx="49174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死区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PWM 调光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11480" y="384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01</a:t>
            </a:r>
            <a:endParaRPr lang="en-US" sz="1100" dirty="0"/>
          </a:p>
        </p:txBody>
      </p:sp>
      <p:sp>
        <p:nvSpPr>
          <p:cNvPr id="4" name="Text 1"/>
          <p:cNvSpPr/>
          <p:nvPr>
            <p:ph idx="104" type="title" hasCustomPrompt="1"/>
          </p:nvPr>
        </p:nvSpPr>
        <p:spPr>
          <a:xfrm>
            <a:off x="411480" y="71323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PWM 调节</a:t>
            </a:r>
            <a:endParaRPr lang="en-US" sz="2800" dirty="0"/>
          </a:p>
          <a:p>
            <a:pPr algn="l" indent="0" marL="0">
              <a:buNone/>
            </a:pPr>
            <a:r>
              <a: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灯亮度实验</a:t>
            </a:r>
            <a:endParaRPr lang="en-US" sz="28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411480" y="187452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数字引脚只会输出 0V 或 5V，怎样让 LED “半亮”？答案是 PWM：飞快地开关，用“开着的时间占多少”来调亮度。再拿电位器当旋钮，转多少，灯就亮多少。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60520" y="347472"/>
            <a:ext cx="2286000" cy="2112264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61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361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原理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361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PWM · 占空比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347472"/>
            <a:ext cx="2286000" cy="2112264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47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647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电位器 → A0，LED → 11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2459736"/>
            <a:ext cx="2286000" cy="2112264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61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361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361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analogRead · analogWrite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2459736"/>
            <a:ext cx="2286000" cy="21122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47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647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647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旋钮调亮度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PWM 调光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PWM：用飞快的开关“调”出中间电压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数字引脚只有 0V 和 5V 两种状态；飞快地开关，开着的时间占比越大，平均电压越高，灯就越亮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840480" cy="1005840"/>
          </a:xfrm>
          <a:prstGeom prst="roundRect">
            <a:avLst>
              <a:gd name="adj" fmla="val 1090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57784" y="1380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788" y="1459748"/>
            <a:ext cx="171176" cy="17117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14984" y="137160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打个比方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014984" y="1682496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一秒钟开关电灯几百次，眼睛看不出闪烁，只觉得灯暗了；“开”的时间越多，灯越亮。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11480" y="2514600"/>
            <a:ext cx="3840480" cy="10972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94360" y="26243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原指南公式：输出（平均）电压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3091688"/>
            <a:ext cx="67665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电压 =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371600" y="2937256"/>
            <a:ext cx="9956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导通时间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1371600" y="3218688"/>
            <a:ext cx="995680" cy="0"/>
          </a:xfrm>
          <a:prstGeom prst="line">
            <a:avLst/>
          </a:prstGeom>
          <a:noFill/>
          <a:ln w="15875">
            <a:solidFill>
              <a:srgbClr val="2D2D2D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371600" y="3246120"/>
            <a:ext cx="9956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脉冲周期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2422144" y="3091688"/>
            <a:ext cx="53035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× 5V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11480" y="3886200"/>
            <a:ext cx="1188720" cy="685800"/>
          </a:xfrm>
          <a:prstGeom prst="roundRect">
            <a:avLst>
              <a:gd name="adj" fmla="val 16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21208" y="3986784"/>
            <a:ext cx="256032" cy="25603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21208" y="3986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832104" y="397764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脉冲宽度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521208" y="42885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每次开多久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1737360" y="3886200"/>
            <a:ext cx="1188720" cy="685800"/>
          </a:xfrm>
          <a:prstGeom prst="roundRect">
            <a:avLst>
              <a:gd name="adj" fmla="val 16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847088" y="3986784"/>
            <a:ext cx="256032" cy="25603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1847088" y="3986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2157984" y="397764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脉冲周期</a:t>
            </a:r>
            <a:endParaRPr lang="en-US" sz="1250" dirty="0"/>
          </a:p>
        </p:txBody>
      </p:sp>
      <p:sp>
        <p:nvSpPr>
          <p:cNvPr id="27" name="Text 23"/>
          <p:cNvSpPr txBox="1"/>
          <p:nvPr/>
        </p:nvSpPr>
        <p:spPr>
          <a:xfrm>
            <a:off x="1847088" y="42885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多久开关一轮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3063240" y="3886200"/>
            <a:ext cx="1188720" cy="685800"/>
          </a:xfrm>
          <a:prstGeom prst="roundRect">
            <a:avLst>
              <a:gd name="adj" fmla="val 16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3172968" y="3986784"/>
            <a:ext cx="256032" cy="25603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3172968" y="3986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050" dirty="0"/>
          </a:p>
        </p:txBody>
      </p:sp>
      <p:sp>
        <p:nvSpPr>
          <p:cNvPr id="31" name="Text 27"/>
          <p:cNvSpPr txBox="1"/>
          <p:nvPr/>
        </p:nvSpPr>
        <p:spPr>
          <a:xfrm>
            <a:off x="3483864" y="397764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电压范围</a:t>
            </a:r>
            <a:endParaRPr lang="en-US" sz="1250" dirty="0"/>
          </a:p>
        </p:txBody>
      </p:sp>
      <p:sp>
        <p:nvSpPr>
          <p:cNvPr id="32" name="Text 28"/>
          <p:cNvSpPr txBox="1"/>
          <p:nvPr/>
        </p:nvSpPr>
        <p:spPr>
          <a:xfrm>
            <a:off x="3172968" y="42885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例如 0～5V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4526280" y="1234440"/>
            <a:ext cx="420624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34" name="Image 1" descr="原指南：占空比 75% → 3.75V，50% → 2.5V，20% → 1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521241"/>
            <a:ext cx="3986784" cy="2489637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4636008" y="4224528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原指南：占空比 75% → 3.75V，50% → 2.5V，20% → 1V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PWM 调光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认识电位器 · 实验目的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电位器就是可调电阻：两端接 5V 和 GND，转动旋钮，中间脚就输出 0～5V 之间的电压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291840" cy="2423160"/>
          </a:xfrm>
          <a:prstGeom prst="roundRect">
            <a:avLst>
              <a:gd name="adj" fmla="val 452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7" name="Image 0" descr="原指南：旋转电位器（接地 / 输出 / 输入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126" y="1344168"/>
            <a:ext cx="2502548" cy="19293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3310128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原指南：旋转电位器（接地 / 输出 / 输入）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411480" y="39319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电位器的三种用法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11480" y="4242816"/>
            <a:ext cx="658368" cy="289560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11480" y="4242816"/>
            <a:ext cx="65836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分压器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1161288" y="4242816"/>
            <a:ext cx="658368" cy="289560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161288" y="4242816"/>
            <a:ext cx="65836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变阻器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1911096" y="4242816"/>
            <a:ext cx="963168" cy="289560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911096" y="4242816"/>
            <a:ext cx="96316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电流控制器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023360" y="1234440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02336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4425696" y="1262459"/>
            <a:ext cx="4306824" cy="236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两端之间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电阻固定；中间脚到任一端的电阻随旋钮变化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4023360" y="1636776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023360" y="1636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4425696" y="1664795"/>
            <a:ext cx="4306824" cy="236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相当于从中间脚分成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两段串联电阻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，总阻值不变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4023360" y="2039112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023360" y="2039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4425696" y="2029968"/>
            <a:ext cx="4306824" cy="454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当分压器用（本实验）：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一端接输入电压，中间脚接输出，另一端接地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4023360" y="2603691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023360" y="260369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4425696" y="2594547"/>
            <a:ext cx="4306824" cy="454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当可变电阻用：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一端接输入电压，中间脚接输出，另一端悬空或接中间脚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4023360" y="3611880"/>
            <a:ext cx="4709160" cy="960120"/>
          </a:xfrm>
          <a:prstGeom prst="roundRect">
            <a:avLst>
              <a:gd name="adj" fmla="val 11429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69664" y="375818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668" y="3837188"/>
            <a:ext cx="171176" cy="171176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4626864" y="3749040"/>
            <a:ext cx="3959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实验目的　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之前用按键（数字信号）控制灯的亮灭；这次用电位器（模拟信号）控制 LED 的亮度。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PWM 调光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接线：电位器接 A0，LED 接 11 号脚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电位器两端接 5V 和 GND、中间脚接 A0；LED 长脚接 11 号脚（带 ~），短脚经 220Ω 电阻接 GND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16052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7" name="Image 0" descr="原指南只有接线图，右表是从图上读出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360930"/>
            <a:ext cx="3941064" cy="2810259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3941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原指南只有接线图，右表是从图上读出的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234440"/>
          <a:ext cx="38404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69748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Arduino UNO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元件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5V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电位器一端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电位器中间脚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电位器另一端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LED 长脚（正极）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220Ω 电阻 → LED 短脚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4892040" y="30998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组件清单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4892040" y="3410712"/>
            <a:ext cx="1127760" cy="297180"/>
          </a:xfrm>
          <a:prstGeom prst="roundRect">
            <a:avLst>
              <a:gd name="adj" fmla="val 50000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4892040" y="3410712"/>
            <a:ext cx="11277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UNO R3 主板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111240" y="3410712"/>
            <a:ext cx="694944" cy="297180"/>
          </a:xfrm>
          <a:prstGeom prst="roundRect">
            <a:avLst>
              <a:gd name="adj" fmla="val 50000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111240" y="3410712"/>
            <a:ext cx="69494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面包板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897624" y="3410712"/>
            <a:ext cx="1036320" cy="297180"/>
          </a:xfrm>
          <a:prstGeom prst="roundRect">
            <a:avLst>
              <a:gd name="adj" fmla="val 50000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897624" y="3410712"/>
            <a:ext cx="10363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USB 数据线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892040" y="3799332"/>
            <a:ext cx="1255776" cy="297180"/>
          </a:xfrm>
          <a:prstGeom prst="roundRect">
            <a:avLst>
              <a:gd name="adj" fmla="val 50000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4892040" y="3799332"/>
            <a:ext cx="125577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10k 电位器 ×1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39256" y="3799332"/>
            <a:ext cx="1115568" cy="297180"/>
          </a:xfrm>
          <a:prstGeom prst="roundRect">
            <a:avLst>
              <a:gd name="adj" fmla="val 50000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239256" y="3799332"/>
            <a:ext cx="1115568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红色 LED ×1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7446264" y="3799332"/>
            <a:ext cx="1200912" cy="297180"/>
          </a:xfrm>
          <a:prstGeom prst="roundRect">
            <a:avLst>
              <a:gd name="adj" fmla="val 50000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446264" y="3799332"/>
            <a:ext cx="1200912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220Ω 电阻 ×1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892040" y="4187952"/>
            <a:ext cx="847344" cy="297180"/>
          </a:xfrm>
          <a:prstGeom prst="roundRect">
            <a:avLst>
              <a:gd name="adj" fmla="val 50000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4892040" y="4187952"/>
            <a:ext cx="84734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若干跳线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PWM 调光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新语法：analogWrite() 输出 PWM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analogWrite(引脚, 值)：值 0～255 决定开着的时间占多少；只有带 ~ 的 3、5、6、9、10、11 号脚能用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16052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36245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同样是 5V，开着的时间比例不同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291840" y="17099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占空比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3813048" y="17099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平均电压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76072" y="19659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analogWrite(11, 0)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331720" y="2240280"/>
            <a:ext cx="896112" cy="91"/>
          </a:xfrm>
          <a:prstGeom prst="line">
            <a:avLst/>
          </a:prstGeom>
          <a:noFill/>
          <a:ln w="12700">
            <a:solidFill>
              <a:srgbClr val="2D2D2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291840" y="196596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0%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813048" y="196596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0V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76072" y="238658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analogWrite(11, 64)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331720" y="2423160"/>
            <a:ext cx="56007" cy="237744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55748" y="2423160"/>
            <a:ext cx="56007" cy="237744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779776" y="2423160"/>
            <a:ext cx="56007" cy="237744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003804" y="2423160"/>
            <a:ext cx="56007" cy="237744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331720" y="2660904"/>
            <a:ext cx="896112" cy="91"/>
          </a:xfrm>
          <a:prstGeom prst="line">
            <a:avLst/>
          </a:prstGeom>
          <a:noFill/>
          <a:ln w="12700">
            <a:solidFill>
              <a:srgbClr val="2D2D2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291840" y="238658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25%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3813048" y="238658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1.25V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76072" y="280720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analogWrite(11, 128)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2331720" y="2843784"/>
            <a:ext cx="112014" cy="237744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555748" y="2843784"/>
            <a:ext cx="112014" cy="237744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779776" y="2843784"/>
            <a:ext cx="112014" cy="237744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003804" y="2843784"/>
            <a:ext cx="112014" cy="237744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331720" y="3081528"/>
            <a:ext cx="896112" cy="91"/>
          </a:xfrm>
          <a:prstGeom prst="line">
            <a:avLst/>
          </a:prstGeom>
          <a:noFill/>
          <a:ln w="12700">
            <a:solidFill>
              <a:srgbClr val="2D2D2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291840" y="280720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50%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3813048" y="280720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2.5V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576072" y="322783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analogWrite(11, 255)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2331720" y="3264408"/>
            <a:ext cx="896112" cy="237744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331720" y="3502152"/>
            <a:ext cx="896112" cy="91"/>
          </a:xfrm>
          <a:prstGeom prst="line">
            <a:avLst/>
          </a:prstGeom>
          <a:noFill/>
          <a:ln w="12700">
            <a:solidFill>
              <a:srgbClr val="2D2D2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291840" y="322783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100%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3813048" y="322783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5V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76072" y="3776472"/>
            <a:ext cx="3831336" cy="649224"/>
          </a:xfrm>
          <a:prstGeom prst="roundRect">
            <a:avLst>
              <a:gd name="adj" fmla="val 16901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4088" y="3776472"/>
            <a:ext cx="357530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常见错误　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接在没有 ~ 的引脚上，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analogWrite 只能让灯全亮或全灭。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4846320" y="1234440"/>
            <a:ext cx="3886200" cy="822960"/>
          </a:xfrm>
          <a:prstGeom prst="roundRect">
            <a:avLst>
              <a:gd name="adj" fmla="val 1333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992624" y="1380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1628" y="1459748"/>
            <a:ext cx="171176" cy="171176"/>
          </a:xfrm>
          <a:prstGeom prst="rect">
            <a:avLst/>
          </a:prstGeom>
        </p:spPr>
      </p:pic>
      <p:sp>
        <p:nvSpPr>
          <p:cNvPr id="40" name="Text 36"/>
          <p:cNvSpPr txBox="1"/>
          <p:nvPr/>
        </p:nvSpPr>
        <p:spPr>
          <a:xfrm>
            <a:off x="5449824" y="137160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像一个 256 档的调光旋钮</a:t>
            </a:r>
            <a:endParaRPr lang="en-US" sz="1300" dirty="0"/>
          </a:p>
        </p:txBody>
      </p:sp>
      <p:sp>
        <p:nvSpPr>
          <p:cNvPr id="41" name="Text 37"/>
          <p:cNvSpPr txBox="1"/>
          <p:nvPr/>
        </p:nvSpPr>
        <p:spPr>
          <a:xfrm>
            <a:off x="5449824" y="1682496"/>
            <a:ext cx="3136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 全灭，255 全亮，128 约一半亮。</a:t>
            </a:r>
            <a:endParaRPr lang="en-US" sz="1200" dirty="0"/>
          </a:p>
        </p:txBody>
      </p:sp>
      <p:sp>
        <p:nvSpPr>
          <p:cNvPr id="42" name="Shape 38"/>
          <p:cNvSpPr/>
          <p:nvPr/>
        </p:nvSpPr>
        <p:spPr>
          <a:xfrm>
            <a:off x="4846320" y="2331720"/>
            <a:ext cx="3886200" cy="567690"/>
          </a:xfrm>
          <a:prstGeom prst="roundRect">
            <a:avLst>
              <a:gd name="adj" fmla="val 12886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4983480" y="2414016"/>
            <a:ext cx="3611880" cy="201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44" name="Text 40"/>
          <p:cNvSpPr txBox="1"/>
          <p:nvPr/>
        </p:nvSpPr>
        <p:spPr>
          <a:xfrm>
            <a:off x="4983480" y="2615565"/>
            <a:ext cx="3611880" cy="201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pPr indent="0" marL="0">
              <a:buNone/>
            </a:pPr>
            <a:r>
              <a:rPr lang="en-US" sz="11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约一半亮</a:t>
            </a:r>
            <a:endParaRPr lang="en-US" sz="1150" dirty="0"/>
          </a:p>
        </p:txBody>
      </p:sp>
      <p:sp>
        <p:nvSpPr>
          <p:cNvPr id="45" name="Text 41"/>
          <p:cNvSpPr txBox="1"/>
          <p:nvPr/>
        </p:nvSpPr>
        <p:spPr>
          <a:xfrm>
            <a:off x="4846320" y="317373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能用的引脚</a:t>
            </a:r>
            <a:endParaRPr lang="en-US" sz="1200" dirty="0"/>
          </a:p>
        </p:txBody>
      </p:sp>
      <p:sp>
        <p:nvSpPr>
          <p:cNvPr id="46" name="Shape 42"/>
          <p:cNvSpPr/>
          <p:nvPr/>
        </p:nvSpPr>
        <p:spPr>
          <a:xfrm>
            <a:off x="5779008" y="3173730"/>
            <a:ext cx="368808" cy="274320"/>
          </a:xfrm>
          <a:prstGeom prst="roundRect">
            <a:avLst>
              <a:gd name="adj" fmla="val 50000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5779008" y="3173730"/>
            <a:ext cx="368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</a:t>
            </a:r>
            <a:endParaRPr lang="en-US" sz="1100" dirty="0"/>
          </a:p>
        </p:txBody>
      </p:sp>
      <p:sp>
        <p:nvSpPr>
          <p:cNvPr id="48" name="Shape 44"/>
          <p:cNvSpPr/>
          <p:nvPr/>
        </p:nvSpPr>
        <p:spPr>
          <a:xfrm>
            <a:off x="6220968" y="3173730"/>
            <a:ext cx="368808" cy="274320"/>
          </a:xfrm>
          <a:prstGeom prst="roundRect">
            <a:avLst>
              <a:gd name="adj" fmla="val 50000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6220968" y="3173730"/>
            <a:ext cx="368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</a:t>
            </a:r>
            <a:endParaRPr lang="en-US" sz="1100" dirty="0"/>
          </a:p>
        </p:txBody>
      </p:sp>
      <p:sp>
        <p:nvSpPr>
          <p:cNvPr id="50" name="Shape 46"/>
          <p:cNvSpPr/>
          <p:nvPr/>
        </p:nvSpPr>
        <p:spPr>
          <a:xfrm>
            <a:off x="6662928" y="3173730"/>
            <a:ext cx="368808" cy="274320"/>
          </a:xfrm>
          <a:prstGeom prst="roundRect">
            <a:avLst>
              <a:gd name="adj" fmla="val 50000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6662928" y="3173730"/>
            <a:ext cx="368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~6</a:t>
            </a:r>
            <a:endParaRPr lang="en-US" sz="1100" dirty="0"/>
          </a:p>
        </p:txBody>
      </p:sp>
      <p:sp>
        <p:nvSpPr>
          <p:cNvPr id="52" name="Shape 48"/>
          <p:cNvSpPr/>
          <p:nvPr/>
        </p:nvSpPr>
        <p:spPr>
          <a:xfrm>
            <a:off x="7104888" y="3173730"/>
            <a:ext cx="368808" cy="274320"/>
          </a:xfrm>
          <a:prstGeom prst="roundRect">
            <a:avLst>
              <a:gd name="adj" fmla="val 50000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7104888" y="3173730"/>
            <a:ext cx="368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~9</a:t>
            </a:r>
            <a:endParaRPr lang="en-US" sz="1100" dirty="0"/>
          </a:p>
        </p:txBody>
      </p:sp>
      <p:sp>
        <p:nvSpPr>
          <p:cNvPr id="54" name="Shape 50"/>
          <p:cNvSpPr/>
          <p:nvPr/>
        </p:nvSpPr>
        <p:spPr>
          <a:xfrm>
            <a:off x="7546848" y="3173730"/>
            <a:ext cx="452628" cy="274320"/>
          </a:xfrm>
          <a:prstGeom prst="roundRect">
            <a:avLst>
              <a:gd name="adj" fmla="val 50000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7546848" y="3173730"/>
            <a:ext cx="452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~10</a:t>
            </a:r>
            <a:endParaRPr lang="en-US" sz="1100" dirty="0"/>
          </a:p>
        </p:txBody>
      </p:sp>
      <p:sp>
        <p:nvSpPr>
          <p:cNvPr id="56" name="Shape 52"/>
          <p:cNvSpPr/>
          <p:nvPr/>
        </p:nvSpPr>
        <p:spPr>
          <a:xfrm>
            <a:off x="8072628" y="3173730"/>
            <a:ext cx="452628" cy="274320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8072628" y="3173730"/>
            <a:ext cx="452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~11</a:t>
            </a:r>
            <a:endParaRPr lang="en-US" sz="1100" dirty="0"/>
          </a:p>
        </p:txBody>
      </p:sp>
      <p:sp>
        <p:nvSpPr>
          <p:cNvPr id="58" name="Shape 54"/>
          <p:cNvSpPr/>
          <p:nvPr/>
        </p:nvSpPr>
        <p:spPr>
          <a:xfrm>
            <a:off x="4846320" y="3722370"/>
            <a:ext cx="3886200" cy="849630"/>
          </a:xfrm>
          <a:prstGeom prst="roundRect">
            <a:avLst>
              <a:gd name="adj" fmla="val 12915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4992624" y="386867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6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1628" y="3947678"/>
            <a:ext cx="171176" cy="171176"/>
          </a:xfrm>
          <a:prstGeom prst="rect">
            <a:avLst/>
          </a:prstGeom>
        </p:spPr>
      </p:pic>
      <p:sp>
        <p:nvSpPr>
          <p:cNvPr id="61" name="Text 56"/>
          <p:cNvSpPr txBox="1"/>
          <p:nvPr/>
        </p:nvSpPr>
        <p:spPr>
          <a:xfrm>
            <a:off x="5449824" y="3859530"/>
            <a:ext cx="3136392" cy="566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原指南笔误　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频率约 490Hz，不是 50Hz；范围 0～255，不是 0～256。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PWM 调光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代码逐行看懂（1/2）：准备工作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先给引脚起名字、准备装数据的“盒子”，再在 setup() 里设好输入输出和串口；下方是整个程序的思路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892040" cy="2377440"/>
          </a:xfrm>
          <a:prstGeom prst="roundRect">
            <a:avLst>
              <a:gd name="adj" fmla="val 3846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935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pwm_led.ino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368296" y="1298448"/>
            <a:ext cx="2807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1–10 行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545336"/>
            <a:ext cx="4800600" cy="17272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154533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814730" y="1545336"/>
            <a:ext cx="43607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ADPIN 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 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8056"/>
            <a:ext cx="4800600" cy="17272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171805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814730" y="1718056"/>
            <a:ext cx="43607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PWM_LEDPIN 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1890776"/>
            <a:ext cx="4800600" cy="17272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189077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814730" y="1890776"/>
            <a:ext cx="43607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2063496"/>
            <a:ext cx="4800600" cy="17272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" y="206349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814730" y="2063496"/>
            <a:ext cx="43607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voltage 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502920" y="223621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814730" y="2236216"/>
            <a:ext cx="43607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502920" y="240893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814730" y="2408936"/>
            <a:ext cx="43607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258165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814730" y="2581656"/>
            <a:ext cx="43607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ADPIN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pPr indent="0" marL="0">
              <a:buNone/>
            </a:pPr>
            <a:r>
              <a:rPr lang="en-US" sz="10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define ADPIN input PWM_LEDPIN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02920" y="275437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814730" y="2754376"/>
            <a:ext cx="43607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502920" y="292709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814730" y="2927096"/>
            <a:ext cx="43607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PWM_LEDPIN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502920" y="309981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814730" y="3099816"/>
            <a:ext cx="43607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9600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pPr indent="0" marL="0">
              <a:buNone/>
            </a:pPr>
            <a:r>
              <a:rPr lang="en-US" sz="10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//Serial Baud rate is 9600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502920" y="327253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814730" y="3272536"/>
            <a:ext cx="43607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5623560" y="1234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5623560" y="1600200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623560" y="1600200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1–2 行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6438392" y="1591056"/>
            <a:ext cx="229412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起名字：A0 读电位器，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号脚（带 ~）接 LED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5623560" y="2090928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623560" y="2090928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3–4 行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6438392" y="2081784"/>
            <a:ext cx="229412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value 装整数读数，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voltage 装带小数的数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5623560" y="2581656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623560" y="2581656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7–8 行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6438392" y="2572512"/>
            <a:ext cx="229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A0 设为输入，11 号设为输出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5623560" y="3076448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076448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9 行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6293612" y="3067304"/>
            <a:ext cx="2438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打开串口，波特率 9600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411480" y="3886200"/>
            <a:ext cx="8321040" cy="685800"/>
          </a:xfrm>
          <a:prstGeom prst="roundRect">
            <a:avLst>
              <a:gd name="adj" fmla="val 16000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576072" y="388620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程序原理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（原指南）</a:t>
            </a:r>
            <a:endParaRPr lang="en-US" sz="1300" dirty="0"/>
          </a:p>
        </p:txBody>
      </p:sp>
      <p:sp>
        <p:nvSpPr>
          <p:cNvPr id="50" name="Shape 47"/>
          <p:cNvSpPr/>
          <p:nvPr/>
        </p:nvSpPr>
        <p:spPr>
          <a:xfrm>
            <a:off x="1645920" y="3977640"/>
            <a:ext cx="15316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1737360" y="3977640"/>
            <a:ext cx="13487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analogRead()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读旋钮 0～1023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3214116" y="4229100"/>
            <a:ext cx="201168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53" name="Shape 50"/>
          <p:cNvSpPr/>
          <p:nvPr/>
        </p:nvSpPr>
        <p:spPr>
          <a:xfrm>
            <a:off x="3451860" y="3977640"/>
            <a:ext cx="15316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543300" y="3977640"/>
            <a:ext cx="13487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÷ 1023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换成 0～1 的比例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5020056" y="4229100"/>
            <a:ext cx="201168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56" name="Shape 53"/>
          <p:cNvSpPr/>
          <p:nvPr/>
        </p:nvSpPr>
        <p:spPr>
          <a:xfrm>
            <a:off x="5257800" y="3977640"/>
            <a:ext cx="15316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5349240" y="3977640"/>
            <a:ext cx="13487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256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换成 PWM 值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6825996" y="4229100"/>
            <a:ext cx="201168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59" name="Shape 56"/>
          <p:cNvSpPr/>
          <p:nvPr/>
        </p:nvSpPr>
        <p:spPr>
          <a:xfrm>
            <a:off x="7063740" y="3977640"/>
            <a:ext cx="15316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7155180" y="3977640"/>
            <a:ext cx="13487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analogWrite()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输出，LED 跟着变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PWM 调光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代码逐行看懂（2/2）：读数、换算、输出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loop() 反复做：读旋钮 → 算出 0～1 的比例（注释写“计算电压”，其实没乘 5）→ 换成 PWM 值 → 点亮 LED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983480" cy="3337560"/>
          </a:xfrm>
          <a:prstGeom prst="roundRect">
            <a:avLst>
              <a:gd name="adj" fmla="val 274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990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pwm_led.ino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404872" y="1298448"/>
            <a:ext cx="2862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11–24 行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54533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42254" y="1545336"/>
            <a:ext cx="442469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173532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42254" y="1735328"/>
            <a:ext cx="442469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1925320"/>
            <a:ext cx="489204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2920" y="192532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42254" y="1925320"/>
            <a:ext cx="442469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analogRead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ADPIN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//读取 A0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2115312"/>
            <a:ext cx="489204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" y="211531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42254" y="2115312"/>
            <a:ext cx="442469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引脚读取的可调电位计模拟值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02920" y="230530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42254" y="2305304"/>
            <a:ext cx="442469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"value1=="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//打印模拟值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02920" y="249529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842254" y="2495296"/>
            <a:ext cx="442469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2685288"/>
            <a:ext cx="489204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02920" y="268528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842254" y="2685288"/>
            <a:ext cx="442469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voltage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( 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1023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//计算电压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02920" y="287528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42254" y="2875280"/>
            <a:ext cx="442469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    voltage=="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//打印电压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502920" y="306527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842254" y="3065272"/>
            <a:ext cx="442469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voltage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255264"/>
            <a:ext cx="489204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02920" y="325526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842254" y="3255264"/>
            <a:ext cx="442469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(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voltage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//计算输出的 PWM 值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502920" y="344525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42254" y="3445256"/>
            <a:ext cx="442469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   PWM=="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//打印 PWM 值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502920" y="363524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42254" y="3635248"/>
            <a:ext cx="442469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57200" y="3825240"/>
            <a:ext cx="489204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02920" y="382524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842254" y="3825240"/>
            <a:ext cx="442469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PWM_LEDPIN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502920" y="401523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842254" y="4015232"/>
            <a:ext cx="442469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502920" y="420522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842254" y="4205224"/>
            <a:ext cx="442469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5715000" y="1234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5715000" y="1910588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715000" y="1910588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13 行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6462268" y="1901444"/>
            <a:ext cx="2270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读电位器 → 0～1023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5715000" y="2290572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5715000" y="2290572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14–15 行</a:t>
            </a:r>
            <a:endParaRPr lang="en-US" sz="950" dirty="0"/>
          </a:p>
        </p:txBody>
      </p:sp>
      <p:sp>
        <p:nvSpPr>
          <p:cNvPr id="50" name="Text 47"/>
          <p:cNvSpPr txBox="1"/>
          <p:nvPr/>
        </p:nvSpPr>
        <p:spPr>
          <a:xfrm>
            <a:off x="6684264" y="2281428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打印 value1== 和读数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5715000" y="2670556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5715000" y="2670556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16 行</a:t>
            </a:r>
            <a:endParaRPr lang="en-US" sz="950" dirty="0"/>
          </a:p>
        </p:txBody>
      </p:sp>
      <p:sp>
        <p:nvSpPr>
          <p:cNvPr id="53" name="Text 50"/>
          <p:cNvSpPr txBox="1"/>
          <p:nvPr/>
        </p:nvSpPr>
        <p:spPr>
          <a:xfrm>
            <a:off x="6462268" y="2661412"/>
            <a:ext cx="2270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变小数再 ÷1023 → 0～1 比例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5715000" y="2954020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5715000" y="2954020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17–18 行</a:t>
            </a:r>
            <a:endParaRPr lang="en-US" sz="950" dirty="0"/>
          </a:p>
        </p:txBody>
      </p:sp>
      <p:sp>
        <p:nvSpPr>
          <p:cNvPr id="56" name="Text 53"/>
          <p:cNvSpPr txBox="1"/>
          <p:nvPr/>
        </p:nvSpPr>
        <p:spPr>
          <a:xfrm>
            <a:off x="6684264" y="2944876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打印 voltage== 和比例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5715000" y="3240532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5715000" y="3240532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19 行</a:t>
            </a:r>
            <a:endParaRPr lang="en-US" sz="950" dirty="0"/>
          </a:p>
        </p:txBody>
      </p:sp>
      <p:sp>
        <p:nvSpPr>
          <p:cNvPr id="59" name="Text 56"/>
          <p:cNvSpPr txBox="1"/>
          <p:nvPr/>
        </p:nvSpPr>
        <p:spPr>
          <a:xfrm>
            <a:off x="6462268" y="3231388"/>
            <a:ext cx="2270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× 256 再取整 → PWM 值</a:t>
            </a:r>
            <a:endParaRPr lang="en-US" sz="1200" dirty="0"/>
          </a:p>
        </p:txBody>
      </p:sp>
      <p:sp>
        <p:nvSpPr>
          <p:cNvPr id="60" name="Shape 57"/>
          <p:cNvSpPr/>
          <p:nvPr/>
        </p:nvSpPr>
        <p:spPr>
          <a:xfrm>
            <a:off x="5715000" y="3523996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5715000" y="3523996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20–21 行</a:t>
            </a:r>
            <a:endParaRPr lang="en-US" sz="950" dirty="0"/>
          </a:p>
        </p:txBody>
      </p:sp>
      <p:sp>
        <p:nvSpPr>
          <p:cNvPr id="62" name="Text 59"/>
          <p:cNvSpPr txBox="1"/>
          <p:nvPr/>
        </p:nvSpPr>
        <p:spPr>
          <a:xfrm>
            <a:off x="6684264" y="351485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打印 PWM== 和数值，换行</a:t>
            </a:r>
            <a:endParaRPr lang="en-US" sz="1200" dirty="0"/>
          </a:p>
        </p:txBody>
      </p:sp>
      <p:sp>
        <p:nvSpPr>
          <p:cNvPr id="63" name="Shape 60"/>
          <p:cNvSpPr/>
          <p:nvPr/>
        </p:nvSpPr>
        <p:spPr>
          <a:xfrm>
            <a:off x="5715000" y="3810508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5715000" y="3810508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22 行</a:t>
            </a:r>
            <a:endParaRPr lang="en-US" sz="950" dirty="0"/>
          </a:p>
        </p:txBody>
      </p:sp>
      <p:sp>
        <p:nvSpPr>
          <p:cNvPr id="65" name="Text 62"/>
          <p:cNvSpPr txBox="1"/>
          <p:nvPr/>
        </p:nvSpPr>
        <p:spPr>
          <a:xfrm>
            <a:off x="6462268" y="3801364"/>
            <a:ext cx="2270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 PWM 值点亮 LED</a:t>
            </a:r>
            <a:endParaRPr lang="en-US" sz="1200" dirty="0"/>
          </a:p>
        </p:txBody>
      </p:sp>
      <p:sp>
        <p:nvSpPr>
          <p:cNvPr id="66" name="Shape 63"/>
          <p:cNvSpPr/>
          <p:nvPr/>
        </p:nvSpPr>
        <p:spPr>
          <a:xfrm>
            <a:off x="5715000" y="4093972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5715000" y="4093972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23 行</a:t>
            </a:r>
            <a:endParaRPr lang="en-US" sz="950" dirty="0"/>
          </a:p>
        </p:txBody>
      </p:sp>
      <p:sp>
        <p:nvSpPr>
          <p:cNvPr id="68" name="Text 65"/>
          <p:cNvSpPr txBox="1"/>
          <p:nvPr/>
        </p:nvSpPr>
        <p:spPr>
          <a:xfrm>
            <a:off x="6462268" y="4084828"/>
            <a:ext cx="2270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delay(0)：不等待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PWM 调光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实验结果：旋钮一转，LED 跟着变亮变暗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转动电位器，LED 亮度连续变化；串口监视器里 voltage 和 value 的数值也跟着变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108960" cy="2240280"/>
          </a:xfrm>
          <a:prstGeom prst="roundRect">
            <a:avLst>
              <a:gd name="adj" fmla="val 489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7" name="Image 0" descr="原指南实物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25" y="1344168"/>
            <a:ext cx="2603070" cy="174650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3127248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原指南实物图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11480" y="37490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57784" y="38221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原指南结论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转动电位器，灯的明暗随之变化；串口里 voltage 和 value 的数值也跟着变化。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794760" y="1234440"/>
            <a:ext cx="2926080" cy="3337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12" name="Image 1" descr="原指南串口截图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488" y="1639684"/>
            <a:ext cx="2706624" cy="225275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904488" y="4224528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原指南串口截图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6995160" y="1234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读懂截图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995160" y="1618488"/>
            <a:ext cx="1737360" cy="811530"/>
          </a:xfrm>
          <a:prstGeom prst="roundRect">
            <a:avLst>
              <a:gd name="adj" fmla="val 1352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123176" y="1709928"/>
            <a:ext cx="148132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voltage 只到 1.00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程序算的是 0～1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的比例，没有乘 5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995160" y="2704338"/>
            <a:ext cx="1737360" cy="1021080"/>
          </a:xfrm>
          <a:prstGeom prst="roundRect">
            <a:avLst>
              <a:gd name="adj" fmla="val 1074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123176" y="2795778"/>
            <a:ext cx="1481328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格式略有不同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截图：两行一组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程序：一行三项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截图来自旧版程序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PWM 调光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常见坑与动手改一改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voltage 其实是比例、× 256 会越界、delay(0) 刷屏太快——用 map() 和 × 5 把程序改得更靠谱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977640" cy="929640"/>
          </a:xfrm>
          <a:prstGeom prst="roundRect">
            <a:avLst>
              <a:gd name="adj" fmla="val 11803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57784" y="1380744"/>
            <a:ext cx="329184" cy="329184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788" y="1459748"/>
            <a:ext cx="171176" cy="17117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14984" y="137160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voltage 不是电压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014984" y="1682496"/>
            <a:ext cx="322783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它是 0～1 的比例；要真实电压还得 × 5。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11480" y="2438400"/>
            <a:ext cx="3977640" cy="929640"/>
          </a:xfrm>
          <a:prstGeom prst="roundRect">
            <a:avLst>
              <a:gd name="adj" fmla="val 11803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57784" y="2584704"/>
            <a:ext cx="329184" cy="329184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788" y="2663708"/>
            <a:ext cx="171176" cy="17117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14984" y="257556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× 256 会越界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1014984" y="2886456"/>
            <a:ext cx="322783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读数 1023 时算出 256，灯反而几乎熄灭。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11480" y="3642360"/>
            <a:ext cx="3977640" cy="929640"/>
          </a:xfrm>
          <a:prstGeom prst="roundRect">
            <a:avLst>
              <a:gd name="adj" fmla="val 11803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57784" y="3788664"/>
            <a:ext cx="329184" cy="329184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88" y="3867668"/>
            <a:ext cx="171176" cy="17117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14984" y="377952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delay(0) 等于不等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1014984" y="4090416"/>
            <a:ext cx="322783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串口刷屏太快；改成 delay(100) 更好读。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663440" y="1234440"/>
            <a:ext cx="406908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846320" y="1380744"/>
            <a:ext cx="365760" cy="3657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4102" y="1468526"/>
            <a:ext cx="190195" cy="19019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340096" y="13807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动手改一改</a:t>
            </a:r>
            <a:endParaRPr lang="en-US" sz="1500" dirty="0"/>
          </a:p>
        </p:txBody>
      </p:sp>
      <p:sp>
        <p:nvSpPr>
          <p:cNvPr id="25" name="Shape 18"/>
          <p:cNvSpPr/>
          <p:nvPr/>
        </p:nvSpPr>
        <p:spPr>
          <a:xfrm>
            <a:off x="4846320" y="1892808"/>
            <a:ext cx="256032" cy="25603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4846320" y="1892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050" dirty="0"/>
          </a:p>
        </p:txBody>
      </p:sp>
      <p:sp>
        <p:nvSpPr>
          <p:cNvPr id="27" name="Text 20"/>
          <p:cNvSpPr txBox="1"/>
          <p:nvPr/>
        </p:nvSpPr>
        <p:spPr>
          <a:xfrm>
            <a:off x="5193792" y="1874520"/>
            <a:ext cx="3355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 map() 一步换算，不会越界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5193792" y="2240280"/>
            <a:ext cx="3355848" cy="348615"/>
          </a:xfrm>
          <a:prstGeom prst="roundRect">
            <a:avLst>
              <a:gd name="adj" fmla="val 20984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5330952" y="2322576"/>
            <a:ext cx="3081528" cy="184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1023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4846320" y="2826639"/>
            <a:ext cx="256032" cy="25603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4846320" y="282663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050" dirty="0"/>
          </a:p>
        </p:txBody>
      </p:sp>
      <p:sp>
        <p:nvSpPr>
          <p:cNvPr id="32" name="Text 25"/>
          <p:cNvSpPr txBox="1"/>
          <p:nvPr/>
        </p:nvSpPr>
        <p:spPr>
          <a:xfrm>
            <a:off x="5193792" y="2808351"/>
            <a:ext cx="3355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打印真实电压（0～5V）</a:t>
            </a:r>
            <a:endParaRPr lang="en-US" sz="1250" dirty="0"/>
          </a:p>
        </p:txBody>
      </p:sp>
      <p:sp>
        <p:nvSpPr>
          <p:cNvPr id="33" name="Shape 26"/>
          <p:cNvSpPr/>
          <p:nvPr/>
        </p:nvSpPr>
        <p:spPr>
          <a:xfrm>
            <a:off x="5193792" y="3174111"/>
            <a:ext cx="3355848" cy="348615"/>
          </a:xfrm>
          <a:prstGeom prst="roundRect">
            <a:avLst>
              <a:gd name="adj" fmla="val 20984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5330952" y="3256407"/>
            <a:ext cx="3081528" cy="184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voltage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(</a:t>
            </a:r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1023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4846320" y="3760470"/>
            <a:ext cx="256032" cy="25603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4846320" y="376047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050" dirty="0"/>
          </a:p>
        </p:txBody>
      </p:sp>
      <p:sp>
        <p:nvSpPr>
          <p:cNvPr id="37" name="Text 30"/>
          <p:cNvSpPr txBox="1"/>
          <p:nvPr/>
        </p:nvSpPr>
        <p:spPr>
          <a:xfrm>
            <a:off x="5193792" y="3742182"/>
            <a:ext cx="3355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旋钮反着调：越转越暗</a:t>
            </a:r>
            <a:endParaRPr lang="en-US" sz="1250" dirty="0"/>
          </a:p>
        </p:txBody>
      </p:sp>
      <p:sp>
        <p:nvSpPr>
          <p:cNvPr id="38" name="Shape 31"/>
          <p:cNvSpPr/>
          <p:nvPr/>
        </p:nvSpPr>
        <p:spPr>
          <a:xfrm>
            <a:off x="5193792" y="4107942"/>
            <a:ext cx="3355848" cy="348615"/>
          </a:xfrm>
          <a:prstGeom prst="roundRect">
            <a:avLst>
              <a:gd name="adj" fmla="val 20984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5330952" y="4190238"/>
            <a:ext cx="3081528" cy="184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1023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RGB 呼吸灯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11480" y="384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02</a:t>
            </a:r>
            <a:endParaRPr lang="en-US" sz="1100" dirty="0"/>
          </a:p>
        </p:txBody>
      </p:sp>
      <p:sp>
        <p:nvSpPr>
          <p:cNvPr id="4" name="Text 1"/>
          <p:cNvSpPr/>
          <p:nvPr>
            <p:ph idx="104" type="title" hasCustomPrompt="1"/>
          </p:nvPr>
        </p:nvSpPr>
        <p:spPr>
          <a:xfrm>
            <a:off x="411480" y="71323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RGB 贴片模块</a:t>
            </a:r>
            <a:endParaRPr lang="en-US" sz="2800" dirty="0"/>
          </a:p>
          <a:p>
            <a:pPr algn="l" indent="0" marL="0">
              <a:buNone/>
            </a:pPr>
            <a:r>
              <a: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呼吸灯实验</a:t>
            </a:r>
            <a:endParaRPr lang="en-US" sz="28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411480" y="187452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一颗 RGB LED 里藏着红、绿、蓝三盏小灯。用三路 PWM 分别调它们的亮度，叠加起来就能混出各种颜色；再用 for 循环一点点加亮，做出渐变的效果。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60520" y="347472"/>
            <a:ext cx="2286000" cy="2112264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61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361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原理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361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红绿蓝 · 加色混合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347472"/>
            <a:ext cx="2286000" cy="2112264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47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647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R→11 · G→10 · B→9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2459736"/>
            <a:ext cx="2286000" cy="2112264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61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361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361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setColor(r,g,b) · for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2459736"/>
            <a:ext cx="2286000" cy="21122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47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647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647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红、绿、蓝依次渐亮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RGB 呼吸灯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认识 RGB LED：三原色混出千万种颜色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红、绿、蓝三个通道各有 0～255 共 256 级亮度，叠加起来能混出 256³ = 16777216 种颜色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206240" cy="2103120"/>
          </a:xfrm>
          <a:prstGeom prst="roundRect">
            <a:avLst>
              <a:gd name="adj" fmla="val 521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7" name="Image 0" descr="原指南：RGB LED 模块正面 / 反面（引脚 R、G、B、GND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366" y="1344168"/>
            <a:ext cx="3500468" cy="16093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2990088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原指南：RGB LED 模块正面 / 反面（引脚 R、G、B、GND）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11480" y="3611880"/>
            <a:ext cx="4206240" cy="960120"/>
          </a:xfrm>
          <a:prstGeom prst="roundRect">
            <a:avLst>
              <a:gd name="adj" fmla="val 11429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94360" y="37033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 × 256 × 256 = 16 777 216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594360" y="4069080"/>
            <a:ext cx="3840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每个通道 256 级，三个通道自由组合——颜色多到肉眼几乎分不出和自然颜色的差别。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892040" y="1234440"/>
            <a:ext cx="384048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074920" y="136245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加色混合：光叠加得越多越亮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972495" y="1749064"/>
            <a:ext cx="1024128" cy="1024128"/>
          </a:xfrm>
          <a:prstGeom prst="ellipse">
            <a:avLst/>
          </a:prstGeom>
          <a:solidFill>
            <a:srgbClr val="40E0D0">
              <a:alpha val="28000"/>
            </a:srgbClr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627937" y="1749064"/>
            <a:ext cx="1024128" cy="1024128"/>
          </a:xfrm>
          <a:prstGeom prst="ellipse">
            <a:avLst/>
          </a:prstGeom>
          <a:solidFill>
            <a:srgbClr val="40E0D0">
              <a:alpha val="28000"/>
            </a:srgbClr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00216" y="2317455"/>
            <a:ext cx="1024128" cy="1024128"/>
          </a:xfrm>
          <a:prstGeom prst="ellipse">
            <a:avLst/>
          </a:prstGeom>
          <a:solidFill>
            <a:srgbClr val="40E0D0">
              <a:alpha val="28000"/>
            </a:srgbClr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913973" y="197839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 红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6979067" y="197839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 绿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6446520" y="295643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 蓝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6446520" y="202448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黄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6170005" y="250582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品红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6723035" y="250582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青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6446520" y="2352203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白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5074920" y="3593592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全为 0：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熄灭　　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全为 255：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最亮的白光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混得越多越亮——原指南说的“添加剂混合”，就是加色混合。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RGB 呼吸灯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组件清单与接线：R→11，G→10，B→9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RGB 模块的 R、G、B 三个脚分别接 UNO 的 11、10、9 号脚（都带 ~，能输出 PWM），“−”接 GND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4805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7" name="Image 0" descr="原指南接线图（红 R · 绿 G · 蓝 B · 黑 GND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478240"/>
            <a:ext cx="4261104" cy="257564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4261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原指南接线图（红 R · 绿 G · 蓝 B · 黑 GND）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234440"/>
          <a:ext cx="3520440" cy="914400"/>
        </p:xfrm>
        <a:graphic>
          <a:graphicData uri="http://schemas.openxmlformats.org/drawingml/2006/table">
            <a:tbl>
              <a:tblPr/>
              <a:tblGrid>
                <a:gridCol w="1760220"/>
                <a:gridCol w="17602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Arduino UNO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RGB 模块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5212080" y="310896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组件清单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5212080" y="3419856"/>
            <a:ext cx="1127760" cy="297180"/>
          </a:xfrm>
          <a:prstGeom prst="roundRect">
            <a:avLst>
              <a:gd name="adj" fmla="val 50000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5212080" y="3419856"/>
            <a:ext cx="11277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UNO R3 主板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431280" y="3419856"/>
            <a:ext cx="694944" cy="297180"/>
          </a:xfrm>
          <a:prstGeom prst="roundRect">
            <a:avLst>
              <a:gd name="adj" fmla="val 50000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431280" y="3419856"/>
            <a:ext cx="69494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面包板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7217664" y="3419856"/>
            <a:ext cx="1036320" cy="297180"/>
          </a:xfrm>
          <a:prstGeom prst="roundRect">
            <a:avLst>
              <a:gd name="adj" fmla="val 50000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217664" y="3419856"/>
            <a:ext cx="10363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USB 数据线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212080" y="3808476"/>
            <a:ext cx="1456944" cy="297180"/>
          </a:xfrm>
          <a:prstGeom prst="roundRect">
            <a:avLst>
              <a:gd name="adj" fmla="val 50000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2080" y="3808476"/>
            <a:ext cx="145694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RGB LED 模块 ×1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760464" y="3808476"/>
            <a:ext cx="847344" cy="297180"/>
          </a:xfrm>
          <a:prstGeom prst="roundRect">
            <a:avLst>
              <a:gd name="adj" fmla="val 50000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760464" y="3808476"/>
            <a:ext cx="84734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若干跳线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RGB 呼吸灯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新语法：#define 和带参数的函数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#define 给数字起个好记的外号；带参数的函数像能“点单”的菜谱——setColor(红, 绿, 蓝) 报三个亮度就行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79476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389888"/>
            <a:ext cx="365760" cy="3657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142" y="1477670"/>
            <a:ext cx="190195" cy="1901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88136" y="1389888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#define：给数字起外号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594360" y="1883664"/>
            <a:ext cx="3429000" cy="436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像手机通讯录：存一次“RGB_RED 就是 11”，以后写名字就行。换引脚时只改这一行。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94360" y="2466531"/>
            <a:ext cx="3429000" cy="742950"/>
          </a:xfrm>
          <a:prstGeom prst="roundRect">
            <a:avLst>
              <a:gd name="adj" fmla="val 9846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31520" y="2548827"/>
            <a:ext cx="3154680" cy="192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RGB_RED  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731520" y="2741613"/>
            <a:ext cx="3154680" cy="192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RGB_RED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731520" y="2934398"/>
            <a:ext cx="3154680" cy="192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等于 pinMode(11,OUTPUT);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94360" y="3483801"/>
            <a:ext cx="34290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22376" y="3483801"/>
            <a:ext cx="3172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常见错误　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行末加分号或写等号：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RGB_RED = 11;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480560" y="1234440"/>
            <a:ext cx="425196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663440" y="1389888"/>
            <a:ext cx="365760" cy="3657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222" y="1477670"/>
            <a:ext cx="190195" cy="1901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157216" y="1389888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带参数的函数：能“点单”的菜谱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4663440" y="1883664"/>
            <a:ext cx="3886200" cy="436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点奶茶要报甜度、冰量；调用 setColor() 要报红、绿、蓝三个亮度，按顺序装进三个参数。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4754880" y="2466531"/>
            <a:ext cx="10652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setColor(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5856732" y="2466531"/>
            <a:ext cx="562356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1A9E92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5856732" y="2466531"/>
            <a:ext cx="5623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6455664" y="2466531"/>
            <a:ext cx="3794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, 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6871716" y="2466531"/>
            <a:ext cx="562356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1A9E92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871716" y="2466531"/>
            <a:ext cx="5623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7470648" y="2466531"/>
            <a:ext cx="3794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, </a:t>
            </a:r>
            <a:endParaRPr lang="en-US" sz="1500" dirty="0"/>
          </a:p>
        </p:txBody>
      </p:sp>
      <p:sp>
        <p:nvSpPr>
          <p:cNvPr id="29" name="Shape 24"/>
          <p:cNvSpPr/>
          <p:nvPr/>
        </p:nvSpPr>
        <p:spPr>
          <a:xfrm>
            <a:off x="7886700" y="2466531"/>
            <a:ext cx="333756" cy="347472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525">
            <a:solidFill>
              <a:srgbClr val="1A9E92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7886700" y="2466531"/>
            <a:ext cx="3337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31" name="Text 26"/>
          <p:cNvSpPr txBox="1"/>
          <p:nvPr/>
        </p:nvSpPr>
        <p:spPr>
          <a:xfrm>
            <a:off x="8257032" y="2466531"/>
            <a:ext cx="265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500" dirty="0"/>
          </a:p>
        </p:txBody>
      </p:sp>
      <p:sp>
        <p:nvSpPr>
          <p:cNvPr id="32" name="Shape 27"/>
          <p:cNvSpPr/>
          <p:nvPr/>
        </p:nvSpPr>
        <p:spPr>
          <a:xfrm>
            <a:off x="6137910" y="2814003"/>
            <a:ext cx="91" cy="109728"/>
          </a:xfrm>
          <a:prstGeom prst="line">
            <a:avLst/>
          </a:prstGeom>
          <a:noFill/>
          <a:ln w="15875">
            <a:solidFill>
              <a:srgbClr val="1A9E92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5726430" y="2942019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</a:t>
            </a:r>
            <a:endParaRPr lang="en-US" sz="1150" dirty="0"/>
          </a:p>
        </p:txBody>
      </p:sp>
      <p:sp>
        <p:nvSpPr>
          <p:cNvPr id="34" name="Shape 29"/>
          <p:cNvSpPr/>
          <p:nvPr/>
        </p:nvSpPr>
        <p:spPr>
          <a:xfrm>
            <a:off x="7152894" y="2814003"/>
            <a:ext cx="91" cy="109728"/>
          </a:xfrm>
          <a:prstGeom prst="line">
            <a:avLst/>
          </a:prstGeom>
          <a:noFill/>
          <a:ln w="15875">
            <a:solidFill>
              <a:srgbClr val="1A9E92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6741414" y="2942019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green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绿</a:t>
            </a:r>
            <a:endParaRPr lang="en-US" sz="1150" dirty="0"/>
          </a:p>
        </p:txBody>
      </p:sp>
      <p:sp>
        <p:nvSpPr>
          <p:cNvPr id="36" name="Shape 31"/>
          <p:cNvSpPr/>
          <p:nvPr/>
        </p:nvSpPr>
        <p:spPr>
          <a:xfrm>
            <a:off x="8053578" y="2814003"/>
            <a:ext cx="91" cy="109728"/>
          </a:xfrm>
          <a:prstGeom prst="line">
            <a:avLst/>
          </a:prstGeom>
          <a:noFill/>
          <a:ln w="15875">
            <a:solidFill>
              <a:srgbClr val="1A9E92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7642098" y="2942019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blue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蓝</a:t>
            </a:r>
            <a:endParaRPr lang="en-US" sz="1150" dirty="0"/>
          </a:p>
        </p:txBody>
      </p:sp>
      <p:sp>
        <p:nvSpPr>
          <p:cNvPr id="38" name="Shape 33"/>
          <p:cNvSpPr/>
          <p:nvPr/>
        </p:nvSpPr>
        <p:spPr>
          <a:xfrm>
            <a:off x="4663440" y="3490659"/>
            <a:ext cx="3886200" cy="357378"/>
          </a:xfrm>
          <a:prstGeom prst="roundRect">
            <a:avLst>
              <a:gd name="adj" fmla="val 20469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4800600" y="3572955"/>
            <a:ext cx="3611880" cy="192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setColor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pPr indent="0" marL="0">
              <a:buNone/>
            </a:pPr>
            <a:r>
              <a:rPr lang="en-US" sz="110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红 + 半个绿 ≈ 橙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4663440" y="4049205"/>
            <a:ext cx="3886200" cy="413067"/>
          </a:xfrm>
          <a:prstGeom prst="roundRect">
            <a:avLst>
              <a:gd name="adj" fmla="val 26564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4791456" y="4049205"/>
            <a:ext cx="3630168" cy="413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常见错误　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参数要按顺序：第 1 个永远是红色。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RGB 呼吸灯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代码逐行看懂（1/3）：起外号、setup() 和 setColor()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前三行给三个引脚起外号，setup() 把它们设为输出；setColor() 一次把三个亮度送到三路 PWM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480560" cy="3337560"/>
          </a:xfrm>
          <a:prstGeom prst="roundRect">
            <a:avLst>
              <a:gd name="adj" fmla="val 274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rgb_breath.ino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203704" y="12984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1–17 行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545336"/>
            <a:ext cx="4389120" cy="164084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1545336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00969" y="1545336"/>
            <a:ext cx="396305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RGB_RED     </a:t>
            </a:r>
            <a:pPr indent="0" marL="0">
              <a:buNone/>
            </a:pPr>
            <a:r>
              <a:rPr lang="en-US" sz="9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57200" y="1709420"/>
            <a:ext cx="4389120" cy="164084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1709420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800969" y="1709420"/>
            <a:ext cx="396305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RGB_GREEN   </a:t>
            </a:r>
            <a:pPr indent="0" marL="0">
              <a:buNone/>
            </a:pPr>
            <a:r>
              <a:rPr lang="en-US" sz="9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7200" y="1873504"/>
            <a:ext cx="4389120" cy="164084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1873504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800969" y="1873504"/>
            <a:ext cx="396305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RGB_BLUE    </a:t>
            </a:r>
            <a:pPr indent="0" marL="0">
              <a:buNone/>
            </a:pPr>
            <a:r>
              <a:rPr lang="en-US" sz="9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2037588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800969" y="2037588"/>
            <a:ext cx="396305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502920" y="2201672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800969" y="2201672"/>
            <a:ext cx="396305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502920" y="2365756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800969" y="2365756"/>
            <a:ext cx="396305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502920" y="2529840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800969" y="2529840"/>
            <a:ext cx="396305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RGB_RED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9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502920" y="2693924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800969" y="2693924"/>
            <a:ext cx="396305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RGB_GREEN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9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502920" y="2858008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800969" y="2858008"/>
            <a:ext cx="396305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RGB_BLUE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9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502920" y="3022092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50" dirty="0"/>
          </a:p>
        </p:txBody>
      </p:sp>
      <p:sp>
        <p:nvSpPr>
          <p:cNvPr id="31" name="Text 28"/>
          <p:cNvSpPr txBox="1"/>
          <p:nvPr/>
        </p:nvSpPr>
        <p:spPr>
          <a:xfrm>
            <a:off x="800969" y="3022092"/>
            <a:ext cx="396305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502920" y="3186176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50" dirty="0"/>
          </a:p>
        </p:txBody>
      </p:sp>
      <p:sp>
        <p:nvSpPr>
          <p:cNvPr id="33" name="Text 30"/>
          <p:cNvSpPr txBox="1"/>
          <p:nvPr/>
        </p:nvSpPr>
        <p:spPr>
          <a:xfrm>
            <a:off x="800969" y="3186176"/>
            <a:ext cx="396305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57200" y="3350260"/>
            <a:ext cx="4389120" cy="164084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02920" y="3350260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800969" y="3350260"/>
            <a:ext cx="396305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setColor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green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blue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3514344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50" dirty="0"/>
          </a:p>
        </p:txBody>
      </p:sp>
      <p:sp>
        <p:nvSpPr>
          <p:cNvPr id="38" name="Text 35"/>
          <p:cNvSpPr txBox="1"/>
          <p:nvPr/>
        </p:nvSpPr>
        <p:spPr>
          <a:xfrm>
            <a:off x="800969" y="3514344"/>
            <a:ext cx="396305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457200" y="3678428"/>
            <a:ext cx="4389120" cy="164084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02920" y="3678428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50" dirty="0"/>
          </a:p>
        </p:txBody>
      </p:sp>
      <p:sp>
        <p:nvSpPr>
          <p:cNvPr id="41" name="Text 38"/>
          <p:cNvSpPr txBox="1"/>
          <p:nvPr/>
        </p:nvSpPr>
        <p:spPr>
          <a:xfrm>
            <a:off x="800969" y="3678428"/>
            <a:ext cx="396305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RGB_RED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457200" y="3842512"/>
            <a:ext cx="4389120" cy="164084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02920" y="3842512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800969" y="3842512"/>
            <a:ext cx="396305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RGB_GREEN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green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457200" y="4006596"/>
            <a:ext cx="4389120" cy="164084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02920" y="4006596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50" dirty="0"/>
          </a:p>
        </p:txBody>
      </p:sp>
      <p:sp>
        <p:nvSpPr>
          <p:cNvPr id="47" name="Text 44"/>
          <p:cNvSpPr txBox="1"/>
          <p:nvPr/>
        </p:nvSpPr>
        <p:spPr>
          <a:xfrm>
            <a:off x="800969" y="4006596"/>
            <a:ext cx="396305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analogWrite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RGB_BLUE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blue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48" name="Text 45"/>
          <p:cNvSpPr txBox="1"/>
          <p:nvPr/>
        </p:nvSpPr>
        <p:spPr>
          <a:xfrm>
            <a:off x="502920" y="4170680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850" dirty="0"/>
          </a:p>
        </p:txBody>
      </p:sp>
      <p:sp>
        <p:nvSpPr>
          <p:cNvPr id="49" name="Text 46"/>
          <p:cNvSpPr txBox="1"/>
          <p:nvPr/>
        </p:nvSpPr>
        <p:spPr>
          <a:xfrm>
            <a:off x="800969" y="4170680"/>
            <a:ext cx="396305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50" name="Text 47"/>
          <p:cNvSpPr txBox="1"/>
          <p:nvPr/>
        </p:nvSpPr>
        <p:spPr>
          <a:xfrm>
            <a:off x="5212080" y="12344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51" name="Shape 48"/>
          <p:cNvSpPr/>
          <p:nvPr/>
        </p:nvSpPr>
        <p:spPr>
          <a:xfrm>
            <a:off x="5212080" y="1600200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5212080" y="1600200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1–3 行</a:t>
            </a:r>
            <a:endParaRPr lang="en-US" sz="950" dirty="0"/>
          </a:p>
        </p:txBody>
      </p:sp>
      <p:sp>
        <p:nvSpPr>
          <p:cNvPr id="53" name="Text 50"/>
          <p:cNvSpPr txBox="1"/>
          <p:nvPr/>
        </p:nvSpPr>
        <p:spPr>
          <a:xfrm>
            <a:off x="6026912" y="1591056"/>
            <a:ext cx="270560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起外号：RED 是 11，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GREEN 是 10，BLUE 是 9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5212080" y="2173986"/>
            <a:ext cx="80060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5212080" y="2173986"/>
            <a:ext cx="800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5–10 行</a:t>
            </a:r>
            <a:endParaRPr lang="en-US" sz="950" dirty="0"/>
          </a:p>
        </p:txBody>
      </p:sp>
      <p:sp>
        <p:nvSpPr>
          <p:cNvPr id="56" name="Text 53"/>
          <p:cNvSpPr txBox="1"/>
          <p:nvPr/>
        </p:nvSpPr>
        <p:spPr>
          <a:xfrm>
            <a:off x="6104128" y="2164842"/>
            <a:ext cx="2628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setup()：三个颜色脚都设为输出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5212080" y="3322574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5212080" y="3322574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12 行</a:t>
            </a:r>
            <a:endParaRPr lang="en-US" sz="950" dirty="0"/>
          </a:p>
        </p:txBody>
      </p:sp>
      <p:sp>
        <p:nvSpPr>
          <p:cNvPr id="59" name="Text 56"/>
          <p:cNvSpPr txBox="1"/>
          <p:nvPr/>
        </p:nvSpPr>
        <p:spPr>
          <a:xfrm>
            <a:off x="5959348" y="3313430"/>
            <a:ext cx="2773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定义 setColor()，带三个参数</a:t>
            </a:r>
            <a:endParaRPr lang="en-US" sz="1200" dirty="0"/>
          </a:p>
        </p:txBody>
      </p:sp>
      <p:sp>
        <p:nvSpPr>
          <p:cNvPr id="60" name="Shape 57"/>
          <p:cNvSpPr/>
          <p:nvPr/>
        </p:nvSpPr>
        <p:spPr>
          <a:xfrm>
            <a:off x="5212080" y="3670046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5212080" y="3670046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14–16 行</a:t>
            </a:r>
            <a:endParaRPr lang="en-US" sz="950" dirty="0"/>
          </a:p>
        </p:txBody>
      </p:sp>
      <p:sp>
        <p:nvSpPr>
          <p:cNvPr id="62" name="Text 59"/>
          <p:cNvSpPr txBox="1"/>
          <p:nvPr/>
        </p:nvSpPr>
        <p:spPr>
          <a:xfrm>
            <a:off x="6181344" y="3660902"/>
            <a:ext cx="2551176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red、green、blue 三个亮度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分别交给三路 PWM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RGB 呼吸灯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代码逐行看懂（2/3）：for 循环让红灯渐亮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 从 0 数到 255，每数一下就把 i 当作红色亮度送出去，再停 4 毫秒——红灯就一级一级亮起来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754880" cy="2450592"/>
          </a:xfrm>
          <a:prstGeom prst="roundRect">
            <a:avLst>
              <a:gd name="adj" fmla="val 3731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rgb_breath.ino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313432" y="1298448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19–28 行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54533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56016" y="1545336"/>
            <a:ext cx="41823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174396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856016" y="1743964"/>
            <a:ext cx="41823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194259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56016" y="1942592"/>
            <a:ext cx="41823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2141220"/>
            <a:ext cx="466344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214122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856016" y="2141220"/>
            <a:ext cx="41823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2339848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856016" y="2339848"/>
            <a:ext cx="41823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57200" y="2538476"/>
            <a:ext cx="466344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2920" y="253847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856016" y="2538476"/>
            <a:ext cx="41823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setColor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57200" y="2737104"/>
            <a:ext cx="466344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02920" y="273710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856016" y="2737104"/>
            <a:ext cx="41823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502920" y="293573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856016" y="2935732"/>
            <a:ext cx="41823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502920" y="313436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56016" y="3134360"/>
            <a:ext cx="41823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pPr indent="0" marL="0">
              <a:buNone/>
            </a:pPr>
            <a:r>
              <a:rPr lang="en-US" sz="11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//turn the RGB LED red smoth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502920" y="3332988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856016" y="3332988"/>
            <a:ext cx="41823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5486400" y="12344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486400" y="1600200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486400" y="1600200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19 行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6233668" y="1591056"/>
            <a:ext cx="24988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loop()：一轮一轮地重复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5486400" y="1932178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486400" y="1932178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21–22 行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6455664" y="1923034"/>
            <a:ext cx="2276856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计数器 i 从 0 数到 255，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一共 256 次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5486400" y="2528062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486400" y="2528062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24–25 行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6455664" y="2518918"/>
            <a:ext cx="2276856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红色亮度 = i，绿蓝为 0；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每一级停 4 毫秒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5486400" y="3123946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486400" y="3123946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27 行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6233668" y="3114802"/>
            <a:ext cx="24988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红色最亮后，停 0.5 秒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411480" y="3959352"/>
            <a:ext cx="8321040" cy="612648"/>
          </a:xfrm>
          <a:prstGeom prst="roundRect">
            <a:avLst>
              <a:gd name="adj" fmla="val 1791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94360" y="3959352"/>
            <a:ext cx="1828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256 级 × 4 毫秒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≈ 1 秒从灭到最亮</a:t>
            </a:r>
            <a:endParaRPr lang="en-US" sz="1250" dirty="0"/>
          </a:p>
        </p:txBody>
      </p:sp>
      <p:sp>
        <p:nvSpPr>
          <p:cNvPr id="47" name="Shape 44"/>
          <p:cNvSpPr/>
          <p:nvPr/>
        </p:nvSpPr>
        <p:spPr>
          <a:xfrm>
            <a:off x="2606040" y="4306824"/>
            <a:ext cx="187052" cy="237744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790349" y="4306824"/>
            <a:ext cx="187052" cy="237744"/>
          </a:xfrm>
          <a:prstGeom prst="rect">
            <a:avLst/>
          </a:prstGeom>
          <a:solidFill>
            <a:srgbClr val="2E3332"/>
          </a:solidFill>
          <a:ln w="12700">
            <a:solidFill>
              <a:srgbClr val="2E3332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974658" y="4306824"/>
            <a:ext cx="187052" cy="237744"/>
          </a:xfrm>
          <a:prstGeom prst="rect">
            <a:avLst/>
          </a:prstGeom>
          <a:solidFill>
            <a:srgbClr val="2E3938"/>
          </a:solidFill>
          <a:ln w="12700">
            <a:solidFill>
              <a:srgbClr val="2E3938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3158966" y="4306824"/>
            <a:ext cx="187052" cy="237744"/>
          </a:xfrm>
          <a:prstGeom prst="rect">
            <a:avLst/>
          </a:prstGeom>
          <a:solidFill>
            <a:srgbClr val="2F3E3D"/>
          </a:solidFill>
          <a:ln w="12700">
            <a:solidFill>
              <a:srgbClr val="2F3E3D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3343275" y="4306824"/>
            <a:ext cx="187052" cy="237744"/>
          </a:xfrm>
          <a:prstGeom prst="rect">
            <a:avLst/>
          </a:prstGeom>
          <a:solidFill>
            <a:srgbClr val="2F4442"/>
          </a:solidFill>
          <a:ln w="12700">
            <a:solidFill>
              <a:srgbClr val="2F4442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3527584" y="4306824"/>
            <a:ext cx="187052" cy="237744"/>
          </a:xfrm>
          <a:prstGeom prst="rect">
            <a:avLst/>
          </a:prstGeom>
          <a:solidFill>
            <a:srgbClr val="304A47"/>
          </a:solidFill>
          <a:ln w="12700">
            <a:solidFill>
              <a:srgbClr val="304A47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3711893" y="4306824"/>
            <a:ext cx="187052" cy="237744"/>
          </a:xfrm>
          <a:prstGeom prst="rect">
            <a:avLst/>
          </a:prstGeom>
          <a:solidFill>
            <a:srgbClr val="31504D"/>
          </a:solidFill>
          <a:ln w="12700">
            <a:solidFill>
              <a:srgbClr val="31504D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896201" y="4306824"/>
            <a:ext cx="187052" cy="237744"/>
          </a:xfrm>
          <a:prstGeom prst="rect">
            <a:avLst/>
          </a:prstGeom>
          <a:solidFill>
            <a:srgbClr val="315552"/>
          </a:solidFill>
          <a:ln w="12700">
            <a:solidFill>
              <a:srgbClr val="315552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4080510" y="4306824"/>
            <a:ext cx="187052" cy="237744"/>
          </a:xfrm>
          <a:prstGeom prst="rect">
            <a:avLst/>
          </a:prstGeom>
          <a:solidFill>
            <a:srgbClr val="325B57"/>
          </a:solidFill>
          <a:ln w="12700">
            <a:solidFill>
              <a:srgbClr val="325B57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264819" y="4306824"/>
            <a:ext cx="187052" cy="237744"/>
          </a:xfrm>
          <a:prstGeom prst="rect">
            <a:avLst/>
          </a:prstGeom>
          <a:solidFill>
            <a:srgbClr val="33615C"/>
          </a:solidFill>
          <a:ln w="12700">
            <a:solidFill>
              <a:srgbClr val="33615C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4449128" y="4306824"/>
            <a:ext cx="187052" cy="237744"/>
          </a:xfrm>
          <a:prstGeom prst="rect">
            <a:avLst/>
          </a:prstGeom>
          <a:solidFill>
            <a:srgbClr val="336762"/>
          </a:solidFill>
          <a:ln w="12700">
            <a:solidFill>
              <a:srgbClr val="336762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4633436" y="4306824"/>
            <a:ext cx="187052" cy="237744"/>
          </a:xfrm>
          <a:prstGeom prst="rect">
            <a:avLst/>
          </a:prstGeom>
          <a:solidFill>
            <a:srgbClr val="346D67"/>
          </a:solidFill>
          <a:ln w="12700">
            <a:solidFill>
              <a:srgbClr val="346D67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4817745" y="4306824"/>
            <a:ext cx="187052" cy="237744"/>
          </a:xfrm>
          <a:prstGeom prst="rect">
            <a:avLst/>
          </a:prstGeom>
          <a:solidFill>
            <a:srgbClr val="34726C"/>
          </a:solidFill>
          <a:ln w="12700">
            <a:solidFill>
              <a:srgbClr val="34726C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5002054" y="4306824"/>
            <a:ext cx="187052" cy="237744"/>
          </a:xfrm>
          <a:prstGeom prst="rect">
            <a:avLst/>
          </a:prstGeom>
          <a:solidFill>
            <a:srgbClr val="357871"/>
          </a:solidFill>
          <a:ln w="12700">
            <a:solidFill>
              <a:srgbClr val="357871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5186363" y="4306824"/>
            <a:ext cx="187052" cy="237744"/>
          </a:xfrm>
          <a:prstGeom prst="rect">
            <a:avLst/>
          </a:prstGeom>
          <a:solidFill>
            <a:srgbClr val="367E77"/>
          </a:solidFill>
          <a:ln w="12700">
            <a:solidFill>
              <a:srgbClr val="367E77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5370671" y="4306824"/>
            <a:ext cx="187052" cy="237744"/>
          </a:xfrm>
          <a:prstGeom prst="rect">
            <a:avLst/>
          </a:prstGeom>
          <a:solidFill>
            <a:srgbClr val="36847C"/>
          </a:solidFill>
          <a:ln w="12700">
            <a:solidFill>
              <a:srgbClr val="36847C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5554980" y="4306824"/>
            <a:ext cx="187052" cy="237744"/>
          </a:xfrm>
          <a:prstGeom prst="rect">
            <a:avLst/>
          </a:prstGeom>
          <a:solidFill>
            <a:srgbClr val="378981"/>
          </a:solidFill>
          <a:ln w="12700">
            <a:solidFill>
              <a:srgbClr val="378981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5739289" y="4306824"/>
            <a:ext cx="187052" cy="237744"/>
          </a:xfrm>
          <a:prstGeom prst="rect">
            <a:avLst/>
          </a:prstGeom>
          <a:solidFill>
            <a:srgbClr val="378F86"/>
          </a:solidFill>
          <a:ln w="12700">
            <a:solidFill>
              <a:srgbClr val="378F86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5923598" y="4306824"/>
            <a:ext cx="187052" cy="237744"/>
          </a:xfrm>
          <a:prstGeom prst="rect">
            <a:avLst/>
          </a:prstGeom>
          <a:solidFill>
            <a:srgbClr val="38958C"/>
          </a:solidFill>
          <a:ln w="12700">
            <a:solidFill>
              <a:srgbClr val="38958C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6107906" y="4306824"/>
            <a:ext cx="187052" cy="237744"/>
          </a:xfrm>
          <a:prstGeom prst="rect">
            <a:avLst/>
          </a:prstGeom>
          <a:solidFill>
            <a:srgbClr val="399B91"/>
          </a:solidFill>
          <a:ln w="12700">
            <a:solidFill>
              <a:srgbClr val="399B91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6292215" y="4306824"/>
            <a:ext cx="187052" cy="237744"/>
          </a:xfrm>
          <a:prstGeom prst="rect">
            <a:avLst/>
          </a:prstGeom>
          <a:solidFill>
            <a:srgbClr val="39A096"/>
          </a:solidFill>
          <a:ln w="12700">
            <a:solidFill>
              <a:srgbClr val="39A096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6476524" y="4306824"/>
            <a:ext cx="187052" cy="237744"/>
          </a:xfrm>
          <a:prstGeom prst="rect">
            <a:avLst/>
          </a:prstGeom>
          <a:solidFill>
            <a:srgbClr val="3AA69B"/>
          </a:solidFill>
          <a:ln w="12700">
            <a:solidFill>
              <a:srgbClr val="3AA69B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6660833" y="4306824"/>
            <a:ext cx="187052" cy="237744"/>
          </a:xfrm>
          <a:prstGeom prst="rect">
            <a:avLst/>
          </a:prstGeom>
          <a:solidFill>
            <a:srgbClr val="3AACA1"/>
          </a:solidFill>
          <a:ln w="12700">
            <a:solidFill>
              <a:srgbClr val="3AACA1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6845141" y="4306824"/>
            <a:ext cx="187052" cy="237744"/>
          </a:xfrm>
          <a:prstGeom prst="rect">
            <a:avLst/>
          </a:prstGeom>
          <a:solidFill>
            <a:srgbClr val="3BB2A6"/>
          </a:solidFill>
          <a:ln w="12700">
            <a:solidFill>
              <a:srgbClr val="3BB2A6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7029450" y="4306824"/>
            <a:ext cx="187052" cy="237744"/>
          </a:xfrm>
          <a:prstGeom prst="rect">
            <a:avLst/>
          </a:prstGeom>
          <a:solidFill>
            <a:srgbClr val="3CB8AB"/>
          </a:solidFill>
          <a:ln w="12700">
            <a:solidFill>
              <a:srgbClr val="3CB8AB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7213759" y="4306824"/>
            <a:ext cx="187052" cy="237744"/>
          </a:xfrm>
          <a:prstGeom prst="rect">
            <a:avLst/>
          </a:prstGeom>
          <a:solidFill>
            <a:srgbClr val="3CBDB0"/>
          </a:solidFill>
          <a:ln w="12700">
            <a:solidFill>
              <a:srgbClr val="3CBDB0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7398068" y="4306824"/>
            <a:ext cx="187052" cy="237744"/>
          </a:xfrm>
          <a:prstGeom prst="rect">
            <a:avLst/>
          </a:prstGeom>
          <a:solidFill>
            <a:srgbClr val="3DC3B6"/>
          </a:solidFill>
          <a:ln w="12700">
            <a:solidFill>
              <a:srgbClr val="3DC3B6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7582376" y="4306824"/>
            <a:ext cx="187052" cy="237744"/>
          </a:xfrm>
          <a:prstGeom prst="rect">
            <a:avLst/>
          </a:prstGeom>
          <a:solidFill>
            <a:srgbClr val="3EC9BB"/>
          </a:solidFill>
          <a:ln w="12700">
            <a:solidFill>
              <a:srgbClr val="3EC9BB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7766685" y="4306824"/>
            <a:ext cx="187052" cy="237744"/>
          </a:xfrm>
          <a:prstGeom prst="rect">
            <a:avLst/>
          </a:prstGeom>
          <a:solidFill>
            <a:srgbClr val="3ECFC0"/>
          </a:solidFill>
          <a:ln w="12700">
            <a:solidFill>
              <a:srgbClr val="3ECFC0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7950994" y="4306824"/>
            <a:ext cx="187052" cy="237744"/>
          </a:xfrm>
          <a:prstGeom prst="rect">
            <a:avLst/>
          </a:prstGeom>
          <a:solidFill>
            <a:srgbClr val="3FD4C5"/>
          </a:solidFill>
          <a:ln w="12700">
            <a:solidFill>
              <a:srgbClr val="3FD4C5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8135303" y="4306824"/>
            <a:ext cx="187052" cy="237744"/>
          </a:xfrm>
          <a:prstGeom prst="rect">
            <a:avLst/>
          </a:prstGeom>
          <a:solidFill>
            <a:srgbClr val="3FDACB"/>
          </a:solidFill>
          <a:ln w="12700">
            <a:solidFill>
              <a:srgbClr val="3FDACB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8319611" y="4306824"/>
            <a:ext cx="187052" cy="237744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2606040" y="405079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 = 0　灭</a:t>
            </a:r>
            <a:endParaRPr lang="en-US" sz="1050" dirty="0"/>
          </a:p>
        </p:txBody>
      </p:sp>
      <p:sp>
        <p:nvSpPr>
          <p:cNvPr id="80" name="Text 77"/>
          <p:cNvSpPr txBox="1"/>
          <p:nvPr/>
        </p:nvSpPr>
        <p:spPr>
          <a:xfrm>
            <a:off x="3537652" y="405079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64</a:t>
            </a:r>
            <a:endParaRPr lang="en-US" sz="1050" dirty="0"/>
          </a:p>
        </p:txBody>
      </p:sp>
      <p:sp>
        <p:nvSpPr>
          <p:cNvPr id="81" name="Text 78"/>
          <p:cNvSpPr txBox="1"/>
          <p:nvPr/>
        </p:nvSpPr>
        <p:spPr>
          <a:xfrm>
            <a:off x="5017904" y="405079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128</a:t>
            </a:r>
            <a:endParaRPr lang="en-US" sz="1050" dirty="0"/>
          </a:p>
        </p:txBody>
      </p:sp>
      <p:sp>
        <p:nvSpPr>
          <p:cNvPr id="82" name="Text 79"/>
          <p:cNvSpPr txBox="1"/>
          <p:nvPr/>
        </p:nvSpPr>
        <p:spPr>
          <a:xfrm>
            <a:off x="6498157" y="405079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192</a:t>
            </a:r>
            <a:endParaRPr lang="en-US" sz="1050" dirty="0"/>
          </a:p>
        </p:txBody>
      </p:sp>
      <p:sp>
        <p:nvSpPr>
          <p:cNvPr id="83" name="Text 80"/>
          <p:cNvSpPr txBox="1"/>
          <p:nvPr/>
        </p:nvSpPr>
        <p:spPr>
          <a:xfrm>
            <a:off x="7406640" y="405079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255　最亮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RGB 呼吸灯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代码逐行看懂（3/3）：绿灯、蓝灯照样来一遍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后两段 for 循环和红色完全一样，只是把 i 交给绿色、蓝色；最后一段只停 0.1 秒就回到开头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754880" cy="3337560"/>
          </a:xfrm>
          <a:prstGeom prst="roundRect">
            <a:avLst>
              <a:gd name="adj" fmla="val 274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rgb_breath.ino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313432" y="1298448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29–42 行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545336"/>
            <a:ext cx="466344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154533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56016" y="1545336"/>
            <a:ext cx="41823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174396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856016" y="1743964"/>
            <a:ext cx="41823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" y="1942592"/>
            <a:ext cx="466344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2920" y="194259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856016" y="1942592"/>
            <a:ext cx="41823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setColor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214122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856016" y="2141220"/>
            <a:ext cx="41823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502920" y="2339848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856016" y="2339848"/>
            <a:ext cx="41823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502920" y="253847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856016" y="2538476"/>
            <a:ext cx="41823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pPr indent="0" marL="0">
              <a:buNone/>
            </a:pPr>
            <a:r>
              <a:rPr lang="en-US" sz="11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//turn the RGB LED green smoth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502920" y="273710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856016" y="2737104"/>
            <a:ext cx="41823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293573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856016" y="2935732"/>
            <a:ext cx="41823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502920" y="313436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56016" y="3134360"/>
            <a:ext cx="41823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457200" y="3332988"/>
            <a:ext cx="466344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02920" y="3332988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856016" y="3332988"/>
            <a:ext cx="41823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setColor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502920" y="353161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856016" y="3531616"/>
            <a:ext cx="41823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34" name="Text 31"/>
          <p:cNvSpPr txBox="1"/>
          <p:nvPr/>
        </p:nvSpPr>
        <p:spPr>
          <a:xfrm>
            <a:off x="502920" y="373024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856016" y="3730244"/>
            <a:ext cx="41823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36" name="Text 33"/>
          <p:cNvSpPr txBox="1"/>
          <p:nvPr/>
        </p:nvSpPr>
        <p:spPr>
          <a:xfrm>
            <a:off x="502920" y="392887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856016" y="3928872"/>
            <a:ext cx="41823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pPr indent="0" marL="0">
              <a:buNone/>
            </a:pPr>
            <a:r>
              <a:rPr lang="en-US" sz="11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//turn the RGB LED blue smoth</a:t>
            </a:r>
            <a:endParaRPr lang="en-US" sz="1150" dirty="0"/>
          </a:p>
        </p:txBody>
      </p:sp>
      <p:sp>
        <p:nvSpPr>
          <p:cNvPr id="38" name="Text 35"/>
          <p:cNvSpPr txBox="1"/>
          <p:nvPr/>
        </p:nvSpPr>
        <p:spPr>
          <a:xfrm>
            <a:off x="502920" y="412750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856016" y="4127500"/>
            <a:ext cx="418232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40" name="Text 37"/>
          <p:cNvSpPr txBox="1"/>
          <p:nvPr/>
        </p:nvSpPr>
        <p:spPr>
          <a:xfrm>
            <a:off x="5486400" y="12344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5486400" y="1600200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486400" y="1600200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29 行</a:t>
            </a:r>
            <a:endParaRPr lang="en-US" sz="950" dirty="0"/>
          </a:p>
        </p:txBody>
      </p:sp>
      <p:sp>
        <p:nvSpPr>
          <p:cNvPr id="43" name="Text 40"/>
          <p:cNvSpPr txBox="1"/>
          <p:nvPr/>
        </p:nvSpPr>
        <p:spPr>
          <a:xfrm>
            <a:off x="6233668" y="1591056"/>
            <a:ext cx="24988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同样的 for：i 再从 0 数到 255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5486400" y="1932178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5486400" y="1932178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31 行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6233668" y="1923034"/>
            <a:ext cx="2498852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这次 i 交给绿色——红色一下子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变成 0，所以是“突然熄灭”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5486400" y="2528062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5486400" y="2528062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34 行</a:t>
            </a:r>
            <a:endParaRPr lang="en-US" sz="950" dirty="0"/>
          </a:p>
        </p:txBody>
      </p:sp>
      <p:sp>
        <p:nvSpPr>
          <p:cNvPr id="49" name="Text 46"/>
          <p:cNvSpPr txBox="1"/>
          <p:nvPr/>
        </p:nvSpPr>
        <p:spPr>
          <a:xfrm>
            <a:off x="6233668" y="2518918"/>
            <a:ext cx="24988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绿色最亮后停 0.5 秒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5486400" y="2925318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5486400" y="2925318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36–40 行</a:t>
            </a:r>
            <a:endParaRPr lang="en-US" sz="950" dirty="0"/>
          </a:p>
        </p:txBody>
      </p:sp>
      <p:sp>
        <p:nvSpPr>
          <p:cNvPr id="52" name="Text 49"/>
          <p:cNvSpPr txBox="1"/>
          <p:nvPr/>
        </p:nvSpPr>
        <p:spPr>
          <a:xfrm>
            <a:off x="6455664" y="2916174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再交给蓝色，从 0 渐亮到 255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5486400" y="3918458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5486400" y="3918458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41 行</a:t>
            </a:r>
            <a:endParaRPr lang="en-US" sz="950" dirty="0"/>
          </a:p>
        </p:txBody>
      </p:sp>
      <p:sp>
        <p:nvSpPr>
          <p:cNvPr id="55" name="Text 52"/>
          <p:cNvSpPr txBox="1"/>
          <p:nvPr/>
        </p:nvSpPr>
        <p:spPr>
          <a:xfrm>
            <a:off x="6233668" y="3909314"/>
            <a:ext cx="24988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蓝色最亮后只停 0.1 秒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5486400" y="4247642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5486400" y="4247642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42 行</a:t>
            </a:r>
            <a:endParaRPr lang="en-US" sz="950" dirty="0"/>
          </a:p>
        </p:txBody>
      </p:sp>
      <p:sp>
        <p:nvSpPr>
          <p:cNvPr id="58" name="Text 55"/>
          <p:cNvSpPr txBox="1"/>
          <p:nvPr/>
        </p:nvSpPr>
        <p:spPr>
          <a:xfrm>
            <a:off x="6233668" y="4238498"/>
            <a:ext cx="24988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loop() 结束，回到第 19 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RGB 呼吸灯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实验结果：红、绿、蓝依次由暗变亮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每种颜色约 1 秒从暗到最亮，停一下就换下一种颜色；一轮约 4.2 秒，循环往复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84048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7" name="Image 0" descr="原指南实物图：模块正在亮绿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408176"/>
            <a:ext cx="3621024" cy="27157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原指南实物图：模块正在亮绿光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526280" y="1234440"/>
            <a:ext cx="4206240" cy="731520"/>
          </a:xfrm>
          <a:prstGeom prst="roundRect">
            <a:avLst>
              <a:gd name="adj" fmla="val 15000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672584" y="1380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588" y="1459748"/>
            <a:ext cx="171176" cy="17117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129784" y="1371600"/>
            <a:ext cx="34564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　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RGB LED 先亮红色，然后绿色、蓝色，循环往复。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4526280" y="2240280"/>
            <a:ext cx="4206240" cy="1325880"/>
          </a:xfrm>
          <a:prstGeom prst="roundRect">
            <a:avLst>
              <a:gd name="adj" fmla="val 827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4709160" y="2350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一轮 loop() 的时间线（约 4.2 秒）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709160" y="2971800"/>
            <a:ext cx="68768" cy="29260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775184" y="2971800"/>
            <a:ext cx="68768" cy="292608"/>
          </a:xfrm>
          <a:prstGeom prst="rect">
            <a:avLst/>
          </a:prstGeom>
          <a:solidFill>
            <a:srgbClr val="2E3B3A"/>
          </a:solidFill>
          <a:ln w="12700">
            <a:solidFill>
              <a:srgbClr val="2E3B3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841209" y="2971800"/>
            <a:ext cx="68768" cy="292608"/>
          </a:xfrm>
          <a:prstGeom prst="rect">
            <a:avLst/>
          </a:prstGeom>
          <a:solidFill>
            <a:srgbClr val="304946"/>
          </a:solidFill>
          <a:ln w="12700">
            <a:solidFill>
              <a:srgbClr val="304946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907233" y="2971800"/>
            <a:ext cx="68768" cy="292608"/>
          </a:xfrm>
          <a:prstGeom prst="rect">
            <a:avLst/>
          </a:prstGeom>
          <a:solidFill>
            <a:srgbClr val="315653"/>
          </a:solidFill>
          <a:ln w="12700">
            <a:solidFill>
              <a:srgbClr val="31565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973258" y="2971800"/>
            <a:ext cx="68768" cy="292608"/>
          </a:xfrm>
          <a:prstGeom prst="rect">
            <a:avLst/>
          </a:prstGeom>
          <a:solidFill>
            <a:srgbClr val="33645F"/>
          </a:solidFill>
          <a:ln w="12700">
            <a:solidFill>
              <a:srgbClr val="33645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039282" y="2971800"/>
            <a:ext cx="68768" cy="292608"/>
          </a:xfrm>
          <a:prstGeom prst="rect">
            <a:avLst/>
          </a:prstGeom>
          <a:solidFill>
            <a:srgbClr val="34726C"/>
          </a:solidFill>
          <a:ln w="12700">
            <a:solidFill>
              <a:srgbClr val="34726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105306" y="2971800"/>
            <a:ext cx="68768" cy="292608"/>
          </a:xfrm>
          <a:prstGeom prst="rect">
            <a:avLst/>
          </a:prstGeom>
          <a:solidFill>
            <a:srgbClr val="368078"/>
          </a:solidFill>
          <a:ln w="12700">
            <a:solidFill>
              <a:srgbClr val="36807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171331" y="2971800"/>
            <a:ext cx="68768" cy="292608"/>
          </a:xfrm>
          <a:prstGeom prst="rect">
            <a:avLst/>
          </a:prstGeom>
          <a:solidFill>
            <a:srgbClr val="378D85"/>
          </a:solidFill>
          <a:ln w="12700">
            <a:solidFill>
              <a:srgbClr val="378D8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237355" y="2971800"/>
            <a:ext cx="68768" cy="292608"/>
          </a:xfrm>
          <a:prstGeom prst="rect">
            <a:avLst/>
          </a:prstGeom>
          <a:solidFill>
            <a:srgbClr val="399B91"/>
          </a:solidFill>
          <a:ln w="12700">
            <a:solidFill>
              <a:srgbClr val="399B91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303380" y="2971800"/>
            <a:ext cx="68768" cy="292608"/>
          </a:xfrm>
          <a:prstGeom prst="rect">
            <a:avLst/>
          </a:prstGeom>
          <a:solidFill>
            <a:srgbClr val="3AA99E"/>
          </a:solidFill>
          <a:ln w="12700">
            <a:solidFill>
              <a:srgbClr val="3AA99E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369404" y="2971800"/>
            <a:ext cx="68768" cy="292608"/>
          </a:xfrm>
          <a:prstGeom prst="rect">
            <a:avLst/>
          </a:prstGeom>
          <a:solidFill>
            <a:srgbClr val="3CB7AA"/>
          </a:solidFill>
          <a:ln w="12700">
            <a:solidFill>
              <a:srgbClr val="3CB7AA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435429" y="2971800"/>
            <a:ext cx="68768" cy="292608"/>
          </a:xfrm>
          <a:prstGeom prst="rect">
            <a:avLst/>
          </a:prstGeom>
          <a:solidFill>
            <a:srgbClr val="3DC4B7"/>
          </a:solidFill>
          <a:ln w="12700">
            <a:solidFill>
              <a:srgbClr val="3DC4B7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501453" y="2971800"/>
            <a:ext cx="68768" cy="292608"/>
          </a:xfrm>
          <a:prstGeom prst="rect">
            <a:avLst/>
          </a:prstGeom>
          <a:solidFill>
            <a:srgbClr val="3FD2C3"/>
          </a:solidFill>
          <a:ln w="12700">
            <a:solidFill>
              <a:srgbClr val="3FD2C3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567477" y="2971800"/>
            <a:ext cx="68768" cy="292608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4709160" y="2679192"/>
            <a:ext cx="9426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红渐亮</a:t>
            </a:r>
            <a:endParaRPr lang="en-US" sz="1100" dirty="0"/>
          </a:p>
        </p:txBody>
      </p:sp>
      <p:sp>
        <p:nvSpPr>
          <p:cNvPr id="30" name="Text 25"/>
          <p:cNvSpPr txBox="1"/>
          <p:nvPr/>
        </p:nvSpPr>
        <p:spPr>
          <a:xfrm>
            <a:off x="4709160" y="3300984"/>
            <a:ext cx="9426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1.0s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5651790" y="2971800"/>
            <a:ext cx="441980" cy="292608"/>
          </a:xfrm>
          <a:prstGeom prst="rect">
            <a:avLst/>
          </a:prstGeom>
          <a:solidFill>
            <a:srgbClr val="EBEBEB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5651790" y="2679192"/>
            <a:ext cx="4602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停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5651790" y="3300984"/>
            <a:ext cx="4602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0.5s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6112058" y="2971800"/>
            <a:ext cx="68768" cy="29260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6178083" y="2971800"/>
            <a:ext cx="68768" cy="292608"/>
          </a:xfrm>
          <a:prstGeom prst="rect">
            <a:avLst/>
          </a:prstGeom>
          <a:solidFill>
            <a:srgbClr val="2E3B3A"/>
          </a:solidFill>
          <a:ln w="12700">
            <a:solidFill>
              <a:srgbClr val="2E3B3A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6244107" y="2971800"/>
            <a:ext cx="68768" cy="292608"/>
          </a:xfrm>
          <a:prstGeom prst="rect">
            <a:avLst/>
          </a:prstGeom>
          <a:solidFill>
            <a:srgbClr val="304946"/>
          </a:solidFill>
          <a:ln w="12700">
            <a:solidFill>
              <a:srgbClr val="304946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6310131" y="2971800"/>
            <a:ext cx="68768" cy="292608"/>
          </a:xfrm>
          <a:prstGeom prst="rect">
            <a:avLst/>
          </a:prstGeom>
          <a:solidFill>
            <a:srgbClr val="315653"/>
          </a:solidFill>
          <a:ln w="12700">
            <a:solidFill>
              <a:srgbClr val="315653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6376156" y="2971800"/>
            <a:ext cx="68768" cy="292608"/>
          </a:xfrm>
          <a:prstGeom prst="rect">
            <a:avLst/>
          </a:prstGeom>
          <a:solidFill>
            <a:srgbClr val="33645F"/>
          </a:solidFill>
          <a:ln w="12700">
            <a:solidFill>
              <a:srgbClr val="33645F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6442180" y="2971800"/>
            <a:ext cx="68768" cy="292608"/>
          </a:xfrm>
          <a:prstGeom prst="rect">
            <a:avLst/>
          </a:prstGeom>
          <a:solidFill>
            <a:srgbClr val="34726C"/>
          </a:solidFill>
          <a:ln w="12700">
            <a:solidFill>
              <a:srgbClr val="34726C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6508205" y="2971800"/>
            <a:ext cx="68768" cy="292608"/>
          </a:xfrm>
          <a:prstGeom prst="rect">
            <a:avLst/>
          </a:prstGeom>
          <a:solidFill>
            <a:srgbClr val="368078"/>
          </a:solidFill>
          <a:ln w="12700">
            <a:solidFill>
              <a:srgbClr val="368078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6574229" y="2971800"/>
            <a:ext cx="68768" cy="292608"/>
          </a:xfrm>
          <a:prstGeom prst="rect">
            <a:avLst/>
          </a:prstGeom>
          <a:solidFill>
            <a:srgbClr val="378D85"/>
          </a:solidFill>
          <a:ln w="12700">
            <a:solidFill>
              <a:srgbClr val="378D85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6640254" y="2971800"/>
            <a:ext cx="68768" cy="292608"/>
          </a:xfrm>
          <a:prstGeom prst="rect">
            <a:avLst/>
          </a:prstGeom>
          <a:solidFill>
            <a:srgbClr val="399B91"/>
          </a:solidFill>
          <a:ln w="12700">
            <a:solidFill>
              <a:srgbClr val="399B91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6706278" y="2971800"/>
            <a:ext cx="68768" cy="292608"/>
          </a:xfrm>
          <a:prstGeom prst="rect">
            <a:avLst/>
          </a:prstGeom>
          <a:solidFill>
            <a:srgbClr val="3AA99E"/>
          </a:solidFill>
          <a:ln w="12700">
            <a:solidFill>
              <a:srgbClr val="3AA99E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6772302" y="2971800"/>
            <a:ext cx="68768" cy="292608"/>
          </a:xfrm>
          <a:prstGeom prst="rect">
            <a:avLst/>
          </a:prstGeom>
          <a:solidFill>
            <a:srgbClr val="3CB7AA"/>
          </a:solidFill>
          <a:ln w="12700">
            <a:solidFill>
              <a:srgbClr val="3CB7A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6838327" y="2971800"/>
            <a:ext cx="68768" cy="292608"/>
          </a:xfrm>
          <a:prstGeom prst="rect">
            <a:avLst/>
          </a:prstGeom>
          <a:solidFill>
            <a:srgbClr val="3DC4B7"/>
          </a:solidFill>
          <a:ln w="12700">
            <a:solidFill>
              <a:srgbClr val="3DC4B7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6904351" y="2971800"/>
            <a:ext cx="68768" cy="292608"/>
          </a:xfrm>
          <a:prstGeom prst="rect">
            <a:avLst/>
          </a:prstGeom>
          <a:solidFill>
            <a:srgbClr val="3FD2C3"/>
          </a:solidFill>
          <a:ln w="12700">
            <a:solidFill>
              <a:srgbClr val="3FD2C3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6970376" y="2971800"/>
            <a:ext cx="68768" cy="292608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6112058" y="2679192"/>
            <a:ext cx="9426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绿渐亮</a:t>
            </a:r>
            <a:endParaRPr lang="en-US" sz="1100" dirty="0"/>
          </a:p>
        </p:txBody>
      </p:sp>
      <p:sp>
        <p:nvSpPr>
          <p:cNvPr id="49" name="Text 44"/>
          <p:cNvSpPr txBox="1"/>
          <p:nvPr/>
        </p:nvSpPr>
        <p:spPr>
          <a:xfrm>
            <a:off x="6112058" y="3300984"/>
            <a:ext cx="9426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1.0s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7054688" y="2971800"/>
            <a:ext cx="441980" cy="292608"/>
          </a:xfrm>
          <a:prstGeom prst="rect">
            <a:avLst/>
          </a:prstGeom>
          <a:solidFill>
            <a:srgbClr val="EBEBEB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7054688" y="2679192"/>
            <a:ext cx="4602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停</a:t>
            </a:r>
            <a:endParaRPr lang="en-US" sz="1100" dirty="0"/>
          </a:p>
        </p:txBody>
      </p:sp>
      <p:sp>
        <p:nvSpPr>
          <p:cNvPr id="52" name="Text 47"/>
          <p:cNvSpPr txBox="1"/>
          <p:nvPr/>
        </p:nvSpPr>
        <p:spPr>
          <a:xfrm>
            <a:off x="7054688" y="3300984"/>
            <a:ext cx="4602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0.5s</a:t>
            </a:r>
            <a:endParaRPr lang="en-US" sz="1000" dirty="0"/>
          </a:p>
        </p:txBody>
      </p:sp>
      <p:sp>
        <p:nvSpPr>
          <p:cNvPr id="53" name="Shape 48"/>
          <p:cNvSpPr/>
          <p:nvPr/>
        </p:nvSpPr>
        <p:spPr>
          <a:xfrm>
            <a:off x="7514957" y="2971800"/>
            <a:ext cx="68768" cy="29260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7580981" y="2971800"/>
            <a:ext cx="68768" cy="292608"/>
          </a:xfrm>
          <a:prstGeom prst="rect">
            <a:avLst/>
          </a:prstGeom>
          <a:solidFill>
            <a:srgbClr val="2E3B3A"/>
          </a:solidFill>
          <a:ln w="12700">
            <a:solidFill>
              <a:srgbClr val="2E3B3A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7647005" y="2971800"/>
            <a:ext cx="68768" cy="292608"/>
          </a:xfrm>
          <a:prstGeom prst="rect">
            <a:avLst/>
          </a:prstGeom>
          <a:solidFill>
            <a:srgbClr val="304946"/>
          </a:solidFill>
          <a:ln w="12700">
            <a:solidFill>
              <a:srgbClr val="304946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7713030" y="2971800"/>
            <a:ext cx="68768" cy="292608"/>
          </a:xfrm>
          <a:prstGeom prst="rect">
            <a:avLst/>
          </a:prstGeom>
          <a:solidFill>
            <a:srgbClr val="315653"/>
          </a:solidFill>
          <a:ln w="12700">
            <a:solidFill>
              <a:srgbClr val="315653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7779054" y="2971800"/>
            <a:ext cx="68768" cy="292608"/>
          </a:xfrm>
          <a:prstGeom prst="rect">
            <a:avLst/>
          </a:prstGeom>
          <a:solidFill>
            <a:srgbClr val="33645F"/>
          </a:solidFill>
          <a:ln w="12700">
            <a:solidFill>
              <a:srgbClr val="33645F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7845079" y="2971800"/>
            <a:ext cx="68768" cy="292608"/>
          </a:xfrm>
          <a:prstGeom prst="rect">
            <a:avLst/>
          </a:prstGeom>
          <a:solidFill>
            <a:srgbClr val="34726C"/>
          </a:solidFill>
          <a:ln w="12700">
            <a:solidFill>
              <a:srgbClr val="34726C"/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7911103" y="2971800"/>
            <a:ext cx="68768" cy="292608"/>
          </a:xfrm>
          <a:prstGeom prst="rect">
            <a:avLst/>
          </a:prstGeom>
          <a:solidFill>
            <a:srgbClr val="368078"/>
          </a:solidFill>
          <a:ln w="12700">
            <a:solidFill>
              <a:srgbClr val="368078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7977127" y="2971800"/>
            <a:ext cx="68768" cy="292608"/>
          </a:xfrm>
          <a:prstGeom prst="rect">
            <a:avLst/>
          </a:prstGeom>
          <a:solidFill>
            <a:srgbClr val="378D85"/>
          </a:solidFill>
          <a:ln w="12700">
            <a:solidFill>
              <a:srgbClr val="378D85"/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8043152" y="2971800"/>
            <a:ext cx="68768" cy="292608"/>
          </a:xfrm>
          <a:prstGeom prst="rect">
            <a:avLst/>
          </a:prstGeom>
          <a:solidFill>
            <a:srgbClr val="399B91"/>
          </a:solidFill>
          <a:ln w="12700">
            <a:solidFill>
              <a:srgbClr val="399B91"/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>
            <a:off x="8109176" y="2971800"/>
            <a:ext cx="68768" cy="292608"/>
          </a:xfrm>
          <a:prstGeom prst="rect">
            <a:avLst/>
          </a:prstGeom>
          <a:solidFill>
            <a:srgbClr val="3AA99E"/>
          </a:solidFill>
          <a:ln w="12700">
            <a:solidFill>
              <a:srgbClr val="3AA99E"/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8175201" y="2971800"/>
            <a:ext cx="68768" cy="292608"/>
          </a:xfrm>
          <a:prstGeom prst="rect">
            <a:avLst/>
          </a:prstGeom>
          <a:solidFill>
            <a:srgbClr val="3CB7AA"/>
          </a:solidFill>
          <a:ln w="12700">
            <a:solidFill>
              <a:srgbClr val="3CB7AA"/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>
            <a:off x="8241225" y="2971800"/>
            <a:ext cx="68768" cy="292608"/>
          </a:xfrm>
          <a:prstGeom prst="rect">
            <a:avLst/>
          </a:prstGeom>
          <a:solidFill>
            <a:srgbClr val="3DC4B7"/>
          </a:solidFill>
          <a:ln w="12700">
            <a:solidFill>
              <a:srgbClr val="3DC4B7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8307249" y="2971800"/>
            <a:ext cx="68768" cy="292608"/>
          </a:xfrm>
          <a:prstGeom prst="rect">
            <a:avLst/>
          </a:prstGeom>
          <a:solidFill>
            <a:srgbClr val="3FD2C3"/>
          </a:solidFill>
          <a:ln w="12700">
            <a:solidFill>
              <a:srgbClr val="3FD2C3"/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8373274" y="2971800"/>
            <a:ext cx="68768" cy="292608"/>
          </a:xfrm>
          <a:prstGeom prst="rect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67" name="Text 62"/>
          <p:cNvSpPr txBox="1"/>
          <p:nvPr/>
        </p:nvSpPr>
        <p:spPr>
          <a:xfrm>
            <a:off x="7514957" y="2679192"/>
            <a:ext cx="9426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蓝渐亮</a:t>
            </a:r>
            <a:endParaRPr lang="en-US" sz="1100" dirty="0"/>
          </a:p>
        </p:txBody>
      </p:sp>
      <p:sp>
        <p:nvSpPr>
          <p:cNvPr id="68" name="Text 63"/>
          <p:cNvSpPr txBox="1"/>
          <p:nvPr/>
        </p:nvSpPr>
        <p:spPr>
          <a:xfrm>
            <a:off x="7514957" y="3300984"/>
            <a:ext cx="9426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1.0s</a:t>
            </a:r>
            <a:endParaRPr lang="en-US" sz="1000" dirty="0"/>
          </a:p>
        </p:txBody>
      </p:sp>
      <p:sp>
        <p:nvSpPr>
          <p:cNvPr id="69" name="Shape 64"/>
          <p:cNvSpPr/>
          <p:nvPr/>
        </p:nvSpPr>
        <p:spPr>
          <a:xfrm>
            <a:off x="8457586" y="2971800"/>
            <a:ext cx="73766" cy="292608"/>
          </a:xfrm>
          <a:prstGeom prst="rect">
            <a:avLst/>
          </a:prstGeom>
          <a:solidFill>
            <a:srgbClr val="EBEBEB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70" name="Text 65"/>
          <p:cNvSpPr txBox="1"/>
          <p:nvPr/>
        </p:nvSpPr>
        <p:spPr>
          <a:xfrm>
            <a:off x="8138160" y="330098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0.1s</a:t>
            </a:r>
            <a:endParaRPr lang="en-US" sz="1000" dirty="0"/>
          </a:p>
        </p:txBody>
      </p:sp>
      <p:sp>
        <p:nvSpPr>
          <p:cNvPr id="71" name="Shape 66"/>
          <p:cNvSpPr/>
          <p:nvPr/>
        </p:nvSpPr>
        <p:spPr>
          <a:xfrm>
            <a:off x="4526280" y="3840480"/>
            <a:ext cx="4206240" cy="731520"/>
          </a:xfrm>
          <a:prstGeom prst="roundRect">
            <a:avLst>
              <a:gd name="adj" fmla="val 15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2" name="Shape 67"/>
          <p:cNvSpPr/>
          <p:nvPr/>
        </p:nvSpPr>
        <p:spPr>
          <a:xfrm>
            <a:off x="4672584" y="398678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7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1588" y="4065788"/>
            <a:ext cx="171176" cy="171176"/>
          </a:xfrm>
          <a:prstGeom prst="rect">
            <a:avLst/>
          </a:prstGeom>
        </p:spPr>
      </p:pic>
      <p:sp>
        <p:nvSpPr>
          <p:cNvPr id="74" name="Text 68"/>
          <p:cNvSpPr txBox="1"/>
          <p:nvPr/>
        </p:nvSpPr>
        <p:spPr>
          <a:xfrm>
            <a:off x="5129784" y="3977640"/>
            <a:ext cx="34564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眼睛看到的　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渐亮 → 停一下 → 突然熄灭、换色。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RGB 呼吸灯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动手改一改：让灯真正“呼吸”起来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原程序只会“渐亮后突然熄灭”；再加一段 i 从 255 减到 0 的循环，灯就会慢慢亮、慢慢暗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84048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3716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原程序：渐亮后突然熄灭（像锯齿）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914400" y="2624328"/>
            <a:ext cx="3063240" cy="91"/>
          </a:xfrm>
          <a:prstGeom prst="line">
            <a:avLst/>
          </a:prstGeom>
          <a:noFill/>
          <a:ln w="1270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 flipV="1">
            <a:off x="914400" y="1709928"/>
            <a:ext cx="91" cy="914400"/>
          </a:xfrm>
          <a:prstGeom prst="line">
            <a:avLst/>
          </a:prstGeom>
          <a:noFill/>
          <a:ln w="1270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521208" y="173736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亮度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26426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 flipV="1">
            <a:off x="960120" y="1865376"/>
            <a:ext cx="793699" cy="758952"/>
          </a:xfrm>
          <a:prstGeom prst="line">
            <a:avLst/>
          </a:prstGeom>
          <a:noFill/>
          <a:ln w="28575">
            <a:solidFill>
              <a:srgbClr val="1A9E9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753819" y="1865376"/>
            <a:ext cx="141732" cy="91"/>
          </a:xfrm>
          <a:prstGeom prst="line">
            <a:avLst/>
          </a:prstGeom>
          <a:noFill/>
          <a:ln w="28575">
            <a:solidFill>
              <a:srgbClr val="1A9E9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895551" y="1865376"/>
            <a:ext cx="91" cy="758952"/>
          </a:xfrm>
          <a:prstGeom prst="line">
            <a:avLst/>
          </a:prstGeom>
          <a:noFill/>
          <a:ln w="28575">
            <a:solidFill>
              <a:srgbClr val="1A9E9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V="1">
            <a:off x="1895551" y="1865376"/>
            <a:ext cx="793699" cy="758952"/>
          </a:xfrm>
          <a:prstGeom prst="line">
            <a:avLst/>
          </a:prstGeom>
          <a:noFill/>
          <a:ln w="28575">
            <a:solidFill>
              <a:srgbClr val="1A9E9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689250" y="1865376"/>
            <a:ext cx="141732" cy="91"/>
          </a:xfrm>
          <a:prstGeom prst="line">
            <a:avLst/>
          </a:prstGeom>
          <a:noFill/>
          <a:ln w="28575">
            <a:solidFill>
              <a:srgbClr val="1A9E9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830982" y="1865376"/>
            <a:ext cx="91" cy="758952"/>
          </a:xfrm>
          <a:prstGeom prst="line">
            <a:avLst/>
          </a:prstGeom>
          <a:noFill/>
          <a:ln w="28575">
            <a:solidFill>
              <a:srgbClr val="1A9E9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 flipV="1">
            <a:off x="2830982" y="1865376"/>
            <a:ext cx="793699" cy="758952"/>
          </a:xfrm>
          <a:prstGeom prst="line">
            <a:avLst/>
          </a:prstGeom>
          <a:noFill/>
          <a:ln w="28575">
            <a:solidFill>
              <a:srgbClr val="1A9E9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624682" y="1865376"/>
            <a:ext cx="170078" cy="91"/>
          </a:xfrm>
          <a:prstGeom prst="line">
            <a:avLst/>
          </a:prstGeom>
          <a:noFill/>
          <a:ln w="28575">
            <a:solidFill>
              <a:srgbClr val="1A9E9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4360" y="3017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加上渐暗：一呼一吸（像山峰）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914400" y="4270248"/>
            <a:ext cx="3063240" cy="91"/>
          </a:xfrm>
          <a:prstGeom prst="line">
            <a:avLst/>
          </a:prstGeom>
          <a:noFill/>
          <a:ln w="1270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 flipV="1">
            <a:off x="914400" y="3355848"/>
            <a:ext cx="91" cy="914400"/>
          </a:xfrm>
          <a:prstGeom prst="line">
            <a:avLst/>
          </a:prstGeom>
          <a:noFill/>
          <a:ln w="1270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521208" y="338328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亮度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3566160" y="428853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 flipV="1">
            <a:off x="960120" y="3511296"/>
            <a:ext cx="708660" cy="758952"/>
          </a:xfrm>
          <a:prstGeom prst="line">
            <a:avLst/>
          </a:prstGeom>
          <a:noFill/>
          <a:ln w="28575">
            <a:solidFill>
              <a:srgbClr val="1A9E9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668780" y="3511296"/>
            <a:ext cx="708660" cy="758952"/>
          </a:xfrm>
          <a:prstGeom prst="line">
            <a:avLst/>
          </a:prstGeom>
          <a:noFill/>
          <a:ln w="28575">
            <a:solidFill>
              <a:srgbClr val="1A9E9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 flipV="1">
            <a:off x="2377440" y="3511296"/>
            <a:ext cx="708660" cy="758952"/>
          </a:xfrm>
          <a:prstGeom prst="line">
            <a:avLst/>
          </a:prstGeom>
          <a:noFill/>
          <a:ln w="28575">
            <a:solidFill>
              <a:srgbClr val="1A9E9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086100" y="3511296"/>
            <a:ext cx="708660" cy="758952"/>
          </a:xfrm>
          <a:prstGeom prst="line">
            <a:avLst/>
          </a:prstGeom>
          <a:noFill/>
          <a:ln w="28575">
            <a:solidFill>
              <a:srgbClr val="1A9E9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26280" y="1234440"/>
            <a:ext cx="4206240" cy="201168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709160" y="1380744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709160" y="1380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074920" y="136245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在红色渐亮之后，加一段渐暗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4709160" y="1764792"/>
            <a:ext cx="3840480" cy="1128522"/>
          </a:xfrm>
          <a:prstGeom prst="roundRect">
            <a:avLst>
              <a:gd name="adj" fmla="val 6482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754880" y="1847088"/>
            <a:ext cx="3749040" cy="19278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46320" y="1847088"/>
            <a:ext cx="3566160" cy="192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--)   </a:t>
            </a:r>
            <a:pPr indent="0" marL="0">
              <a:buNone/>
            </a:pPr>
            <a:r>
              <a:rPr lang="en-US" sz="110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从 255 往下数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4846320" y="2039874"/>
            <a:ext cx="3566160" cy="192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4846320" y="2232660"/>
            <a:ext cx="3566160" cy="192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setColor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4846320" y="2425446"/>
            <a:ext cx="3566160" cy="192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4846320" y="2618232"/>
            <a:ext cx="3566160" cy="192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4709160" y="296646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绿色、蓝色照样各加一段，三种颜色就都会“呼吸”。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4526280" y="3520440"/>
            <a:ext cx="1965960" cy="1051560"/>
          </a:xfrm>
          <a:prstGeom prst="roundRect">
            <a:avLst>
              <a:gd name="adj" fmla="val 1043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672584" y="3657600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672584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5020056" y="3639312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混出新颜色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4672584" y="4032504"/>
            <a:ext cx="17099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setColor(255,255,0)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 + 绿 = 黄</a:t>
            </a:r>
            <a:endParaRPr lang="en-US" sz="1150" dirty="0"/>
          </a:p>
        </p:txBody>
      </p:sp>
      <p:sp>
        <p:nvSpPr>
          <p:cNvPr id="46" name="Shape 43"/>
          <p:cNvSpPr/>
          <p:nvPr/>
        </p:nvSpPr>
        <p:spPr>
          <a:xfrm>
            <a:off x="6766560" y="3520440"/>
            <a:ext cx="19659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912864" y="3666744"/>
            <a:ext cx="292608" cy="29260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3090" y="3736970"/>
            <a:ext cx="152156" cy="152156"/>
          </a:xfrm>
          <a:prstGeom prst="rect">
            <a:avLst/>
          </a:prstGeom>
        </p:spPr>
      </p:pic>
      <p:sp>
        <p:nvSpPr>
          <p:cNvPr id="49" name="Text 45"/>
          <p:cNvSpPr txBox="1"/>
          <p:nvPr/>
        </p:nvSpPr>
        <p:spPr>
          <a:xfrm>
            <a:off x="7315200" y="3666744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边界别写错</a:t>
            </a:r>
            <a:endParaRPr lang="en-US" sz="1300" dirty="0"/>
          </a:p>
        </p:txBody>
      </p:sp>
      <p:sp>
        <p:nvSpPr>
          <p:cNvPr id="50" name="Text 46"/>
          <p:cNvSpPr txBox="1"/>
          <p:nvPr/>
        </p:nvSpPr>
        <p:spPr>
          <a:xfrm>
            <a:off x="6912864" y="4050792"/>
            <a:ext cx="1673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i&lt;=256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会数到 256，超出 0～255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实验三　电位器调节舵机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11480" y="384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03</a:t>
            </a:r>
            <a:endParaRPr lang="en-US" sz="1100" dirty="0"/>
          </a:p>
        </p:txBody>
      </p:sp>
      <p:sp>
        <p:nvSpPr>
          <p:cNvPr id="4" name="Text 1"/>
          <p:cNvSpPr/>
          <p:nvPr>
            <p:ph idx="104" type="title" hasCustomPrompt="1"/>
          </p:nvPr>
        </p:nvSpPr>
        <p:spPr>
          <a:xfrm>
            <a:off x="411480" y="71323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电位器调节舵机实验</a:t>
            </a:r>
            <a:endParaRPr lang="en-US" sz="28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411480" y="187452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舵机是一种能转到指定角度并停住的电机，航模、遥控机器人和机械臂都离不开它。这次用电位器当旋钮：旋钮转多少，舵机就跟着转多少。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60520" y="347472"/>
            <a:ext cx="2286000" cy="2112264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61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361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原理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361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闭环反馈 · 脉宽定角度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347472"/>
            <a:ext cx="2286000" cy="2112264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47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647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电位器 → A0，舵机 → 7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2459736"/>
            <a:ext cx="2286000" cy="2112264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61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361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361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Servo 库 · write()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2459736"/>
            <a:ext cx="2286000" cy="21122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47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647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647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旋钮控制角度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实验三　电位器调节舵机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认识舵机：转到指定角度并停住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舵机（伺服电机）能转到 0～180° 之间的任意角度并保持住，常用在航模、遥控机器人和机械臂里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56616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7" name="Image 0" descr="原指南：SG90 舵机与舵盘、螺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515153"/>
            <a:ext cx="3346704" cy="250181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3346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原指南：SG90 舵机与舵盘、螺丝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4297680" y="123444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它是什么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297680" y="1563624"/>
            <a:ext cx="4434840" cy="436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“舵机”是俗称，本名叫伺服电机：能转到 0～180° 中的指定角度并停住，外力推它也会顶回去。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297680" y="2201355"/>
            <a:ext cx="2125980" cy="512064"/>
          </a:xfrm>
          <a:prstGeom prst="roundRect">
            <a:avLst>
              <a:gd name="adj" fmla="val 2142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407408" y="2292795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412" y="2371799"/>
            <a:ext cx="171176" cy="17117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828032" y="2201355"/>
            <a:ext cx="15224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直流电机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提供转动的动力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606540" y="2201355"/>
            <a:ext cx="2125980" cy="512064"/>
          </a:xfrm>
          <a:prstGeom prst="roundRect">
            <a:avLst>
              <a:gd name="adj" fmla="val 2142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716268" y="2292795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272" y="2371799"/>
            <a:ext cx="171176" cy="17117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136892" y="2201355"/>
            <a:ext cx="15224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减速齿轮组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降低转速、增大力量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297680" y="2850579"/>
            <a:ext cx="2125980" cy="512064"/>
          </a:xfrm>
          <a:prstGeom prst="roundRect">
            <a:avLst>
              <a:gd name="adj" fmla="val 2142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407408" y="2942019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412" y="3021023"/>
            <a:ext cx="171176" cy="17117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828032" y="2850579"/>
            <a:ext cx="15224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电位器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检测转到了多少度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6606540" y="2850579"/>
            <a:ext cx="2125980" cy="512064"/>
          </a:xfrm>
          <a:prstGeom prst="roundRect">
            <a:avLst>
              <a:gd name="adj" fmla="val 2142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716268" y="2942019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5272" y="3021023"/>
            <a:ext cx="171176" cy="17117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136892" y="2850579"/>
            <a:ext cx="15224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控制电路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比较角度、指挥电机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4297680" y="3636963"/>
            <a:ext cx="4434840" cy="935038"/>
          </a:xfrm>
          <a:prstGeom prst="roundRect">
            <a:avLst>
              <a:gd name="adj" fmla="val 11735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4443984" y="3783267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2988" y="3862271"/>
            <a:ext cx="171176" cy="171176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4901184" y="3774123"/>
            <a:ext cx="3685032" cy="651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实验目的　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用电位器控制舵机转动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　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UNO 主板、面包板、USB 数据线、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　　10k 电位器 ×1、SG90 舵机 ×1、若干跳线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实验三　电位器调节舵机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工作原理：边转边比较的“闭环”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控制电路把“要转到的角度”和电位器测到的“实际角度”比一比，差多少就让电机转多少，差为 0 就停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38328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7" name="Image 0" descr="原指南：舵机内部结构（电路板、电机、外壳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542932"/>
            <a:ext cx="3163824" cy="24462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原指南：舵机内部结构（电路板、电机、外壳）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114800" y="1234440"/>
            <a:ext cx="1325880" cy="9144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206240" y="1325880"/>
            <a:ext cx="256032" cy="25603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206240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4517136" y="130759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收到信号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206240" y="1636776"/>
            <a:ext cx="1161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脉冲宽度说明要转到几度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760720" y="1234440"/>
            <a:ext cx="1325880" cy="914400"/>
          </a:xfrm>
          <a:prstGeom prst="roundRect">
            <a:avLst>
              <a:gd name="adj" fmla="val 12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852160" y="1325880"/>
            <a:ext cx="256032" cy="256032"/>
          </a:xfrm>
          <a:prstGeom prst="ellipse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852160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6163056" y="130759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比一比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5852160" y="1636776"/>
            <a:ext cx="1161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目标角度和实际角度差多少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7406640" y="1234440"/>
            <a:ext cx="1325880" cy="9144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0" y="1325880"/>
            <a:ext cx="256032" cy="25603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498080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7808976" y="130759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电机转动</a:t>
            </a:r>
            <a:endParaRPr 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7498080" y="1636776"/>
            <a:ext cx="1161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差多少转多少，正负定方向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7406640" y="2468880"/>
            <a:ext cx="1325880" cy="9144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7498080" y="2560320"/>
            <a:ext cx="256032" cy="25603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7498080" y="2560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50" dirty="0"/>
          </a:p>
        </p:txBody>
      </p:sp>
      <p:sp>
        <p:nvSpPr>
          <p:cNvPr id="27" name="Text 23"/>
          <p:cNvSpPr txBox="1"/>
          <p:nvPr/>
        </p:nvSpPr>
        <p:spPr>
          <a:xfrm>
            <a:off x="7808976" y="254203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带动电位器</a:t>
            </a:r>
            <a:endParaRPr lang="en-US" sz="1250" dirty="0"/>
          </a:p>
        </p:txBody>
      </p:sp>
      <p:sp>
        <p:nvSpPr>
          <p:cNvPr id="28" name="Text 24"/>
          <p:cNvSpPr txBox="1"/>
          <p:nvPr/>
        </p:nvSpPr>
        <p:spPr>
          <a:xfrm>
            <a:off x="7498080" y="2871216"/>
            <a:ext cx="1161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齿轮带着它转，实际角度变了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5477256" y="1691640"/>
            <a:ext cx="246888" cy="91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30" name="Shape 26"/>
          <p:cNvSpPr/>
          <p:nvPr/>
        </p:nvSpPr>
        <p:spPr>
          <a:xfrm>
            <a:off x="7123176" y="1691640"/>
            <a:ext cx="246888" cy="91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31" name="Shape 27"/>
          <p:cNvSpPr/>
          <p:nvPr/>
        </p:nvSpPr>
        <p:spPr>
          <a:xfrm>
            <a:off x="8069580" y="2185416"/>
            <a:ext cx="91" cy="246888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32" name="Shape 28"/>
          <p:cNvSpPr/>
          <p:nvPr/>
        </p:nvSpPr>
        <p:spPr>
          <a:xfrm flipH="1">
            <a:off x="6423660" y="2926080"/>
            <a:ext cx="946404" cy="91"/>
          </a:xfrm>
          <a:prstGeom prst="line">
            <a:avLst/>
          </a:prstGeom>
          <a:noFill/>
          <a:ln w="22225">
            <a:solidFill>
              <a:srgbClr val="1A9E92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 flipV="1">
            <a:off x="6423660" y="2185416"/>
            <a:ext cx="91" cy="740664"/>
          </a:xfrm>
          <a:prstGeom prst="line">
            <a:avLst/>
          </a:prstGeom>
          <a:noFill/>
          <a:ln w="22225">
            <a:solidFill>
              <a:srgbClr val="1A9E92"/>
            </a:solidFill>
            <a:prstDash val="solid"/>
            <a:tailEnd type="triangle"/>
          </a:ln>
        </p:spPr>
      </p:sp>
      <p:sp>
        <p:nvSpPr>
          <p:cNvPr id="34" name="Text 30"/>
          <p:cNvSpPr txBox="1"/>
          <p:nvPr/>
        </p:nvSpPr>
        <p:spPr>
          <a:xfrm>
            <a:off x="6496812" y="265176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9E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再比一次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6016752" y="2185416"/>
            <a:ext cx="91" cy="740664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 flipH="1">
            <a:off x="5477256" y="2926080"/>
            <a:ext cx="539496" cy="91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37" name="Shape 33"/>
          <p:cNvSpPr/>
          <p:nvPr/>
        </p:nvSpPr>
        <p:spPr>
          <a:xfrm>
            <a:off x="4114800" y="2560320"/>
            <a:ext cx="1325880" cy="731520"/>
          </a:xfrm>
          <a:prstGeom prst="roundRect">
            <a:avLst>
              <a:gd name="adj" fmla="val 15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4206240" y="256032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差为 0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电机停转，角度保持住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4114800" y="3657600"/>
            <a:ext cx="4617720" cy="9144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4261104" y="380390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0108" y="3882908"/>
            <a:ext cx="171176" cy="171176"/>
          </a:xfrm>
          <a:prstGeom prst="rect">
            <a:avLst/>
          </a:prstGeom>
        </p:spPr>
      </p:pic>
      <p:sp>
        <p:nvSpPr>
          <p:cNvPr id="42" name="Text 37"/>
          <p:cNvSpPr txBox="1"/>
          <p:nvPr/>
        </p:nvSpPr>
        <p:spPr>
          <a:xfrm>
            <a:off x="4718304" y="3794760"/>
            <a:ext cx="386791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打个比方　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像开车盯着车道线：偏左就往右打一点方向盘，偏右就往左打一点，直到车开正——这就是“闭环反馈”。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实验三　电位器调节舵机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舵机的控制：脉冲宽度决定角度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 20ms 发一个脉冲，高电平持续 0.5～2.5ms：0.5ms 转到 0°，1.5ms 转到 90°，2.5ms 转到 180°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8920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7" name="Image 0" descr="servo_pulse_perio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211" y="1344168"/>
            <a:ext cx="4152577" cy="9235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11480" y="2651760"/>
            <a:ext cx="48920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9" name="Image 1" descr="servo_pulse_angle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92" y="2761488"/>
            <a:ext cx="3215817" cy="1700784"/>
          </a:xfrm>
          <a:prstGeom prst="rect">
            <a:avLst/>
          </a:prstGeom>
        </p:spPr>
      </p:pic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1234440"/>
          <a:ext cx="31089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50876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脉冲宽度（高电平）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舵机角度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 ms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 ms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45°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1.5 ms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90°（中间位置）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2.0 ms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135°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2.5 ms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180°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5"/>
          <p:cNvSpPr/>
          <p:nvPr/>
        </p:nvSpPr>
        <p:spPr>
          <a:xfrm>
            <a:off x="5623560" y="3099816"/>
            <a:ext cx="3108960" cy="1472184"/>
          </a:xfrm>
          <a:prstGeom prst="roundRect">
            <a:avLst>
              <a:gd name="adj" fmla="val 7453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5769864" y="3246120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868" y="3325124"/>
            <a:ext cx="171176" cy="171176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6227064" y="323697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要点</a:t>
            </a:r>
            <a:endParaRPr lang="en-US" sz="1300" dirty="0"/>
          </a:p>
        </p:txBody>
      </p:sp>
      <p:sp>
        <p:nvSpPr>
          <p:cNvPr id="15" name="Text 8"/>
          <p:cNvSpPr txBox="1"/>
          <p:nvPr/>
        </p:nvSpPr>
        <p:spPr>
          <a:xfrm>
            <a:off x="6227064" y="3547872"/>
            <a:ext cx="23591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小于 1.5ms：比中间偏逆时针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大于 1.5ms：比中间偏顺时针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中间位置到两头的转角相等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要一直发脉冲，角度才能保持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实验三　电位器调节舵机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接线：电位器接 3.3V 和 A0，舵机信号接 7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电位器左脚接 3.3V、右脚接 GND、中间脚接 A0；舵机红线接 5V、黑（棕）线接 GND、黄（橙）线接 7 号脚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74904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7" name="Image 0" descr="原指南接线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395427"/>
            <a:ext cx="3529584" cy="274126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原指南接线图</a:t>
            </a:r>
            <a:endParaRPr lang="en-US" sz="1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234440"/>
          <a:ext cx="1988820" cy="914400"/>
        </p:xfrm>
        <a:graphic>
          <a:graphicData uri="http://schemas.openxmlformats.org/drawingml/2006/table">
            <a:tbl>
              <a:tblPr/>
              <a:tblGrid>
                <a:gridCol w="894969"/>
                <a:gridCol w="1093851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Arduino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电位器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548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3.3V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左脚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中间脚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右脚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43700" y="1234440"/>
          <a:ext cx="1988820" cy="914400"/>
        </p:xfrm>
        <a:graphic>
          <a:graphicData uri="http://schemas.openxmlformats.org/drawingml/2006/table">
            <a:tbl>
              <a:tblPr/>
              <a:tblGrid>
                <a:gridCol w="894969"/>
                <a:gridCol w="1093851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Arduino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舵机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5V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红线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黑（棕）线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黄（橙）线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5"/>
          <p:cNvSpPr txBox="1"/>
          <p:nvPr/>
        </p:nvSpPr>
        <p:spPr>
          <a:xfrm>
            <a:off x="4480560" y="2459736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注意　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电位器接 3.3V，不是 5V；下图是舵机的三根线</a:t>
            </a:r>
            <a:endParaRPr lang="en-US" sz="1200" dirty="0"/>
          </a:p>
        </p:txBody>
      </p:sp>
      <p:sp>
        <p:nvSpPr>
          <p:cNvPr id="12" name="Shape 6"/>
          <p:cNvSpPr/>
          <p:nvPr/>
        </p:nvSpPr>
        <p:spPr>
          <a:xfrm>
            <a:off x="4480560" y="2898648"/>
            <a:ext cx="4251960" cy="1673352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13" name="Image 1" descr="原指南：0V GND · +5V · PWM 信号线，可转 180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9641" y="3008376"/>
            <a:ext cx="3453799" cy="1179576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4590288" y="4224528"/>
            <a:ext cx="4032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原指南：0V GND · +5V · PWM 信号线，可转 180°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实验三　电位器调节舵机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新语法：用 Servo 库控制舵机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库是别人写好的“扩展包”：#include 引进来，创建舵机对象，attach() 配对引脚，write() 让它转到角度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1874520" cy="1783080"/>
          </a:xfrm>
          <a:prstGeom prst="roundRect">
            <a:avLst>
              <a:gd name="adj" fmla="val 615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371600"/>
            <a:ext cx="292608" cy="29260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1801368"/>
            <a:ext cx="1600200" cy="339852"/>
          </a:xfrm>
          <a:prstGeom prst="roundRect">
            <a:avLst>
              <a:gd name="adj" fmla="val 21525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" y="1883664"/>
            <a:ext cx="1453896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Servo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22402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装上“扩展包”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25603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IDE 自带，不用另装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322576" y="1517904"/>
            <a:ext cx="201168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560320" y="1234440"/>
            <a:ext cx="1874520" cy="1783080"/>
          </a:xfrm>
          <a:prstGeom prst="roundRect">
            <a:avLst>
              <a:gd name="adj" fmla="val 615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697480" y="1371600"/>
            <a:ext cx="292608" cy="29260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697480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697480" y="1801368"/>
            <a:ext cx="1600200" cy="339852"/>
          </a:xfrm>
          <a:prstGeom prst="roundRect">
            <a:avLst>
              <a:gd name="adj" fmla="val 21525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770632" y="1883664"/>
            <a:ext cx="1453896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Servo myservo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2697480" y="22402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领一个“遥控器”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2697480" y="25603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对象名字自己起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471416" y="1517904"/>
            <a:ext cx="201168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4709160" y="1234440"/>
            <a:ext cx="1874520" cy="1783080"/>
          </a:xfrm>
          <a:prstGeom prst="roundRect">
            <a:avLst>
              <a:gd name="adj" fmla="val 615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846320" y="1371600"/>
            <a:ext cx="292608" cy="29260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846320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846320" y="1801368"/>
            <a:ext cx="1600200" cy="339852"/>
          </a:xfrm>
          <a:prstGeom prst="roundRect">
            <a:avLst>
              <a:gd name="adj" fmla="val 21525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919472" y="1883664"/>
            <a:ext cx="1453896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myservo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attach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4846320" y="22402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 7 号脚配对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846320" y="25603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信号线接哪就写几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620256" y="1517904"/>
            <a:ext cx="201168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6858000" y="1234440"/>
            <a:ext cx="1874520" cy="1783080"/>
          </a:xfrm>
          <a:prstGeom prst="roundRect">
            <a:avLst>
              <a:gd name="adj" fmla="val 6154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995160" y="1371600"/>
            <a:ext cx="292608" cy="29260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995160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1801368"/>
            <a:ext cx="1600200" cy="339852"/>
          </a:xfrm>
          <a:prstGeom prst="roundRect">
            <a:avLst>
              <a:gd name="adj" fmla="val 21525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068312" y="1883664"/>
            <a:ext cx="1453896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myservo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6995160" y="22402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按下“转到 90°”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6995160" y="25603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0～180 之间的角度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411480" y="3291840"/>
            <a:ext cx="4572000" cy="1280160"/>
          </a:xfrm>
          <a:prstGeom prst="roundRect">
            <a:avLst>
              <a:gd name="adj" fmla="val 857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57784" y="34381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788" y="3517148"/>
            <a:ext cx="171176" cy="171176"/>
          </a:xfrm>
          <a:prstGeom prst="rect">
            <a:avLst/>
          </a:prstGeom>
        </p:spPr>
      </p:pic>
      <p:sp>
        <p:nvSpPr>
          <p:cNvPr id="40" name="Text 36"/>
          <p:cNvSpPr txBox="1"/>
          <p:nvPr/>
        </p:nvSpPr>
        <p:spPr>
          <a:xfrm>
            <a:off x="1014984" y="3429000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为什么要用库</a:t>
            </a:r>
            <a:endParaRPr lang="en-US" sz="1300" dirty="0"/>
          </a:p>
        </p:txBody>
      </p:sp>
      <p:sp>
        <p:nvSpPr>
          <p:cNvPr id="41" name="Text 37"/>
          <p:cNvSpPr txBox="1"/>
          <p:nvPr/>
        </p:nvSpPr>
        <p:spPr>
          <a:xfrm>
            <a:off x="1014984" y="3739896"/>
            <a:ext cx="3822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舵机要不停地收到 0.5～2.5ms 的脉冲；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Servo 库在后台替你一直发，你只管说角度。</a:t>
            </a:r>
            <a:endParaRPr lang="en-US" sz="1200" dirty="0"/>
          </a:p>
        </p:txBody>
      </p:sp>
      <p:sp>
        <p:nvSpPr>
          <p:cNvPr id="42" name="Shape 38"/>
          <p:cNvSpPr/>
          <p:nvPr/>
        </p:nvSpPr>
        <p:spPr>
          <a:xfrm>
            <a:off x="5257800" y="3291840"/>
            <a:ext cx="34747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5404104" y="3438144"/>
            <a:ext cx="329184" cy="329184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3108" y="3517148"/>
            <a:ext cx="171176" cy="171176"/>
          </a:xfrm>
          <a:prstGeom prst="rect">
            <a:avLst/>
          </a:prstGeom>
        </p:spPr>
      </p:pic>
      <p:sp>
        <p:nvSpPr>
          <p:cNvPr id="45" name="Text 40"/>
          <p:cNvSpPr txBox="1"/>
          <p:nvPr/>
        </p:nvSpPr>
        <p:spPr>
          <a:xfrm>
            <a:off x="5861304" y="342900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常见错误</a:t>
            </a:r>
            <a:endParaRPr lang="en-US" sz="1300" dirty="0"/>
          </a:p>
        </p:txBody>
      </p:sp>
      <p:sp>
        <p:nvSpPr>
          <p:cNvPr id="46" name="Text 41"/>
          <p:cNvSpPr txBox="1"/>
          <p:nvPr/>
        </p:nvSpPr>
        <p:spPr>
          <a:xfrm>
            <a:off x="5861304" y="3739896"/>
            <a:ext cx="2724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Servo 的 S 要大写；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忘了 #include，编译会报：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'Servo' does not name a type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实验三　电位器调节舵机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代码逐行看懂（1/2）：引入库、创建对象、配对引脚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 4 行引入 Servo 库、创建舵机对象 myservo、给两个引脚起名；setup() 把舵机和 7 号脚配对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5120640" cy="2514600"/>
          </a:xfrm>
          <a:prstGeom prst="roundRect">
            <a:avLst>
              <a:gd name="adj" fmla="val 3636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servo_knob.ino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459736" y="1298448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1–9 行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545336"/>
            <a:ext cx="502920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1545336"/>
            <a:ext cx="134559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58154" y="1545336"/>
            <a:ext cx="46459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Servo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1735328"/>
            <a:ext cx="502920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1735328"/>
            <a:ext cx="134559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58154" y="1735328"/>
            <a:ext cx="46459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Servo myservo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create servo object to control 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1925320"/>
            <a:ext cx="502920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1925320"/>
            <a:ext cx="134559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758154" y="1925320"/>
            <a:ext cx="46459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servo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2115312"/>
            <a:ext cx="134559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58154" y="2115312"/>
            <a:ext cx="46459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readPin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02920" y="2305304"/>
            <a:ext cx="134559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758154" y="2305304"/>
            <a:ext cx="46459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servopin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2920" y="2495296"/>
            <a:ext cx="134559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758154" y="2495296"/>
            <a:ext cx="46459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02920" y="2685288"/>
            <a:ext cx="134559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758154" y="2685288"/>
            <a:ext cx="46459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02920" y="2875280"/>
            <a:ext cx="134559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758154" y="2875280"/>
            <a:ext cx="46459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servopin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7200" y="3065272"/>
            <a:ext cx="502920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02920" y="3065272"/>
            <a:ext cx="134559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758154" y="3065272"/>
            <a:ext cx="46459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myservo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attach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servopin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attaches the servo on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57200" y="3255264"/>
            <a:ext cx="502920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02920" y="3255264"/>
            <a:ext cx="134559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758154" y="3255264"/>
            <a:ext cx="46459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pin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the servo object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502920" y="3445256"/>
            <a:ext cx="134559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758154" y="3445256"/>
            <a:ext cx="46459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5852160" y="12344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5852160" y="1600200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852160" y="1600200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1–2 行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6666992" y="1591056"/>
            <a:ext cx="206552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引入 IDE 自带的 Servo 库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创建舵机对象 myservo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5852160" y="2100580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852160" y="2100580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3–4 行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6666992" y="2091436"/>
            <a:ext cx="2065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A0 接电位器，7 号脚接舵机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5852160" y="2860548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852160" y="2860548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7–8 行</a:t>
            </a:r>
            <a:endParaRPr lang="en-US" sz="950" dirty="0"/>
          </a:p>
        </p:txBody>
      </p:sp>
      <p:sp>
        <p:nvSpPr>
          <p:cNvPr id="45" name="Text 42"/>
          <p:cNvSpPr txBox="1"/>
          <p:nvPr/>
        </p:nvSpPr>
        <p:spPr>
          <a:xfrm>
            <a:off x="6666992" y="2851404"/>
            <a:ext cx="206552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号脚设为输出（可省略）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myservo 和 7 号脚配对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411480" y="4023360"/>
            <a:ext cx="5120640" cy="548640"/>
          </a:xfrm>
          <a:prstGeom prst="roundRect">
            <a:avLst>
              <a:gd name="adj" fmla="val 20000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57784" y="416966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788" y="4248668"/>
            <a:ext cx="171176" cy="171176"/>
          </a:xfrm>
          <a:prstGeom prst="rect">
            <a:avLst/>
          </a:prstGeom>
        </p:spPr>
      </p:pic>
      <p:sp>
        <p:nvSpPr>
          <p:cNvPr id="49" name="Text 45"/>
          <p:cNvSpPr txBox="1"/>
          <p:nvPr/>
        </p:nvSpPr>
        <p:spPr>
          <a:xfrm>
            <a:off x="1014984" y="4160520"/>
            <a:ext cx="43708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原注释有误　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8 行写的 pin 9 是旧注释，实为 7 号脚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实验三　电位器调节舵机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代码逐行看懂（2/2）：读旋钮、换角度、转舵机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loop() 每 15 毫秒做一次：读电位器 → 除以 4 换成角度 → 让舵机转到这个角度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servo_knob.ino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459736" y="1298448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11–16 行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54533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56016" y="1545336"/>
            <a:ext cx="454808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1743964"/>
            <a:ext cx="502920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2920" y="174396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856016" y="1743964"/>
            <a:ext cx="454808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readValue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analogRead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readPin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" y="1942592"/>
            <a:ext cx="502920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2920" y="194259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856016" y="1942592"/>
            <a:ext cx="454808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angle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readValue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57200" y="2141220"/>
            <a:ext cx="502920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02920" y="214122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856016" y="2141220"/>
            <a:ext cx="454808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myservo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angle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pPr indent="0" marL="0">
              <a:buNone/>
            </a:pPr>
            <a:r>
              <a:rPr lang="en-US" sz="11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tell servo to go to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57200" y="2339848"/>
            <a:ext cx="502920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2920" y="2339848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856016" y="2339848"/>
            <a:ext cx="454808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position in variable 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'pos'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502920" y="253847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856016" y="2538476"/>
            <a:ext cx="454808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57200" y="2737104"/>
            <a:ext cx="502920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02920" y="273710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856016" y="2737104"/>
            <a:ext cx="454808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5852160" y="12344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852160" y="1733550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852160" y="1733550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12 行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6599428" y="1724406"/>
            <a:ext cx="21330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读电位器：0～1023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852160" y="2044446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852160" y="2044446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13 行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6599428" y="2035302"/>
            <a:ext cx="21330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÷ 4 换成角度（扔掉小数）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852160" y="2355342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52160" y="2355342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14 行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6599428" y="2346198"/>
            <a:ext cx="21330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舵机转到 angle 度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5852160" y="2666238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852160" y="2666238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15 行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6599428" y="2657094"/>
            <a:ext cx="21330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 15 毫秒，让舵机转过去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5852160" y="2977134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852160" y="2977134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16 行</a:t>
            </a:r>
            <a:endParaRPr lang="en-US" sz="950" dirty="0"/>
          </a:p>
        </p:txBody>
      </p:sp>
      <p:sp>
        <p:nvSpPr>
          <p:cNvPr id="43" name="Text 40"/>
          <p:cNvSpPr txBox="1"/>
          <p:nvPr/>
        </p:nvSpPr>
        <p:spPr>
          <a:xfrm>
            <a:off x="6599428" y="2967990"/>
            <a:ext cx="21330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补上的右大括号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5852160" y="3520440"/>
            <a:ext cx="2880360" cy="1051560"/>
          </a:xfrm>
          <a:prstGeom prst="roundRect">
            <a:avLst>
              <a:gd name="adj" fmla="val 10435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998464" y="3666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7468" y="3745748"/>
            <a:ext cx="171176" cy="171176"/>
          </a:xfrm>
          <a:prstGeom prst="rect">
            <a:avLst/>
          </a:prstGeom>
        </p:spPr>
      </p:pic>
      <p:sp>
        <p:nvSpPr>
          <p:cNvPr id="47" name="Text 43"/>
          <p:cNvSpPr txBox="1"/>
          <p:nvPr/>
        </p:nvSpPr>
        <p:spPr>
          <a:xfrm>
            <a:off x="6455664" y="3657600"/>
            <a:ext cx="21305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原注释有误　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14 行注释里的 pos 是旧例程留下的，实际变量是 angle。</a:t>
            </a:r>
            <a:endParaRPr lang="en-US" sz="1200" dirty="0"/>
          </a:p>
        </p:txBody>
      </p:sp>
      <p:sp>
        <p:nvSpPr>
          <p:cNvPr id="48" name="Shape 44"/>
          <p:cNvSpPr/>
          <p:nvPr/>
        </p:nvSpPr>
        <p:spPr>
          <a:xfrm>
            <a:off x="411480" y="3520440"/>
            <a:ext cx="51206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557784" y="3666744"/>
            <a:ext cx="292608" cy="29260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5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0" y="3736970"/>
            <a:ext cx="152156" cy="152156"/>
          </a:xfrm>
          <a:prstGeom prst="rect">
            <a:avLst/>
          </a:prstGeom>
        </p:spPr>
      </p:pic>
      <p:sp>
        <p:nvSpPr>
          <p:cNvPr id="51" name="Text 46"/>
          <p:cNvSpPr txBox="1"/>
          <p:nvPr/>
        </p:nvSpPr>
        <p:spPr>
          <a:xfrm>
            <a:off x="960120" y="3666744"/>
            <a:ext cx="4425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原指南漏印了一个 }</a:t>
            </a:r>
            <a:endParaRPr lang="en-US" sz="1300" dirty="0"/>
          </a:p>
        </p:txBody>
      </p:sp>
      <p:sp>
        <p:nvSpPr>
          <p:cNvPr id="52" name="Text 47"/>
          <p:cNvSpPr txBox="1"/>
          <p:nvPr/>
        </p:nvSpPr>
        <p:spPr>
          <a:xfrm>
            <a:off x="557784" y="4050792"/>
            <a:ext cx="4828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原指南程序框在 delay(15); 后断页，下一页的框是空的：loop() 的右大括号 } 漏印了，照抄会编译报错。第 16 行已补上。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实验三　电位器调节舵机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实验结果：旋钮转到哪，舵机就转到哪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转动电位器，舵机跟着转；按原接法电位器接 3.3V，实际最大约 168°——改接 5V 再用 map() 就能转满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56616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7" name="Image 0" descr="原指南实物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602826"/>
            <a:ext cx="3346704" cy="23264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3346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原指南实物图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251960" y="1234440"/>
            <a:ext cx="4480560" cy="731520"/>
          </a:xfrm>
          <a:prstGeom prst="roundRect">
            <a:avLst>
              <a:gd name="adj" fmla="val 15000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398264" y="1380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7268" y="1459748"/>
            <a:ext cx="171176" cy="17117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855464" y="1371600"/>
            <a:ext cx="373075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原指南结论　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转动电位器就能改变舵机角度，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范围 0～180°，为之后的机械臂打下基础。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251960" y="2240280"/>
            <a:ext cx="44805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4398264" y="2350008"/>
            <a:ext cx="292608" cy="29260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490" y="2420234"/>
            <a:ext cx="152156" cy="15215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800600" y="2350008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按原接法转不满 180°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4398264" y="2697480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3.3V → 读数最大约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675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675 / 4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≈ 168°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4251960" y="3337560"/>
            <a:ext cx="4480560" cy="123444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4398264" y="3447288"/>
            <a:ext cx="292608" cy="29260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8490" y="3517514"/>
            <a:ext cx="152156" cy="15215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800600" y="3447288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动手改一改：让旋钮正好对应 0～180°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4398264" y="3794760"/>
            <a:ext cx="4187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电位器左脚改接 5V，再把第 13 行改成：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4398264" y="4105656"/>
            <a:ext cx="4187952" cy="348615"/>
          </a:xfrm>
          <a:prstGeom prst="roundRect">
            <a:avLst>
              <a:gd name="adj" fmla="val 20984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4535424" y="4187952"/>
            <a:ext cx="3913632" cy="184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angle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readValue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1023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摇杆模块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11480" y="384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04</a:t>
            </a:r>
            <a:endParaRPr lang="en-US" sz="1100" dirty="0"/>
          </a:p>
        </p:txBody>
      </p:sp>
      <p:sp>
        <p:nvSpPr>
          <p:cNvPr id="4" name="Text 1"/>
          <p:cNvSpPr/>
          <p:nvPr>
            <p:ph idx="104" type="title" hasCustomPrompt="1"/>
          </p:nvPr>
        </p:nvSpPr>
        <p:spPr>
          <a:xfrm>
            <a:off x="411480" y="71323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摇杆模块实验</a:t>
            </a:r>
            <a:endParaRPr lang="en-US" sz="28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411480" y="187452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摇杆扩展板就像游戏手柄：一根能前后左右推的拇指摇杆（里面是两个电位器），再加七个按键。直接插在 UNO 上，读出摇杆的位置和按键，在串口里报出方向。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60520" y="347472"/>
            <a:ext cx="2286000" cy="2112264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61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361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原理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361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两个电位器 + 按键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347472"/>
            <a:ext cx="2286000" cy="2112264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47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647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直接插在 UNO 上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2459736"/>
            <a:ext cx="2286000" cy="2112264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61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361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361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上拉 · else if · 死区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2459736"/>
            <a:ext cx="2286000" cy="21122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47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647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647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串口报方向和按键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摇杆模块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认识摇杆扩展板：两个电位器加七个按键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拇指摇杆里有两个电位器，分别测左右（X）和上下（Y）；另有六个独立按键，摇杆按下去也是一个按键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246120" cy="233172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7" name="Image 0" descr="摇杆扩展板（Joystick Shield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469" y="1344168"/>
            <a:ext cx="2134142" cy="18379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3218688"/>
            <a:ext cx="3026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摇杆扩展板（Joystick Shield）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11480" y="3840480"/>
            <a:ext cx="847344" cy="29718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11480" y="3840480"/>
            <a:ext cx="84734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组件清单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1350264" y="3840480"/>
            <a:ext cx="883920" cy="297180"/>
          </a:xfrm>
          <a:prstGeom prst="roundRect">
            <a:avLst>
              <a:gd name="adj" fmla="val 50000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350264" y="3840480"/>
            <a:ext cx="8839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UNO 主板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2325624" y="3840480"/>
            <a:ext cx="1036320" cy="297180"/>
          </a:xfrm>
          <a:prstGeom prst="roundRect">
            <a:avLst>
              <a:gd name="adj" fmla="val 50000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325624" y="3840480"/>
            <a:ext cx="10363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USB 数据线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11480" y="4229100"/>
            <a:ext cx="1078992" cy="297180"/>
          </a:xfrm>
          <a:prstGeom prst="roundRect">
            <a:avLst>
              <a:gd name="adj" fmla="val 50000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11480" y="4229100"/>
            <a:ext cx="1078992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摇杆模块 ×1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1581912" y="4229100"/>
            <a:ext cx="847344" cy="297180"/>
          </a:xfrm>
          <a:prstGeom prst="roundRect">
            <a:avLst>
              <a:gd name="adj" fmla="val 50000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581912" y="4229100"/>
            <a:ext cx="84734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若干跳线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3977640" y="12344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像一个老式游戏手柄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3977640" y="1563624"/>
            <a:ext cx="4754880" cy="436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原指南：它提供了任天堂（Nintendo）手柄上的功能。摇杆可以控制音乐旋律、屏幕上的像素；按键可以做菜单导航或游戏控制。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3977640" y="2274506"/>
            <a:ext cx="1584960" cy="2297494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160520" y="2420810"/>
            <a:ext cx="12192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</a:t>
            </a:r>
            <a:endParaRPr lang="en-US" sz="2200" dirty="0"/>
          </a:p>
        </p:txBody>
      </p:sp>
      <p:sp>
        <p:nvSpPr>
          <p:cNvPr id="23" name="Text 19"/>
          <p:cNvSpPr txBox="1"/>
          <p:nvPr/>
        </p:nvSpPr>
        <p:spPr>
          <a:xfrm>
            <a:off x="4160520" y="3640836"/>
            <a:ext cx="121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左右推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4160520" y="3970020"/>
            <a:ext cx="121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一个电位器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读数 0～1023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5562600" y="2274506"/>
            <a:ext cx="1584960" cy="2297494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5745480" y="2420810"/>
            <a:ext cx="12192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Y</a:t>
            </a:r>
            <a:endParaRPr lang="en-US" sz="2200" dirty="0"/>
          </a:p>
        </p:txBody>
      </p:sp>
      <p:sp>
        <p:nvSpPr>
          <p:cNvPr id="27" name="Text 23"/>
          <p:cNvSpPr txBox="1"/>
          <p:nvPr/>
        </p:nvSpPr>
        <p:spPr>
          <a:xfrm>
            <a:off x="5745480" y="3640836"/>
            <a:ext cx="121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上下推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5745480" y="3970020"/>
            <a:ext cx="121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0D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另一个电位器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0D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读数 0～1023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7147560" y="2274506"/>
            <a:ext cx="1584960" cy="229749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7330440" y="2420810"/>
            <a:ext cx="12192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个</a:t>
            </a:r>
            <a:endParaRPr lang="en-US" sz="2200" dirty="0"/>
          </a:p>
        </p:txBody>
      </p:sp>
      <p:sp>
        <p:nvSpPr>
          <p:cNvPr id="31" name="Text 27"/>
          <p:cNvSpPr txBox="1"/>
          <p:nvPr/>
        </p:nvSpPr>
        <p:spPr>
          <a:xfrm>
            <a:off x="7330440" y="3640836"/>
            <a:ext cx="121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按键</a:t>
            </a:r>
            <a:endParaRPr lang="en-US" sz="1400" dirty="0"/>
          </a:p>
        </p:txBody>
      </p:sp>
      <p:sp>
        <p:nvSpPr>
          <p:cNvPr id="32" name="Text 28"/>
          <p:cNvSpPr txBox="1"/>
          <p:nvPr/>
        </p:nvSpPr>
        <p:spPr>
          <a:xfrm>
            <a:off x="7330440" y="3970020"/>
            <a:ext cx="121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个独立按键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 摇杆按下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摇杆模块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原理图：摇杆 = 两个电位器 + 一个按键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VRx、VRy 是两个电位器的中间脚，输出 0～1023 的模拟值；SW 是摇杆下面的按键，按下接地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34340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7" name="Image 0" descr="原指南原理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005" y="1344168"/>
            <a:ext cx="2996350" cy="18379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3218688"/>
            <a:ext cx="4123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原指南原理图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11480" y="3840480"/>
            <a:ext cx="4343400" cy="731520"/>
          </a:xfrm>
          <a:prstGeom prst="roundRect">
            <a:avLst>
              <a:gd name="adj" fmla="val 15000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57784" y="398678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788" y="4065788"/>
            <a:ext cx="171176" cy="17117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14984" y="3977640"/>
            <a:ext cx="35935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SW 按键　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 R1（10K）接 VCC：松开是高电平，按下接地变低电平。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074920" y="1234440"/>
            <a:ext cx="365760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5257800" y="13441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摇杆的“坐标”（按程序的判断）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172200" y="2011680"/>
            <a:ext cx="1463040" cy="1463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903720" y="2743200"/>
            <a:ext cx="694944" cy="91"/>
          </a:xfrm>
          <a:prstGeom prst="line">
            <a:avLst/>
          </a:prstGeom>
          <a:noFill/>
          <a:ln w="22225">
            <a:solidFill>
              <a:srgbClr val="1A9E92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 flipH="1">
            <a:off x="6208776" y="2743200"/>
            <a:ext cx="694944" cy="91"/>
          </a:xfrm>
          <a:prstGeom prst="line">
            <a:avLst/>
          </a:prstGeom>
          <a:noFill/>
          <a:ln w="22225">
            <a:solidFill>
              <a:srgbClr val="1A9E92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 flipV="1">
            <a:off x="6903720" y="2048256"/>
            <a:ext cx="91" cy="694944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6903720" y="2743200"/>
            <a:ext cx="91" cy="694944"/>
          </a:xfrm>
          <a:prstGeom prst="line">
            <a:avLst/>
          </a:prstGeom>
          <a:noFill/>
          <a:ln w="22225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6793992" y="2633472"/>
            <a:ext cx="219456" cy="219456"/>
          </a:xfrm>
          <a:prstGeom prst="ellipse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184648" y="251460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左推</a:t>
            </a:r>
            <a:endParaRPr lang="en-US" sz="115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 变小</a:t>
            </a:r>
            <a:endParaRPr 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7726680" y="251460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右推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 变大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5989320" y="17373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上推　</a:t>
            </a:r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Y 变大</a:t>
            </a:r>
            <a:endParaRPr lang="en-US" sz="1150" dirty="0"/>
          </a:p>
        </p:txBody>
      </p:sp>
      <p:sp>
        <p:nvSpPr>
          <p:cNvPr id="24" name="Text 19"/>
          <p:cNvSpPr txBox="1"/>
          <p:nvPr/>
        </p:nvSpPr>
        <p:spPr>
          <a:xfrm>
            <a:off x="5989320" y="35295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下推　</a:t>
            </a:r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Y 变小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5257800" y="3877056"/>
            <a:ext cx="3291840" cy="585216"/>
          </a:xfrm>
          <a:prstGeom prst="roundRect">
            <a:avLst>
              <a:gd name="adj" fmla="val 18750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5367528" y="3877056"/>
            <a:ext cx="3072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不推的时候：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两个电位器都停在中间，读数约 512（下一个程序会测出来）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摇杆模块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接线：扩展板直接插在 UNO 上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摇杆 X、Y 接模拟口 A0、A1，按键 A～F 接数字口 2～7，摇杆按下（K）接 8 号脚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57200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7" name="Image 0" descr="原指南：扩展板插在 UNO 上（示意图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752" y="1344168"/>
            <a:ext cx="3609456" cy="18379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3218688"/>
            <a:ext cx="4352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原指南：扩展板插在 UNO 上（示意图）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11480" y="3840480"/>
            <a:ext cx="4572000" cy="731520"/>
          </a:xfrm>
          <a:prstGeom prst="roundRect">
            <a:avLst>
              <a:gd name="adj" fmla="val 15000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57784" y="398678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788" y="4065788"/>
            <a:ext cx="171176" cy="17117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14984" y="3977640"/>
            <a:ext cx="38221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表里 0、1 指模拟口 A0、A1，不是数字 0、1 号脚；K 那一行原表没列，从程序补上。</a:t>
            </a:r>
            <a:endParaRPr lang="en-US" sz="12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234440"/>
          <a:ext cx="3429000" cy="914400"/>
        </p:xfrm>
        <a:graphic>
          <a:graphicData uri="http://schemas.openxmlformats.org/drawingml/2006/table">
            <a:tbl>
              <a:tblPr/>
              <a:tblGrid>
                <a:gridCol w="1543050"/>
                <a:gridCol w="188595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Arduino Uno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摇杆模块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0（A0）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VRX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1（A1）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VRY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GND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5V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VCC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9E9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8（程序）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9E9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K（摇杆按下）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摇杆模块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程序①：读出摇杆的 X、Y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 0.5 秒读一次模拟口 0、1，把 x、y 的数值打印到串口——先看看摇杆不动时读数是多少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5440680" cy="3337560"/>
          </a:xfrm>
          <a:prstGeom prst="roundRect">
            <a:avLst>
              <a:gd name="adj" fmla="val 274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3264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joystick_xy.ino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587752" y="1298448"/>
            <a:ext cx="3136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1–17 行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545336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800969" y="1545336"/>
            <a:ext cx="492317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X values will be read from pin 0 and Y from pin 1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7200" y="1709420"/>
            <a:ext cx="5349240" cy="164084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2920" y="1709420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800969" y="1709420"/>
            <a:ext cx="492317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PIN_ANALOG_X </a:t>
            </a:r>
            <a:pPr indent="0" marL="0">
              <a:buNone/>
            </a:pPr>
            <a:r>
              <a:rPr lang="en-US" sz="9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7200" y="1873504"/>
            <a:ext cx="5349240" cy="164084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2920" y="1873504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800969" y="1873504"/>
            <a:ext cx="492317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PIN_ANALOG_Y </a:t>
            </a:r>
            <a:pPr indent="0" marL="0">
              <a:buNone/>
            </a:pPr>
            <a:r>
              <a:rPr lang="en-US" sz="9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2037588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800969" y="2037588"/>
            <a:ext cx="492317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502920" y="2201672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800969" y="2201672"/>
            <a:ext cx="492317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Start serial because we will observe values at serial monitor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502920" y="2365756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800969" y="2365756"/>
            <a:ext cx="492317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9600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502920" y="2529840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800969" y="2529840"/>
            <a:ext cx="492317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2693924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800969" y="2693924"/>
            <a:ext cx="492317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502920" y="2858008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800969" y="2858008"/>
            <a:ext cx="492317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Print x axis values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57200" y="3022092"/>
            <a:ext cx="5349240" cy="164084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02920" y="3022092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50" dirty="0"/>
          </a:p>
        </p:txBody>
      </p:sp>
      <p:sp>
        <p:nvSpPr>
          <p:cNvPr id="31" name="Text 28"/>
          <p:cNvSpPr txBox="1"/>
          <p:nvPr/>
        </p:nvSpPr>
        <p:spPr>
          <a:xfrm>
            <a:off x="800969" y="3022092"/>
            <a:ext cx="492317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"x: "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57200" y="3186176"/>
            <a:ext cx="5349240" cy="164084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02920" y="3186176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800969" y="3186176"/>
            <a:ext cx="492317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analogRead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PIN_ANALOG_X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502920" y="3350260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800969" y="3350260"/>
            <a:ext cx="492317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Print y axis values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3514344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50" dirty="0"/>
          </a:p>
        </p:txBody>
      </p:sp>
      <p:sp>
        <p:nvSpPr>
          <p:cNvPr id="38" name="Text 35"/>
          <p:cNvSpPr txBox="1"/>
          <p:nvPr/>
        </p:nvSpPr>
        <p:spPr>
          <a:xfrm>
            <a:off x="800969" y="3514344"/>
            <a:ext cx="492317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"y: "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502920" y="3678428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800969" y="3678428"/>
            <a:ext cx="492317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analogRead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PIN_ANALOG_Y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502920" y="3842512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50" dirty="0"/>
          </a:p>
        </p:txBody>
      </p:sp>
      <p:sp>
        <p:nvSpPr>
          <p:cNvPr id="42" name="Text 39"/>
          <p:cNvSpPr txBox="1"/>
          <p:nvPr/>
        </p:nvSpPr>
        <p:spPr>
          <a:xfrm>
            <a:off x="800969" y="3842512"/>
            <a:ext cx="492317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Some delay to clearly observe your values on serial monitor.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57200" y="4006596"/>
            <a:ext cx="5349240" cy="164084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02920" y="4006596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50" dirty="0"/>
          </a:p>
        </p:txBody>
      </p:sp>
      <p:sp>
        <p:nvSpPr>
          <p:cNvPr id="45" name="Text 42"/>
          <p:cNvSpPr txBox="1"/>
          <p:nvPr/>
        </p:nvSpPr>
        <p:spPr>
          <a:xfrm>
            <a:off x="800969" y="4006596"/>
            <a:ext cx="492317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502920" y="4170680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850" dirty="0"/>
          </a:p>
        </p:txBody>
      </p:sp>
      <p:sp>
        <p:nvSpPr>
          <p:cNvPr id="47" name="Text 44"/>
          <p:cNvSpPr txBox="1"/>
          <p:nvPr/>
        </p:nvSpPr>
        <p:spPr>
          <a:xfrm>
            <a:off x="800969" y="4170680"/>
            <a:ext cx="492317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48" name="Text 45"/>
          <p:cNvSpPr txBox="1"/>
          <p:nvPr/>
        </p:nvSpPr>
        <p:spPr>
          <a:xfrm>
            <a:off x="6126480" y="1234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6126480" y="1681734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6126480" y="1681734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2–3 行</a:t>
            </a:r>
            <a:endParaRPr lang="en-US" sz="950" dirty="0"/>
          </a:p>
        </p:txBody>
      </p:sp>
      <p:sp>
        <p:nvSpPr>
          <p:cNvPr id="51" name="Text 48"/>
          <p:cNvSpPr txBox="1"/>
          <p:nvPr/>
        </p:nvSpPr>
        <p:spPr>
          <a:xfrm>
            <a:off x="6941312" y="1672590"/>
            <a:ext cx="179120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 读模拟口 0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Y 读模拟口 1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6126480" y="2338070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6126480" y="2338070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6 行</a:t>
            </a:r>
            <a:endParaRPr lang="en-US" sz="950" dirty="0"/>
          </a:p>
        </p:txBody>
      </p:sp>
      <p:sp>
        <p:nvSpPr>
          <p:cNvPr id="54" name="Text 51"/>
          <p:cNvSpPr txBox="1"/>
          <p:nvPr/>
        </p:nvSpPr>
        <p:spPr>
          <a:xfrm>
            <a:off x="6796532" y="2328926"/>
            <a:ext cx="19359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打开串口，9600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6126480" y="2994406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6126480" y="2994406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10–11 行</a:t>
            </a:r>
            <a:endParaRPr lang="en-US" sz="950" dirty="0"/>
          </a:p>
        </p:txBody>
      </p:sp>
      <p:sp>
        <p:nvSpPr>
          <p:cNvPr id="57" name="Text 54"/>
          <p:cNvSpPr txBox="1"/>
          <p:nvPr/>
        </p:nvSpPr>
        <p:spPr>
          <a:xfrm>
            <a:off x="7095744" y="2985262"/>
            <a:ext cx="1636776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先打印“x: ”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再打印 X 读数并换行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6126480" y="3486658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6126480" y="3486658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13–14 行</a:t>
            </a:r>
            <a:endParaRPr lang="en-US" sz="950" dirty="0"/>
          </a:p>
        </p:txBody>
      </p:sp>
      <p:sp>
        <p:nvSpPr>
          <p:cNvPr id="60" name="Text 57"/>
          <p:cNvSpPr txBox="1"/>
          <p:nvPr/>
        </p:nvSpPr>
        <p:spPr>
          <a:xfrm>
            <a:off x="7095744" y="3477514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y 也一样</a:t>
            </a:r>
            <a:endParaRPr lang="en-US" sz="1200" dirty="0"/>
          </a:p>
        </p:txBody>
      </p:sp>
      <p:sp>
        <p:nvSpPr>
          <p:cNvPr id="61" name="Shape 58"/>
          <p:cNvSpPr/>
          <p:nvPr/>
        </p:nvSpPr>
        <p:spPr>
          <a:xfrm>
            <a:off x="6126480" y="3978910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6126480" y="3978910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16 行</a:t>
            </a:r>
            <a:endParaRPr lang="en-US" sz="950" dirty="0"/>
          </a:p>
        </p:txBody>
      </p:sp>
      <p:sp>
        <p:nvSpPr>
          <p:cNvPr id="63" name="Text 60"/>
          <p:cNvSpPr txBox="1"/>
          <p:nvPr/>
        </p:nvSpPr>
        <p:spPr>
          <a:xfrm>
            <a:off x="6873748" y="3969766"/>
            <a:ext cx="18587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 0.5 秒读一次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摇杆模块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程序①结果：不动时 x≈525、y≈518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摇杆静止时读数并不正好是 512；程序②把 520～530、515～520 设成“死区”，读数落在里面就当没推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65760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7" name="Image 0" descr="原指南串口截图：x: 525 / y: 518 交替出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480902"/>
            <a:ext cx="3438144" cy="257031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原指南串口截图：x: 525 / y: 518 交替出现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4389120" y="12344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静止值正好落在“死区”里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4389120" y="1527048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尺子只画了中间 505～540 这一段；红三角 = 静止值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4389120" y="2112264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 轴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左右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120640" y="2185416"/>
            <a:ext cx="1547949" cy="292608"/>
          </a:xfrm>
          <a:prstGeom prst="rect">
            <a:avLst/>
          </a:prstGeom>
          <a:solidFill>
            <a:srgbClr val="40E0D0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120640" y="2185416"/>
            <a:ext cx="15479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← left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668589" y="2185416"/>
            <a:ext cx="1031966" cy="292608"/>
          </a:xfrm>
          <a:prstGeom prst="rect">
            <a:avLst/>
          </a:prstGeom>
          <a:solidFill>
            <a:srgbClr val="2D2D2D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668589" y="2185416"/>
            <a:ext cx="10319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死区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700554" y="2185416"/>
            <a:ext cx="1031966" cy="292608"/>
          </a:xfrm>
          <a:prstGeom prst="rect">
            <a:avLst/>
          </a:prstGeom>
          <a:solidFill>
            <a:srgbClr val="40E0D0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700554" y="2185416"/>
            <a:ext cx="10319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right →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668589" y="2478024"/>
            <a:ext cx="91" cy="54864"/>
          </a:xfrm>
          <a:prstGeom prst="line">
            <a:avLst/>
          </a:prstGeom>
          <a:noFill/>
          <a:ln w="12700">
            <a:solidFill>
              <a:srgbClr val="6B6B6B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394269" y="25328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520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7700554" y="2478024"/>
            <a:ext cx="91" cy="54864"/>
          </a:xfrm>
          <a:prstGeom prst="line">
            <a:avLst/>
          </a:prstGeom>
          <a:noFill/>
          <a:ln w="12700">
            <a:solidFill>
              <a:srgbClr val="6B6B6B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426234" y="25328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530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 flipV="1">
            <a:off x="7111419" y="2039112"/>
            <a:ext cx="146304" cy="128016"/>
          </a:xfrm>
          <a:prstGeom prst="triangl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910251" y="183794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E54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525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4389120" y="3200400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Y 轴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上下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5120640" y="3273552"/>
            <a:ext cx="1031966" cy="292608"/>
          </a:xfrm>
          <a:prstGeom prst="rect">
            <a:avLst/>
          </a:prstGeom>
          <a:solidFill>
            <a:srgbClr val="EBEBEB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5120640" y="3273552"/>
            <a:ext cx="10319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← down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152606" y="3273552"/>
            <a:ext cx="515983" cy="292608"/>
          </a:xfrm>
          <a:prstGeom prst="rect">
            <a:avLst/>
          </a:prstGeom>
          <a:solidFill>
            <a:srgbClr val="2D2D2D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152606" y="3273552"/>
            <a:ext cx="5159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死区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668589" y="3273552"/>
            <a:ext cx="2063931" cy="292608"/>
          </a:xfrm>
          <a:prstGeom prst="rect">
            <a:avLst/>
          </a:prstGeom>
          <a:solidFill>
            <a:srgbClr val="EBEBEB"/>
          </a:solidFill>
          <a:ln w="6350">
            <a:solidFill>
              <a:srgbClr val="E2E2E2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668589" y="3273552"/>
            <a:ext cx="20639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up →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6152606" y="3566160"/>
            <a:ext cx="91" cy="54864"/>
          </a:xfrm>
          <a:prstGeom prst="line">
            <a:avLst/>
          </a:prstGeom>
          <a:noFill/>
          <a:ln w="12700">
            <a:solidFill>
              <a:srgbClr val="6B6B6B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5878286" y="36210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515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6668589" y="3566160"/>
            <a:ext cx="91" cy="54864"/>
          </a:xfrm>
          <a:prstGeom prst="line">
            <a:avLst/>
          </a:prstGeom>
          <a:noFill/>
          <a:ln w="12700">
            <a:solidFill>
              <a:srgbClr val="6B6B6B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394269" y="36210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520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 flipV="1">
            <a:off x="6389043" y="3127248"/>
            <a:ext cx="146304" cy="128016"/>
          </a:xfrm>
          <a:prstGeom prst="triangl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187875" y="29260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E54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518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4389120" y="4023360"/>
            <a:ext cx="4343400" cy="54864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4535424" y="416966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428" y="4248668"/>
            <a:ext cx="171176" cy="171176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4992624" y="4160520"/>
            <a:ext cx="35935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死区　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留一小段“不算数”，读数抖一抖也不误报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摇杆模块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新语法：内部上拉电阻和 else if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 INPUT 再写 HIGH，就打开了引脚内部的上拉电阻（等同 INPUT_PULLUP）；else if 从上往下问，第一个成立就停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02336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389888"/>
            <a:ext cx="365760" cy="3657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142" y="1477670"/>
            <a:ext cx="190195" cy="1901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88136" y="1389888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内部上拉：芯片里的“弹簧”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94360" y="18836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1-2 课学过上拉电阻：像弹簧把引脚拉在高电平。这里由程序打开引脚里面那一颗。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94360" y="2432304"/>
            <a:ext cx="3657600" cy="716661"/>
          </a:xfrm>
          <a:prstGeom prst="roundRect">
            <a:avLst>
              <a:gd name="adj" fmla="val 10207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31520" y="2514600"/>
            <a:ext cx="3383280" cy="184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731520" y="2698623"/>
            <a:ext cx="3383280" cy="184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</a:t>
            </a:r>
            <a:pPr indent="0" marL="0">
              <a:buNone/>
            </a:pPr>
            <a:r>
              <a:rPr lang="en-US" sz="10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老写法：两句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0080" y="2882646"/>
            <a:ext cx="3566160" cy="184023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1520" y="2882646"/>
            <a:ext cx="3383280" cy="184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INPUT_PULLUP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pPr indent="0" marL="0">
              <a:buNone/>
            </a:pPr>
            <a:r>
              <a:rPr lang="en-US" sz="10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新写法：一句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594360" y="3276981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效果：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松开读到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，按下读到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94360" y="3679317"/>
            <a:ext cx="3657600" cy="746379"/>
          </a:xfrm>
          <a:prstGeom prst="roundRect">
            <a:avLst>
              <a:gd name="adj" fmla="val 14701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22376" y="3679317"/>
            <a:ext cx="3401568" cy="746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常见错误　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只写 INPUT 不开上拉：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松开时引脚“悬空”，读数乱跳。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709160" y="1234440"/>
            <a:ext cx="402336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892040" y="1389888"/>
            <a:ext cx="365760" cy="3657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822" y="1477670"/>
            <a:ext cx="190195" cy="19019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385816" y="1389888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else if：一个个问，第一个“是”就停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4892040" y="18836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像排队过安检：从上往下一个个问，第一个回答“是”的就执行，后面的都不再问。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892040" y="2432304"/>
            <a:ext cx="3657600" cy="900684"/>
          </a:xfrm>
          <a:prstGeom prst="roundRect">
            <a:avLst>
              <a:gd name="adj" fmla="val 8122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5029200" y="2514600"/>
            <a:ext cx="3383280" cy="184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键按下) { 打印 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5029200" y="2698623"/>
            <a:ext cx="3383280" cy="184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键按下) { 打印 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27" name="Text 22"/>
          <p:cNvSpPr txBox="1"/>
          <p:nvPr/>
        </p:nvSpPr>
        <p:spPr>
          <a:xfrm>
            <a:off x="5029200" y="2882646"/>
            <a:ext cx="3383280" cy="184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 打印 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28" name="Text 23"/>
          <p:cNvSpPr txBox="1"/>
          <p:nvPr/>
        </p:nvSpPr>
        <p:spPr>
          <a:xfrm>
            <a:off x="5029200" y="3066669"/>
            <a:ext cx="3383280" cy="184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都不成立：什么也不做</a:t>
            </a:r>
            <a:endParaRPr lang="en-US" sz="1050" dirty="0"/>
          </a:p>
        </p:txBody>
      </p:sp>
      <p:sp>
        <p:nvSpPr>
          <p:cNvPr id="29" name="Text 24"/>
          <p:cNvSpPr txBox="1"/>
          <p:nvPr/>
        </p:nvSpPr>
        <p:spPr>
          <a:xfrm>
            <a:off x="4892040" y="34610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只执行一个分支：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越靠前，优先级越高。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4892040" y="3863340"/>
            <a:ext cx="3657600" cy="562356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5020056" y="3863340"/>
            <a:ext cx="3401568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常见错误　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写成一串独立的 if：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几个条件同时成立时，会打印好几行。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摇杆模块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程序②（1/5）：给按键和摇杆起名字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个 #define：A～D 四个大按键接 2～5，E、F 接 6、7，摇杆按下 K 接 8，摇杆 X、Y 接模拟口 0、1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2743200" cy="2286000"/>
          </a:xfrm>
          <a:prstGeom prst="roundRect">
            <a:avLst>
              <a:gd name="adj" fmla="val 4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joystick.ino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1298448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1–10 行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545336"/>
            <a:ext cx="265176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1545336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828492" y="1545336"/>
            <a:ext cx="21981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BUTTON_UP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" y="1726692"/>
            <a:ext cx="265176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1726692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828492" y="1726692"/>
            <a:ext cx="21981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BUTTON_RIGHT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" y="1908048"/>
            <a:ext cx="265176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1908048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828492" y="1908048"/>
            <a:ext cx="21981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BUTTON_DOWN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" y="2089404"/>
            <a:ext cx="265176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" y="2089404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828492" y="2089404"/>
            <a:ext cx="21981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BUTTON_LEFT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502920" y="2270760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828492" y="2270760"/>
            <a:ext cx="21981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BUTTON_E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502920" y="2452116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828492" y="2452116"/>
            <a:ext cx="21981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BUTTON_F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57200" y="2633472"/>
            <a:ext cx="265176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02920" y="2633472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828492" y="2633472"/>
            <a:ext cx="21981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BUTTON_K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502920" y="2814828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828492" y="2814828"/>
            <a:ext cx="21981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PIN_ANALOG_X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502920" y="2996184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828492" y="2996184"/>
            <a:ext cx="21981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PIN_ANALOG_Y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502920" y="3177540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828492" y="3177540"/>
            <a:ext cx="219817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342900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3429000" y="1600200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429000" y="1600200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1–4 行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4243832" y="1591056"/>
            <a:ext cx="192836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四个大按键：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 A、右 B、下 C、左 D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3429000" y="2251710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429000" y="2251710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5–6 行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4243832" y="2242566"/>
            <a:ext cx="192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两个小按键 E、F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3429000" y="2614422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3429000" y="2614422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7 行</a:t>
            </a:r>
            <a:endParaRPr lang="en-US" sz="950" dirty="0"/>
          </a:p>
        </p:txBody>
      </p:sp>
      <p:sp>
        <p:nvSpPr>
          <p:cNvPr id="43" name="Text 40"/>
          <p:cNvSpPr txBox="1"/>
          <p:nvPr/>
        </p:nvSpPr>
        <p:spPr>
          <a:xfrm>
            <a:off x="4099052" y="2605278"/>
            <a:ext cx="20731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K：按下摇杆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3429000" y="2943606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3429000" y="2943606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8–9 行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4243832" y="2934462"/>
            <a:ext cx="192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摇杆 X、Y：模拟口 0、1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3429000" y="3272790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3429000" y="3272790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10 行</a:t>
            </a:r>
            <a:endParaRPr lang="en-US" sz="950" dirty="0"/>
          </a:p>
        </p:txBody>
      </p:sp>
      <p:sp>
        <p:nvSpPr>
          <p:cNvPr id="49" name="Text 46"/>
          <p:cNvSpPr txBox="1"/>
          <p:nvPr/>
        </p:nvSpPr>
        <p:spPr>
          <a:xfrm>
            <a:off x="4176268" y="3263646"/>
            <a:ext cx="19959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每次打印后停 500 毫秒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6446520" y="1234440"/>
            <a:ext cx="2286000" cy="3337560"/>
          </a:xfrm>
          <a:prstGeom prst="roundRect">
            <a:avLst>
              <a:gd name="adj" fmla="val 48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611112" y="1344168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按键接在哪</a:t>
            </a:r>
            <a:endParaRPr lang="en-US" sz="1300" dirty="0"/>
          </a:p>
        </p:txBody>
      </p:sp>
      <p:sp>
        <p:nvSpPr>
          <p:cNvPr id="52" name="Shape 49"/>
          <p:cNvSpPr/>
          <p:nvPr/>
        </p:nvSpPr>
        <p:spPr>
          <a:xfrm>
            <a:off x="7155180" y="1732788"/>
            <a:ext cx="868680" cy="868680"/>
          </a:xfrm>
          <a:prstGeom prst="ellipse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7155180" y="17327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摇杆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 → 0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Y → 1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6537960" y="265633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 → 8</a:t>
            </a:r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按下摇杆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7397496" y="2980944"/>
            <a:ext cx="384048" cy="384048"/>
          </a:xfrm>
          <a:prstGeom prst="ellipse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7397496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</a:t>
            </a:r>
            <a:endParaRPr lang="en-US" sz="10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050" dirty="0"/>
          </a:p>
        </p:txBody>
      </p:sp>
      <p:sp>
        <p:nvSpPr>
          <p:cNvPr id="57" name="Shape 54"/>
          <p:cNvSpPr/>
          <p:nvPr/>
        </p:nvSpPr>
        <p:spPr>
          <a:xfrm>
            <a:off x="7790688" y="3374136"/>
            <a:ext cx="384048" cy="38404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7790688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</a:t>
            </a:r>
            <a:endParaRPr lang="en-US" sz="10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050" dirty="0"/>
          </a:p>
        </p:txBody>
      </p:sp>
      <p:sp>
        <p:nvSpPr>
          <p:cNvPr id="59" name="Shape 56"/>
          <p:cNvSpPr/>
          <p:nvPr/>
        </p:nvSpPr>
        <p:spPr>
          <a:xfrm>
            <a:off x="7397496" y="3767328"/>
            <a:ext cx="384048" cy="384048"/>
          </a:xfrm>
          <a:prstGeom prst="ellipse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7397496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</a:t>
            </a:r>
            <a:endParaRPr lang="en-US" sz="10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50" dirty="0"/>
          </a:p>
        </p:txBody>
      </p:sp>
      <p:sp>
        <p:nvSpPr>
          <p:cNvPr id="61" name="Shape 58"/>
          <p:cNvSpPr/>
          <p:nvPr/>
        </p:nvSpPr>
        <p:spPr>
          <a:xfrm>
            <a:off x="7004304" y="3374136"/>
            <a:ext cx="384048" cy="38404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7004304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</a:t>
            </a:r>
            <a:endParaRPr lang="en-US" sz="10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050" dirty="0"/>
          </a:p>
        </p:txBody>
      </p:sp>
      <p:sp>
        <p:nvSpPr>
          <p:cNvPr id="63" name="Text 60"/>
          <p:cNvSpPr txBox="1"/>
          <p:nvPr/>
        </p:nvSpPr>
        <p:spPr>
          <a:xfrm>
            <a:off x="7827264" y="306324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</a:t>
            </a:r>
            <a:endParaRPr lang="en-US" sz="1000" dirty="0"/>
          </a:p>
        </p:txBody>
      </p:sp>
      <p:sp>
        <p:nvSpPr>
          <p:cNvPr id="64" name="Text 61"/>
          <p:cNvSpPr txBox="1"/>
          <p:nvPr/>
        </p:nvSpPr>
        <p:spPr>
          <a:xfrm>
            <a:off x="8202168" y="345643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右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7827264" y="384962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</a:t>
            </a:r>
            <a:endParaRPr lang="en-US" sz="1000" dirty="0"/>
          </a:p>
        </p:txBody>
      </p:sp>
      <p:sp>
        <p:nvSpPr>
          <p:cNvPr id="66" name="Text 63"/>
          <p:cNvSpPr txBox="1"/>
          <p:nvPr/>
        </p:nvSpPr>
        <p:spPr>
          <a:xfrm>
            <a:off x="6702552" y="345643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左</a:t>
            </a:r>
            <a:endParaRPr lang="en-US" sz="1000" dirty="0"/>
          </a:p>
        </p:txBody>
      </p:sp>
      <p:sp>
        <p:nvSpPr>
          <p:cNvPr id="67" name="Shape 64"/>
          <p:cNvSpPr/>
          <p:nvPr/>
        </p:nvSpPr>
        <p:spPr>
          <a:xfrm>
            <a:off x="6858000" y="4206240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6858000" y="420624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→ 6</a:t>
            </a:r>
            <a:endParaRPr lang="en-US" sz="1050" dirty="0"/>
          </a:p>
        </p:txBody>
      </p:sp>
      <p:sp>
        <p:nvSpPr>
          <p:cNvPr id="69" name="Shape 66"/>
          <p:cNvSpPr/>
          <p:nvPr/>
        </p:nvSpPr>
        <p:spPr>
          <a:xfrm>
            <a:off x="7635240" y="4206240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7635240" y="420624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→ 7</a:t>
            </a:r>
            <a:endParaRPr lang="en-US" sz="1050" dirty="0"/>
          </a:p>
        </p:txBody>
      </p:sp>
      <p:sp>
        <p:nvSpPr>
          <p:cNvPr id="71" name="Shape 68"/>
          <p:cNvSpPr/>
          <p:nvPr/>
        </p:nvSpPr>
        <p:spPr>
          <a:xfrm>
            <a:off x="411480" y="3794760"/>
            <a:ext cx="2743200" cy="777240"/>
          </a:xfrm>
          <a:prstGeom prst="roundRect">
            <a:avLst>
              <a:gd name="adj" fmla="val 1411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557784" y="394106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7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788" y="4020068"/>
            <a:ext cx="171176" cy="171176"/>
          </a:xfrm>
          <a:prstGeom prst="rect">
            <a:avLst/>
          </a:prstGeom>
        </p:spPr>
      </p:pic>
      <p:sp>
        <p:nvSpPr>
          <p:cNvPr id="74" name="Text 70"/>
          <p:cNvSpPr txBox="1"/>
          <p:nvPr/>
        </p:nvSpPr>
        <p:spPr>
          <a:xfrm>
            <a:off x="1014984" y="3931920"/>
            <a:ext cx="19933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名字说清用途：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UP 是上，DOWN 是下。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摇杆模块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程序②（2/5）：setup() 打开上拉电阻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七个按键脚都做同样两步：先设为输入，再写 HIGH——打开内部上拉，松开读 HIGH，按下读 LOW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023360" cy="2331720"/>
          </a:xfrm>
          <a:prstGeom prst="roundRect">
            <a:avLst>
              <a:gd name="adj" fmla="val 3922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joystick.ino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020824" y="12984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11–20 行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54533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14730" y="1545336"/>
            <a:ext cx="349209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171805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14730" y="1718056"/>
            <a:ext cx="349209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9600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189077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814730" y="1890776"/>
            <a:ext cx="349209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 enable pull up resistors first write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206349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814730" y="2063496"/>
            <a:ext cx="349209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pin mode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223621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814730" y="2236216"/>
            <a:ext cx="349209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and then make that pin HIGH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" y="2408936"/>
            <a:ext cx="3931920" cy="17272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02920" y="240893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814730" y="2408936"/>
            <a:ext cx="349209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BUTTON_UP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" y="2581656"/>
            <a:ext cx="3931920" cy="17272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2920" y="258165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814730" y="2581656"/>
            <a:ext cx="349209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BUTTON_UP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275437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814730" y="2754376"/>
            <a:ext cx="349209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BUTTON_RIGHT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02920" y="292709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814730" y="2927096"/>
            <a:ext cx="349209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BUTTON_RIGHT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502920" y="309981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814730" y="3099816"/>
            <a:ext cx="349209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BUTTON_DOWN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502920" y="327253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814730" y="3272536"/>
            <a:ext cx="349209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BUTTON_DOWN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09160" y="1234440"/>
            <a:ext cx="4023360" cy="2331720"/>
          </a:xfrm>
          <a:prstGeom prst="roundRect">
            <a:avLst>
              <a:gd name="adj" fmla="val 3922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837176" y="1298448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joystick.ino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6318504" y="12984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21–29 行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4800600" y="154533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5112410" y="1545336"/>
            <a:ext cx="349209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BUTTON_LEFT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4800600" y="171805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5112410" y="1718056"/>
            <a:ext cx="349209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BUTTON_LEFT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4800600" y="189077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5112410" y="1890776"/>
            <a:ext cx="349209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BUTTON_E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4800600" y="206349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900" dirty="0"/>
          </a:p>
        </p:txBody>
      </p:sp>
      <p:sp>
        <p:nvSpPr>
          <p:cNvPr id="43" name="Text 40"/>
          <p:cNvSpPr txBox="1"/>
          <p:nvPr/>
        </p:nvSpPr>
        <p:spPr>
          <a:xfrm>
            <a:off x="5112410" y="2063496"/>
            <a:ext cx="349209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BUTTON_E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4800600" y="223621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900" dirty="0"/>
          </a:p>
        </p:txBody>
      </p:sp>
      <p:sp>
        <p:nvSpPr>
          <p:cNvPr id="45" name="Text 42"/>
          <p:cNvSpPr txBox="1"/>
          <p:nvPr/>
        </p:nvSpPr>
        <p:spPr>
          <a:xfrm>
            <a:off x="5112410" y="2236216"/>
            <a:ext cx="349209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BUTTON_F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4800600" y="240893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900" dirty="0"/>
          </a:p>
        </p:txBody>
      </p:sp>
      <p:sp>
        <p:nvSpPr>
          <p:cNvPr id="47" name="Text 44"/>
          <p:cNvSpPr txBox="1"/>
          <p:nvPr/>
        </p:nvSpPr>
        <p:spPr>
          <a:xfrm>
            <a:off x="5112410" y="2408936"/>
            <a:ext cx="349209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BUTTON_F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4754880" y="2581656"/>
            <a:ext cx="3931920" cy="17272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800600" y="258165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900" dirty="0"/>
          </a:p>
        </p:txBody>
      </p:sp>
      <p:sp>
        <p:nvSpPr>
          <p:cNvPr id="50" name="Text 47"/>
          <p:cNvSpPr txBox="1"/>
          <p:nvPr/>
        </p:nvSpPr>
        <p:spPr>
          <a:xfrm>
            <a:off x="5112410" y="2581656"/>
            <a:ext cx="349209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BUTTON_K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4754880" y="2754376"/>
            <a:ext cx="3931920" cy="17272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4800600" y="275437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900" dirty="0"/>
          </a:p>
        </p:txBody>
      </p:sp>
      <p:sp>
        <p:nvSpPr>
          <p:cNvPr id="53" name="Text 50"/>
          <p:cNvSpPr txBox="1"/>
          <p:nvPr/>
        </p:nvSpPr>
        <p:spPr>
          <a:xfrm>
            <a:off x="5112410" y="2754376"/>
            <a:ext cx="349209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BUTTON_K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54" name="Text 51"/>
          <p:cNvSpPr txBox="1"/>
          <p:nvPr/>
        </p:nvSpPr>
        <p:spPr>
          <a:xfrm>
            <a:off x="4800600" y="292709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</a:t>
            </a:r>
            <a:endParaRPr lang="en-US" sz="900" dirty="0"/>
          </a:p>
        </p:txBody>
      </p:sp>
      <p:sp>
        <p:nvSpPr>
          <p:cNvPr id="55" name="Text 52"/>
          <p:cNvSpPr txBox="1"/>
          <p:nvPr/>
        </p:nvSpPr>
        <p:spPr>
          <a:xfrm>
            <a:off x="5112410" y="2927096"/>
            <a:ext cx="349209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411480" y="3767328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411480" y="3767328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13–14 行</a:t>
            </a:r>
            <a:endParaRPr lang="en-US" sz="950" dirty="0"/>
          </a:p>
        </p:txBody>
      </p:sp>
      <p:sp>
        <p:nvSpPr>
          <p:cNvPr id="58" name="Text 55"/>
          <p:cNvSpPr txBox="1"/>
          <p:nvPr/>
        </p:nvSpPr>
        <p:spPr>
          <a:xfrm>
            <a:off x="1380744" y="3758184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注释：先设模式再写 HIGH，即上拉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411480" y="4096512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411480" y="4096512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15–20 行</a:t>
            </a:r>
            <a:endParaRPr lang="en-US" sz="950" dirty="0"/>
          </a:p>
        </p:txBody>
      </p:sp>
      <p:sp>
        <p:nvSpPr>
          <p:cNvPr id="61" name="Text 58"/>
          <p:cNvSpPr txBox="1"/>
          <p:nvPr/>
        </p:nvSpPr>
        <p:spPr>
          <a:xfrm>
            <a:off x="1380744" y="4087368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A、B、C 键：每个都是 INPUT + HIGH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4709160" y="3767328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4709160" y="3767328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21–28 行</a:t>
            </a:r>
            <a:endParaRPr lang="en-US" sz="950" dirty="0"/>
          </a:p>
        </p:txBody>
      </p:sp>
      <p:sp>
        <p:nvSpPr>
          <p:cNvPr id="64" name="Text 61"/>
          <p:cNvSpPr txBox="1"/>
          <p:nvPr/>
        </p:nvSpPr>
        <p:spPr>
          <a:xfrm>
            <a:off x="5678424" y="3758184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D、E、F、K 键：还是同样的两步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4709160" y="4096512"/>
            <a:ext cx="544830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4709160" y="4096512"/>
            <a:ext cx="5448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新写法</a:t>
            </a:r>
            <a:endParaRPr lang="en-US" sz="950" dirty="0"/>
          </a:p>
        </p:txBody>
      </p:sp>
      <p:sp>
        <p:nvSpPr>
          <p:cNvPr id="67" name="Text 64"/>
          <p:cNvSpPr txBox="1"/>
          <p:nvPr/>
        </p:nvSpPr>
        <p:spPr>
          <a:xfrm>
            <a:off x="5345430" y="4087368"/>
            <a:ext cx="338709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可改成 7 行：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pinMode(按键, INPUT_PULLUP);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摇杆模块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程序②（3/5）：else if 依次检查按键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先问 A 键按下没有；没按，再问 B 键……按键按下读到 LOW，就打印是哪个键，再停 0.5 秒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846320" cy="3337560"/>
          </a:xfrm>
          <a:prstGeom prst="roundRect">
            <a:avLst>
              <a:gd name="adj" fmla="val 274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joystick.ino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350008" y="1298448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30–46 行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545336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800969" y="1545336"/>
            <a:ext cx="432881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7200" y="1709420"/>
            <a:ext cx="4754880" cy="164084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2920" y="1709420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800969" y="1709420"/>
            <a:ext cx="432881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digitalRead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BUTTON_UP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== </a:t>
            </a:r>
            <a:pPr indent="0" marL="0">
              <a:buNone/>
            </a:pPr>
            <a:r>
              <a:rPr lang="en-US" sz="9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1873504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800969" y="1873504"/>
            <a:ext cx="432881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"Button A is pressed"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502920" y="2037588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800969" y="2037588"/>
            <a:ext cx="432881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2201672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800969" y="2201672"/>
            <a:ext cx="432881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7200" y="2365756"/>
            <a:ext cx="4754880" cy="164084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2920" y="2365756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800969" y="2365756"/>
            <a:ext cx="432881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digitalRead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BUTTON_RIGHT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== </a:t>
            </a:r>
            <a:pPr indent="0" marL="0">
              <a:buNone/>
            </a:pPr>
            <a:r>
              <a:rPr lang="en-US" sz="9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502920" y="2529840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800969" y="2529840"/>
            <a:ext cx="432881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"Button B is pressed"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2693924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800969" y="2693924"/>
            <a:ext cx="432881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502920" y="2858008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800969" y="2858008"/>
            <a:ext cx="432881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502920" y="3022092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800969" y="3022092"/>
            <a:ext cx="432881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digitalRead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BUTTON_DOWN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== </a:t>
            </a:r>
            <a:pPr indent="0" marL="0">
              <a:buNone/>
            </a:pPr>
            <a:r>
              <a:rPr lang="en-US" sz="9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502920" y="3186176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800969" y="3186176"/>
            <a:ext cx="432881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"Button C is pressed"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502920" y="3350260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800969" y="3350260"/>
            <a:ext cx="432881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502920" y="3514344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800969" y="3514344"/>
            <a:ext cx="432881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3678428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850" dirty="0"/>
          </a:p>
        </p:txBody>
      </p:sp>
      <p:sp>
        <p:nvSpPr>
          <p:cNvPr id="38" name="Text 35"/>
          <p:cNvSpPr txBox="1"/>
          <p:nvPr/>
        </p:nvSpPr>
        <p:spPr>
          <a:xfrm>
            <a:off x="800969" y="3678428"/>
            <a:ext cx="432881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digitalRead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BUTTON_LEFT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== </a:t>
            </a:r>
            <a:pPr indent="0" marL="0">
              <a:buNone/>
            </a:pPr>
            <a:r>
              <a:rPr lang="en-US" sz="9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502920" y="3842512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800969" y="3842512"/>
            <a:ext cx="432881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"Button D is pressed"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502920" y="4006596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850" dirty="0"/>
          </a:p>
        </p:txBody>
      </p:sp>
      <p:sp>
        <p:nvSpPr>
          <p:cNvPr id="42" name="Text 39"/>
          <p:cNvSpPr txBox="1"/>
          <p:nvPr/>
        </p:nvSpPr>
        <p:spPr>
          <a:xfrm>
            <a:off x="800969" y="4006596"/>
            <a:ext cx="432881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43" name="Text 40"/>
          <p:cNvSpPr txBox="1"/>
          <p:nvPr/>
        </p:nvSpPr>
        <p:spPr>
          <a:xfrm>
            <a:off x="502920" y="4170680"/>
            <a:ext cx="188841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800969" y="4170680"/>
            <a:ext cx="4328815" cy="164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45" name="Text 42"/>
          <p:cNvSpPr txBox="1"/>
          <p:nvPr/>
        </p:nvSpPr>
        <p:spPr>
          <a:xfrm>
            <a:off x="5577840" y="12344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5577840" y="1681734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577840" y="1681734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31 行</a:t>
            </a:r>
            <a:endParaRPr lang="en-US" sz="950" dirty="0"/>
          </a:p>
        </p:txBody>
      </p:sp>
      <p:sp>
        <p:nvSpPr>
          <p:cNvPr id="48" name="Text 45"/>
          <p:cNvSpPr txBox="1"/>
          <p:nvPr/>
        </p:nvSpPr>
        <p:spPr>
          <a:xfrm>
            <a:off x="6325108" y="1672590"/>
            <a:ext cx="2407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键按下了吗？按下读到 LOW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5577840" y="2010918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577840" y="2010918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32–33 行</a:t>
            </a:r>
            <a:endParaRPr lang="en-US" sz="950" dirty="0"/>
          </a:p>
        </p:txBody>
      </p:sp>
      <p:sp>
        <p:nvSpPr>
          <p:cNvPr id="51" name="Text 48"/>
          <p:cNvSpPr txBox="1"/>
          <p:nvPr/>
        </p:nvSpPr>
        <p:spPr>
          <a:xfrm>
            <a:off x="6547104" y="2001774"/>
            <a:ext cx="2185416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是：打印这个按键的名字，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再停 0.5 秒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5577840" y="2501646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577840" y="2501646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35 行</a:t>
            </a:r>
            <a:endParaRPr lang="en-US" sz="950" dirty="0"/>
          </a:p>
        </p:txBody>
      </p:sp>
      <p:sp>
        <p:nvSpPr>
          <p:cNvPr id="54" name="Text 51"/>
          <p:cNvSpPr txBox="1"/>
          <p:nvPr/>
        </p:nvSpPr>
        <p:spPr>
          <a:xfrm>
            <a:off x="6325108" y="2492502"/>
            <a:ext cx="2407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否则，再问 B 键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5577840" y="2994406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5577840" y="2994406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39–46 行</a:t>
            </a:r>
            <a:endParaRPr lang="en-US" sz="950" dirty="0"/>
          </a:p>
        </p:txBody>
      </p:sp>
      <p:sp>
        <p:nvSpPr>
          <p:cNvPr id="57" name="Text 54"/>
          <p:cNvSpPr txBox="1"/>
          <p:nvPr/>
        </p:nvSpPr>
        <p:spPr>
          <a:xfrm>
            <a:off x="6547104" y="2985262"/>
            <a:ext cx="2185416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C、D 键：同样的写法，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一个接一个往下问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5577840" y="3794760"/>
            <a:ext cx="3154680" cy="777240"/>
          </a:xfrm>
          <a:prstGeom prst="roundRect">
            <a:avLst>
              <a:gd name="adj" fmla="val 1411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5724144" y="394106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6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3148" y="4020068"/>
            <a:ext cx="171176" cy="171176"/>
          </a:xfrm>
          <a:prstGeom prst="rect">
            <a:avLst/>
          </a:prstGeom>
        </p:spPr>
      </p:pic>
      <p:sp>
        <p:nvSpPr>
          <p:cNvPr id="61" name="Text 57"/>
          <p:cNvSpPr txBox="1"/>
          <p:nvPr/>
        </p:nvSpPr>
        <p:spPr>
          <a:xfrm>
            <a:off x="6181344" y="3931920"/>
            <a:ext cx="2404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按住不放　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每过 0.5 秒再打印一行，节奏由 DELAY 决定。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摇杆模块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程序②（4/5）：E、F 键和左右方向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六个按键都没按，才去看摇杆：X 小于 520 打印 left，大于 530 打印 right，中间的死区什么也不做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846320" cy="3337560"/>
          </a:xfrm>
          <a:prstGeom prst="roundRect">
            <a:avLst>
              <a:gd name="adj" fmla="val 274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joystick.ino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350008" y="1298448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47–62 行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545336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828492" y="1545336"/>
            <a:ext cx="43012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digitalRead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BUTTON_E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==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1726692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828492" y="1726692"/>
            <a:ext cx="43012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"Button E is pressed"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1908048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828492" y="1908048"/>
            <a:ext cx="43012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2089404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828492" y="2089404"/>
            <a:ext cx="43012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2270760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828492" y="2270760"/>
            <a:ext cx="43012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digitalRead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BUTTON_F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==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502920" y="2452116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828492" y="2452116"/>
            <a:ext cx="43012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"Button F is pressed"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502920" y="2633472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828492" y="2633472"/>
            <a:ext cx="43012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502920" y="2814828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828492" y="2814828"/>
            <a:ext cx="43012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57200" y="2996184"/>
            <a:ext cx="475488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02920" y="2996184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828492" y="2996184"/>
            <a:ext cx="43012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analogRead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PIN_ANALOG_X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)&lt;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){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57200" y="3177540"/>
            <a:ext cx="475488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02920" y="3177540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828492" y="3177540"/>
            <a:ext cx="43012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left"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502920" y="3358896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828492" y="3358896"/>
            <a:ext cx="43012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502920" y="3540252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828492" y="3540252"/>
            <a:ext cx="43012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57200" y="3721608"/>
            <a:ext cx="475488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02920" y="3721608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828492" y="3721608"/>
            <a:ext cx="43012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analogRead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PIN_ANALOG_X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)&gt;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){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457200" y="3902964"/>
            <a:ext cx="475488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02920" y="3902964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828492" y="3902964"/>
            <a:ext cx="43012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right"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41" name="Text 38"/>
          <p:cNvSpPr txBox="1"/>
          <p:nvPr/>
        </p:nvSpPr>
        <p:spPr>
          <a:xfrm>
            <a:off x="502920" y="4084320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828492" y="4084320"/>
            <a:ext cx="43012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502920" y="4265676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828492" y="4265676"/>
            <a:ext cx="43012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45" name="Text 42"/>
          <p:cNvSpPr txBox="1"/>
          <p:nvPr/>
        </p:nvSpPr>
        <p:spPr>
          <a:xfrm>
            <a:off x="5577840" y="12344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5577840" y="1600200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577840" y="1600200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47–54 行</a:t>
            </a:r>
            <a:endParaRPr lang="en-US" sz="950" dirty="0"/>
          </a:p>
        </p:txBody>
      </p:sp>
      <p:sp>
        <p:nvSpPr>
          <p:cNvPr id="48" name="Text 45"/>
          <p:cNvSpPr txBox="1"/>
          <p:nvPr/>
        </p:nvSpPr>
        <p:spPr>
          <a:xfrm>
            <a:off x="6547104" y="1591056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E、F 键：同样的写法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5577840" y="2977134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577840" y="2977134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55–56 行</a:t>
            </a:r>
            <a:endParaRPr lang="en-US" sz="950" dirty="0"/>
          </a:p>
        </p:txBody>
      </p:sp>
      <p:sp>
        <p:nvSpPr>
          <p:cNvPr id="51" name="Text 48"/>
          <p:cNvSpPr txBox="1"/>
          <p:nvPr/>
        </p:nvSpPr>
        <p:spPr>
          <a:xfrm>
            <a:off x="6547104" y="2967990"/>
            <a:ext cx="2185416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 小于 520：往左推了，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打印 left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5577840" y="3702558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577840" y="3702558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59–60 行</a:t>
            </a:r>
            <a:endParaRPr lang="en-US" sz="950" dirty="0"/>
          </a:p>
        </p:txBody>
      </p:sp>
      <p:sp>
        <p:nvSpPr>
          <p:cNvPr id="54" name="Text 51"/>
          <p:cNvSpPr txBox="1"/>
          <p:nvPr/>
        </p:nvSpPr>
        <p:spPr>
          <a:xfrm>
            <a:off x="6547104" y="3693414"/>
            <a:ext cx="2185416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 大于 530：往右推了，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打印 right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5577840" y="4193286"/>
            <a:ext cx="424180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5577840" y="4193286"/>
            <a:ext cx="4241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死区</a:t>
            </a:r>
            <a:endParaRPr lang="en-US" sz="950" dirty="0"/>
          </a:p>
        </p:txBody>
      </p:sp>
      <p:sp>
        <p:nvSpPr>
          <p:cNvPr id="57" name="Text 54"/>
          <p:cNvSpPr txBox="1"/>
          <p:nvPr/>
        </p:nvSpPr>
        <p:spPr>
          <a:xfrm>
            <a:off x="6093460" y="4184142"/>
            <a:ext cx="263906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520～530 之间：两条都不成立，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接着问 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摇杆模块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程序②（5/5）：上下方向和摇杆按键 K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Y 大于 520 打印 up，小于 515 打印 down；K 键单独用一个 if 判断，不在 else if 链里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846320" cy="3337560"/>
          </a:xfrm>
          <a:prstGeom prst="roundRect">
            <a:avLst>
              <a:gd name="adj" fmla="val 274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joystick.ino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350008" y="1298448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63–76 行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545336"/>
            <a:ext cx="475488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154533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42254" y="1545336"/>
            <a:ext cx="42875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analogRead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PIN_ANALOG_Y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)&gt;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){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1735328"/>
            <a:ext cx="475488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173532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42254" y="1735328"/>
            <a:ext cx="42875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up"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192532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42254" y="1925320"/>
            <a:ext cx="42875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211531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42254" y="2115312"/>
            <a:ext cx="42875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305304"/>
            <a:ext cx="475488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02920" y="230530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842254" y="2305304"/>
            <a:ext cx="42875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analogRead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PIN_ANALOG_Y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)&lt;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515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){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2495296"/>
            <a:ext cx="475488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2920" y="249529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842254" y="2495296"/>
            <a:ext cx="42875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down"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02920" y="268528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69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42254" y="2685288"/>
            <a:ext cx="42875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02920" y="287528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842254" y="2875280"/>
            <a:ext cx="42875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02920" y="306527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71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842254" y="3065272"/>
            <a:ext cx="42875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Some delay to clearly observe your values on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02920" y="325526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842254" y="3255264"/>
            <a:ext cx="42875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serial monitor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57200" y="3445256"/>
            <a:ext cx="475488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02920" y="344525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842254" y="3445256"/>
            <a:ext cx="42875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digitalRead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BUTTON_K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==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57200" y="3635248"/>
            <a:ext cx="475488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02920" y="363524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73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842254" y="3635248"/>
            <a:ext cx="42875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"Button k is pressed"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502920" y="382524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74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842254" y="3825240"/>
            <a:ext cx="42875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502920" y="401523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842254" y="4015232"/>
            <a:ext cx="42875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02920" y="420522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76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842254" y="4205224"/>
            <a:ext cx="42875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5577840" y="12344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5577840" y="1600200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577840" y="1600200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63–64 行</a:t>
            </a:r>
            <a:endParaRPr lang="en-US" sz="950" dirty="0"/>
          </a:p>
        </p:txBody>
      </p:sp>
      <p:sp>
        <p:nvSpPr>
          <p:cNvPr id="48" name="Text 45"/>
          <p:cNvSpPr txBox="1"/>
          <p:nvPr/>
        </p:nvSpPr>
        <p:spPr>
          <a:xfrm>
            <a:off x="6547104" y="1591056"/>
            <a:ext cx="2185416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Y 大于 520：往上推，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打印 up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5577840" y="2290572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577840" y="2290572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67–68 行</a:t>
            </a:r>
            <a:endParaRPr lang="en-US" sz="950" dirty="0"/>
          </a:p>
        </p:txBody>
      </p:sp>
      <p:sp>
        <p:nvSpPr>
          <p:cNvPr id="51" name="Text 48"/>
          <p:cNvSpPr txBox="1"/>
          <p:nvPr/>
        </p:nvSpPr>
        <p:spPr>
          <a:xfrm>
            <a:off x="6547104" y="2281428"/>
            <a:ext cx="2185416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Y 小于 515：往下推，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打印 down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5577840" y="3050540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577840" y="3050540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71 行</a:t>
            </a:r>
            <a:endParaRPr lang="en-US" sz="950" dirty="0"/>
          </a:p>
        </p:txBody>
      </p:sp>
      <p:sp>
        <p:nvSpPr>
          <p:cNvPr id="54" name="Text 51"/>
          <p:cNvSpPr txBox="1"/>
          <p:nvPr/>
        </p:nvSpPr>
        <p:spPr>
          <a:xfrm>
            <a:off x="6325108" y="3041396"/>
            <a:ext cx="2407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这句注释是从程序①抄来的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5577840" y="3430524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5577840" y="3430524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72–73 行</a:t>
            </a:r>
            <a:endParaRPr lang="en-US" sz="950" dirty="0"/>
          </a:p>
        </p:txBody>
      </p:sp>
      <p:sp>
        <p:nvSpPr>
          <p:cNvPr id="57" name="Text 54"/>
          <p:cNvSpPr txBox="1"/>
          <p:nvPr/>
        </p:nvSpPr>
        <p:spPr>
          <a:xfrm>
            <a:off x="6547104" y="3421380"/>
            <a:ext cx="2185416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 键：独立的 if，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每一轮都会检查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5577840" y="4190492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5577840" y="4190492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76 行</a:t>
            </a:r>
            <a:endParaRPr lang="en-US" sz="950" dirty="0"/>
          </a:p>
        </p:txBody>
      </p:sp>
      <p:sp>
        <p:nvSpPr>
          <p:cNvPr id="60" name="Text 57"/>
          <p:cNvSpPr txBox="1"/>
          <p:nvPr/>
        </p:nvSpPr>
        <p:spPr>
          <a:xfrm>
            <a:off x="6325108" y="4181348"/>
            <a:ext cx="2407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loop() 结束，从头再来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摇杆模块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实验结果：推摇杆、按按键，串口报出来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往上下左右推，串口打印 up / down / left / right；按下按键，打印 Button A～F（或 k）is pressed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931920" cy="233172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7" name="Image 0" descr="原指南实物图：扩展板插在 UNO 上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348" y="1344168"/>
            <a:ext cx="2962185" cy="18379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3218688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原指南实物图：扩展板插在 UNO 上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11480" y="3840480"/>
            <a:ext cx="39319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57784" y="3986784"/>
            <a:ext cx="329184" cy="329184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788" y="4065788"/>
            <a:ext cx="171176" cy="17117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14984" y="3977640"/>
            <a:ext cx="31821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原文与程序不符　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原指南说往上拨时“对应的 LED 灯会亮”，但程序只在串口打印。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617720" y="1234440"/>
            <a:ext cx="411480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14" name="Image 2" descr="原指南串口截图：方向和按键依次出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448" y="1357307"/>
            <a:ext cx="3895344" cy="281750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727448" y="4224528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原指南串口截图：方向和按键依次出现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摇杆模块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常见坑与动手改一改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读数乱跳先查上拉、方向误报就调死区；学会了读摇杆，就能用它控制实验三的舵机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977640" cy="929640"/>
          </a:xfrm>
          <a:prstGeom prst="roundRect">
            <a:avLst>
              <a:gd name="adj" fmla="val 11803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57784" y="1380744"/>
            <a:ext cx="329184" cy="329184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788" y="1459748"/>
            <a:ext cx="171176" cy="17117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14984" y="137160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按键乱报、自己“按下”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014984" y="1682496"/>
            <a:ext cx="322783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多半没开上拉：检查 setup() 里的 HIGH。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11480" y="2438400"/>
            <a:ext cx="3977640" cy="929640"/>
          </a:xfrm>
          <a:prstGeom prst="roundRect">
            <a:avLst>
              <a:gd name="adj" fmla="val 11803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57784" y="2584704"/>
            <a:ext cx="329184" cy="329184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788" y="2663708"/>
            <a:ext cx="171176" cy="17117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14984" y="257556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不推也报方向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1014984" y="2886456"/>
            <a:ext cx="322783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静止值不同：先跑程序①，再改死区的数字。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11480" y="3642360"/>
            <a:ext cx="3977640" cy="929640"/>
          </a:xfrm>
          <a:prstGeom prst="roundRect">
            <a:avLst>
              <a:gd name="adj" fmla="val 11803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57784" y="3788664"/>
            <a:ext cx="329184" cy="329184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88" y="3867668"/>
            <a:ext cx="171176" cy="17117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14984" y="377952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按住按键时方向不打印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1014984" y="4090416"/>
            <a:ext cx="3227832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 else if 的优先级，不是坏了。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663440" y="1234440"/>
            <a:ext cx="406908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846320" y="1380744"/>
            <a:ext cx="365760" cy="3657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4102" y="1468526"/>
            <a:ext cx="190195" cy="19019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340096" y="13807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动手改一改</a:t>
            </a:r>
            <a:endParaRPr lang="en-US" sz="1500" dirty="0"/>
          </a:p>
        </p:txBody>
      </p:sp>
      <p:sp>
        <p:nvSpPr>
          <p:cNvPr id="25" name="Shape 18"/>
          <p:cNvSpPr/>
          <p:nvPr/>
        </p:nvSpPr>
        <p:spPr>
          <a:xfrm>
            <a:off x="4846320" y="1892808"/>
            <a:ext cx="256032" cy="25603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4846320" y="1892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050" dirty="0"/>
          </a:p>
        </p:txBody>
      </p:sp>
      <p:sp>
        <p:nvSpPr>
          <p:cNvPr id="27" name="Text 20"/>
          <p:cNvSpPr txBox="1"/>
          <p:nvPr/>
        </p:nvSpPr>
        <p:spPr>
          <a:xfrm>
            <a:off x="5193792" y="1874520"/>
            <a:ext cx="3355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用新写法打开上拉：7 行就够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5193792" y="2240280"/>
            <a:ext cx="3355848" cy="348615"/>
          </a:xfrm>
          <a:prstGeom prst="roundRect">
            <a:avLst>
              <a:gd name="adj" fmla="val 20984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5330952" y="2322576"/>
            <a:ext cx="3081528" cy="184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BUTTON_UP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INPUT_PULLUP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4846320" y="2790063"/>
            <a:ext cx="256032" cy="25603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4846320" y="279006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050" dirty="0"/>
          </a:p>
        </p:txBody>
      </p:sp>
      <p:sp>
        <p:nvSpPr>
          <p:cNvPr id="32" name="Text 25"/>
          <p:cNvSpPr txBox="1"/>
          <p:nvPr/>
        </p:nvSpPr>
        <p:spPr>
          <a:xfrm>
            <a:off x="5193792" y="2771775"/>
            <a:ext cx="3355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摇杆遥控舵机（接上实验三的舵机）</a:t>
            </a:r>
            <a:endParaRPr lang="en-US" sz="1250" dirty="0"/>
          </a:p>
        </p:txBody>
      </p:sp>
      <p:sp>
        <p:nvSpPr>
          <p:cNvPr id="33" name="Shape 26"/>
          <p:cNvSpPr/>
          <p:nvPr/>
        </p:nvSpPr>
        <p:spPr>
          <a:xfrm>
            <a:off x="5193792" y="3137535"/>
            <a:ext cx="3355848" cy="716661"/>
          </a:xfrm>
          <a:prstGeom prst="roundRect">
            <a:avLst>
              <a:gd name="adj" fmla="val 10207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5330952" y="3219831"/>
            <a:ext cx="3081528" cy="184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analogRead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PIN_ANALOG_X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35" name="Text 28"/>
          <p:cNvSpPr txBox="1"/>
          <p:nvPr/>
        </p:nvSpPr>
        <p:spPr>
          <a:xfrm>
            <a:off x="5330952" y="3403854"/>
            <a:ext cx="3081528" cy="184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angle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1023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36" name="Text 29"/>
          <p:cNvSpPr txBox="1"/>
          <p:nvPr/>
        </p:nvSpPr>
        <p:spPr>
          <a:xfrm>
            <a:off x="5330952" y="3587877"/>
            <a:ext cx="3081528" cy="184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myservo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angle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37" name="Text 30"/>
          <p:cNvSpPr txBox="1"/>
          <p:nvPr/>
        </p:nvSpPr>
        <p:spPr>
          <a:xfrm>
            <a:off x="5193792" y="3945636"/>
            <a:ext cx="3355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信号线改接 9 号脚：7 号被 F 键占了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别忘了 #include &lt;Servo.h&gt; 和 attach(9)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小结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本节小结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四个实验一条主线：PWM 让数字引脚输出“中间值”，脉宽指挥舵机，摇杆把“中间值”读回来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2080260" cy="1737360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380744"/>
            <a:ext cx="1714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0～255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040636"/>
            <a:ext cx="1714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PWM 调光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369820"/>
            <a:ext cx="1714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开着的时间占比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决定平均电压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491740" y="1234440"/>
            <a:ext cx="2080260" cy="1737360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674620" y="1380744"/>
            <a:ext cx="1714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256³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2674620" y="2040636"/>
            <a:ext cx="1714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RGB 呼吸灯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2674620" y="2369820"/>
            <a:ext cx="1714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三路 PWM 叠加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for 让亮度渐变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0" y="1234440"/>
            <a:ext cx="2080260" cy="1737360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54880" y="1380744"/>
            <a:ext cx="1714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0.5～2.5ms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4754880" y="2040636"/>
            <a:ext cx="1714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舵机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4754880" y="2369820"/>
            <a:ext cx="1714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0D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脉宽决定角度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0D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Servo 库帮你发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652260" y="1234440"/>
            <a:ext cx="208026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35140" y="1380744"/>
            <a:ext cx="1714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520～530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6835140" y="2040636"/>
            <a:ext cx="1714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摇杆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6835140" y="2369820"/>
            <a:ext cx="1714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两个电位器 + 按键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死区防误判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11480" y="3246120"/>
            <a:ext cx="2590800" cy="1325880"/>
          </a:xfrm>
          <a:prstGeom prst="roundRect">
            <a:avLst>
              <a:gd name="adj" fmla="val 827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94360" y="3401568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364" y="3480572"/>
            <a:ext cx="171176" cy="171176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1051560" y="3401568"/>
            <a:ext cx="176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送出去：中间值</a:t>
            </a:r>
            <a:endParaRPr lang="en-US" sz="1350" dirty="0"/>
          </a:p>
        </p:txBody>
      </p:sp>
      <p:sp>
        <p:nvSpPr>
          <p:cNvPr id="26" name="Text 22"/>
          <p:cNvSpPr txBox="1"/>
          <p:nvPr/>
        </p:nvSpPr>
        <p:spPr>
          <a:xfrm>
            <a:off x="594360" y="3822192"/>
            <a:ext cx="2225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analogWrite(引脚, 0～255)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setColor(红, 绿, 蓝)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myservo.write(0～180)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3276600" y="3246120"/>
            <a:ext cx="2590800" cy="1325880"/>
          </a:xfrm>
          <a:prstGeom prst="roundRect">
            <a:avLst>
              <a:gd name="adj" fmla="val 827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3459480" y="3401568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484" y="3480572"/>
            <a:ext cx="171176" cy="171176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3916680" y="3401568"/>
            <a:ext cx="176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读进来：摇杆和按键</a:t>
            </a:r>
            <a:endParaRPr lang="en-US" sz="1350" dirty="0"/>
          </a:p>
        </p:txBody>
      </p:sp>
      <p:sp>
        <p:nvSpPr>
          <p:cNvPr id="31" name="Text 26"/>
          <p:cNvSpPr txBox="1"/>
          <p:nvPr/>
        </p:nvSpPr>
        <p:spPr>
          <a:xfrm>
            <a:off x="3459480" y="3822192"/>
            <a:ext cx="2225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analogRead()：0～1023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INPUT_PULLUP：按下读 LOW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else if：第一个成立就停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6141720" y="3246120"/>
            <a:ext cx="25908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6324600" y="3401568"/>
            <a:ext cx="329184" cy="329184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3604" y="3480572"/>
            <a:ext cx="171176" cy="171176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6781800" y="3401568"/>
            <a:ext cx="176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小心这几个坑</a:t>
            </a:r>
            <a:endParaRPr lang="en-US" sz="1350" dirty="0"/>
          </a:p>
        </p:txBody>
      </p:sp>
      <p:sp>
        <p:nvSpPr>
          <p:cNvPr id="36" name="Text 30"/>
          <p:cNvSpPr txBox="1"/>
          <p:nvPr/>
        </p:nvSpPr>
        <p:spPr>
          <a:xfrm>
            <a:off x="6324600" y="3822192"/>
            <a:ext cx="2225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× 256 会越界，用 map()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电位器接 3.3V 转不满 180°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原指南漏印了一个 }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109728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让开和关，变出无数个“中间值”</a:t>
            </a:r>
            <a:endParaRPr lang="en-US" sz="3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02920" y="205740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PWM 调亮度、调颜色，脉宽调角度，摇杆把中间值读回来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下一节：2-2 超声波 · 串口调舵机 · 红外避障 · 温湿度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duino Turquoise">
  <a:themeElements>
    <a:clrScheme name="Arduino Turquoise">
      <a:dk1>
        <a:srgbClr val="2D2D2D"/>
      </a:dk1>
      <a:lt1>
        <a:srgbClr val="FFFFFF"/>
      </a:lt1>
      <a:dk2>
        <a:srgbClr val="6B6B6B"/>
      </a:dk2>
      <a:lt2>
        <a:srgbClr val="F5F5F5"/>
      </a:lt2>
      <a:accent1>
        <a:srgbClr val="40E0D0"/>
      </a:accent1>
      <a:accent2>
        <a:srgbClr val="EBEBEB"/>
      </a:accent2>
      <a:accent3>
        <a:srgbClr val="E2E2E2"/>
      </a:accent3>
      <a:accent4>
        <a:srgbClr val="2D2D2D"/>
      </a:accent4>
      <a:accent5>
        <a:srgbClr val="E5484D"/>
      </a:accent5>
      <a:accent6>
        <a:srgbClr val="1A9E92"/>
      </a:accent6>
      <a:hlink>
        <a:srgbClr val="1A9E92"/>
      </a:hlink>
      <a:folHlink>
        <a:srgbClr val="6B6B6B"/>
      </a:folHlink>
    </a:clrScheme>
    <a:fontScheme name="Arduino Turquoise">
      <a:majorFont>
        <a:latin typeface="微软雅黑"/>
        <a:ea typeface="微软雅黑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微软雅黑"/>
        <a:ea typeface="微软雅黑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湖北工业大学 · 工业设计学院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2-1 PWM 与舵机控制：PWM 调光、RGB 呼吸灯、电位器调节舵机、摇杆模块</dc:title>
  <dc:subject>Arduino 编程</dc:subject>
  <dc:creator>湖北工业大学 · 工业设计学院</dc:creator>
  <cp:lastModifiedBy>湖北工业大学 · 工业设计学院</cp:lastModifiedBy>
  <cp:revision>1</cp:revision>
  <dcterms:created xsi:type="dcterms:W3CDTF">2026-10-14T14:26:25Z</dcterms:created>
  <dcterms:modified xsi:type="dcterms:W3CDTF">2026-10-14T14:26:25Z</dcterms:modified>
</cp:coreProperties>
</file>