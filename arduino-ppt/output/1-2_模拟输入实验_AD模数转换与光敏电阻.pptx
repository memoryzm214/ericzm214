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b3dfb110-2e71-b4c8-383c-5ab53e4c6eef}">
          <p14:sldIdLst>
            <p14:sldId id="257"/>
            <p14:sldId id="258"/>
          </p14:sldIdLst>
        </p14:section>
        <p14:section name="实验一　AD 模数转换" id="{6f5cb44e-db62-8127-02c4-c335b03dea0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实验二　光敏电阻" id="{2932f2d9-faeb-3a7b-a561-672c14079dc4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小结" id="{a33e307f-5dc7-d353-f04d-5eb18600e69e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这节课做两个“模拟输入”实验：先用电位器认识 AD 模数转换，再用光敏电阻感知环境亮度。开场可以问学生：路灯怎么知道天黑了该亮？由此引出“传感器 + 模拟输入”。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先给学生一张地图：两个实验用的是同一个套路——把变化变成电压，再读成数字。实验一的重点是 analogRead 和换算公式，实验二在此基础上加入 analogWrite 输出。下方三条是本节的学习目标，下课前回来对照一遍。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用电灯开关和调光旋钮做对比：开关只有两档，旋钮可以停在任何位置。ADC 就像给连续的电压配一把尺子，UNO 的尺子有 1024 格，所以读数是 0～1023。右图为了看清只画了 8 级，提醒学生实际台阶细得多。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实验一分四步：先理解电位器和换算公式，再接线、读代码、看串口结果。提醒学生准备好 10k 电位器、LED 和 220Ω 电阻，先不要急着接线。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原指南的介绍比较拗口，这里只抓三点：模拟量要先由传感器变成电压；A/D 是模拟变数字，D/A 正好相反；UNO 的 A/D 是 10 位，所以有 1024 级。A0～A5 也能当数字口用（编号 14～19），以后数字引脚不够时可以借用。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对照清单把元件逐一拿出来，特别认一下电位器的三个脚。LED 在这个实验里不是主角，它像一个“心跳灯”，告诉我们程序正在运行。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可以在黑板上画一条电阻：两头接 5V 和地，中间的滑片在上面滑动。滑片越靠近 5V，中间脚电压越高。讲右图前先让学生猜：旋钮转到正中间，读数大约是多少？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公式看着复杂，其实就是“读数占满格的几分之几，再乘 5V”。用串口截图里的 399 现场算一遍：399 ÷ 1023 × 5 ≈ 1.95，和截图完全对上。下面四步就是程序的骨架，后面看代码时会一一对应。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先断电再接线。红线 5V、黑线 GND、黄线 A0 是电位器的三根线；蓝线从 13 号脚到 LED，LED 另一脚经 220Ω 电阻回到 GND。提醒学生 LED 长脚是正极，接反了不会亮。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analogRead 就像量尺：只能用在 A0～A5，返回 0～1023 的整数。重点讲整数除法的坑：两个整数相除只保留整数部分，399 / 1023 等于 0，哪怕结果再存进 float 也晚了。加上 (float) 先把读数变成小数，除出来才是 0.39；程序里写的 ( ( float )value )/1023 是同一个意思。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串口监视器就是 Arduino 和电脑“聊天”的窗口，记得波特率选 9600。print 和 println 的区别只在于说完换不换行；\n 是藏在文字里的换行符。对照右边：第 17、18 行拼成第一行，第 19 行开头的 \n 把这一行结束，再打出 voltage = 并换行，第 20 行打出电压。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12 行都是准备工作：起名字、准备盒子、设置引脚和串口。注释里写 115200，但代码是 9600，以代码为准；串口监视器右下角也要选 9600，否则会看到乱码。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一轮做这几件事：亮灯、读数、换算、打印、灭灯、等待。第 15、16 行就是上一页的换算公式。原指南第 3 页把最后的大括号印到了 delay(1000) 前面，照抄会编译报错，这里已经改正——遇到报错先数一数括号是否成对。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上传后打开串口监视器，波特率选 9600。让学生慢慢转旋钮，观察读数从 0 变到 1023、电压从 0 变到 5V。不动旋钮时 398、399 来回跳是正常的测量误差。这种“读模拟值再换算”的方法，以后读大多数传感器都会用到。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每组挑一两个改动做，改完上传再看效果。第 4 题答案：3.3 ÷ 5 × 1023 ≈ 675，旋到头读数约 675。也可以鼓励学生自己发明改法，比如读数大于 512 时才点亮 LED。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实验二把电位器换成光敏电阻：原来是手转旋钮，现在是光线来“转旋钮”。同时多了一个输出——用读数控制 RGB 模块红灯的亮度。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光敏电阻的核心一句话：光越强，电阻越小。亮电阻不到 1kΩ、暗电阻约 1.5MΩ，相差上千倍，所以非常灵敏。可以让学生想想生活中的光控路灯、小夜灯是怎么“知道”天黑的。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强调这是一条因果链：光线 → 电阻 → 电压 → 读数 → 亮度。第 3 步是关键：模块里光敏电阻和一个固定电阻串联分压，和实验一的电位器是同一个道理。注意清单写的是 LED 模块，接线图实际用的是 RGB LED 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光敏模块三根线：S 接 A0、G 接 GND、V 接 5V；RGB 模块只接 R 和 GND 两根。提醒学生 R 接的是 11 号——板上 11 旁边有 ~ 号，表示它能输出 PWM，下一页就讲。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数字引脚本身只能输出 0V 或 5V，PWM 用“快速开关”模拟出中间的亮度。用右边的波形说明：开着的时间占 25%，灯看起来就大约是 25% 的亮度。只有带 ~ 的引脚能用 analogWrite，UNO 上是 3、5、6、9、10、11；11 号脚每秒开关约 490 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先说明来源：原指南这一节的程序是空白的，这里用同套件教程第 2.20 讲的程序，接线完全一致。前 10 行和实验一几乎一样，可以让学生自己找不同：LED 换到了 11 号脚。注意 voltage 这里存的是 0～1 的比例，并不是电压。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行和实验一相同，先求出 0～1 的比例；第 15 行乘 256 再用 (int) 去掉小数，得到亮度值。第 16、17 行一边打印、一边输出到红灯。第 15 行藏着一个越界的小坑，留到后面专门讲。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监视器（9600），按表格顺序做三次：正常光线、用手盖住、用手机手电筒照，每次把串口数值和红灯亮度填进表里。数值是变大还是变小取决于模块内部电路，原指南没有写，让学生自己测出来、再和同桌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(int) 是直接截断，不是四舍五入。表格前三行都正常，只有读数正好 1023 时算出 256，超出 analogWrite 的范围，灯会突然几乎熄灭，而不是最亮。修复方法：用 map(value, 0, 1023, 0, 255)，或者把 256 改成 255。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用四个方块回顾：读进来 0～1023、换算成电压、输出去 0～255、用 map 换算范围。下一节 1-3 是数字输出（LED 流水灯、蜂鸣器），会继续用到 digitalWrite 和 delay。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课后小任务：用电位器控制 LED 亮度——把 LED 改接到带 ~ 的 11 号脚，把读数换算成 0～255 送进 analogWrite。下节课开头请两三位同学展示。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模拟输入实验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模拟输入实验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1-2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模拟输入实验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 · 光敏电阻模块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两个实验，同一个套路：把“连续变化”的量变成电压，再让 Arduino 读成数字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556309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5272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25272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转动电位器旋钮，Arduino 读出 0～1023 的数字，再换算成电压，显示在电脑上。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" y="2697480"/>
            <a:ext cx="11978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" y="2697480"/>
            <a:ext cx="11978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883664" y="2697480"/>
            <a:ext cx="6377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883664" y="2697480"/>
            <a:ext cx="6377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594610" y="2697480"/>
            <a:ext cx="79781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94610" y="2697480"/>
            <a:ext cx="7978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(float)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" y="3023997"/>
            <a:ext cx="135788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2648" y="3023997"/>
            <a:ext cx="135788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043684" y="3023997"/>
            <a:ext cx="151790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043684" y="3023997"/>
            <a:ext cx="151790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09160" y="123444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1032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556309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55040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555040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491032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用光敏电阻感受环境亮度，再用读到的数去控制 RGB 灯里红灯的亮度。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910328" y="2697480"/>
            <a:ext cx="11978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910328" y="2697480"/>
            <a:ext cx="11978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181344" y="2697480"/>
            <a:ext cx="12778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81344" y="2697480"/>
            <a:ext cx="12778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532370" y="2697480"/>
            <a:ext cx="4777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532370" y="2697480"/>
            <a:ext cx="4777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910328" y="3023997"/>
            <a:ext cx="6377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910328" y="3023997"/>
            <a:ext cx="6377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621274" y="3023997"/>
            <a:ext cx="6377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621274" y="3023997"/>
            <a:ext cx="6377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41148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学完这节课，你能：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41148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3949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00" y="4175516"/>
            <a:ext cx="171176" cy="171176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78408" y="3950208"/>
            <a:ext cx="1914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分清模拟信号与数字信号</a:t>
            </a:r>
            <a:endParaRPr lang="en-US" sz="1250" dirty="0"/>
          </a:p>
        </p:txBody>
      </p:sp>
      <p:sp>
        <p:nvSpPr>
          <p:cNvPr id="43" name="Shape 37"/>
          <p:cNvSpPr/>
          <p:nvPr/>
        </p:nvSpPr>
        <p:spPr>
          <a:xfrm>
            <a:off x="327660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40461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620" y="4175516"/>
            <a:ext cx="171176" cy="171176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3843528" y="3950208"/>
            <a:ext cx="1914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analogRead()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读出传感器的数值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614172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26973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740" y="4175516"/>
            <a:ext cx="171176" cy="171176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6708648" y="3950208"/>
            <a:ext cx="1914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analogWrite()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调节灯的亮度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先懂一个概念：数字信号与模拟信号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数字信号只有开 / 关两种状态；模拟信号连续变化——ADC 负责把它切成 1024 级台阶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数字信号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只有两种状态：开和关，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也就是 HIGH 和 LOW。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就像电灯开关，非亮即灭。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063240" y="244144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32918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91840" y="189280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204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20440" y="244144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3749040" y="1892808"/>
            <a:ext cx="91" cy="54864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49040" y="1892808"/>
            <a:ext cx="22860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63240" y="2496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跳变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044952"/>
            <a:ext cx="374904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3209544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301716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06424" y="3209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模拟信号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370332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可以连续变化：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0～5V 之间任何值都行。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就像调光旋钮、水龙头。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 flipV="1">
            <a:off x="3063240" y="3898009"/>
            <a:ext cx="28575" cy="7963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flipV="1">
            <a:off x="3091815" y="3825236"/>
            <a:ext cx="28575" cy="72773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flipV="1">
            <a:off x="3120390" y="3765588"/>
            <a:ext cx="28575" cy="59648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V="1">
            <a:off x="3148965" y="3724201"/>
            <a:ext cx="28575" cy="4138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 flipV="1">
            <a:off x="3177540" y="3704641"/>
            <a:ext cx="28575" cy="195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206115" y="3704641"/>
            <a:ext cx="28575" cy="395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34690" y="3708591"/>
            <a:ext cx="28575" cy="2712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263265" y="3735711"/>
            <a:ext cx="28575" cy="4795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91840" y="3783666"/>
            <a:ext cx="28575" cy="646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320415" y="3848326"/>
            <a:ext cx="28575" cy="7579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348990" y="3924123"/>
            <a:ext cx="28575" cy="8040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377565" y="4004528"/>
            <a:ext cx="28575" cy="7809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406140" y="4082618"/>
            <a:ext cx="28575" cy="6904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434715" y="4151667"/>
            <a:ext cx="28575" cy="5406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463290" y="4205729"/>
            <a:ext cx="28575" cy="3441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491865" y="4240148"/>
            <a:ext cx="28575" cy="1181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 flipV="1">
            <a:off x="3520440" y="4240148"/>
            <a:ext cx="28575" cy="1181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 flipV="1">
            <a:off x="3549015" y="4205729"/>
            <a:ext cx="28575" cy="3441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 flipV="1">
            <a:off x="3577590" y="4151667"/>
            <a:ext cx="28575" cy="54062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 flipV="1">
            <a:off x="3606165" y="4082618"/>
            <a:ext cx="28575" cy="69049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 flipV="1">
            <a:off x="3634740" y="4004528"/>
            <a:ext cx="28575" cy="7809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 flipV="1">
            <a:off x="3663315" y="3924123"/>
            <a:ext cx="28575" cy="8040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 flipV="1">
            <a:off x="3691890" y="3848326"/>
            <a:ext cx="28575" cy="7579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 flipV="1">
            <a:off x="3720465" y="3783666"/>
            <a:ext cx="28575" cy="646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 flipV="1">
            <a:off x="3749040" y="3735711"/>
            <a:ext cx="28575" cy="47955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 flipV="1">
            <a:off x="3777615" y="3708591"/>
            <a:ext cx="28575" cy="2712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 flipV="1">
            <a:off x="3806190" y="3704641"/>
            <a:ext cx="28575" cy="395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834765" y="3704641"/>
            <a:ext cx="28575" cy="195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863340" y="3724201"/>
            <a:ext cx="28575" cy="41386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891915" y="3765588"/>
            <a:ext cx="28575" cy="59648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920490" y="3825236"/>
            <a:ext cx="28575" cy="72773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949065" y="3898009"/>
            <a:ext cx="28575" cy="7963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306324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4434840" y="1234440"/>
            <a:ext cx="42976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4636008" y="136245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ADC：把连续电压切成 1024 级台阶</a:t>
            </a:r>
            <a:endParaRPr lang="en-US" sz="1400" dirty="0"/>
          </a:p>
        </p:txBody>
      </p:sp>
      <p:sp>
        <p:nvSpPr>
          <p:cNvPr id="59" name="Shape 54"/>
          <p:cNvSpPr/>
          <p:nvPr/>
        </p:nvSpPr>
        <p:spPr>
          <a:xfrm>
            <a:off x="5148072" y="3310128"/>
            <a:ext cx="2240280" cy="91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60" name="Shape 55"/>
          <p:cNvSpPr/>
          <p:nvPr/>
        </p:nvSpPr>
        <p:spPr>
          <a:xfrm flipV="1">
            <a:off x="5148072" y="1691640"/>
            <a:ext cx="91" cy="161848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 flipV="1">
            <a:off x="5148072" y="1892808"/>
            <a:ext cx="2011680" cy="1417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62" name="Shape 57"/>
          <p:cNvSpPr/>
          <p:nvPr/>
        </p:nvSpPr>
        <p:spPr>
          <a:xfrm>
            <a:off x="5148072" y="3310128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 flipV="1">
            <a:off x="5399532" y="3107654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399532" y="3107654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 flipV="1">
            <a:off x="5650992" y="2905179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650992" y="2905179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 flipV="1">
            <a:off x="5902452" y="2702705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5902452" y="2702705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 flipV="1">
            <a:off x="6153912" y="2500231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153912" y="2500231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 flipV="1">
            <a:off x="6405372" y="2297757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405372" y="2297757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 flipV="1">
            <a:off x="6656832" y="2095282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656832" y="2095282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 flipV="1">
            <a:off x="6908292" y="1892808"/>
            <a:ext cx="91" cy="202474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908292" y="1892808"/>
            <a:ext cx="2514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4965192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5925312" y="3355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2.5V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6976872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4690872" y="3209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4636008" y="17922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1023</a:t>
            </a:r>
            <a:endParaRPr lang="en-US" sz="1000" dirty="0"/>
          </a:p>
        </p:txBody>
      </p:sp>
      <p:sp>
        <p:nvSpPr>
          <p:cNvPr id="82" name="Shape 77"/>
          <p:cNvSpPr/>
          <p:nvPr/>
        </p:nvSpPr>
        <p:spPr>
          <a:xfrm>
            <a:off x="7571232" y="2011680"/>
            <a:ext cx="365760" cy="91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7571232" y="21031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一级一级跳</a:t>
            </a:r>
            <a:endParaRPr lang="en-US" sz="1050" dirty="0"/>
          </a:p>
        </p:txBody>
      </p:sp>
      <p:sp>
        <p:nvSpPr>
          <p:cNvPr id="84" name="Shape 79"/>
          <p:cNvSpPr/>
          <p:nvPr/>
        </p:nvSpPr>
        <p:spPr>
          <a:xfrm>
            <a:off x="7571232" y="2697480"/>
            <a:ext cx="365760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</a:ln>
        </p:spPr>
      </p:sp>
      <p:sp>
        <p:nvSpPr>
          <p:cNvPr id="85" name="Text 80"/>
          <p:cNvSpPr txBox="1"/>
          <p:nvPr/>
        </p:nvSpPr>
        <p:spPr>
          <a:xfrm>
            <a:off x="7571232" y="27889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连续变化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4636008" y="35661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示意图只画了 8 级，UNO 实际有 1024 级，台阶细得多</a:t>
            </a:r>
            <a:endParaRPr lang="en-US" sz="1000" dirty="0"/>
          </a:p>
        </p:txBody>
      </p:sp>
      <p:sp>
        <p:nvSpPr>
          <p:cNvPr id="87" name="Shape 82"/>
          <p:cNvSpPr/>
          <p:nvPr/>
        </p:nvSpPr>
        <p:spPr>
          <a:xfrm>
            <a:off x="4617720" y="384048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4727448" y="396392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841" y="4047317"/>
            <a:ext cx="180685" cy="180685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5202936" y="384048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像一把刻了 1024 格的尺子：analogRead() 读出电压落在第几格，每格约 4.9 mV。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 模数转换实验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转动电位器旋钮，让 Arduino 读出 0～1023 的数字，再换算成真实电压，显示在电脑屏幕上。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电位器分压 · 换算公式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电位器中间脚 → A0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· (float)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串口监视器看数字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实验介绍：A/D 转换是什么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 转换就是把模拟信号变成数字信号——Arduino 正是靠它“读懂”各种传感器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模拟量到处都是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温度、光线、声音、压力……都在连续变化。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传感器先把它们变成电压，再交给 Arduino。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237105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 与 D/A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48001"/>
            <a:ext cx="361188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只认数字，要用 A/D 转换器把电压变成数字，叫模数转换；反过来，把数字变回电压叫 D/A，即数模转换。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466783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位 = 1024 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777679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的 A/D 是 10 位，读数范围 0～1023。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位数越多，刻度越细。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38074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模数转换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 → 数字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本节的主角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138074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D/A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数模转换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→ 模拟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正好是 A/D 反过来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304952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个模拟输入口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也能当数字口用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 14～19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20840" y="3049524"/>
            <a:ext cx="18288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会转的“分压旋钮”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本实验的信号来源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组件清单与实验目的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 UNO、一个电位器、一颗 LED，就能把“旋钮转了多少”变成屏幕上的数字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17099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793321"/>
            <a:ext cx="180685" cy="18068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160020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926080" y="160020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35808" y="17099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201" y="1793321"/>
            <a:ext cx="180685" cy="180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2152" y="160020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11480" y="233172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" y="24414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2524841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87552" y="233172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926080" y="233172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035808" y="244144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201" y="2524841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02152" y="233172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 电位器 ×1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11480" y="306324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21208" y="317296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3256361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7552" y="306324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×1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2926080" y="306324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035808" y="317296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201" y="3256361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502152" y="306324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220Ω 电阻 ×1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11480" y="379476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21208" y="39044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01" y="3987881"/>
            <a:ext cx="180685" cy="18068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87552" y="379476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5486400" y="1234440"/>
            <a:ext cx="3246120" cy="1536192"/>
          </a:xfrm>
          <a:prstGeom prst="roundRect">
            <a:avLst>
              <a:gd name="adj" fmla="val 714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6327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1708" y="1459748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089904" y="13716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6089904" y="1682496"/>
            <a:ext cx="2496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把电位器旋钮的位置变成 Arduino 能读的数值（0～1023），再换算成电压，显示在电脑屏幕上。这是以后读各种传感器的基本功。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5486400" y="3044952"/>
            <a:ext cx="324612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5632704" y="319125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1708" y="3270260"/>
            <a:ext cx="171176" cy="17117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089904" y="318211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起什么作用？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6089904" y="3493008"/>
            <a:ext cx="2496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程序让 13 号脚的 LED 亮 1 秒、灭 1 秒。看到它在闪，就说明程序正在一遍遍运行。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实验原理①：电位器是一个“分压旋钮”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两端接 5V 和 GND，中间脚的电压随旋钮在 0～5V 之间变化，A0 读的就是它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5272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123444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电位器有 3 个脚：两端之间是一整条电阻，中间脚连着一个能滑动的“滑片”。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09397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0392" y="207568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两端接 5V 和 GND 后，沿着电阻条从 GND 一端到 5V 一端，电压由 0V 逐渐升到 5V。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935224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2916936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转动旋钮就是移动滑片：滑片停在哪，中间脚就输出那里的电压，接到 A0 上去读。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94760"/>
            <a:ext cx="3063240" cy="777240"/>
          </a:xfrm>
          <a:prstGeom prst="roundRect">
            <a:avLst>
              <a:gd name="adj" fmla="val 141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" y="39410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020068"/>
            <a:ext cx="171176" cy="171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14984" y="39319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记住：离 5V 越近 → 电压越高 → 读数越大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74904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3250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03250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97764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7764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3308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69664" y="3191256"/>
            <a:ext cx="164592" cy="36576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H="1">
            <a:off x="4416552" y="3191256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4846320" y="30723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88620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 GND 一端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88620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0 V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88620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0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76986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76986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71500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71500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87044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907024" y="2500884"/>
            <a:ext cx="164592" cy="72694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 flipH="1">
            <a:off x="6153912" y="2500884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9" name="Text 35"/>
          <p:cNvSpPr txBox="1"/>
          <p:nvPr/>
        </p:nvSpPr>
        <p:spPr>
          <a:xfrm>
            <a:off x="6583680" y="23820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62356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旋到正中间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62356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2.5 V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562356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512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7223760" y="1234440"/>
            <a:ext cx="1508760" cy="33375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507224" y="1389888"/>
            <a:ext cx="438912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507224" y="13898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45236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5236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607808" y="1737360"/>
            <a:ext cx="237744" cy="152704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644384" y="1810512"/>
            <a:ext cx="164592" cy="1417320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 flipH="1">
            <a:off x="7891272" y="1810512"/>
            <a:ext cx="42976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51" name="Text 47"/>
          <p:cNvSpPr txBox="1"/>
          <p:nvPr/>
        </p:nvSpPr>
        <p:spPr>
          <a:xfrm>
            <a:off x="8321040" y="1691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736092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 5V 一端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7360920" y="40507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≈ 5 V</a:t>
            </a:r>
            <a:endParaRPr lang="en-US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7360920" y="42702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≈ 1023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实验原理②：读数怎么换算成电压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读到 0～1023 的数；除以 1023 再乘 5V，就是引脚上的真实电压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36268"/>
            <a:ext cx="6583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</a:t>
            </a:r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89304" y="1452880"/>
            <a:ext cx="11562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289304" y="1801368"/>
            <a:ext cx="1156208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9304" y="1819656"/>
            <a:ext cx="11562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3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− 1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482088" y="1636268"/>
            <a:ext cx="82092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V</a:t>
            </a:r>
            <a:pPr algn="ctr" indent="0" marL="0">
              <a:lnSpc>
                <a:spcPct val="115000"/>
              </a:lnSpc>
              <a:buNone/>
            </a:pPr>
            <a:r>
              <a:rPr lang="en-US" sz="20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也就是：电压 = 读数 ÷ 1023 × 5V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：实际电压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09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Value：读数 0～1023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3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− 1 = 1023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pPr algn="l" indent="0" marL="0">
              <a:lnSpc>
                <a:spcPct val="115000"/>
              </a:lnSpc>
              <a:buNone/>
            </a:pPr>
            <a:r>
              <a:rPr lang="en-US" sz="1200" baseline="-40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：参考电压 5V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80760" y="12344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举个例子：读数 399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399 ÷ 1023 × 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0208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1.95 V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459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和串口截图里的 1.95 对上了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旋钮分出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0～5V 的电压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30657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57175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18054" y="3209544"/>
            <a:ext cx="347472" cy="34747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1805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71805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71805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把电压变成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0～1023 的读数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46684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73202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7832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7832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87832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87832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÷ 1023 × 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得到电压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627114" y="3817620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892290" y="3063240"/>
            <a:ext cx="184023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38594" y="32095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03859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038594" y="3648456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038594" y="3977640"/>
            <a:ext cx="1547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把读数和电压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发到电脑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接线：电位器接 A0，LED 接 13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电位器两端接 5V 和 GND，中间脚接 A0；LED 和 220Ω 电阻串联，接在 13 号脚与 GND 之间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663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红线 5V · 黄线 A0 · 黑线 GND · 蓝线 13 号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40" y="1344168"/>
            <a:ext cx="3914520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原指南接线图：红线 5V · 黄线 A0 · 黑线 GND · 蓝线 13 号脚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234440"/>
          <a:ext cx="3383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10K 电位器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中间引脚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另一端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606040"/>
          <a:ext cx="3383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LED（串 220Ω 电阻）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正极（长脚）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220Ω 电阻 → LED 负极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349240" y="37033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49554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548" y="3928628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952744" y="384048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电位器两端的 5V、GND 对调也能用，只是读数随旋钮变化的方向会反过来。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新语法①：analogRead() 和 (float)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 负责“量电压”；(float) 让除法保留小数，否则 399 / 1023 会得到 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analogRead(引脚)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像拿尺子量一下：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读出引脚电压落在 0～1023 的第几格。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32304"/>
            <a:ext cx="3657600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" y="2505456"/>
            <a:ext cx="340156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~ 1023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80944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能读到什么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digitalRead()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只有 0 或 1（开 / 关）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0～1023 之间的整数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594360" y="4005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 A0～A5 能用 analogRead()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9204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212" y="1482060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04104" y="138988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float 与 (float)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89204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 只装整数，float 能装小数。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能让整数临时变成小数。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892040" y="2395728"/>
            <a:ext cx="36576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01768" y="2505456"/>
            <a:ext cx="274320" cy="2743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605" y="2571293"/>
            <a:ext cx="142646" cy="14264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94960" y="248716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 value / 1023;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394960" y="2788920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399 / 1023 → 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两个整数相除，小数部分被直接扔掉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92040" y="3511296"/>
            <a:ext cx="3657600" cy="896112"/>
          </a:xfrm>
          <a:prstGeom prst="roundRect">
            <a:avLst>
              <a:gd name="adj" fmla="val 1224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001768" y="362102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605" y="3686861"/>
            <a:ext cx="142646" cy="14264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36027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 ((float)value)/1023;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394960" y="390448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399.0 / 1023 → 0.39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先变成小数再除，结果才对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新语法②：Serial.print() 和 println()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和电脑聊天的窗口：print 说完不换行，println 说完换行，"\n" 表示在这里换行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44168"/>
            <a:ext cx="145846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44168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Serial.print(x)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76072" y="165506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x 发到电脑，说完不换行；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下一次接着写在同一行。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4231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2532888"/>
            <a:ext cx="162610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" y="2532888"/>
            <a:ext cx="1626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Serial.println(x)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" y="284378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发完 x 再换行（ln = line）；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下一次从新的一行开始。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" y="3721608"/>
            <a:ext cx="53644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" y="3721608"/>
            <a:ext cx="536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" y="403250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藏在文字里的“换行符”。第 19 行开头的 \n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先结束读数那行，“voltage =”另起一行。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123444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71416" y="129844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099048" y="12984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17–20 行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3484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787936" y="1545336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ad pin value 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787936" y="1743964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//printf Analog pin value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787936" y="1942592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89120" y="2141220"/>
            <a:ext cx="42976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3484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787936" y="2141220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"\nvoltage =  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43484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787936" y="2339848"/>
            <a:ext cx="38165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537960" y="2743200"/>
            <a:ext cx="91" cy="219456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667512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串口里看到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343400" y="3017520"/>
            <a:ext cx="4389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61688" y="3035808"/>
            <a:ext cx="435254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71416" y="3054096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305409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489704" y="3438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ad pin value 399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489704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489704" y="40965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1.95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343814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17、18 行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3767328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19 行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4096512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第 20 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先准备四个“盒子”（变量），再在 setup() 里把引脚和串口设置好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1–12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141220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14122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ADPIN input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LEDPIN output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313436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3332988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//Serial Baud rate is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3531616"/>
            <a:ext cx="47548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56016" y="3730244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928872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4127500"/>
            <a:ext cx="42737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53212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53212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346952" y="1591056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起名字：ADPIN 就是 A0，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LEDPIN 就是 13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532120" y="210921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32120" y="210921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346952" y="2100072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两个盒子：value 装整数读数；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装带小数的电压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532120" y="272669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532120" y="272669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46952" y="2717546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设为输入（读电压）；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设为输出（点亮 LED）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532120" y="332257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32120" y="332257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202172" y="3313430"/>
            <a:ext cx="253034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 115200 是笔误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532120" y="391845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532120" y="391845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279388" y="3909314"/>
            <a:ext cx="2453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里的内容会反复执行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代码逐行看懂（2/2）：读数、换算、打印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每一轮：亮灯 → 读 A0 → 换算成电压 → 打印 → 灭灯，每 2 秒重复一次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66344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ad_convert.ino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76856" y="129844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13–24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light on led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5328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73532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analog pin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25320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115312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2254" y="211531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(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30530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30530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analog raw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495296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49529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to real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68528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ad pin value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//printf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287528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 pin value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42254" y="306527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25526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25526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"\nvoltage = 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445256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635248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3825240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//turn off led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015232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205224"/>
            <a:ext cx="45720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842254" y="4205224"/>
            <a:ext cx="41046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3492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349240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349240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18504" y="1591056"/>
            <a:ext cx="24140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先点亮 LED，再读 A0：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 → 0，5V → 1023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349240" y="210921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349240" y="21092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15–16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18504" y="2100072"/>
            <a:ext cx="241401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先变小数，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 ÷1023 得到 0～1 的比例，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5 就是电压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349240" y="280873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349240" y="28087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17–20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318504" y="2799588"/>
            <a:ext cx="24140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3 行：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读数、“voltage =”、电压值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349240" y="362051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349240" y="36205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21–24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318504" y="3611372"/>
            <a:ext cx="241401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 1 秒 → 灭灯 → 再等 1 秒。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原指南把第 24 行的 } 印早了一行（会报错），这里已放回最后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实验结果：转动旋钮，数字跟着变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串口监视器（9600 波特率）每 2 秒打印一组：读数、提示文字、电压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011394" cy="2368296"/>
          </a:xfrm>
          <a:prstGeom prst="roundRect">
            <a:avLst>
              <a:gd name="adj" fmla="val 46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实物连接（原指南照片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44168"/>
            <a:ext cx="2791938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55264"/>
            <a:ext cx="2791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实物连接（原指南照片）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97194" y="1234440"/>
            <a:ext cx="2519072" cy="2368296"/>
          </a:xfrm>
          <a:prstGeom prst="roundRect">
            <a:avLst>
              <a:gd name="adj" fmla="val 46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0" name="Image 1" descr="串口监视器（原指南截图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22" y="1344168"/>
            <a:ext cx="2299616" cy="1874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06922" y="3255264"/>
            <a:ext cx="22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串口监视器（原指南截图）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490586" y="1234440"/>
            <a:ext cx="2241934" cy="3337560"/>
          </a:xfrm>
          <a:prstGeom prst="roundRect">
            <a:avLst>
              <a:gd name="adj" fmla="val 489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636890" y="1362456"/>
            <a:ext cx="1949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输出怎么读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00314" y="1746504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3466" y="1746504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ad pin value 399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636890" y="2039112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的读数是 399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00314" y="2350008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73466" y="2350008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636890" y="2642616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提示文字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600314" y="2953512"/>
            <a:ext cx="202247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73466" y="2953512"/>
            <a:ext cx="1876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1.95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636890" y="3246120"/>
            <a:ext cx="19493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1.95 V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600314" y="3611880"/>
            <a:ext cx="2022478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710042" y="3611880"/>
            <a:ext cx="18030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验算：399 ÷ 1023 × 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1.95，和屏幕一致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11480" y="3877056"/>
            <a:ext cx="5804786" cy="694944"/>
          </a:xfrm>
          <a:prstGeom prst="roundRect">
            <a:avLst>
              <a:gd name="adj" fmla="val 157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7784" y="4023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4102364"/>
            <a:ext cx="171176" cy="1711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14984" y="4014216"/>
            <a:ext cx="5054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转动电位器，读数和电压一起变；不动旋钮时，数字在 398、399 之间轻轻跳动，属于正常的小误差。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AD 模数转换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动手改一改：小改动，看变化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每次只改一处，上传后看串口有什么不同——改代码是读懂代码最快的办法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988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只看电压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" y="1819656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1892808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删掉 17–19 行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224028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串口只剩一列电压；打开“工具 → 串口绘图器”，还能看到随旋钮起伏的曲线。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38988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73752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94376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刷新快一点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73752" y="1819656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01768" y="1892808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两处 delay(1000) 都改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873752" y="224028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0.2 秒刷新一次，转旋钮时数字跟得更紧，LED 也闪得更快。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044952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" y="32004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换成百分比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76072" y="3630168"/>
            <a:ext cx="3694176" cy="327660"/>
          </a:xfrm>
          <a:prstGeom prst="roundRect">
            <a:avLst>
              <a:gd name="adj" fmla="val 2232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4088" y="3703320"/>
            <a:ext cx="3438144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76072" y="4050792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0～1023 按比例换成 0～100，再打印 percent，旋钮位置一看就懂。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044952"/>
            <a:ext cx="4023360" cy="1527048"/>
          </a:xfrm>
          <a:prstGeom prst="roundRect">
            <a:avLst>
              <a:gd name="adj" fmla="val 7186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73752" y="32004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367" y="3275015"/>
            <a:ext cx="161666" cy="16166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294376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873752" y="36118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把电位器接 5V 的那根线改接到 3.3V，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旋到头时，读数大约是多少？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4873752" y="412394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提示：用 3.3 ÷ 5 × 1023 算一算。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光敏电阻会随光线改变阻值。把它接到 A0 读出环境亮度，再用这个数控制 RGB 灯里红灯的亮度。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认识模块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光越强，电阻越小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→ A0，R → 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盖住它，看灯的变化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认识光敏电阻：光越强，电阻越小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光敏电阻对光线非常敏感，常用来检测周围环境的亮度，做光控灯、自动调光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一种会“看光”的电阻，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用硫化镉等半导体材料做成。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23710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为什么会变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48001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光一照，材料里能自由移动的电荷变多，电流更容易通过，电阻就变小（内光电效应）。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23977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变化有多大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550666"/>
            <a:ext cx="33832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强光下可小于 1 kΩ，完全无光时约 1.5 MΩ——相差上千倍，所以非常灵敏。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69080" y="123444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3" name="Image 0" descr="ldr_module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26826"/>
            <a:ext cx="4480560" cy="21012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6908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0624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1 kΩ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强光下的电阻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9976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3692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1.5 MΩ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83692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无光时的电阻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30440" y="3794760"/>
            <a:ext cx="14020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67600" y="3877056"/>
            <a:ext cx="112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V G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467600" y="4206240"/>
            <a:ext cx="112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 电源 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组件清单与实验原理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光线一变，电阻就变，A0 上的电压和读数跟着变，最后变成红灯的亮度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136245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" y="177393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1844162"/>
            <a:ext cx="152156" cy="1521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" y="17465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76072" y="216712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8" y="2237354"/>
            <a:ext cx="152156" cy="1521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8408" y="21396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76072" y="256032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2630546"/>
            <a:ext cx="152156" cy="1521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5328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76072" y="295351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8" y="3023738"/>
            <a:ext cx="152156" cy="1521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78408" y="2926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 ×1（模块）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76072" y="334670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8" y="3416930"/>
            <a:ext cx="152156" cy="1521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78408" y="3319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 ×1 *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76072" y="373989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98" y="3810122"/>
            <a:ext cx="152156" cy="15215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78408" y="3712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26" name="Text 17"/>
          <p:cNvSpPr txBox="1"/>
          <p:nvPr/>
        </p:nvSpPr>
        <p:spPr>
          <a:xfrm>
            <a:off x="576072" y="40873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接线图用的是 RGB LED 模块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（只接了红色 R）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3611880" y="1691640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3977640" y="1234440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142232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光线变化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566928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用手盖住它，或用手电筒照它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3611880" y="2386584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3429000" y="2020824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34290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3977640" y="1929384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142232" y="1929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电阻变化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669280" y="19293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光越强电阻越小，越暗电阻越大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3611880" y="3081528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429000" y="271576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4290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3977640" y="2624328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4142232" y="26243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电压变化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669280" y="2624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模块里光敏电阻和固定电阻串联分压，电阻一变，S 脚电压就变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3611880" y="3776472"/>
            <a:ext cx="91" cy="329184"/>
          </a:xfrm>
          <a:prstGeom prst="line">
            <a:avLst/>
          </a:prstGeom>
          <a:noFill/>
          <a:ln w="19050">
            <a:solidFill>
              <a:srgbClr val="E2E2E2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3429000" y="341071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342900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3977640" y="3319272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4142232" y="33192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0～1023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5669280" y="3319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analogRead(A0) 把电压读成数字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3429000" y="4105656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342900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3977640" y="4014216"/>
            <a:ext cx="475488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142232" y="4014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 0～255</a:t>
            </a:r>
            <a:endParaRPr lang="en-US" sz="1400" dirty="0"/>
          </a:p>
        </p:txBody>
      </p:sp>
      <p:sp>
        <p:nvSpPr>
          <p:cNvPr id="55" name="Text 46"/>
          <p:cNvSpPr txBox="1"/>
          <p:nvPr/>
        </p:nvSpPr>
        <p:spPr>
          <a:xfrm>
            <a:off x="5669280" y="40142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换算后用 analogWrite(11, 值) 点亮红灯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接线：光敏模块接 A0，RGB 模块红灯接 11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光敏电阻模块 S → A0、G → GND、V → 5V；RGB LED 模块 R → 11、GND →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上方是 RGB LED 模块，下方是光敏电阻模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250" y="1344168"/>
            <a:ext cx="3891101" cy="18836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64408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原指南接线图：上方是 RGB LED 模块，下方是光敏电阻模块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 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光敏电阻模块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806440" y="2377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= 信号　G = 地　V = 电源</a:t>
            </a:r>
            <a:endParaRPr lang="en-US" sz="10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78892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 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 LED 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411480" y="3886200"/>
            <a:ext cx="832104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14984" y="4023360"/>
            <a:ext cx="7571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注意：组件清单写的是“LED 模块”，接线图用的是 RGB LED 模块。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这里只接了 R（红色）一路，所以亮的是红灯。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新语法：analogWrite() 和 PWM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数字引脚只会开 / 关；PWM 让它飞快地开关，用“开着的时间占多少”来调节亮度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打个比方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飞快地开关灯：一秒开关几百次，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眼睛看不出闪烁，只觉得灯暗了一些。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开着的时间越长，看起来越亮。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834640"/>
            <a:ext cx="3566160" cy="344932"/>
          </a:xfrm>
          <a:prstGeom prst="roundRect">
            <a:avLst>
              <a:gd name="adj" fmla="val 2120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9496" y="2907792"/>
            <a:ext cx="33101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一半亮度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2900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值的范围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0～255（0 灭，255 最亮）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能用的引脚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5 6 9 10 11（带 ~ 的）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 号脚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每秒开关约 490 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343400" y="1234440"/>
            <a:ext cx="43891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26280" y="1362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同样是 5V，开着的时间比例不同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07992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0)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309360" y="2258568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836408" y="1965960"/>
            <a:ext cx="274320" cy="274320"/>
          </a:xfrm>
          <a:prstGeom prst="ellipse">
            <a:avLst/>
          </a:prstGeom>
          <a:solidFill>
            <a:srgbClr val="40E0D0">
              <a:alpha val="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56448" y="19659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07992" y="2624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64)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309360" y="2916936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093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522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951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38060" y="2587752"/>
            <a:ext cx="85725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836408" y="2624328"/>
            <a:ext cx="274320" cy="274320"/>
          </a:xfrm>
          <a:prstGeom prst="ellipse">
            <a:avLst/>
          </a:prstGeom>
          <a:solidFill>
            <a:srgbClr val="40E0D0">
              <a:alpha val="2500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56448" y="26243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507992" y="3282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128)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309360" y="3575304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3093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522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51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8060" y="3246120"/>
            <a:ext cx="17145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36408" y="3282696"/>
            <a:ext cx="274320" cy="274320"/>
          </a:xfrm>
          <a:prstGeom prst="ellipse">
            <a:avLst/>
          </a:prstGeom>
          <a:solidFill>
            <a:srgbClr val="40E0D0">
              <a:alpha val="50000"/>
            </a:srgbClr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156448" y="3282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4507992" y="3941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255)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309360" y="4233672"/>
            <a:ext cx="1371600" cy="91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093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6522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9951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38060" y="3904488"/>
            <a:ext cx="342900" cy="32918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836408" y="3941064"/>
            <a:ext cx="274320" cy="274320"/>
          </a:xfrm>
          <a:prstGeom prst="ellipse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156448" y="39410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代码逐行看懂（1/2）：和实验一几乎一样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变量和 setup() 与实验一基本相同，只是 LED 换到了能输出 PWM 的 11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light_sensor.ino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5328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73532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49529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68528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87528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306527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//Serial Baud rate is 115200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25526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38862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014984" y="402336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原指南这一节程序是空白的，这里的程序来自同套件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《Arduino 编程入门学习教程》第 2.20 讲，接线一致。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6235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6235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6438392" y="1591056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读光敏电阻；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换到带 ~ 的 11 号脚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623560" y="207264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623560" y="207264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6438392" y="2063496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 装读数；voltage 装的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0～1 的比例，不是电压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623560" y="267055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623560" y="267055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6438392" y="2661412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号设为输出，A0 设为输入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（顺序反过来也没关系）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623560" y="314299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623560" y="314299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6293612" y="3133852"/>
            <a:ext cx="24389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 9600；注释里的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115200 同样是笔误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代码逐行看懂（2/2）：读光线，调亮度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每秒一轮：读 A0 → 算出 0～1 的比例 → 换算成亮度值 → 打印 → 送到红灯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light_sensor.ino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11–19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2254" y="211531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(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305304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//convert voltage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495296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 value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875280"/>
            <a:ext cx="48463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43789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38862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" y="403250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111508"/>
            <a:ext cx="171176" cy="17117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014984" y="402336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读数满 1023 时，第 15 行会算出 256，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超出 analogWrite 的 0～255——后面专门讲怎么修。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623560" y="19105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623560" y="19105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6370828" y="1901444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读光敏电阻，得到 0～1023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623560" y="22031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23560" y="22031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6370828" y="2194052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先变小数再 ÷1023 → 0～1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5623560" y="249580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623560" y="249580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370828" y="2486660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256，(int) 去小数 → 亮度值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623560" y="278841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623560" y="278841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16–17 行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6592824" y="27792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打印亮度值，再送到红灯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623560" y="30810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623560" y="30810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52" name="Text 48"/>
          <p:cNvSpPr txBox="1"/>
          <p:nvPr/>
        </p:nvSpPr>
        <p:spPr>
          <a:xfrm>
            <a:off x="6370828" y="3071876"/>
            <a:ext cx="2361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1 秒，回到第 13 行再读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实验结果：盖住光敏电阻，红灯亮度跟着变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用手盖住或用灯照光敏电阻，红灯亮度明显改变，串口里的数值也跟着跳变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8862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实物：光敏模块和 RGB 模块接在 UNO 上，红灯亮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92177"/>
            <a:ext cx="3666744" cy="27477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666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实物：光敏模块和 RGB 模块接在 UNO 上，红灯亮起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0" y="123444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1830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30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75504" y="1371600"/>
            <a:ext cx="3410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原指南：“现在我们盖住光敏电阻，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我们将清楚地看到光的亮度变化。”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240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动手观察：测一测，填一填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587752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光线条件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串口数值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红灯亮度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正常光线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用手盖住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手电筒照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4572000" y="41239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226" y="4194170"/>
            <a:ext cx="152156" cy="1521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74336" y="4105656"/>
            <a:ext cx="37581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变大还是变小取决于模块电路，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原指南没写——自己测出来才算数。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光敏电阻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换算细节：(int) 和越界的 256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 直接去掉小数；读数满 1023 时会算出 256，超出 analogWrite 的 0～255，改用 map() 更稳妥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(int)：把小数砍掉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像量身高只记整厘米：172.9 cm 记作 172。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(int) 不四舍五入，直接扔掉小数部分。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87168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8686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读数 value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÷ 1023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× 256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(int) 结果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250.2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256.0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越界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9436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前三行都没问题，只有满量程 1023 这一格出界。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92040" y="12344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038344" y="13807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348" y="1459748"/>
            <a:ext cx="171176" cy="171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95544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小心：256 越界了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95544" y="168249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 只认 0～255。读数正好 1023 时算出 256，超出范围，灯会突然变得几乎不亮，而不是最亮。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92040" y="292608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038344" y="30723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48" y="3151388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95544" y="3063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更稳妥：用 map() 换算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038344" y="3493008"/>
            <a:ext cx="3547872" cy="336296"/>
          </a:xfrm>
          <a:prstGeom prst="roundRect">
            <a:avLst>
              <a:gd name="adj" fmla="val 2175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166360" y="3566160"/>
            <a:ext cx="329184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038344" y="39502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 把 0～1023 按比例换成 0～255，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最大正好是 255，不会越界。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模拟输入三步走：传感器把变化变成电压 → analogRead() 读成数字 → 换算后拿去用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两个实验，同一个套路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45336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电位器、光敏电阻都把变化变成 A0 电压，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再把电压读成 0～1023。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21881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记住两个范围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29713"/>
            <a:ext cx="3611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读进来 0～1023（10 位 A/D）；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输出去 0～255（PWM）。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20319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下一节预告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3514090"/>
            <a:ext cx="3611880" cy="22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 数字输出：LED 流水灯、蜂鸣器。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3960559"/>
            <a:ext cx="11978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3960559"/>
            <a:ext cx="11978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82496" y="3960559"/>
            <a:ext cx="12778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82496" y="3960559"/>
            <a:ext cx="12778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33522" y="3960559"/>
            <a:ext cx="79781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33522" y="3960559"/>
            <a:ext cx="7978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(float)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1480" y="4287076"/>
            <a:ext cx="6377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4287076"/>
            <a:ext cx="6377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22426" y="4287076"/>
            <a:ext cx="6377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22426" y="4287076"/>
            <a:ext cx="6377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833372" y="4287076"/>
            <a:ext cx="151790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33372" y="4287076"/>
            <a:ext cx="151790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138074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0～1023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A0～A5 的电压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读成数字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20840" y="138074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÷1023×5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1972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换算成电压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230124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(float) 再除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小数才不会丢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6280" y="304952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0～255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analogWrite()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 ~ 的引脚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PWM 调亮度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20840" y="3049524"/>
            <a:ext cx="18288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map()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6720840" y="36408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换算范围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3970020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0～1023 → 0～255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不会越界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旋一旋、盖一盖，让 Arduino 感知世界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模拟输入是很多传感器实验的起点——下一节：1-3 数字输出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1-2 模拟输入实验：AD 模数转换与光敏电阻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2026-10-12T09:47:11Z</dcterms:created>
  <dcterms:modified xsi:type="dcterms:W3CDTF">2026-10-12T09:47:11Z</dcterms:modified>
</cp:coreProperties>
</file>