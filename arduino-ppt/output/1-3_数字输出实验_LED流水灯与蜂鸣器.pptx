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入" id="{861cc580-8e84-8f3f-1ecc-67739bb0196c}">
          <p14:sldIdLst>
            <p14:sldId id="257"/>
          </p14:sldIdLst>
        </p14:section>
        <p14:section name="实验一　LED 流水灯" id="{113e3c34-f77d-2a0c-d88b-ef8b84c47ba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实验二　蜂鸣器" id="{e749a9b5-6fa3-b97d-af5c-287d1fc8b036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小结" id="{38cf69f4-0db8-a1cb-b91a-c6087816a9a5}">
          <p14:sldIdLst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这节课做两个“数字输出”实验：先让 8 盏 LED 像流水一样依次亮起，再让蜂鸣器发出声音。开场可以问学生：红绿灯、电梯提示音是怎么被控制的？引出“Arduino 用 HIGH / LOW 指挥外部元件”。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先给学生一张地图：上节课是“读进来”（模拟输入），这节课是“送出去”（数字输出）。两个实验都只用 digitalWrite()，区别在于开关的节奏：慢慢切换控制灯，飞快切换就成了声音。实验一顺带学三样新语法：数组、for 循环、自定义函数。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实验一分四步：先认识 LED 和限流电阻，再看原理图和接线，然后学新语法、逐行读代码，最后看效果。提醒学生准备 8 个 LED 和 8 个 1kΩ 电阻，先不要急着插线。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拿一颗 LED 让学生看两条腿：长的是正极，短的是负极。“单向导通”可以类比地铁的单向闸机：只能从一边进。原指南这里把两种颜色的材料印成了同一个名字（印刷错误），讲课时只讲结论：材料不同，颜色就不同。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公式不用死记，记住“电源电压减去 LED 吃掉的电压，剩下的由电阻承担”。现场算一遍：(5−2)÷0.015≈200Ω，取常见规格 220Ω。本套件用的是 1kΩ，电流只有约 3mA，灯稍暗但完全够看，接错也不容易烧。顺便提醒：LED 反向最多只能承受约 5V，不要反接到更高的电压上。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对照清单把元件拿出来：8 个 LED、8 个 1kΩ 电阻。可以问学生：为什么从 D2 开始而不是 D0？因为 D0、D1 是 Arduino 和电脑通信的串口，接了别的东西可能导致上传程序失败。右下的小图先让学生想象一下“流水”的样子。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这一页是整个实验的关键。很多同学以为 HIGH 才是亮，这里正好相反：LED 正极已经接在 5V 上，引脚拉到 LOW（0V）时两端有电压差，电流从 5V 经 LED、电阻流进引脚，灯就亮；引脚输出 HIGH 时两端都是 5V，没有电流，灯就灭。用“水往低处流”来类比。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先断电再接线。8 个 LED 方向要一致：长脚全部朝 5V 电源轨。每个短脚串一个电阻再接到数字口，电源轨用一根红线接到 UNO 的 5V。接完数一数：8 根信号线、1 根电源线。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右边是“慢动作回放”：每一行是 0.1 秒后的样子。上半部分是单灯跑：每次只有一盏亮；下半部分是逐个点亮：亮了就不关。原指南文字里写的是 500ms、从 D9 开始，但程序里 flash_speed = 100、数组从 2 号脚开始，讲的时候以程序为准。可以提问：间隔改成 1 毫秒会怎样？（太快了，眼睛看着像全都亮着）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数组就像学校的一排储物柜：柜子统一叫 led_array，每个柜子有编号，里面放着一个引脚号。最容易错的是编号从 0 开始，8 个柜子的编号是 0～7，没有 led_array[8]。for 循环像操场跑圈：起点、什么时候停、每圈之后做什么，三件事写在一对括号里，用分号隔开。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函数就是菜谱：定义的时候写清楚步骤，调用的时候只要喊菜名。void 在英语里是“空”，表示做完不交回任何结果；括号里的 void 表示不需要额外材料。setup() 和 loop() 其实也是函数，只不过是 Arduino 规定好名字、自动调用的。让学生体会：loop() 里三行就读懂了整个流水灯的流程。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行一次装下 8 个引脚号，后面就能用 led_array[i] 按编号取。第 10～12 行是流水灯的核心：拉低让这盏亮，等 0.1 秒，再拉高让它灭，然后 for 循环换到下一盏。再强调一次：这里 LOW 才是亮。第 4 行注释里的 form 是 from 的笔误，不影响程序。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让学生先找不同：两个函数只有高亮的那一行不一样。和上一页的 led_flash() 比，led_turn_on() 少了“拉高熄灭”这一步，所以灯亮了就不再灭，越来越多。led_turn_off() 反过来，一盏一盏关掉。每个函数都要 8 × 0.1 = 0.8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setup() 像上课前摆好桌椅，只做一次：把 8 个引脚设成输出，并先输出 HIGH 让灯全灭。Serial.begin(115200) 打开了串口，loop() 每轮会发一句 start flash led !，要看的话串口监视器选 115200。loop() 里三行函数调用就是整个流水灯的流程，读起来像说话——这就是自定义函数的好处。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先别揭晓答案，让学生根据代码推一推：第一轮结束时灯是什么状态？（全亮）第二轮 led_flash() 把每盏灯“拉低再拉高”，原本亮着的灯就被逐个关掉了，看起来不再是单灯跑。led_turn_off() 执行时灯已经全灭，所以只是停顿 0.8 秒。把 loop() 的顺序换一下，每轮就都能看到单灯跑了。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原指南的结果照片里用了黄、红两种颜色的 LED，效果更好看。原指南最后半开玩笑地建议“做一个心形流水灯”，可以作为课后小挑战：同样的 8 个引脚，换一种摆法就是新作品——这正是工业设计同学的强项。右边三个小改动建议当堂试，每次只改一处。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实验二换成“声音”。先认清两种蜂鸣器的区别，接线只有三根线，两种蜂鸣器接法一样。重点是理解：声音就是很快的开关，开关越快音调越高。教室里同时响会很吵，可以让各组轮流测试。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有源”“无源”最容易被误解成有没有电源，其实指的是有没有内部振荡器。有源蜂鸣器像带节拍器的音乐盒，一通电就按固定音调响；无源蜂鸣器像一面鼓，要有人按节奏敲它才响，敲得快慢不同，音调就不同。两种模块都有三根针：信号、电源、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只有三根线：红线 5V 接 V，黑线 GND 接 G，黄线 9 号脚接 S。原指南表格里写的 VCC 就是 UNO 上的 5V。无源模块上印的是 VCC、I/O、GND，对应关系一样。对照下面的组件清单检查一遍再通电。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这段程序和最早的 Blink 闪灯几乎一模一样，只是把灯换成了蜂鸣器。有源蜂鸣器里有振荡器，所以给 HIGH 就能响。第 1 行用变量 buzzer 代替数字 9，以后换引脚只改这一处。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上传后能听到“滴——滴——”，每声 1 秒。照片里模块上的红灯是电源指示灯。让学生思考：既然音调固定，有源蜂鸣器适合做什么？（报警、提示音、倒计时）想要旋律，就得用无源蜂鸣器。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无源蜂鸣器里有一片薄膜，每给一次高电平就被吸一下，变低又弹回，一开一关就振动一次，每秒振动的次数就是频率。可以联系初中物理拨钢尺的实验：钢尺振得越快，音调越高。左图按真实比例画：同样 8 毫秒，上面只开关 2 次，下面开关 8 次。频率 = 1000 ÷ 周期（毫秒），用这个式子就能算出程序注释里的 250 Hz 和 1 kHz。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和有源蜂鸣器不同，这里要自己用 for 循环快速开关。每一圈“开一下、关一下”就是一个周期，800 圈就是 800 个周期，次数决定响多久。注释写的是 1k HZ，想法是对的：0.5 + 0.5 = 1 毫秒一个周期。但 delay(0.5) 有个坑，下下页专门讲。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frequence_2() 和 frequence_1() 结构完全一样，只是每次等 2 毫秒，所以周期 4 毫秒、频率 250 Hz，800 个周期大约 3.2 秒。loop() 先放高音、停 1 秒，再放低音、停 1 秒，周而复始。可以让学生算算：一轮大约多长时间？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这是原指南程序里的一个真实 bug，正好用来讲“单位”。delay() 的参数是整数毫秒，写 0.5 会被截成 0，所以 frequence_1() 的 800 次开关一眨眼就做完了，频率远远超过 1 kHz，人耳基本听不到。改成 delayMicroseconds(500)，每次等 500 微秒，也就是 0.5 毫秒，才能得到真正的 1 kHz。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原指南的照片里用的是一只单独的无源蜂鸣器，直接插在面包板上，再用跳线连到 UNO。原指南说能听到两种频率；实际上要把 delay(0.5) 改成 delayMicroseconds(500)，1 kHz 那一段才明显。可以让学生对比改之前和改之后，用耳朵验证上一页的结论。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四个小任务由易到难，建议每组至少完成前两个。第 3 个把两个实验结合起来：流水灯已经占用了 D2～D9，蜂鸣器必须换一个引脚，这时就体会到用变量 buzzer 的好处。第 4 个是下节课以后会用到的 tone() 函数，它在后台帮我们生成方波，不用自己写循环。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用右边四个方块回顾：LOW 点亮的接法、数组 + for 批量控制、函数打包动作、频率决定音调。再提醒两个坑：数组编号从 0 开始、delay() 只认整数毫秒。下节课 2-1 开始用开关传感器做输入，把“感知”和“输出”连起来。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收尾：今天的两个实验都只用到 HIGH 和 LOW，但通过节奏和组合就做出了流水灯和音调。布置课后挑战：心形流水灯，或者用蜂鸣器给流水灯配上“嘀”声。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　数字输出实验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　数字输出实验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实验 1-3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　数字输出实验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流水灯 · 蜂鸣器模块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两个实验，同一个动作：用 digitalWrite() 让引脚输出 HIGH 或 LOW，控制灯光和声音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" y="1435608"/>
            <a:ext cx="502920" cy="5029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556309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52728" y="1417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252728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流水灯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12648" y="208483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 LED 接在 D2～D9，一盏接一盏亮起，像水在流动。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" y="2697480"/>
            <a:ext cx="119786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2648" y="2697480"/>
            <a:ext cx="119786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led_array[8]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883664" y="2697480"/>
            <a:ext cx="103784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883664" y="2697480"/>
            <a:ext cx="103784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 ; ; 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" y="3023997"/>
            <a:ext cx="151790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2648" y="3023997"/>
            <a:ext cx="151790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led_flash()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203704" y="3023997"/>
            <a:ext cx="135788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203704" y="3023997"/>
            <a:ext cx="135788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09160" y="12344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10328" y="1435608"/>
            <a:ext cx="502920" cy="5029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29" y="1556309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550408" y="1417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550408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蜂鸣器模块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4910328" y="208483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有源蜂鸣器“滴滴”响；无源蜂鸣器靠开关的快慢，唱出两种音调。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910328" y="2697480"/>
            <a:ext cx="103784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910328" y="2697480"/>
            <a:ext cx="103784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/ LOW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21324" y="2697480"/>
            <a:ext cx="79781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021324" y="2697480"/>
            <a:ext cx="79781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910328" y="3023997"/>
            <a:ext cx="175793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910328" y="3023997"/>
            <a:ext cx="175793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delayMicroseconds()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741414" y="3023997"/>
            <a:ext cx="39776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741414" y="3023997"/>
            <a:ext cx="39776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Hz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411480" y="3675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一句话看懂数字输出：引脚就是一个开关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411480" y="3995928"/>
            <a:ext cx="2590800" cy="576072"/>
          </a:xfrm>
          <a:prstGeom prst="roundRect">
            <a:avLst>
              <a:gd name="adj" fmla="val 190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39496" y="414680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39496" y="41468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1216152" y="3995928"/>
            <a:ext cx="169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引脚输出 5V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好比开关“开”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3276600" y="3995928"/>
            <a:ext cx="2590800" cy="576072"/>
          </a:xfrm>
          <a:prstGeom prst="roundRect">
            <a:avLst>
              <a:gd name="adj" fmla="val 190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3404616" y="414680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404616" y="41468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4081272" y="3995928"/>
            <a:ext cx="169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引脚输出 0V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好比开关“关”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6141720" y="3995928"/>
            <a:ext cx="2590800" cy="576072"/>
          </a:xfrm>
          <a:prstGeom prst="roundRect">
            <a:avLst>
              <a:gd name="adj" fmla="val 190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269736" y="411937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40" y="4198376"/>
            <a:ext cx="171176" cy="171176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708648" y="3995928"/>
            <a:ext cx="1932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开关切换得飞快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就变成了声音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流水灯实验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8 盏 LED 一个接一个亮起来，像水一样“流”过去。顺便学会三样新本领：数组、for 循环和自定义函数。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限流电阻 · 低电平点亮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盏灯 → D2～D9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 · for · 函数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看灯怎么“流”起来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 LED：会发光的二极管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只让电流从正极流向负极——长脚接正、短脚接负，接反了就不亮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它是什么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45336"/>
            <a:ext cx="356616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是“发光二极管”的英文缩写。电流流过它就会发光，省电又耐用，指示灯、屏幕、车灯里到处都是。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44583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为什么有不同颜色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756726"/>
            <a:ext cx="356616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用的半导体材料不同（镓、砷、磷等元素的化合物），发出的光颜色就不同：红、绿、黄……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43020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单向导通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3741103"/>
            <a:ext cx="356616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电流只能从正极（长脚）流到负极（短脚），像只能单向通过的闸机。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43048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注：原指南此处材料名印重复了，这里只保留结论。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3400" y="12344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4" name="Image 0" descr="实物：红色 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128" y="1507344"/>
            <a:ext cx="1837944" cy="14658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53128" y="3172968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实物：红色 LED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675120" y="12344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7" name="Image 1" descr="电路符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596052"/>
            <a:ext cx="1837944" cy="1288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84848" y="3172968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电路符号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343400" y="379476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489704" y="3982212"/>
            <a:ext cx="402336" cy="40233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489704" y="39822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001768" y="390448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长脚 = 正极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5001768" y="4197096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接电源这一边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675120" y="379476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21424" y="3982212"/>
            <a:ext cx="402336" cy="40233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821424" y="39822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7333488" y="390448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短脚 = 负极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7333488" y="4197096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三角形尖端指向它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为什么要串电阻：限流电阻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自己不会“限速”，电流太大就会烧坏；串一个电阻，把电流控制在安全范围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164592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11198"/>
            <a:ext cx="534416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=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229360" y="1447292"/>
            <a:ext cx="105460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 − V</a:t>
            </a:r>
            <a:pPr algn="ctr" indent="0" marL="0">
              <a:lnSpc>
                <a:spcPct val="115000"/>
              </a:lnSpc>
              <a:buNone/>
            </a:pPr>
            <a:r>
              <a:rPr lang="en-US" sz="22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29360" y="1892808"/>
            <a:ext cx="1054608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29360" y="1911096"/>
            <a:ext cx="105460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 = 电阻要分担的电压 ÷ 电流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E：电源电压，这里是 5V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pPr algn="l" indent="0" marL="0">
              <a:lnSpc>
                <a:spcPct val="115000"/>
              </a:lnSpc>
              <a:buNone/>
            </a:pPr>
            <a:r>
              <a:rPr lang="en-US" sz="12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：LED 压降，约 1.5～2V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I：工作电流，约 10～20 mA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32120" y="1234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15000" y="1362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算一算：红色 LED 接 5V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(5 − 2) V ÷ 15 mA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19842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200 Ω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2459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取常见的规格：220 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3154680"/>
            <a:ext cx="25908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3101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53" y="3393521"/>
            <a:ext cx="180685" cy="18068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69848" y="3310128"/>
            <a:ext cx="174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为什么必须串电阻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594360" y="3767328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的脾气很“陡”：电压只高一点点，电流就猛增，很快就烧坏了。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276600" y="3154680"/>
            <a:ext cx="25908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459480" y="33101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873" y="3393521"/>
            <a:ext cx="180685" cy="18068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934968" y="3310128"/>
            <a:ext cx="174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像水龙头的阀门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3459480" y="3767328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电阻越大，电流越小。灯会暗一些，但更安全。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141720" y="3154680"/>
            <a:ext cx="25908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24600" y="33101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93" y="3393521"/>
            <a:ext cx="180685" cy="18068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800088" y="3310128"/>
            <a:ext cx="174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本套件用 1kΩ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324600" y="3767328"/>
            <a:ext cx="222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(5 − 2) V ÷ 1000 Ω ≈ 3 mA：灯稍暗，但更省电、更安全，照样看得清。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实验目的与组件清单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目标：让灯光像流水一样，从一头“流”到另一头——先单灯跑，再逐个点亮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" y="170078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784177"/>
            <a:ext cx="180685" cy="18068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160020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971800" y="160020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81528" y="170078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921" y="1784177"/>
            <a:ext cx="180685" cy="18068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47872" y="160020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11480" y="2313432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1208" y="241401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2497409"/>
            <a:ext cx="180685" cy="18068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87552" y="2313432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971800" y="2313432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081528" y="241401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921" y="2497409"/>
            <a:ext cx="180685" cy="1806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547872" y="2313432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×8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11480" y="3026664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21208" y="312724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1" y="3210641"/>
            <a:ext cx="180685" cy="18068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7552" y="302666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1kΩ 电阻 ×8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2971800" y="3026664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3081528" y="312724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921" y="3210641"/>
            <a:ext cx="180685" cy="18068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547872" y="302666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11480" y="384048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57784" y="39867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88" y="4065788"/>
            <a:ext cx="171176" cy="17117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14984" y="3977640"/>
            <a:ext cx="4187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D0、D1 是和电脑通信（串口）用的，先空着，所以 8 盏灯从 D2 接到 D9。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5623560" y="123444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576986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8868" y="1459748"/>
            <a:ext cx="171176" cy="17117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227064" y="13716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6227064" y="1682496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什么是流水灯？就像山间的小溪，让灯光一盏接一盏地亮起来，看上去在流动。先让单个灯从头跑到尾，再让所有灯依次点亮，如此循环。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5623560" y="333756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5806440" y="3429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想象一下“流水”的样子：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5806440" y="37856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单灯跑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6575108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6832283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7089458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7346633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7558088" y="3767328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7603808" y="3813048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7860983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8118158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8375333" y="38130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5806440" y="4133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逐个点亮</a:t>
            </a:r>
            <a:endParaRPr lang="en-US" sz="1050" dirty="0"/>
          </a:p>
        </p:txBody>
      </p:sp>
      <p:sp>
        <p:nvSpPr>
          <p:cNvPr id="53" name="Shape 42"/>
          <p:cNvSpPr/>
          <p:nvPr/>
        </p:nvSpPr>
        <p:spPr>
          <a:xfrm>
            <a:off x="6529388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6575108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786563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6832283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7043738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7089458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7300913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7346633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7558088" y="4114800"/>
            <a:ext cx="274320" cy="27432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7603808" y="4160520"/>
            <a:ext cx="182880" cy="18288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7860983" y="41605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8118158" y="41605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8375333" y="41605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原理图：低电平点亮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 LED 的正极都接 5V，负极经 1kΩ 电阻接 D2～D9——引脚输出 LOW 灯亮，HIGH 灯灭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原理图：VCC_5V → LED1～LED8 → 1K 电阻 → D2～D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887" y="1344168"/>
            <a:ext cx="4984986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原指南原理图：VCC_5V → LED1～LED8 → 1K 电阻 → D2～D9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943600" y="1234440"/>
            <a:ext cx="2788920" cy="105156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126480" y="1325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269480" y="1325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灯亮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17465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 0V，比正极低 5V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电流流过 LED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0" y="2286000"/>
            <a:ext cx="2788920" cy="105156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26480" y="2377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2377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灯灭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126480" y="27980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引脚也是 5V，两头一样高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没有电流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0" y="3611880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9904" y="37581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08" y="3837188"/>
            <a:ext cx="171176" cy="171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47104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水往低处流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547104" y="405993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正极在 5V 高处，引脚降到 0V，电流才流下来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接线：8 盏灯接 D2～D9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长脚插 5V 电源轨，短脚各串一个 1kΩ 电阻，再分别接到 D2～D9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（短脚 · 电阻 1K · 长脚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08" y="1344168"/>
            <a:ext cx="3323903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原指南接线图（短脚 · 电阻 1K · 长脚）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34440"/>
          <a:ext cx="1874520" cy="914400"/>
        </p:xfrm>
        <a:graphic>
          <a:graphicData uri="http://schemas.openxmlformats.org/drawingml/2006/table">
            <a:tbl>
              <a:tblPr/>
              <a:tblGrid>
                <a:gridCol w="937260"/>
                <a:gridCol w="9372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234440"/>
          <a:ext cx="1874520" cy="914400"/>
        </p:xfrm>
        <a:graphic>
          <a:graphicData uri="http://schemas.openxmlformats.org/drawingml/2006/table">
            <a:tbl>
              <a:tblPr/>
              <a:tblGrid>
                <a:gridCol w="937260"/>
                <a:gridCol w="9372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709160" y="28803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489204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接线三步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892040" y="335584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89204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5276088" y="33375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长脚（+）全部插到 5V 电源轨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892040" y="375818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9204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276088" y="37398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短脚（−）各串一个 1kΩ 电阻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892040" y="416052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920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76088" y="41422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电阻另一头接 D2～D9，电源轨接 5V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程序原理：灯是怎么“流”起来的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一次只改一个引脚，停一小会儿再改下一个——快速接力，看起来就像水在流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527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0392" y="1234440"/>
            <a:ext cx="280720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准备：D2～D9 都输出 HIGH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盏灯全部熄灭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889633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18896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0392" y="1871345"/>
            <a:ext cx="2807208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单灯跑：按 2 → 9 号的顺序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拉低一个引脚（亮），等 0.1 秒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再拉高（灭），然后换下一盏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753551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27535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2735263"/>
            <a:ext cx="280720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逐个点亮：一盏接一盏拉低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亮了就不再关，直到 8 盏全亮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52044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784" y="3666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3745748"/>
            <a:ext cx="171176" cy="171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14984" y="3657600"/>
            <a:ext cx="2496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原指南文字写“每盏 500ms”，程序里 flash_speed = 100，即 0.1 秒，以程序为准。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977640" y="1234440"/>
            <a:ext cx="47548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160520" y="1344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120640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549265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977890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406515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835140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7263765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7692390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8121015" y="1344168"/>
            <a:ext cx="4286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4160520" y="16184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led_flash()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单灯跑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4160520" y="19476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步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211509" y="1938528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252657" y="1979676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681282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109907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538532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967157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395782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824407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253032" y="19796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160520" y="21762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步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5252657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640134" y="2167128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681282" y="2208276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109907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538532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67157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395782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824407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253032" y="22082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160520" y="24048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步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5252657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681282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068759" y="2395728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109907" y="2436876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6538532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967157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395782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824407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253032" y="24368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160520" y="2596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⋮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4160520" y="2724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步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5252657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681282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109907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6538532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967157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395782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7824407" y="27569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8211884" y="2715768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253032" y="2756916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4160520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led_turn_on()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逐个点亮</a:t>
            </a:r>
            <a:endParaRPr lang="en-US" sz="1200" dirty="0"/>
          </a:p>
        </p:txBody>
      </p:sp>
      <p:sp>
        <p:nvSpPr>
          <p:cNvPr id="72" name="Text 68"/>
          <p:cNvSpPr txBox="1"/>
          <p:nvPr/>
        </p:nvSpPr>
        <p:spPr>
          <a:xfrm>
            <a:off x="4160520" y="33924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步</a:t>
            </a:r>
            <a:endParaRPr lang="en-US" sz="1050" dirty="0"/>
          </a:p>
        </p:txBody>
      </p:sp>
      <p:sp>
        <p:nvSpPr>
          <p:cNvPr id="73" name="Shape 69"/>
          <p:cNvSpPr/>
          <p:nvPr/>
        </p:nvSpPr>
        <p:spPr>
          <a:xfrm>
            <a:off x="5211509" y="33832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252657" y="34244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5681282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6109907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6538532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6967157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395782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7824407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8253032" y="34244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4160520" y="36210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步</a:t>
            </a:r>
            <a:endParaRPr lang="en-US" sz="1050" dirty="0"/>
          </a:p>
        </p:txBody>
      </p:sp>
      <p:sp>
        <p:nvSpPr>
          <p:cNvPr id="83" name="Shape 79"/>
          <p:cNvSpPr/>
          <p:nvPr/>
        </p:nvSpPr>
        <p:spPr>
          <a:xfrm>
            <a:off x="5211509" y="36118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5252657" y="36530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640134" y="36118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5681282" y="36530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6109907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538532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6967157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7395782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7824407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253032" y="36530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4160520" y="38496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步</a:t>
            </a:r>
            <a:endParaRPr lang="en-US" sz="1050" dirty="0"/>
          </a:p>
        </p:txBody>
      </p:sp>
      <p:sp>
        <p:nvSpPr>
          <p:cNvPr id="94" name="Shape 90"/>
          <p:cNvSpPr/>
          <p:nvPr/>
        </p:nvSpPr>
        <p:spPr>
          <a:xfrm>
            <a:off x="5211509" y="38404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5252657" y="38816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5640134" y="38404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5681282" y="38816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6068759" y="384048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6109907" y="388162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6538532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6967157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395782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7824407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8253032" y="38816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4160520" y="4041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⋮</a:t>
            </a:r>
            <a:endParaRPr lang="en-US" sz="1000" dirty="0"/>
          </a:p>
        </p:txBody>
      </p:sp>
      <p:sp>
        <p:nvSpPr>
          <p:cNvPr id="106" name="Text 102"/>
          <p:cNvSpPr txBox="1"/>
          <p:nvPr/>
        </p:nvSpPr>
        <p:spPr>
          <a:xfrm>
            <a:off x="4160520" y="416966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步</a:t>
            </a:r>
            <a:endParaRPr lang="en-US" sz="1050" dirty="0"/>
          </a:p>
        </p:txBody>
      </p:sp>
      <p:sp>
        <p:nvSpPr>
          <p:cNvPr id="107" name="Shape 103"/>
          <p:cNvSpPr/>
          <p:nvPr/>
        </p:nvSpPr>
        <p:spPr>
          <a:xfrm>
            <a:off x="5211509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5252657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640134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5681282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6068759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109907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6497384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6538532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6926009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6967157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7354634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7395782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7783259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7824407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8211884" y="4160520"/>
            <a:ext cx="246888" cy="246888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8253032" y="4201668"/>
            <a:ext cx="164592" cy="16459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新语法①：数组和 for 循环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数组把 8 个引脚号排进一排编号的柜子；for 循环从 0 号柜开始，挨个打开处理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832104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 = 一排编号的柜子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74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一个名字装 8 个引脚号，按编号取用。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注意：编号从 0 开始！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42900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2900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06908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06908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06908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0916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0916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34924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34924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34924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598932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98932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8932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62940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62940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62940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726948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26948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26948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7909560" y="1307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909560" y="1536192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909560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3429000" y="2130552"/>
            <a:ext cx="5029200" cy="336296"/>
          </a:xfrm>
          <a:prstGeom prst="roundRect">
            <a:avLst>
              <a:gd name="adj" fmla="val 217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557016" y="2203704"/>
            <a:ext cx="477316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;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11480" y="28346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94360" y="299008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" y="3073481"/>
            <a:ext cx="180685" cy="180685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1069848" y="299008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 循环 = 数着圈跑步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594360" y="3429000"/>
            <a:ext cx="3657600" cy="353568"/>
          </a:xfrm>
          <a:prstGeom prst="roundRect">
            <a:avLst>
              <a:gd name="adj" fmla="val 2069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22376" y="3502152"/>
            <a:ext cx="340156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2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2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594360" y="3867912"/>
            <a:ext cx="11582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594360" y="386791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i = 0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594360" y="414223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0 开始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1844040" y="3867912"/>
            <a:ext cx="11582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844040" y="386791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i &lt; 8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1844040" y="414223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小于 8 就继续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3093720" y="3867912"/>
            <a:ext cx="11582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3093720" y="386791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i++</a:t>
            </a:r>
            <a:endParaRPr lang="en-US" sz="1050" dirty="0"/>
          </a:p>
        </p:txBody>
      </p:sp>
      <p:sp>
        <p:nvSpPr>
          <p:cNvPr id="51" name="Text 46"/>
          <p:cNvSpPr txBox="1"/>
          <p:nvPr/>
        </p:nvSpPr>
        <p:spPr>
          <a:xfrm>
            <a:off x="3093720" y="4142232"/>
            <a:ext cx="115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每圈加 1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4709160" y="28346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892040" y="299008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433" y="3073481"/>
            <a:ext cx="180685" cy="180685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5367528" y="299008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合起来：挨个开柜子</a:t>
            </a:r>
            <a:endParaRPr lang="en-US" sz="1400" dirty="0"/>
          </a:p>
        </p:txBody>
      </p:sp>
      <p:sp>
        <p:nvSpPr>
          <p:cNvPr id="56" name="Shape 50"/>
          <p:cNvSpPr/>
          <p:nvPr/>
        </p:nvSpPr>
        <p:spPr>
          <a:xfrm>
            <a:off x="4892040" y="3429000"/>
            <a:ext cx="3657600" cy="493776"/>
          </a:xfrm>
          <a:prstGeom prst="roundRect">
            <a:avLst>
              <a:gd name="adj" fmla="val 1481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5020056" y="3485896"/>
            <a:ext cx="340156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5020056" y="3675888"/>
            <a:ext cx="340156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4892040" y="40690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= 0 点 2 号脚，i = 1 点 3 号脚……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= 7 点 9 号脚，8 盏灯全部处理完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新语法②：自定义函数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把一串动作装进一个有名字的“菜谱”，以后喊一声名字，就把整套动作做一遍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605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" y="1477670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8136" y="138988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定义：写一份菜谱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1865376"/>
            <a:ext cx="3794760" cy="975360"/>
          </a:xfrm>
          <a:prstGeom prst="roundRect">
            <a:avLst>
              <a:gd name="adj" fmla="val 75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2376" y="1938528"/>
            <a:ext cx="353872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22376" y="2145792"/>
            <a:ext cx="353872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22376" y="2353056"/>
            <a:ext cx="353872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一串动作写在这里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" y="2560320"/>
            <a:ext cx="353872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30510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510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755648" y="302361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做完不交回结果（“空”）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94360" y="343509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34350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755648" y="34076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菜谱的名字，自己起，最好见名知意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4360" y="381914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94360" y="38191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(void)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1755648" y="37917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不需要额外的“材料”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94360" y="42031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4360" y="42031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755648" y="41757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具体步骤都写在大括号里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846320" y="1234440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02920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982" y="1477670"/>
            <a:ext cx="190195" cy="19019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522976" y="13898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调用：喊一声名字</a:t>
            </a:r>
            <a:endParaRPr lang="en-US" sz="1450" dirty="0"/>
          </a:p>
        </p:txBody>
      </p:sp>
      <p:sp>
        <p:nvSpPr>
          <p:cNvPr id="31" name="Shape 26"/>
          <p:cNvSpPr/>
          <p:nvPr/>
        </p:nvSpPr>
        <p:spPr>
          <a:xfrm>
            <a:off x="5029200" y="1865376"/>
            <a:ext cx="3520440" cy="742188"/>
          </a:xfrm>
          <a:prstGeom prst="roundRect">
            <a:avLst>
              <a:gd name="adj" fmla="val 985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157216" y="1938528"/>
            <a:ext cx="32644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单灯跑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5157216" y="2137156"/>
            <a:ext cx="32644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led_turn_off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逐个熄灭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5157216" y="2335784"/>
            <a:ext cx="32644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逐个点亮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5029200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写一行名字 = 照着菜谱做一遍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846320" y="3337560"/>
            <a:ext cx="1173480" cy="1234440"/>
          </a:xfrm>
          <a:prstGeom prst="roundRect">
            <a:avLst>
              <a:gd name="adj" fmla="val 93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992624" y="34838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628" y="3562868"/>
            <a:ext cx="171176" cy="17117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394960" y="3483864"/>
            <a:ext cx="53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好读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4992624" y="3922776"/>
            <a:ext cx="899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读起来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像说话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6202680" y="3337560"/>
            <a:ext cx="1173480" cy="1234440"/>
          </a:xfrm>
          <a:prstGeom prst="roundRect">
            <a:avLst>
              <a:gd name="adj" fmla="val 93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348984" y="34838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988" y="3562868"/>
            <a:ext cx="171176" cy="17117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751320" y="3483864"/>
            <a:ext cx="53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好改</a:t>
            </a:r>
            <a:endParaRPr lang="en-US" sz="1350" dirty="0"/>
          </a:p>
        </p:txBody>
      </p:sp>
      <p:sp>
        <p:nvSpPr>
          <p:cNvPr id="45" name="Text 38"/>
          <p:cNvSpPr txBox="1"/>
          <p:nvPr/>
        </p:nvSpPr>
        <p:spPr>
          <a:xfrm>
            <a:off x="6348984" y="3922776"/>
            <a:ext cx="899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改一处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处处生效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7559040" y="3337560"/>
            <a:ext cx="1173480" cy="1234440"/>
          </a:xfrm>
          <a:prstGeom prst="roundRect">
            <a:avLst>
              <a:gd name="adj" fmla="val 93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7705344" y="34838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4348" y="3562868"/>
            <a:ext cx="171176" cy="17117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107680" y="3483864"/>
            <a:ext cx="53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好复用</a:t>
            </a:r>
            <a:endParaRPr lang="en-US" sz="1350" dirty="0"/>
          </a:p>
        </p:txBody>
      </p:sp>
      <p:sp>
        <p:nvSpPr>
          <p:cNvPr id="50" name="Text 42"/>
          <p:cNvSpPr txBox="1"/>
          <p:nvPr/>
        </p:nvSpPr>
        <p:spPr>
          <a:xfrm>
            <a:off x="7705344" y="3922776"/>
            <a:ext cx="899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想用几次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就用几次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代码逐行看懂（1/3）：数组和单灯跑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先准备好“柜子”和速度，再把“一盏灯从头跑到尾”打包成 led_flash()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21208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96312" y="129844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1–14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545336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;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735328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1925320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flash led form left to right one by one */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305304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305304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875280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255264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42254" y="3255264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45256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445256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3635248"/>
            <a:ext cx="51206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2254" y="3635248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42254" y="3825240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842254" y="4015232"/>
            <a:ext cx="46532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852160" y="1234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85216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5216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666992" y="1591056"/>
            <a:ext cx="20655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数组：[0] 是 2，[7] 是 9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每一步停 100 毫秒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852160" y="229057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852160" y="229057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522212" y="2281428"/>
            <a:ext cx="22103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自定义函数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把“单灯跑一趟”打包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852160" y="2860548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852160" y="2860548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522212" y="2851404"/>
            <a:ext cx="22103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从 0 数到 7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盏灯挨个处理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852160" y="333298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852160" y="333298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10–12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821424" y="3323844"/>
            <a:ext cx="191109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拉低 → 这盏亮；等 0.1 秒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拉高 → 熄灭，换下一盏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代码逐行看懂（2/3）：一对“双胞胎”函数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led_turn_on() 逐个点亮，led_turn_off() 逐个熄灭——两段代码只差 LOW 和 HIGH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020824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16–25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turn on all led form left to right */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92532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211531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30530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49529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685288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68528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87528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306527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2254" y="325526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1480" y="379476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1480" y="379476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22 行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158748" y="3785616"/>
            <a:ext cx="3276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LOW：点亮这一盏，而且不再熄灭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11480" y="412394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11480" y="412394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 行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1158748" y="4114800"/>
            <a:ext cx="3276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0.1 秒再点下一盏 → 灯越亮越多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709160" y="12344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37176" y="1298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318504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27–36 行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80060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5139934" y="154533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turn off all led  */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80060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139934" y="173532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led_turn_off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80060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139934" y="192532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80060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5139934" y="211531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80060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139934" y="230530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80060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5139934" y="249529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754880" y="2685288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80060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5139934" y="268528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80060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5139934" y="287528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480060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5139934" y="306527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480060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5139934" y="325526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4709160" y="379476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709160" y="379476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33 行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5456428" y="3785616"/>
            <a:ext cx="3276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HIGH：熄灭这一盏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709160" y="412394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709160" y="412394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34 行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5456428" y="4114800"/>
            <a:ext cx="3276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0.1 秒再关下一盏 → 灯越来越少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代码逐行看懂（3/3）：setup() 和 loop()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 开机只做一次准备；loop() 按顺序调用三个函数，一遍又一遍地重复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093976" y="12984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37–46 行 · 只做一次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4730" y="154533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14730" y="171805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your setup code here, to run once: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14730" y="189077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063496"/>
            <a:ext cx="41148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4730" y="206349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14730" y="223621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14730" y="240893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581656"/>
            <a:ext cx="41148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14730" y="258165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2754376"/>
            <a:ext cx="41148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14730" y="275437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led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2927096"/>
            <a:ext cx="41148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29270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14730" y="292709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control pin defalut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off all LED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0998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14730" y="309981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2725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14730" y="3272536"/>
            <a:ext cx="36749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39319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1480" y="39319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40 行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158748" y="3922776"/>
            <a:ext cx="3458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打开串口（速度 115200），给第 50 行用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11480" y="42611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11480" y="42611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43–44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380744" y="42519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个引脚设为输出，先输出 HIGH → 全部熄灭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892040" y="12344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020056" y="129844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flowing_led.ino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428232" y="129844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48–54 行 · 反复执行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98348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5295290" y="154533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498348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295290" y="171805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your main code here, to run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98348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5295290" y="189077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repeatedly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498348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5295290" y="206349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"start flash led !"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937760" y="2236216"/>
            <a:ext cx="37490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98348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5295290" y="223621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led_flash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937760" y="2408936"/>
            <a:ext cx="37490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98348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5295290" y="240893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led_turn_off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937760" y="2581656"/>
            <a:ext cx="37490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98348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5295290" y="258165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led_turn_on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98348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5295290" y="2754376"/>
            <a:ext cx="33092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892040" y="32461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892040" y="32461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50 行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5639308" y="3236976"/>
            <a:ext cx="309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串口发一句 start flash led !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4892040" y="35753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892040" y="35753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51–53 行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5861304" y="356616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单灯跑 → 逐个熄灭 → 逐个点亮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4892040" y="3904488"/>
            <a:ext cx="424180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892040" y="3904488"/>
            <a:ext cx="4241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然后</a:t>
            </a:r>
            <a:endParaRPr lang="en-US" sz="950" dirty="0"/>
          </a:p>
        </p:txBody>
      </p:sp>
      <p:sp>
        <p:nvSpPr>
          <p:cNvPr id="71" name="Text 68"/>
          <p:cNvSpPr txBox="1"/>
          <p:nvPr/>
        </p:nvSpPr>
        <p:spPr>
          <a:xfrm>
            <a:off x="5407660" y="3895344"/>
            <a:ext cx="3324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 loop() 开头，再来一遍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想一想：实际跑起来是什么样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第一轮是“单灯跑”，从第二轮起变成“逐个熄灭”——因为上一轮结束时灯已经全亮了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13610" y="1234440"/>
            <a:ext cx="1196340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13610" y="1234440"/>
            <a:ext cx="1196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led_flash()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11040" y="1234440"/>
            <a:ext cx="1447800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11040" y="123444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led_turn_off()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76110" y="1234440"/>
            <a:ext cx="1363980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76110" y="1234440"/>
            <a:ext cx="1363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led_turn_on()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1801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轮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2093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灯从全灭开始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737360" y="1673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23097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57412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91727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91753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626042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6035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9467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2898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63302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74520" y="2075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一盏灯从 2 号跑到 9 号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60520" y="1673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4625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8057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1488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4920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8351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1783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5214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8646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297680" y="2075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已经全灭，只停顿 0.8 秒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583680" y="1673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35128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69417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69443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003733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203758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238047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438072" y="1789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72363" y="1824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0667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4099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175308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09623" y="1824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720840" y="2075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一盏接一盏点亮，最后全亮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11480" y="2944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轮起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411480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灯从全亮开始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1737360" y="2816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E3FAF7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923097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157412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391727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626042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826068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860358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060383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094673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294698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328988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529013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563302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74520" y="3218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2 号到 9 号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变成逐个熄灭！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4160520" y="2816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4625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8057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81488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04920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28351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51783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75214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98646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297680" y="3218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又停顿 0.8 秒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6583680" y="2816352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735128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769417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969443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003733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203758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238047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438072" y="2932938"/>
            <a:ext cx="205740" cy="205740"/>
          </a:xfrm>
          <a:prstGeom prst="ellipse">
            <a:avLst/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472363" y="2967228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70667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94099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175308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409623" y="296722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720840" y="3218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再逐个点亮……如此循环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411480" y="3959352"/>
            <a:ext cx="8321040" cy="612648"/>
          </a:xfrm>
          <a:prstGeom prst="roundRect">
            <a:avLst>
              <a:gd name="adj" fmla="val 1791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76072" y="409194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5" y="4175333"/>
            <a:ext cx="180685" cy="180685"/>
          </a:xfrm>
          <a:prstGeom prst="rect">
            <a:avLst/>
          </a:prstGeom>
        </p:spPr>
      </p:pic>
      <p:sp>
        <p:nvSpPr>
          <p:cNvPr id="92" name="Text 88"/>
          <p:cNvSpPr txBox="1"/>
          <p:nvPr/>
        </p:nvSpPr>
        <p:spPr>
          <a:xfrm>
            <a:off x="1051560" y="3959352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想每轮都看到单灯跑？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loop() 里的顺序换成：</a:t>
            </a:r>
            <a:endParaRPr lang="en-US" sz="1250" dirty="0"/>
          </a:p>
        </p:txBody>
      </p:sp>
      <p:sp>
        <p:nvSpPr>
          <p:cNvPr id="93" name="Shape 89"/>
          <p:cNvSpPr/>
          <p:nvPr/>
        </p:nvSpPr>
        <p:spPr>
          <a:xfrm>
            <a:off x="4206240" y="4091940"/>
            <a:ext cx="4361688" cy="347472"/>
          </a:xfrm>
          <a:prstGeom prst="roundRect">
            <a:avLst>
              <a:gd name="adj" fmla="val 2105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4334256" y="4166362"/>
            <a:ext cx="4105656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led_flash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led_turn_off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LED 流水灯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实验结果：8 盏灯接力闪亮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上传程序后，灯一盏接一盏亮起又熄灭；改一改 flash_speed，“水流”就会变快或变慢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：8 个 LED 接 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38688"/>
            <a:ext cx="4718304" cy="26547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原指南实物照片：8 个 LED 接 UNO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623560" y="123444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76986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86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27064" y="13716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小挑战：心形流水灯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227064" y="168249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原指南的彩蛋：把 LED 摆成心形，做一盏送给重要的人。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623560" y="256032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80644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06440" y="303580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0644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190488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flash_speed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改成 300 慢慢流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改成 5 快到像全亮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806440" y="354787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80644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190488" y="35112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数组倒过来写成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{9,8,…,2}</a:t>
            </a:r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水流方向就反过来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806440" y="4059936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80644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190488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里的顺序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每轮都有单灯跑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管“光”，蜂鸣器管“声”。还是用 digitalWrite()：先让有源蜂鸣器“滴滴”响，再让无源蜂鸣器唱出两种音调——频率对上乐谱，就能演奏音乐。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 vs 无源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→ 9 号脚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开关的快慢 = 音调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听出两种声音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认识蜂鸣器：有源和无源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“源”指的是内部振荡器，不是电源——有源通电就响，无源要 Arduino 替它打拍子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40280" y="1234440"/>
            <a:ext cx="29032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buzzer_active_modu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6712" y="1344168"/>
            <a:ext cx="850356" cy="12435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00700" y="1234440"/>
            <a:ext cx="29032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9" name="Image 1" descr="buzzer_passive_modu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635" y="1344168"/>
            <a:ext cx="1565350" cy="124358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11480" y="1234440"/>
            <a:ext cx="132588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57784" y="13624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“源”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557784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振荡器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57784" y="22585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不是电源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83210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360420"/>
                <a:gridCol w="33604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有源蜂鸣器（黑色）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无源蜂鸣器（蓝色）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内部振荡器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没有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通电以后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不响，要喂 2～5 kHz 方波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音调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固定一种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随频率变化，能“唱歌”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程序怎么写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响，LOW 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快速来回切换 HIGH / LOW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三根针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 · V · 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I/O · VCC · GND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接线：S 接 9 号脚，两种蜂鸣器接法一样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接 5V、G 接 GND、S 接 9 号脚——做完实验一，换上无源蜂鸣器，线一根都不用动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黄线 9 → S · 红线 5V → V · 黑线 GND → 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648" y="1344168"/>
            <a:ext cx="5015464" cy="21122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493008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原指南接线图：黄线 9 → S · 红线 5V → V · 黑线 GND → G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34440"/>
          <a:ext cx="2788920" cy="914400"/>
        </p:xfrm>
        <a:graphic>
          <a:graphicData uri="http://schemas.openxmlformats.org/drawingml/2006/table">
            <a:tbl>
              <a:tblPr/>
              <a:tblGrid>
                <a:gridCol w="1533906"/>
                <a:gridCol w="125501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蜂鸣器模块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5V（VCC）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943600" y="2679192"/>
            <a:ext cx="2788920" cy="1161288"/>
          </a:xfrm>
          <a:prstGeom prst="roundRect">
            <a:avLst>
              <a:gd name="adj" fmla="val 944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089904" y="282549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08" y="2904500"/>
            <a:ext cx="171176" cy="1711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47104" y="281635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接法完全一样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6547104" y="3127248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三根针：信号、电源、地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换模块，线不用动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11480" y="4114800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76072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1435608" y="4206240"/>
            <a:ext cx="13634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435608" y="4206240"/>
            <a:ext cx="136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主板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872232" y="4206240"/>
            <a:ext cx="6202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2872232" y="4206240"/>
            <a:ext cx="620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565652" y="4206240"/>
            <a:ext cx="93319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565652" y="4206240"/>
            <a:ext cx="933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0" y="4206240"/>
            <a:ext cx="13914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72000" y="4206240"/>
            <a:ext cx="1391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有源蜂鸣器模块 ×1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036564" y="4206240"/>
            <a:ext cx="13914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036564" y="4206240"/>
            <a:ext cx="1391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无源蜂鸣器模块 ×1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501128" y="4206240"/>
            <a:ext cx="7599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501128" y="4206240"/>
            <a:ext cx="75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实验一代码：让有源蜂鸣器“滴——滴——”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号脚输出 HIGH 就响，输出 LOW 就停，各持续 1 秒，然后不停循环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active_buzzer.ino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86584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 13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6016" y="1743964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6016" y="1942592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2141220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2339848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56016" y="2339848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538476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737104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935732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3134360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3134360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//sound production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3332988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332988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57200" y="3531616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56016" y="3531616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57200" y="3730244"/>
            <a:ext cx="48463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730244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3928872"/>
            <a:ext cx="43652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62356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623560" y="160020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160020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293612" y="1591056"/>
            <a:ext cx="24389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9 号脚起名 buzzer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以后换引脚只改这里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23560" y="232943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232943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293612" y="2320290"/>
            <a:ext cx="243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设为输出：Arduino 来发号施令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623560" y="3123946"/>
            <a:ext cx="80060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623560" y="3123946"/>
            <a:ext cx="80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9–10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515608" y="3114802"/>
            <a:ext cx="221691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HIGH：通电就响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 1 秒（1000 毫秒）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623560" y="359638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23560" y="359638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11–12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592824" y="3587242"/>
            <a:ext cx="213969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LOW：声音停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安静 1 秒后 loop() 从头再来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实验一结果：只有一种音调的“滴滴”声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有源蜂鸣器只能发出一个固定频率的声音——程序能控制的只是“响多久、停多久”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4805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：有源蜂鸣器模块接 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04" y="1344168"/>
            <a:ext cx="3791712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原指南实物照片：有源蜂鸣器模块接 UNO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12080" y="12344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583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38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15584" y="13716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815584" y="168249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有源蜂鸣器发出只有一个频率的“滴滴”声。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212080" y="237744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394960" y="2468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一个循环 = 2 秒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394960" y="2779776"/>
            <a:ext cx="157734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972300" y="2779776"/>
            <a:ext cx="15773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394960" y="2779776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 · 响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972300" y="2779776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LOW · 停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3145536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972300" y="3145536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12080" y="37033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5838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388" y="3928628"/>
            <a:ext cx="171176" cy="1711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815584" y="3840480"/>
            <a:ext cx="2770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试一试：两个 delay 都改成 200，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变成急促的“嘀嘀嘀”，像倒车雷达。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声音的原理：开关越快，音调越高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每秒“开-关”多少次就叫频率，单位赫兹（Hz）——像拨动桌边的钢尺，振得越快，音调越高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441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 8 毫秒里，开关的快慢不同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 2 ms + 低 2 ms = 周期 4 ms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250 Hz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（低沉）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V="1">
            <a:off x="1188720" y="210312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8720" y="2103120"/>
            <a:ext cx="100584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4560" y="210312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0" y="2560320"/>
            <a:ext cx="100584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3200400" y="210312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2103120"/>
            <a:ext cx="100584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210312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2560320"/>
            <a:ext cx="100584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" y="2011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76072" y="2468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7889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 0.5 ms + 低 0.5 ms = 周期 1 ms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Hz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（尖细）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 flipV="1">
            <a:off x="118872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4018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44018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169164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9164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94310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4310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19456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19456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4602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4602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269748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69748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94894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4894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320040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0040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5186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45186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370332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70332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5478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95478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420624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0624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45770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45770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470916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709160" y="32004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960620" y="3200400"/>
            <a:ext cx="91" cy="457200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960620" y="3657600"/>
            <a:ext cx="251460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76072" y="3108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576072" y="3566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188720" y="3840480"/>
            <a:ext cx="4133088" cy="91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5" name="Text 52"/>
          <p:cNvSpPr txBox="1"/>
          <p:nvPr/>
        </p:nvSpPr>
        <p:spPr>
          <a:xfrm>
            <a:off x="91440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92024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292608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393192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493776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ms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594360" y="42062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开关越快 → 周期越短 → 频率越高 → 音调越尖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5760720" y="1234440"/>
            <a:ext cx="2971800" cy="1143000"/>
          </a:xfrm>
          <a:prstGeom prst="roundRect">
            <a:avLst>
              <a:gd name="adj" fmla="val 96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897880" y="1678940"/>
            <a:ext cx="6766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 =</a:t>
            </a:r>
            <a:endParaRPr lang="en-US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6629400" y="1524508"/>
            <a:ext cx="1402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6629400" y="1805940"/>
            <a:ext cx="1402080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629400" y="1833372"/>
            <a:ext cx="1402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周期（毫秒）</a:t>
            </a:r>
            <a:endParaRPr lang="en-US" sz="1600" dirty="0"/>
          </a:p>
        </p:txBody>
      </p:sp>
      <p:sp>
        <p:nvSpPr>
          <p:cNvPr id="66" name="Text 63"/>
          <p:cNvSpPr txBox="1"/>
          <p:nvPr/>
        </p:nvSpPr>
        <p:spPr>
          <a:xfrm>
            <a:off x="8086344" y="1678940"/>
            <a:ext cx="3352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Hz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5760720" y="2651760"/>
            <a:ext cx="2971800" cy="82296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5943600" y="27614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4 ms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5943600" y="3035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÷ 4 = 250 Hz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5760720" y="3749040"/>
            <a:ext cx="2971800" cy="82296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943600" y="38587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1 ms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5943600" y="41330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÷ 1 = 1000 Hz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实验二代码（1/2）：frequence_1() 想发 1 kHz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无源蜂鸣器要靠程序“打拍子”：开 0.5 毫秒、关 0.5 毫秒，重复 800 次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02920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1298448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1–13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743964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743964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//# define frequence_2()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1942592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1942592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frequence_1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1k HZ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141220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339848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2538476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538476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737104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2935732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2935732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//sound production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3134360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134360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57200" y="3332988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56016" y="3332988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57200" y="3531616"/>
            <a:ext cx="49377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531616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3730244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56016" y="3928872"/>
            <a:ext cx="44566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71500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71500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71500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529832" y="1591056"/>
            <a:ext cx="220268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蜂鸣器还是接 9 号脚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行被注释掉，不起作用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715000" y="205435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715000" y="205435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385052" y="2045208"/>
            <a:ext cx="2347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高音函数，注释说要发 1 kHz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715000" y="252806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715000" y="252806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385052" y="2518918"/>
            <a:ext cx="23474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 800 次“开-关”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次数决定响多久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715000" y="2982214"/>
            <a:ext cx="80060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715000" y="2982214"/>
            <a:ext cx="80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8–11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607048" y="2973070"/>
            <a:ext cx="212547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 0.5 + 关 0.5 毫秒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周期 1 毫秒（1 kHz）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注意：delay(0.5) 有坑！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实验二代码（2/2）：低音函数和主程序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frequence_2() 开 2 毫秒、关 2 毫秒，音调更低；loop() 让两种音调轮流播放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7200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2984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15–25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28492" y="1545336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frequence_2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250 HZ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28492" y="1726692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28492" y="1908048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28492" y="2089404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28492" y="2270760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28492" y="2452116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//sound production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2633472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28492" y="2633472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28492" y="2814828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2996184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28492" y="2996184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28492" y="3177540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28492" y="3358896"/>
            <a:ext cx="40269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11480" y="39319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1480" y="39319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158748" y="3922776"/>
            <a:ext cx="382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低音函数，注释写 250 Hz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11480" y="42611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1480" y="42611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21–23 行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1380744" y="42519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4 毫秒 → 250 Hz，约响 3.2 秒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257800" y="123444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385816" y="12984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buzzer.ino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647688" y="12984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26–36 行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534924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674812" y="1545336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534924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674812" y="1726692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5303520" y="1908048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34924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674812" y="1908048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534924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5674812" y="2089404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534924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5674812" y="2270760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534924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5674812" y="2452116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5303520" y="2633472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34924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5674812" y="2633472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frequence_1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5303520" y="2814828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34924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5674812" y="2814828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5303520" y="2996184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34924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5674812" y="2996184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frequence_2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5303520" y="3177540"/>
            <a:ext cx="33832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34924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5674812" y="3177540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534924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5674812" y="3358896"/>
            <a:ext cx="29296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5257800" y="39319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257800" y="39319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28 行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6005068" y="3922776"/>
            <a:ext cx="2727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号脚设为输出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5257800" y="42611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257800" y="42611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32–35 行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6227064" y="425196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高音 → 停 1 秒 → 低音 → 停 1 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小心：delay(0.5) 其实是 delay(0)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只认整数毫秒，0.5 会被直接砍成 0——frequence_1() 几乎不等待，基本听不到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" y="1486814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8136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原指南写法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1911096"/>
            <a:ext cx="3657600" cy="353568"/>
          </a:xfrm>
          <a:prstGeom prst="roundRect">
            <a:avLst>
              <a:gd name="adj" fmla="val 2069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2376" y="1984248"/>
            <a:ext cx="340156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2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被截成 delay(0)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2423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只收整数毫秒：0.5 变成 0，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几乎不等待。800 次开关一眨眼就做完，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频率远高于 1 kHz，人耳基本听不到。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92040" y="1399032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822" y="1486814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85816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改成这样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892040" y="1911096"/>
            <a:ext cx="3657600" cy="353568"/>
          </a:xfrm>
          <a:prstGeom prst="roundRect">
            <a:avLst>
              <a:gd name="adj" fmla="val 2069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020056" y="1984248"/>
            <a:ext cx="340156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2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0.5 毫秒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892040" y="2423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delayMicroseconds() 按微秒计时：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 微秒 = 0.5 毫秒。开 0.5 + 关 0.5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1 毫秒 → 正好 1 kHz，800 次约 0.8 秒。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11480" y="35661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4864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2788920" y="35661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3383280" y="35661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5204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毫秒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3520440" y="4023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的单位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760720" y="35661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6355080" y="35661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4922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1000000 微秒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6492240" y="4023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delayMicroseconds() 的单位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实验二结果：两种不同的蜂鸣声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接线不变，把有源蜂鸣器换成无源蜂鸣器，就能听到两种频率不一样的声音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06" y="1344168"/>
            <a:ext cx="2014347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1234440"/>
            <a:ext cx="5532120" cy="1005840"/>
          </a:xfrm>
          <a:prstGeom prst="roundRect">
            <a:avLst>
              <a:gd name="adj" fmla="val 1090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4670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0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03904" y="13716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803904" y="1682496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接线不变，直接用无源蜂鸣器替换有源蜂鸣器；无源蜂鸣器没有正负极之分；可以听到两个频率不一样的蜂鸣声。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200400" y="2514600"/>
            <a:ext cx="553212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383280" y="26060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一轮大约 6 秒（改用 delayMicroseconds 之后）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383280" y="2935224"/>
            <a:ext cx="688848" cy="347472"/>
          </a:xfrm>
          <a:prstGeom prst="rect">
            <a:avLst/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383280" y="2935224"/>
            <a:ext cx="68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kHz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383280" y="3319272"/>
            <a:ext cx="68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 秒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072128" y="2935224"/>
            <a:ext cx="8610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072128" y="2935224"/>
            <a:ext cx="861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072128" y="3319272"/>
            <a:ext cx="861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933188" y="2935224"/>
            <a:ext cx="2755392" cy="347472"/>
          </a:xfrm>
          <a:prstGeom prst="rect">
            <a:avLst/>
          </a:prstGeom>
          <a:solidFill>
            <a:srgbClr val="2D2D2D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933188" y="2935224"/>
            <a:ext cx="2755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250 Hz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933188" y="3319272"/>
            <a:ext cx="2755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秒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688580" y="2935224"/>
            <a:ext cx="8610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688580" y="2935224"/>
            <a:ext cx="861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688580" y="3319272"/>
            <a:ext cx="861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200400" y="3840480"/>
            <a:ext cx="553212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346704" y="39867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08" y="4065788"/>
            <a:ext cx="171176" cy="17117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3803904" y="3977640"/>
            <a:ext cx="4782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对比听一听：保留原来的 delay(0.5)，第一段几乎听不到，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只剩低沉的 250 Hz。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蜂鸣器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动手改一改：做一个会变调的蜂鸣器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每次只改一个数字，上传后听一听——耳朵就是最好的“测量仪器”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7160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33272" y="13716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音调变高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801368"/>
            <a:ext cx="365760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2376" y="1874520"/>
            <a:ext cx="3401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原来是 delay(2)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185416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低音函数里两个 delay(2) 都改成 delay(1)：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2 毫秒 → 500 Hz，音调升高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37160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30952" y="13716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响得更久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92040" y="1801368"/>
            <a:ext cx="365760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0056" y="1874520"/>
            <a:ext cx="3401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2185416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低音函数的 800 次改成 1600 次：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响的时间翻倍，3.2 秒 → 6.4 秒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30403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17754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31775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33272" y="31775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声光联动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94360" y="3607308"/>
            <a:ext cx="365760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2376" y="3680460"/>
            <a:ext cx="3401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3991356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流水灯占了 D2～D9，蜂鸣器改接 10 号脚：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程序里只改这一行，不用到处找 9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30403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92040" y="317754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31775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330952" y="31775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进阶预告：tone()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892040" y="3607308"/>
            <a:ext cx="365760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0056" y="3680460"/>
            <a:ext cx="3401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4892040" y="3991356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自带的发声函数：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262 Hz（中音 do）响 500 毫秒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数字输出只有 HIGH 和 LOW 两个词：慢慢切换能控制灯光，飞快切换就变成了声音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一个函数，两种用法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45336"/>
            <a:ext cx="35204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digitalWrite() 慢慢切换 → 灯亮灯灭；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飞快切换 → 蜂鸣器发声。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091627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三样新本领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402523"/>
            <a:ext cx="35204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数组装一排数，for 循环挨个处理，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自定义函数把动作打包。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2948813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两个小坑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3259709"/>
            <a:ext cx="35204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数组编号从 0 开始；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只认整数毫秒。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3842576"/>
            <a:ext cx="135788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3842576"/>
            <a:ext cx="135788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842516" y="3842576"/>
            <a:ext cx="119786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42516" y="3842576"/>
            <a:ext cx="119786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led_array[i]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113532" y="3842576"/>
            <a:ext cx="47777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13532" y="3842576"/>
            <a:ext cx="47777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1480" y="4169093"/>
            <a:ext cx="55778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480" y="4169093"/>
            <a:ext cx="55778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42416" y="4169093"/>
            <a:ext cx="79781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42416" y="4169093"/>
            <a:ext cx="79781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913382" y="4169093"/>
            <a:ext cx="175793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13382" y="4169093"/>
            <a:ext cx="175793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343400" y="1234440"/>
            <a:ext cx="219456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26280" y="1380744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LOW = 亮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4526280" y="1972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低电平点亮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230124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正极接 5V，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引脚拉低才有电流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37960" y="1234440"/>
            <a:ext cx="219456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20840" y="1380744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[0]～[7]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6720840" y="1972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 + for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720840" y="230124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盏灯，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一个循环搞定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343400" y="2903220"/>
            <a:ext cx="219456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26280" y="3049524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void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4526280" y="36408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自定义函数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4526280" y="397002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把动作打包，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喊名字就执行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537960" y="2903220"/>
            <a:ext cx="219456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20840" y="3049524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250 Hz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6720840" y="36408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 = 音调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720840" y="397002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 4 毫秒，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每秒振动 250 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让灯会“流”，让声音会“唱”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数字输出是所有互动作品的起点——下一节：2-1 开关传感器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1-3 数字输出实验：LED 流水灯与蜂鸣器</dc:title>
  <dc:subject>Arduino 编程</dc:subject>
  <dc:creator>湖北工业大学 · 工业设计学院</dc:creator>
  <cp:lastModifiedBy>湖北工业大学 · 工业设计学院</cp:lastModifiedBy>
  <cp:revision>1</cp:revision>
  <dcterms:created xsi:type="dcterms:W3CDTF">2026-10-12T09:45:16Z</dcterms:created>
  <dcterms:modified xsi:type="dcterms:W3CDTF">2026-10-12T09:45:16Z</dcterms:modified>
</cp:coreProperties>
</file>