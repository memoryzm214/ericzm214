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e6a7dad3-e36f-6e02-9331-6f439e5413dc}">
          <p14:sldIdLst>
            <p14:sldId id="257"/>
          </p14:sldIdLst>
        </p14:section>
        <p14:section name="实验一　超声波" id="{37193599-606e-75ea-305a-c5b1ee6ac69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实验二　串口调节舵机" id="{46f77539-d833-2f4c-969e-0008f5e6b7d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实验三　红外避障" id="{9d8f1b49-f3fb-7ab6-553b-a401fa64ec39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实验四　温湿度传感器" id="{d04ce1dc-55ea-c425-5d70-ebd96fe3f437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小结" id="{66e8660f-4240-6385-b659-eb4852ae4b10}">
          <p14:sldIdLst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这节课按指南顺序做四个实验：超声波测距、串口调节舵机角度、红外避障、温湿度传感器。它们有一条共同的主线：传感器不只会“感觉”，还会“测量”，还会用自己的方式和 Arduino“说话”。开场可以挥挥手、哈口气，让学生猜猜：Arduino 怎么知道手有多远、空气有多潮？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一张地图：四个实验按指南顺序进行。超声波学“测时间算距离”，串口舵机学“读字符拼数字”，红外避障是熟悉的数字输入，温湿度传感器学“按约定的时序收数据”，并第一次用到库和对象。下面四个小标签就是每个实验最核心的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实验一分四步：先弄懂“回声测距”的原理和公式，再接四根线，然后学三个新语法、逐行读代码，最后在串口监视器里看距离。可以先让学生对着墙拍一下手，体会“声音会反射回来”。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用蝙蝠和山谷回声来类比：喊一声，回声越晚回来，说明山越远。模块上的两个“眼睛”其实是一个发射器、一个接收器。超声波频率是 40kHz，人耳最多只能听到约 20kHz，所以我们听不见它。原指南的实验目的写“通过串口输入距离”，这里应为“输出”，讲课时顺口纠正。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先讲上面的图：声音从模块出发，碰到障碍物再回来，走过的路是距离的两倍，所以要除以 2。再讲下面三步：把 340 米/秒换成 0.034 厘米/微秒，来回 1 厘米要走 2 厘米，约 58 微秒，于是“微秒数 ÷ 58 = 厘米”。可以让学生算一算：回波时间 580 微秒是多远？（10 厘米）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时序图从上往下读，横轴是时间；第一行是我们要做的：给 Trig 一个至少 10 微秒的高电平。第二行是模块自己完成的：发出 8 个 40kHz 的超声波脉冲。第三行是结果：Echo 变成高电平，高电平持续多久，声音就来回了多久。程序只需要“喊”和“量”两件事。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只要四根线。表里 Arduino 一侧写的 VCC 就是 UNO 上的 5V 口。重点让学生分清 Trig 和 Echo 的方向：Trig 是 Arduino 发给模块的命令，所以程序里设成 OUTPUT；Echo 是模块送回来的结果，所以设成 INPUT。接线前先拔掉 USB。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三个新词各配一个比方：const 像门牌号，钉上去就不改；delayMicroseconds 是更细的计时单位；pulseIn 像秒表。每张卡片底部的红框是最容易犯的错，可以请学生读出来。特别提醒 delay(0.01) 这种写法：delay 只认整数毫秒，0.01 会变成 0，要等微秒就得用 delayMicroseconds。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原指南这一页的程序是空白的，我们用同一套件《Arduino 编程入门学习教程》第 2.38 讲的程序，引脚和串口输出格式都和本指南的截图一致。第 3 行用 float 是因为距离带小数，比如 8.57 厘米。第 7、8 行最关键：Trig 是输出、Echo 是输入，方向不能反。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13–17 行就是时序图第一行：先拉低清零，再拉高 10 微秒，再拉低，模块就会自动发出超声波。第 18 行是整个程序的核心：量出 Echo 高电平的微秒数，除以 58 得到厘米。写成 58.00 是有讲究的：pulseIn 返回整数，除以整数 58 会把小数直接丢掉，除以 58.00 才能保留小数。第 19–22 行用三个 print 拼成一行，最后用 println() 换行。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程序后打开串口监视器，把手或一本书放在模块前，慢慢前后移动，数字会跟着变。右边的表帮助学生读懂截图里的数字：几厘米说明东西很近，一两百厘米说明前方比较空，测到的是远处的物体。可以拿尺子验证：把书放在 10 厘米、20 厘米处，看读数对不对得上。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左边两个是课堂上最常见的问题：读数一直是 0，多半是 Trig 和 Echo 接反或没插牢；读数乱跳，多半是对着斜面、软布测，或者离得太近。右边的挑战把今天的超声波和以前学的 if 结合起来：距离小于 10 厘米就点亮板载 L 灯，就是一个简单的倒车雷达。还可以让学生把 L 灯换成蜂鸣器。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实验二把“串口”从只会说话变成也会听话：以前用 Serial.print 让 Arduino 告诉电脑，这次反过来，电脑告诉 Arduino 转多少度。舵机原理在 2-1 学过，这里只做简短回顾，重点放在读串口的三句新语法上。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2-1 的回顾，左边拆解照片里的英文标注，对照右下角的表认一认。舵机是“闭环”的：电位器跟着输出轴转，随时告诉控制电路现在转到了几度，没对准就继续转，所以用手掰它，它会顶回去。右上是控制信号：每 20 毫秒一个脉冲，高电平越宽，角度越大。图上标的是 1ms–2ms，正文写的是 0.5ms–2.5ms，下一页细讲。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对照左图从上往下看：最小脉冲 0.5 毫秒，舵机指向 0 度；中间脉冲 1.5 毫秒，指向 90 度；最大脉冲 2.5 毫秒，指向 180 度。右边的表是原指南给的完整对应关系。原指南的周期图上写的是 1ms–2ms，而正文写 0.5ms–2.5ms，原文也说不同品牌、甚至同一品牌的舵机范围都可能不同。好在 Servo 库会帮我们换算，程序里只要写 write(角度)。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先读实验目的和原理：在串口监视器里输入角度，舵机就转到那个角度。接线只有三根，信号线接 13 号脚。我们手里的 SG90 舵机，线色常见是棕、红、橙，分别对应表里的黑、红、黄，不要因为颜色不一样就接错。原指南还建议接上 9V 电池一起供电，后面“实验步骤”页的实物照片里可以看到。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先看上面这条流水线：我们在键盘上输入 180，传到 Arduino 的其实是三个字符 1、8、0，一次只能取一个。所以要先用 String 把它们拼成 "180"，再用 toInt() 变成真正的数字 180，最后交给舵机。三张卡片各讲一步，红框是对应的常见错误。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1、2 行和 2-1 一样：引入 Servo 库，创建舵机对象 myservo。第 4 行的 char 是“字符”类型，一次只装一个字符，比如 '9'；第 6 行的 String 能装一串字符，先放一个空字符串 ""。setup() 里打开串口，并用 attach 把舵机“绑”到 13 号脚。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和 if 很像，区别是：if 判断一次，while 只要条件成立就一直重复。这里的条件是“串口里还有字符没读”，所以输入 180 时 while 会转 3 圈，temp 依次变成 "1"、"18"、"180"，见左下角。原指南第 18 行的英文注释被 PDF 排版折成了两行，照抄的话第二行不是注释，会编译报错，这里已经合回一行。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21 行判断 temp 是不是空的：不空，说明刚收到新输入。第 23 行用 toInt() 把文字变成数字，第 24、25 行在串口回一句 Servo degree:，方便我们确认。第 28 行清空 temp，原注释 Please see temporary variables 是机翻，意思是“清空临时变量”。第 29 行才是真正让舵机转动的一句；没有新输入时 angle 不变，舵机就保持原角度。第 30 行的 delay(100) 还有个隐藏作用：9600 波特率下每个字符约 1 毫秒才到，等这 0.1 秒，整串数字基本到齐，while 才能一次读完。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按原指南的三步做：烧录后不拔 USB，因为串口监视器要通过 USB 和电脑通信；插上电池，是因为舵机转动时电流大，只靠 USB 供电可能不稳——插上 9V 电池后 UNO 会自动改用电池供电；然后点 IDE 右上角的“串口监视器”。中间的截图只看红框里的按钮就好，截图里的代码和我们的程序版本略有不同。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在输入框里输入数字，按回车或点“发送”。每次输入，串口都会回一句 Servo degree: 和角度，舵机转到对应位置：0 度指向一边，90 度在中间，180 度指向另一边。注意截图右下角：行结束符选的是“没有结束符”，波特率 9600，建议和截图保持一致。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第一个坑：行结束符如果选了“换行”，空着点发送也会发出一个换行符，temp 不是空的，toInt() 得到 0，舵机就跳回 0 度。第二个坑：舵机转动瞬间电流大，只靠 USB 可能掉电重启。右边的改法用 constrain() 把角度限制在 0～180：Servo 库本身最多转到 180 度，但串口会照样打印 200，加上这一行，打印和实际就一致了。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实验三是一个“老朋友”式的实验：读一个数字输入，再用 if / else 控制 LED 和蜂鸣器。和 1-3 的小磁簧开关比，只是把“磁铁靠近”换成了“前方有障碍物”。可以先让学生回忆：磁簧开关有磁铁时读到的是 0 还是 1？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用手电筒照墙来类比：前面有墙就能看到反光，前面空空的光就“有去无回”。模块用的是人眼看不见的红外线。检测距离可以用蓝色电位器旋钮调节，有效范围约 2～30 厘米，工作电压 3.3～5V。这种模块在机器人避障、避障小车、流水线计数、黑白线循迹里都很常见。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实验目的照原指南读。右边上方是信号链：有障碍物，OUT 输出低电平，读到 0，于是 LED 亮、蜂鸣器响。下方的对比表是本实验的重点：和 1-3 的小磁簧开关相比，只是“触发条件”变了，读数规律和程序完全一样。这就是模块化传感器的好处：输入换了，逻辑不变。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三张表照原指南抄录，一张一张对着接；接线图里的 LED 用的是 RGB 贴片模块，11 号脚接它的 R 脚，所以亮的是红灯，用普通 LED 模块也可以。红外模块的 VCC 接 5V。UNO 上有好几个 GND 口，哪个都可以。先断电再接线，接完同桌互相检查。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原指南这一页程序是空白的，这里用同一套件《Arduino 编程入门学习教程》第 2.25 讲的程序，引脚和本指南一致。前 4 行准备了四个“盒子”：三个装引脚号，一个装读数。setup() 里 LED 和蜂鸣器是输出，红外模块是输入。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loop() 只做三件事：读、打印、判断。第 16 行 val==0 对应“前方有障碍物”，所以成立时灯亮、蜂鸣器响；else 分支把它们关掉。提醒学生比较相等要写两个等号。可以把 1-3 的磁簧开关程序打开对照，会发现一个字都不用改。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原指南的实验结果只有两张照片。中间那张照片里，红外模块上的两个绿灯都亮了（一个是电源灯，一个是检测到障碍物的指示灯），RGB 模块亮红灯。让学生打开串口监视器，挡一下、拿开，看 0 和 1 的变化。检测距离不合适时，用螺丝刀拧蓝色电位器调节。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扩展板把每个数字脚都扩展成 G、V、S 三根针，模块直接插上，引脚号不变，程序也不用改。一直报警多半是检测距离调得太远，或者模块正对着桌面；黑色物体会吸收红外线，反光太弱，要靠得更近才能测到。动手改一改：把条件反过来就成了“东西被拿走才报警”的防盗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实验四是本节最“深”的一个：先认识 DHT11，再用 5 张时序图看懂它怎么在一根线上发数据。时序不用背，理解“高电平短是 0、长是 1”就够了，因为库会替我们处理。最后第一次用到“库”和“对象”，把温湿度显示在 LCD1602 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DHT11 是一种复合传感器：一个小盒子里同时测温度和湿度，内部的单片机把测量结果变成数字信号送出来，所以它不是 analogRead 读的模拟量。右边是原指南的引脚说明：DATA 线必须接一个约 5.1kΩ 的上拉电阻，让它空闲时保持高电平；做成模块的 DHT11 一般已在板上带好这个电阻，NC 脚也不用接，所以模块只要接 VCC、GND、OUT 三根线。上电后约 1 秒才稳定。右下角是本实验的目的。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先看全貌：DHT11 和 Arduino 只靠一根数据线通信，像课堂点名，主机 Arduino 先喊，从机 DHT11 才回答。一次对话分四步：起始、响应、40 位数据、结束；结束时 DHT11 把线拉低 50 微秒再松开，线又回到高电平。40 位分成 5 个 8 位的数，最后一个是校验和：前四个数相加只取低 8 位，等于它才说明没传错；高位先发，叫“大端”。还要知道：每次读到的是 DHT11 上一次测量的结果。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左图是主机 Arduino 发的起始信号：先高电平，再拉低超过 18 毫秒，这是在“叫醒”DHT11，让它从低功耗模式切换到高速模式，然后 Arduino 松开线，上拉电阻把线拉回高电平。右图是 DHT11 的回答：先拉低 80 微秒表示“到”，再拉高 80 微秒表示“准备好了”，接着就开始发 40 位数据。原指南右边这一节的标题把 DHT 误写成了 THD。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DHT11 最巧妙的地方：它不是用“高电平 = 1、低电平 = 0”，而是用高电平持续的长短来区分。可以类比摩尔斯电码：短音是点，长音是划；这里短高电平是 0，长高电平是 1。40 位发完，DHT11 再拉低 50 微秒后松开，表示结束。这些微秒级的时序都由 dht11 库帮我们处理，程序里只要一句 DHT11.read()。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这是我们第一次用 LCD1602 显示屏：16 列 2 行，背面的 PCF8574T 转接板把十几根线变成 4 根，用 I2C 通信，下一节 2-3 会专门讲它。LCD 的 SDA、SCL 分别接 A4、A5，这两个口在 UNO 上就是 I2C 接口，这时它们不是在读模拟量。温湿度模块的信号脚 OUT 接 8 号脚，对应程序里的 #define DHT11PIN 8。原指南组件清单里的“DTH11”是笔误，应为 DHT11。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库就像借来的一整套工具：DHT11 复杂的微秒级时序、LCD 的显示细节，都已经写在库里，我们拿来就用。dht11 和 LiquidCrystal_I2C 两个库在套件资料的库文件里，要先安装，否则编译时会提示 No such file。#define 像“查找替换”，编译前把名字换成数字。对象可以类比“型号”和“你手里这一台”：dht11 是型号，DHT11 是这一台，用点号来按它的按钮、看它的读数。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用“格子本”来类比：LCD1602 是一个 16 × 2 的格子本，setCursor 是用手指点到第几格，print 是从那一格开始往后写。行和列都从 0 开始数，第二行是 1。print 的第二个参数 2 表示保留 2 位小数，(float) 先把整数变成小数，所以 24 会显示成 24.00。print 不会自动擦掉旧字，新内容比旧内容短时，后面会残留旧字符。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前三行引入三个库：Wire 负责 I2C 通信，dht11 负责读温湿度，LiquidCrystal_I2C 负责 I2C 液晶屏；第 2 行 #include 后面少了空格，也能正常编译。第 7 行创建屏幕对象 lcd，括号里依次是 I2C 地址 0x27、16 列、2 行；原指南把这行末尾的英文注释折成了两行，照抄要把 backpack 接回本行，否则编译报错，这里已经合回一行。第 9 行把 8 号脚设为输出，其实 dht11 库读数时会自己切换输入输出。第 12 行打开了串口，但这个程序没有用串口打印。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16 行 DHT11.read() 读一次温湿度，返回值 chk 是结果码，0 表示读取成功，这个程序没有用它，课后可以加上判断。第 18–20 行在第一行显示 Tep: 24.00C，Tep 是原程序对 Temp 的简写；第 22–24 行在第二行显示湿度。第 25 行 delay(200) 偏短：DHT11 两次读取最好间隔 1 秒以上，原指南也说间隔 5 秒以上最准确，建议改成 delay(2000)。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上传程序后，LCD 第一行显示温度、第二行显示湿度。可以让学生对着传感器哈一口气，湿度很快上升；用手捂住，温度慢慢上升。为什么小数部分总是 .00？因为 DHT11 只能测到整数精度，程序用 (float) 和保留 2 位小数显示，就成了 24.00。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扩展板照片里的屏幕显示 Tep:30 C 和 Hum:45 %，没有小数，说明那是另一版程序的显示格式，不影响接线方法。常见坑一：delay(200) 读得太勤，DHT11 两次读取最好隔 1 秒以上。常见坑二：LCD 背光亮但没有字，先拧背面的蓝色电位器调对比度，再检查 I2C 地址，常见是 0x27，有的屏是 0x3F。动手改一改让学生在串口里也打印湿度，体会“同一个数据，可以同时显示在两个地方”。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用右边四个方块回顾四个实验各自最核心的一句话，再请学生用自己的话解释左边四条。可以追问：超声波和 DHT11 都在“量时间”，有什么不同？（超声波量回声时间算距离，DHT11 用高电平时间长短表示 0 和 1。）下一节 2-3 学 WS2812b 彩灯和 LCD1602 动态显示。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今天的四个传感器，一个量距离，一个听指令，一个看障碍，一个感知冷暖干湿。布置课后任务：选一个传感器，设计一个小装置，比如会提醒“离屏幕太近”的台灯，或会显示温湿度的桌面小摆件，下节课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2-2　测距、通信与环境感知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2-2　测距、通信与环境感知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2-2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2-2　测距、通信与环境感知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 · 串口调节舵机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 · 温湿度传感器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四个实验，一条主线：传感器不只会“感觉”，还会“测量”，还会和 Arduino“说话”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1908810" cy="2514600"/>
          </a:xfrm>
          <a:prstGeom prst="roundRect">
            <a:avLst>
              <a:gd name="adj" fmla="val 574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453896"/>
            <a:ext cx="601218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1453896"/>
            <a:ext cx="601218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16786" y="138074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125" y="1486083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" y="1874520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超声波模块实验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76072" y="2496312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像蝙蝠一样听回声，算出前方有多远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6072" y="3063240"/>
            <a:ext cx="618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6072" y="3063240"/>
            <a:ext cx="618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6072" y="3377692"/>
            <a:ext cx="923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76072" y="3377692"/>
            <a:ext cx="923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pulseIn()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572768" y="3377692"/>
            <a:ext cx="542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572768" y="3377692"/>
            <a:ext cx="542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÷ 58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11480" y="4023360"/>
            <a:ext cx="1908810" cy="548640"/>
          </a:xfrm>
          <a:prstGeom prst="roundRect">
            <a:avLst>
              <a:gd name="adj" fmla="val 2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4023360"/>
            <a:ext cx="172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测时间 → 算距离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2347722" y="4297680"/>
            <a:ext cx="173736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548890" y="1234440"/>
            <a:ext cx="1908810" cy="2514600"/>
          </a:xfrm>
          <a:prstGeom prst="roundRect">
            <a:avLst>
              <a:gd name="adj" fmla="val 574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13482" y="1453896"/>
            <a:ext cx="601218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713482" y="1453896"/>
            <a:ext cx="601218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854196" y="138074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35" y="1486083"/>
            <a:ext cx="228234" cy="22823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2713482" y="1874520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串口调节舵机角度实验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2713482" y="2496312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在电脑上输入角度，舵机就转过去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2713482" y="3063240"/>
            <a:ext cx="10759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2713482" y="3063240"/>
            <a:ext cx="10759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available()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713482" y="3377692"/>
            <a:ext cx="6949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713482" y="3377692"/>
            <a:ext cx="6949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481578" y="3377692"/>
            <a:ext cx="771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481578" y="3377692"/>
            <a:ext cx="771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toInt()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2548890" y="4023360"/>
            <a:ext cx="190881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2640330" y="4023360"/>
            <a:ext cx="172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读字符 → 拼数字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4485132" y="4297680"/>
            <a:ext cx="173736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4686300" y="1234440"/>
            <a:ext cx="1908810" cy="2514600"/>
          </a:xfrm>
          <a:prstGeom prst="roundRect">
            <a:avLst>
              <a:gd name="adj" fmla="val 574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850892" y="1453896"/>
            <a:ext cx="601218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4850892" y="1453896"/>
            <a:ext cx="601218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991606" y="138074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945" y="1486083"/>
            <a:ext cx="228234" cy="22823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4850892" y="1874520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红外避障模块实验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4850892" y="2496312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前面有东西，就亮灯、报警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850892" y="3063240"/>
            <a:ext cx="1228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4850892" y="3063240"/>
            <a:ext cx="1228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850892" y="3377692"/>
            <a:ext cx="923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4850892" y="3377692"/>
            <a:ext cx="923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4686300" y="4023360"/>
            <a:ext cx="190881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4777740" y="4023360"/>
            <a:ext cx="172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读高低 → 做判断</a:t>
            </a:r>
            <a:endParaRPr lang="en-US" sz="1300" dirty="0"/>
          </a:p>
        </p:txBody>
      </p:sp>
      <p:sp>
        <p:nvSpPr>
          <p:cNvPr id="51" name="Shape 45"/>
          <p:cNvSpPr/>
          <p:nvPr/>
        </p:nvSpPr>
        <p:spPr>
          <a:xfrm>
            <a:off x="6622542" y="4297680"/>
            <a:ext cx="173736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2" name="Shape 46"/>
          <p:cNvSpPr/>
          <p:nvPr/>
        </p:nvSpPr>
        <p:spPr>
          <a:xfrm>
            <a:off x="6823710" y="1234440"/>
            <a:ext cx="1908810" cy="2514600"/>
          </a:xfrm>
          <a:prstGeom prst="roundRect">
            <a:avLst>
              <a:gd name="adj" fmla="val 574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988302" y="1453896"/>
            <a:ext cx="601218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6988302" y="1453896"/>
            <a:ext cx="601218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8129016" y="138074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355" y="1486083"/>
            <a:ext cx="228234" cy="228234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6988302" y="1874520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温湿度传感器模块实验</a:t>
            </a:r>
            <a:endParaRPr lang="en-US" sz="1400" dirty="0"/>
          </a:p>
        </p:txBody>
      </p:sp>
      <p:sp>
        <p:nvSpPr>
          <p:cNvPr id="58" name="Text 51"/>
          <p:cNvSpPr txBox="1"/>
          <p:nvPr/>
        </p:nvSpPr>
        <p:spPr>
          <a:xfrm>
            <a:off x="6988302" y="2496312"/>
            <a:ext cx="15796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读出温度和湿度，显示在 LCD 屏上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6988302" y="3063240"/>
            <a:ext cx="847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6988302" y="3063240"/>
            <a:ext cx="847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6988302" y="3377692"/>
            <a:ext cx="8219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6988302" y="3377692"/>
            <a:ext cx="8219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对象.成员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6823710" y="4023360"/>
            <a:ext cx="190881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6915150" y="4023360"/>
            <a:ext cx="172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按时序 → 收数据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超声波模块会“喊一声、听回声”：测出声音来回用了多少时间，就能算出前方物体有多远。顺带学会三个新词：const、delayMicroseconds() 和 pulseIn()。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回声 · s = 340 × t ÷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Trig → 2，Echo →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pulseIn() · ÷ 58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串口里看距离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认识超声波模块：像蝙蝠一样“听回声”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模块一边“喊”（发出超声波），一边“听”（接收回声），用声音来回的时间算出距离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生活里的类比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81912"/>
            <a:ext cx="397764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蝙蝠在黑暗里飞行时会发出超声波，听回声就知道前面有没有障碍物。对着山谷喊一声，回声越晚回来，山就越远。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46411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4641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2487771"/>
            <a:ext cx="357530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发射器发出超声波，同时开始计时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86645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28664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" y="2890107"/>
            <a:ext cx="357530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超声波碰到障碍物，立刻反射回来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326879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32687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" y="3292443"/>
            <a:ext cx="357530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接收器听到回声，停止计时，得到时间 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3817430"/>
            <a:ext cx="3977640" cy="754571"/>
          </a:xfrm>
          <a:prstGeom prst="roundRect">
            <a:avLst>
              <a:gd name="adj" fmla="val 14542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" y="4030123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109127"/>
            <a:ext cx="171176" cy="17117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96696" y="3844862"/>
            <a:ext cx="3282696" cy="699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通过串口显示测到的距离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原指南写“通过串口输入”，应为“输出”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63440" y="1234440"/>
            <a:ext cx="406908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22" name="Image 1" descr="原指南实验照片：右边就是超声波模块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767" y="1344168"/>
            <a:ext cx="3446426" cy="151790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773168" y="2898648"/>
            <a:ext cx="3849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原指南实验照片：右边就是超声波模块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63440" y="352044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0" y="369417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46320" y="3694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Vcc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5504688" y="3675888"/>
            <a:ext cx="11475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电源 5V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743700" y="3694176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743700" y="3694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7402068" y="3675888"/>
            <a:ext cx="11475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触发：“喊”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846320" y="409651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846320" y="40965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5504688" y="4078224"/>
            <a:ext cx="11475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接地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743700" y="409651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743700" y="40965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7402068" y="4078224"/>
            <a:ext cx="11475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回声：“听”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测距原理：距离 = 340 × t ÷ 2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声音跑了一个来回，所以算出的路程要除以 2；换成厘米和微秒，就是“回波时间 ÷ 58”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029200" cy="178308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声音走了一个来回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1737360"/>
            <a:ext cx="566928" cy="914400"/>
          </a:xfrm>
          <a:prstGeom prst="roundRect">
            <a:avLst>
              <a:gd name="adj" fmla="val 1290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3816" y="1810512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13816" y="2249424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6883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超声波模块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73752" y="1691640"/>
            <a:ext cx="219456" cy="1097280"/>
          </a:xfrm>
          <a:prstGeom prst="rect">
            <a:avLst/>
          </a:prstGeom>
          <a:solidFill>
            <a:srgbClr val="E2E2E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53712" y="1362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障碍物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362456" y="1965960"/>
            <a:ext cx="3419856" cy="91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H="1">
            <a:off x="1362456" y="2304288"/>
            <a:ext cx="3419856" cy="91"/>
          </a:xfrm>
          <a:prstGeom prst="line">
            <a:avLst/>
          </a:prstGeom>
          <a:noFill/>
          <a:ln w="28575">
            <a:solidFill>
              <a:srgbClr val="2D2D2D"/>
            </a:solidFill>
            <a:prstDash val="dash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1636776" y="16733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发出超声波（去）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636776" y="23408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碰到障碍物反射（回）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636776" y="2715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来回一共走了 2 × s，用时 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15000" y="1234440"/>
            <a:ext cx="3017520" cy="1783080"/>
          </a:xfrm>
          <a:prstGeom prst="roundRect">
            <a:avLst>
              <a:gd name="adj" fmla="val 615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1558163"/>
            <a:ext cx="4937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=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1356106"/>
            <a:ext cx="121107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340 × t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6492240" y="1732788"/>
            <a:ext cx="1211072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1760220"/>
            <a:ext cx="121107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0" y="2203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：距离（米）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0" y="24505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：声速（米/秒）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0" y="2697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：声音来回的时间（秒）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114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为什么程序里写的是 ÷ 58？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11480" y="3657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436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声速换个单位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340 m/s = 0.034 cm/μs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3017520" y="4114800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3291840" y="3657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7472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来回 1 cm 要走 2 cm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347472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÷ 0.034 ≈ 58 μs</a:t>
            </a:r>
            <a:endParaRPr lang="en-US" sz="1450" dirty="0"/>
          </a:p>
        </p:txBody>
      </p:sp>
      <p:sp>
        <p:nvSpPr>
          <p:cNvPr id="37" name="Shape 34"/>
          <p:cNvSpPr/>
          <p:nvPr/>
        </p:nvSpPr>
        <p:spPr>
          <a:xfrm>
            <a:off x="5897880" y="4114800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6172200" y="3657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5508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所以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35508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距离(cm) = t(μs) ÷ 58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时序图：Trig 喊一声，Echo 报时间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Trig 给至少 10μs 高电平 → 模块自动发出 8 个 40kHz 脉冲 → Echo 高电平持续的时间 = 声音来回的时间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76072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时序图：Trig 引脚 / 超声波发射器 / Echo 引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795" y="1344168"/>
            <a:ext cx="5458090" cy="22037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584448"/>
            <a:ext cx="5541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原指南时序图：Trig 引脚 / 超声波发射器 / Echo 引脚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4160520"/>
            <a:ext cx="5760720" cy="411480"/>
          </a:xfrm>
          <a:prstGeom prst="roundRect">
            <a:avLst>
              <a:gd name="adj" fmla="val 2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57784" y="422910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1" y="4294937"/>
            <a:ext cx="142646" cy="14264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4197096"/>
            <a:ext cx="5065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pulseIn()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是一块秒表：量出第三行 Echo 高电平有多长（微秒）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46520" y="1234440"/>
            <a:ext cx="2286000" cy="929640"/>
          </a:xfrm>
          <a:prstGeom prst="roundRect">
            <a:avLst>
              <a:gd name="adj" fmla="val 1180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574536" y="134416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574536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922008" y="13167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 pin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574536" y="1664208"/>
            <a:ext cx="20665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给 ≥10μs 高电平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“测一次”的命令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46520" y="2438400"/>
            <a:ext cx="228600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74536" y="254812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574536" y="2548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922008" y="25206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Ultrasonic Sender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574536" y="2868168"/>
            <a:ext cx="20665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模块自动发 8 个 40kHz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超声波脉冲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46520" y="3642360"/>
            <a:ext cx="228600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74536" y="3752088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574536" y="3752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922008" y="37246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Pin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574536" y="4072128"/>
            <a:ext cx="206654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高电平持续的时间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声音来回的时间 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组件清单与接线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VCC 接 5V、GND 接 GND；Trig 接 2 号脚（Arduino 发命令），Echo 接 3 号脚（Arduino 收结果）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6118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244" y="1344168"/>
            <a:ext cx="3092352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234440"/>
          <a:ext cx="438912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254569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Ultrasonic（超声波模块）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(Vcc)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(Trig)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(Echo)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(Gnd)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343400" y="2880360"/>
            <a:ext cx="2057400" cy="886968"/>
          </a:xfrm>
          <a:prstGeom prst="roundRect">
            <a:avLst>
              <a:gd name="adj" fmla="val 1237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489704" y="2953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Trig ← 2 号脚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489704" y="3246120"/>
            <a:ext cx="1783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OUTPUT：Arduino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发出“测一次”的命令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675120" y="2880360"/>
            <a:ext cx="2057400" cy="886968"/>
          </a:xfrm>
          <a:prstGeom prst="roundRect">
            <a:avLst>
              <a:gd name="adj" fmla="val 123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21424" y="2953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Echo → 3 号脚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821424" y="3246120"/>
            <a:ext cx="1783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INPUT：模块把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测量结果送回来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343400" y="4041648"/>
            <a:ext cx="4389120" cy="530352"/>
          </a:xfrm>
          <a:prstGeom prst="roundRect">
            <a:avLst>
              <a:gd name="adj" fmla="val 206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07992" y="407822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主板、面包板、USB 数据线、超声波模块 ×1、若干跳线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新语法小课堂：const、delayMicroseconds()、pulseIn()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const 给数字“钉上名字”不许再改；delayMicroseconds() 按微秒等待；pulseIn() 是量高电平的秒表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90800" cy="3337560"/>
          </a:xfrm>
          <a:prstGeom prst="roundRect">
            <a:avLst>
              <a:gd name="adj" fmla="val 42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076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80744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const 常量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76072" y="1819656"/>
            <a:ext cx="22616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像门牌号：钉上去就不改了。用名字代替数字，好读又防误改。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6072" y="2521458"/>
            <a:ext cx="2261616" cy="537972"/>
          </a:xfrm>
          <a:prstGeom prst="roundRect">
            <a:avLst>
              <a:gd name="adj" fmla="val 1359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4088" y="2603754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04088" y="2790444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报错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76072" y="3303270"/>
            <a:ext cx="2261616" cy="1122426"/>
          </a:xfrm>
          <a:prstGeom prst="roundRect">
            <a:avLst>
              <a:gd name="adj" fmla="val 6517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3412998"/>
            <a:ext cx="237744" cy="23774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03" y="3470057"/>
            <a:ext cx="123627" cy="1236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05840" y="341299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04088" y="3705606"/>
            <a:ext cx="200558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 const 再赋值会编译报错：要改，就改它的初始值。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76600" y="1234440"/>
            <a:ext cx="2590800" cy="3337560"/>
          </a:xfrm>
          <a:prstGeom prst="roundRect">
            <a:avLst>
              <a:gd name="adj" fmla="val 42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441192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196" y="1459748"/>
            <a:ext cx="171176" cy="171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880104" y="1380744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delayMicroseconds()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3441192" y="1819656"/>
            <a:ext cx="22616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更细的计时单位：1 秒 = 1000 毫秒 = 1000000 微秒（μs）。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441192" y="2521458"/>
            <a:ext cx="2261616" cy="537972"/>
          </a:xfrm>
          <a:prstGeom prst="roundRect">
            <a:avLst>
              <a:gd name="adj" fmla="val 1359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3569208" y="2603754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3569208" y="2790444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秒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441192" y="3303270"/>
            <a:ext cx="2261616" cy="1122426"/>
          </a:xfrm>
          <a:prstGeom prst="roundRect">
            <a:avLst>
              <a:gd name="adj" fmla="val 6517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560064" y="3412998"/>
            <a:ext cx="237744" cy="23774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123" y="3470057"/>
            <a:ext cx="123627" cy="12362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870960" y="341299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3569208" y="3705606"/>
            <a:ext cx="200558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delay(0.01) 不等于 10μs：delay() 只认整数毫秒。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141720" y="1234440"/>
            <a:ext cx="2590800" cy="3337560"/>
          </a:xfrm>
          <a:prstGeom prst="roundRect">
            <a:avLst>
              <a:gd name="adj" fmla="val 42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306312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316" y="1459748"/>
            <a:ext cx="171176" cy="17117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745224" y="1380744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pulseIn(引脚, HIGH)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6306312" y="1819656"/>
            <a:ext cx="22616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像秒表：Echo 一变高就开始计时，变低就停表，返回多少微秒。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306312" y="2521458"/>
            <a:ext cx="2261616" cy="537972"/>
          </a:xfrm>
          <a:prstGeom prst="roundRect">
            <a:avLst>
              <a:gd name="adj" fmla="val 1359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434328" y="2603754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6434328" y="2790444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高电平的微秒数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306312" y="3303270"/>
            <a:ext cx="2261616" cy="1122426"/>
          </a:xfrm>
          <a:prstGeom prst="roundRect">
            <a:avLst>
              <a:gd name="adj" fmla="val 6517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25184" y="3412998"/>
            <a:ext cx="237744" cy="23774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2243" y="3470057"/>
            <a:ext cx="123627" cy="12362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736080" y="341299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6434328" y="3705606"/>
            <a:ext cx="200558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Echo 一直没变高（线没插牢）时，等约 1 秒返回 0：读数是 0 先查线。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const 给两个引脚起名，准备一个小数变量装距离；setup() 里设好输入输出、打开串口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34340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ultrasonic.ino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129844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1–10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2519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42519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743964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1942592"/>
            <a:ext cx="42519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1942592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56016" y="2538476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2737104"/>
            <a:ext cx="42519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737104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2935732"/>
            <a:ext cx="42519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2935732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134360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"Ultrasonic sensor:"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56016" y="3332988"/>
            <a:ext cx="37708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07492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7492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889752" y="1591056"/>
            <a:ext cx="28427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const 常量：Trig 接 2 号脚、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Echo 接 3 号脚，运行中不会变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074920" y="209092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74920" y="209092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744972" y="2081784"/>
            <a:ext cx="2987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float 小数变量，用来装算出的距离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074920" y="252806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074920" y="252806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5744972" y="2518918"/>
            <a:ext cx="2987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打开串口，速度 9600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074920" y="285724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074920" y="285724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889752" y="2848102"/>
            <a:ext cx="284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Trig 设为输出、Echo 设为输入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074920" y="318643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074920" y="318643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744972" y="3177286"/>
            <a:ext cx="2987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先打印一行标题 Ultrasonic sensor: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11480" y="4023360"/>
            <a:ext cx="8321040" cy="548640"/>
          </a:xfrm>
          <a:prstGeom prst="roundRect">
            <a:avLst>
              <a:gd name="adj" fmla="val 20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57784" y="413308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212092"/>
            <a:ext cx="171176" cy="171176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1014984" y="4059936"/>
            <a:ext cx="7571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原指南此处程序空白：这里用同一套件《Arduino 编程入门学习教程》第 2.38 讲的程序，引脚与本指南一致（Trig 2、Echo 3）。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代码逐行看懂（2/2）：喊一声，量回声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每一轮：Trig 发 10 微秒高电平“喊一声”→ pulseIn() 量回声 → ÷ 58 换成厘米 → 打印 → 等 1 秒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2628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ultrasonic.ino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21992" y="129844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11–24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56016" y="1545336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6016" y="1743964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942592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56016" y="2141220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339848"/>
            <a:ext cx="44348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339848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2538476"/>
            <a:ext cx="44348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2935732"/>
            <a:ext cx="44348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935732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"distance is :"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332988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56016" y="3531616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"cm"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57200" y="3730244"/>
            <a:ext cx="44348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56016" y="3730244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928872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12750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4127500"/>
            <a:ext cx="39537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2578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257800" y="193217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257800" y="193217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13–14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227064" y="192303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Trig 先拉低 2 微秒，“清零”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257800" y="232943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257800" y="232943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15–17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227064" y="2320290"/>
            <a:ext cx="250545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高电平 10 微秒再拉低 = “喊一声”，模块自动发出 8 个脉冲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257800" y="292531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257800" y="292531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005068" y="2916174"/>
            <a:ext cx="272745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Echo 高电平的微秒数 ÷ 58 = 厘米；写成 58.00 才保留小数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257800" y="341604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257800" y="341604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19–22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227064" y="3406902"/>
            <a:ext cx="250545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拼成 distance is :8.57cm，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 println() 换行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257800" y="391845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257800" y="391845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005068" y="3909314"/>
            <a:ext cx="2727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1 秒，再测下一次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实验结果：串口里每秒刷新一次距离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打开串口监视器（9600 波特率），先显示 Ultrasonic sensor:，之后每秒一行 distance is :xx.xxcm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7490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串口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84" y="1344168"/>
            <a:ext cx="3448232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原指南串口截图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480560" y="1234440"/>
            <a:ext cx="425196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2686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6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84064" y="137160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实验现象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084064" y="1682496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串口先打印一行 Ultrasonic sensor:，之后每秒一行距离；挡在前面的物体越近，数字越小。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4805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怎么读截图里的数字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926080"/>
          <a:ext cx="4251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串口读数（cm）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4.40 / 8.57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物体离模块只有几厘米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114.98 / 119.64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物体在 1 米多远的地方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243.98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前方空旷，测到了远处的物体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超声波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常见坑与动手改一改：做个“倒车雷达”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读数不对先查 Trig / Echo 两根线和被测物体；再加几行代码，让它离得太近就亮灯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9903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87" y="1473647"/>
            <a:ext cx="161666" cy="1616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6696" y="139903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读数一直是 0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76072" y="1819656"/>
            <a:ext cx="369417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Echo 等不到高电平，pulseIn() 超时就返回 0。多半是 Trig、Echo 接反或没插牢：对照接线表查 2、3 号脚。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6072" y="32049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" y="3279587"/>
            <a:ext cx="161666" cy="1616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6696" y="320497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读数忽大忽小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576072" y="3625596"/>
            <a:ext cx="369417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超声波碰到斜面、软布、海绵会被反射偏或被吸收；离得太近（几厘米以内）也测不准。对着平整的硬物测最稳。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9204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822" y="1477670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85816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挑战：小于 10 厘米就亮灯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4892040" y="18653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物体靠近到 10 厘米以内，板载 L 灯就亮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（L 灯接在 13 号脚）。加两处代码：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892040" y="2414016"/>
            <a:ext cx="3657600" cy="1471422"/>
          </a:xfrm>
          <a:prstGeom prst="roundRect">
            <a:avLst>
              <a:gd name="adj" fmla="val 497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020056" y="2496312"/>
            <a:ext cx="3401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setup() 里加：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5020056" y="2683002"/>
            <a:ext cx="3401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020056" y="2869692"/>
            <a:ext cx="3401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loop() 里 delay(1000); 前面加：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020056" y="3056382"/>
            <a:ext cx="3401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020056" y="3243072"/>
            <a:ext cx="3401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020056" y="3429762"/>
            <a:ext cx="3401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020056" y="3616452"/>
            <a:ext cx="34015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4892040" y="4013454"/>
            <a:ext cx="3657600" cy="467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再试试：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delay(1000) 改成 delay(200)，灯的反应更灵敏。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串口调节舵机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在电脑的串口监视器里输入一个角度，舵机就转到那个角度。舵机在 2-1 已经认识过；这一节的新本领是：从串口一个个读入字符，拼成一个数字。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回顾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舵机：脉宽决定角度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 → 13 号脚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available() · read()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toInt()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0、90、180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回顾：舵机的结构与控制信号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舵机里有电机、齿轮、电位器和控制电路；Arduino 每 20ms 发一个脉冲，高电平的宽度决定转到几度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240280" cy="3337560"/>
          </a:xfrm>
          <a:prstGeom prst="roundRect">
            <a:avLst>
              <a:gd name="adj" fmla="val 489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舵机内部结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18844"/>
            <a:ext cx="2020824" cy="26944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原指南：舵机内部结构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26080" y="1234440"/>
            <a:ext cx="5806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0" name="Image 1" descr="原指南：周期（Cycle）20ms，脉宽（pulse width）1ms (Min) – 2ms (Max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43" y="1344168"/>
            <a:ext cx="4499913" cy="16093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035808" y="2990088"/>
            <a:ext cx="558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原指南：周期（Cycle）20ms，脉宽（pulse width）1ms (Min) – 2ms (Max)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926080" y="3611880"/>
            <a:ext cx="5806440" cy="96012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108960" y="3685032"/>
            <a:ext cx="230428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driveshaft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输出轴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486400" y="3685032"/>
            <a:ext cx="299008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motor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直流电机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108960" y="3956304"/>
            <a:ext cx="230428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gear train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减速齿轮组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0" y="3956304"/>
            <a:ext cx="299008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control electronics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控制电路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108960" y="4227576"/>
            <a:ext cx="230428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potentiometer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电位器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4227576"/>
            <a:ext cx="2990088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没转到位就继续转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回顾：脉冲越宽，角度越大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高电平 0.5ms → 0°，1.5ms → 90°，2.5ms → 180°；小于 1.5ms 逆时针转，大于 1.5ms 顺时针转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：最小 / 中间 / 最大脉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66711"/>
            <a:ext cx="4535424" cy="239869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原指南：最小 / 中间 / 最大脉冲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34440"/>
          <a:ext cx="3246120" cy="914400"/>
        </p:xfrm>
        <a:graphic>
          <a:graphicData uri="http://schemas.openxmlformats.org/drawingml/2006/table">
            <a:tbl>
              <a:tblPr/>
              <a:tblGrid>
                <a:gridCol w="1623060"/>
                <a:gridCol w="16230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高电平宽度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舵机角度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90°（中间）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135°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180°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0" y="31546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632704" y="33009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708" y="3379988"/>
            <a:ext cx="171176" cy="1711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089904" y="32918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图和正文不一样？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089904" y="3602736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周期图写 1ms–2ms，正文写 0.5ms–2.5ms：不同舵机的范围本来就有差别。Servo 库会替我们换算，写 write(角度) 即可。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实验目的、组件与接线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舵机三根线：黑线接 GND，红线接 VCC（5V），黄色信号线接 13 号脚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76521"/>
            <a:ext cx="3163824" cy="27790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069080" y="1234440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153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38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72584" y="137160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实验目的与原理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672584" y="168249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UNO 主板调整舵机角度：烧录程序后，在串口监视器里输入角度，舵机就转到对应的位置。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2560320"/>
          <a:ext cx="21488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舵机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黑线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红线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黄线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492240" y="2560320"/>
            <a:ext cx="2240280" cy="1207008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656832" y="265176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6656832" y="2944368"/>
            <a:ext cx="1911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Keywish UNO R3 主板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 · SG90 舵机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069080" y="4041648"/>
            <a:ext cx="4663440" cy="530352"/>
          </a:xfrm>
          <a:prstGeom prst="roundRect">
            <a:avLst>
              <a:gd name="adj" fmla="val 2069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215384" y="414223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388" y="4221236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72584" y="407822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线色对照：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SG90 的线常见为 棕 / 红 / 橙，分别对应表里的 黑 / 红 / 黄（GND / 电源 / 信号）。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新语法小课堂：从串口读一串数字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串口一次只能取 1 个字符：用 while 把字符一个个取出来，拼成一串，再变成数字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8321040" cy="786384"/>
          </a:xfrm>
          <a:prstGeom prst="roundRect">
            <a:avLst>
              <a:gd name="adj" fmla="val 1395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13258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" y="13258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180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2064" y="174650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65376" y="1517904"/>
            <a:ext cx="2743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194560" y="1325880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94560" y="1325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33472" y="1325880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33472" y="1325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'8'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72384" y="1325880"/>
            <a:ext cx="365760" cy="384048"/>
          </a:xfrm>
          <a:prstGeom prst="roundRect">
            <a:avLst>
              <a:gd name="adj" fmla="val 15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72384" y="1325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084832" y="1746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read() 每次取 1 个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93008" y="1517904"/>
            <a:ext cx="2743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822192" y="13258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77056" y="13258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"180"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712464" y="174650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String 用 += 拼接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40096" y="1517904"/>
            <a:ext cx="2743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669280" y="13258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24144" y="132588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= 180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59552" y="1746504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toInt() 变成数字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050024" y="1517904"/>
            <a:ext cx="2743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379208" y="13258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34072" y="132588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转到 180°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174650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myservo.write()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11480" y="2295144"/>
            <a:ext cx="2590800" cy="2276856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6072" y="24414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076" y="2520452"/>
            <a:ext cx="171176" cy="17117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014984" y="2441448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串口像个信箱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576072" y="2880360"/>
            <a:ext cx="22616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available() 问还剩几个字符；read() 每次只取 1 个。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76072" y="3372612"/>
            <a:ext cx="2261616" cy="351282"/>
          </a:xfrm>
          <a:prstGeom prst="roundRect">
            <a:avLst>
              <a:gd name="adj" fmla="val 2082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04088" y="3454908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inByte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576072" y="3861054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41" y="3913723"/>
            <a:ext cx="114117" cy="11411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86968" y="3842766"/>
            <a:ext cx="1950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以为 read() 一次能读到整个“180”。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3276600" y="2295144"/>
            <a:ext cx="2590800" cy="2276856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441192" y="24414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196" y="2520452"/>
            <a:ext cx="171176" cy="171176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3880104" y="2441448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字符串像串珠子</a:t>
            </a:r>
            <a:endParaRPr lang="en-US" sz="1350" dirty="0"/>
          </a:p>
        </p:txBody>
      </p:sp>
      <p:sp>
        <p:nvSpPr>
          <p:cNvPr id="44" name="Text 38"/>
          <p:cNvSpPr txBox="1"/>
          <p:nvPr/>
        </p:nvSpPr>
        <p:spPr>
          <a:xfrm>
            <a:off x="3441192" y="2880360"/>
            <a:ext cx="22616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String 装一串字符，+= 接到末尾："1"→"18"→"180"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3441192" y="3372612"/>
            <a:ext cx="2261616" cy="351282"/>
          </a:xfrm>
          <a:prstGeom prst="roundRect">
            <a:avLst>
              <a:gd name="adj" fmla="val 2082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3569208" y="3454908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inByte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3441192" y="3861054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861" y="3913723"/>
            <a:ext cx="114117" cy="114117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3752088" y="3842766"/>
            <a:ext cx="1950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用完不清空，下次会拼成“18090”。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6141720" y="2295144"/>
            <a:ext cx="2590800" cy="2276856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6306312" y="24414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316" y="2520452"/>
            <a:ext cx="171176" cy="171176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6745224" y="2441448"/>
            <a:ext cx="1822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纸条换成数字</a:t>
            </a:r>
            <a:endParaRPr lang="en-US" sz="1350" dirty="0"/>
          </a:p>
        </p:txBody>
      </p:sp>
      <p:sp>
        <p:nvSpPr>
          <p:cNvPr id="54" name="Text 46"/>
          <p:cNvSpPr txBox="1"/>
          <p:nvPr/>
        </p:nvSpPr>
        <p:spPr>
          <a:xfrm>
            <a:off x="6306312" y="2880360"/>
            <a:ext cx="22616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toInt() 把文字 "180" 变成能交给舵机的数字 180。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6306312" y="3372612"/>
            <a:ext cx="2261616" cy="351282"/>
          </a:xfrm>
          <a:prstGeom prst="roundRect">
            <a:avLst>
              <a:gd name="adj" fmla="val 2082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6434328" y="3454908"/>
            <a:ext cx="2005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</p:txBody>
      </p:sp>
      <p:sp>
        <p:nvSpPr>
          <p:cNvPr id="57" name="Shape 49"/>
          <p:cNvSpPr/>
          <p:nvPr/>
        </p:nvSpPr>
        <p:spPr>
          <a:xfrm>
            <a:off x="6306312" y="3861054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981" y="3913723"/>
            <a:ext cx="114117" cy="114117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6617208" y="3842766"/>
            <a:ext cx="1950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“abc”不是数字，toInt() 得到 0。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代码逐行看懂（1/3）：准备工作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引入舵机库、创建舵机对象，再准备三个“盒子”：一个装字符，一个装角度，一个拼字符串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5488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serial_servo.ino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13432" y="129844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1–12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74396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 myservo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56016" y="194259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ServoPin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141220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inByte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538476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53847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//Temporary character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2737104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73710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variables, or use it for the cache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293573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134360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56016" y="3332988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//Set the baud rate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56016" y="353161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7200" y="3730244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56016" y="373024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392887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486400" y="1234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8640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301232" y="1591056"/>
            <a:ext cx="243128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引入舵机库，创建舵机对象 myservo（2-1 学过）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486400" y="209092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86400" y="209092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156452" y="2081784"/>
            <a:ext cx="25760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信号线接 13 号脚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486400" y="2420112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486400" y="2420112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4–5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01232" y="2410968"/>
            <a:ext cx="243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char 装 1 个字符；angle 装角度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486400" y="274929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486400" y="274929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156452" y="2740152"/>
            <a:ext cx="25760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String 字符串 temp：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先放一个空串 ""，用来拼字符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486400" y="3322574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486400" y="3322574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9–11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378448" y="3313430"/>
            <a:ext cx="235407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开串口 9600；13 号脚设为输出；attach 把舵机“绑”到 13 号脚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代码逐行看懂（2/3）：把字符一个个读进来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只要串口里还有没读的字符，while 就一直转：每圈取 1 个字符，接到 temp 的末尾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2606040"/>
          </a:xfrm>
          <a:prstGeom prst="roundRect">
            <a:avLst>
              <a:gd name="adj" fmla="val 350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serial_servo.ino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86584" y="12984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13–19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8492" y="1545336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8492" y="1726692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1908048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28492" y="1908048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&gt;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//Determine whether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089404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28492" y="2089404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 serial data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28492" y="2270760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2452116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28492" y="2452116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inByte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//Read data, the serial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633472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28492" y="2633472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 can only read 1 character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2814828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28492" y="2814828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inByte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//The characters read into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2996184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828492" y="2996184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temporary variables inside the cache, Continue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3177540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828492" y="3177540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 determine the serial port there is no data,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57200" y="3358896"/>
            <a:ext cx="484632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828492" y="3358896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know all the data read out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54025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28492" y="3540252"/>
            <a:ext cx="439273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669280" y="1234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669280" y="160020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69280" y="160020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416548" y="1591056"/>
            <a:ext cx="2315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一遍遍重复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69280" y="192938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69280" y="192938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416548" y="1920240"/>
            <a:ext cx="231597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while：串口里还有没读的字符，就继续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669280" y="243306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669280" y="243306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416548" y="2423922"/>
            <a:ext cx="231597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read() 取出 1 个字符，放进 inByte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669280" y="292379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0" y="292379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416548" y="2914650"/>
            <a:ext cx="2315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inByte 接到 temp 的末尾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669280" y="352120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669280" y="352120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19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416548" y="3512058"/>
            <a:ext cx="2315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字符全部读完，跳出 while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669280" y="3996690"/>
            <a:ext cx="3063240" cy="575310"/>
          </a:xfrm>
          <a:prstGeom prst="roundRect">
            <a:avLst>
              <a:gd name="adj" fmla="val 1907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815584" y="4033266"/>
            <a:ext cx="2770632" cy="502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原指南第 18 行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的注释被排版折成两行，这里合回一行，否则编译报错。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11480" y="4114800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39496" y="41148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180：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1399032" y="4197096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399032" y="41970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圈 "1"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2551176" y="4343400"/>
            <a:ext cx="10972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2697480" y="4197096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2697480" y="41970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圈 "18"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3849624" y="4343400"/>
            <a:ext cx="10972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3995928" y="4197096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995928" y="41970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圈 "180"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代码逐行看懂（3/3）：拼好的数字交给舵机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收到新输入就把文字变成数字、在串口回一句，再清空 temp；舵机始终转到 angle 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serial_servo.ino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21–32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Determine whether the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temporary variable is empty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115312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42254" y="2115312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//Convert variable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305304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305304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type to integer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2254" y="2495296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"Servo degree: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42254" y="2685288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//Control the servo to rotate the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corresponding angle.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445256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42254" y="3445256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//Please see temporary variables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3635248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635248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3825240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//Delayed 100 milliseconds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4015232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42254" y="4205224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57784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577840" y="160020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577840" y="160020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 行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6325108" y="1591056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temp 不是空的 = 刚收到新输入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577840" y="210058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577840" y="210058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 行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325108" y="2091436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toInt()：文字 "180" → 数字 180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577840" y="248056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577840" y="24805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24–25 行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547104" y="2471420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串口回一句 Servo degree: 180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577840" y="295300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577840" y="295300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26 行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6325108" y="2943860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只是注释：真正转动的是第 29 行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5577840" y="343052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577840" y="343052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28 行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6325108" y="3421380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清空 temp，等下一次输入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5577840" y="374142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577840" y="374142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29–30 行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6547104" y="3732276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舵机转到 angle 度；等 0.1 秒再来一圈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实验步骤：接上电池，打开串口监视器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程序烧录后先不要拔 USB 线，再把电池插头插到 UNO 上一起供电，然后打开 IDE 的串口监视器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377440" cy="333756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：舵机 + 电池供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898" y="1344168"/>
            <a:ext cx="2090604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原指南实物：舵机 + 电池供电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063240" y="1234440"/>
            <a:ext cx="3017520" cy="333756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10" name="Image 1" descr="打开串口监视器示意图：只看红框里的按钮 （截图里的代码版本略有不同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418993"/>
            <a:ext cx="2798064" cy="254783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172968" y="407822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打开串口监视器示意图：只看红框里的按钮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（截图里的代码版本略有不同）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6355080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三步走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355080" y="165506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775704" y="1692227"/>
            <a:ext cx="1956816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烧录后先别拔 USB 线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55080" y="2130552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130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775704" y="2121408"/>
            <a:ext cx="1956816" cy="67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插上电池：UNO 改用电池供电，舵机大电流不再压在 USB 上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296827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96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775704" y="2959132"/>
            <a:ext cx="1956816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 IDE 右上角“串口监视器”，选 9600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55080" y="374904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01384" y="401421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610" y="4084442"/>
            <a:ext cx="152156" cy="1521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22008" y="378561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不拔 USB：串口监视器要靠它和电脑“聊天”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实验结果：输入角度，舵机跟着转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在串口监视器里依次输入 0、90、180、90，每输入一次，串口回一句 Servo degree:，舵机转到对应角度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串口输入舵机角度数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805" y="1344168"/>
            <a:ext cx="2986949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原指南：串口输入舵机角度数值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389120" y="123444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26280" y="1325880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42307" y="1655064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H="1">
            <a:off x="4806681" y="1947672"/>
            <a:ext cx="228234" cy="91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998339" y="191109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26280" y="227685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0°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09819" y="1947672"/>
            <a:ext cx="26746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5543550" y="1325880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90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759577" y="1655064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 flipV="1">
            <a:off x="6052185" y="1719438"/>
            <a:ext cx="91" cy="228234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015609" y="191109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543550" y="227685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90°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27089" y="1947672"/>
            <a:ext cx="26746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6560820" y="1325880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180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776847" y="1655064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69455" y="1947672"/>
            <a:ext cx="228234" cy="91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7032879" y="191109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60820" y="227685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180°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444359" y="1947672"/>
            <a:ext cx="26746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7578090" y="1325880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90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794117" y="1655064"/>
            <a:ext cx="585216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flipV="1">
            <a:off x="8086725" y="1719438"/>
            <a:ext cx="91" cy="228234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8050149" y="191109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578090" y="227685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90°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389120" y="2880360"/>
            <a:ext cx="4343400" cy="6858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553712" y="2880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右下角这样设：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943600" y="3076956"/>
            <a:ext cx="899668" cy="29260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943600" y="3076956"/>
            <a:ext cx="899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没有结束符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971284" y="3076956"/>
            <a:ext cx="1022604" cy="292608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971284" y="3076956"/>
            <a:ext cx="1022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389120" y="3840480"/>
            <a:ext cx="434340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535424" y="40416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428" y="4120652"/>
            <a:ext cx="171176" cy="171176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4992624" y="3877056"/>
            <a:ext cx="3593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在串口监视器分别输入以上舵机角度值之后，会发现舵机会转动。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串口调节舵机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常见坑与动手改一改：把角度限制在 0～180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行结束符、供电是两个常见坑；再用 constrain() 把输入的角度“关进笼子”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9903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87" y="1473647"/>
            <a:ext cx="161666" cy="1616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6696" y="139903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空着点“发送”，舵机跳回 0°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76072" y="1819656"/>
            <a:ext cx="369417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行结束符选了“换行”时，空着发送也会送出一个换行符：temp 不为空，toInt() 得到 0。选“没有结束符”就不会这样。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3040380"/>
            <a:ext cx="402336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6072" y="32049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" y="3279587"/>
            <a:ext cx="161666" cy="1616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6696" y="320497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舵机抖动、板子反复重启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576072" y="3625596"/>
            <a:ext cx="369417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舵机转动的瞬间电流很大，只靠 USB 供电会“掉电”。按原指南插上电池供电。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9204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822" y="1477670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85816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挑战：只接受 0～180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4892040" y="18653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200 时，串口照样打印 Servo degree: 200，可舵机最多只转到 180°。在第 23 行后面加一行：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892040" y="2560320"/>
            <a:ext cx="3657600" cy="360172"/>
          </a:xfrm>
          <a:prstGeom prst="roundRect">
            <a:avLst>
              <a:gd name="adj" fmla="val 2031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020056" y="2642616"/>
            <a:ext cx="3401568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30667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constrain(值, 最小, 最大)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：比最小还小就取最小，比最大还大就取最大。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892040" y="3688588"/>
            <a:ext cx="3657600" cy="77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再试试：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45、135，对照“脉冲宽度”那一页的表，看角度对不对。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03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红外避障模块像一只会“看”障碍物的眼睛：前面有东西，它就输出低电平。程序和 1-3 的小磁簧开关几乎一样——输入换了，逻辑不变。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发射管 + 接收管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→ 12，LED → 11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 → 13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挡一下：灯亮、响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认识红外避障模块：看“反光”找障碍物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透明的发射管发出红外线，碰到障碍物反射回来被黑色的接收管收到：绿灯亮，OUT 输出低电平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233172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红外避障模块实物图（原指南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890" y="1344168"/>
            <a:ext cx="3011100" cy="1837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186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红外避障模块实物图（原指南）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840480"/>
            <a:ext cx="1127760" cy="731520"/>
          </a:xfrm>
          <a:prstGeom prst="roundRect">
            <a:avLst>
              <a:gd name="adj" fmla="val 15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9496" y="3931920"/>
            <a:ext cx="90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2–30 cm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39496" y="4261104"/>
            <a:ext cx="87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有效检测距离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813560" y="3840480"/>
            <a:ext cx="112776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941576" y="3931920"/>
            <a:ext cx="90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3.3–5 V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941576" y="4261104"/>
            <a:ext cx="87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工作电压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15640" y="3840480"/>
            <a:ext cx="112776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43656" y="3931920"/>
            <a:ext cx="90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蓝色旋钮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343656" y="4261104"/>
            <a:ext cx="871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调检测距离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12344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像拿手电筒照墙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1581912"/>
            <a:ext cx="397764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前面有墙，就能看到反光；前面空空的，光就有去无回。模块用看不见的红外线做同样的事。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663440" y="2218817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663440" y="2218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065776" y="2242471"/>
            <a:ext cx="357530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透明的发射管发出红外线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663440" y="2621153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663440" y="26211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065776" y="2644807"/>
            <a:ext cx="357530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遇到障碍物，红外线反射回来被接收管收到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663440" y="3023489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663440" y="30234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065776" y="3047143"/>
            <a:ext cx="357530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比较器判断后：绿灯亮，OUT 输出低电平 0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663440" y="3840480"/>
            <a:ext cx="406908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09744" y="40416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48" y="4120652"/>
            <a:ext cx="171176" cy="171176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66944" y="3877056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用在哪：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机器人避障、避障小车、流水线计数、黑白线循迹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实验目的、组件与原理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前方有障碍物 → LED 亮、蜂鸣器响；没有障碍物 → 全部熄灭。和 1-3 的小磁簧开关是同一个套路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了解红外避障模块的工作原理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用 UNO 获取红外避障模块的值，控制蜂鸣器和 LED 灯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11480" y="27889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" y="2916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" y="3246120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" y="3305373"/>
            <a:ext cx="128382" cy="12838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4400" y="32461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R3 主板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4360" y="3547872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13" y="3607125"/>
            <a:ext cx="128382" cy="12838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" y="35478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94360" y="384962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" y="3908877"/>
            <a:ext cx="128382" cy="12838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4400" y="384962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94360" y="4151376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13" y="4210629"/>
            <a:ext cx="128382" cy="12838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14400" y="41513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2423160" y="3246120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413" y="3305373"/>
            <a:ext cx="128382" cy="12838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743200" y="32461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红外避障模块 ×1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2423160" y="3547872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2413" y="3607125"/>
            <a:ext cx="128382" cy="12838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2743200" y="35478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 ×1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2423160" y="384962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2413" y="3908877"/>
            <a:ext cx="128382" cy="12838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2743200" y="384962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 ×1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46634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4663440" y="1600200"/>
            <a:ext cx="1161288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4718304" y="1600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前方有障碍物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5861304" y="1929384"/>
            <a:ext cx="219456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8" name="Shape 27"/>
          <p:cNvSpPr/>
          <p:nvPr/>
        </p:nvSpPr>
        <p:spPr>
          <a:xfrm>
            <a:off x="6117336" y="1600200"/>
            <a:ext cx="1161288" cy="658368"/>
          </a:xfrm>
          <a:prstGeom prst="roundRect">
            <a:avLst>
              <a:gd name="adj" fmla="val 1111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6172200" y="1600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输出 0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7315200" y="1929384"/>
            <a:ext cx="219456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1" name="Shape 30"/>
          <p:cNvSpPr/>
          <p:nvPr/>
        </p:nvSpPr>
        <p:spPr>
          <a:xfrm>
            <a:off x="7571232" y="1600200"/>
            <a:ext cx="1161288" cy="658368"/>
          </a:xfrm>
          <a:prstGeom prst="roundRect">
            <a:avLst>
              <a:gd name="adj" fmla="val 11111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7626096" y="16002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亮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蜂鸣器响</a:t>
            </a:r>
            <a:endParaRPr lang="en-US" sz="1250" dirty="0"/>
          </a:p>
        </p:txBody>
      </p:sp>
      <p:sp>
        <p:nvSpPr>
          <p:cNvPr id="43" name="Text 32"/>
          <p:cNvSpPr txBox="1"/>
          <p:nvPr/>
        </p:nvSpPr>
        <p:spPr>
          <a:xfrm>
            <a:off x="4663440" y="23317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没有障碍物：OUT 输出 1 → LED 灭、蜂鸣器不响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4663440" y="28072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1-3 的小磁簧开关比一比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154680"/>
          <a:ext cx="4069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40180"/>
                <a:gridCol w="14401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小磁簧开关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红外避障模块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触发条件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磁铁靠近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前方有障碍物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触发时读到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0（低电平）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0（低电平）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引脚与程序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 / 11 / 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完全相同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接线：三个模块，三张表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红外模块 OUT 接 12，LED 模块 + 接 11，有源蜂鸣器 + 接 13；所有 GND 都接 UNO 的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519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LED 用的是 RGB 贴片模块（11 → R 脚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56016"/>
            <a:ext cx="4032504" cy="2820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原指南接线图：LED 用的是 RGB 贴片模块（11 → R 脚）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234440"/>
          <a:ext cx="37490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红外避障模块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2606040"/>
          <a:ext cx="37490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3703320"/>
          <a:ext cx="37490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有源蜂鸣器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先给三个引脚起名字、准备装读数的盒子，再在 setup() 里分好输入和输出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ir_obstacle.ino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020824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1–11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1925320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2254" y="192532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42254" y="211531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2875280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065272"/>
            <a:ext cx="39319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445256"/>
            <a:ext cx="34645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475488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75488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5488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1–3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569712" y="1591056"/>
            <a:ext cx="31628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给三个引脚起名字：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11、蜂鸣器 13、传感器 12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754880" y="210058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754880" y="210058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424932" y="2091436"/>
            <a:ext cx="3307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val：装读数的盒子，先放 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754880" y="242976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754880" y="242976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424932" y="2420620"/>
            <a:ext cx="3307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setup()：通电后只运行一次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754880" y="2758948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754880" y="2758948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569712" y="2749804"/>
            <a:ext cx="316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LED、蜂鸣器设为输出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754880" y="3088132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754880" y="3088132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9–10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646928" y="3078988"/>
            <a:ext cx="3085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红外模块设为输入；打开串口 9600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11480" y="4023360"/>
            <a:ext cx="8321040" cy="548640"/>
          </a:xfrm>
          <a:prstGeom prst="roundRect">
            <a:avLst>
              <a:gd name="adj" fmla="val 20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57784" y="413308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212092"/>
            <a:ext cx="171176" cy="171176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1014984" y="4059936"/>
            <a:ext cx="7571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原指南此处程序空白：这里用同一套件《Arduino 编程入门学习教程》第 2.25 讲的程序，引脚与本指南一致（OUT 12、LED 11、蜂鸣器 13）。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代码逐行看懂（2/2）：读、打印、判断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1-3 小磁簧开关的程序一模一样：读到 0（有障碍物）就亮灯、响蜂鸣器，否则全部关掉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ir_obstacle.ino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093976" y="12984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12–26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25320"/>
            <a:ext cx="4114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115312"/>
            <a:ext cx="4114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05304"/>
            <a:ext cx="4114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2875280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3065272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255264"/>
            <a:ext cx="41148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445256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635248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825240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4015232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4205224"/>
            <a:ext cx="36474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937760" y="1234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937760" y="191058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937760" y="191058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685028" y="1901444"/>
            <a:ext cx="304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12 号脚：有障碍物是 0，没有是 1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937760" y="222148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937760" y="222148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685028" y="2212340"/>
            <a:ext cx="304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把读数打印到串口，一行一个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937760" y="253238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937760" y="253238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5685028" y="2523236"/>
            <a:ext cx="304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岔路口：val 等于 0 吗？（== 是比较）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4937760" y="284327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937760" y="284327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18–19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5907024" y="283413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是（有障碍物）：LED 亮、蜂鸣器响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937760" y="324053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937760" y="324053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5685028" y="3231388"/>
            <a:ext cx="304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否则（val 是 1）……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937760" y="362051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937760" y="362051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23–24 行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5907024" y="361137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……LED 灭、蜂鸣器停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实验结果：挡一下，灯亮、蜂鸣器响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把手挡在红外模块前：模块绿灯亮、RGB 模块亮红灯、蜂鸣器响；手拿开，全部熄灭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148840" cy="3337560"/>
          </a:xfrm>
          <a:prstGeom prst="roundRect">
            <a:avLst>
              <a:gd name="adj" fmla="val 51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891" y="1344168"/>
            <a:ext cx="1866018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834640" y="12344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10" name="Image 1" descr="检测到障碍物：红灯亮、模块绿灯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581943"/>
            <a:ext cx="3300984" cy="23682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944368" y="4224528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检测到障碍物：红灯亮、模块绿灯亮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629400" y="123444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93992" y="13075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挡住它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793992" y="161848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 = 0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亮、蜂鸣器响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629400" y="242316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793992" y="249631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拿开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793992" y="280720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 = 1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灭、蜂鸣器停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629400" y="3611880"/>
            <a:ext cx="2103120" cy="96012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775704" y="373989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930" y="3810122"/>
            <a:ext cx="152156" cy="1521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59752" y="3739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调距离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775704" y="410565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拧蓝色电位器，调远或调近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红外避障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扩展板接法、常见坑与动手改一改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 Sensor V5.0 扩展板时用杜邦线直插更方便；一直报警、黑色物体测不到，是两个最常见的问题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331720" cy="333756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扩展板接法（原指南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56447"/>
            <a:ext cx="2112264" cy="281922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扩展板接法（原指南）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017520" y="1234440"/>
            <a:ext cx="5715000" cy="777240"/>
          </a:xfrm>
          <a:prstGeom prst="roundRect">
            <a:avLst>
              <a:gd name="adj" fmla="val 1411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1638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2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21024" y="1371600"/>
            <a:ext cx="4965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原指南：如果你的套件中有 Sensor V5.0 扩展板，可以按照左图接线，更加方便。引脚号不变，程序不用改。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017520" y="2286000"/>
            <a:ext cx="27203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182112" y="245059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727" y="2525207"/>
            <a:ext cx="161666" cy="16166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602736" y="2450592"/>
            <a:ext cx="1970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一直在报警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3182112" y="2871216"/>
            <a:ext cx="23911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检测距离调得太远，或模块正对着桌面、墙面。拧蓝色电位器调近，直到前方没东西时绿灯熄灭。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012180" y="2286000"/>
            <a:ext cx="27203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176772" y="245059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387" y="2525207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597396" y="2450592"/>
            <a:ext cx="1970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黑色物体测不到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6176772" y="2871216"/>
            <a:ext cx="23911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黑色表面会吸收红外线，反光太弱，要靠得更近才能检测到。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017520" y="3931920"/>
            <a:ext cx="5715000" cy="640080"/>
          </a:xfrm>
          <a:prstGeom prst="roundRect">
            <a:avLst>
              <a:gd name="adj" fmla="val 171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163824" y="40873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828" y="4166372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621024" y="3968496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if(val==0)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改成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if(val==1)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：东西被拿走才报警，就是一个简易防盗器。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04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温湿度传感器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只用一根数据线，就能把温度和湿度“说”给 Arduino 听。我们先看懂它的“说话规则”（时序），再用现成的库读出数据，显示在 LCD1602 上。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· 单总线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高电平长短 = 0 /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 · 对象.成员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LCD 显示温湿度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 DHT11：一个模块，两种本领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里装着测湿度的电阻式元件、测温度的 NTC 元件和一颗 8 位单片机，直接输出校准好的数字信号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2148840"/>
          </a:xfrm>
          <a:prstGeom prst="roundRect">
            <a:avLst>
              <a:gd name="adj" fmla="val 51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温湿度传感器实物图（原指南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353" y="1344168"/>
            <a:ext cx="2824173" cy="16550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03580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温湿度传感器实物图（原指南）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657600"/>
            <a:ext cx="1127760" cy="914400"/>
          </a:xfrm>
          <a:prstGeom prst="roundRect">
            <a:avLst>
              <a:gd name="adj" fmla="val 12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9496" y="3785616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11" y="3860231"/>
            <a:ext cx="161666" cy="16166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23544" y="3785616"/>
            <a:ext cx="52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湿度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539496" y="4206240"/>
            <a:ext cx="90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电阻式元件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813560" y="3657600"/>
            <a:ext cx="1127760" cy="914400"/>
          </a:xfrm>
          <a:prstGeom prst="roundRect">
            <a:avLst>
              <a:gd name="adj" fmla="val 12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941576" y="3785616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91" y="3860231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325624" y="3785616"/>
            <a:ext cx="52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941576" y="4206240"/>
            <a:ext cx="90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NTC 元件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215640" y="3657600"/>
            <a:ext cx="112776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343656" y="3785616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271" y="3860231"/>
            <a:ext cx="161666" cy="16166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727704" y="3785616"/>
            <a:ext cx="52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3343656" y="4206240"/>
            <a:ext cx="90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位单片机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66344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引脚说明（原指南）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81912"/>
          <a:ext cx="40690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7724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引脚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VDD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电源正极（3～5V）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串行数据，单总线；需约 5.1kΩ 上拉电阻，空闲时保持高电平（模块上一般已带好）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电源负极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悬空，不用接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6" name="Shape 18"/>
          <p:cNvSpPr/>
          <p:nvPr/>
        </p:nvSpPr>
        <p:spPr>
          <a:xfrm>
            <a:off x="4663440" y="3703320"/>
            <a:ext cx="4069080" cy="868680"/>
          </a:xfrm>
          <a:prstGeom prst="roundRect">
            <a:avLst>
              <a:gd name="adj" fmla="val 12632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809744" y="39730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748" y="4052072"/>
            <a:ext cx="171176" cy="17117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248656" y="3739896"/>
            <a:ext cx="33558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DHT11 检测温度和湿度，显示在 LCD1602 上：第一行温度，第二行湿度。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怎么“说话”：一根线、40 位数据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先“点名”，DHT11 再回答：一次发 40 位 = 湿度整数 + 湿度小数 + 温度整数 + 温度小数 + 校验和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806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：完整时序图（粗线 = 主机发出，细线 = DHT11 发出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23" y="1344168"/>
            <a:ext cx="5486355" cy="15179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2898648"/>
            <a:ext cx="558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原指南：完整时序图（粗线 = 主机发出，细线 = DHT11 发出）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92240" y="123444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56832" y="134416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一次对话 4 步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656832" y="1728216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56832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1751457"/>
            <a:ext cx="158191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起始：Arduino 点名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56832" y="2075688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56832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0" y="2098929"/>
            <a:ext cx="158191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响应：DHT11 答到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656832" y="2423160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656832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2446401"/>
            <a:ext cx="158191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数据：连发 40 位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656832" y="2770632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56832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040880" y="2793873"/>
            <a:ext cx="1581912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结束：拉低后松开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11480" y="3520440"/>
            <a:ext cx="1576426" cy="731520"/>
          </a:xfrm>
          <a:prstGeom prst="roundRect">
            <a:avLst>
              <a:gd name="adj" fmla="val 1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39496" y="3593592"/>
            <a:ext cx="93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湿度整数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439266" y="35935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39496" y="3867912"/>
            <a:ext cx="1320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2097634" y="3520440"/>
            <a:ext cx="1576426" cy="731520"/>
          </a:xfrm>
          <a:prstGeom prst="roundRect">
            <a:avLst>
              <a:gd name="adj" fmla="val 1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225650" y="3593592"/>
            <a:ext cx="93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湿度小数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3125419" y="35935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2225650" y="3867912"/>
            <a:ext cx="1320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3783787" y="3520440"/>
            <a:ext cx="1576426" cy="731520"/>
          </a:xfrm>
          <a:prstGeom prst="roundRect">
            <a:avLst>
              <a:gd name="adj" fmla="val 1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911803" y="3593592"/>
            <a:ext cx="93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温度整数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4811573" y="35935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3911803" y="3867912"/>
            <a:ext cx="1320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5469941" y="3520440"/>
            <a:ext cx="1576426" cy="731520"/>
          </a:xfrm>
          <a:prstGeom prst="roundRect">
            <a:avLst>
              <a:gd name="adj" fmla="val 1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597957" y="3593592"/>
            <a:ext cx="93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温度小数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6497726" y="35935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5597957" y="3867912"/>
            <a:ext cx="1320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7156094" y="3520440"/>
            <a:ext cx="1576426" cy="731520"/>
          </a:xfrm>
          <a:prstGeom prst="roundRect">
            <a:avLst>
              <a:gd name="adj" fmla="val 1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284110" y="3593592"/>
            <a:ext cx="93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校验和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8183880" y="359359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7284110" y="3867912"/>
            <a:ext cx="13203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800" dirty="0"/>
          </a:p>
        </p:txBody>
      </p:sp>
      <p:sp>
        <p:nvSpPr>
          <p:cNvPr id="43" name="Text 39"/>
          <p:cNvSpPr txBox="1"/>
          <p:nvPr/>
        </p:nvSpPr>
        <p:spPr>
          <a:xfrm>
            <a:off x="411480" y="432511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校验和 = 前 4 个数相加（只取低 8 位）：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46 + 0 + 24 + 0 = 70，对得上才算没传错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时序细节①：起始信号与响应信号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把线拉低超过 18ms 叫醒 DHT11；DHT11 先拉低 80μs、再拉高 80μs，表示“我准备好了”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4358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主机起始信号（Arduino → DHT11）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618488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0" name="Image 0" descr="原指南：主机发送起始信号（&gt;18ms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19" y="1728216"/>
            <a:ext cx="3279482" cy="1426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1208" y="3191256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原指南：主机发送起始信号（&gt;18ms）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3721608"/>
            <a:ext cx="237744" cy="237744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1480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735705"/>
            <a:ext cx="365760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先输出高电平，再拉低超过 18ms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" y="4032504"/>
            <a:ext cx="237744" cy="237744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11480" y="4032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046601"/>
            <a:ext cx="365760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被叫醒：从低功耗模式切到高速模式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1480" y="4343400"/>
            <a:ext cx="237744" cy="237744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1480" y="4343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357497"/>
            <a:ext cx="365760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改为输入：上拉电阻把线拉回高电平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09160" y="124358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09160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07492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响应信号（DHT11 → Arduino）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709160" y="1618488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25" name="Image 1" descr="原指南图（标题“THD 响应信号”应为 DHT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746605"/>
            <a:ext cx="3803904" cy="138968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818888" y="3191256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原指南图（标题“THD 响应信号”应为 DHT）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709160" y="3721608"/>
            <a:ext cx="237744" cy="237744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709160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5074920" y="3735705"/>
            <a:ext cx="365760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80μs 低电平：应答“到！”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709160" y="4032504"/>
            <a:ext cx="237744" cy="237744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709160" y="4032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5074920" y="4046601"/>
            <a:ext cx="365760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再输出 80μs 高电平：准备好发数据了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709160" y="4343400"/>
            <a:ext cx="237744" cy="237744"/>
          </a:xfrm>
          <a:prstGeom prst="ellipse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709160" y="4343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5074920" y="4357497"/>
            <a:ext cx="3657600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接着连续发出 40 位数据（上一次测得的）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时序细节②：高电平的长短表示 0 和 1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每一位都先拉低 50μs，接着看高电平多长：短（26–28μs）是 0，长（70μs）是 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“0”：50μs 低电平 + 26–28μs 高电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366" y="1344168"/>
            <a:ext cx="2947587" cy="1335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271576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“0”：50μs 低电平 + 26–28μs 高电平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123444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0" name="Image 1" descr="“1”：50μs 低电平 + 70μs 高电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473" y="1344168"/>
            <a:ext cx="3286734" cy="13350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18888" y="271576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“1”：50μs 低电平 + 70μs 高电平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11480" y="333756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57784" y="346557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8" y="3544580"/>
            <a:ext cx="171176" cy="17117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96696" y="3465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像摩尔斯电码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57784" y="3867912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短音、长音拼字母；DHT11 用短、长高电平拼出 0 和 1。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好消息：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时序都由 dht11 库处理，程序里一句 DHT11.read() 就够。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09160" y="333756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73752" y="342900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例：依次发出 0、1、1、0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4459" y="3840480"/>
            <a:ext cx="227090" cy="365760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32244" y="42428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0（短）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32087" y="3840480"/>
            <a:ext cx="588753" cy="365760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060704" y="42428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1（长）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141378" y="3840480"/>
            <a:ext cx="588753" cy="365760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069994" y="42428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1（长）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150668" y="3840480"/>
            <a:ext cx="227090" cy="365760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898453" y="42428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0（短）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937760" y="3840480"/>
            <a:ext cx="126161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063921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063921" y="4206240"/>
            <a:ext cx="42053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 flipV="1">
            <a:off x="5484459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84459" y="3840480"/>
            <a:ext cx="22709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711549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711549" y="4206240"/>
            <a:ext cx="42053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 flipV="1">
            <a:off x="6132087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132087" y="3840480"/>
            <a:ext cx="588753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720840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720840" y="4206240"/>
            <a:ext cx="42053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 flipV="1">
            <a:off x="7141378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141378" y="3840480"/>
            <a:ext cx="588753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730131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730131" y="4206240"/>
            <a:ext cx="42053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 flipV="1">
            <a:off x="8150668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150668" y="3840480"/>
            <a:ext cx="22709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377759" y="3840480"/>
            <a:ext cx="91" cy="365760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377759" y="4206240"/>
            <a:ext cx="126161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组件与接线：LCD 接 I2C，DHT11 接 8 号脚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LCD 四根线：SDA → A4、SCL → A5、VCC → 5V、GND → GND；温湿度模块 OUT → 8 号脚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64" y="1344168"/>
            <a:ext cx="4324992" cy="18836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64408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88620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" y="3922776"/>
            <a:ext cx="46085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R3 主板、面包板、USB 数据线、若干跳线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LCD1602 模块 ×1、DHT11 温湿度模块 ×1（原文误作 DTH11）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34440"/>
          <a:ext cx="3063240" cy="914400"/>
        </p:xfrm>
        <a:graphic>
          <a:graphicData uri="http://schemas.openxmlformats.org/drawingml/2006/table">
            <a:tbl>
              <a:tblPr/>
              <a:tblGrid>
                <a:gridCol w="1837944"/>
                <a:gridCol w="122529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LCD 显示屏 PCF8574T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788920"/>
          <a:ext cx="3063240" cy="914400"/>
        </p:xfrm>
        <a:graphic>
          <a:graphicData uri="http://schemas.openxmlformats.org/drawingml/2006/table">
            <a:tbl>
              <a:tblPr/>
              <a:tblGrid>
                <a:gridCol w="1837944"/>
                <a:gridCol w="122529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温湿度传感器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5669280" y="4087368"/>
            <a:ext cx="3063240" cy="484632"/>
          </a:xfrm>
          <a:prstGeom prst="roundRect">
            <a:avLst>
              <a:gd name="adj" fmla="val 22642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815584" y="4123944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= SDA，A5 = SCL：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这里当 I2C 接口用，不是读模拟量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新语法小课堂①：库、#define 和对象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库是别人写好的“工具箱”，#include 把它搬进来；用 对象.成员 指挥一台具体的设备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971800" cy="3337560"/>
          </a:xfrm>
          <a:prstGeom prst="roundRect">
            <a:avLst>
              <a:gd name="adj" fmla="val 369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076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8074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库与 #include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76072" y="1819656"/>
            <a:ext cx="26426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像借来一套工具：复杂的细节，库里都写好了。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6072" y="2311908"/>
            <a:ext cx="2642616" cy="351282"/>
          </a:xfrm>
          <a:prstGeom prst="roundRect">
            <a:avLst>
              <a:gd name="adj" fmla="val 2082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4088" y="2394204"/>
            <a:ext cx="23865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"dht11.h"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76072" y="2791206"/>
            <a:ext cx="16916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6072" y="279120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Wire.h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340864" y="278206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I2C 通信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6072" y="3102102"/>
            <a:ext cx="16916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76072" y="310210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dht11.h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340864" y="309295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读温湿度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76072" y="3412998"/>
            <a:ext cx="16916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6072" y="341299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LiquidCrystal_I2C.h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2340864" y="3403854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I2C 液晶屏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76072" y="3861054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41" y="3913723"/>
            <a:ext cx="114117" cy="11411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86968" y="3842766"/>
            <a:ext cx="2331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没安装库：编译时报 No such file。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657600" y="1234440"/>
            <a:ext cx="2286000" cy="3337560"/>
          </a:xfrm>
          <a:prstGeom prst="roundRect">
            <a:avLst>
              <a:gd name="adj" fmla="val 48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822192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196" y="1459748"/>
            <a:ext cx="171176" cy="17117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261104" y="138074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#define 起外号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3822192" y="1819656"/>
            <a:ext cx="19568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像“查找替换”：编译前把名字换成后面的值。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822192" y="2311908"/>
            <a:ext cx="1956816" cy="351282"/>
          </a:xfrm>
          <a:prstGeom prst="roundRect">
            <a:avLst>
              <a:gd name="adj" fmla="val 2082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3950208" y="2394204"/>
            <a:ext cx="17007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DHT11PIN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3822192" y="279120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程序第 16 行，编译前：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3822192" y="3065526"/>
            <a:ext cx="1956816" cy="640080"/>
          </a:xfrm>
          <a:prstGeom prst="roundRect">
            <a:avLst>
              <a:gd name="adj" fmla="val 114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950208" y="3118866"/>
            <a:ext cx="17007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3950208" y="3296666"/>
            <a:ext cx="17007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↓ 替换成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867912" y="3474466"/>
            <a:ext cx="1865376" cy="17780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3950208" y="3474466"/>
            <a:ext cx="17007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822192" y="3842766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861" y="3895435"/>
            <a:ext cx="114117" cy="11411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4133088" y="3824478"/>
            <a:ext cx="16459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末尾加分号：分号也会被替换进去。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217920" y="123444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382512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516" y="1459748"/>
            <a:ext cx="171176" cy="171176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821424" y="1380744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对象.成员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6382512" y="1819656"/>
            <a:ext cx="21854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是“型号”，DHT11 是你手里这一台；用“.”按它的按钮、看它的读数。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6382512" y="2521458"/>
            <a:ext cx="2185416" cy="724662"/>
          </a:xfrm>
          <a:prstGeom prst="roundRect">
            <a:avLst>
              <a:gd name="adj" fmla="val 1009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6510528" y="2603754"/>
            <a:ext cx="19293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 DHT11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造一台</a:t>
            </a:r>
            <a:endParaRPr lang="en-US" sz="1050" dirty="0"/>
          </a:p>
        </p:txBody>
      </p:sp>
      <p:sp>
        <p:nvSpPr>
          <p:cNvPr id="48" name="Text 40"/>
          <p:cNvSpPr txBox="1"/>
          <p:nvPr/>
        </p:nvSpPr>
        <p:spPr>
          <a:xfrm>
            <a:off x="6510528" y="2790444"/>
            <a:ext cx="19293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读一次</a:t>
            </a:r>
            <a:endParaRPr lang="en-US" sz="1050" dirty="0"/>
          </a:p>
        </p:txBody>
      </p:sp>
      <p:sp>
        <p:nvSpPr>
          <p:cNvPr id="49" name="Text 41"/>
          <p:cNvSpPr txBox="1"/>
          <p:nvPr/>
        </p:nvSpPr>
        <p:spPr>
          <a:xfrm>
            <a:off x="6510528" y="2977134"/>
            <a:ext cx="192938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湿度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6382512" y="3383280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181" y="3435949"/>
            <a:ext cx="114117" cy="114117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693408" y="3364992"/>
            <a:ext cx="18745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大小写写错：dht11 是型号，DHT11 才是对象。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新语法小课堂②：setCursor() 和 print()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setCursor(列, 行) 先把光标移到位置（从 0 开始数），print() 再把文字或数字写上去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setCursor(列, 行)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：先指好从哪一格开始写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79576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444752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709928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975104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505456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770632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035808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300984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831336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096512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361688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626864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1691640"/>
            <a:ext cx="265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1929384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2295144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4400" y="1929384"/>
            <a:ext cx="265176" cy="3657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179576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179576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444752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444752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709928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709928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975104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40280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40280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2505456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505456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2770632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770632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3035808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035808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3300984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300984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3566160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566160" y="192938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3831336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096512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361688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626864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892040" y="192938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14400" y="2295144"/>
            <a:ext cx="265176" cy="3657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14400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1179576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179576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1444752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444752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1709928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709928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1975104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240280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2240280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2505456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505456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2770632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2770632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3035808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3035808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3300984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3300984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3566160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3566160" y="2295144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3831336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096512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361688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626864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892040" y="2295144"/>
            <a:ext cx="26517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594360" y="27706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setCursor(0, 0)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第一行开头　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setCursor(0, 1)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第二行开头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411480" y="338328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94360" y="3474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(float) 和“保留 2 位小数”</a:t>
            </a:r>
            <a:endParaRPr lang="en-US" sz="1250" dirty="0"/>
          </a:p>
        </p:txBody>
      </p:sp>
      <p:sp>
        <p:nvSpPr>
          <p:cNvPr id="81" name="Shape 78"/>
          <p:cNvSpPr/>
          <p:nvPr/>
        </p:nvSpPr>
        <p:spPr>
          <a:xfrm>
            <a:off x="594360" y="3785616"/>
            <a:ext cx="4754880" cy="351282"/>
          </a:xfrm>
          <a:prstGeom prst="roundRect">
            <a:avLst>
              <a:gd name="adj" fmla="val 2082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722376" y="3867912"/>
            <a:ext cx="449884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594360" y="419176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(float) 变成小数，参数 2 = 保留 2 位：24 → 24.00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5806440" y="1234440"/>
            <a:ext cx="2926080" cy="1417320"/>
          </a:xfrm>
          <a:prstGeom prst="roundRect">
            <a:avLst>
              <a:gd name="adj" fmla="val 774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95274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1748" y="1459748"/>
            <a:ext cx="171176" cy="171176"/>
          </a:xfrm>
          <a:prstGeom prst="rect">
            <a:avLst/>
          </a:prstGeom>
        </p:spPr>
      </p:pic>
      <p:sp>
        <p:nvSpPr>
          <p:cNvPr id="87" name="Text 83"/>
          <p:cNvSpPr txBox="1"/>
          <p:nvPr/>
        </p:nvSpPr>
        <p:spPr>
          <a:xfrm>
            <a:off x="6409944" y="13716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像在格子本上写字</a:t>
            </a:r>
            <a:endParaRPr lang="en-US" sz="1300" dirty="0"/>
          </a:p>
        </p:txBody>
      </p:sp>
      <p:sp>
        <p:nvSpPr>
          <p:cNvPr id="88" name="Text 84"/>
          <p:cNvSpPr txBox="1"/>
          <p:nvPr/>
        </p:nvSpPr>
        <p:spPr>
          <a:xfrm>
            <a:off x="6409944" y="1682496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LCD1602 是 16 列 × 2 行的格子本：setCursor 指到第几格，print 从那里往后写。</a:t>
            </a:r>
            <a:endParaRPr lang="en-US" sz="1200" dirty="0"/>
          </a:p>
        </p:txBody>
      </p:sp>
      <p:sp>
        <p:nvSpPr>
          <p:cNvPr id="89" name="Shape 85"/>
          <p:cNvSpPr/>
          <p:nvPr/>
        </p:nvSpPr>
        <p:spPr>
          <a:xfrm>
            <a:off x="5806440" y="292608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5971032" y="30906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9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647" y="3165287"/>
            <a:ext cx="161666" cy="161666"/>
          </a:xfrm>
          <a:prstGeom prst="rect">
            <a:avLst/>
          </a:prstGeom>
        </p:spPr>
      </p:pic>
      <p:sp>
        <p:nvSpPr>
          <p:cNvPr id="92" name="Text 87"/>
          <p:cNvSpPr txBox="1"/>
          <p:nvPr/>
        </p:nvSpPr>
        <p:spPr>
          <a:xfrm>
            <a:off x="6391656" y="309067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</a:t>
            </a:r>
            <a:endParaRPr lang="en-US" sz="1350" dirty="0"/>
          </a:p>
        </p:txBody>
      </p:sp>
      <p:sp>
        <p:nvSpPr>
          <p:cNvPr id="93" name="Text 88"/>
          <p:cNvSpPr txBox="1"/>
          <p:nvPr/>
        </p:nvSpPr>
        <p:spPr>
          <a:xfrm>
            <a:off x="5971032" y="3511296"/>
            <a:ext cx="25968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行号从 0 开始：第二行是 1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print 不擦旧字：新内容更短时，后面会残留旧字符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代码逐行看懂（1/2）：库、对象和准备工作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引入三个库，给 8 号脚起外号，创建传感器对象 DHT11 和屏幕对象 lcd，再初始化屏幕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0060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dht11_lcd.ino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29844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1–13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7091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47091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743964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"dht11.h"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1942592"/>
            <a:ext cx="47091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1942592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"LiquidCrystal_I2C.h"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2339848"/>
            <a:ext cx="47091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339848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  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DHT11PIN    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2538476"/>
            <a:ext cx="47091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56016" y="2538476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 DHT11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2737104"/>
            <a:ext cx="47091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56016" y="2737104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LiquidCrystal_I2C lcd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0x27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0x27 is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2935732"/>
            <a:ext cx="470916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2935732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I2C bus address for an unmodified backpack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56016" y="3134360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56016" y="3332988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56016" y="3531616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856016" y="3730244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backlight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856016" y="3928872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412750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856016" y="4127500"/>
            <a:ext cx="422804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53212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53212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1–3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346952" y="1591056"/>
            <a:ext cx="238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引入三个库（上一页讲过）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532120" y="2329434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532120" y="2329434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5–6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46952" y="2320290"/>
            <a:ext cx="23855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号脚起外号 DHT11PIN；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创建传感器对象 DHT11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532120" y="280187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532120" y="280187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202172" y="2792730"/>
            <a:ext cx="253034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创建屏幕对象 lcd：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 0x27，16 列 2 行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532120" y="332257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532120" y="332257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202172" y="3313430"/>
            <a:ext cx="2530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号脚先设为输出（库会自己切换）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532120" y="363347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532120" y="363347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10–12 行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6501384" y="3624326"/>
            <a:ext cx="223113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初始化屏幕、开背光；开串口（本程序没用到）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代码逐行看懂（2/2）：读一次，写两行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每轮：读一次温湿度 → 光标移到第一行写温度 → 移到第二行写湿度 → 等 0.2 秒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343400" cy="2743200"/>
          </a:xfrm>
          <a:prstGeom prst="roundRect">
            <a:avLst>
              <a:gd name="adj" fmla="val 333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dht11_lcd.ino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129844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15–26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35328"/>
            <a:ext cx="425196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2254" y="1735328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925320"/>
            <a:ext cx="425196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"Tep: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05304"/>
            <a:ext cx="425196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685288"/>
            <a:ext cx="425196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42254" y="2685288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"Hum: 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065272"/>
            <a:ext cx="425196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42254" y="3065272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42254" y="3255264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45256"/>
            <a:ext cx="425196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445256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635248"/>
            <a:ext cx="378461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074920" y="172059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074920" y="172059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5822188" y="1711452"/>
            <a:ext cx="291033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读一次温湿度；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chk 是结果码（0 为成功），没用到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074920" y="219303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074920" y="219303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 行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822188" y="2183892"/>
            <a:ext cx="2910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光标移到第 1 行开头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074920" y="250393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074920" y="250393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18–20 行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6044184" y="24947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显示 Tep: 24.00C（Tep 即 Temp）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074920" y="281482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074920" y="281482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 行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5822188" y="2805684"/>
            <a:ext cx="2910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光标移到第 2 行开头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074920" y="312572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074920" y="31257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22–24 行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044184" y="3116580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显示 Hum: 46.00%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074920" y="34366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074920" y="34366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25 行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5822188" y="3427476"/>
            <a:ext cx="2910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0.2 秒再读（偏短，见常见坑）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11480" y="4251960"/>
            <a:ext cx="4343400" cy="32004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57784" y="4279392"/>
            <a:ext cx="4050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25 行偏短：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两次读取最好隔 1 秒以上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实验结果：LCD 第一行温度，第二行湿度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上传后 LCD 显示 Tep: 24.00C 和 Hum: 46.00%；对着传感器哈口气，湿度会明显上升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605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：LCD 显示 Tep: 24.00C / Hum: 46.0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30" y="1344168"/>
            <a:ext cx="3750220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原指南实物：LCD 显示 Tep: 24.00C / Hum: 46.00%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892040" y="12344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20056" y="1362456"/>
            <a:ext cx="3584448" cy="65836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66360" y="13624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Tep: 24.00C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6916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Hum: 46.00%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892040" y="2423160"/>
            <a:ext cx="3840480" cy="822960"/>
          </a:xfrm>
          <a:prstGeom prst="roundRect">
            <a:avLst>
              <a:gd name="adj" fmla="val 13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38344" y="26700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348" y="2749052"/>
            <a:ext cx="171176" cy="171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95544" y="2459736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结果显示在 LCD 上，第一行显示温度，第二行显示湿度。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92040" y="352044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38344" y="3666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348" y="3745748"/>
            <a:ext cx="171176" cy="1711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77256" y="36667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为什么总是 .00？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5038344" y="4069080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只测到整数精度，程序用 (float) 保留 2 位小数显示，就成了 24.00。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温湿度传感器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扩展板接法、常见坑与动手改一改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 Sensor V5.0 扩展板时接线更方便；读得太勤、LCD 没字是两个最常见的问题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331720" cy="333756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扩展板接法（原指南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57884"/>
            <a:ext cx="2112264" cy="28163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扩展板接法（原指南）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017520" y="1234440"/>
            <a:ext cx="571500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1638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2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21024" y="1371600"/>
            <a:ext cx="4965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原指南：套件中有 Sensor V5.0 扩展板时，可以按左图接线，更加方便。照片里屏幕显示“Tep:30 C / Hum:45 %”，是另一版程序的显示格式。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017520" y="2240280"/>
            <a:ext cx="27203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182112" y="24048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727" y="2479487"/>
            <a:ext cx="161666" cy="16166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602736" y="2404872"/>
            <a:ext cx="1970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读得太勤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3182112" y="2825496"/>
            <a:ext cx="23911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delay(200) 太短：DHT11 两次读取最好间隔 1 秒以上，改成 delay(2000) 更稳。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012180" y="2240280"/>
            <a:ext cx="27203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176772" y="24048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387" y="2479487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597396" y="2404872"/>
            <a:ext cx="1970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LCD 亮了却没有字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6176772" y="2825496"/>
            <a:ext cx="23911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拧背面蓝色电位器调对比度；还不行就查地址：常见是 0x27，有的屏是 0x3F。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017520" y="3931920"/>
            <a:ext cx="5715000" cy="640080"/>
          </a:xfrm>
          <a:prstGeom prst="roundRect">
            <a:avLst>
              <a:gd name="adj" fmla="val 171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163824" y="40873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828" y="4166372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621024" y="3968496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loop() 里加一句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Serial.println(DHT11.humidity);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，串口监视器里也能看湿度。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四个传感器，一条主线：测时间算距离、读字符拼数字、读高低做判断、按时序收数据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四个实验，一条主线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65506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1678718"/>
            <a:ext cx="325526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回声时间 ÷ 58 = 厘米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05740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13816" y="2081054"/>
            <a:ext cx="325526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串口舵机：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一个个读字符，拼成数字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459736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" y="2483390"/>
            <a:ext cx="325526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读到 0 = 前方有障碍物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286207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" y="2885726"/>
            <a:ext cx="325526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高电平长短 = 0 / 1，共 40 位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本节新语法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3611880"/>
            <a:ext cx="618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" y="3611880"/>
            <a:ext cx="618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103376" y="3611880"/>
            <a:ext cx="1685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03376" y="3611880"/>
            <a:ext cx="1685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862072" y="3611880"/>
            <a:ext cx="9235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62072" y="3611880"/>
            <a:ext cx="9235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pulseIn()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3926332"/>
            <a:ext cx="10759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11480" y="3926332"/>
            <a:ext cx="10759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available()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560576" y="3926332"/>
            <a:ext cx="6949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560576" y="3926332"/>
            <a:ext cx="6949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328672" y="3926332"/>
            <a:ext cx="6949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328672" y="3926332"/>
            <a:ext cx="6949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096768" y="3926332"/>
            <a:ext cx="771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096768" y="3926332"/>
            <a:ext cx="771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toInt()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4240784"/>
            <a:ext cx="847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1480" y="4240784"/>
            <a:ext cx="847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331976" y="4240784"/>
            <a:ext cx="771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331976" y="4240784"/>
            <a:ext cx="771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176272" y="4240784"/>
            <a:ext cx="8219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176272" y="4240784"/>
            <a:ext cx="8219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对象.成员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343400" y="1234440"/>
            <a:ext cx="219456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44568" y="1399032"/>
            <a:ext cx="1792224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÷ 58</a:t>
            </a:r>
            <a:endParaRPr lang="en-US" sz="2600" dirty="0"/>
          </a:p>
        </p:txBody>
      </p:sp>
      <p:sp>
        <p:nvSpPr>
          <p:cNvPr id="42" name="Text 39"/>
          <p:cNvSpPr txBox="1"/>
          <p:nvPr/>
        </p:nvSpPr>
        <p:spPr>
          <a:xfrm>
            <a:off x="4544568" y="214503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超声波测距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4544568" y="2492502"/>
            <a:ext cx="17922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回声时间 → 距离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537960" y="1234440"/>
            <a:ext cx="219456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739128" y="1399032"/>
            <a:ext cx="1792224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toInt()</a:t>
            </a:r>
            <a:endParaRPr lang="en-US" sz="2600" dirty="0"/>
          </a:p>
        </p:txBody>
      </p:sp>
      <p:sp>
        <p:nvSpPr>
          <p:cNvPr id="46" name="Text 43"/>
          <p:cNvSpPr txBox="1"/>
          <p:nvPr/>
        </p:nvSpPr>
        <p:spPr>
          <a:xfrm>
            <a:off x="6739128" y="214503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串口读字符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739128" y="2492502"/>
            <a:ext cx="17922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"180" → 180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43400" y="2903220"/>
            <a:ext cx="219456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544568" y="3067812"/>
            <a:ext cx="1792224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= 有</a:t>
            </a:r>
            <a:endParaRPr lang="en-US" sz="2600" dirty="0"/>
          </a:p>
        </p:txBody>
      </p:sp>
      <p:sp>
        <p:nvSpPr>
          <p:cNvPr id="50" name="Text 47"/>
          <p:cNvSpPr txBox="1"/>
          <p:nvPr/>
        </p:nvSpPr>
        <p:spPr>
          <a:xfrm>
            <a:off x="4544568" y="381381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红外避障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4544568" y="4161282"/>
            <a:ext cx="17922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低电平 = 有障碍物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537960" y="2903220"/>
            <a:ext cx="219456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739128" y="3067812"/>
            <a:ext cx="1792224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 位</a:t>
            </a:r>
            <a:endParaRPr lang="en-US" sz="2600" dirty="0"/>
          </a:p>
        </p:txBody>
      </p:sp>
      <p:sp>
        <p:nvSpPr>
          <p:cNvPr id="54" name="Text 51"/>
          <p:cNvSpPr txBox="1"/>
          <p:nvPr/>
        </p:nvSpPr>
        <p:spPr>
          <a:xfrm>
            <a:off x="6739128" y="381381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DHT11 单总线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739128" y="4161282"/>
            <a:ext cx="17922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高电平长短 = 0 /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会测量，也会“说话”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把超声波、红外和温湿度装进你的设计，让作品感知周围的世界。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下一节：2-3　WS2812b 彩灯 · LCD1602 动态显示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2-2 测距、通信与环境感知：超声波 · 串口调节舵机 · 红外避障 · 温湿度传感器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2026-10-14T14:26:06Z</dcterms:created>
  <dcterms:modified xsi:type="dcterms:W3CDTF">2026-10-14T14:26:06Z</dcterms:modified>
</cp:coreProperties>
</file>