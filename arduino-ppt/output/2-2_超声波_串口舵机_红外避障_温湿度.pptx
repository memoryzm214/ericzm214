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导入" id="{be41a5da-5ce7-07bf-8a06-60ea744bdfef}">
          <p14:sldIdLst>
            <p14:sldId id="257"/>
          </p14:sldIdLst>
        </p14:section>
        <p14:section name="实验一　超声波" id="{7ff9d5f0-ebdb-1261-4642-327fab53bfb9}">
          <p14:sldIdLst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实验二　串口调节舵机" id="{332bfa97-737c-4663-d0dd-1b4c9c534644}">
          <p14:sldIdLst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</p14:sldIdLst>
        </p14:section>
        <p14:section name="实验三　红外避障" id="{aea4a8de-31ff-250a-d78b-d6aed9958dcb}">
          <p14:sldIdLst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</p14:sldIdLst>
        </p14:section>
        <p14:section name="实验四　温湿度传感器" id="{be710857-8dfa-d1fd-221f-1b1e2fb3cc95}">
          <p14:sldIdLst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</p14:sldIdLst>
        </p14:section>
        <p14:section name="小结" id="{2bfcd87c-2284-7465-eb6b-252fbef81c94}">
          <p14:sldIdLst>
            <p14:sldId id="299"/>
            <p14:sldId id="30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这节课按指南顺序做四个实验：超声波测距、串口调节舵机角度、红外避障、温湿度传感器。它们有一条共同的主线：传感器不只会“感觉”，还会“测量”，还会用自己的方式和 Arduino“说话”。开场可以挥挥手、哈口气，让学生猜猜：Arduino 怎么知道手有多远、空气有多潮？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给学生一张地图：四个实验按指南顺序进行。超声波学“测时间算距离”，串口舵机学“读字符拼数字”，红外避障是熟悉的数字输入，温湿度传感器学“按约定的时序收数据”，并第一次用到库和对象。下面四个小标签就是每个实验最核心的一句话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实验一分四步：先弄懂“回声测距”的原理和公式，再接四根线，然后学三个新语法、逐行读代码，最后在串口监视器里看距离。可以先让学生对着墙拍一下手，体会“声音会反射回来”。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用蝙蝠和山谷回声来类比：喊一声，回声越晚回来，说明山越远。模块上的两个“眼睛”其实是一个发射器、一个接收器。超声波频率是 40kHz，人耳最多只能听到约 20kHz，所以我们听不见它。原指南的实验目的写“通过串口输入距离”，这里应为“输出”，讲课时顺口纠正。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先讲上面的图：声音从模块出发，碰到障碍物再回来，走过的路是距离的两倍，所以要除以 2。再讲下面三步：把 340 米/秒换成 0.034 厘米/微秒，来回 1 厘米要走 2 厘米，约 58 微秒，于是“微秒数 ÷ 58 = 厘米”。可以让学生算一算：回波时间 580 微秒是多远？（10 厘米）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时序图从上往下读，横轴是时间；第一行是我们要做的：给 Trig 一个至少 10 微秒的高电平。第二行是模块自己完成的：发出 8 个 40kHz 的超声波脉冲。第三行是结果：Echo 变成高电平，高电平持续多久，声音就来回了多久。程序只需要“喊”和“量”两件事。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只要四根线。表里 Arduino 一侧写的 VCC 就是 UNO 上的 5V 口。重点让学生分清 Trig 和 Echo 的方向：Trig 是 Arduino 发给模块的命令，所以程序里设成 OUTPUT；Echo 是模块送回来的结果，所以设成 INPUT。接线前先拔掉 USB。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三个新词各配一个比方：const 像门牌号，钉上去就不改；delayMicroseconds 是更细的计时单位；pulseIn 像秒表。每张卡片底部的红框是最容易犯的错，可以请学生读出来。特别提醒 delay(0.01) 这种写法：delay 只认整数毫秒，0.01 会变成 0，要等微秒就得用 delayMicroseconds。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原指南这一页的程序是空白的，我们用同一套件《Arduino 编程入门学习教程》第 2.38 讲的程序，引脚和串口输出格式都和本指南的截图一致。第 3 行用 float 是因为距离带小数，比如 8.57 厘米。第 7、8 行最关键：Trig 是输出、Echo 是输入，方向不能反。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13–17 行就是时序图第一行：先拉低清零，再拉高 10 微秒，再拉低，模块就会自动发出超声波。第 18 行是整个程序的核心：量出 Echo 高电平的微秒数，除以 58 得到厘米。写成 58.00 是有讲究的：pulseIn 返回整数，除以整数 58 会把小数直接丢掉，除以 58.00 才能保留小数。第 19–22 行用三个 print 拼成一行，最后用 println() 换行。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上传程序后打开串口监视器，把手或一本书放在模块前，慢慢前后移动，数字会跟着变。右边的表帮助学生读懂截图里的数字：几厘米说明东西很近，一两百厘米说明前方比较空，测到的是远处的物体。可以拿尺子验证：把书放在 10 厘米、20 厘米处，看读数对不对得上。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左边两个是课堂上最常见的问题：读数一直是 0，多半是 Trig 和 Echo 接反或没插牢；读数乱跳，多半是对着斜面、软布测，或者离得太近。右边的挑战把今天的超声波和以前学的 if 结合起来：距离小于 10 厘米就点亮板载 L 灯，就是一个简单的倒车雷达。还可以让学生把 L 灯换成蜂鸣器。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实验二把“串口”从只会说话变成也会听话：以前用 Serial.print 让 Arduino 告诉电脑，这次反过来，电脑告诉 Arduino 转多少度。舵机原理在 2-1 学过，这里只做简短回顾，重点放在读串口的三句新语法上。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 2-1 的回顾，左边拆解照片里的英文标注，对照右下角的表认一认。舵机是“闭环”的：电位器跟着输出轴转，随时告诉控制电路现在转到了几度，没对准就继续转，所以用手掰它，它会顶回去。右上是控制信号：每 20 毫秒一个脉冲，高电平越宽，角度越大。图上标的是 1ms–2ms，正文写的是 0.5ms–2.5ms，下一页细讲。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对照左图从上往下看：最小脉冲 0.5 毫秒，舵机指向 0 度；中间脉冲 1.5 毫秒，指向 90 度；最大脉冲 2.5 毫秒，指向 180 度。右边的表是原指南给的完整对应关系。原指南的周期图上写的是 1ms–2ms，而正文写 0.5ms–2.5ms，原文也说不同品牌、甚至同一品牌的舵机范围都可能不同。好在 Servo 库会帮我们换算，程序里只要写 write(角度)。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先读实验目的和原理：在串口监视器里输入角度，舵机就转到那个角度。接线只有三根，信号线接 13 号脚。我们手里的 SG90 舵机，线色常见是棕、红、橙，分别对应表里的黑、红、黄，不要因为颜色不一样就接错。原指南还建议接上 9V 电池一起供电，下一页的实物照片里可以看到。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先看上面这条流水线：我们在键盘上输入 180，传到 Arduino 的其实是三个字符 1、8、0，一次只能取一个。所以要先用 String 把它们拼成 "180"，再用 toInt() 变成真正的数字 180，最后交给舵机。三张卡片各讲一步，红框是对应的常见错误。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1、2 行和 2-1 一样：引入 Servo 库，创建舵机对象 myservo。第 4 行的 char 是“字符”类型，一次只装一个字符，比如 '9'；第 6 行的 String 能装一串字符，先放一个空字符串 ""。setup() 里打开串口，并用 attach 把舵机“绑”到 13 号脚。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while 和 if 很像，区别是：if 判断一次，while 只要条件成立就一直重复。这里的条件是“串口里还有字符没读”，所以输入 180 时 while 会转 3 圈，temp 依次变成 "1"、"18"、"180"，见左下角。原指南第 18 行的英文注释被 PDF 排版折成了两行，照抄的话第二行不是注释，会编译报错，这里已经合回一行。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21 行判断 temp 是不是空的：不空，说明刚收到新输入。第 23 行用 toInt() 把文字变成数字，第 24、25 行在串口回一句 Servo degree:，方便我们确认。第 28 行清空 temp，原注释 Please see temporary variables 是机翻，意思是“清空临时变量”。第 29 行才是真正让舵机转动的一句；没有新输入时 angle 不变，舵机就保持原角度。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按原指南的三步做：烧录后不拔 USB，因为串口监视器要通过 USB 和电脑通信；插上电池，是因为舵机转动时电流大，只靠 USB 供电可能不稳；然后点 IDE 右上角的“串口监视器”。中间的截图只看红框里的按钮就好，截图里的代码和我们的程序版本略有不同。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在输入框里输入数字，按回车或点“发送”。每次输入，串口都会回一句 Servo degree: 和角度，舵机转到对应位置：0 度指向一边，90 度在中间，180 度指向另一边。注意截图右下角：行结束符选的是“没有结束符”，波特率 9600，建议和截图保持一致。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第一个坑：行结束符如果选了“换行”，空着点发送也会发出一个换行符，temp 不是空的，toInt() 得到 0，舵机就跳回 0 度。第二个坑：舵机转动瞬间电流大，只靠 USB 可能掉电重启。右边的改法用 constrain() 把角度限制在 0～180：Servo 库本身最多转到 180 度，但串口会照样打印 200，加上这一行，打印和实际就一致了。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实验三是一个“老朋友”式的实验：读一个数字输入，再用 if / else 控制 LED 和蜂鸣器。和 1-3 的小磁簧开关比，只是把“磁铁靠近”换成了“前方有障碍物”。可以先让学生回忆：磁簧开关有磁铁时读到的是 0 还是 1？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用手电筒照墙来类比：前面有墙就能看到反光，前面空空的光就“有去无回”。模块用的是人眼看不见的红外线。检测距离可以用蓝色电位器旋钮调节，有效范围约 2～30 厘米，工作电压 3.3～5V。这种模块在机器人避障、避障小车、流水线计数、黑白线循迹里都很常见。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实验目的照原指南读。右边上方是信号链：有障碍物，OUT 输出低电平，读到 0，于是 LED 亮、蜂鸣器响。下方的对比表是本实验的重点：和 1-3 的小磁簧开关相比，只是“触发条件”变了，读数规律和程序完全一样。这就是模块化传感器的好处：输入换了，逻辑不变。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三张表照原指南抄录，一张一张对着接；接线图里的 LED 用的是 RGB 贴片模块，11 号脚接它的 R 脚，所以亮的是红灯，用普通 LED 模块也可以。红外模块的 VCC 接 5V。UNO 上有好几个 GND 口，哪个都可以。先断电再接线，接完同桌互相检查。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原指南这一页程序是空白的，这里用同一套件《Arduino 编程入门学习教程》第 2.25 讲的程序，引脚和本指南一致。前 4 行准备了四个“盒子”：三个装引脚号，一个装读数。setup() 里 LED 和蜂鸣器是输出，红外模块是输入。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loop() 只做三件事：读、打印、判断。第 16 行 val==0 对应“前方有障碍物”，所以成立时灯亮、蜂鸣器响；else 分支把它们关掉。提醒学生比较相等要写两个等号。可以把 1-3 的磁簧开关程序打开对照，会发现一个字都不用改。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原指南的实验结果只有两张照片。右边照片里，红外模块上的两个绿灯都亮了（一个是电源灯，一个是检测到障碍物的指示灯），RGB 模块亮红灯。让学生打开串口监视器，挡一下、拿开，看 0 和 1 的变化。检测距离不合适时，用螺丝刀拧蓝色电位器调节。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扩展板把每个数字脚都扩展成 G、V、S 三根针，模块直接插上，引脚号不变，程序也不用改。一直报警多半是检测距离调得太远，或者模块正对着桌面；黑色物体会吸收红外线，反光太弱，要靠得更近才能测到。动手改一改：把条件反过来就成了“东西被拿走才报警”的防盗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实验四是本节最“深”的一个：先认识 DHT11，再用 5 张时序图看懂它怎么在一根线上发数据。时序不用背，理解“高电平短是 0、长是 1”就够了，因为库会替我们处理。最后第一次用到“库”和“对象”，把温湿度显示在 LCD1602 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DHT11 是一种复合传感器：一个小盒子里同时测温度和湿度，内部的单片机把测量结果变成数字信号送出来，所以它不是 analogRead 读的模拟量。右边是原指南的引脚说明：DATA 线必须接一个约 5.1kΩ 的上拉电阻，让它空闲时保持高电平；做成模块的 DHT11 一般已在板上带好这个电阻，NC 脚也不用接，所以模块只要接 VCC、GND、OUT 三根线。上电后约 1 秒才稳定。右下角是本实验的目的。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先看全貌：DHT11 和 Arduino 只靠一根数据线通信，像课堂点名，主机 Arduino 先喊，从机 DHT11 才回答。一次对话分四步：起始、响应、40 位数据、结束；结束时 DHT11 把线拉低 50 微秒再松开，线又回到高电平。40 位分成 5 个 8 位的数，最后一个是校验和：前四个数相加只取低 8 位，等于它才说明没传错；高位先发，叫“大端”。还要知道：每次读到的是 DHT11 上一次测量的结果。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左图是主机 Arduino 发的起始信号：先高电平，再拉低超过 18 毫秒，这是在“叫醒”DHT11，让它从低功耗模式切换到高速模式，然后 Arduino 松开线，上拉电阻把线拉回高电平。右图是 DHT11 的回答：先拉低 80 微秒表示“到”，再拉高 80 微秒表示“准备好了”，接着就开始发 40 位数据。原指南右边这一节的标题把 DHT 误写成了 THD。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 DHT11 最巧妙的地方：它不是用“高电平 = 1、低电平 = 0”，而是用高电平持续的长短来区分。可以类比摩尔斯电码：短音是点，长音是划；这里短高电平是 0，长高电平是 1。40 位发完，DHT11 再拉低 50 微秒后松开，表示结束。这些微秒级的时序都由 dht11 库帮我们处理，程序里只要一句 DHT11.read()。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这是我们第一次用 LCD1602 显示屏：16 列 2 行，背面的 PCF8574T 转接板把十几根线变成 4 根，用 I2C 通信，下一节 2-3 会专门讲它。LCD 的 SDA、SCL 分别接 A4、A5，这两个口在 UNO 上就是 I2C 接口，这时它们不是在读模拟量。温湿度模块的信号脚 OUT 接 8 号脚，对应程序里的 #define DHT11PIN 8。原指南组件清单里的“DTH11”是笔误，应为 DHT11。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库就像借来的一整套工具：DHT11 复杂的微秒级时序、LCD 的显示细节，都已经写在库里，我们拿来就用。dht11 和 LiquidCrystal_I2C 两个库在套件资料的库文件里，要先安装，否则编译时会提示 No such file。#define 像“查找替换”，编译前把名字换成数字。对象可以类比“型号”和“你手里这一台”：dht11 是型号，DHT11 是这一台，用点号来按它的按钮、看它的读数。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用“格子本”来类比：LCD1602 是一个 16 × 2 的格子本，setCursor 是用手指点到第几格，print 是从那一格开始往后写。行和列都从 0 开始数，第二行是 1。print 的第二个参数 2 表示保留 2 位小数，(float) 先把整数变成小数，所以 24 会显示成 24.00。print 不会自动擦掉旧字，新内容比旧内容短时，后面会残留旧字符。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前三行引入三个库：Wire 负责 I2C 通信，dht11 负责读温湿度，LiquidCrystal_I2C 负责 I2C 液晶屏；第 2 行 #include 后面少了空格，也能正常编译。第 7 行创建屏幕对象 lcd，括号里依次是 I2C 地址 0x27、16 列、2 行。第 9 行把 8 号脚设为输出，其实 dht11 库读数时会自己切换输入输出。第 12 行打开了串口，但这个程序没有用串口打印。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16 行 DHT11.read() 读一次温湿度，返回值 chk 是结果码，0 表示读取成功，这个程序没有用它，课后可以加上判断。第 18–20 行在第一行显示 Tep: 24.00C，Tep 是原程序对 Temp 的简写；第 22–24 行在第二行显示湿度。第 25 行 delay(200) 偏短：DHT11 两次读取最好间隔 1 秒以上，原指南也说间隔 5 秒以上最准确，建议改成 delay(2000)。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上传程序后，LCD 第一行显示温度、第二行显示湿度。可以让学生对着传感器哈一口气，湿度很快上升；用手捂住，温度慢慢上升。为什么小数部分总是 .00？因为 DHT11 只能测到整数精度，程序用 (float) 和保留 2 位小数显示，就成了 24.00。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扩展板照片里的屏幕显示 Tep:30 C 和 Hum:45 %，没有小数，说明那是另一版程序的显示格式，不影响接线方法。常见坑一：delay(200) 读得太勤，DHT11 两次读取最好隔 1 秒以上。常见坑二：LCD 背光亮但没有字，先拧背面的蓝色电位器调对比度，再检查 I2C 地址，常见是 0x27，有的屏是 0x3F。动手改一改让学生在串口里也打印湿度，体会“同一个数据，可以同时显示在两个地方”。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用右边四个方块回顾四个实验各自最核心的一句话，再请学生用自己的话解释左边四条。可以追问：超声波和 DHT11 都在“量时间”，有什么不同？（超声波量回声时间算距离，DHT11 用高电平时间长短表示 0 和 1。）下一节 2-3 学 WS2812b 彩灯和 LCD1602 动态显示。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尾：今天的四个传感器，一个量距离，一个听指令，一个看障碍，一个感知冷暖干湿。布置课后任务：选一个传感器，设计一个小装置，比如会提醒“离屏幕太近”的台灯，或会显示温湿度的桌面小摆件，下节课分享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40E0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46120"/>
            <a:ext cx="1325880" cy="13258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502920" y="411480"/>
            <a:ext cx="813816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02920" y="868680"/>
            <a:ext cx="81381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02920" y="1737360"/>
            <a:ext cx="81381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4206240" y="4069080"/>
            <a:ext cx="44805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defRPr>
            </a:lvl1pPr>
          </a:lstStyle>
          <a:p>
            <a:pPr algn="r" indent="0" marL="0">
              <a:buNone/>
            </a:pPr>
            <a:endParaRPr lang="en-US" sz="1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4754880"/>
            <a:ext cx="182880" cy="1828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473659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2-2　测距、通信与环境感知</a:t>
            </a:r>
            <a:endParaRPr lang="en-US" sz="8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defRPr>
            </a:lvl1pPr>
          </a:lstStyle>
          <a:p>
            <a:pPr algn="r" indent="0" marL="0">
              <a:buNone/>
            </a:pPr>
            <a:endParaRPr lang="en-US" sz="8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411480" y="384048"/>
            <a:ext cx="338328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  <p:sp>
        <p:nvSpPr>
          <p:cNvPr id="6" name="Text 1"/>
          <p:cNvSpPr/>
          <p:nvPr>
            <p:ph idx="104" type="title" hasCustomPrompt="1"/>
          </p:nvPr>
        </p:nvSpPr>
        <p:spPr>
          <a:xfrm>
            <a:off x="411480" y="713232"/>
            <a:ext cx="33832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7" name="Text 1"/>
          <p:cNvSpPr/>
          <p:nvPr>
            <p:ph idx="105" type="body" hasCustomPrompt="1"/>
          </p:nvPr>
        </p:nvSpPr>
        <p:spPr>
          <a:xfrm>
            <a:off x="411480" y="1874520"/>
            <a:ext cx="3246120" cy="23774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lnSpc>
                <a:spcPct val="130000"/>
              </a:lnSpc>
              <a:buNone/>
              <a:def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defRPr>
            </a:lvl1pPr>
          </a:lstStyle>
          <a:p>
            <a:pPr indent="0" marL="0">
              <a:lnSpc>
                <a:spcPct val="130000"/>
              </a:lnSpc>
              <a:buNone/>
            </a:pP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4754880"/>
            <a:ext cx="182880" cy="1828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473659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2-2　测距、通信与环境感知</a:t>
            </a:r>
            <a:endParaRPr lang="en-US" sz="8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defRPr>
            </a:lvl1pPr>
          </a:lstStyle>
          <a:p>
            <a:pPr algn="r" indent="0" marL="0">
              <a:buNone/>
            </a:pPr>
            <a:endParaRPr lang="en-US" sz="8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D">
    <p:bg>
      <p:bgPr>
        <a:solidFill>
          <a:srgbClr val="40E0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46120"/>
            <a:ext cx="1325880" cy="13258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02920" y="1097280"/>
            <a:ext cx="81381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02920" y="2057400"/>
            <a:ext cx="81381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jp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jp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jp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image" Target="../media/image-26-7.png"/><Relationship Id="rId8" Type="http://schemas.openxmlformats.org/officeDocument/2006/relationships/image" Target="../media/image-26-8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image" Target="../media/image-30-2.jpg"/><Relationship Id="rId3" Type="http://schemas.openxmlformats.org/officeDocument/2006/relationships/image" Target="../media/image-30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image" Target="../media/image-31-4.png"/><Relationship Id="rId5" Type="http://schemas.openxmlformats.org/officeDocument/2006/relationships/image" Target="../media/image-31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jp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image" Target="../media/image-33-4.png"/><Relationship Id="rId5" Type="http://schemas.openxmlformats.org/officeDocument/2006/relationships/image" Target="../media/image-33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jpg"/><Relationship Id="rId2" Type="http://schemas.openxmlformats.org/officeDocument/2006/relationships/image" Target="../media/image-35-2.jp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jpg"/><Relationship Id="rId2" Type="http://schemas.openxmlformats.org/officeDocument/2006/relationships/image" Target="../media/image-36-2.jpg"/><Relationship Id="rId3" Type="http://schemas.openxmlformats.org/officeDocument/2006/relationships/image" Target="../media/image-36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image" Target="../media/image-38-3.png"/><Relationship Id="rId4" Type="http://schemas.openxmlformats.org/officeDocument/2006/relationships/image" Target="../media/image-38-4.png"/><Relationship Id="rId5" Type="http://schemas.openxmlformats.org/officeDocument/2006/relationships/image" Target="../media/image-38-5.png"/><Relationship Id="rId6" Type="http://schemas.openxmlformats.org/officeDocument/2006/relationships/image" Target="../media/image-38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jpg"/><Relationship Id="rId2" Type="http://schemas.openxmlformats.org/officeDocument/2006/relationships/image" Target="../media/image-42-2.png"/><Relationship Id="rId3" Type="http://schemas.openxmlformats.org/officeDocument/2006/relationships/image" Target="../media/image-4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jpg"/><Relationship Id="rId2" Type="http://schemas.openxmlformats.org/officeDocument/2006/relationships/image" Target="../media/image-43-2.png"/><Relationship Id="rId3" Type="http://schemas.openxmlformats.org/officeDocument/2006/relationships/image" Target="../media/image-43-3.png"/><Relationship Id="rId4" Type="http://schemas.openxmlformats.org/officeDocument/2006/relationships/image" Target="../media/image-43-4.png"/><Relationship Id="rId5" Type="http://schemas.openxmlformats.org/officeDocument/2006/relationships/image" Target="../media/image-43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02920" y="41148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开源硬件与 AI 辅助编程　/　实验 2-2</a:t>
            </a:r>
            <a:endParaRPr lang="en-US" sz="11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02920" y="868680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2-2　测距、通信与环境感知</a:t>
            </a:r>
            <a:endParaRPr lang="en-US" sz="40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02920" y="1737360"/>
            <a:ext cx="8138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超声波 · 串口调节舵机</a:t>
            </a:r>
            <a:endParaRPr lang="en-US" sz="2800" dirty="0"/>
          </a:p>
          <a:p>
            <a:pPr indent="0" marL="0">
              <a:buNone/>
            </a:pPr>
            <a:r>
              <a:rPr lang="en-US" sz="2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红外避障 · 温湿度传感器</a:t>
            </a:r>
            <a:endParaRPr lang="en-US" sz="2800" dirty="0"/>
          </a:p>
        </p:txBody>
      </p:sp>
      <p:sp>
        <p:nvSpPr>
          <p:cNvPr id="5" name="Text 0"/>
          <p:cNvSpPr/>
          <p:nvPr>
            <p:ph idx="104" type="body" hasCustomPrompt="1"/>
          </p:nvPr>
        </p:nvSpPr>
        <p:spPr>
          <a:xfrm>
            <a:off x="4206240" y="406908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0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湖北工业大学 · 工业设计学院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导入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本节导览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四个实验，一条主线：传感器不只会“感觉”，还会“测量”，还会和 Arduino“说话”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1908810" cy="2514600"/>
          </a:xfrm>
          <a:prstGeom prst="roundRect">
            <a:avLst>
              <a:gd name="adj" fmla="val 5749"/>
            </a:avLst>
          </a:prstGeom>
          <a:solidFill>
            <a:srgbClr val="E3FAF7"/>
          </a:solidFill>
          <a:ln w="12700">
            <a:solidFill>
              <a:srgbClr val="E3FAF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76072" y="1453896"/>
            <a:ext cx="601218" cy="253365"/>
          </a:xfrm>
          <a:prstGeom prst="roundRect">
            <a:avLst>
              <a:gd name="adj" fmla="val 5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76072" y="1453896"/>
            <a:ext cx="601218" cy="2533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实验一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1716786" y="1380744"/>
            <a:ext cx="438912" cy="438912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2125" y="1486083"/>
            <a:ext cx="228234" cy="22823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76072" y="1874520"/>
            <a:ext cx="157962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超声波模块实验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576072" y="2496312"/>
            <a:ext cx="157962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像蝙蝠一样听回声，算出前方有多远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576072" y="3063240"/>
            <a:ext cx="618744" cy="241300"/>
          </a:xfrm>
          <a:prstGeom prst="roundRect">
            <a:avLst>
              <a:gd name="adj" fmla="val 5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576072" y="3063240"/>
            <a:ext cx="618744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576072" y="3377692"/>
            <a:ext cx="923544" cy="241300"/>
          </a:xfrm>
          <a:prstGeom prst="roundRect">
            <a:avLst>
              <a:gd name="adj" fmla="val 5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76072" y="3377692"/>
            <a:ext cx="923544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pulseIn()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1572768" y="3377692"/>
            <a:ext cx="542544" cy="241300"/>
          </a:xfrm>
          <a:prstGeom prst="roundRect">
            <a:avLst>
              <a:gd name="adj" fmla="val 5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1572768" y="3377692"/>
            <a:ext cx="542544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÷ 58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411480" y="4023360"/>
            <a:ext cx="1908810" cy="548640"/>
          </a:xfrm>
          <a:prstGeom prst="roundRect">
            <a:avLst>
              <a:gd name="adj" fmla="val 2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02920" y="4023360"/>
            <a:ext cx="17259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测时间 → 算距离</a:t>
            </a:r>
            <a:endParaRPr lang="en-US" sz="1300" dirty="0"/>
          </a:p>
        </p:txBody>
      </p:sp>
      <p:sp>
        <p:nvSpPr>
          <p:cNvPr id="21" name="Shape 17"/>
          <p:cNvSpPr/>
          <p:nvPr/>
        </p:nvSpPr>
        <p:spPr>
          <a:xfrm>
            <a:off x="2347722" y="4297680"/>
            <a:ext cx="173736" cy="91"/>
          </a:xfrm>
          <a:prstGeom prst="line">
            <a:avLst/>
          </a:prstGeom>
          <a:noFill/>
          <a:ln w="15875">
            <a:solidFill>
              <a:srgbClr val="6B6B6B"/>
            </a:solidFill>
            <a:prstDash val="solid"/>
            <a:tailEnd type="triangle"/>
          </a:ln>
        </p:spPr>
      </p:sp>
      <p:sp>
        <p:nvSpPr>
          <p:cNvPr id="22" name="Shape 18"/>
          <p:cNvSpPr/>
          <p:nvPr/>
        </p:nvSpPr>
        <p:spPr>
          <a:xfrm>
            <a:off x="2548890" y="1234440"/>
            <a:ext cx="1908810" cy="2514600"/>
          </a:xfrm>
          <a:prstGeom prst="roundRect">
            <a:avLst>
              <a:gd name="adj" fmla="val 5749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2713482" y="1453896"/>
            <a:ext cx="601218" cy="253365"/>
          </a:xfrm>
          <a:prstGeom prst="roundRect">
            <a:avLst>
              <a:gd name="adj" fmla="val 5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2713482" y="1453896"/>
            <a:ext cx="601218" cy="2533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实验二</a:t>
            </a:r>
            <a:endParaRPr lang="en-US" sz="1050" dirty="0"/>
          </a:p>
        </p:txBody>
      </p:sp>
      <p:sp>
        <p:nvSpPr>
          <p:cNvPr id="25" name="Shape 21"/>
          <p:cNvSpPr/>
          <p:nvPr/>
        </p:nvSpPr>
        <p:spPr>
          <a:xfrm>
            <a:off x="3854196" y="1380744"/>
            <a:ext cx="438912" cy="438912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9535" y="1486083"/>
            <a:ext cx="228234" cy="228234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2713482" y="1874520"/>
            <a:ext cx="157962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串口调节舵机角度实验</a:t>
            </a:r>
            <a:endParaRPr lang="en-US" sz="1400" dirty="0"/>
          </a:p>
        </p:txBody>
      </p:sp>
      <p:sp>
        <p:nvSpPr>
          <p:cNvPr id="28" name="Text 23"/>
          <p:cNvSpPr txBox="1"/>
          <p:nvPr/>
        </p:nvSpPr>
        <p:spPr>
          <a:xfrm>
            <a:off x="2713482" y="2496312"/>
            <a:ext cx="157962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在电脑上输入角度，舵机就转过去</a:t>
            </a:r>
            <a:endParaRPr lang="en-US" sz="1200" dirty="0"/>
          </a:p>
        </p:txBody>
      </p:sp>
      <p:sp>
        <p:nvSpPr>
          <p:cNvPr id="29" name="Shape 24"/>
          <p:cNvSpPr/>
          <p:nvPr/>
        </p:nvSpPr>
        <p:spPr>
          <a:xfrm>
            <a:off x="2713482" y="3063240"/>
            <a:ext cx="1075944" cy="241300"/>
          </a:xfrm>
          <a:prstGeom prst="roundRect">
            <a:avLst>
              <a:gd name="adj" fmla="val 5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2713482" y="3063240"/>
            <a:ext cx="1075944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available()</a:t>
            </a:r>
            <a:endParaRPr lang="en-US" sz="1000" dirty="0"/>
          </a:p>
        </p:txBody>
      </p:sp>
      <p:sp>
        <p:nvSpPr>
          <p:cNvPr id="31" name="Shape 26"/>
          <p:cNvSpPr/>
          <p:nvPr/>
        </p:nvSpPr>
        <p:spPr>
          <a:xfrm>
            <a:off x="2713482" y="3377692"/>
            <a:ext cx="694944" cy="241300"/>
          </a:xfrm>
          <a:prstGeom prst="roundRect">
            <a:avLst>
              <a:gd name="adj" fmla="val 5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2713482" y="3377692"/>
            <a:ext cx="694944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read()</a:t>
            </a:r>
            <a:endParaRPr lang="en-US" sz="1000" dirty="0"/>
          </a:p>
        </p:txBody>
      </p:sp>
      <p:sp>
        <p:nvSpPr>
          <p:cNvPr id="33" name="Shape 28"/>
          <p:cNvSpPr/>
          <p:nvPr/>
        </p:nvSpPr>
        <p:spPr>
          <a:xfrm>
            <a:off x="3481578" y="3377692"/>
            <a:ext cx="771144" cy="241300"/>
          </a:xfrm>
          <a:prstGeom prst="roundRect">
            <a:avLst>
              <a:gd name="adj" fmla="val 5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34" name="Text 29"/>
          <p:cNvSpPr txBox="1"/>
          <p:nvPr/>
        </p:nvSpPr>
        <p:spPr>
          <a:xfrm>
            <a:off x="3481578" y="3377692"/>
            <a:ext cx="771144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toInt()</a:t>
            </a:r>
            <a:endParaRPr lang="en-US" sz="1000" dirty="0"/>
          </a:p>
        </p:txBody>
      </p:sp>
      <p:sp>
        <p:nvSpPr>
          <p:cNvPr id="35" name="Shape 30"/>
          <p:cNvSpPr/>
          <p:nvPr/>
        </p:nvSpPr>
        <p:spPr>
          <a:xfrm>
            <a:off x="2548890" y="4023360"/>
            <a:ext cx="190881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2640330" y="4023360"/>
            <a:ext cx="17259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读字符 → 拼数字</a:t>
            </a:r>
            <a:endParaRPr lang="en-US" sz="1300" dirty="0"/>
          </a:p>
        </p:txBody>
      </p:sp>
      <p:sp>
        <p:nvSpPr>
          <p:cNvPr id="37" name="Shape 32"/>
          <p:cNvSpPr/>
          <p:nvPr/>
        </p:nvSpPr>
        <p:spPr>
          <a:xfrm>
            <a:off x="4485132" y="4297680"/>
            <a:ext cx="173736" cy="91"/>
          </a:xfrm>
          <a:prstGeom prst="line">
            <a:avLst/>
          </a:prstGeom>
          <a:noFill/>
          <a:ln w="15875">
            <a:solidFill>
              <a:srgbClr val="6B6B6B"/>
            </a:solidFill>
            <a:prstDash val="solid"/>
            <a:tailEnd type="triangle"/>
          </a:ln>
        </p:spPr>
      </p:sp>
      <p:sp>
        <p:nvSpPr>
          <p:cNvPr id="38" name="Shape 33"/>
          <p:cNvSpPr/>
          <p:nvPr/>
        </p:nvSpPr>
        <p:spPr>
          <a:xfrm>
            <a:off x="4686300" y="1234440"/>
            <a:ext cx="1908810" cy="2514600"/>
          </a:xfrm>
          <a:prstGeom prst="roundRect">
            <a:avLst>
              <a:gd name="adj" fmla="val 5749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39" name="Shape 34"/>
          <p:cNvSpPr/>
          <p:nvPr/>
        </p:nvSpPr>
        <p:spPr>
          <a:xfrm>
            <a:off x="4850892" y="1453896"/>
            <a:ext cx="601218" cy="253365"/>
          </a:xfrm>
          <a:prstGeom prst="roundRect">
            <a:avLst>
              <a:gd name="adj" fmla="val 5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40" name="Text 35"/>
          <p:cNvSpPr txBox="1"/>
          <p:nvPr/>
        </p:nvSpPr>
        <p:spPr>
          <a:xfrm>
            <a:off x="4850892" y="1453896"/>
            <a:ext cx="601218" cy="2533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实验三</a:t>
            </a:r>
            <a:endParaRPr lang="en-US" sz="1050" dirty="0"/>
          </a:p>
        </p:txBody>
      </p:sp>
      <p:sp>
        <p:nvSpPr>
          <p:cNvPr id="41" name="Shape 36"/>
          <p:cNvSpPr/>
          <p:nvPr/>
        </p:nvSpPr>
        <p:spPr>
          <a:xfrm>
            <a:off x="5991606" y="1380744"/>
            <a:ext cx="438912" cy="438912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4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945" y="1486083"/>
            <a:ext cx="228234" cy="228234"/>
          </a:xfrm>
          <a:prstGeom prst="rect">
            <a:avLst/>
          </a:prstGeom>
        </p:spPr>
      </p:pic>
      <p:sp>
        <p:nvSpPr>
          <p:cNvPr id="43" name="Text 37"/>
          <p:cNvSpPr txBox="1"/>
          <p:nvPr/>
        </p:nvSpPr>
        <p:spPr>
          <a:xfrm>
            <a:off x="4850892" y="1874520"/>
            <a:ext cx="157962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红外避障模块实验</a:t>
            </a:r>
            <a:endParaRPr lang="en-US" sz="1400" dirty="0"/>
          </a:p>
        </p:txBody>
      </p:sp>
      <p:sp>
        <p:nvSpPr>
          <p:cNvPr id="44" name="Text 38"/>
          <p:cNvSpPr txBox="1"/>
          <p:nvPr/>
        </p:nvSpPr>
        <p:spPr>
          <a:xfrm>
            <a:off x="4850892" y="2496312"/>
            <a:ext cx="157962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前面有东西，就亮灯、报警</a:t>
            </a:r>
            <a:endParaRPr lang="en-US" sz="1200" dirty="0"/>
          </a:p>
        </p:txBody>
      </p:sp>
      <p:sp>
        <p:nvSpPr>
          <p:cNvPr id="45" name="Shape 39"/>
          <p:cNvSpPr/>
          <p:nvPr/>
        </p:nvSpPr>
        <p:spPr>
          <a:xfrm>
            <a:off x="4850892" y="3063240"/>
            <a:ext cx="1228344" cy="241300"/>
          </a:xfrm>
          <a:prstGeom prst="roundRect">
            <a:avLst>
              <a:gd name="adj" fmla="val 5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46" name="Text 40"/>
          <p:cNvSpPr txBox="1"/>
          <p:nvPr/>
        </p:nvSpPr>
        <p:spPr>
          <a:xfrm>
            <a:off x="4850892" y="3063240"/>
            <a:ext cx="1228344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digitalRead()</a:t>
            </a:r>
            <a:endParaRPr lang="en-US" sz="1000" dirty="0"/>
          </a:p>
        </p:txBody>
      </p:sp>
      <p:sp>
        <p:nvSpPr>
          <p:cNvPr id="47" name="Shape 41"/>
          <p:cNvSpPr/>
          <p:nvPr/>
        </p:nvSpPr>
        <p:spPr>
          <a:xfrm>
            <a:off x="4850892" y="3377692"/>
            <a:ext cx="923544" cy="241300"/>
          </a:xfrm>
          <a:prstGeom prst="roundRect">
            <a:avLst>
              <a:gd name="adj" fmla="val 5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48" name="Text 42"/>
          <p:cNvSpPr txBox="1"/>
          <p:nvPr/>
        </p:nvSpPr>
        <p:spPr>
          <a:xfrm>
            <a:off x="4850892" y="3377692"/>
            <a:ext cx="923544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/ else</a:t>
            </a:r>
            <a:endParaRPr lang="en-US" sz="1000" dirty="0"/>
          </a:p>
        </p:txBody>
      </p:sp>
      <p:sp>
        <p:nvSpPr>
          <p:cNvPr id="49" name="Shape 43"/>
          <p:cNvSpPr/>
          <p:nvPr/>
        </p:nvSpPr>
        <p:spPr>
          <a:xfrm>
            <a:off x="4686300" y="4023360"/>
            <a:ext cx="190881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50" name="Text 44"/>
          <p:cNvSpPr txBox="1"/>
          <p:nvPr/>
        </p:nvSpPr>
        <p:spPr>
          <a:xfrm>
            <a:off x="4777740" y="4023360"/>
            <a:ext cx="17259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读高低 → 做判断</a:t>
            </a:r>
            <a:endParaRPr lang="en-US" sz="1300" dirty="0"/>
          </a:p>
        </p:txBody>
      </p:sp>
      <p:sp>
        <p:nvSpPr>
          <p:cNvPr id="51" name="Shape 45"/>
          <p:cNvSpPr/>
          <p:nvPr/>
        </p:nvSpPr>
        <p:spPr>
          <a:xfrm>
            <a:off x="6622542" y="4297680"/>
            <a:ext cx="173736" cy="91"/>
          </a:xfrm>
          <a:prstGeom prst="line">
            <a:avLst/>
          </a:prstGeom>
          <a:noFill/>
          <a:ln w="15875">
            <a:solidFill>
              <a:srgbClr val="6B6B6B"/>
            </a:solidFill>
            <a:prstDash val="solid"/>
            <a:tailEnd type="triangle"/>
          </a:ln>
        </p:spPr>
      </p:sp>
      <p:sp>
        <p:nvSpPr>
          <p:cNvPr id="52" name="Shape 46"/>
          <p:cNvSpPr/>
          <p:nvPr/>
        </p:nvSpPr>
        <p:spPr>
          <a:xfrm>
            <a:off x="6823710" y="1234440"/>
            <a:ext cx="1908810" cy="2514600"/>
          </a:xfrm>
          <a:prstGeom prst="roundRect">
            <a:avLst>
              <a:gd name="adj" fmla="val 5749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53" name="Shape 47"/>
          <p:cNvSpPr/>
          <p:nvPr/>
        </p:nvSpPr>
        <p:spPr>
          <a:xfrm>
            <a:off x="6988302" y="1453896"/>
            <a:ext cx="601218" cy="253365"/>
          </a:xfrm>
          <a:prstGeom prst="roundRect">
            <a:avLst>
              <a:gd name="adj" fmla="val 5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54" name="Text 48"/>
          <p:cNvSpPr txBox="1"/>
          <p:nvPr/>
        </p:nvSpPr>
        <p:spPr>
          <a:xfrm>
            <a:off x="6988302" y="1453896"/>
            <a:ext cx="601218" cy="2533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实验四</a:t>
            </a:r>
            <a:endParaRPr lang="en-US" sz="1050" dirty="0"/>
          </a:p>
        </p:txBody>
      </p:sp>
      <p:sp>
        <p:nvSpPr>
          <p:cNvPr id="55" name="Shape 49"/>
          <p:cNvSpPr/>
          <p:nvPr/>
        </p:nvSpPr>
        <p:spPr>
          <a:xfrm>
            <a:off x="8129016" y="1380744"/>
            <a:ext cx="438912" cy="438912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5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4355" y="1486083"/>
            <a:ext cx="228234" cy="228234"/>
          </a:xfrm>
          <a:prstGeom prst="rect">
            <a:avLst/>
          </a:prstGeom>
        </p:spPr>
      </p:pic>
      <p:sp>
        <p:nvSpPr>
          <p:cNvPr id="57" name="Text 50"/>
          <p:cNvSpPr txBox="1"/>
          <p:nvPr/>
        </p:nvSpPr>
        <p:spPr>
          <a:xfrm>
            <a:off x="6988302" y="1874520"/>
            <a:ext cx="157962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温湿度传感器模块实验</a:t>
            </a:r>
            <a:endParaRPr lang="en-US" sz="1400" dirty="0"/>
          </a:p>
        </p:txBody>
      </p:sp>
      <p:sp>
        <p:nvSpPr>
          <p:cNvPr id="58" name="Text 51"/>
          <p:cNvSpPr txBox="1"/>
          <p:nvPr/>
        </p:nvSpPr>
        <p:spPr>
          <a:xfrm>
            <a:off x="6988302" y="2496312"/>
            <a:ext cx="157962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读出温度和湿度，显示在 LCD 屏上</a:t>
            </a:r>
            <a:endParaRPr lang="en-US" sz="1200" dirty="0"/>
          </a:p>
        </p:txBody>
      </p:sp>
      <p:sp>
        <p:nvSpPr>
          <p:cNvPr id="59" name="Shape 52"/>
          <p:cNvSpPr/>
          <p:nvPr/>
        </p:nvSpPr>
        <p:spPr>
          <a:xfrm>
            <a:off x="6988302" y="3063240"/>
            <a:ext cx="847344" cy="241300"/>
          </a:xfrm>
          <a:prstGeom prst="roundRect">
            <a:avLst>
              <a:gd name="adj" fmla="val 5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60" name="Text 53"/>
          <p:cNvSpPr txBox="1"/>
          <p:nvPr/>
        </p:nvSpPr>
        <p:spPr>
          <a:xfrm>
            <a:off x="6988302" y="3063240"/>
            <a:ext cx="847344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#include</a:t>
            </a:r>
            <a:endParaRPr lang="en-US" sz="1000" dirty="0"/>
          </a:p>
        </p:txBody>
      </p:sp>
      <p:sp>
        <p:nvSpPr>
          <p:cNvPr id="61" name="Shape 54"/>
          <p:cNvSpPr/>
          <p:nvPr/>
        </p:nvSpPr>
        <p:spPr>
          <a:xfrm>
            <a:off x="6988302" y="3377692"/>
            <a:ext cx="821944" cy="241300"/>
          </a:xfrm>
          <a:prstGeom prst="roundRect">
            <a:avLst>
              <a:gd name="adj" fmla="val 5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62" name="Text 55"/>
          <p:cNvSpPr txBox="1"/>
          <p:nvPr/>
        </p:nvSpPr>
        <p:spPr>
          <a:xfrm>
            <a:off x="6988302" y="3377692"/>
            <a:ext cx="821944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对象.成员</a:t>
            </a:r>
            <a:endParaRPr lang="en-US" sz="1000" dirty="0"/>
          </a:p>
        </p:txBody>
      </p:sp>
      <p:sp>
        <p:nvSpPr>
          <p:cNvPr id="63" name="Shape 56"/>
          <p:cNvSpPr/>
          <p:nvPr/>
        </p:nvSpPr>
        <p:spPr>
          <a:xfrm>
            <a:off x="6823710" y="4023360"/>
            <a:ext cx="190881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64" name="Text 57"/>
          <p:cNvSpPr txBox="1"/>
          <p:nvPr/>
        </p:nvSpPr>
        <p:spPr>
          <a:xfrm>
            <a:off x="6915150" y="4023360"/>
            <a:ext cx="17259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按时序 → 收数据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实验一　超声波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411480" y="38404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 01</a:t>
            </a:r>
            <a:endParaRPr lang="en-US" sz="1100" dirty="0"/>
          </a:p>
        </p:txBody>
      </p:sp>
      <p:sp>
        <p:nvSpPr>
          <p:cNvPr id="4" name="Text 1"/>
          <p:cNvSpPr/>
          <p:nvPr>
            <p:ph idx="104" type="title" hasCustomPrompt="1"/>
          </p:nvPr>
        </p:nvSpPr>
        <p:spPr>
          <a:xfrm>
            <a:off x="411480" y="713232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超声波模块实验</a:t>
            </a:r>
            <a:endParaRPr lang="en-US" sz="2800" dirty="0"/>
          </a:p>
        </p:txBody>
      </p:sp>
      <p:sp>
        <p:nvSpPr>
          <p:cNvPr id="5" name="Text 1"/>
          <p:cNvSpPr/>
          <p:nvPr>
            <p:ph idx="105" type="body" hasCustomPrompt="1"/>
          </p:nvPr>
        </p:nvSpPr>
        <p:spPr>
          <a:xfrm>
            <a:off x="411480" y="1874520"/>
            <a:ext cx="32461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超声波模块会“喊一声、听回声”：测出声音来回用了多少时间，就能算出前方物体有多远。顺带学会三个新词：const、delayMicroseconds() 和 pulseIn()。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160520" y="347472"/>
            <a:ext cx="2286000" cy="2112264"/>
          </a:xfrm>
          <a:prstGeom prst="rect">
            <a:avLst/>
          </a:prstGeom>
          <a:solidFill>
            <a:srgbClr val="40E0D0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361688" y="512064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4361688" y="1389888"/>
            <a:ext cx="1883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原理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361688" y="1801368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回声 · s = 340 × t ÷ 2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46520" y="347472"/>
            <a:ext cx="2286000" cy="2112264"/>
          </a:xfrm>
          <a:prstGeom prst="rect">
            <a:avLst/>
          </a:prstGeom>
          <a:solidFill>
            <a:srgbClr val="EBEBEB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647688" y="512064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647688" y="1389888"/>
            <a:ext cx="1883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接线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647688" y="1801368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Trig → 2，Echo → 3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160520" y="2459736"/>
            <a:ext cx="2286000" cy="2112264"/>
          </a:xfrm>
          <a:prstGeom prst="rect">
            <a:avLst/>
          </a:prstGeom>
          <a:solidFill>
            <a:srgbClr val="2D2D2D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61688" y="2624328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40E0D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4361688" y="3502152"/>
            <a:ext cx="1883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361688" y="3913632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CFCFC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pulseIn() · ÷ 58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46520" y="2459736"/>
            <a:ext cx="2286000" cy="211226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647688" y="2624328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6647688" y="3502152"/>
            <a:ext cx="1883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结果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647688" y="3913632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串口里看距离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实验一　超声波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认识超声波模块：像蝙蝠一样“听回声”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模块一边“喊”（发出超声波），一边“听”（接收回声），用声音来回的时间算出距离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11480" y="1234440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生活里的类比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411480" y="1581912"/>
            <a:ext cx="3977640" cy="681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蝙蝠在黑暗里飞行时会发出超声波，听回声就知道前面有没有障碍物。对着山谷喊一声，回声越晚回来，山就越远。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11480" y="2464118"/>
            <a:ext cx="274320" cy="274320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11480" y="246411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813816" y="2487771"/>
            <a:ext cx="3575304" cy="245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发射器发出超声波，同时开始计时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11480" y="2866454"/>
            <a:ext cx="274320" cy="274320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11480" y="286645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13816" y="2890107"/>
            <a:ext cx="3575304" cy="245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超声波碰到障碍物，立刻反射回来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411480" y="3268790"/>
            <a:ext cx="274320" cy="274320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11480" y="326879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13816" y="3292443"/>
            <a:ext cx="3575304" cy="245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接收器听到回声，停止计时，得到时间 t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411480" y="3817430"/>
            <a:ext cx="3977640" cy="754571"/>
          </a:xfrm>
          <a:prstGeom prst="roundRect">
            <a:avLst>
              <a:gd name="adj" fmla="val 14542"/>
            </a:avLst>
          </a:prstGeom>
          <a:solidFill>
            <a:srgbClr val="E3FAF7"/>
          </a:solidFill>
          <a:ln w="12700">
            <a:solidFill>
              <a:srgbClr val="E3FAF7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57784" y="4030123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6788" y="4109127"/>
            <a:ext cx="171176" cy="171176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996696" y="3844862"/>
            <a:ext cx="3282696" cy="6997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实验目的　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通过串口显示测到的距离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原指南写“通过串口输入”，应为“输出”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4663440" y="1234440"/>
            <a:ext cx="4069080" cy="2011680"/>
          </a:xfrm>
          <a:prstGeom prst="roundRect">
            <a:avLst>
              <a:gd name="adj" fmla="val 5455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pic>
        <p:nvPicPr>
          <p:cNvPr id="22" name="Image 1" descr="原指南实验照片：右边就是超声波模块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4767" y="1344168"/>
            <a:ext cx="3446426" cy="1517904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4773168" y="2898648"/>
            <a:ext cx="3849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原指南实验照片：右边就是超声波模块</a:t>
            </a:r>
            <a:endParaRPr lang="en-US" sz="1000" dirty="0"/>
          </a:p>
        </p:txBody>
      </p:sp>
      <p:sp>
        <p:nvSpPr>
          <p:cNvPr id="24" name="Shape 19"/>
          <p:cNvSpPr/>
          <p:nvPr/>
        </p:nvSpPr>
        <p:spPr>
          <a:xfrm>
            <a:off x="4663440" y="3520440"/>
            <a:ext cx="4069080" cy="1051560"/>
          </a:xfrm>
          <a:prstGeom prst="roundRect">
            <a:avLst>
              <a:gd name="adj" fmla="val 10435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4846320" y="3694176"/>
            <a:ext cx="566928" cy="256032"/>
          </a:xfrm>
          <a:prstGeom prst="roundRect">
            <a:avLst>
              <a:gd name="adj" fmla="val 5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4846320" y="3694176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Vcc</a:t>
            </a:r>
            <a:endParaRPr lang="en-US" sz="1100" dirty="0"/>
          </a:p>
        </p:txBody>
      </p:sp>
      <p:sp>
        <p:nvSpPr>
          <p:cNvPr id="27" name="Text 22"/>
          <p:cNvSpPr txBox="1"/>
          <p:nvPr/>
        </p:nvSpPr>
        <p:spPr>
          <a:xfrm>
            <a:off x="5504688" y="3675888"/>
            <a:ext cx="11475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电源 5V</a:t>
            </a:r>
            <a:endParaRPr lang="en-US" sz="1200" dirty="0"/>
          </a:p>
        </p:txBody>
      </p:sp>
      <p:sp>
        <p:nvSpPr>
          <p:cNvPr id="28" name="Shape 23"/>
          <p:cNvSpPr/>
          <p:nvPr/>
        </p:nvSpPr>
        <p:spPr>
          <a:xfrm>
            <a:off x="6743700" y="3694176"/>
            <a:ext cx="566928" cy="256032"/>
          </a:xfrm>
          <a:prstGeom prst="roundRect">
            <a:avLst>
              <a:gd name="adj" fmla="val 5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6743700" y="3694176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Trig</a:t>
            </a:r>
            <a:endParaRPr lang="en-US" sz="1100" dirty="0"/>
          </a:p>
        </p:txBody>
      </p:sp>
      <p:sp>
        <p:nvSpPr>
          <p:cNvPr id="30" name="Text 25"/>
          <p:cNvSpPr txBox="1"/>
          <p:nvPr/>
        </p:nvSpPr>
        <p:spPr>
          <a:xfrm>
            <a:off x="7402068" y="3675888"/>
            <a:ext cx="11475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触发：“喊”</a:t>
            </a:r>
            <a:endParaRPr lang="en-US" sz="1200" dirty="0"/>
          </a:p>
        </p:txBody>
      </p:sp>
      <p:sp>
        <p:nvSpPr>
          <p:cNvPr id="31" name="Shape 26"/>
          <p:cNvSpPr/>
          <p:nvPr/>
        </p:nvSpPr>
        <p:spPr>
          <a:xfrm>
            <a:off x="4846320" y="4096512"/>
            <a:ext cx="566928" cy="256032"/>
          </a:xfrm>
          <a:prstGeom prst="roundRect">
            <a:avLst>
              <a:gd name="adj" fmla="val 5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4846320" y="4096512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GND</a:t>
            </a:r>
            <a:endParaRPr lang="en-US" sz="1100" dirty="0"/>
          </a:p>
        </p:txBody>
      </p:sp>
      <p:sp>
        <p:nvSpPr>
          <p:cNvPr id="33" name="Text 28"/>
          <p:cNvSpPr txBox="1"/>
          <p:nvPr/>
        </p:nvSpPr>
        <p:spPr>
          <a:xfrm>
            <a:off x="5504688" y="4078224"/>
            <a:ext cx="11475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接地</a:t>
            </a:r>
            <a:endParaRPr lang="en-US" sz="1200" dirty="0"/>
          </a:p>
        </p:txBody>
      </p:sp>
      <p:sp>
        <p:nvSpPr>
          <p:cNvPr id="34" name="Shape 29"/>
          <p:cNvSpPr/>
          <p:nvPr/>
        </p:nvSpPr>
        <p:spPr>
          <a:xfrm>
            <a:off x="6743700" y="4096512"/>
            <a:ext cx="566928" cy="256032"/>
          </a:xfrm>
          <a:prstGeom prst="roundRect">
            <a:avLst>
              <a:gd name="adj" fmla="val 5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6743700" y="4096512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Echo</a:t>
            </a:r>
            <a:endParaRPr lang="en-US" sz="1100" dirty="0"/>
          </a:p>
        </p:txBody>
      </p:sp>
      <p:sp>
        <p:nvSpPr>
          <p:cNvPr id="36" name="Text 31"/>
          <p:cNvSpPr txBox="1"/>
          <p:nvPr/>
        </p:nvSpPr>
        <p:spPr>
          <a:xfrm>
            <a:off x="7402068" y="4078224"/>
            <a:ext cx="11475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回声：“听”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实验一　超声波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测距原理：距离 = 340 × t ÷ 2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声音跑了一个来回，所以算出的路程要除以 2；换成厘米和微秒，就是“回波时间 ÷ 58”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5029200" cy="1783080"/>
          </a:xfrm>
          <a:prstGeom prst="roundRect">
            <a:avLst>
              <a:gd name="adj" fmla="val 6154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94360" y="13441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声音走了一个来回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85800" y="1737360"/>
            <a:ext cx="566928" cy="914400"/>
          </a:xfrm>
          <a:prstGeom prst="roundRect">
            <a:avLst>
              <a:gd name="adj" fmla="val 12903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13816" y="1810512"/>
            <a:ext cx="310896" cy="310896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13816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发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813816" y="2249424"/>
            <a:ext cx="310896" cy="310896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13816" y="22494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收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2688336"/>
            <a:ext cx="868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超声波模块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873752" y="1691640"/>
            <a:ext cx="219456" cy="1097280"/>
          </a:xfrm>
          <a:prstGeom prst="rect">
            <a:avLst/>
          </a:prstGeom>
          <a:solidFill>
            <a:srgbClr val="E2E2E2"/>
          </a:solidFill>
          <a:ln w="12700">
            <a:solidFill>
              <a:srgbClr val="6B6B6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53712" y="1362456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障碍物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1362456" y="1965960"/>
            <a:ext cx="3419856" cy="91"/>
          </a:xfrm>
          <a:prstGeom prst="line">
            <a:avLst/>
          </a:prstGeom>
          <a:noFill/>
          <a:ln w="28575">
            <a:solidFill>
              <a:srgbClr val="1A9E92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 flipH="1">
            <a:off x="1362456" y="2304288"/>
            <a:ext cx="3419856" cy="91"/>
          </a:xfrm>
          <a:prstGeom prst="line">
            <a:avLst/>
          </a:prstGeom>
          <a:noFill/>
          <a:ln w="28575">
            <a:solidFill>
              <a:srgbClr val="2D2D2D"/>
            </a:solidFill>
            <a:prstDash val="dash"/>
            <a:tailEnd type="triangle"/>
          </a:ln>
        </p:spPr>
      </p:sp>
      <p:sp>
        <p:nvSpPr>
          <p:cNvPr id="18" name="Text 15"/>
          <p:cNvSpPr txBox="1"/>
          <p:nvPr/>
        </p:nvSpPr>
        <p:spPr>
          <a:xfrm>
            <a:off x="1636776" y="1673352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① 发出超声波（去）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636776" y="2340864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② 碰到障碍物反射（回）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1636776" y="2715768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来回一共走了 2 × s，用时 t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715000" y="1234440"/>
            <a:ext cx="3017520" cy="1783080"/>
          </a:xfrm>
          <a:prstGeom prst="roundRect">
            <a:avLst>
              <a:gd name="adj" fmla="val 6154"/>
            </a:avLst>
          </a:prstGeom>
          <a:solidFill>
            <a:srgbClr val="E3FAF7"/>
          </a:solidFill>
          <a:ln w="12700">
            <a:solidFill>
              <a:srgbClr val="E3FAF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943600" y="1558163"/>
            <a:ext cx="49377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 =</a:t>
            </a:r>
            <a:endParaRPr lang="en-US" sz="2200" dirty="0"/>
          </a:p>
        </p:txBody>
      </p:sp>
      <p:sp>
        <p:nvSpPr>
          <p:cNvPr id="23" name="Text 20"/>
          <p:cNvSpPr txBox="1"/>
          <p:nvPr/>
        </p:nvSpPr>
        <p:spPr>
          <a:xfrm>
            <a:off x="6492240" y="1356106"/>
            <a:ext cx="121107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340 × t</a:t>
            </a:r>
            <a:endParaRPr lang="en-US" sz="2200" dirty="0"/>
          </a:p>
        </p:txBody>
      </p:sp>
      <p:sp>
        <p:nvSpPr>
          <p:cNvPr id="24" name="Shape 21"/>
          <p:cNvSpPr/>
          <p:nvPr/>
        </p:nvSpPr>
        <p:spPr>
          <a:xfrm>
            <a:off x="6492240" y="1732788"/>
            <a:ext cx="1211072" cy="0"/>
          </a:xfrm>
          <a:prstGeom prst="line">
            <a:avLst/>
          </a:prstGeom>
          <a:noFill/>
          <a:ln w="15875">
            <a:solidFill>
              <a:srgbClr val="2D2D2D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492240" y="1760220"/>
            <a:ext cx="121107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2200" dirty="0"/>
          </a:p>
        </p:txBody>
      </p:sp>
      <p:sp>
        <p:nvSpPr>
          <p:cNvPr id="26" name="Text 23"/>
          <p:cNvSpPr txBox="1"/>
          <p:nvPr/>
        </p:nvSpPr>
        <p:spPr>
          <a:xfrm>
            <a:off x="5943600" y="220370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：距离（米）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5943600" y="2450592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340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：声速（米/秒）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5943600" y="269748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：声音来回的时间（秒）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411480" y="32918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为什么程序里写的是 ÷ 58？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411480" y="365760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94360" y="374904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① 声速换个单位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594360" y="404164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340 m/s = 0.034 cm/μs</a:t>
            </a:r>
            <a:endParaRPr lang="en-US" sz="1450" dirty="0"/>
          </a:p>
        </p:txBody>
      </p:sp>
      <p:sp>
        <p:nvSpPr>
          <p:cNvPr id="33" name="Shape 30"/>
          <p:cNvSpPr/>
          <p:nvPr/>
        </p:nvSpPr>
        <p:spPr>
          <a:xfrm>
            <a:off x="3017520" y="4114800"/>
            <a:ext cx="228600" cy="91"/>
          </a:xfrm>
          <a:prstGeom prst="line">
            <a:avLst/>
          </a:prstGeom>
          <a:noFill/>
          <a:ln w="15875">
            <a:solidFill>
              <a:srgbClr val="6B6B6B"/>
            </a:solidFill>
            <a:prstDash val="solid"/>
            <a:tailEnd type="triangle"/>
          </a:ln>
        </p:spPr>
      </p:sp>
      <p:sp>
        <p:nvSpPr>
          <p:cNvPr id="34" name="Shape 31"/>
          <p:cNvSpPr/>
          <p:nvPr/>
        </p:nvSpPr>
        <p:spPr>
          <a:xfrm>
            <a:off x="3291840" y="365760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3474720" y="374904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② 来回 1 cm 要走 2 cm</a:t>
            </a:r>
            <a:endParaRPr lang="en-US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3474720" y="404164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 ÷ 0.034 ≈ 58 μs</a:t>
            </a:r>
            <a:endParaRPr lang="en-US" sz="1450" dirty="0"/>
          </a:p>
        </p:txBody>
      </p:sp>
      <p:sp>
        <p:nvSpPr>
          <p:cNvPr id="37" name="Shape 34"/>
          <p:cNvSpPr/>
          <p:nvPr/>
        </p:nvSpPr>
        <p:spPr>
          <a:xfrm>
            <a:off x="5897880" y="4114800"/>
            <a:ext cx="228600" cy="91"/>
          </a:xfrm>
          <a:prstGeom prst="line">
            <a:avLst/>
          </a:prstGeom>
          <a:noFill/>
          <a:ln w="15875">
            <a:solidFill>
              <a:srgbClr val="6B6B6B"/>
            </a:solidFill>
            <a:prstDash val="solid"/>
            <a:tailEnd type="triangle"/>
          </a:ln>
        </p:spPr>
      </p:sp>
      <p:sp>
        <p:nvSpPr>
          <p:cNvPr id="38" name="Shape 35"/>
          <p:cNvSpPr/>
          <p:nvPr/>
        </p:nvSpPr>
        <p:spPr>
          <a:xfrm>
            <a:off x="6172200" y="365760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355080" y="374904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③ 所以</a:t>
            </a:r>
            <a:endParaRPr lang="en-US" sz="1200" dirty="0"/>
          </a:p>
        </p:txBody>
      </p:sp>
      <p:sp>
        <p:nvSpPr>
          <p:cNvPr id="40" name="Text 37"/>
          <p:cNvSpPr txBox="1"/>
          <p:nvPr/>
        </p:nvSpPr>
        <p:spPr>
          <a:xfrm>
            <a:off x="6355080" y="404164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距离(cm) = t(μs) ÷ 58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实验一　超声波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时序图：Trig 喊一声，Echo 报时间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Trig 给至少 10μs 高电平 → 模块自动发出 8 个 40kHz 脉冲 → Echo 高电平持续的时间 = 声音来回的时间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5760720" cy="2697480"/>
          </a:xfrm>
          <a:prstGeom prst="roundRect">
            <a:avLst>
              <a:gd name="adj" fmla="val 4068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pic>
        <p:nvPicPr>
          <p:cNvPr id="7" name="Image 0" descr="原指南时序图：Trig 引脚 / 超声波发射器 / Echo 引脚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2795" y="1344168"/>
            <a:ext cx="5458090" cy="220370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21208" y="3584448"/>
            <a:ext cx="55412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原指南时序图：Trig 引脚 / 超声波发射器 / Echo 引脚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411480" y="4160520"/>
            <a:ext cx="5760720" cy="411480"/>
          </a:xfrm>
          <a:prstGeom prst="roundRect">
            <a:avLst>
              <a:gd name="adj" fmla="val 26667"/>
            </a:avLst>
          </a:prstGeom>
          <a:solidFill>
            <a:srgbClr val="E3FAF7"/>
          </a:solidFill>
          <a:ln w="12700">
            <a:solidFill>
              <a:srgbClr val="E3FAF7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57784" y="4229100"/>
            <a:ext cx="274320" cy="274320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621" y="4294937"/>
            <a:ext cx="142646" cy="14264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960120" y="4197096"/>
            <a:ext cx="5065776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pulseIn()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是一块秒表：量出第三行 Echo 高电平有多长（微秒）</a:t>
            </a:r>
            <a:endParaRPr lang="en-US" sz="1200" dirty="0"/>
          </a:p>
        </p:txBody>
      </p:sp>
      <p:sp>
        <p:nvSpPr>
          <p:cNvPr id="13" name="Shape 8"/>
          <p:cNvSpPr/>
          <p:nvPr/>
        </p:nvSpPr>
        <p:spPr>
          <a:xfrm>
            <a:off x="6446520" y="1234440"/>
            <a:ext cx="2286000" cy="929640"/>
          </a:xfrm>
          <a:prstGeom prst="roundRect">
            <a:avLst>
              <a:gd name="adj" fmla="val 11803"/>
            </a:avLst>
          </a:prstGeom>
          <a:solidFill>
            <a:srgbClr val="E3FAF7"/>
          </a:solidFill>
          <a:ln w="12700">
            <a:solidFill>
              <a:srgbClr val="E3FAF7"/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6574536" y="1344168"/>
            <a:ext cx="274320" cy="274320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574536" y="13441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100" dirty="0"/>
          </a:p>
        </p:txBody>
      </p:sp>
      <p:sp>
        <p:nvSpPr>
          <p:cNvPr id="16" name="Text 11"/>
          <p:cNvSpPr txBox="1"/>
          <p:nvPr/>
        </p:nvSpPr>
        <p:spPr>
          <a:xfrm>
            <a:off x="6922008" y="1316736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Trig pin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6574536" y="1664208"/>
            <a:ext cx="2066544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Arduino 给 ≥10μs 高电平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= “测一次”的命令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6446520" y="2438400"/>
            <a:ext cx="2286000" cy="929640"/>
          </a:xfrm>
          <a:prstGeom prst="roundRect">
            <a:avLst>
              <a:gd name="adj" fmla="val 11803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6574536" y="2548128"/>
            <a:ext cx="274320" cy="274320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6574536" y="25481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100" dirty="0"/>
          </a:p>
        </p:txBody>
      </p:sp>
      <p:sp>
        <p:nvSpPr>
          <p:cNvPr id="21" name="Text 16"/>
          <p:cNvSpPr txBox="1"/>
          <p:nvPr/>
        </p:nvSpPr>
        <p:spPr>
          <a:xfrm>
            <a:off x="6922008" y="2520696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Ultrasonic Sender</a:t>
            </a:r>
            <a:endParaRPr lang="en-US" sz="1200" dirty="0"/>
          </a:p>
        </p:txBody>
      </p:sp>
      <p:sp>
        <p:nvSpPr>
          <p:cNvPr id="22" name="Text 17"/>
          <p:cNvSpPr txBox="1"/>
          <p:nvPr/>
        </p:nvSpPr>
        <p:spPr>
          <a:xfrm>
            <a:off x="6574536" y="2868168"/>
            <a:ext cx="2066544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模块自动发 8 个 40kHz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超声波脉冲</a:t>
            </a:r>
            <a:endParaRPr lang="en-US" sz="1200" dirty="0"/>
          </a:p>
        </p:txBody>
      </p:sp>
      <p:sp>
        <p:nvSpPr>
          <p:cNvPr id="23" name="Shape 18"/>
          <p:cNvSpPr/>
          <p:nvPr/>
        </p:nvSpPr>
        <p:spPr>
          <a:xfrm>
            <a:off x="6446520" y="3642360"/>
            <a:ext cx="2286000" cy="929640"/>
          </a:xfrm>
          <a:prstGeom prst="roundRect">
            <a:avLst>
              <a:gd name="adj" fmla="val 11803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6574536" y="3752088"/>
            <a:ext cx="274320" cy="274320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6574536" y="37520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Text 21"/>
          <p:cNvSpPr txBox="1"/>
          <p:nvPr/>
        </p:nvSpPr>
        <p:spPr>
          <a:xfrm>
            <a:off x="6922008" y="3724656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Echo Pin</a:t>
            </a:r>
            <a:endParaRPr lang="en-US" sz="1200" dirty="0"/>
          </a:p>
        </p:txBody>
      </p:sp>
      <p:sp>
        <p:nvSpPr>
          <p:cNvPr id="27" name="Text 22"/>
          <p:cNvSpPr txBox="1"/>
          <p:nvPr/>
        </p:nvSpPr>
        <p:spPr>
          <a:xfrm>
            <a:off x="6574536" y="4072128"/>
            <a:ext cx="2066544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高电平持续的时间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= 声音来回的时间 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实验一　超声波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组件清单与接线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VCC 接 5V、GND 接 GND；Trig 接 2 号脚（Arduino 发命令），Echo 接 3 号脚（Arduino 收结果）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3611880" cy="3337560"/>
          </a:xfrm>
          <a:prstGeom prst="roundRect">
            <a:avLst>
              <a:gd name="adj" fmla="val 3288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pic>
        <p:nvPicPr>
          <p:cNvPr id="7" name="Image 0" descr="原指南接线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1244" y="1344168"/>
            <a:ext cx="3092352" cy="284378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21208" y="4224528"/>
            <a:ext cx="3392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原指南接线图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43400" y="1234440"/>
          <a:ext cx="4389120" cy="914400"/>
        </p:xfrm>
        <a:graphic>
          <a:graphicData uri="http://schemas.openxmlformats.org/drawingml/2006/table">
            <a:tbl>
              <a:tblPr/>
              <a:tblGrid>
                <a:gridCol w="1843430"/>
                <a:gridCol w="254569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Arduino Uno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Ultrasonic（超声波模块）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VCC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 (Vcc)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 (Trig)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 (Echo)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GND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 (Gnd)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10" name="Shape 5"/>
          <p:cNvSpPr/>
          <p:nvPr/>
        </p:nvSpPr>
        <p:spPr>
          <a:xfrm>
            <a:off x="4343400" y="2880360"/>
            <a:ext cx="2057400" cy="886968"/>
          </a:xfrm>
          <a:prstGeom prst="roundRect">
            <a:avLst>
              <a:gd name="adj" fmla="val 12371"/>
            </a:avLst>
          </a:prstGeom>
          <a:solidFill>
            <a:srgbClr val="E3FAF7"/>
          </a:solidFill>
          <a:ln w="12700">
            <a:solidFill>
              <a:srgbClr val="E3FAF7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4489704" y="2953512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Trig ← 2 号脚</a:t>
            </a:r>
            <a:endParaRPr lang="en-US" sz="1300" dirty="0"/>
          </a:p>
        </p:txBody>
      </p:sp>
      <p:sp>
        <p:nvSpPr>
          <p:cNvPr id="12" name="Text 7"/>
          <p:cNvSpPr txBox="1"/>
          <p:nvPr/>
        </p:nvSpPr>
        <p:spPr>
          <a:xfrm>
            <a:off x="4489704" y="3246120"/>
            <a:ext cx="178308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OUTPUT：Arduino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发出“测一次”的命令</a:t>
            </a:r>
            <a:endParaRPr lang="en-US" sz="1200" dirty="0"/>
          </a:p>
        </p:txBody>
      </p:sp>
      <p:sp>
        <p:nvSpPr>
          <p:cNvPr id="13" name="Shape 8"/>
          <p:cNvSpPr/>
          <p:nvPr/>
        </p:nvSpPr>
        <p:spPr>
          <a:xfrm>
            <a:off x="6675120" y="2880360"/>
            <a:ext cx="2057400" cy="886968"/>
          </a:xfrm>
          <a:prstGeom prst="roundRect">
            <a:avLst>
              <a:gd name="adj" fmla="val 12371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821424" y="2953512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Echo → 3 号脚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6821424" y="3246120"/>
            <a:ext cx="178308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INPUT：模块把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测量结果送回来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4343400" y="4041648"/>
            <a:ext cx="4389120" cy="530352"/>
          </a:xfrm>
          <a:prstGeom prst="roundRect">
            <a:avLst>
              <a:gd name="adj" fmla="val 20690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4507992" y="4078224"/>
            <a:ext cx="4059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组件清单　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Arduino UNO R3 主板、面包板、USB 数据线、超声波模块 ×1、若干跳线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实验一　超声波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新语法小课堂：const、delayMicroseconds()、pulseIn()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const 给数字“钉上名字”不许再改；delayMicroseconds() 按微秒等待；pulseIn() 是量高电平的秒表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2590800" cy="3337560"/>
          </a:xfrm>
          <a:prstGeom prst="roundRect">
            <a:avLst>
              <a:gd name="adj" fmla="val 4235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76072" y="1380744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5076" y="1459748"/>
            <a:ext cx="171176" cy="17117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014984" y="1380744"/>
            <a:ext cx="18227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const 常量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576072" y="1819656"/>
            <a:ext cx="2261616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像门牌号：钉上去就不再改。用名字代替数字，好读，又防止误改。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576072" y="2521458"/>
            <a:ext cx="2261616" cy="537972"/>
          </a:xfrm>
          <a:prstGeom prst="roundRect">
            <a:avLst>
              <a:gd name="adj" fmla="val 13598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04088" y="2603754"/>
            <a:ext cx="2005584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int 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TrigPin 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704088" y="2790444"/>
            <a:ext cx="2005584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TrigPin 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   </a:t>
            </a:r>
            <a:pPr indent="0" marL="0">
              <a:buNone/>
            </a:pPr>
            <a:r>
              <a:rPr lang="en-US" sz="1050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报错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576072" y="3303270"/>
            <a:ext cx="2261616" cy="1122426"/>
          </a:xfrm>
          <a:prstGeom prst="roundRect">
            <a:avLst>
              <a:gd name="adj" fmla="val 6517"/>
            </a:avLst>
          </a:prstGeom>
          <a:solidFill>
            <a:srgbClr val="FFFFFF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94944" y="3412998"/>
            <a:ext cx="237744" cy="237744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003" y="3470057"/>
            <a:ext cx="123627" cy="12362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005840" y="341299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常见错误</a:t>
            </a:r>
            <a:endParaRPr lang="en-US" sz="1200" dirty="0"/>
          </a:p>
        </p:txBody>
      </p:sp>
      <p:sp>
        <p:nvSpPr>
          <p:cNvPr id="18" name="Text 13"/>
          <p:cNvSpPr txBox="1"/>
          <p:nvPr/>
        </p:nvSpPr>
        <p:spPr>
          <a:xfrm>
            <a:off x="704088" y="3705606"/>
            <a:ext cx="2005584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给 const 再赋值会编译报错：要改，就改它的初始值。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3276600" y="1234440"/>
            <a:ext cx="2590800" cy="3337560"/>
          </a:xfrm>
          <a:prstGeom prst="roundRect">
            <a:avLst>
              <a:gd name="adj" fmla="val 4235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3441192" y="1380744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0196" y="1459748"/>
            <a:ext cx="171176" cy="171176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3880104" y="1380744"/>
            <a:ext cx="18227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delayMicroseconds()</a:t>
            </a:r>
            <a:endParaRPr lang="en-US" sz="1200" dirty="0"/>
          </a:p>
        </p:txBody>
      </p:sp>
      <p:sp>
        <p:nvSpPr>
          <p:cNvPr id="23" name="Text 17"/>
          <p:cNvSpPr txBox="1"/>
          <p:nvPr/>
        </p:nvSpPr>
        <p:spPr>
          <a:xfrm>
            <a:off x="3441192" y="1819656"/>
            <a:ext cx="2261616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更细的计时单位：1 秒 = 1000 毫秒 = 1000000 微秒（μs）。</a:t>
            </a:r>
            <a:endParaRPr lang="en-US" sz="1200" dirty="0"/>
          </a:p>
        </p:txBody>
      </p:sp>
      <p:sp>
        <p:nvSpPr>
          <p:cNvPr id="24" name="Shape 18"/>
          <p:cNvSpPr/>
          <p:nvPr/>
        </p:nvSpPr>
        <p:spPr>
          <a:xfrm>
            <a:off x="3441192" y="2521458"/>
            <a:ext cx="2261616" cy="537972"/>
          </a:xfrm>
          <a:prstGeom prst="roundRect">
            <a:avLst>
              <a:gd name="adj" fmla="val 13598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3569208" y="2603754"/>
            <a:ext cx="2005584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delayMicroseconds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050" dirty="0"/>
          </a:p>
        </p:txBody>
      </p:sp>
      <p:sp>
        <p:nvSpPr>
          <p:cNvPr id="26" name="Text 20"/>
          <p:cNvSpPr txBox="1"/>
          <p:nvPr/>
        </p:nvSpPr>
        <p:spPr>
          <a:xfrm>
            <a:off x="3569208" y="2790444"/>
            <a:ext cx="2005584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delay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1000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  </a:t>
            </a:r>
            <a:pPr indent="0" marL="0">
              <a:buNone/>
            </a:pPr>
            <a:r>
              <a:rPr lang="en-US" sz="1050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1 秒</a:t>
            </a:r>
            <a:endParaRPr lang="en-US" sz="1050" dirty="0"/>
          </a:p>
        </p:txBody>
      </p:sp>
      <p:sp>
        <p:nvSpPr>
          <p:cNvPr id="27" name="Shape 21"/>
          <p:cNvSpPr/>
          <p:nvPr/>
        </p:nvSpPr>
        <p:spPr>
          <a:xfrm>
            <a:off x="3441192" y="3303270"/>
            <a:ext cx="2261616" cy="1122426"/>
          </a:xfrm>
          <a:prstGeom prst="roundRect">
            <a:avLst>
              <a:gd name="adj" fmla="val 6517"/>
            </a:avLst>
          </a:prstGeom>
          <a:solidFill>
            <a:srgbClr val="FFFFFF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3560064" y="3412998"/>
            <a:ext cx="237744" cy="237744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17123" y="3470057"/>
            <a:ext cx="123627" cy="123627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3870960" y="341299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常见错误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3569208" y="3705606"/>
            <a:ext cx="2005584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delay(0.01) 不等于 10μs：delay() 只认整数毫秒。</a:t>
            </a:r>
            <a:endParaRPr lang="en-US" sz="1200" dirty="0"/>
          </a:p>
        </p:txBody>
      </p:sp>
      <p:sp>
        <p:nvSpPr>
          <p:cNvPr id="32" name="Shape 25"/>
          <p:cNvSpPr/>
          <p:nvPr/>
        </p:nvSpPr>
        <p:spPr>
          <a:xfrm>
            <a:off x="6141720" y="1234440"/>
            <a:ext cx="2590800" cy="3337560"/>
          </a:xfrm>
          <a:prstGeom prst="roundRect">
            <a:avLst>
              <a:gd name="adj" fmla="val 4235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33" name="Shape 26"/>
          <p:cNvSpPr/>
          <p:nvPr/>
        </p:nvSpPr>
        <p:spPr>
          <a:xfrm>
            <a:off x="6306312" y="1380744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5316" y="1459748"/>
            <a:ext cx="171176" cy="171176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6745224" y="1380744"/>
            <a:ext cx="18227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pulseIn(引脚, HIGH)</a:t>
            </a:r>
            <a:endParaRPr lang="en-US" sz="1200" dirty="0"/>
          </a:p>
        </p:txBody>
      </p:sp>
      <p:sp>
        <p:nvSpPr>
          <p:cNvPr id="36" name="Text 28"/>
          <p:cNvSpPr txBox="1"/>
          <p:nvPr/>
        </p:nvSpPr>
        <p:spPr>
          <a:xfrm>
            <a:off x="6306312" y="1819656"/>
            <a:ext cx="2261616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像秒表：Echo 一变高就开始计时，变低就停表，返回多少微秒。</a:t>
            </a:r>
            <a:endParaRPr lang="en-US" sz="1200" dirty="0"/>
          </a:p>
        </p:txBody>
      </p:sp>
      <p:sp>
        <p:nvSpPr>
          <p:cNvPr id="37" name="Shape 29"/>
          <p:cNvSpPr/>
          <p:nvPr/>
        </p:nvSpPr>
        <p:spPr>
          <a:xfrm>
            <a:off x="6306312" y="2521458"/>
            <a:ext cx="2261616" cy="537972"/>
          </a:xfrm>
          <a:prstGeom prst="roundRect">
            <a:avLst>
              <a:gd name="adj" fmla="val 13598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6434328" y="2603754"/>
            <a:ext cx="2005584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pulseIn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EchoPin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HIGH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50" dirty="0"/>
          </a:p>
        </p:txBody>
      </p:sp>
      <p:sp>
        <p:nvSpPr>
          <p:cNvPr id="39" name="Text 31"/>
          <p:cNvSpPr txBox="1"/>
          <p:nvPr/>
        </p:nvSpPr>
        <p:spPr>
          <a:xfrm>
            <a:off x="6434328" y="2790444"/>
            <a:ext cx="2005584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→ 高电平的微秒数</a:t>
            </a:r>
            <a:endParaRPr lang="en-US" sz="1050" dirty="0"/>
          </a:p>
        </p:txBody>
      </p:sp>
      <p:sp>
        <p:nvSpPr>
          <p:cNvPr id="40" name="Shape 32"/>
          <p:cNvSpPr/>
          <p:nvPr/>
        </p:nvSpPr>
        <p:spPr>
          <a:xfrm>
            <a:off x="6306312" y="3303270"/>
            <a:ext cx="2261616" cy="1122426"/>
          </a:xfrm>
          <a:prstGeom prst="roundRect">
            <a:avLst>
              <a:gd name="adj" fmla="val 6517"/>
            </a:avLst>
          </a:prstGeom>
          <a:solidFill>
            <a:srgbClr val="FFFFFF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41" name="Shape 33"/>
          <p:cNvSpPr/>
          <p:nvPr/>
        </p:nvSpPr>
        <p:spPr>
          <a:xfrm>
            <a:off x="6425184" y="3412998"/>
            <a:ext cx="237744" cy="237744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pic>
        <p:nvPicPr>
          <p:cNvPr id="4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82243" y="3470057"/>
            <a:ext cx="123627" cy="123627"/>
          </a:xfrm>
          <a:prstGeom prst="rect">
            <a:avLst/>
          </a:prstGeom>
        </p:spPr>
      </p:pic>
      <p:sp>
        <p:nvSpPr>
          <p:cNvPr id="43" name="Text 34"/>
          <p:cNvSpPr txBox="1"/>
          <p:nvPr/>
        </p:nvSpPr>
        <p:spPr>
          <a:xfrm>
            <a:off x="6736080" y="341299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常见错误</a:t>
            </a:r>
            <a:endParaRPr lang="en-US" sz="1200" dirty="0"/>
          </a:p>
        </p:txBody>
      </p:sp>
      <p:sp>
        <p:nvSpPr>
          <p:cNvPr id="44" name="Text 35"/>
          <p:cNvSpPr txBox="1"/>
          <p:nvPr/>
        </p:nvSpPr>
        <p:spPr>
          <a:xfrm>
            <a:off x="6434328" y="3705606"/>
            <a:ext cx="2005584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没收到回声时，等约 1 秒后返回 0：读数是 0 先查线。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实验一　超声波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代码逐行看懂（1/2）：准备工作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 const 给两个引脚起名，准备一个小数变量装距离；setup() 里设好输入输出、打开串口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4343400" cy="2514600"/>
          </a:xfrm>
          <a:prstGeom prst="roundRect">
            <a:avLst>
              <a:gd name="adj" fmla="val 3636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39496" y="1298448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ultrasonic.ino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2148840" y="1298448"/>
            <a:ext cx="2478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1–10 行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1545336"/>
            <a:ext cx="4251960" cy="198628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02920" y="1545336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856016" y="1545336"/>
            <a:ext cx="377084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int 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TrigPin 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57200" y="1743964"/>
            <a:ext cx="4251960" cy="198628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2920" y="1743964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856016" y="1743964"/>
            <a:ext cx="377084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int 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EchoPin 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457200" y="1942592"/>
            <a:ext cx="4251960" cy="198628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2920" y="1942592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856016" y="1942592"/>
            <a:ext cx="377084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float 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distance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502920" y="2141220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856016" y="2141220"/>
            <a:ext cx="377084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</a:t>
            </a:r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setup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502920" y="2339848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856016" y="2339848"/>
            <a:ext cx="377084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502920" y="2538476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856016" y="2538476"/>
            <a:ext cx="377084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begin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9600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457200" y="2737104"/>
            <a:ext cx="4251960" cy="198628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02920" y="2737104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856016" y="2737104"/>
            <a:ext cx="377084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pinMode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TrigPin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457200" y="2935732"/>
            <a:ext cx="4251960" cy="198628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02920" y="2935732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856016" y="2935732"/>
            <a:ext cx="377084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pinMode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EchoPin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502920" y="3134360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856016" y="3134360"/>
            <a:ext cx="377084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println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"Ultrasonic sensor:"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50" dirty="0"/>
          </a:p>
        </p:txBody>
      </p:sp>
      <p:sp>
        <p:nvSpPr>
          <p:cNvPr id="32" name="Text 29"/>
          <p:cNvSpPr txBox="1"/>
          <p:nvPr/>
        </p:nvSpPr>
        <p:spPr>
          <a:xfrm>
            <a:off x="502920" y="3332988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050" dirty="0"/>
          </a:p>
        </p:txBody>
      </p:sp>
      <p:sp>
        <p:nvSpPr>
          <p:cNvPr id="33" name="Text 30"/>
          <p:cNvSpPr txBox="1"/>
          <p:nvPr/>
        </p:nvSpPr>
        <p:spPr>
          <a:xfrm>
            <a:off x="856016" y="3332988"/>
            <a:ext cx="377084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</p:txBody>
      </p:sp>
      <p:sp>
        <p:nvSpPr>
          <p:cNvPr id="34" name="Text 31"/>
          <p:cNvSpPr txBox="1"/>
          <p:nvPr/>
        </p:nvSpPr>
        <p:spPr>
          <a:xfrm>
            <a:off x="5074920" y="1234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逐行看懂</a:t>
            </a:r>
            <a:endParaRPr lang="en-US" sz="1300" dirty="0"/>
          </a:p>
        </p:txBody>
      </p:sp>
      <p:sp>
        <p:nvSpPr>
          <p:cNvPr id="35" name="Shape 32"/>
          <p:cNvSpPr/>
          <p:nvPr/>
        </p:nvSpPr>
        <p:spPr>
          <a:xfrm>
            <a:off x="5074920" y="1600200"/>
            <a:ext cx="723392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074920" y="1600200"/>
            <a:ext cx="723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1–2 行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5889752" y="1591056"/>
            <a:ext cx="2842768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const 常量：Trig 接 2 号脚，Echo 接 3 号脚，运行中不会变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5074920" y="2090928"/>
            <a:ext cx="578612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5074920" y="2090928"/>
            <a:ext cx="5786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3 行</a:t>
            </a:r>
            <a:endParaRPr lang="en-US" sz="950" dirty="0"/>
          </a:p>
        </p:txBody>
      </p:sp>
      <p:sp>
        <p:nvSpPr>
          <p:cNvPr id="40" name="Text 37"/>
          <p:cNvSpPr txBox="1"/>
          <p:nvPr/>
        </p:nvSpPr>
        <p:spPr>
          <a:xfrm>
            <a:off x="5744972" y="2081784"/>
            <a:ext cx="29875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float 小数变量，用来装算出的距离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5074920" y="2528062"/>
            <a:ext cx="578612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5074920" y="2528062"/>
            <a:ext cx="5786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6 行</a:t>
            </a:r>
            <a:endParaRPr lang="en-US" sz="950" dirty="0"/>
          </a:p>
        </p:txBody>
      </p:sp>
      <p:sp>
        <p:nvSpPr>
          <p:cNvPr id="43" name="Text 40"/>
          <p:cNvSpPr txBox="1"/>
          <p:nvPr/>
        </p:nvSpPr>
        <p:spPr>
          <a:xfrm>
            <a:off x="5744972" y="2518918"/>
            <a:ext cx="29875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打开串口，速度 9600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>
            <a:off x="5074920" y="2857246"/>
            <a:ext cx="723392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5074920" y="2857246"/>
            <a:ext cx="723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7–8 行</a:t>
            </a:r>
            <a:endParaRPr lang="en-US" sz="950" dirty="0"/>
          </a:p>
        </p:txBody>
      </p:sp>
      <p:sp>
        <p:nvSpPr>
          <p:cNvPr id="46" name="Text 43"/>
          <p:cNvSpPr txBox="1"/>
          <p:nvPr/>
        </p:nvSpPr>
        <p:spPr>
          <a:xfrm>
            <a:off x="5889752" y="2848102"/>
            <a:ext cx="28427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Trig 设为输出、Echo 设为输入</a:t>
            </a:r>
            <a:endParaRPr lang="en-US" sz="1200" dirty="0"/>
          </a:p>
        </p:txBody>
      </p:sp>
      <p:sp>
        <p:nvSpPr>
          <p:cNvPr id="47" name="Shape 44"/>
          <p:cNvSpPr/>
          <p:nvPr/>
        </p:nvSpPr>
        <p:spPr>
          <a:xfrm>
            <a:off x="5074920" y="3186430"/>
            <a:ext cx="578612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5074920" y="3186430"/>
            <a:ext cx="5786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9 行</a:t>
            </a:r>
            <a:endParaRPr lang="en-US" sz="950" dirty="0"/>
          </a:p>
        </p:txBody>
      </p:sp>
      <p:sp>
        <p:nvSpPr>
          <p:cNvPr id="49" name="Text 46"/>
          <p:cNvSpPr txBox="1"/>
          <p:nvPr/>
        </p:nvSpPr>
        <p:spPr>
          <a:xfrm>
            <a:off x="5744972" y="3177286"/>
            <a:ext cx="29875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先打印一行标题 Ultrasonic sensor:</a:t>
            </a:r>
            <a:endParaRPr lang="en-US" sz="1200" dirty="0"/>
          </a:p>
        </p:txBody>
      </p:sp>
      <p:sp>
        <p:nvSpPr>
          <p:cNvPr id="50" name="Shape 47"/>
          <p:cNvSpPr/>
          <p:nvPr/>
        </p:nvSpPr>
        <p:spPr>
          <a:xfrm>
            <a:off x="411480" y="4023360"/>
            <a:ext cx="8321040" cy="548640"/>
          </a:xfrm>
          <a:prstGeom prst="roundRect">
            <a:avLst>
              <a:gd name="adj" fmla="val 20000"/>
            </a:avLst>
          </a:prstGeom>
          <a:solidFill>
            <a:srgbClr val="E3FAF7"/>
          </a:solidFill>
          <a:ln w="12700">
            <a:solidFill>
              <a:srgbClr val="E3FAF7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557784" y="4133088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5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6788" y="4212092"/>
            <a:ext cx="171176" cy="171176"/>
          </a:xfrm>
          <a:prstGeom prst="rect">
            <a:avLst/>
          </a:prstGeom>
        </p:spPr>
      </p:pic>
      <p:sp>
        <p:nvSpPr>
          <p:cNvPr id="53" name="Text 49"/>
          <p:cNvSpPr txBox="1"/>
          <p:nvPr/>
        </p:nvSpPr>
        <p:spPr>
          <a:xfrm>
            <a:off x="1014984" y="4059936"/>
            <a:ext cx="75712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原指南此处程序空白：这里用同一套件《Arduino 编程入门学习教程》第 2.38 讲的程序，引脚与本指南一致（Trig 2、Echo 3）。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实验一　超声波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代码逐行看懂（2/2）：喊一声，量回声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每一轮：Trig 发 10 微秒高电平“喊一声”→ pulseIn() 量回声 → ÷ 58 换成厘米 → 打印 → 等 1 秒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4526280" cy="3337560"/>
          </a:xfrm>
          <a:prstGeom prst="roundRect">
            <a:avLst>
              <a:gd name="adj" fmla="val 274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39496" y="1298448"/>
            <a:ext cx="27157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ultrasonic.ino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2221992" y="1298448"/>
            <a:ext cx="25877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11–24 行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1545336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856016" y="1545336"/>
            <a:ext cx="395372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</a:t>
            </a:r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loop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502920" y="1743964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856016" y="1743964"/>
            <a:ext cx="395372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502920" y="1942592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856016" y="1942592"/>
            <a:ext cx="395372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digitalWrite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TrigPin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LOW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502920" y="2141220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856016" y="2141220"/>
            <a:ext cx="395372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delayMicroseconds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457200" y="2339848"/>
            <a:ext cx="4434840" cy="198628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02920" y="2339848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856016" y="2339848"/>
            <a:ext cx="395372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digitalWrite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TrigPin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HIGH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57200" y="2538476"/>
            <a:ext cx="4434840" cy="198628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02920" y="2538476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856016" y="2538476"/>
            <a:ext cx="395372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delayMicroseconds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502920" y="2737104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856016" y="2737104"/>
            <a:ext cx="395372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digitalWrite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TrigPin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LOW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457200" y="2935732"/>
            <a:ext cx="4434840" cy="198628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02920" y="2935732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856016" y="2935732"/>
            <a:ext cx="395372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distance 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</a:t>
            </a:r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pulseIn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EchoPin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HIGH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/ 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58.00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150" dirty="0"/>
          </a:p>
        </p:txBody>
      </p:sp>
      <p:sp>
        <p:nvSpPr>
          <p:cNvPr id="28" name="Text 25"/>
          <p:cNvSpPr txBox="1"/>
          <p:nvPr/>
        </p:nvSpPr>
        <p:spPr>
          <a:xfrm>
            <a:off x="502920" y="3134360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856016" y="3134360"/>
            <a:ext cx="395372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"distance is :"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502920" y="3332988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856016" y="3332988"/>
            <a:ext cx="395372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distance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50" dirty="0"/>
          </a:p>
        </p:txBody>
      </p:sp>
      <p:sp>
        <p:nvSpPr>
          <p:cNvPr id="32" name="Text 29"/>
          <p:cNvSpPr txBox="1"/>
          <p:nvPr/>
        </p:nvSpPr>
        <p:spPr>
          <a:xfrm>
            <a:off x="502920" y="3531616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</a:t>
            </a:r>
            <a:endParaRPr lang="en-US" sz="1050" dirty="0"/>
          </a:p>
        </p:txBody>
      </p:sp>
      <p:sp>
        <p:nvSpPr>
          <p:cNvPr id="33" name="Text 30"/>
          <p:cNvSpPr txBox="1"/>
          <p:nvPr/>
        </p:nvSpPr>
        <p:spPr>
          <a:xfrm>
            <a:off x="856016" y="3531616"/>
            <a:ext cx="395372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"cm"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50" dirty="0"/>
          </a:p>
        </p:txBody>
      </p:sp>
      <p:sp>
        <p:nvSpPr>
          <p:cNvPr id="34" name="Shape 31"/>
          <p:cNvSpPr/>
          <p:nvPr/>
        </p:nvSpPr>
        <p:spPr>
          <a:xfrm>
            <a:off x="457200" y="3730244"/>
            <a:ext cx="4434840" cy="198628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502920" y="3730244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</a:t>
            </a:r>
            <a:endParaRPr lang="en-US" sz="1050" dirty="0"/>
          </a:p>
        </p:txBody>
      </p:sp>
      <p:sp>
        <p:nvSpPr>
          <p:cNvPr id="36" name="Text 33"/>
          <p:cNvSpPr txBox="1"/>
          <p:nvPr/>
        </p:nvSpPr>
        <p:spPr>
          <a:xfrm>
            <a:off x="856016" y="3730244"/>
            <a:ext cx="395372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println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</a:t>
            </a:r>
            <a:endParaRPr lang="en-US" sz="1150" dirty="0"/>
          </a:p>
        </p:txBody>
      </p:sp>
      <p:sp>
        <p:nvSpPr>
          <p:cNvPr id="37" name="Text 34"/>
          <p:cNvSpPr txBox="1"/>
          <p:nvPr/>
        </p:nvSpPr>
        <p:spPr>
          <a:xfrm>
            <a:off x="502920" y="3928872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</a:t>
            </a:r>
            <a:endParaRPr lang="en-US" sz="1050" dirty="0"/>
          </a:p>
        </p:txBody>
      </p:sp>
      <p:sp>
        <p:nvSpPr>
          <p:cNvPr id="38" name="Text 35"/>
          <p:cNvSpPr txBox="1"/>
          <p:nvPr/>
        </p:nvSpPr>
        <p:spPr>
          <a:xfrm>
            <a:off x="856016" y="3928872"/>
            <a:ext cx="395372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delay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1000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50" dirty="0"/>
          </a:p>
        </p:txBody>
      </p:sp>
      <p:sp>
        <p:nvSpPr>
          <p:cNvPr id="39" name="Text 36"/>
          <p:cNvSpPr txBox="1"/>
          <p:nvPr/>
        </p:nvSpPr>
        <p:spPr>
          <a:xfrm>
            <a:off x="502920" y="4127500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</a:t>
            </a:r>
            <a:endParaRPr lang="en-US" sz="1050" dirty="0"/>
          </a:p>
        </p:txBody>
      </p:sp>
      <p:sp>
        <p:nvSpPr>
          <p:cNvPr id="40" name="Text 37"/>
          <p:cNvSpPr txBox="1"/>
          <p:nvPr/>
        </p:nvSpPr>
        <p:spPr>
          <a:xfrm>
            <a:off x="856016" y="4127500"/>
            <a:ext cx="395372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</p:txBody>
      </p:sp>
      <p:sp>
        <p:nvSpPr>
          <p:cNvPr id="41" name="Text 38"/>
          <p:cNvSpPr txBox="1"/>
          <p:nvPr/>
        </p:nvSpPr>
        <p:spPr>
          <a:xfrm>
            <a:off x="5257800" y="12344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逐行看懂</a:t>
            </a:r>
            <a:endParaRPr lang="en-US" sz="1300" dirty="0"/>
          </a:p>
        </p:txBody>
      </p:sp>
      <p:sp>
        <p:nvSpPr>
          <p:cNvPr id="42" name="Shape 39"/>
          <p:cNvSpPr/>
          <p:nvPr/>
        </p:nvSpPr>
        <p:spPr>
          <a:xfrm>
            <a:off x="5257800" y="1932178"/>
            <a:ext cx="877824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5257800" y="1932178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13–14 行</a:t>
            </a:r>
            <a:endParaRPr lang="en-US" sz="950" dirty="0"/>
          </a:p>
        </p:txBody>
      </p:sp>
      <p:sp>
        <p:nvSpPr>
          <p:cNvPr id="44" name="Text 41"/>
          <p:cNvSpPr txBox="1"/>
          <p:nvPr/>
        </p:nvSpPr>
        <p:spPr>
          <a:xfrm>
            <a:off x="6227064" y="1923034"/>
            <a:ext cx="2505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Trig 先拉低 2 微秒，“清零”</a:t>
            </a:r>
            <a:endParaRPr lang="en-US" sz="1200" dirty="0"/>
          </a:p>
        </p:txBody>
      </p:sp>
      <p:sp>
        <p:nvSpPr>
          <p:cNvPr id="45" name="Shape 42"/>
          <p:cNvSpPr/>
          <p:nvPr/>
        </p:nvSpPr>
        <p:spPr>
          <a:xfrm>
            <a:off x="5257800" y="2329434"/>
            <a:ext cx="877824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257800" y="2329434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15–17 行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6227064" y="2320290"/>
            <a:ext cx="2505456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高电平 10 微秒再拉低 = “喊一声”，模块自动发出 8 个脉冲</a:t>
            </a:r>
            <a:endParaRPr lang="en-US" sz="1200" dirty="0"/>
          </a:p>
        </p:txBody>
      </p:sp>
      <p:sp>
        <p:nvSpPr>
          <p:cNvPr id="48" name="Shape 45"/>
          <p:cNvSpPr/>
          <p:nvPr/>
        </p:nvSpPr>
        <p:spPr>
          <a:xfrm>
            <a:off x="5257800" y="2925318"/>
            <a:ext cx="655828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5257800" y="2925318"/>
            <a:ext cx="655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18 行</a:t>
            </a:r>
            <a:endParaRPr lang="en-US" sz="950" dirty="0"/>
          </a:p>
        </p:txBody>
      </p:sp>
      <p:sp>
        <p:nvSpPr>
          <p:cNvPr id="50" name="Text 47"/>
          <p:cNvSpPr txBox="1"/>
          <p:nvPr/>
        </p:nvSpPr>
        <p:spPr>
          <a:xfrm>
            <a:off x="6005068" y="2916174"/>
            <a:ext cx="2727452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Echo 高电平的微秒数 ÷ 58 = 厘米；写成 58.00 才保留小数</a:t>
            </a:r>
            <a:endParaRPr lang="en-US" sz="1200" dirty="0"/>
          </a:p>
        </p:txBody>
      </p:sp>
      <p:sp>
        <p:nvSpPr>
          <p:cNvPr id="51" name="Shape 48"/>
          <p:cNvSpPr/>
          <p:nvPr/>
        </p:nvSpPr>
        <p:spPr>
          <a:xfrm>
            <a:off x="5257800" y="3416046"/>
            <a:ext cx="877824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5257800" y="3416046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19–22 行</a:t>
            </a:r>
            <a:endParaRPr lang="en-US" sz="950" dirty="0"/>
          </a:p>
        </p:txBody>
      </p:sp>
      <p:sp>
        <p:nvSpPr>
          <p:cNvPr id="53" name="Text 50"/>
          <p:cNvSpPr txBox="1"/>
          <p:nvPr/>
        </p:nvSpPr>
        <p:spPr>
          <a:xfrm>
            <a:off x="6227064" y="3406902"/>
            <a:ext cx="2505456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拼成一行 distance is :8.57cm，再换行</a:t>
            </a:r>
            <a:endParaRPr lang="en-US" sz="1200" dirty="0"/>
          </a:p>
        </p:txBody>
      </p:sp>
      <p:sp>
        <p:nvSpPr>
          <p:cNvPr id="54" name="Shape 51"/>
          <p:cNvSpPr/>
          <p:nvPr/>
        </p:nvSpPr>
        <p:spPr>
          <a:xfrm>
            <a:off x="5257800" y="3918458"/>
            <a:ext cx="655828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5257800" y="3918458"/>
            <a:ext cx="655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23 行</a:t>
            </a:r>
            <a:endParaRPr lang="en-US" sz="950" dirty="0"/>
          </a:p>
        </p:txBody>
      </p:sp>
      <p:sp>
        <p:nvSpPr>
          <p:cNvPr id="56" name="Text 53"/>
          <p:cNvSpPr txBox="1"/>
          <p:nvPr/>
        </p:nvSpPr>
        <p:spPr>
          <a:xfrm>
            <a:off x="6005068" y="3909314"/>
            <a:ext cx="27274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等 1 秒，再测下一次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实验一　超声波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实验结果：串口里每秒刷新一次距离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打开串口监视器（9600 波特率），先显示 Ultrasonic sensor:，之后每秒一行 distance is :xx.xxcm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3749040" cy="3337560"/>
          </a:xfrm>
          <a:prstGeom prst="roundRect">
            <a:avLst>
              <a:gd name="adj" fmla="val 3288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pic>
        <p:nvPicPr>
          <p:cNvPr id="7" name="Image 0" descr="原指南串口截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1884" y="1344168"/>
            <a:ext cx="3448232" cy="284378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21208" y="4224528"/>
            <a:ext cx="35295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原指南串口截图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4480560" y="1234440"/>
            <a:ext cx="4251960" cy="1051560"/>
          </a:xfrm>
          <a:prstGeom prst="roundRect">
            <a:avLst>
              <a:gd name="adj" fmla="val 10435"/>
            </a:avLst>
          </a:prstGeom>
          <a:solidFill>
            <a:srgbClr val="E3FAF7"/>
          </a:solidFill>
          <a:ln w="12700">
            <a:solidFill>
              <a:srgbClr val="E3FAF7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626864" y="1380744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5868" y="1459748"/>
            <a:ext cx="171176" cy="17117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5084064" y="1371600"/>
            <a:ext cx="3502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实验现象</a:t>
            </a:r>
            <a:endParaRPr lang="en-US" sz="1300" dirty="0"/>
          </a:p>
        </p:txBody>
      </p:sp>
      <p:sp>
        <p:nvSpPr>
          <p:cNvPr id="13" name="Text 8"/>
          <p:cNvSpPr txBox="1"/>
          <p:nvPr/>
        </p:nvSpPr>
        <p:spPr>
          <a:xfrm>
            <a:off x="5084064" y="1682496"/>
            <a:ext cx="3502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串口先打印一行 Ultrasonic sensor:，之后每秒一行距离；挡在前面的物体越近，数字越小。</a:t>
            </a:r>
            <a:endParaRPr lang="en-US" sz="1200" dirty="0"/>
          </a:p>
        </p:txBody>
      </p:sp>
      <p:sp>
        <p:nvSpPr>
          <p:cNvPr id="14" name="Text 9"/>
          <p:cNvSpPr txBox="1"/>
          <p:nvPr/>
        </p:nvSpPr>
        <p:spPr>
          <a:xfrm>
            <a:off x="4480560" y="2560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怎么读截图里的数字</a:t>
            </a:r>
            <a:endParaRPr lang="en-US" sz="1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480560" y="2926080"/>
          <a:ext cx="425196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265176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串口读数（cm）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4.40 / 8.57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物体离模块只有几厘米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114.98 / 119.64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物体在 1 米多远的地方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243.98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前方空旷，测到了远处的物体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实验一　超声波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常见坑与动手改一改：做个“倒车雷达”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读数不对先查 Trig / Echo 两根线和被测物体；再加几行代码，让它离得太近就亮灯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4023360" cy="1531620"/>
          </a:xfrm>
          <a:prstGeom prst="roundRect">
            <a:avLst>
              <a:gd name="adj" fmla="val 7164"/>
            </a:avLst>
          </a:prstGeom>
          <a:solidFill>
            <a:srgbClr val="FFFFFF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76072" y="1399032"/>
            <a:ext cx="310896" cy="310896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0687" y="1473647"/>
            <a:ext cx="161666" cy="16166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96696" y="1399032"/>
            <a:ext cx="3273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读数一直是 0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576072" y="1819656"/>
            <a:ext cx="3694176" cy="818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Echo 等不到高电平，pulseIn() 超时就返回 0。多半是 Trig、Echo 接反或没插牢：对照接线表查 2、3 号脚。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411480" y="3040380"/>
            <a:ext cx="4023360" cy="1531620"/>
          </a:xfrm>
          <a:prstGeom prst="roundRect">
            <a:avLst>
              <a:gd name="adj" fmla="val 7164"/>
            </a:avLst>
          </a:prstGeom>
          <a:solidFill>
            <a:srgbClr val="FFFFFF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576072" y="3204972"/>
            <a:ext cx="310896" cy="310896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687" y="3279587"/>
            <a:ext cx="161666" cy="161666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996696" y="3204972"/>
            <a:ext cx="3273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读数忽大忽小</a:t>
            </a:r>
            <a:endParaRPr lang="en-US" sz="1350" dirty="0"/>
          </a:p>
        </p:txBody>
      </p:sp>
      <p:sp>
        <p:nvSpPr>
          <p:cNvPr id="15" name="Text 10"/>
          <p:cNvSpPr txBox="1"/>
          <p:nvPr/>
        </p:nvSpPr>
        <p:spPr>
          <a:xfrm>
            <a:off x="576072" y="3625596"/>
            <a:ext cx="3694176" cy="818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超声波碰到斜面、软布、海绵会被反射偏或被吸收；离得太近（几厘米以内）也测不准。对着平整的硬物测最稳。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4709160" y="1234440"/>
            <a:ext cx="4023360" cy="3337560"/>
          </a:xfrm>
          <a:prstGeom prst="roundRect">
            <a:avLst>
              <a:gd name="adj" fmla="val 3288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4892040" y="1389888"/>
            <a:ext cx="365760" cy="365760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9822" y="1477670"/>
            <a:ext cx="190195" cy="190195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385816" y="138988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挑战：小于 10 厘米就亮灯</a:t>
            </a:r>
            <a:endParaRPr lang="en-US" sz="1450" dirty="0"/>
          </a:p>
        </p:txBody>
      </p:sp>
      <p:sp>
        <p:nvSpPr>
          <p:cNvPr id="20" name="Text 14"/>
          <p:cNvSpPr txBox="1"/>
          <p:nvPr/>
        </p:nvSpPr>
        <p:spPr>
          <a:xfrm>
            <a:off x="4892040" y="186537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物体靠近到 10 厘米以内，板载 L 灯就亮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（L 灯接在 13 号脚）。加两处代码：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4892040" y="2414016"/>
            <a:ext cx="3657600" cy="1471422"/>
          </a:xfrm>
          <a:prstGeom prst="roundRect">
            <a:avLst>
              <a:gd name="adj" fmla="val 4972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5020056" y="2496312"/>
            <a:ext cx="3401568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setup() 里加：</a:t>
            </a:r>
            <a:endParaRPr lang="en-US" sz="1050" dirty="0"/>
          </a:p>
        </p:txBody>
      </p:sp>
      <p:sp>
        <p:nvSpPr>
          <p:cNvPr id="23" name="Text 17"/>
          <p:cNvSpPr txBox="1"/>
          <p:nvPr/>
        </p:nvSpPr>
        <p:spPr>
          <a:xfrm>
            <a:off x="5020056" y="2683002"/>
            <a:ext cx="3401568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pinMode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050" dirty="0"/>
          </a:p>
        </p:txBody>
      </p:sp>
      <p:sp>
        <p:nvSpPr>
          <p:cNvPr id="24" name="Text 18"/>
          <p:cNvSpPr txBox="1"/>
          <p:nvPr/>
        </p:nvSpPr>
        <p:spPr>
          <a:xfrm>
            <a:off x="5020056" y="2869692"/>
            <a:ext cx="3401568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loop() 里 delay(1000); 前面加：</a:t>
            </a:r>
            <a:endParaRPr lang="en-US" sz="1050" dirty="0"/>
          </a:p>
        </p:txBody>
      </p:sp>
      <p:sp>
        <p:nvSpPr>
          <p:cNvPr id="25" name="Text 19"/>
          <p:cNvSpPr txBox="1"/>
          <p:nvPr/>
        </p:nvSpPr>
        <p:spPr>
          <a:xfrm>
            <a:off x="5020056" y="3056382"/>
            <a:ext cx="3401568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distance 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 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50" dirty="0"/>
          </a:p>
        </p:txBody>
      </p:sp>
      <p:sp>
        <p:nvSpPr>
          <p:cNvPr id="26" name="Text 20"/>
          <p:cNvSpPr txBox="1"/>
          <p:nvPr/>
        </p:nvSpPr>
        <p:spPr>
          <a:xfrm>
            <a:off x="5020056" y="3243072"/>
            <a:ext cx="3401568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digitalWrite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HIGH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050" dirty="0"/>
          </a:p>
        </p:txBody>
      </p:sp>
      <p:sp>
        <p:nvSpPr>
          <p:cNvPr id="27" name="Text 21"/>
          <p:cNvSpPr txBox="1"/>
          <p:nvPr/>
        </p:nvSpPr>
        <p:spPr>
          <a:xfrm>
            <a:off x="5020056" y="3429762"/>
            <a:ext cx="3401568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</a:t>
            </a:r>
            <a:endParaRPr lang="en-US" sz="1050" dirty="0"/>
          </a:p>
        </p:txBody>
      </p:sp>
      <p:sp>
        <p:nvSpPr>
          <p:cNvPr id="28" name="Text 22"/>
          <p:cNvSpPr txBox="1"/>
          <p:nvPr/>
        </p:nvSpPr>
        <p:spPr>
          <a:xfrm>
            <a:off x="5020056" y="3616452"/>
            <a:ext cx="3401568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digitalWrite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LOW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050" dirty="0"/>
          </a:p>
        </p:txBody>
      </p:sp>
      <p:sp>
        <p:nvSpPr>
          <p:cNvPr id="29" name="Text 23"/>
          <p:cNvSpPr txBox="1"/>
          <p:nvPr/>
        </p:nvSpPr>
        <p:spPr>
          <a:xfrm>
            <a:off x="4892040" y="4013454"/>
            <a:ext cx="3657600" cy="4671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再试试：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delay(1000) 改成 delay(200)，灯的反应更灵敏。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实验二　串口调节舵机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411480" y="38404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 02</a:t>
            </a:r>
            <a:endParaRPr lang="en-US" sz="1100" dirty="0"/>
          </a:p>
        </p:txBody>
      </p:sp>
      <p:sp>
        <p:nvSpPr>
          <p:cNvPr id="4" name="Text 1"/>
          <p:cNvSpPr/>
          <p:nvPr>
            <p:ph idx="104" type="title" hasCustomPrompt="1"/>
          </p:nvPr>
        </p:nvSpPr>
        <p:spPr>
          <a:xfrm>
            <a:off x="411480" y="713232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串口调节舵机</a:t>
            </a:r>
            <a:endParaRPr lang="en-US" sz="2800" dirty="0"/>
          </a:p>
          <a:p>
            <a:pPr algn="l" indent="0" marL="0">
              <a:buNone/>
            </a:pPr>
            <a:r>
              <a:rPr lang="en-US" sz="2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角度实验</a:t>
            </a:r>
            <a:endParaRPr lang="en-US" sz="2800" dirty="0"/>
          </a:p>
        </p:txBody>
      </p:sp>
      <p:sp>
        <p:nvSpPr>
          <p:cNvPr id="5" name="Text 1"/>
          <p:cNvSpPr/>
          <p:nvPr>
            <p:ph idx="105" type="body" hasCustomPrompt="1"/>
          </p:nvPr>
        </p:nvSpPr>
        <p:spPr>
          <a:xfrm>
            <a:off x="411480" y="1874520"/>
            <a:ext cx="32461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在电脑的串口监视器里输入一个角度，舵机就转到那个角度。舵机在 2-1 已经认识过；这一节的新本领是：从串口一个个读入字符，拼成一个数字。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160520" y="347472"/>
            <a:ext cx="2286000" cy="2112264"/>
          </a:xfrm>
          <a:prstGeom prst="rect">
            <a:avLst/>
          </a:prstGeom>
          <a:solidFill>
            <a:srgbClr val="40E0D0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361688" y="512064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4361688" y="1389888"/>
            <a:ext cx="1883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回顾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361688" y="1801368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舵机：脉宽决定角度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46520" y="347472"/>
            <a:ext cx="2286000" cy="2112264"/>
          </a:xfrm>
          <a:prstGeom prst="rect">
            <a:avLst/>
          </a:prstGeom>
          <a:solidFill>
            <a:srgbClr val="EBEBEB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647688" y="512064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647688" y="1389888"/>
            <a:ext cx="1883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接线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647688" y="1801368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信号线 → 13 号脚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160520" y="2459736"/>
            <a:ext cx="2286000" cy="2112264"/>
          </a:xfrm>
          <a:prstGeom prst="rect">
            <a:avLst/>
          </a:prstGeom>
          <a:solidFill>
            <a:srgbClr val="2D2D2D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61688" y="2624328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40E0D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4361688" y="3502152"/>
            <a:ext cx="1883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361688" y="3913632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CFCFC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available() · read()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CFCFC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toInt()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46520" y="2459736"/>
            <a:ext cx="2286000" cy="211226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647688" y="2624328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6647688" y="3502152"/>
            <a:ext cx="1883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结果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647688" y="3913632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输入 0、90、180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实验二　串口调节舵机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回顾：舵机的结构与控制信号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舵机里有电机、齿轮、电位器和控制电路；Arduino 每 20ms 发一个脉冲，高电平的宽度决定转到几度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2240280" cy="3337560"/>
          </a:xfrm>
          <a:prstGeom prst="roundRect">
            <a:avLst>
              <a:gd name="adj" fmla="val 4898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pic>
        <p:nvPicPr>
          <p:cNvPr id="7" name="Image 0" descr="原指南：舵机内部结构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" y="1418844"/>
            <a:ext cx="2020824" cy="269443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21208" y="4224528"/>
            <a:ext cx="2020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原指南：舵机内部结构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2926080" y="1234440"/>
            <a:ext cx="580644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pic>
        <p:nvPicPr>
          <p:cNvPr id="10" name="Image 1" descr="原指南：周期（Cycle）20ms，脉宽（pulse width）1ms (Min) – 2ms (Max)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9343" y="1344168"/>
            <a:ext cx="4499913" cy="1609344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3035808" y="2990088"/>
            <a:ext cx="55869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原指南：周期（Cycle）20ms，脉宽（pulse width）1ms (Min) – 2ms (Max)</a:t>
            </a:r>
            <a:endParaRPr lang="en-US" sz="1000" dirty="0"/>
          </a:p>
        </p:txBody>
      </p:sp>
      <p:sp>
        <p:nvSpPr>
          <p:cNvPr id="12" name="Shape 7"/>
          <p:cNvSpPr/>
          <p:nvPr/>
        </p:nvSpPr>
        <p:spPr>
          <a:xfrm>
            <a:off x="2926080" y="3611880"/>
            <a:ext cx="5806440" cy="960120"/>
          </a:xfrm>
          <a:prstGeom prst="roundRect">
            <a:avLst>
              <a:gd name="adj" fmla="val 11429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3108960" y="3685032"/>
            <a:ext cx="2304288" cy="271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driveshaft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　输出轴</a:t>
            </a:r>
            <a:endParaRPr lang="en-US" sz="1200" dirty="0"/>
          </a:p>
        </p:txBody>
      </p:sp>
      <p:sp>
        <p:nvSpPr>
          <p:cNvPr id="14" name="Text 9"/>
          <p:cNvSpPr txBox="1"/>
          <p:nvPr/>
        </p:nvSpPr>
        <p:spPr>
          <a:xfrm>
            <a:off x="5486400" y="3685032"/>
            <a:ext cx="2990088" cy="271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motor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　直流电机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3108960" y="3956304"/>
            <a:ext cx="2304288" cy="271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gear train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　减速齿轮组</a:t>
            </a:r>
            <a:endParaRPr lang="en-US" sz="1200" dirty="0"/>
          </a:p>
        </p:txBody>
      </p:sp>
      <p:sp>
        <p:nvSpPr>
          <p:cNvPr id="16" name="Text 11"/>
          <p:cNvSpPr txBox="1"/>
          <p:nvPr/>
        </p:nvSpPr>
        <p:spPr>
          <a:xfrm>
            <a:off x="5486400" y="3956304"/>
            <a:ext cx="2990088" cy="271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control electronics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　控制电路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3108960" y="4227576"/>
            <a:ext cx="2304288" cy="271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potentiometer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　电位器</a:t>
            </a:r>
            <a:endParaRPr lang="en-US" sz="1200" dirty="0"/>
          </a:p>
        </p:txBody>
      </p:sp>
      <p:sp>
        <p:nvSpPr>
          <p:cNvPr id="18" name="Text 13"/>
          <p:cNvSpPr txBox="1"/>
          <p:nvPr/>
        </p:nvSpPr>
        <p:spPr>
          <a:xfrm>
            <a:off x="5486400" y="4227576"/>
            <a:ext cx="2990088" cy="271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闭环：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没转到位就继续转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实验二　串口调节舵机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回顾：脉冲越宽，角度越大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高电平 0.5ms → 0°，1.5ms → 90°，2.5ms → 180°；小于 1.5ms 逆时针转，大于 1.5ms 顺时针转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4754880" cy="3337560"/>
          </a:xfrm>
          <a:prstGeom prst="roundRect">
            <a:avLst>
              <a:gd name="adj" fmla="val 3288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pic>
        <p:nvPicPr>
          <p:cNvPr id="7" name="Image 0" descr="原指南：最小 / 中间 / 最大脉冲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" y="1566711"/>
            <a:ext cx="4535424" cy="2398699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21208" y="4224528"/>
            <a:ext cx="4535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原指南：最小 / 中间 / 最大脉冲</a:t>
            </a:r>
            <a:endParaRPr lang="en-US" sz="10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0" y="1234440"/>
          <a:ext cx="3246120" cy="914400"/>
        </p:xfrm>
        <a:graphic>
          <a:graphicData uri="http://schemas.openxmlformats.org/drawingml/2006/table">
            <a:tbl>
              <a:tblPr/>
              <a:tblGrid>
                <a:gridCol w="1623060"/>
                <a:gridCol w="16230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高电平宽度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舵机角度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0.5ms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0°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1.0ms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45°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1.5ms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90°（中间）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2.0ms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135°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2.5ms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180°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5"/>
          <p:cNvSpPr/>
          <p:nvPr/>
        </p:nvSpPr>
        <p:spPr>
          <a:xfrm>
            <a:off x="5486400" y="3154680"/>
            <a:ext cx="3246120" cy="1417320"/>
          </a:xfrm>
          <a:prstGeom prst="roundRect">
            <a:avLst>
              <a:gd name="adj" fmla="val 7742"/>
            </a:avLst>
          </a:prstGeom>
          <a:solidFill>
            <a:srgbClr val="E3FAF7"/>
          </a:solidFill>
          <a:ln w="12700">
            <a:solidFill>
              <a:srgbClr val="E3FAF7"/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5632704" y="3300984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1708" y="3379988"/>
            <a:ext cx="171176" cy="171176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6089904" y="3291840"/>
            <a:ext cx="2496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图和正文不一样？</a:t>
            </a:r>
            <a:endParaRPr lang="en-US" sz="1300" dirty="0"/>
          </a:p>
        </p:txBody>
      </p:sp>
      <p:sp>
        <p:nvSpPr>
          <p:cNvPr id="14" name="Text 8"/>
          <p:cNvSpPr txBox="1"/>
          <p:nvPr/>
        </p:nvSpPr>
        <p:spPr>
          <a:xfrm>
            <a:off x="6089904" y="3602736"/>
            <a:ext cx="24963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周期图写 1ms–2ms，正文写 0.5ms–2.5ms：不同舵机的范围本来就有差别。Servo 库会替我们换算，写 write(角度) 即可。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实验二　串口调节舵机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实验目的、组件与接线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舵机三根线：黑线接 GND，红线接 VCC（5V），黄色信号线接 13 号脚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3383280" cy="3337560"/>
          </a:xfrm>
          <a:prstGeom prst="roundRect">
            <a:avLst>
              <a:gd name="adj" fmla="val 3288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pic>
        <p:nvPicPr>
          <p:cNvPr id="7" name="Image 0" descr="原指南接线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" y="1376521"/>
            <a:ext cx="3163824" cy="277907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21208" y="4224528"/>
            <a:ext cx="3163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原指南接线图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4069080" y="1234440"/>
            <a:ext cx="4663440" cy="1051560"/>
          </a:xfrm>
          <a:prstGeom prst="roundRect">
            <a:avLst>
              <a:gd name="adj" fmla="val 10435"/>
            </a:avLst>
          </a:prstGeom>
          <a:solidFill>
            <a:srgbClr val="E3FAF7"/>
          </a:solidFill>
          <a:ln w="12700">
            <a:solidFill>
              <a:srgbClr val="E3FAF7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215384" y="1380744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4388" y="1459748"/>
            <a:ext cx="171176" cy="17117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672584" y="1371600"/>
            <a:ext cx="3913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实验目的与原理</a:t>
            </a:r>
            <a:endParaRPr lang="en-US" sz="1300" dirty="0"/>
          </a:p>
        </p:txBody>
      </p:sp>
      <p:sp>
        <p:nvSpPr>
          <p:cNvPr id="13" name="Text 8"/>
          <p:cNvSpPr txBox="1"/>
          <p:nvPr/>
        </p:nvSpPr>
        <p:spPr>
          <a:xfrm>
            <a:off x="4672584" y="1682496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 UNO 主板调整舵机角度：烧录程序后，在串口监视器里输入角度，舵机就转到对应的位置。</a:t>
            </a:r>
            <a:endParaRPr lang="en-US" sz="1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069080" y="2560320"/>
          <a:ext cx="214884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914400"/>
              </a:tblGrid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Arduino UNO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舵机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GND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黑线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VCC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红线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13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黄线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Shape 9"/>
          <p:cNvSpPr/>
          <p:nvPr/>
        </p:nvSpPr>
        <p:spPr>
          <a:xfrm>
            <a:off x="6492240" y="2560320"/>
            <a:ext cx="2240280" cy="1207008"/>
          </a:xfrm>
          <a:prstGeom prst="roundRect">
            <a:avLst>
              <a:gd name="adj" fmla="val 9091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6656832" y="2651760"/>
            <a:ext cx="1911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组件清单</a:t>
            </a:r>
            <a:endParaRPr lang="en-US" sz="1250" dirty="0"/>
          </a:p>
        </p:txBody>
      </p:sp>
      <p:sp>
        <p:nvSpPr>
          <p:cNvPr id="17" name="Text 11"/>
          <p:cNvSpPr txBox="1"/>
          <p:nvPr/>
        </p:nvSpPr>
        <p:spPr>
          <a:xfrm>
            <a:off x="6656832" y="2944368"/>
            <a:ext cx="1911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Keywish UNO R3 主板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USB 数据线 · SG90 舵机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若干跳线</a:t>
            </a:r>
            <a:endParaRPr lang="en-US" sz="1200" dirty="0"/>
          </a:p>
        </p:txBody>
      </p:sp>
      <p:sp>
        <p:nvSpPr>
          <p:cNvPr id="18" name="Shape 12"/>
          <p:cNvSpPr/>
          <p:nvPr/>
        </p:nvSpPr>
        <p:spPr>
          <a:xfrm>
            <a:off x="4069080" y="4041648"/>
            <a:ext cx="4663440" cy="530352"/>
          </a:xfrm>
          <a:prstGeom prst="roundRect">
            <a:avLst>
              <a:gd name="adj" fmla="val 20690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4215384" y="4142232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4388" y="4221236"/>
            <a:ext cx="171176" cy="171176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4672584" y="4078224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线色对照：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SG90 的线常见为 棕 / 红 / 橙，分别对应表里的 黑 / 红 / 黄（GND / 电源 / 信号）。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实验二　串口调节舵机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新语法小课堂：从串口读一串数字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串口一次只能取 1 个字符：用 while 把字符一个个取出来，拼成一串，再变成数字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8321040" cy="786384"/>
          </a:xfrm>
          <a:prstGeom prst="roundRect">
            <a:avLst>
              <a:gd name="adj" fmla="val 13953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21792" y="1325880"/>
            <a:ext cx="118872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76656" y="1325880"/>
            <a:ext cx="10789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输入 180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512064" y="1746504"/>
            <a:ext cx="14081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串口监视器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1865376" y="1517904"/>
            <a:ext cx="274320" cy="91"/>
          </a:xfrm>
          <a:prstGeom prst="line">
            <a:avLst/>
          </a:prstGeom>
          <a:noFill/>
          <a:ln w="15875">
            <a:solidFill>
              <a:srgbClr val="6B6B6B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2194560" y="1325880"/>
            <a:ext cx="365760" cy="384048"/>
          </a:xfrm>
          <a:prstGeom prst="roundRect">
            <a:avLst>
              <a:gd name="adj" fmla="val 15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194560" y="132588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'1'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2633472" y="1325880"/>
            <a:ext cx="365760" cy="384048"/>
          </a:xfrm>
          <a:prstGeom prst="roundRect">
            <a:avLst>
              <a:gd name="adj" fmla="val 15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633472" y="132588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'8'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3072384" y="1325880"/>
            <a:ext cx="365760" cy="384048"/>
          </a:xfrm>
          <a:prstGeom prst="roundRect">
            <a:avLst>
              <a:gd name="adj" fmla="val 15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072384" y="132588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'0'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2084832" y="174650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read() 每次取 1 个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3493008" y="1517904"/>
            <a:ext cx="274320" cy="91"/>
          </a:xfrm>
          <a:prstGeom prst="line">
            <a:avLst/>
          </a:prstGeom>
          <a:noFill/>
          <a:ln w="15875">
            <a:solidFill>
              <a:srgbClr val="6B6B6B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>
            <a:off x="3822192" y="1325880"/>
            <a:ext cx="146304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877056" y="1325880"/>
            <a:ext cx="1353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temp = "180"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3712464" y="1746504"/>
            <a:ext cx="1682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String 用 += 拼接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340096" y="1517904"/>
            <a:ext cx="274320" cy="91"/>
          </a:xfrm>
          <a:prstGeom prst="line">
            <a:avLst/>
          </a:prstGeom>
          <a:noFill/>
          <a:ln w="15875">
            <a:solidFill>
              <a:srgbClr val="6B6B6B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5669280" y="1325880"/>
            <a:ext cx="1325880" cy="384048"/>
          </a:xfrm>
          <a:prstGeom prst="roundRect">
            <a:avLst>
              <a:gd name="adj" fmla="val 19048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724144" y="1325880"/>
            <a:ext cx="1216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angle = 180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5559552" y="1746504"/>
            <a:ext cx="15453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toInt() 变成数字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7050024" y="1517904"/>
            <a:ext cx="274320" cy="91"/>
          </a:xfrm>
          <a:prstGeom prst="line">
            <a:avLst/>
          </a:prstGeom>
          <a:noFill/>
          <a:ln w="15875">
            <a:solidFill>
              <a:srgbClr val="6B6B6B"/>
            </a:solidFill>
            <a:prstDash val="solid"/>
            <a:tailEnd type="triangle"/>
          </a:ln>
        </p:spPr>
      </p:sp>
      <p:sp>
        <p:nvSpPr>
          <p:cNvPr id="27" name="Shape 24"/>
          <p:cNvSpPr/>
          <p:nvPr/>
        </p:nvSpPr>
        <p:spPr>
          <a:xfrm>
            <a:off x="7379208" y="1325880"/>
            <a:ext cx="1143000" cy="384048"/>
          </a:xfrm>
          <a:prstGeom prst="roundRect">
            <a:avLst>
              <a:gd name="adj" fmla="val 19048"/>
            </a:avLst>
          </a:prstGeom>
          <a:solidFill>
            <a:srgbClr val="E3FAF7"/>
          </a:solidFill>
          <a:ln w="12700">
            <a:solidFill>
              <a:srgbClr val="E3FAF7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434072" y="1325880"/>
            <a:ext cx="10332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转到 180°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7269480" y="1746504"/>
            <a:ext cx="1362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myservo.write()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411480" y="2295144"/>
            <a:ext cx="2590800" cy="2276856"/>
          </a:xfrm>
          <a:prstGeom prst="roundRect">
            <a:avLst>
              <a:gd name="adj" fmla="val 4819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576072" y="2441448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3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5076" y="2520452"/>
            <a:ext cx="171176" cy="171176"/>
          </a:xfrm>
          <a:prstGeom prst="rect">
            <a:avLst/>
          </a:prstGeom>
        </p:spPr>
      </p:pic>
      <p:sp>
        <p:nvSpPr>
          <p:cNvPr id="33" name="Text 29"/>
          <p:cNvSpPr txBox="1"/>
          <p:nvPr/>
        </p:nvSpPr>
        <p:spPr>
          <a:xfrm>
            <a:off x="1014984" y="2441448"/>
            <a:ext cx="18227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串口像个信箱</a:t>
            </a:r>
            <a:endParaRPr lang="en-US" sz="1350" dirty="0"/>
          </a:p>
        </p:txBody>
      </p:sp>
      <p:sp>
        <p:nvSpPr>
          <p:cNvPr id="34" name="Text 30"/>
          <p:cNvSpPr txBox="1"/>
          <p:nvPr/>
        </p:nvSpPr>
        <p:spPr>
          <a:xfrm>
            <a:off x="576072" y="2880360"/>
            <a:ext cx="2261616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available() 问还剩几个字符；read() 每次只取 1 个。</a:t>
            </a:r>
            <a:endParaRPr lang="en-US" sz="1200" dirty="0"/>
          </a:p>
        </p:txBody>
      </p:sp>
      <p:sp>
        <p:nvSpPr>
          <p:cNvPr id="35" name="Shape 31"/>
          <p:cNvSpPr/>
          <p:nvPr/>
        </p:nvSpPr>
        <p:spPr>
          <a:xfrm>
            <a:off x="576072" y="3372612"/>
            <a:ext cx="2261616" cy="351282"/>
          </a:xfrm>
          <a:prstGeom prst="roundRect">
            <a:avLst>
              <a:gd name="adj" fmla="val 20824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704088" y="3454908"/>
            <a:ext cx="2005584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inByte 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</a:t>
            </a:r>
            <a:endParaRPr lang="en-US" sz="1050" dirty="0"/>
          </a:p>
        </p:txBody>
      </p:sp>
      <p:sp>
        <p:nvSpPr>
          <p:cNvPr id="37" name="Shape 33"/>
          <p:cNvSpPr/>
          <p:nvPr/>
        </p:nvSpPr>
        <p:spPr>
          <a:xfrm>
            <a:off x="576072" y="3861054"/>
            <a:ext cx="219456" cy="219456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pic>
        <p:nvPicPr>
          <p:cNvPr id="3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741" y="3913723"/>
            <a:ext cx="114117" cy="114117"/>
          </a:xfrm>
          <a:prstGeom prst="rect">
            <a:avLst/>
          </a:prstGeom>
        </p:spPr>
      </p:pic>
      <p:sp>
        <p:nvSpPr>
          <p:cNvPr id="39" name="Text 34"/>
          <p:cNvSpPr txBox="1"/>
          <p:nvPr/>
        </p:nvSpPr>
        <p:spPr>
          <a:xfrm>
            <a:off x="886968" y="3842766"/>
            <a:ext cx="195072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常见错误：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以为 read() 一次能读到整个“180”。</a:t>
            </a:r>
            <a:endParaRPr lang="en-US" sz="1200" dirty="0"/>
          </a:p>
        </p:txBody>
      </p:sp>
      <p:sp>
        <p:nvSpPr>
          <p:cNvPr id="40" name="Shape 35"/>
          <p:cNvSpPr/>
          <p:nvPr/>
        </p:nvSpPr>
        <p:spPr>
          <a:xfrm>
            <a:off x="3276600" y="2295144"/>
            <a:ext cx="2590800" cy="2276856"/>
          </a:xfrm>
          <a:prstGeom prst="roundRect">
            <a:avLst>
              <a:gd name="adj" fmla="val 4819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41" name="Shape 36"/>
          <p:cNvSpPr/>
          <p:nvPr/>
        </p:nvSpPr>
        <p:spPr>
          <a:xfrm>
            <a:off x="3441192" y="2441448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4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0196" y="2520452"/>
            <a:ext cx="171176" cy="171176"/>
          </a:xfrm>
          <a:prstGeom prst="rect">
            <a:avLst/>
          </a:prstGeom>
        </p:spPr>
      </p:pic>
      <p:sp>
        <p:nvSpPr>
          <p:cNvPr id="43" name="Text 37"/>
          <p:cNvSpPr txBox="1"/>
          <p:nvPr/>
        </p:nvSpPr>
        <p:spPr>
          <a:xfrm>
            <a:off x="3880104" y="2441448"/>
            <a:ext cx="18227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字符串像串珠子</a:t>
            </a:r>
            <a:endParaRPr lang="en-US" sz="1350" dirty="0"/>
          </a:p>
        </p:txBody>
      </p:sp>
      <p:sp>
        <p:nvSpPr>
          <p:cNvPr id="44" name="Text 38"/>
          <p:cNvSpPr txBox="1"/>
          <p:nvPr/>
        </p:nvSpPr>
        <p:spPr>
          <a:xfrm>
            <a:off x="3441192" y="2880360"/>
            <a:ext cx="2261616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String 装一串字符，+= 接到末尾："1"→"18"→"180"</a:t>
            </a:r>
            <a:endParaRPr lang="en-US" sz="1200" dirty="0"/>
          </a:p>
        </p:txBody>
      </p:sp>
      <p:sp>
        <p:nvSpPr>
          <p:cNvPr id="45" name="Shape 39"/>
          <p:cNvSpPr/>
          <p:nvPr/>
        </p:nvSpPr>
        <p:spPr>
          <a:xfrm>
            <a:off x="3441192" y="3372612"/>
            <a:ext cx="2261616" cy="351282"/>
          </a:xfrm>
          <a:prstGeom prst="roundRect">
            <a:avLst>
              <a:gd name="adj" fmla="val 20824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46" name="Text 40"/>
          <p:cNvSpPr txBox="1"/>
          <p:nvPr/>
        </p:nvSpPr>
        <p:spPr>
          <a:xfrm>
            <a:off x="3569208" y="3454908"/>
            <a:ext cx="2005584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temp 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+= 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inByte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050" dirty="0"/>
          </a:p>
        </p:txBody>
      </p:sp>
      <p:sp>
        <p:nvSpPr>
          <p:cNvPr id="47" name="Shape 41"/>
          <p:cNvSpPr/>
          <p:nvPr/>
        </p:nvSpPr>
        <p:spPr>
          <a:xfrm>
            <a:off x="3441192" y="3861054"/>
            <a:ext cx="219456" cy="219456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pic>
        <p:nvPicPr>
          <p:cNvPr id="4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93861" y="3913723"/>
            <a:ext cx="114117" cy="114117"/>
          </a:xfrm>
          <a:prstGeom prst="rect">
            <a:avLst/>
          </a:prstGeom>
        </p:spPr>
      </p:pic>
      <p:sp>
        <p:nvSpPr>
          <p:cNvPr id="49" name="Text 42"/>
          <p:cNvSpPr txBox="1"/>
          <p:nvPr/>
        </p:nvSpPr>
        <p:spPr>
          <a:xfrm>
            <a:off x="3752088" y="3842766"/>
            <a:ext cx="195072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常见错误：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用完不清空，下次会拼成“18090”。</a:t>
            </a:r>
            <a:endParaRPr lang="en-US" sz="1200" dirty="0"/>
          </a:p>
        </p:txBody>
      </p:sp>
      <p:sp>
        <p:nvSpPr>
          <p:cNvPr id="50" name="Shape 43"/>
          <p:cNvSpPr/>
          <p:nvPr/>
        </p:nvSpPr>
        <p:spPr>
          <a:xfrm>
            <a:off x="6141720" y="2295144"/>
            <a:ext cx="2590800" cy="2276856"/>
          </a:xfrm>
          <a:prstGeom prst="roundRect">
            <a:avLst>
              <a:gd name="adj" fmla="val 4819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51" name="Shape 44"/>
          <p:cNvSpPr/>
          <p:nvPr/>
        </p:nvSpPr>
        <p:spPr>
          <a:xfrm>
            <a:off x="6306312" y="2441448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5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5316" y="2520452"/>
            <a:ext cx="171176" cy="171176"/>
          </a:xfrm>
          <a:prstGeom prst="rect">
            <a:avLst/>
          </a:prstGeom>
        </p:spPr>
      </p:pic>
      <p:sp>
        <p:nvSpPr>
          <p:cNvPr id="53" name="Text 45"/>
          <p:cNvSpPr txBox="1"/>
          <p:nvPr/>
        </p:nvSpPr>
        <p:spPr>
          <a:xfrm>
            <a:off x="6745224" y="2441448"/>
            <a:ext cx="18227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纸条换成数字</a:t>
            </a:r>
            <a:endParaRPr lang="en-US" sz="1350" dirty="0"/>
          </a:p>
        </p:txBody>
      </p:sp>
      <p:sp>
        <p:nvSpPr>
          <p:cNvPr id="54" name="Text 46"/>
          <p:cNvSpPr txBox="1"/>
          <p:nvPr/>
        </p:nvSpPr>
        <p:spPr>
          <a:xfrm>
            <a:off x="6306312" y="2880360"/>
            <a:ext cx="2261616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toInt() 把文字 "180" 变成能交给舵机的数字 180。</a:t>
            </a:r>
            <a:endParaRPr lang="en-US" sz="1200" dirty="0"/>
          </a:p>
        </p:txBody>
      </p:sp>
      <p:sp>
        <p:nvSpPr>
          <p:cNvPr id="55" name="Shape 47"/>
          <p:cNvSpPr/>
          <p:nvPr/>
        </p:nvSpPr>
        <p:spPr>
          <a:xfrm>
            <a:off x="6306312" y="3372612"/>
            <a:ext cx="2261616" cy="351282"/>
          </a:xfrm>
          <a:prstGeom prst="roundRect">
            <a:avLst>
              <a:gd name="adj" fmla="val 20824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56" name="Text 48"/>
          <p:cNvSpPr txBox="1"/>
          <p:nvPr/>
        </p:nvSpPr>
        <p:spPr>
          <a:xfrm>
            <a:off x="6434328" y="3454908"/>
            <a:ext cx="2005584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angle 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temp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toInt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</a:t>
            </a:r>
            <a:endParaRPr lang="en-US" sz="1050" dirty="0"/>
          </a:p>
        </p:txBody>
      </p:sp>
      <p:sp>
        <p:nvSpPr>
          <p:cNvPr id="57" name="Shape 49"/>
          <p:cNvSpPr/>
          <p:nvPr/>
        </p:nvSpPr>
        <p:spPr>
          <a:xfrm>
            <a:off x="6306312" y="3861054"/>
            <a:ext cx="219456" cy="219456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pic>
        <p:nvPicPr>
          <p:cNvPr id="5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8981" y="3913723"/>
            <a:ext cx="114117" cy="114117"/>
          </a:xfrm>
          <a:prstGeom prst="rect">
            <a:avLst/>
          </a:prstGeom>
        </p:spPr>
      </p:pic>
      <p:sp>
        <p:nvSpPr>
          <p:cNvPr id="59" name="Text 50"/>
          <p:cNvSpPr txBox="1"/>
          <p:nvPr/>
        </p:nvSpPr>
        <p:spPr>
          <a:xfrm>
            <a:off x="6617208" y="3842766"/>
            <a:ext cx="195072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常见错误：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“abc”不是数字，toInt() 得到 0。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实验二　串口调节舵机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代码逐行看懂（1/3）：准备工作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引入舵机库、创建舵机对象，再准备三个“盒子”：一个装字符，一个装角度，一个拼字符串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4754880" cy="3337560"/>
          </a:xfrm>
          <a:prstGeom prst="roundRect">
            <a:avLst>
              <a:gd name="adj" fmla="val 274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39496" y="1298448"/>
            <a:ext cx="2852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serial_servo.ino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2313432" y="1298448"/>
            <a:ext cx="2724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1–12 行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1545336"/>
            <a:ext cx="4663440" cy="198628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02920" y="1545336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856016" y="1545336"/>
            <a:ext cx="418232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#include 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Servo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57200" y="1743964"/>
            <a:ext cx="4663440" cy="198628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2920" y="1743964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856016" y="1743964"/>
            <a:ext cx="418232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Servo myservo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502920" y="1942592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856016" y="1942592"/>
            <a:ext cx="418232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ServoPin 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457200" y="2141220"/>
            <a:ext cx="4663440" cy="198628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02920" y="2141220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856016" y="2141220"/>
            <a:ext cx="418232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char 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inByte 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502920" y="2339848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856016" y="2339848"/>
            <a:ext cx="418232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angle 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457200" y="2538476"/>
            <a:ext cx="4663440" cy="198628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02920" y="2538476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856016" y="2538476"/>
            <a:ext cx="418232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 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temp 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""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r>
              <a:rPr lang="en-US" sz="115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//Temporary character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457200" y="2737104"/>
            <a:ext cx="4663440" cy="198628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02920" y="2737104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↳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856016" y="2737104"/>
            <a:ext cx="418232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variables, or use it for the cache</a:t>
            </a:r>
            <a:endParaRPr lang="en-US" sz="1150" dirty="0"/>
          </a:p>
        </p:txBody>
      </p:sp>
      <p:sp>
        <p:nvSpPr>
          <p:cNvPr id="28" name="Text 25"/>
          <p:cNvSpPr txBox="1"/>
          <p:nvPr/>
        </p:nvSpPr>
        <p:spPr>
          <a:xfrm>
            <a:off x="502920" y="2935732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856016" y="2935732"/>
            <a:ext cx="418232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</a:t>
            </a:r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setup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502920" y="3134360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856016" y="3134360"/>
            <a:ext cx="418232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50" dirty="0"/>
          </a:p>
        </p:txBody>
      </p:sp>
      <p:sp>
        <p:nvSpPr>
          <p:cNvPr id="32" name="Text 29"/>
          <p:cNvSpPr txBox="1"/>
          <p:nvPr/>
        </p:nvSpPr>
        <p:spPr>
          <a:xfrm>
            <a:off x="502920" y="3332988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1050" dirty="0"/>
          </a:p>
        </p:txBody>
      </p:sp>
      <p:sp>
        <p:nvSpPr>
          <p:cNvPr id="33" name="Text 30"/>
          <p:cNvSpPr txBox="1"/>
          <p:nvPr/>
        </p:nvSpPr>
        <p:spPr>
          <a:xfrm>
            <a:off x="856016" y="3332988"/>
            <a:ext cx="418232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begin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9600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 </a:t>
            </a:r>
            <a:pPr indent="0" marL="0">
              <a:buNone/>
            </a:pPr>
            <a:r>
              <a:rPr lang="en-US" sz="115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//Set the baud rate</a:t>
            </a:r>
            <a:endParaRPr lang="en-US" sz="1150" dirty="0"/>
          </a:p>
        </p:txBody>
      </p:sp>
      <p:sp>
        <p:nvSpPr>
          <p:cNvPr id="34" name="Text 31"/>
          <p:cNvSpPr txBox="1"/>
          <p:nvPr/>
        </p:nvSpPr>
        <p:spPr>
          <a:xfrm>
            <a:off x="502920" y="3531616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856016" y="3531616"/>
            <a:ext cx="418232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pinMode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ServoPin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50" dirty="0"/>
          </a:p>
        </p:txBody>
      </p:sp>
      <p:sp>
        <p:nvSpPr>
          <p:cNvPr id="36" name="Shape 33"/>
          <p:cNvSpPr/>
          <p:nvPr/>
        </p:nvSpPr>
        <p:spPr>
          <a:xfrm>
            <a:off x="457200" y="3730244"/>
            <a:ext cx="4663440" cy="198628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502920" y="3730244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1050" dirty="0"/>
          </a:p>
        </p:txBody>
      </p:sp>
      <p:sp>
        <p:nvSpPr>
          <p:cNvPr id="38" name="Text 35"/>
          <p:cNvSpPr txBox="1"/>
          <p:nvPr/>
        </p:nvSpPr>
        <p:spPr>
          <a:xfrm>
            <a:off x="856016" y="3730244"/>
            <a:ext cx="418232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myservo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attach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ServoPin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50" dirty="0"/>
          </a:p>
        </p:txBody>
      </p:sp>
      <p:sp>
        <p:nvSpPr>
          <p:cNvPr id="39" name="Text 36"/>
          <p:cNvSpPr txBox="1"/>
          <p:nvPr/>
        </p:nvSpPr>
        <p:spPr>
          <a:xfrm>
            <a:off x="502920" y="3928872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1050" dirty="0"/>
          </a:p>
        </p:txBody>
      </p:sp>
      <p:sp>
        <p:nvSpPr>
          <p:cNvPr id="40" name="Text 37"/>
          <p:cNvSpPr txBox="1"/>
          <p:nvPr/>
        </p:nvSpPr>
        <p:spPr>
          <a:xfrm>
            <a:off x="856016" y="3928872"/>
            <a:ext cx="418232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</p:txBody>
      </p:sp>
      <p:sp>
        <p:nvSpPr>
          <p:cNvPr id="41" name="Text 38"/>
          <p:cNvSpPr txBox="1"/>
          <p:nvPr/>
        </p:nvSpPr>
        <p:spPr>
          <a:xfrm>
            <a:off x="5486400" y="123444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逐行看懂</a:t>
            </a:r>
            <a:endParaRPr lang="en-US" sz="1300" dirty="0"/>
          </a:p>
        </p:txBody>
      </p:sp>
      <p:sp>
        <p:nvSpPr>
          <p:cNvPr id="42" name="Shape 39"/>
          <p:cNvSpPr/>
          <p:nvPr/>
        </p:nvSpPr>
        <p:spPr>
          <a:xfrm>
            <a:off x="5486400" y="1600200"/>
            <a:ext cx="723392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5486400" y="1600200"/>
            <a:ext cx="723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1–2 行</a:t>
            </a:r>
            <a:endParaRPr lang="en-US" sz="950" dirty="0"/>
          </a:p>
        </p:txBody>
      </p:sp>
      <p:sp>
        <p:nvSpPr>
          <p:cNvPr id="44" name="Text 41"/>
          <p:cNvSpPr txBox="1"/>
          <p:nvPr/>
        </p:nvSpPr>
        <p:spPr>
          <a:xfrm>
            <a:off x="6301232" y="1591056"/>
            <a:ext cx="2431288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引入舵机库，创建舵机对象 myservo（2-1 学过）</a:t>
            </a:r>
            <a:endParaRPr lang="en-US" sz="1200" dirty="0"/>
          </a:p>
        </p:txBody>
      </p:sp>
      <p:sp>
        <p:nvSpPr>
          <p:cNvPr id="45" name="Shape 42"/>
          <p:cNvSpPr/>
          <p:nvPr/>
        </p:nvSpPr>
        <p:spPr>
          <a:xfrm>
            <a:off x="5486400" y="2090928"/>
            <a:ext cx="578612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486400" y="2090928"/>
            <a:ext cx="5786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3 行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6156452" y="2081784"/>
            <a:ext cx="25760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信号线接 13 号脚</a:t>
            </a:r>
            <a:endParaRPr lang="en-US" sz="1200" dirty="0"/>
          </a:p>
        </p:txBody>
      </p:sp>
      <p:sp>
        <p:nvSpPr>
          <p:cNvPr id="48" name="Shape 45"/>
          <p:cNvSpPr/>
          <p:nvPr/>
        </p:nvSpPr>
        <p:spPr>
          <a:xfrm>
            <a:off x="5486400" y="2420112"/>
            <a:ext cx="723392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5486400" y="2420112"/>
            <a:ext cx="723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4–5 行</a:t>
            </a:r>
            <a:endParaRPr lang="en-US" sz="950" dirty="0"/>
          </a:p>
        </p:txBody>
      </p:sp>
      <p:sp>
        <p:nvSpPr>
          <p:cNvPr id="50" name="Text 47"/>
          <p:cNvSpPr txBox="1"/>
          <p:nvPr/>
        </p:nvSpPr>
        <p:spPr>
          <a:xfrm>
            <a:off x="6301232" y="2410968"/>
            <a:ext cx="2431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char 装 1 个字符；angle 装角度</a:t>
            </a:r>
            <a:endParaRPr lang="en-US" sz="1200" dirty="0"/>
          </a:p>
        </p:txBody>
      </p:sp>
      <p:sp>
        <p:nvSpPr>
          <p:cNvPr id="51" name="Shape 48"/>
          <p:cNvSpPr/>
          <p:nvPr/>
        </p:nvSpPr>
        <p:spPr>
          <a:xfrm>
            <a:off x="5486400" y="2749296"/>
            <a:ext cx="578612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5486400" y="2749296"/>
            <a:ext cx="5786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6 行</a:t>
            </a:r>
            <a:endParaRPr lang="en-US" sz="950" dirty="0"/>
          </a:p>
        </p:txBody>
      </p:sp>
      <p:sp>
        <p:nvSpPr>
          <p:cNvPr id="53" name="Text 50"/>
          <p:cNvSpPr txBox="1"/>
          <p:nvPr/>
        </p:nvSpPr>
        <p:spPr>
          <a:xfrm>
            <a:off x="6156452" y="2740152"/>
            <a:ext cx="2576068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String 字符串 temp：先放空的 ""，用来拼字符</a:t>
            </a:r>
            <a:endParaRPr lang="en-US" sz="1200" dirty="0"/>
          </a:p>
        </p:txBody>
      </p:sp>
      <p:sp>
        <p:nvSpPr>
          <p:cNvPr id="54" name="Shape 51"/>
          <p:cNvSpPr/>
          <p:nvPr/>
        </p:nvSpPr>
        <p:spPr>
          <a:xfrm>
            <a:off x="5486400" y="3322574"/>
            <a:ext cx="800608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5486400" y="3322574"/>
            <a:ext cx="800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9–11 行</a:t>
            </a:r>
            <a:endParaRPr lang="en-US" sz="950" dirty="0"/>
          </a:p>
        </p:txBody>
      </p:sp>
      <p:sp>
        <p:nvSpPr>
          <p:cNvPr id="56" name="Text 53"/>
          <p:cNvSpPr txBox="1"/>
          <p:nvPr/>
        </p:nvSpPr>
        <p:spPr>
          <a:xfrm>
            <a:off x="6378448" y="3313430"/>
            <a:ext cx="2354072" cy="6080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开串口 9600；13 号脚设为输出；attach 把舵机“绑”到 13 号脚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实验二　串口调节舵机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代码逐行看懂（2/3）：把字符一个个读进来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只要串口里还有没读的字符，while 就一直转：每圈取 1 个字符，接到 temp 的末尾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4937760" cy="2606040"/>
          </a:xfrm>
          <a:prstGeom prst="roundRect">
            <a:avLst>
              <a:gd name="adj" fmla="val 3509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39496" y="1298448"/>
            <a:ext cx="29626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serial_servo.ino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2386584" y="1298448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13–19 行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1545336"/>
            <a:ext cx="208719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828492" y="1545336"/>
            <a:ext cx="4392732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loop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502920" y="1726692"/>
            <a:ext cx="208719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828492" y="1726692"/>
            <a:ext cx="4392732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57200" y="1908048"/>
            <a:ext cx="4846320" cy="181356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02920" y="1908048"/>
            <a:ext cx="208719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828492" y="1908048"/>
            <a:ext cx="4392732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while 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available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 &gt; 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</a:t>
            </a:r>
            <a:pPr indent="0" marL="0">
              <a:buNone/>
            </a:pPr>
            <a:r>
              <a:rPr lang="en-US" sz="105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//Determine whether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457200" y="2089404"/>
            <a:ext cx="4846320" cy="181356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02920" y="2089404"/>
            <a:ext cx="208719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↳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828492" y="2089404"/>
            <a:ext cx="4392732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the serial data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502920" y="2270760"/>
            <a:ext cx="208719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828492" y="2270760"/>
            <a:ext cx="4392732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457200" y="2452116"/>
            <a:ext cx="4846320" cy="181356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02920" y="2452116"/>
            <a:ext cx="208719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828492" y="2452116"/>
            <a:ext cx="4392732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inByte 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</a:t>
            </a:r>
            <a:pPr indent="0" marL="0">
              <a:buNone/>
            </a:pPr>
            <a:r>
              <a:rPr lang="en-US" sz="105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//Read data, the serial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457200" y="2633472"/>
            <a:ext cx="4846320" cy="181356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02920" y="2633472"/>
            <a:ext cx="208719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↳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828492" y="2633472"/>
            <a:ext cx="4392732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port can only read 1 character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457200" y="2814828"/>
            <a:ext cx="4846320" cy="181356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02920" y="2814828"/>
            <a:ext cx="208719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828492" y="2814828"/>
            <a:ext cx="4392732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temp 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+= 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inByte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r>
              <a:rPr lang="en-US" sz="105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//The characters read into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457200" y="2996184"/>
            <a:ext cx="4846320" cy="181356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02920" y="2996184"/>
            <a:ext cx="208719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↳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828492" y="2996184"/>
            <a:ext cx="4392732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temporary variables inside the cache, Continue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457200" y="3177540"/>
            <a:ext cx="4846320" cy="181356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502920" y="3177540"/>
            <a:ext cx="208719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↳</a:t>
            </a:r>
            <a:endParaRPr lang="en-US" sz="950" dirty="0"/>
          </a:p>
        </p:txBody>
      </p:sp>
      <p:sp>
        <p:nvSpPr>
          <p:cNvPr id="35" name="Text 32"/>
          <p:cNvSpPr txBox="1"/>
          <p:nvPr/>
        </p:nvSpPr>
        <p:spPr>
          <a:xfrm>
            <a:off x="828492" y="3177540"/>
            <a:ext cx="4392732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to determine the serial port there is no data,</a:t>
            </a:r>
            <a:endParaRPr lang="en-US" sz="1050" dirty="0"/>
          </a:p>
        </p:txBody>
      </p:sp>
      <p:sp>
        <p:nvSpPr>
          <p:cNvPr id="36" name="Shape 33"/>
          <p:cNvSpPr/>
          <p:nvPr/>
        </p:nvSpPr>
        <p:spPr>
          <a:xfrm>
            <a:off x="457200" y="3358896"/>
            <a:ext cx="4846320" cy="181356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502920" y="3358896"/>
            <a:ext cx="208719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↳</a:t>
            </a:r>
            <a:endParaRPr lang="en-US" sz="950" dirty="0"/>
          </a:p>
        </p:txBody>
      </p:sp>
      <p:sp>
        <p:nvSpPr>
          <p:cNvPr id="38" name="Text 35"/>
          <p:cNvSpPr txBox="1"/>
          <p:nvPr/>
        </p:nvSpPr>
        <p:spPr>
          <a:xfrm>
            <a:off x="828492" y="3358896"/>
            <a:ext cx="4392732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know all the data read out</a:t>
            </a:r>
            <a:endParaRPr lang="en-US" sz="1050" dirty="0"/>
          </a:p>
        </p:txBody>
      </p:sp>
      <p:sp>
        <p:nvSpPr>
          <p:cNvPr id="39" name="Text 36"/>
          <p:cNvSpPr txBox="1"/>
          <p:nvPr/>
        </p:nvSpPr>
        <p:spPr>
          <a:xfrm>
            <a:off x="502920" y="3540252"/>
            <a:ext cx="208719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</a:t>
            </a:r>
            <a:endParaRPr lang="en-US" sz="950" dirty="0"/>
          </a:p>
        </p:txBody>
      </p:sp>
      <p:sp>
        <p:nvSpPr>
          <p:cNvPr id="40" name="Text 37"/>
          <p:cNvSpPr txBox="1"/>
          <p:nvPr/>
        </p:nvSpPr>
        <p:spPr>
          <a:xfrm>
            <a:off x="828492" y="3540252"/>
            <a:ext cx="4392732" cy="1813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</p:txBody>
      </p:sp>
      <p:sp>
        <p:nvSpPr>
          <p:cNvPr id="41" name="Text 38"/>
          <p:cNvSpPr txBox="1"/>
          <p:nvPr/>
        </p:nvSpPr>
        <p:spPr>
          <a:xfrm>
            <a:off x="5669280" y="123444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逐行看懂</a:t>
            </a:r>
            <a:endParaRPr lang="en-US" sz="1300" dirty="0"/>
          </a:p>
        </p:txBody>
      </p:sp>
      <p:sp>
        <p:nvSpPr>
          <p:cNvPr id="42" name="Shape 39"/>
          <p:cNvSpPr/>
          <p:nvPr/>
        </p:nvSpPr>
        <p:spPr>
          <a:xfrm>
            <a:off x="5669280" y="1600200"/>
            <a:ext cx="655828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5669280" y="1600200"/>
            <a:ext cx="655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13 行</a:t>
            </a:r>
            <a:endParaRPr lang="en-US" sz="950" dirty="0"/>
          </a:p>
        </p:txBody>
      </p:sp>
      <p:sp>
        <p:nvSpPr>
          <p:cNvPr id="44" name="Text 41"/>
          <p:cNvSpPr txBox="1"/>
          <p:nvPr/>
        </p:nvSpPr>
        <p:spPr>
          <a:xfrm>
            <a:off x="6416548" y="1591056"/>
            <a:ext cx="23159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loop() 一遍遍重复</a:t>
            </a:r>
            <a:endParaRPr lang="en-US" sz="1200" dirty="0"/>
          </a:p>
        </p:txBody>
      </p:sp>
      <p:sp>
        <p:nvSpPr>
          <p:cNvPr id="45" name="Shape 42"/>
          <p:cNvSpPr/>
          <p:nvPr/>
        </p:nvSpPr>
        <p:spPr>
          <a:xfrm>
            <a:off x="5669280" y="1929384"/>
            <a:ext cx="655828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669280" y="1929384"/>
            <a:ext cx="655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15 行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6416548" y="1920240"/>
            <a:ext cx="2315972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while：串口里还有没读的字符，就继续</a:t>
            </a:r>
            <a:endParaRPr lang="en-US" sz="1200" dirty="0"/>
          </a:p>
        </p:txBody>
      </p:sp>
      <p:sp>
        <p:nvSpPr>
          <p:cNvPr id="48" name="Shape 45"/>
          <p:cNvSpPr/>
          <p:nvPr/>
        </p:nvSpPr>
        <p:spPr>
          <a:xfrm>
            <a:off x="5669280" y="2433066"/>
            <a:ext cx="655828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5669280" y="2433066"/>
            <a:ext cx="655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17 行</a:t>
            </a:r>
            <a:endParaRPr lang="en-US" sz="950" dirty="0"/>
          </a:p>
        </p:txBody>
      </p:sp>
      <p:sp>
        <p:nvSpPr>
          <p:cNvPr id="50" name="Text 47"/>
          <p:cNvSpPr txBox="1"/>
          <p:nvPr/>
        </p:nvSpPr>
        <p:spPr>
          <a:xfrm>
            <a:off x="6416548" y="2423922"/>
            <a:ext cx="2315972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read() 取出 1 个字符，放进 inByte</a:t>
            </a:r>
            <a:endParaRPr lang="en-US" sz="1200" dirty="0"/>
          </a:p>
        </p:txBody>
      </p:sp>
      <p:sp>
        <p:nvSpPr>
          <p:cNvPr id="51" name="Shape 48"/>
          <p:cNvSpPr/>
          <p:nvPr/>
        </p:nvSpPr>
        <p:spPr>
          <a:xfrm>
            <a:off x="5669280" y="2923794"/>
            <a:ext cx="655828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5669280" y="2923794"/>
            <a:ext cx="655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18 行</a:t>
            </a:r>
            <a:endParaRPr lang="en-US" sz="950" dirty="0"/>
          </a:p>
        </p:txBody>
      </p:sp>
      <p:sp>
        <p:nvSpPr>
          <p:cNvPr id="53" name="Text 50"/>
          <p:cNvSpPr txBox="1"/>
          <p:nvPr/>
        </p:nvSpPr>
        <p:spPr>
          <a:xfrm>
            <a:off x="6416548" y="2914650"/>
            <a:ext cx="23159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 inByte 接到 temp 的末尾</a:t>
            </a:r>
            <a:endParaRPr lang="en-US" sz="1200" dirty="0"/>
          </a:p>
        </p:txBody>
      </p:sp>
      <p:sp>
        <p:nvSpPr>
          <p:cNvPr id="54" name="Shape 51"/>
          <p:cNvSpPr/>
          <p:nvPr/>
        </p:nvSpPr>
        <p:spPr>
          <a:xfrm>
            <a:off x="5669280" y="3521202"/>
            <a:ext cx="655828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5669280" y="3521202"/>
            <a:ext cx="655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19 行</a:t>
            </a:r>
            <a:endParaRPr lang="en-US" sz="950" dirty="0"/>
          </a:p>
        </p:txBody>
      </p:sp>
      <p:sp>
        <p:nvSpPr>
          <p:cNvPr id="56" name="Text 53"/>
          <p:cNvSpPr txBox="1"/>
          <p:nvPr/>
        </p:nvSpPr>
        <p:spPr>
          <a:xfrm>
            <a:off x="6416548" y="3512058"/>
            <a:ext cx="23159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字符全部读完，跳出 while</a:t>
            </a:r>
            <a:endParaRPr lang="en-US" sz="1200" dirty="0"/>
          </a:p>
        </p:txBody>
      </p:sp>
      <p:sp>
        <p:nvSpPr>
          <p:cNvPr id="57" name="Shape 54"/>
          <p:cNvSpPr/>
          <p:nvPr/>
        </p:nvSpPr>
        <p:spPr>
          <a:xfrm>
            <a:off x="5669280" y="3996690"/>
            <a:ext cx="3063240" cy="575310"/>
          </a:xfrm>
          <a:prstGeom prst="roundRect">
            <a:avLst>
              <a:gd name="adj" fmla="val 19073"/>
            </a:avLst>
          </a:prstGeom>
          <a:solidFill>
            <a:srgbClr val="FFFFFF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5815584" y="4033266"/>
            <a:ext cx="2770632" cy="5021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原指南第 18 行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的注释被排版折成两行，这里合回一行，否则编译报错。</a:t>
            </a:r>
            <a:endParaRPr lang="en-US" sz="1200" dirty="0"/>
          </a:p>
        </p:txBody>
      </p:sp>
      <p:sp>
        <p:nvSpPr>
          <p:cNvPr id="59" name="Shape 56"/>
          <p:cNvSpPr/>
          <p:nvPr/>
        </p:nvSpPr>
        <p:spPr>
          <a:xfrm>
            <a:off x="411480" y="4114800"/>
            <a:ext cx="4937760" cy="457200"/>
          </a:xfrm>
          <a:prstGeom prst="roundRect">
            <a:avLst>
              <a:gd name="adj" fmla="val 24000"/>
            </a:avLst>
          </a:prstGeom>
          <a:solidFill>
            <a:srgbClr val="E3FAF7"/>
          </a:solidFill>
          <a:ln w="12700">
            <a:solidFill>
              <a:srgbClr val="E3FAF7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539496" y="411480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输入 180：</a:t>
            </a:r>
            <a:endParaRPr lang="en-US" sz="1200" dirty="0"/>
          </a:p>
        </p:txBody>
      </p:sp>
      <p:sp>
        <p:nvSpPr>
          <p:cNvPr id="61" name="Shape 58"/>
          <p:cNvSpPr/>
          <p:nvPr/>
        </p:nvSpPr>
        <p:spPr>
          <a:xfrm>
            <a:off x="1399032" y="4197096"/>
            <a:ext cx="11155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1399032" y="4197096"/>
            <a:ext cx="1115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 圈 "1"</a:t>
            </a:r>
            <a:endParaRPr lang="en-US" sz="1050" dirty="0"/>
          </a:p>
        </p:txBody>
      </p:sp>
      <p:sp>
        <p:nvSpPr>
          <p:cNvPr id="63" name="Shape 60"/>
          <p:cNvSpPr/>
          <p:nvPr/>
        </p:nvSpPr>
        <p:spPr>
          <a:xfrm>
            <a:off x="2551176" y="4343400"/>
            <a:ext cx="109728" cy="91"/>
          </a:xfrm>
          <a:prstGeom prst="line">
            <a:avLst/>
          </a:prstGeom>
          <a:noFill/>
          <a:ln w="15875">
            <a:solidFill>
              <a:srgbClr val="6B6B6B"/>
            </a:solidFill>
            <a:prstDash val="solid"/>
            <a:tailEnd type="triangle"/>
          </a:ln>
        </p:spPr>
      </p:sp>
      <p:sp>
        <p:nvSpPr>
          <p:cNvPr id="64" name="Shape 61"/>
          <p:cNvSpPr/>
          <p:nvPr/>
        </p:nvSpPr>
        <p:spPr>
          <a:xfrm>
            <a:off x="2697480" y="4197096"/>
            <a:ext cx="11155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2697480" y="4197096"/>
            <a:ext cx="1115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2 圈 "18"</a:t>
            </a:r>
            <a:endParaRPr lang="en-US" sz="1050" dirty="0"/>
          </a:p>
        </p:txBody>
      </p:sp>
      <p:sp>
        <p:nvSpPr>
          <p:cNvPr id="66" name="Shape 63"/>
          <p:cNvSpPr/>
          <p:nvPr/>
        </p:nvSpPr>
        <p:spPr>
          <a:xfrm>
            <a:off x="3849624" y="4343400"/>
            <a:ext cx="109728" cy="91"/>
          </a:xfrm>
          <a:prstGeom prst="line">
            <a:avLst/>
          </a:prstGeom>
          <a:noFill/>
          <a:ln w="15875">
            <a:solidFill>
              <a:srgbClr val="6B6B6B"/>
            </a:solidFill>
            <a:prstDash val="solid"/>
            <a:tailEnd type="triangle"/>
          </a:ln>
        </p:spPr>
      </p:sp>
      <p:sp>
        <p:nvSpPr>
          <p:cNvPr id="67" name="Shape 64"/>
          <p:cNvSpPr/>
          <p:nvPr/>
        </p:nvSpPr>
        <p:spPr>
          <a:xfrm>
            <a:off x="3995928" y="4197096"/>
            <a:ext cx="1115568" cy="292608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68" name="Text 65"/>
          <p:cNvSpPr txBox="1"/>
          <p:nvPr/>
        </p:nvSpPr>
        <p:spPr>
          <a:xfrm>
            <a:off x="3995928" y="4197096"/>
            <a:ext cx="1115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3 圈 "180"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实验二　串口调节舵机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代码逐行看懂（3/3）：拼好的数字交给舵机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收到新输入就把文字变成数字、在串口回一句，再清空 temp；舵机始终转到 angle 度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4846320" cy="3337560"/>
          </a:xfrm>
          <a:prstGeom prst="roundRect">
            <a:avLst>
              <a:gd name="adj" fmla="val 274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39496" y="1298448"/>
            <a:ext cx="29077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serial_servo.ino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2350008" y="1298448"/>
            <a:ext cx="27797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21–32 行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1545336"/>
            <a:ext cx="4754880" cy="189992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02920" y="1545336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842254" y="1545336"/>
            <a:ext cx="428753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temp 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!= 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""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10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Determine whether the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57200" y="1735328"/>
            <a:ext cx="4754880" cy="189992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2920" y="1735328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↳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842254" y="1735328"/>
            <a:ext cx="428753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temporary variable is empty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502920" y="1925320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842254" y="1925320"/>
            <a:ext cx="428753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457200" y="2115312"/>
            <a:ext cx="4754880" cy="189992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02920" y="2115312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842254" y="2115312"/>
            <a:ext cx="428753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angle 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temp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toInt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    </a:t>
            </a:r>
            <a:pPr indent="0" marL="0">
              <a:buNone/>
            </a:pPr>
            <a:r>
              <a:rPr lang="en-US" sz="110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//Convert variable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305304"/>
            <a:ext cx="4754880" cy="189992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02920" y="2305304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↳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842254" y="2305304"/>
            <a:ext cx="428753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string type to integer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502920" y="2495296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842254" y="2495296"/>
            <a:ext cx="428753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"Servo degree: "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502920" y="2685288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842254" y="2685288"/>
            <a:ext cx="428753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println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angle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502920" y="2875280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842254" y="2875280"/>
            <a:ext cx="428753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10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//Control the servo to rotate the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502920" y="3065272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↳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842254" y="3065272"/>
            <a:ext cx="428753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corresponding angle.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02920" y="3255264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842254" y="3255264"/>
            <a:ext cx="428753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457200" y="3445256"/>
            <a:ext cx="4754880" cy="189992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502920" y="3445256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28</a:t>
            </a:r>
            <a:endParaRPr lang="en-US" sz="1000" dirty="0"/>
          </a:p>
        </p:txBody>
      </p:sp>
      <p:sp>
        <p:nvSpPr>
          <p:cNvPr id="35" name="Text 32"/>
          <p:cNvSpPr txBox="1"/>
          <p:nvPr/>
        </p:nvSpPr>
        <p:spPr>
          <a:xfrm>
            <a:off x="842254" y="3445256"/>
            <a:ext cx="428753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temp 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""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r>
              <a:rPr lang="en-US" sz="110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//Please see temporary variables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457200" y="3635248"/>
            <a:ext cx="4754880" cy="189992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502920" y="3635248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29</a:t>
            </a:r>
            <a:endParaRPr lang="en-US" sz="1000" dirty="0"/>
          </a:p>
        </p:txBody>
      </p:sp>
      <p:sp>
        <p:nvSpPr>
          <p:cNvPr id="38" name="Text 35"/>
          <p:cNvSpPr txBox="1"/>
          <p:nvPr/>
        </p:nvSpPr>
        <p:spPr>
          <a:xfrm>
            <a:off x="842254" y="3635248"/>
            <a:ext cx="428753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myservo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angle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502920" y="3825240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1000" dirty="0"/>
          </a:p>
        </p:txBody>
      </p:sp>
      <p:sp>
        <p:nvSpPr>
          <p:cNvPr id="40" name="Text 37"/>
          <p:cNvSpPr txBox="1"/>
          <p:nvPr/>
        </p:nvSpPr>
        <p:spPr>
          <a:xfrm>
            <a:off x="842254" y="3825240"/>
            <a:ext cx="428753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delay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pPr indent="0" marL="0">
              <a:buNone/>
            </a:pPr>
            <a:r>
              <a:rPr lang="en-US" sz="110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//Delayed 100 milliseconds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502920" y="4015232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31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842254" y="4015232"/>
            <a:ext cx="428753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02920" y="4205224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32</a:t>
            </a:r>
            <a:endParaRPr lang="en-US" sz="1000" dirty="0"/>
          </a:p>
        </p:txBody>
      </p:sp>
      <p:sp>
        <p:nvSpPr>
          <p:cNvPr id="44" name="Text 41"/>
          <p:cNvSpPr txBox="1"/>
          <p:nvPr/>
        </p:nvSpPr>
        <p:spPr>
          <a:xfrm>
            <a:off x="842254" y="4205224"/>
            <a:ext cx="428753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5577840" y="123444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逐行看懂</a:t>
            </a:r>
            <a:endParaRPr lang="en-US" sz="1300" dirty="0"/>
          </a:p>
        </p:txBody>
      </p:sp>
      <p:sp>
        <p:nvSpPr>
          <p:cNvPr id="46" name="Shape 43"/>
          <p:cNvSpPr/>
          <p:nvPr/>
        </p:nvSpPr>
        <p:spPr>
          <a:xfrm>
            <a:off x="5577840" y="1600200"/>
            <a:ext cx="655828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577840" y="1600200"/>
            <a:ext cx="655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21 行</a:t>
            </a:r>
            <a:endParaRPr lang="en-US" sz="950" dirty="0"/>
          </a:p>
        </p:txBody>
      </p:sp>
      <p:sp>
        <p:nvSpPr>
          <p:cNvPr id="48" name="Text 45"/>
          <p:cNvSpPr txBox="1"/>
          <p:nvPr/>
        </p:nvSpPr>
        <p:spPr>
          <a:xfrm>
            <a:off x="6325108" y="1591056"/>
            <a:ext cx="24074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temp 不是空的 = 刚收到新输入</a:t>
            </a:r>
            <a:endParaRPr lang="en-US" sz="1200" dirty="0"/>
          </a:p>
        </p:txBody>
      </p:sp>
      <p:sp>
        <p:nvSpPr>
          <p:cNvPr id="49" name="Shape 46"/>
          <p:cNvSpPr/>
          <p:nvPr/>
        </p:nvSpPr>
        <p:spPr>
          <a:xfrm>
            <a:off x="5577840" y="2100580"/>
            <a:ext cx="655828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5577840" y="2100580"/>
            <a:ext cx="655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23 行</a:t>
            </a:r>
            <a:endParaRPr lang="en-US" sz="950" dirty="0"/>
          </a:p>
        </p:txBody>
      </p:sp>
      <p:sp>
        <p:nvSpPr>
          <p:cNvPr id="51" name="Text 48"/>
          <p:cNvSpPr txBox="1"/>
          <p:nvPr/>
        </p:nvSpPr>
        <p:spPr>
          <a:xfrm>
            <a:off x="6325108" y="2091436"/>
            <a:ext cx="24074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toInt()：文字 "180" → 数字 180</a:t>
            </a:r>
            <a:endParaRPr lang="en-US" sz="1200" dirty="0"/>
          </a:p>
        </p:txBody>
      </p:sp>
      <p:sp>
        <p:nvSpPr>
          <p:cNvPr id="52" name="Shape 49"/>
          <p:cNvSpPr/>
          <p:nvPr/>
        </p:nvSpPr>
        <p:spPr>
          <a:xfrm>
            <a:off x="5577840" y="2480564"/>
            <a:ext cx="877824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5577840" y="2480564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24–25 行</a:t>
            </a:r>
            <a:endParaRPr lang="en-US" sz="950" dirty="0"/>
          </a:p>
        </p:txBody>
      </p:sp>
      <p:sp>
        <p:nvSpPr>
          <p:cNvPr id="54" name="Text 51"/>
          <p:cNvSpPr txBox="1"/>
          <p:nvPr/>
        </p:nvSpPr>
        <p:spPr>
          <a:xfrm>
            <a:off x="6547104" y="2471420"/>
            <a:ext cx="2185416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串口回一句 Servo degree: 180</a:t>
            </a:r>
            <a:endParaRPr lang="en-US" sz="1200" dirty="0"/>
          </a:p>
        </p:txBody>
      </p:sp>
      <p:sp>
        <p:nvSpPr>
          <p:cNvPr id="55" name="Shape 52"/>
          <p:cNvSpPr/>
          <p:nvPr/>
        </p:nvSpPr>
        <p:spPr>
          <a:xfrm>
            <a:off x="5577840" y="2953004"/>
            <a:ext cx="655828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5577840" y="2953004"/>
            <a:ext cx="655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26 行</a:t>
            </a:r>
            <a:endParaRPr lang="en-US" sz="950" dirty="0"/>
          </a:p>
        </p:txBody>
      </p:sp>
      <p:sp>
        <p:nvSpPr>
          <p:cNvPr id="57" name="Text 54"/>
          <p:cNvSpPr txBox="1"/>
          <p:nvPr/>
        </p:nvSpPr>
        <p:spPr>
          <a:xfrm>
            <a:off x="6325108" y="2943860"/>
            <a:ext cx="24074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只是注释：真正转动的是第 29 行</a:t>
            </a:r>
            <a:endParaRPr lang="en-US" sz="1200" dirty="0"/>
          </a:p>
        </p:txBody>
      </p:sp>
      <p:sp>
        <p:nvSpPr>
          <p:cNvPr id="58" name="Shape 55"/>
          <p:cNvSpPr/>
          <p:nvPr/>
        </p:nvSpPr>
        <p:spPr>
          <a:xfrm>
            <a:off x="5577840" y="3430524"/>
            <a:ext cx="655828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5577840" y="3430524"/>
            <a:ext cx="655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28 行</a:t>
            </a:r>
            <a:endParaRPr lang="en-US" sz="950" dirty="0"/>
          </a:p>
        </p:txBody>
      </p:sp>
      <p:sp>
        <p:nvSpPr>
          <p:cNvPr id="60" name="Text 57"/>
          <p:cNvSpPr txBox="1"/>
          <p:nvPr/>
        </p:nvSpPr>
        <p:spPr>
          <a:xfrm>
            <a:off x="6325108" y="3421380"/>
            <a:ext cx="24074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清空 temp，等下一次输入</a:t>
            </a:r>
            <a:endParaRPr lang="en-US" sz="1200" dirty="0"/>
          </a:p>
        </p:txBody>
      </p:sp>
      <p:sp>
        <p:nvSpPr>
          <p:cNvPr id="61" name="Shape 58"/>
          <p:cNvSpPr/>
          <p:nvPr/>
        </p:nvSpPr>
        <p:spPr>
          <a:xfrm>
            <a:off x="5577840" y="3741420"/>
            <a:ext cx="877824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5577840" y="3741420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29–30 行</a:t>
            </a:r>
            <a:endParaRPr lang="en-US" sz="950" dirty="0"/>
          </a:p>
        </p:txBody>
      </p:sp>
      <p:sp>
        <p:nvSpPr>
          <p:cNvPr id="63" name="Text 60"/>
          <p:cNvSpPr txBox="1"/>
          <p:nvPr/>
        </p:nvSpPr>
        <p:spPr>
          <a:xfrm>
            <a:off x="6547104" y="3732276"/>
            <a:ext cx="2185416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舵机转到 angle 度；等 0.1 秒再来一圈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实验二　串口调节舵机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实验步骤：接上电池，打开串口监视器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程序烧录后先不要拔 USB 线，再把电池插头插到 UNO 上一起供电，然后打开 IDE 的串口监视器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2377440" cy="3337560"/>
          </a:xfrm>
          <a:prstGeom prst="roundRect">
            <a:avLst>
              <a:gd name="adj" fmla="val 4615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pic>
        <p:nvPicPr>
          <p:cNvPr id="7" name="Image 0" descr="原指南实物：舵机 + 电池供电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4898" y="1344168"/>
            <a:ext cx="2090604" cy="284378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21208" y="4224528"/>
            <a:ext cx="21579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原指南实物：舵机 + 电池供电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3063240" y="1234440"/>
            <a:ext cx="3017520" cy="3337560"/>
          </a:xfrm>
          <a:prstGeom prst="roundRect">
            <a:avLst>
              <a:gd name="adj" fmla="val 3636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pic>
        <p:nvPicPr>
          <p:cNvPr id="10" name="Image 1" descr="打开串口监视器示意图：只看红框里的按钮 （截图里的代码版本略有不同）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2968" y="1418993"/>
            <a:ext cx="2798064" cy="2547831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3172968" y="4078224"/>
            <a:ext cx="2798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打开串口监视器示意图：只看红框里的按钮</a:t>
            </a:r>
            <a:endParaRPr lang="en-US" sz="1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（截图里的代码版本略有不同）</a:t>
            </a:r>
            <a:endParaRPr lang="en-US" sz="1000" dirty="0"/>
          </a:p>
        </p:txBody>
      </p:sp>
      <p:sp>
        <p:nvSpPr>
          <p:cNvPr id="12" name="Text 7"/>
          <p:cNvSpPr txBox="1"/>
          <p:nvPr/>
        </p:nvSpPr>
        <p:spPr>
          <a:xfrm>
            <a:off x="6355080" y="123444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三步走</a:t>
            </a:r>
            <a:endParaRPr lang="en-US" sz="1500" dirty="0"/>
          </a:p>
        </p:txBody>
      </p:sp>
      <p:sp>
        <p:nvSpPr>
          <p:cNvPr id="13" name="Shape 8"/>
          <p:cNvSpPr/>
          <p:nvPr/>
        </p:nvSpPr>
        <p:spPr>
          <a:xfrm>
            <a:off x="6355080" y="1655064"/>
            <a:ext cx="292608" cy="292608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355080" y="16550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100" dirty="0"/>
          </a:p>
        </p:txBody>
      </p:sp>
      <p:sp>
        <p:nvSpPr>
          <p:cNvPr id="15" name="Text 10"/>
          <p:cNvSpPr txBox="1"/>
          <p:nvPr/>
        </p:nvSpPr>
        <p:spPr>
          <a:xfrm>
            <a:off x="6775704" y="1692227"/>
            <a:ext cx="1956816" cy="2365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烧录后先别拔 USB 线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6355080" y="2130552"/>
            <a:ext cx="292608" cy="292608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6355080" y="2130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Text 13"/>
          <p:cNvSpPr txBox="1"/>
          <p:nvPr/>
        </p:nvSpPr>
        <p:spPr>
          <a:xfrm>
            <a:off x="6775704" y="2121408"/>
            <a:ext cx="1956816" cy="4548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插上电池：舵机耗电大，帮 USB 分担供电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6355080" y="2749995"/>
            <a:ext cx="292608" cy="292608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6355080" y="2749995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6"/>
          <p:cNvSpPr txBox="1"/>
          <p:nvPr/>
        </p:nvSpPr>
        <p:spPr>
          <a:xfrm>
            <a:off x="6775704" y="2740851"/>
            <a:ext cx="1956816" cy="4548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点 IDE 右上角“串口监视器”，选 9600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6355080" y="3749040"/>
            <a:ext cx="2377440" cy="822960"/>
          </a:xfrm>
          <a:prstGeom prst="roundRect">
            <a:avLst>
              <a:gd name="adj" fmla="val 13333"/>
            </a:avLst>
          </a:prstGeom>
          <a:solidFill>
            <a:srgbClr val="E3FAF7"/>
          </a:solidFill>
          <a:ln w="12700">
            <a:solidFill>
              <a:srgbClr val="E3FAF7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6501384" y="4014216"/>
            <a:ext cx="292608" cy="292608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1610" y="4084442"/>
            <a:ext cx="152156" cy="152156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6922008" y="3785616"/>
            <a:ext cx="16642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不拔 USB：串口监视器要靠它和电脑“聊天”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实验二　串口调节舵机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实验结果：输入角度，舵机跟着转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在串口监视器里依次输入 0、90、180、90，每输入一次，串口回一句 Servo degree:，舵机转到对应角度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3657600" cy="3337560"/>
          </a:xfrm>
          <a:prstGeom prst="roundRect">
            <a:avLst>
              <a:gd name="adj" fmla="val 3288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pic>
        <p:nvPicPr>
          <p:cNvPr id="7" name="Image 0" descr="原指南：串口输入舵机角度数值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6805" y="1344168"/>
            <a:ext cx="2986949" cy="284378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21208" y="4224528"/>
            <a:ext cx="3438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原指南：串口输入舵机角度数值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4389120" y="1234440"/>
            <a:ext cx="4343400" cy="1371600"/>
          </a:xfrm>
          <a:prstGeom prst="roundRect">
            <a:avLst>
              <a:gd name="adj" fmla="val 8000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4526280" y="1325880"/>
            <a:ext cx="10172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输入 0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4742307" y="1655064"/>
            <a:ext cx="585216" cy="585216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D2D2D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 flipH="1">
            <a:off x="4806681" y="1947672"/>
            <a:ext cx="228234" cy="91"/>
          </a:xfrm>
          <a:prstGeom prst="line">
            <a:avLst/>
          </a:prstGeom>
          <a:noFill/>
          <a:ln w="28575">
            <a:solidFill>
              <a:srgbClr val="1A9E92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4998339" y="1911096"/>
            <a:ext cx="73152" cy="73152"/>
          </a:xfrm>
          <a:prstGeom prst="ellipse">
            <a:avLst/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4526280" y="2276856"/>
            <a:ext cx="10172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0°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09819" y="1947672"/>
            <a:ext cx="267462" cy="91"/>
          </a:xfrm>
          <a:prstGeom prst="line">
            <a:avLst/>
          </a:prstGeom>
          <a:noFill/>
          <a:ln w="15875">
            <a:solidFill>
              <a:srgbClr val="6B6B6B"/>
            </a:solidFill>
            <a:prstDash val="solid"/>
            <a:tailEnd type="triangle"/>
          </a:ln>
        </p:spPr>
      </p:sp>
      <p:sp>
        <p:nvSpPr>
          <p:cNvPr id="16" name="Text 12"/>
          <p:cNvSpPr txBox="1"/>
          <p:nvPr/>
        </p:nvSpPr>
        <p:spPr>
          <a:xfrm>
            <a:off x="5543550" y="1325880"/>
            <a:ext cx="10172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输入 90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5759577" y="1655064"/>
            <a:ext cx="585216" cy="585216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D2D2D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 flipV="1">
            <a:off x="6052185" y="1719438"/>
            <a:ext cx="91" cy="228234"/>
          </a:xfrm>
          <a:prstGeom prst="line">
            <a:avLst/>
          </a:prstGeom>
          <a:noFill/>
          <a:ln w="28575">
            <a:solidFill>
              <a:srgbClr val="1A9E92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6015609" y="1911096"/>
            <a:ext cx="73152" cy="73152"/>
          </a:xfrm>
          <a:prstGeom prst="ellipse">
            <a:avLst/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543550" y="2276856"/>
            <a:ext cx="10172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90°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6427089" y="1947672"/>
            <a:ext cx="267462" cy="91"/>
          </a:xfrm>
          <a:prstGeom prst="line">
            <a:avLst/>
          </a:prstGeom>
          <a:noFill/>
          <a:ln w="15875">
            <a:solidFill>
              <a:srgbClr val="6B6B6B"/>
            </a:solidFill>
            <a:prstDash val="solid"/>
            <a:tailEnd type="triangle"/>
          </a:ln>
        </p:spPr>
      </p:sp>
      <p:sp>
        <p:nvSpPr>
          <p:cNvPr id="22" name="Text 18"/>
          <p:cNvSpPr txBox="1"/>
          <p:nvPr/>
        </p:nvSpPr>
        <p:spPr>
          <a:xfrm>
            <a:off x="6560820" y="1325880"/>
            <a:ext cx="10172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输入 180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6776847" y="1655064"/>
            <a:ext cx="585216" cy="585216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D2D2D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7069455" y="1947672"/>
            <a:ext cx="228234" cy="91"/>
          </a:xfrm>
          <a:prstGeom prst="line">
            <a:avLst/>
          </a:prstGeom>
          <a:noFill/>
          <a:ln w="28575">
            <a:solidFill>
              <a:srgbClr val="1A9E92"/>
            </a:solidFill>
            <a:prstDash val="solid"/>
            <a:tailEnd type="triangle"/>
          </a:ln>
        </p:spPr>
      </p:sp>
      <p:sp>
        <p:nvSpPr>
          <p:cNvPr id="25" name="Shape 21"/>
          <p:cNvSpPr/>
          <p:nvPr/>
        </p:nvSpPr>
        <p:spPr>
          <a:xfrm>
            <a:off x="7032879" y="1911096"/>
            <a:ext cx="73152" cy="73152"/>
          </a:xfrm>
          <a:prstGeom prst="ellipse">
            <a:avLst/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560820" y="2276856"/>
            <a:ext cx="10172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180°</a:t>
            </a:r>
            <a:endParaRPr lang="en-US" sz="1200" dirty="0"/>
          </a:p>
        </p:txBody>
      </p:sp>
      <p:sp>
        <p:nvSpPr>
          <p:cNvPr id="27" name="Shape 23"/>
          <p:cNvSpPr/>
          <p:nvPr/>
        </p:nvSpPr>
        <p:spPr>
          <a:xfrm>
            <a:off x="7444359" y="1947672"/>
            <a:ext cx="267462" cy="91"/>
          </a:xfrm>
          <a:prstGeom prst="line">
            <a:avLst/>
          </a:prstGeom>
          <a:noFill/>
          <a:ln w="15875">
            <a:solidFill>
              <a:srgbClr val="6B6B6B"/>
            </a:solidFill>
            <a:prstDash val="solid"/>
            <a:tailEnd type="triangle"/>
          </a:ln>
        </p:spPr>
      </p:sp>
      <p:sp>
        <p:nvSpPr>
          <p:cNvPr id="28" name="Text 24"/>
          <p:cNvSpPr txBox="1"/>
          <p:nvPr/>
        </p:nvSpPr>
        <p:spPr>
          <a:xfrm>
            <a:off x="7578090" y="1325880"/>
            <a:ext cx="10172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输入 90</a:t>
            </a:r>
            <a:endParaRPr lang="en-US" sz="1200" dirty="0"/>
          </a:p>
        </p:txBody>
      </p:sp>
      <p:sp>
        <p:nvSpPr>
          <p:cNvPr id="29" name="Shape 25"/>
          <p:cNvSpPr/>
          <p:nvPr/>
        </p:nvSpPr>
        <p:spPr>
          <a:xfrm>
            <a:off x="7794117" y="1655064"/>
            <a:ext cx="585216" cy="585216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D2D2D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 flipV="1">
            <a:off x="8086725" y="1719438"/>
            <a:ext cx="91" cy="228234"/>
          </a:xfrm>
          <a:prstGeom prst="line">
            <a:avLst/>
          </a:prstGeom>
          <a:noFill/>
          <a:ln w="28575">
            <a:solidFill>
              <a:srgbClr val="1A9E92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8050149" y="1911096"/>
            <a:ext cx="73152" cy="73152"/>
          </a:xfrm>
          <a:prstGeom prst="ellipse">
            <a:avLst/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7578090" y="2276856"/>
            <a:ext cx="10172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90°</a:t>
            </a:r>
            <a:endParaRPr lang="en-US" sz="1200" dirty="0"/>
          </a:p>
        </p:txBody>
      </p:sp>
      <p:sp>
        <p:nvSpPr>
          <p:cNvPr id="33" name="Shape 29"/>
          <p:cNvSpPr/>
          <p:nvPr/>
        </p:nvSpPr>
        <p:spPr>
          <a:xfrm>
            <a:off x="4389120" y="2880360"/>
            <a:ext cx="4343400" cy="685800"/>
          </a:xfrm>
          <a:prstGeom prst="roundRect">
            <a:avLst>
              <a:gd name="adj" fmla="val 16000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4553712" y="2880360"/>
            <a:ext cx="1325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右下角这样设：</a:t>
            </a:r>
            <a:endParaRPr lang="en-US" sz="1200" dirty="0"/>
          </a:p>
        </p:txBody>
      </p:sp>
      <p:sp>
        <p:nvSpPr>
          <p:cNvPr id="35" name="Shape 31"/>
          <p:cNvSpPr/>
          <p:nvPr/>
        </p:nvSpPr>
        <p:spPr>
          <a:xfrm>
            <a:off x="5943600" y="3076956"/>
            <a:ext cx="899668" cy="292608"/>
          </a:xfrm>
          <a:prstGeom prst="roundRect">
            <a:avLst>
              <a:gd name="adj" fmla="val 5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5943600" y="3076956"/>
            <a:ext cx="8996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没有结束符</a:t>
            </a:r>
            <a:endParaRPr lang="en-US" sz="1100" dirty="0"/>
          </a:p>
        </p:txBody>
      </p:sp>
      <p:sp>
        <p:nvSpPr>
          <p:cNvPr id="37" name="Shape 33"/>
          <p:cNvSpPr/>
          <p:nvPr/>
        </p:nvSpPr>
        <p:spPr>
          <a:xfrm>
            <a:off x="6971284" y="3076956"/>
            <a:ext cx="1022604" cy="292608"/>
          </a:xfrm>
          <a:prstGeom prst="roundRect">
            <a:avLst>
              <a:gd name="adj" fmla="val 5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6971284" y="3076956"/>
            <a:ext cx="10226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9600 波特率</a:t>
            </a:r>
            <a:endParaRPr lang="en-US" sz="1100" dirty="0"/>
          </a:p>
        </p:txBody>
      </p:sp>
      <p:sp>
        <p:nvSpPr>
          <p:cNvPr id="39" name="Shape 35"/>
          <p:cNvSpPr/>
          <p:nvPr/>
        </p:nvSpPr>
        <p:spPr>
          <a:xfrm>
            <a:off x="4389120" y="3840480"/>
            <a:ext cx="4343400" cy="731520"/>
          </a:xfrm>
          <a:prstGeom prst="roundRect">
            <a:avLst>
              <a:gd name="adj" fmla="val 15000"/>
            </a:avLst>
          </a:prstGeom>
          <a:solidFill>
            <a:srgbClr val="E3FAF7"/>
          </a:solidFill>
          <a:ln w="12700">
            <a:solidFill>
              <a:srgbClr val="E3FAF7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4535424" y="4041648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4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4428" y="4120652"/>
            <a:ext cx="171176" cy="171176"/>
          </a:xfrm>
          <a:prstGeom prst="rect">
            <a:avLst/>
          </a:prstGeom>
        </p:spPr>
      </p:pic>
      <p:sp>
        <p:nvSpPr>
          <p:cNvPr id="42" name="Text 37"/>
          <p:cNvSpPr txBox="1"/>
          <p:nvPr/>
        </p:nvSpPr>
        <p:spPr>
          <a:xfrm>
            <a:off x="4992624" y="3877056"/>
            <a:ext cx="35935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原指南结论：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在串口监视器分别输入以上舵机角度值之后，会发现舵机会转动。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实验二　串口调节舵机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常见坑与动手改一改：把角度限制在 0～180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行结束符、供电是两个常见坑；再用 constrain() 把输入的角度“关进笼子”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4023360" cy="1531620"/>
          </a:xfrm>
          <a:prstGeom prst="roundRect">
            <a:avLst>
              <a:gd name="adj" fmla="val 7164"/>
            </a:avLst>
          </a:prstGeom>
          <a:solidFill>
            <a:srgbClr val="FFFFFF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76072" y="1399032"/>
            <a:ext cx="310896" cy="310896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0687" y="1473647"/>
            <a:ext cx="161666" cy="16166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96696" y="1399032"/>
            <a:ext cx="3273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空着点“发送”，舵机跳回 0°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576072" y="1819656"/>
            <a:ext cx="3694176" cy="818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行结束符选了“换行”时，空着发送也会送出一个换行符：temp 不为空，toInt() 得到 0。选“没有结束符”就不会这样。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411480" y="3040380"/>
            <a:ext cx="4023360" cy="1531620"/>
          </a:xfrm>
          <a:prstGeom prst="roundRect">
            <a:avLst>
              <a:gd name="adj" fmla="val 7164"/>
            </a:avLst>
          </a:prstGeom>
          <a:solidFill>
            <a:srgbClr val="FFFFFF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576072" y="3204972"/>
            <a:ext cx="310896" cy="310896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687" y="3279587"/>
            <a:ext cx="161666" cy="161666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996696" y="3204972"/>
            <a:ext cx="3273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舵机抖动、板子反复重启</a:t>
            </a:r>
            <a:endParaRPr lang="en-US" sz="1350" dirty="0"/>
          </a:p>
        </p:txBody>
      </p:sp>
      <p:sp>
        <p:nvSpPr>
          <p:cNvPr id="15" name="Text 10"/>
          <p:cNvSpPr txBox="1"/>
          <p:nvPr/>
        </p:nvSpPr>
        <p:spPr>
          <a:xfrm>
            <a:off x="576072" y="3625596"/>
            <a:ext cx="3694176" cy="818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舵机转动的瞬间电流很大，只靠 USB 供电会“掉电”。按原指南插上电池一起供电。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4709160" y="1234440"/>
            <a:ext cx="4023360" cy="3337560"/>
          </a:xfrm>
          <a:prstGeom prst="roundRect">
            <a:avLst>
              <a:gd name="adj" fmla="val 3288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4892040" y="1389888"/>
            <a:ext cx="365760" cy="365760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9822" y="1477670"/>
            <a:ext cx="190195" cy="190195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385816" y="138988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挑战：只接受 0～180</a:t>
            </a:r>
            <a:endParaRPr lang="en-US" sz="1450" dirty="0"/>
          </a:p>
        </p:txBody>
      </p:sp>
      <p:sp>
        <p:nvSpPr>
          <p:cNvPr id="20" name="Text 14"/>
          <p:cNvSpPr txBox="1"/>
          <p:nvPr/>
        </p:nvSpPr>
        <p:spPr>
          <a:xfrm>
            <a:off x="4892040" y="1865376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输入 200 时，串口照样打印 Servo degree: 200，可舵机最多只转到 180°。在第 23 行后面加一行：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4892040" y="2560320"/>
            <a:ext cx="3657600" cy="360172"/>
          </a:xfrm>
          <a:prstGeom prst="roundRect">
            <a:avLst>
              <a:gd name="adj" fmla="val 2031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5020056" y="2642616"/>
            <a:ext cx="3401568" cy="195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angle 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angle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180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00" dirty="0"/>
          </a:p>
        </p:txBody>
      </p:sp>
      <p:sp>
        <p:nvSpPr>
          <p:cNvPr id="23" name="Text 17"/>
          <p:cNvSpPr txBox="1"/>
          <p:nvPr/>
        </p:nvSpPr>
        <p:spPr>
          <a:xfrm>
            <a:off x="4892040" y="3066796"/>
            <a:ext cx="3657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constrain(值, 最小, 最大)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：比最小还小就取最小，比最大还大就取最大。</a:t>
            </a:r>
            <a:endParaRPr lang="en-US" sz="1200" dirty="0"/>
          </a:p>
        </p:txBody>
      </p:sp>
      <p:sp>
        <p:nvSpPr>
          <p:cNvPr id="24" name="Text 18"/>
          <p:cNvSpPr txBox="1"/>
          <p:nvPr/>
        </p:nvSpPr>
        <p:spPr>
          <a:xfrm>
            <a:off x="4892040" y="3688588"/>
            <a:ext cx="3657600" cy="773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再试试：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输入 45、135，对照“脉冲宽度”那一页的表，看角度对不对。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实验三　红外避障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411480" y="38404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 03</a:t>
            </a:r>
            <a:endParaRPr lang="en-US" sz="1100" dirty="0"/>
          </a:p>
        </p:txBody>
      </p:sp>
      <p:sp>
        <p:nvSpPr>
          <p:cNvPr id="4" name="Text 1"/>
          <p:cNvSpPr/>
          <p:nvPr>
            <p:ph idx="104" type="title" hasCustomPrompt="1"/>
          </p:nvPr>
        </p:nvSpPr>
        <p:spPr>
          <a:xfrm>
            <a:off x="411480" y="713232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红外避障模块实验</a:t>
            </a:r>
            <a:endParaRPr lang="en-US" sz="2800" dirty="0"/>
          </a:p>
        </p:txBody>
      </p:sp>
      <p:sp>
        <p:nvSpPr>
          <p:cNvPr id="5" name="Text 1"/>
          <p:cNvSpPr/>
          <p:nvPr>
            <p:ph idx="105" type="body" hasCustomPrompt="1"/>
          </p:nvPr>
        </p:nvSpPr>
        <p:spPr>
          <a:xfrm>
            <a:off x="411480" y="1874520"/>
            <a:ext cx="32461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红外避障模块像一只会“看”障碍物的眼睛：前面有东西，它就输出低电平。程序和 1-3 的小磁簧开关几乎一样——输入换了，逻辑不变。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160520" y="347472"/>
            <a:ext cx="2286000" cy="2112264"/>
          </a:xfrm>
          <a:prstGeom prst="rect">
            <a:avLst/>
          </a:prstGeom>
          <a:solidFill>
            <a:srgbClr val="40E0D0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361688" y="512064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4361688" y="1389888"/>
            <a:ext cx="1883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认识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361688" y="1801368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发射管 + 接收管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46520" y="347472"/>
            <a:ext cx="2286000" cy="2112264"/>
          </a:xfrm>
          <a:prstGeom prst="rect">
            <a:avLst/>
          </a:prstGeom>
          <a:solidFill>
            <a:srgbClr val="EBEBEB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647688" y="512064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647688" y="1389888"/>
            <a:ext cx="1883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接线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647688" y="1801368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OUT → 12，LED → 11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蜂鸣器 → 13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160520" y="2459736"/>
            <a:ext cx="2286000" cy="2112264"/>
          </a:xfrm>
          <a:prstGeom prst="rect">
            <a:avLst/>
          </a:prstGeom>
          <a:solidFill>
            <a:srgbClr val="2D2D2D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61688" y="2624328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40E0D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4361688" y="3502152"/>
            <a:ext cx="1883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361688" y="3913632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CFCFC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digitalRead()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CFCFC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if / else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46520" y="2459736"/>
            <a:ext cx="2286000" cy="211226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647688" y="2624328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6647688" y="3502152"/>
            <a:ext cx="1883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结果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647688" y="3913632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挡一下：灯亮、响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实验三　红外避障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认识红外避障模块：看“反光”找障碍物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透明的发射管发出红外线，碰到障碍物反射回来被黑色的接收管收到：绿灯亮，OUT 输出低电平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3931920" cy="2331720"/>
          </a:xfrm>
          <a:prstGeom prst="roundRect">
            <a:avLst>
              <a:gd name="adj" fmla="val 4706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pic>
        <p:nvPicPr>
          <p:cNvPr id="7" name="Image 0" descr="红外避障模块实物图（原指南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1890" y="1344168"/>
            <a:ext cx="3011100" cy="18379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21208" y="3218688"/>
            <a:ext cx="37124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红外避障模块实物图（原指南）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411480" y="3840480"/>
            <a:ext cx="1127760" cy="731520"/>
          </a:xfrm>
          <a:prstGeom prst="roundRect">
            <a:avLst>
              <a:gd name="adj" fmla="val 15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39496" y="3931920"/>
            <a:ext cx="908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2–30 cm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539496" y="4261104"/>
            <a:ext cx="871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有效检测距离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1813560" y="3840480"/>
            <a:ext cx="1127760" cy="731520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1941576" y="3931920"/>
            <a:ext cx="908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3.3–5 V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1941576" y="4261104"/>
            <a:ext cx="871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工作电压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3215640" y="3840480"/>
            <a:ext cx="1127760" cy="731520"/>
          </a:xfrm>
          <a:prstGeom prst="roundRect">
            <a:avLst>
              <a:gd name="adj" fmla="val 15000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3343656" y="3931920"/>
            <a:ext cx="908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蓝色旋钮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3343656" y="4261104"/>
            <a:ext cx="871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调检测距离</a:t>
            </a:r>
            <a:endParaRPr lang="en-US" sz="1100" dirty="0"/>
          </a:p>
        </p:txBody>
      </p:sp>
      <p:sp>
        <p:nvSpPr>
          <p:cNvPr id="18" name="Text 14"/>
          <p:cNvSpPr txBox="1"/>
          <p:nvPr/>
        </p:nvSpPr>
        <p:spPr>
          <a:xfrm>
            <a:off x="4663440" y="1234440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像拿手电筒照墙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4663440" y="1581912"/>
            <a:ext cx="3977640" cy="454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前面有墙，就能看到反光；前面空空的，光就有去无回。模块用看不见的红外线做同样的事。</a:t>
            </a:r>
            <a:endParaRPr lang="en-US" sz="1300" dirty="0"/>
          </a:p>
        </p:txBody>
      </p:sp>
      <p:sp>
        <p:nvSpPr>
          <p:cNvPr id="20" name="Shape 16"/>
          <p:cNvSpPr/>
          <p:nvPr/>
        </p:nvSpPr>
        <p:spPr>
          <a:xfrm>
            <a:off x="4663440" y="2218817"/>
            <a:ext cx="274320" cy="274320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4663440" y="2218817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18"/>
          <p:cNvSpPr txBox="1"/>
          <p:nvPr/>
        </p:nvSpPr>
        <p:spPr>
          <a:xfrm>
            <a:off x="5065776" y="2242471"/>
            <a:ext cx="3575304" cy="245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透明的发射管发出红外线</a:t>
            </a:r>
            <a:endParaRPr lang="en-US" sz="1300" dirty="0"/>
          </a:p>
        </p:txBody>
      </p:sp>
      <p:sp>
        <p:nvSpPr>
          <p:cNvPr id="23" name="Shape 19"/>
          <p:cNvSpPr/>
          <p:nvPr/>
        </p:nvSpPr>
        <p:spPr>
          <a:xfrm>
            <a:off x="4663440" y="2621153"/>
            <a:ext cx="274320" cy="274320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4663440" y="262115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Text 21"/>
          <p:cNvSpPr txBox="1"/>
          <p:nvPr/>
        </p:nvSpPr>
        <p:spPr>
          <a:xfrm>
            <a:off x="5065776" y="2644807"/>
            <a:ext cx="3575304" cy="245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遇到障碍物，红外线反射回来被接收管收到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663440" y="3023489"/>
            <a:ext cx="274320" cy="274320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4663440" y="302348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4"/>
          <p:cNvSpPr txBox="1"/>
          <p:nvPr/>
        </p:nvSpPr>
        <p:spPr>
          <a:xfrm>
            <a:off x="5065776" y="3047143"/>
            <a:ext cx="3575304" cy="245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比较器判断后：绿灯亮，OUT 输出低电平 0</a:t>
            </a:r>
            <a:endParaRPr lang="en-US" sz="1300" dirty="0"/>
          </a:p>
        </p:txBody>
      </p:sp>
      <p:sp>
        <p:nvSpPr>
          <p:cNvPr id="29" name="Shape 25"/>
          <p:cNvSpPr/>
          <p:nvPr/>
        </p:nvSpPr>
        <p:spPr>
          <a:xfrm>
            <a:off x="4663440" y="3840480"/>
            <a:ext cx="4069080" cy="731520"/>
          </a:xfrm>
          <a:prstGeom prst="roundRect">
            <a:avLst>
              <a:gd name="adj" fmla="val 15000"/>
            </a:avLst>
          </a:prstGeom>
          <a:solidFill>
            <a:srgbClr val="E3FAF7"/>
          </a:solidFill>
          <a:ln w="12700">
            <a:solidFill>
              <a:srgbClr val="E3FAF7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4809744" y="4041648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3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8748" y="4120652"/>
            <a:ext cx="171176" cy="171176"/>
          </a:xfrm>
          <a:prstGeom prst="rect">
            <a:avLst/>
          </a:prstGeom>
        </p:spPr>
      </p:pic>
      <p:sp>
        <p:nvSpPr>
          <p:cNvPr id="32" name="Text 27"/>
          <p:cNvSpPr txBox="1"/>
          <p:nvPr/>
        </p:nvSpPr>
        <p:spPr>
          <a:xfrm>
            <a:off x="5266944" y="3877056"/>
            <a:ext cx="33192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用在哪：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机器人避障、避障小车、流水线计数、黑白线循迹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实验三　红外避障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实验目的、组件与原理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前方有障碍物 → LED 亮、蜂鸣器响；没有障碍物 → 全部熄灭。和 1-3 的小磁簧开关是同一个套路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3931920" cy="1280160"/>
          </a:xfrm>
          <a:prstGeom prst="roundRect">
            <a:avLst>
              <a:gd name="adj" fmla="val 8571"/>
            </a:avLst>
          </a:prstGeom>
          <a:solidFill>
            <a:srgbClr val="E3FAF7"/>
          </a:solidFill>
          <a:ln w="12700">
            <a:solidFill>
              <a:srgbClr val="E3FAF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57784" y="1380744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6788" y="1459748"/>
            <a:ext cx="171176" cy="17117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014984" y="1371600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实验目的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1014984" y="1682496"/>
            <a:ext cx="31821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① 了解红外避障模块的工作原理</a:t>
            </a:r>
            <a:endParaRPr lang="en-US" sz="12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② 用 UNO 获取红外避障模块的值，控制蜂鸣器和 LED 灯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411480" y="2788920"/>
            <a:ext cx="3931920" cy="1783080"/>
          </a:xfrm>
          <a:prstGeom prst="roundRect">
            <a:avLst>
              <a:gd name="adj" fmla="val 6154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94360" y="291693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组件清单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594360" y="3246120"/>
            <a:ext cx="246888" cy="246888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613" y="3305373"/>
            <a:ext cx="128382" cy="12838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914400" y="3246120"/>
            <a:ext cx="1371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UNO R3 主板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594360" y="3547872"/>
            <a:ext cx="246888" cy="246888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613" y="3607125"/>
            <a:ext cx="128382" cy="12838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914400" y="3547872"/>
            <a:ext cx="1371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面包板</a:t>
            </a:r>
            <a:endParaRPr lang="en-US" sz="1200" dirty="0"/>
          </a:p>
        </p:txBody>
      </p:sp>
      <p:sp>
        <p:nvSpPr>
          <p:cNvPr id="19" name="Shape 13"/>
          <p:cNvSpPr/>
          <p:nvPr/>
        </p:nvSpPr>
        <p:spPr>
          <a:xfrm>
            <a:off x="594360" y="3849624"/>
            <a:ext cx="246888" cy="246888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613" y="3908877"/>
            <a:ext cx="128382" cy="128382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914400" y="3849624"/>
            <a:ext cx="1371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USB 数据线</a:t>
            </a:r>
            <a:endParaRPr lang="en-US" sz="1200" dirty="0"/>
          </a:p>
        </p:txBody>
      </p:sp>
      <p:sp>
        <p:nvSpPr>
          <p:cNvPr id="22" name="Shape 15"/>
          <p:cNvSpPr/>
          <p:nvPr/>
        </p:nvSpPr>
        <p:spPr>
          <a:xfrm>
            <a:off x="594360" y="4151376"/>
            <a:ext cx="246888" cy="246888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613" y="4210629"/>
            <a:ext cx="128382" cy="128382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914400" y="4151376"/>
            <a:ext cx="1371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若干跳线</a:t>
            </a:r>
            <a:endParaRPr lang="en-US" sz="1200" dirty="0"/>
          </a:p>
        </p:txBody>
      </p:sp>
      <p:sp>
        <p:nvSpPr>
          <p:cNvPr id="25" name="Shape 17"/>
          <p:cNvSpPr/>
          <p:nvPr/>
        </p:nvSpPr>
        <p:spPr>
          <a:xfrm>
            <a:off x="2423160" y="3246120"/>
            <a:ext cx="246888" cy="246888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82413" y="3305373"/>
            <a:ext cx="128382" cy="128382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2743200" y="3246120"/>
            <a:ext cx="1371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红外避障模块 ×1</a:t>
            </a:r>
            <a:endParaRPr lang="en-US" sz="1200" dirty="0"/>
          </a:p>
        </p:txBody>
      </p:sp>
      <p:sp>
        <p:nvSpPr>
          <p:cNvPr id="28" name="Shape 19"/>
          <p:cNvSpPr/>
          <p:nvPr/>
        </p:nvSpPr>
        <p:spPr>
          <a:xfrm>
            <a:off x="2423160" y="3547872"/>
            <a:ext cx="246888" cy="246888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482413" y="3607125"/>
            <a:ext cx="128382" cy="128382"/>
          </a:xfrm>
          <a:prstGeom prst="rect">
            <a:avLst/>
          </a:prstGeom>
        </p:spPr>
      </p:pic>
      <p:sp>
        <p:nvSpPr>
          <p:cNvPr id="30" name="Text 20"/>
          <p:cNvSpPr txBox="1"/>
          <p:nvPr/>
        </p:nvSpPr>
        <p:spPr>
          <a:xfrm>
            <a:off x="2743200" y="3547872"/>
            <a:ext cx="1371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LED 模块 ×1</a:t>
            </a:r>
            <a:endParaRPr lang="en-US" sz="1200" dirty="0"/>
          </a:p>
        </p:txBody>
      </p:sp>
      <p:sp>
        <p:nvSpPr>
          <p:cNvPr id="31" name="Shape 21"/>
          <p:cNvSpPr/>
          <p:nvPr/>
        </p:nvSpPr>
        <p:spPr>
          <a:xfrm>
            <a:off x="2423160" y="3849624"/>
            <a:ext cx="246888" cy="246888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3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482413" y="3908877"/>
            <a:ext cx="128382" cy="128382"/>
          </a:xfrm>
          <a:prstGeom prst="rect">
            <a:avLst/>
          </a:prstGeom>
        </p:spPr>
      </p:pic>
      <p:sp>
        <p:nvSpPr>
          <p:cNvPr id="33" name="Text 22"/>
          <p:cNvSpPr txBox="1"/>
          <p:nvPr/>
        </p:nvSpPr>
        <p:spPr>
          <a:xfrm>
            <a:off x="2743200" y="3849624"/>
            <a:ext cx="1371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有源蜂鸣器 ×1</a:t>
            </a:r>
            <a:endParaRPr lang="en-US" sz="1200" dirty="0"/>
          </a:p>
        </p:txBody>
      </p:sp>
      <p:sp>
        <p:nvSpPr>
          <p:cNvPr id="34" name="Text 23"/>
          <p:cNvSpPr txBox="1"/>
          <p:nvPr/>
        </p:nvSpPr>
        <p:spPr>
          <a:xfrm>
            <a:off x="4663440" y="12344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实验原理</a:t>
            </a:r>
            <a:endParaRPr lang="en-US" sz="1300" dirty="0"/>
          </a:p>
        </p:txBody>
      </p:sp>
      <p:sp>
        <p:nvSpPr>
          <p:cNvPr id="35" name="Shape 24"/>
          <p:cNvSpPr/>
          <p:nvPr/>
        </p:nvSpPr>
        <p:spPr>
          <a:xfrm>
            <a:off x="4663440" y="1600200"/>
            <a:ext cx="1161288" cy="658368"/>
          </a:xfrm>
          <a:prstGeom prst="roundRect">
            <a:avLst>
              <a:gd name="adj" fmla="val 11111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36" name="Text 25"/>
          <p:cNvSpPr txBox="1"/>
          <p:nvPr/>
        </p:nvSpPr>
        <p:spPr>
          <a:xfrm>
            <a:off x="4718304" y="1600200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前方有障碍物</a:t>
            </a:r>
            <a:endParaRPr lang="en-US" sz="1250" dirty="0"/>
          </a:p>
        </p:txBody>
      </p:sp>
      <p:sp>
        <p:nvSpPr>
          <p:cNvPr id="37" name="Shape 26"/>
          <p:cNvSpPr/>
          <p:nvPr/>
        </p:nvSpPr>
        <p:spPr>
          <a:xfrm>
            <a:off x="5861304" y="1929384"/>
            <a:ext cx="219456" cy="91"/>
          </a:xfrm>
          <a:prstGeom prst="line">
            <a:avLst/>
          </a:prstGeom>
          <a:noFill/>
          <a:ln w="15875">
            <a:solidFill>
              <a:srgbClr val="6B6B6B"/>
            </a:solidFill>
            <a:prstDash val="solid"/>
            <a:tailEnd type="triangle"/>
          </a:ln>
        </p:spPr>
      </p:sp>
      <p:sp>
        <p:nvSpPr>
          <p:cNvPr id="38" name="Shape 27"/>
          <p:cNvSpPr/>
          <p:nvPr/>
        </p:nvSpPr>
        <p:spPr>
          <a:xfrm>
            <a:off x="6117336" y="1600200"/>
            <a:ext cx="1161288" cy="658368"/>
          </a:xfrm>
          <a:prstGeom prst="roundRect">
            <a:avLst>
              <a:gd name="adj" fmla="val 11111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39" name="Text 28"/>
          <p:cNvSpPr txBox="1"/>
          <p:nvPr/>
        </p:nvSpPr>
        <p:spPr>
          <a:xfrm>
            <a:off x="6172200" y="1600200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OUT 输出 0</a:t>
            </a:r>
            <a:endParaRPr lang="en-US" sz="1250" dirty="0"/>
          </a:p>
        </p:txBody>
      </p:sp>
      <p:sp>
        <p:nvSpPr>
          <p:cNvPr id="40" name="Shape 29"/>
          <p:cNvSpPr/>
          <p:nvPr/>
        </p:nvSpPr>
        <p:spPr>
          <a:xfrm>
            <a:off x="7315200" y="1929384"/>
            <a:ext cx="219456" cy="91"/>
          </a:xfrm>
          <a:prstGeom prst="line">
            <a:avLst/>
          </a:prstGeom>
          <a:noFill/>
          <a:ln w="15875">
            <a:solidFill>
              <a:srgbClr val="6B6B6B"/>
            </a:solidFill>
            <a:prstDash val="solid"/>
            <a:tailEnd type="triangle"/>
          </a:ln>
        </p:spPr>
      </p:sp>
      <p:sp>
        <p:nvSpPr>
          <p:cNvPr id="41" name="Shape 30"/>
          <p:cNvSpPr/>
          <p:nvPr/>
        </p:nvSpPr>
        <p:spPr>
          <a:xfrm>
            <a:off x="7571232" y="1600200"/>
            <a:ext cx="1161288" cy="658368"/>
          </a:xfrm>
          <a:prstGeom prst="roundRect">
            <a:avLst>
              <a:gd name="adj" fmla="val 11111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42" name="Text 31"/>
          <p:cNvSpPr txBox="1"/>
          <p:nvPr/>
        </p:nvSpPr>
        <p:spPr>
          <a:xfrm>
            <a:off x="7626096" y="1600200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LED 亮</a:t>
            </a:r>
            <a:endParaRPr lang="en-US" sz="12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蜂鸣器响</a:t>
            </a:r>
            <a:endParaRPr lang="en-US" sz="1250" dirty="0"/>
          </a:p>
        </p:txBody>
      </p:sp>
      <p:sp>
        <p:nvSpPr>
          <p:cNvPr id="43" name="Text 32"/>
          <p:cNvSpPr txBox="1"/>
          <p:nvPr/>
        </p:nvSpPr>
        <p:spPr>
          <a:xfrm>
            <a:off x="4663440" y="2331720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没有障碍物：OUT 输出 1 → LED 灭、蜂鸣器不响</a:t>
            </a:r>
            <a:endParaRPr lang="en-US" sz="1200" dirty="0"/>
          </a:p>
        </p:txBody>
      </p:sp>
      <p:sp>
        <p:nvSpPr>
          <p:cNvPr id="44" name="Text 33"/>
          <p:cNvSpPr txBox="1"/>
          <p:nvPr/>
        </p:nvSpPr>
        <p:spPr>
          <a:xfrm>
            <a:off x="4663440" y="2807208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和 1-3 的小磁簧开关比一比</a:t>
            </a:r>
            <a:endParaRPr lang="en-US" sz="13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3154680"/>
          <a:ext cx="4069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440180"/>
                <a:gridCol w="1440180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小磁簧开关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红外避障模块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触发条件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磁铁靠近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前方有障碍物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触发时读到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0（低电平）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0（低电平）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引脚与程序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12 / 11 / 13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完全相同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实验三　红外避障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接线：三个模块，三张表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红外模块 OUT 接 12，LED 模块 + 接 11，有源蜂鸣器 + 接 13；所有 GND 都接 UNO 的 GND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4251960" cy="3337560"/>
          </a:xfrm>
          <a:prstGeom prst="roundRect">
            <a:avLst>
              <a:gd name="adj" fmla="val 3288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pic>
        <p:nvPicPr>
          <p:cNvPr id="7" name="Image 0" descr="原指南接线图：LED 用的是 RGB 贴片模块（11 → R 脚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" y="1356016"/>
            <a:ext cx="4032504" cy="28200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21208" y="4224528"/>
            <a:ext cx="4032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原指南接线图：LED 用的是 RGB 贴片模块（11 → R 脚）</a:t>
            </a:r>
            <a:endParaRPr lang="en-US" sz="10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83480" y="1234440"/>
          <a:ext cx="374904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Arduino UNO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红外避障模块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12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OUT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5V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VCC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GND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GND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83480" y="2606040"/>
          <a:ext cx="374904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Arduino UNO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LED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11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GND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83480" y="3703320"/>
          <a:ext cx="374904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Arduino UNO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有源蜂鸣器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13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GND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实验三　红外避障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代码逐行看懂（1/2）：准备工作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先给三个引脚起名字、准备装读数的盒子，再在 setup() 里分好输入和输出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4023360" cy="2514600"/>
          </a:xfrm>
          <a:prstGeom prst="roundRect">
            <a:avLst>
              <a:gd name="adj" fmla="val 3636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39496" y="1298448"/>
            <a:ext cx="2414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ir_obstacle.ino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2020824" y="129844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1–11 行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1545336"/>
            <a:ext cx="3931920" cy="189992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02920" y="1545336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842254" y="1545336"/>
            <a:ext cx="346457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Led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57200" y="1735328"/>
            <a:ext cx="3931920" cy="189992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2920" y="1735328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842254" y="1735328"/>
            <a:ext cx="346457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Buzzer_pin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57200" y="1925320"/>
            <a:ext cx="3931920" cy="189992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2920" y="1925320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842254" y="1925320"/>
            <a:ext cx="346457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Sensor_PIN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02920" y="2115312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842254" y="2115312"/>
            <a:ext cx="346457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502920" y="2305304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842254" y="2305304"/>
            <a:ext cx="346457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setup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502920" y="2495296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842254" y="2495296"/>
            <a:ext cx="346457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02920" y="2685288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842254" y="2685288"/>
            <a:ext cx="346457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pinMode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Led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502920" y="2875280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842254" y="2875280"/>
            <a:ext cx="346457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pinMode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Buzzer_pin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457200" y="3065272"/>
            <a:ext cx="3931920" cy="189992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02920" y="3065272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842254" y="3065272"/>
            <a:ext cx="346457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pinMode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Sensor_PIN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02920" y="3255264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842254" y="3255264"/>
            <a:ext cx="346457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begin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9600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502920" y="3445256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842254" y="3445256"/>
            <a:ext cx="346457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35" name="Text 32"/>
          <p:cNvSpPr txBox="1"/>
          <p:nvPr/>
        </p:nvSpPr>
        <p:spPr>
          <a:xfrm>
            <a:off x="4754880" y="123444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逐行看懂</a:t>
            </a:r>
            <a:endParaRPr lang="en-US" sz="1300" dirty="0"/>
          </a:p>
        </p:txBody>
      </p:sp>
      <p:sp>
        <p:nvSpPr>
          <p:cNvPr id="36" name="Shape 33"/>
          <p:cNvSpPr/>
          <p:nvPr/>
        </p:nvSpPr>
        <p:spPr>
          <a:xfrm>
            <a:off x="4754880" y="1600200"/>
            <a:ext cx="723392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754880" y="1600200"/>
            <a:ext cx="723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1–3 行</a:t>
            </a:r>
            <a:endParaRPr lang="en-US" sz="950" dirty="0"/>
          </a:p>
        </p:txBody>
      </p:sp>
      <p:sp>
        <p:nvSpPr>
          <p:cNvPr id="38" name="Text 35"/>
          <p:cNvSpPr txBox="1"/>
          <p:nvPr/>
        </p:nvSpPr>
        <p:spPr>
          <a:xfrm>
            <a:off x="5569712" y="1591056"/>
            <a:ext cx="3162808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给三个引脚起名字：</a:t>
            </a:r>
            <a:endParaRPr lang="en-US" sz="12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LED 11、蜂鸣器 13、传感器 12</a:t>
            </a:r>
            <a:endParaRPr lang="en-US" sz="1200" dirty="0"/>
          </a:p>
        </p:txBody>
      </p:sp>
      <p:sp>
        <p:nvSpPr>
          <p:cNvPr id="39" name="Shape 36"/>
          <p:cNvSpPr/>
          <p:nvPr/>
        </p:nvSpPr>
        <p:spPr>
          <a:xfrm>
            <a:off x="4754880" y="2100580"/>
            <a:ext cx="578612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754880" y="2100580"/>
            <a:ext cx="5786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4 行</a:t>
            </a:r>
            <a:endParaRPr lang="en-US" sz="950" dirty="0"/>
          </a:p>
        </p:txBody>
      </p:sp>
      <p:sp>
        <p:nvSpPr>
          <p:cNvPr id="41" name="Text 38"/>
          <p:cNvSpPr txBox="1"/>
          <p:nvPr/>
        </p:nvSpPr>
        <p:spPr>
          <a:xfrm>
            <a:off x="5424932" y="2091436"/>
            <a:ext cx="33075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val：装读数的盒子，先放 0</a:t>
            </a:r>
            <a:endParaRPr lang="en-US" sz="1200" dirty="0"/>
          </a:p>
        </p:txBody>
      </p:sp>
      <p:sp>
        <p:nvSpPr>
          <p:cNvPr id="42" name="Shape 39"/>
          <p:cNvSpPr/>
          <p:nvPr/>
        </p:nvSpPr>
        <p:spPr>
          <a:xfrm>
            <a:off x="4754880" y="2429764"/>
            <a:ext cx="578612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754880" y="2429764"/>
            <a:ext cx="5786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5 行</a:t>
            </a:r>
            <a:endParaRPr lang="en-US" sz="950" dirty="0"/>
          </a:p>
        </p:txBody>
      </p:sp>
      <p:sp>
        <p:nvSpPr>
          <p:cNvPr id="44" name="Text 41"/>
          <p:cNvSpPr txBox="1"/>
          <p:nvPr/>
        </p:nvSpPr>
        <p:spPr>
          <a:xfrm>
            <a:off x="5424932" y="2420620"/>
            <a:ext cx="33075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setup()：通电后只运行一次</a:t>
            </a:r>
            <a:endParaRPr lang="en-US" sz="1200" dirty="0"/>
          </a:p>
        </p:txBody>
      </p:sp>
      <p:sp>
        <p:nvSpPr>
          <p:cNvPr id="45" name="Shape 42"/>
          <p:cNvSpPr/>
          <p:nvPr/>
        </p:nvSpPr>
        <p:spPr>
          <a:xfrm>
            <a:off x="4754880" y="2758948"/>
            <a:ext cx="723392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4754880" y="2758948"/>
            <a:ext cx="723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7–8 行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5569712" y="2749804"/>
            <a:ext cx="3162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LED、蜂鸣器设为输出</a:t>
            </a:r>
            <a:endParaRPr lang="en-US" sz="1200" dirty="0"/>
          </a:p>
        </p:txBody>
      </p:sp>
      <p:sp>
        <p:nvSpPr>
          <p:cNvPr id="48" name="Shape 45"/>
          <p:cNvSpPr/>
          <p:nvPr/>
        </p:nvSpPr>
        <p:spPr>
          <a:xfrm>
            <a:off x="4754880" y="3088132"/>
            <a:ext cx="800608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754880" y="3088132"/>
            <a:ext cx="800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9–10 行</a:t>
            </a:r>
            <a:endParaRPr lang="en-US" sz="950" dirty="0"/>
          </a:p>
        </p:txBody>
      </p:sp>
      <p:sp>
        <p:nvSpPr>
          <p:cNvPr id="50" name="Text 47"/>
          <p:cNvSpPr txBox="1"/>
          <p:nvPr/>
        </p:nvSpPr>
        <p:spPr>
          <a:xfrm>
            <a:off x="5646928" y="3078988"/>
            <a:ext cx="3085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红外模块设为输入；打开串口 9600</a:t>
            </a:r>
            <a:endParaRPr lang="en-US" sz="1200" dirty="0"/>
          </a:p>
        </p:txBody>
      </p:sp>
      <p:sp>
        <p:nvSpPr>
          <p:cNvPr id="51" name="Shape 48"/>
          <p:cNvSpPr/>
          <p:nvPr/>
        </p:nvSpPr>
        <p:spPr>
          <a:xfrm>
            <a:off x="411480" y="4023360"/>
            <a:ext cx="8321040" cy="548640"/>
          </a:xfrm>
          <a:prstGeom prst="roundRect">
            <a:avLst>
              <a:gd name="adj" fmla="val 20000"/>
            </a:avLst>
          </a:prstGeom>
          <a:solidFill>
            <a:srgbClr val="E3FAF7"/>
          </a:solidFill>
          <a:ln w="12700">
            <a:solidFill>
              <a:srgbClr val="E3FAF7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557784" y="4133088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5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6788" y="4212092"/>
            <a:ext cx="171176" cy="171176"/>
          </a:xfrm>
          <a:prstGeom prst="rect">
            <a:avLst/>
          </a:prstGeom>
        </p:spPr>
      </p:pic>
      <p:sp>
        <p:nvSpPr>
          <p:cNvPr id="54" name="Text 50"/>
          <p:cNvSpPr txBox="1"/>
          <p:nvPr/>
        </p:nvSpPr>
        <p:spPr>
          <a:xfrm>
            <a:off x="1014984" y="4059936"/>
            <a:ext cx="75712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原指南此处程序空白：这里用同一套件《Arduino 编程入门学习教程》第 2.25 讲的程序，引脚与本指南一致（OUT 12、LED 11、蜂鸣器 13）。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实验三　红外避障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代码逐行看懂（2/2）：读、打印、判断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和 1-3 小磁簧开关的程序一模一样：读到 0（有障碍物）就亮灯、响蜂鸣器，否则全部关掉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4206240" cy="3337560"/>
          </a:xfrm>
          <a:prstGeom prst="roundRect">
            <a:avLst>
              <a:gd name="adj" fmla="val 274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39496" y="1298448"/>
            <a:ext cx="25237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ir_obstacle.ino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2093976" y="1298448"/>
            <a:ext cx="2395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12–26 行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1545336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842254" y="1545336"/>
            <a:ext cx="364745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loop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502920" y="1735328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842254" y="1735328"/>
            <a:ext cx="364745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1925320"/>
            <a:ext cx="4114800" cy="189992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02920" y="1925320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842254" y="1925320"/>
            <a:ext cx="364745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val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digitalRead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Sensor_PIN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57200" y="2115312"/>
            <a:ext cx="4114800" cy="189992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02920" y="2115312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842254" y="2115312"/>
            <a:ext cx="364745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println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305304"/>
            <a:ext cx="4114800" cy="189992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02920" y="2305304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842254" y="2305304"/>
            <a:ext cx="364745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==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502920" y="2495296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842254" y="2495296"/>
            <a:ext cx="364745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02920" y="2685288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842254" y="2685288"/>
            <a:ext cx="364745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digitalWrite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Led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HIGH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502920" y="2875280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842254" y="2875280"/>
            <a:ext cx="364745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digitalWrite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Buzzer_pin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HIGH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502920" y="3065272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842254" y="3065272"/>
            <a:ext cx="364745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255264"/>
            <a:ext cx="4114800" cy="189992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02920" y="3255264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842254" y="3255264"/>
            <a:ext cx="364745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502920" y="3445256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842254" y="3445256"/>
            <a:ext cx="364745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00" dirty="0"/>
          </a:p>
        </p:txBody>
      </p:sp>
      <p:sp>
        <p:nvSpPr>
          <p:cNvPr id="35" name="Text 32"/>
          <p:cNvSpPr txBox="1"/>
          <p:nvPr/>
        </p:nvSpPr>
        <p:spPr>
          <a:xfrm>
            <a:off x="502920" y="3635248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842254" y="3635248"/>
            <a:ext cx="364745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digitalWrite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Led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LOW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502920" y="3825240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</a:t>
            </a:r>
            <a:endParaRPr lang="en-US" sz="1000" dirty="0"/>
          </a:p>
        </p:txBody>
      </p:sp>
      <p:sp>
        <p:nvSpPr>
          <p:cNvPr id="38" name="Text 35"/>
          <p:cNvSpPr txBox="1"/>
          <p:nvPr/>
        </p:nvSpPr>
        <p:spPr>
          <a:xfrm>
            <a:off x="842254" y="3825240"/>
            <a:ext cx="364745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digitalWrite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Buzzer_pin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LOW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502920" y="4015232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</a:t>
            </a:r>
            <a:endParaRPr lang="en-US" sz="1000" dirty="0"/>
          </a:p>
        </p:txBody>
      </p:sp>
      <p:sp>
        <p:nvSpPr>
          <p:cNvPr id="40" name="Text 37"/>
          <p:cNvSpPr txBox="1"/>
          <p:nvPr/>
        </p:nvSpPr>
        <p:spPr>
          <a:xfrm>
            <a:off x="842254" y="4015232"/>
            <a:ext cx="364745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502920" y="4205224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842254" y="4205224"/>
            <a:ext cx="364745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4937760" y="1234440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逐行看懂</a:t>
            </a:r>
            <a:endParaRPr lang="en-US" sz="1300" dirty="0"/>
          </a:p>
        </p:txBody>
      </p:sp>
      <p:sp>
        <p:nvSpPr>
          <p:cNvPr id="44" name="Shape 41"/>
          <p:cNvSpPr/>
          <p:nvPr/>
        </p:nvSpPr>
        <p:spPr>
          <a:xfrm>
            <a:off x="4937760" y="1910588"/>
            <a:ext cx="655828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4937760" y="1910588"/>
            <a:ext cx="655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14 行</a:t>
            </a:r>
            <a:endParaRPr lang="en-US" sz="950" dirty="0"/>
          </a:p>
        </p:txBody>
      </p:sp>
      <p:sp>
        <p:nvSpPr>
          <p:cNvPr id="46" name="Text 43"/>
          <p:cNvSpPr txBox="1"/>
          <p:nvPr/>
        </p:nvSpPr>
        <p:spPr>
          <a:xfrm>
            <a:off x="5685028" y="1901444"/>
            <a:ext cx="30474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读 12 号脚：有障碍物是 0，没有是 1</a:t>
            </a:r>
            <a:endParaRPr lang="en-US" sz="1200" dirty="0"/>
          </a:p>
        </p:txBody>
      </p:sp>
      <p:sp>
        <p:nvSpPr>
          <p:cNvPr id="47" name="Shape 44"/>
          <p:cNvSpPr/>
          <p:nvPr/>
        </p:nvSpPr>
        <p:spPr>
          <a:xfrm>
            <a:off x="4937760" y="2221484"/>
            <a:ext cx="655828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4937760" y="2221484"/>
            <a:ext cx="655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15 行</a:t>
            </a:r>
            <a:endParaRPr lang="en-US" sz="950" dirty="0"/>
          </a:p>
        </p:txBody>
      </p:sp>
      <p:sp>
        <p:nvSpPr>
          <p:cNvPr id="49" name="Text 46"/>
          <p:cNvSpPr txBox="1"/>
          <p:nvPr/>
        </p:nvSpPr>
        <p:spPr>
          <a:xfrm>
            <a:off x="5685028" y="2212340"/>
            <a:ext cx="30474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把读数打印到串口，一行一个</a:t>
            </a:r>
            <a:endParaRPr lang="en-US" sz="1200" dirty="0"/>
          </a:p>
        </p:txBody>
      </p:sp>
      <p:sp>
        <p:nvSpPr>
          <p:cNvPr id="50" name="Shape 47"/>
          <p:cNvSpPr/>
          <p:nvPr/>
        </p:nvSpPr>
        <p:spPr>
          <a:xfrm>
            <a:off x="4937760" y="2532380"/>
            <a:ext cx="655828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4937760" y="2532380"/>
            <a:ext cx="655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16 行</a:t>
            </a:r>
            <a:endParaRPr lang="en-US" sz="950" dirty="0"/>
          </a:p>
        </p:txBody>
      </p:sp>
      <p:sp>
        <p:nvSpPr>
          <p:cNvPr id="52" name="Text 49"/>
          <p:cNvSpPr txBox="1"/>
          <p:nvPr/>
        </p:nvSpPr>
        <p:spPr>
          <a:xfrm>
            <a:off x="5685028" y="2523236"/>
            <a:ext cx="30474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岔路口：val 等于 0 吗？（== 是比较）</a:t>
            </a:r>
            <a:endParaRPr lang="en-US" sz="1200" dirty="0"/>
          </a:p>
        </p:txBody>
      </p:sp>
      <p:sp>
        <p:nvSpPr>
          <p:cNvPr id="53" name="Shape 50"/>
          <p:cNvSpPr/>
          <p:nvPr/>
        </p:nvSpPr>
        <p:spPr>
          <a:xfrm>
            <a:off x="4937760" y="2843276"/>
            <a:ext cx="877824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4937760" y="2843276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18–19 行</a:t>
            </a:r>
            <a:endParaRPr lang="en-US" sz="950" dirty="0"/>
          </a:p>
        </p:txBody>
      </p:sp>
      <p:sp>
        <p:nvSpPr>
          <p:cNvPr id="55" name="Text 52"/>
          <p:cNvSpPr txBox="1"/>
          <p:nvPr/>
        </p:nvSpPr>
        <p:spPr>
          <a:xfrm>
            <a:off x="5907024" y="2834132"/>
            <a:ext cx="28254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是（有障碍物）：LED 亮、蜂鸣器响</a:t>
            </a:r>
            <a:endParaRPr lang="en-US" sz="1200" dirty="0"/>
          </a:p>
        </p:txBody>
      </p:sp>
      <p:sp>
        <p:nvSpPr>
          <p:cNvPr id="56" name="Shape 53"/>
          <p:cNvSpPr/>
          <p:nvPr/>
        </p:nvSpPr>
        <p:spPr>
          <a:xfrm>
            <a:off x="4937760" y="3240532"/>
            <a:ext cx="655828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4937760" y="3240532"/>
            <a:ext cx="655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21 行</a:t>
            </a:r>
            <a:endParaRPr lang="en-US" sz="950" dirty="0"/>
          </a:p>
        </p:txBody>
      </p:sp>
      <p:sp>
        <p:nvSpPr>
          <p:cNvPr id="58" name="Text 55"/>
          <p:cNvSpPr txBox="1"/>
          <p:nvPr/>
        </p:nvSpPr>
        <p:spPr>
          <a:xfrm>
            <a:off x="5685028" y="3231388"/>
            <a:ext cx="30474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否则（val 是 1）……</a:t>
            </a:r>
            <a:endParaRPr lang="en-US" sz="1200" dirty="0"/>
          </a:p>
        </p:txBody>
      </p:sp>
      <p:sp>
        <p:nvSpPr>
          <p:cNvPr id="59" name="Shape 56"/>
          <p:cNvSpPr/>
          <p:nvPr/>
        </p:nvSpPr>
        <p:spPr>
          <a:xfrm>
            <a:off x="4937760" y="3620516"/>
            <a:ext cx="877824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4937760" y="3620516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23–24 行</a:t>
            </a:r>
            <a:endParaRPr lang="en-US" sz="950" dirty="0"/>
          </a:p>
        </p:txBody>
      </p:sp>
      <p:sp>
        <p:nvSpPr>
          <p:cNvPr id="61" name="Text 58"/>
          <p:cNvSpPr txBox="1"/>
          <p:nvPr/>
        </p:nvSpPr>
        <p:spPr>
          <a:xfrm>
            <a:off x="5907024" y="3611372"/>
            <a:ext cx="28254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……LED 灭、蜂鸣器停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实验三　红外避障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实验结果：挡一下，灯亮、蜂鸣器响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把手挡在红外模块前：模块绿灯亮、RGB 模块亮红灯、蜂鸣器响；手拿开，全部熄灭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2148840" cy="3337560"/>
          </a:xfrm>
          <a:prstGeom prst="roundRect">
            <a:avLst>
              <a:gd name="adj" fmla="val 5106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pic>
        <p:nvPicPr>
          <p:cNvPr id="7" name="Image 0" descr="原指南实物照片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2891" y="1344168"/>
            <a:ext cx="1866018" cy="284378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21208" y="4224528"/>
            <a:ext cx="19293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原指南实物照片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2834640" y="1234440"/>
            <a:ext cx="3520440" cy="3337560"/>
          </a:xfrm>
          <a:prstGeom prst="roundRect">
            <a:avLst>
              <a:gd name="adj" fmla="val 3288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pic>
        <p:nvPicPr>
          <p:cNvPr id="10" name="Image 1" descr="检测到障碍物：红灯亮、模块绿灯亮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4368" y="1581943"/>
            <a:ext cx="3300984" cy="2368235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2944368" y="4224528"/>
            <a:ext cx="33009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检测到障碍物：红灯亮、模块绿灯亮</a:t>
            </a:r>
            <a:endParaRPr lang="en-US" sz="1000" dirty="0"/>
          </a:p>
        </p:txBody>
      </p:sp>
      <p:sp>
        <p:nvSpPr>
          <p:cNvPr id="12" name="Shape 7"/>
          <p:cNvSpPr/>
          <p:nvPr/>
        </p:nvSpPr>
        <p:spPr>
          <a:xfrm>
            <a:off x="6629400" y="1234440"/>
            <a:ext cx="2103120" cy="914400"/>
          </a:xfrm>
          <a:prstGeom prst="roundRect">
            <a:avLst>
              <a:gd name="adj" fmla="val 12000"/>
            </a:avLst>
          </a:prstGeom>
          <a:solidFill>
            <a:srgbClr val="E3FAF7"/>
          </a:solidFill>
          <a:ln w="12700">
            <a:solidFill>
              <a:srgbClr val="E3FAF7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793992" y="1307592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挡住它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6793992" y="1618488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val = 0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LED 亮、蜂鸣器响</a:t>
            </a:r>
            <a:endParaRPr lang="en-US" sz="1200" dirty="0"/>
          </a:p>
        </p:txBody>
      </p:sp>
      <p:sp>
        <p:nvSpPr>
          <p:cNvPr id="15" name="Shape 10"/>
          <p:cNvSpPr/>
          <p:nvPr/>
        </p:nvSpPr>
        <p:spPr>
          <a:xfrm>
            <a:off x="6629400" y="2423160"/>
            <a:ext cx="2103120" cy="9144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793992" y="2496312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拿开</a:t>
            </a:r>
            <a:endParaRPr lang="en-US" sz="1350" dirty="0"/>
          </a:p>
        </p:txBody>
      </p:sp>
      <p:sp>
        <p:nvSpPr>
          <p:cNvPr id="17" name="Text 12"/>
          <p:cNvSpPr txBox="1"/>
          <p:nvPr/>
        </p:nvSpPr>
        <p:spPr>
          <a:xfrm>
            <a:off x="6793992" y="2807208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val = 1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LED 灭、蜂鸣器停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6629400" y="3611880"/>
            <a:ext cx="2103120" cy="960120"/>
          </a:xfrm>
          <a:prstGeom prst="roundRect">
            <a:avLst>
              <a:gd name="adj" fmla="val 11429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6775704" y="3739896"/>
            <a:ext cx="292608" cy="292608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5930" y="3810122"/>
            <a:ext cx="152156" cy="152156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159752" y="373989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调距离</a:t>
            </a:r>
            <a:endParaRPr lang="en-US" sz="1350" dirty="0"/>
          </a:p>
        </p:txBody>
      </p:sp>
      <p:sp>
        <p:nvSpPr>
          <p:cNvPr id="22" name="Text 16"/>
          <p:cNvSpPr txBox="1"/>
          <p:nvPr/>
        </p:nvSpPr>
        <p:spPr>
          <a:xfrm>
            <a:off x="6775704" y="4105656"/>
            <a:ext cx="18288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拧蓝色电位器，调远或调近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实验三　红外避障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扩展板接法、常见坑与动手改一改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有 Sensor V5.0 扩展板时用杜邦线直插更方便；一直报警、黑色物体测不到，是两个最常见的问题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2331720" cy="3337560"/>
          </a:xfrm>
          <a:prstGeom prst="roundRect">
            <a:avLst>
              <a:gd name="adj" fmla="val 4706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pic>
        <p:nvPicPr>
          <p:cNvPr id="7" name="Image 0" descr="扩展板接法（原指南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" y="1356447"/>
            <a:ext cx="2112264" cy="281922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21208" y="4224528"/>
            <a:ext cx="21122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扩展板接法（原指南）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3017520" y="1234440"/>
            <a:ext cx="5715000" cy="777240"/>
          </a:xfrm>
          <a:prstGeom prst="roundRect">
            <a:avLst>
              <a:gd name="adj" fmla="val 14118"/>
            </a:avLst>
          </a:prstGeom>
          <a:solidFill>
            <a:srgbClr val="E3FAF7"/>
          </a:solidFill>
          <a:ln w="12700">
            <a:solidFill>
              <a:srgbClr val="E3FAF7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3163824" y="1380744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2828" y="1459748"/>
            <a:ext cx="171176" cy="17117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3621024" y="1371600"/>
            <a:ext cx="49651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原指南：如果你的套件中有 Sensor V5.0 扩展板，可以按照左图接线，更加方便。引脚号不变，程序不用改。</a:t>
            </a:r>
            <a:endParaRPr lang="en-US" sz="1200" dirty="0"/>
          </a:p>
        </p:txBody>
      </p:sp>
      <p:sp>
        <p:nvSpPr>
          <p:cNvPr id="13" name="Shape 8"/>
          <p:cNvSpPr/>
          <p:nvPr/>
        </p:nvSpPr>
        <p:spPr>
          <a:xfrm>
            <a:off x="3017520" y="2286000"/>
            <a:ext cx="27203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3182112" y="2450592"/>
            <a:ext cx="310896" cy="310896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6727" y="2525207"/>
            <a:ext cx="161666" cy="161666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3602736" y="2450592"/>
            <a:ext cx="19705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一直在报警</a:t>
            </a:r>
            <a:endParaRPr lang="en-US" sz="1350" dirty="0"/>
          </a:p>
        </p:txBody>
      </p:sp>
      <p:sp>
        <p:nvSpPr>
          <p:cNvPr id="17" name="Text 11"/>
          <p:cNvSpPr txBox="1"/>
          <p:nvPr/>
        </p:nvSpPr>
        <p:spPr>
          <a:xfrm>
            <a:off x="3182112" y="2871216"/>
            <a:ext cx="23911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检测距离调得太远，或模块正对着桌面、墙面。拧蓝色电位器调近，直到前方没东西时绿灯熄灭。</a:t>
            </a:r>
            <a:endParaRPr lang="en-US" sz="1200" dirty="0"/>
          </a:p>
        </p:txBody>
      </p:sp>
      <p:sp>
        <p:nvSpPr>
          <p:cNvPr id="18" name="Shape 12"/>
          <p:cNvSpPr/>
          <p:nvPr/>
        </p:nvSpPr>
        <p:spPr>
          <a:xfrm>
            <a:off x="6012180" y="2286000"/>
            <a:ext cx="27203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6176772" y="2450592"/>
            <a:ext cx="310896" cy="310896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1387" y="2525207"/>
            <a:ext cx="161666" cy="161666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6597396" y="2450592"/>
            <a:ext cx="19705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黑色物体测不到</a:t>
            </a:r>
            <a:endParaRPr lang="en-US" sz="1350" dirty="0"/>
          </a:p>
        </p:txBody>
      </p:sp>
      <p:sp>
        <p:nvSpPr>
          <p:cNvPr id="22" name="Text 15"/>
          <p:cNvSpPr txBox="1"/>
          <p:nvPr/>
        </p:nvSpPr>
        <p:spPr>
          <a:xfrm>
            <a:off x="6176772" y="2871216"/>
            <a:ext cx="23911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黑色表面会吸收红外线，反光太弱，要靠得更近才能检测到。</a:t>
            </a:r>
            <a:endParaRPr lang="en-US" sz="1200" dirty="0"/>
          </a:p>
        </p:txBody>
      </p:sp>
      <p:sp>
        <p:nvSpPr>
          <p:cNvPr id="23" name="Shape 16"/>
          <p:cNvSpPr/>
          <p:nvPr/>
        </p:nvSpPr>
        <p:spPr>
          <a:xfrm>
            <a:off x="3017520" y="3931920"/>
            <a:ext cx="5715000" cy="640080"/>
          </a:xfrm>
          <a:prstGeom prst="roundRect">
            <a:avLst>
              <a:gd name="adj" fmla="val 17143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24" name="Shape 17"/>
          <p:cNvSpPr/>
          <p:nvPr/>
        </p:nvSpPr>
        <p:spPr>
          <a:xfrm>
            <a:off x="3163824" y="4087368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42828" y="4166372"/>
            <a:ext cx="171176" cy="171176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3621024" y="3968496"/>
            <a:ext cx="4965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动手改一改　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 </a:t>
            </a:r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if(val==0)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改成 </a:t>
            </a:r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if(val==1)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：东西被拿走才报警，就是一个简易防盗器。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实验四　温湿度传感器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411480" y="38404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 04</a:t>
            </a:r>
            <a:endParaRPr lang="en-US" sz="1100" dirty="0"/>
          </a:p>
        </p:txBody>
      </p:sp>
      <p:sp>
        <p:nvSpPr>
          <p:cNvPr id="4" name="Text 1"/>
          <p:cNvSpPr/>
          <p:nvPr>
            <p:ph idx="104" type="title" hasCustomPrompt="1"/>
          </p:nvPr>
        </p:nvSpPr>
        <p:spPr>
          <a:xfrm>
            <a:off x="411480" y="713232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温湿度传感器</a:t>
            </a:r>
            <a:endParaRPr lang="en-US" sz="2800" dirty="0"/>
          </a:p>
          <a:p>
            <a:pPr algn="l" indent="0" marL="0">
              <a:buNone/>
            </a:pPr>
            <a:r>
              <a:rPr lang="en-US" sz="2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模块实验</a:t>
            </a:r>
            <a:endParaRPr lang="en-US" sz="2800" dirty="0"/>
          </a:p>
        </p:txBody>
      </p:sp>
      <p:sp>
        <p:nvSpPr>
          <p:cNvPr id="5" name="Text 1"/>
          <p:cNvSpPr/>
          <p:nvPr>
            <p:ph idx="105" type="body" hasCustomPrompt="1"/>
          </p:nvPr>
        </p:nvSpPr>
        <p:spPr>
          <a:xfrm>
            <a:off x="411480" y="1874520"/>
            <a:ext cx="32461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DHT11 只用一根数据线，就能把温度和湿度“说”给 Arduino 听。我们先看懂它的“说话规则”（时序），再用现成的库读出数据，显示在 LCD1602 上。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160520" y="347472"/>
            <a:ext cx="2286000" cy="2112264"/>
          </a:xfrm>
          <a:prstGeom prst="rect">
            <a:avLst/>
          </a:prstGeom>
          <a:solidFill>
            <a:srgbClr val="40E0D0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361688" y="512064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4361688" y="1389888"/>
            <a:ext cx="1883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认识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361688" y="1801368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DHT11 · 单总线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46520" y="347472"/>
            <a:ext cx="2286000" cy="2112264"/>
          </a:xfrm>
          <a:prstGeom prst="rect">
            <a:avLst/>
          </a:prstGeom>
          <a:solidFill>
            <a:srgbClr val="EBEBEB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647688" y="512064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647688" y="1389888"/>
            <a:ext cx="1883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时序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647688" y="1801368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高电平长短 = 0 / 1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160520" y="2459736"/>
            <a:ext cx="2286000" cy="2112264"/>
          </a:xfrm>
          <a:prstGeom prst="rect">
            <a:avLst/>
          </a:prstGeom>
          <a:solidFill>
            <a:srgbClr val="2D2D2D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61688" y="2624328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40E0D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4361688" y="3502152"/>
            <a:ext cx="1883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361688" y="3913632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CFCFC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库 · 对象.成员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46520" y="2459736"/>
            <a:ext cx="2286000" cy="2112264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647688" y="2624328"/>
            <a:ext cx="1883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6647688" y="3502152"/>
            <a:ext cx="1883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结果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647688" y="3913632"/>
            <a:ext cx="1883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LCD 显示温湿度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实验四　温湿度传感器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认识 DHT11：一个模块，两种本领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DHT11 里装着测湿度的电阻式元件、测温度的 NTC 元件和一颗 8 位单片机，直接输出校准好的数字信号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3931920" cy="2148840"/>
          </a:xfrm>
          <a:prstGeom prst="roundRect">
            <a:avLst>
              <a:gd name="adj" fmla="val 5106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pic>
        <p:nvPicPr>
          <p:cNvPr id="7" name="Image 0" descr="温湿度传感器实物图（原指南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353" y="1344168"/>
            <a:ext cx="2824173" cy="165506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21208" y="3035808"/>
            <a:ext cx="37124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温湿度传感器实物图（原指南）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411480" y="3657600"/>
            <a:ext cx="1127760" cy="914400"/>
          </a:xfrm>
          <a:prstGeom prst="roundRect">
            <a:avLst>
              <a:gd name="adj" fmla="val 12000"/>
            </a:avLst>
          </a:prstGeom>
          <a:solidFill>
            <a:srgbClr val="E3FAF7"/>
          </a:solidFill>
          <a:ln w="12700">
            <a:solidFill>
              <a:srgbClr val="E3FAF7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39496" y="3785616"/>
            <a:ext cx="310896" cy="310896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111" y="3860231"/>
            <a:ext cx="161666" cy="16166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923544" y="3785616"/>
            <a:ext cx="5242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湿度</a:t>
            </a:r>
            <a:endParaRPr lang="en-US" sz="1350" dirty="0"/>
          </a:p>
        </p:txBody>
      </p:sp>
      <p:sp>
        <p:nvSpPr>
          <p:cNvPr id="13" name="Text 8"/>
          <p:cNvSpPr txBox="1"/>
          <p:nvPr/>
        </p:nvSpPr>
        <p:spPr>
          <a:xfrm>
            <a:off x="539496" y="4206240"/>
            <a:ext cx="908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电阻式元件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1813560" y="3657600"/>
            <a:ext cx="1127760" cy="914400"/>
          </a:xfrm>
          <a:prstGeom prst="roundRect">
            <a:avLst>
              <a:gd name="adj" fmla="val 12000"/>
            </a:avLst>
          </a:prstGeom>
          <a:solidFill>
            <a:srgbClr val="E3FAF7"/>
          </a:solidFill>
          <a:ln w="12700">
            <a:solidFill>
              <a:srgbClr val="E3FAF7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1941576" y="3785616"/>
            <a:ext cx="310896" cy="310896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6191" y="3860231"/>
            <a:ext cx="161666" cy="161666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2325624" y="3785616"/>
            <a:ext cx="5242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温度</a:t>
            </a:r>
            <a:endParaRPr lang="en-US" sz="1350" dirty="0"/>
          </a:p>
        </p:txBody>
      </p:sp>
      <p:sp>
        <p:nvSpPr>
          <p:cNvPr id="18" name="Text 12"/>
          <p:cNvSpPr txBox="1"/>
          <p:nvPr/>
        </p:nvSpPr>
        <p:spPr>
          <a:xfrm>
            <a:off x="1941576" y="4206240"/>
            <a:ext cx="908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NTC 元件</a:t>
            </a:r>
            <a:endParaRPr lang="en-US" sz="1200" dirty="0"/>
          </a:p>
        </p:txBody>
      </p:sp>
      <p:sp>
        <p:nvSpPr>
          <p:cNvPr id="19" name="Shape 13"/>
          <p:cNvSpPr/>
          <p:nvPr/>
        </p:nvSpPr>
        <p:spPr>
          <a:xfrm>
            <a:off x="3215640" y="3657600"/>
            <a:ext cx="1127760" cy="9144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3343656" y="3785616"/>
            <a:ext cx="310896" cy="310896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18271" y="3860231"/>
            <a:ext cx="161666" cy="161666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3727704" y="3785616"/>
            <a:ext cx="5242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处理</a:t>
            </a:r>
            <a:endParaRPr lang="en-US" sz="1350" dirty="0"/>
          </a:p>
        </p:txBody>
      </p:sp>
      <p:sp>
        <p:nvSpPr>
          <p:cNvPr id="23" name="Text 16"/>
          <p:cNvSpPr txBox="1"/>
          <p:nvPr/>
        </p:nvSpPr>
        <p:spPr>
          <a:xfrm>
            <a:off x="3343656" y="4206240"/>
            <a:ext cx="908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 位单片机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4663440" y="1234440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引脚说明（原指南）</a:t>
            </a:r>
            <a:endParaRPr lang="en-US" sz="13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581912"/>
          <a:ext cx="406908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777240"/>
                <a:gridCol w="274320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引脚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名称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说明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VDD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电源正极（3～5V）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DATA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串行数据，单总线；需约 5.1kΩ 上拉电阻，空闲时保持高电平（模块上一般已带好）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GND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电源负极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NC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悬空，不用接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26" name="Shape 18"/>
          <p:cNvSpPr/>
          <p:nvPr/>
        </p:nvSpPr>
        <p:spPr>
          <a:xfrm>
            <a:off x="4663440" y="3703320"/>
            <a:ext cx="4069080" cy="868680"/>
          </a:xfrm>
          <a:prstGeom prst="roundRect">
            <a:avLst>
              <a:gd name="adj" fmla="val 12632"/>
            </a:avLst>
          </a:prstGeom>
          <a:solidFill>
            <a:srgbClr val="E3FAF7"/>
          </a:solidFill>
          <a:ln w="12700">
            <a:solidFill>
              <a:srgbClr val="E3FAF7"/>
            </a:solidFill>
            <a:prstDash val="solid"/>
          </a:ln>
        </p:spPr>
      </p:sp>
      <p:sp>
        <p:nvSpPr>
          <p:cNvPr id="27" name="Shape 19"/>
          <p:cNvSpPr/>
          <p:nvPr/>
        </p:nvSpPr>
        <p:spPr>
          <a:xfrm>
            <a:off x="4809744" y="3973068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88748" y="4052072"/>
            <a:ext cx="171176" cy="171176"/>
          </a:xfrm>
          <a:prstGeom prst="rect">
            <a:avLst/>
          </a:prstGeom>
        </p:spPr>
      </p:pic>
      <p:sp>
        <p:nvSpPr>
          <p:cNvPr id="29" name="Text 20"/>
          <p:cNvSpPr txBox="1"/>
          <p:nvPr/>
        </p:nvSpPr>
        <p:spPr>
          <a:xfrm>
            <a:off x="5248656" y="3739896"/>
            <a:ext cx="335584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实验目的　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 DHT11 检测温度和湿度，显示在 LCD1602 上：第一行温度，第二行湿度。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实验四　温湿度传感器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DHT11 怎么“说话”：一根线、40 位数据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Arduino 先“点名”，DHT11 再回答：一次发 40 位 = 湿度整数 + 湿度小数 + 温度整数 + 温度小数 + 校验和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580644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pic>
        <p:nvPicPr>
          <p:cNvPr id="7" name="Image 0" descr="原指南：完整时序图（粗线 = 主机发出，细线 = DHT11 发出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1523" y="1344168"/>
            <a:ext cx="5486355" cy="151790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21208" y="2898648"/>
            <a:ext cx="55869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原指南：完整时序图（粗线 = 主机发出，细线 = DHT11 发出）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92240" y="1234440"/>
            <a:ext cx="2240280" cy="2011680"/>
          </a:xfrm>
          <a:prstGeom prst="roundRect">
            <a:avLst>
              <a:gd name="adj" fmla="val 5455"/>
            </a:avLst>
          </a:prstGeom>
          <a:solidFill>
            <a:srgbClr val="E3FAF7"/>
          </a:solidFill>
          <a:ln w="12700">
            <a:solidFill>
              <a:srgbClr val="E3FAF7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656832" y="1344168"/>
            <a:ext cx="191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一次对话 4 步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6656832" y="1728216"/>
            <a:ext cx="256032" cy="256032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656832" y="17282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7040880" y="1751457"/>
            <a:ext cx="1581912" cy="227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起始：Arduino 点名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656832" y="2075688"/>
            <a:ext cx="256032" cy="256032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656832" y="207568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2"/>
          <p:cNvSpPr txBox="1"/>
          <p:nvPr/>
        </p:nvSpPr>
        <p:spPr>
          <a:xfrm>
            <a:off x="7040880" y="2098929"/>
            <a:ext cx="1581912" cy="227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响应：DHT11 答到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6656832" y="2423160"/>
            <a:ext cx="256032" cy="256032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656832" y="242316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100" dirty="0"/>
          </a:p>
        </p:txBody>
      </p:sp>
      <p:sp>
        <p:nvSpPr>
          <p:cNvPr id="19" name="Text 15"/>
          <p:cNvSpPr txBox="1"/>
          <p:nvPr/>
        </p:nvSpPr>
        <p:spPr>
          <a:xfrm>
            <a:off x="7040880" y="2446401"/>
            <a:ext cx="1581912" cy="227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数据：连发 40 位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6656832" y="2770632"/>
            <a:ext cx="256032" cy="256032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656832" y="277063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100" dirty="0"/>
          </a:p>
        </p:txBody>
      </p:sp>
      <p:sp>
        <p:nvSpPr>
          <p:cNvPr id="22" name="Text 18"/>
          <p:cNvSpPr txBox="1"/>
          <p:nvPr/>
        </p:nvSpPr>
        <p:spPr>
          <a:xfrm>
            <a:off x="7040880" y="2793873"/>
            <a:ext cx="1581912" cy="227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结束：拉低后松开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411480" y="3520440"/>
            <a:ext cx="1576426" cy="731520"/>
          </a:xfrm>
          <a:prstGeom prst="roundRect">
            <a:avLst>
              <a:gd name="adj" fmla="val 1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39496" y="3593592"/>
            <a:ext cx="93634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湿度整数</a:t>
            </a:r>
            <a:endParaRPr lang="en-US" sz="1200" dirty="0"/>
          </a:p>
        </p:txBody>
      </p:sp>
      <p:sp>
        <p:nvSpPr>
          <p:cNvPr id="25" name="Text 21"/>
          <p:cNvSpPr txBox="1"/>
          <p:nvPr/>
        </p:nvSpPr>
        <p:spPr>
          <a:xfrm>
            <a:off x="1439266" y="3593592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 位</a:t>
            </a:r>
            <a:endParaRPr lang="en-US" sz="1050" dirty="0"/>
          </a:p>
        </p:txBody>
      </p:sp>
      <p:sp>
        <p:nvSpPr>
          <p:cNvPr id="26" name="Text 22"/>
          <p:cNvSpPr txBox="1"/>
          <p:nvPr/>
        </p:nvSpPr>
        <p:spPr>
          <a:xfrm>
            <a:off x="539496" y="3867912"/>
            <a:ext cx="13203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46</a:t>
            </a:r>
            <a:endParaRPr lang="en-US" sz="1800" dirty="0"/>
          </a:p>
        </p:txBody>
      </p:sp>
      <p:sp>
        <p:nvSpPr>
          <p:cNvPr id="27" name="Shape 23"/>
          <p:cNvSpPr/>
          <p:nvPr/>
        </p:nvSpPr>
        <p:spPr>
          <a:xfrm>
            <a:off x="2097634" y="3520440"/>
            <a:ext cx="1576426" cy="731520"/>
          </a:xfrm>
          <a:prstGeom prst="roundRect">
            <a:avLst>
              <a:gd name="adj" fmla="val 1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2225650" y="3593592"/>
            <a:ext cx="93634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湿度小数</a:t>
            </a:r>
            <a:endParaRPr lang="en-US" sz="1200" dirty="0"/>
          </a:p>
        </p:txBody>
      </p:sp>
      <p:sp>
        <p:nvSpPr>
          <p:cNvPr id="29" name="Text 25"/>
          <p:cNvSpPr txBox="1"/>
          <p:nvPr/>
        </p:nvSpPr>
        <p:spPr>
          <a:xfrm>
            <a:off x="3125419" y="3593592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 位</a:t>
            </a:r>
            <a:endParaRPr lang="en-US" sz="1050" dirty="0"/>
          </a:p>
        </p:txBody>
      </p:sp>
      <p:sp>
        <p:nvSpPr>
          <p:cNvPr id="30" name="Text 26"/>
          <p:cNvSpPr txBox="1"/>
          <p:nvPr/>
        </p:nvSpPr>
        <p:spPr>
          <a:xfrm>
            <a:off x="2225650" y="3867912"/>
            <a:ext cx="13203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800" dirty="0"/>
          </a:p>
        </p:txBody>
      </p:sp>
      <p:sp>
        <p:nvSpPr>
          <p:cNvPr id="31" name="Shape 27"/>
          <p:cNvSpPr/>
          <p:nvPr/>
        </p:nvSpPr>
        <p:spPr>
          <a:xfrm>
            <a:off x="3783787" y="3520440"/>
            <a:ext cx="1576426" cy="731520"/>
          </a:xfrm>
          <a:prstGeom prst="roundRect">
            <a:avLst>
              <a:gd name="adj" fmla="val 10000"/>
            </a:avLst>
          </a:prstGeom>
          <a:solidFill>
            <a:srgbClr val="EBEBEB"/>
          </a:solidFill>
          <a:ln w="12700">
            <a:solidFill>
              <a:srgbClr val="EBEBEB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3911803" y="3593592"/>
            <a:ext cx="93634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温度整数</a:t>
            </a:r>
            <a:endParaRPr lang="en-US" sz="1200" dirty="0"/>
          </a:p>
        </p:txBody>
      </p:sp>
      <p:sp>
        <p:nvSpPr>
          <p:cNvPr id="33" name="Text 29"/>
          <p:cNvSpPr txBox="1"/>
          <p:nvPr/>
        </p:nvSpPr>
        <p:spPr>
          <a:xfrm>
            <a:off x="4811573" y="3593592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 位</a:t>
            </a:r>
            <a:endParaRPr lang="en-US" sz="1050" dirty="0"/>
          </a:p>
        </p:txBody>
      </p:sp>
      <p:sp>
        <p:nvSpPr>
          <p:cNvPr id="34" name="Text 30"/>
          <p:cNvSpPr txBox="1"/>
          <p:nvPr/>
        </p:nvSpPr>
        <p:spPr>
          <a:xfrm>
            <a:off x="3911803" y="3867912"/>
            <a:ext cx="13203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</a:t>
            </a:r>
            <a:endParaRPr lang="en-US" sz="1800" dirty="0"/>
          </a:p>
        </p:txBody>
      </p:sp>
      <p:sp>
        <p:nvSpPr>
          <p:cNvPr id="35" name="Shape 31"/>
          <p:cNvSpPr/>
          <p:nvPr/>
        </p:nvSpPr>
        <p:spPr>
          <a:xfrm>
            <a:off x="5469941" y="3520440"/>
            <a:ext cx="1576426" cy="731520"/>
          </a:xfrm>
          <a:prstGeom prst="roundRect">
            <a:avLst>
              <a:gd name="adj" fmla="val 10000"/>
            </a:avLst>
          </a:prstGeom>
          <a:solidFill>
            <a:srgbClr val="EBEBEB"/>
          </a:solidFill>
          <a:ln w="12700">
            <a:solidFill>
              <a:srgbClr val="EBEBEB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5597957" y="3593592"/>
            <a:ext cx="93634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温度小数</a:t>
            </a:r>
            <a:endParaRPr lang="en-US" sz="1200" dirty="0"/>
          </a:p>
        </p:txBody>
      </p:sp>
      <p:sp>
        <p:nvSpPr>
          <p:cNvPr id="37" name="Text 33"/>
          <p:cNvSpPr txBox="1"/>
          <p:nvPr/>
        </p:nvSpPr>
        <p:spPr>
          <a:xfrm>
            <a:off x="6497726" y="3593592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 位</a:t>
            </a:r>
            <a:endParaRPr lang="en-US" sz="1050" dirty="0"/>
          </a:p>
        </p:txBody>
      </p:sp>
      <p:sp>
        <p:nvSpPr>
          <p:cNvPr id="38" name="Text 34"/>
          <p:cNvSpPr txBox="1"/>
          <p:nvPr/>
        </p:nvSpPr>
        <p:spPr>
          <a:xfrm>
            <a:off x="5597957" y="3867912"/>
            <a:ext cx="13203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800" dirty="0"/>
          </a:p>
        </p:txBody>
      </p:sp>
      <p:sp>
        <p:nvSpPr>
          <p:cNvPr id="39" name="Shape 35"/>
          <p:cNvSpPr/>
          <p:nvPr/>
        </p:nvSpPr>
        <p:spPr>
          <a:xfrm>
            <a:off x="7156094" y="3520440"/>
            <a:ext cx="1576426" cy="731520"/>
          </a:xfrm>
          <a:prstGeom prst="roundRect">
            <a:avLst>
              <a:gd name="adj" fmla="val 1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7284110" y="3593592"/>
            <a:ext cx="93634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校验和</a:t>
            </a:r>
            <a:endParaRPr lang="en-US" sz="1200" dirty="0"/>
          </a:p>
        </p:txBody>
      </p:sp>
      <p:sp>
        <p:nvSpPr>
          <p:cNvPr id="41" name="Text 37"/>
          <p:cNvSpPr txBox="1"/>
          <p:nvPr/>
        </p:nvSpPr>
        <p:spPr>
          <a:xfrm>
            <a:off x="8183880" y="3593592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0D0D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 位</a:t>
            </a:r>
            <a:endParaRPr lang="en-US" sz="1050" dirty="0"/>
          </a:p>
        </p:txBody>
      </p:sp>
      <p:sp>
        <p:nvSpPr>
          <p:cNvPr id="42" name="Text 38"/>
          <p:cNvSpPr txBox="1"/>
          <p:nvPr/>
        </p:nvSpPr>
        <p:spPr>
          <a:xfrm>
            <a:off x="7284110" y="3867912"/>
            <a:ext cx="132039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70</a:t>
            </a:r>
            <a:endParaRPr lang="en-US" sz="1800" dirty="0"/>
          </a:p>
        </p:txBody>
      </p:sp>
      <p:sp>
        <p:nvSpPr>
          <p:cNvPr id="43" name="Text 39"/>
          <p:cNvSpPr txBox="1"/>
          <p:nvPr/>
        </p:nvSpPr>
        <p:spPr>
          <a:xfrm>
            <a:off x="411480" y="4325112"/>
            <a:ext cx="8321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校验和 = 前 4 个数相加（只取低 8 位）：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46 + 0 + 24 + 0 = 70，对得上才算没传错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实验四　温湿度传感器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时序细节①：起始信号与响应信号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Arduino 把线拉低超过 18ms 叫醒 DHT11；DHT11 先拉低 80μs、再拉高 80μs，表示“我准备好了”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43584"/>
            <a:ext cx="274320" cy="274320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11480" y="12435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123444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主机起始信号（Arduino → DHT11）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11480" y="1618488"/>
            <a:ext cx="402336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pic>
        <p:nvPicPr>
          <p:cNvPr id="10" name="Image 0" descr="原指南：主机发送起始信号（&gt;18ms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3419" y="1728216"/>
            <a:ext cx="3279482" cy="142646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21208" y="3191256"/>
            <a:ext cx="38039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原指南：主机发送起始信号（&gt;18ms）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411480" y="3721608"/>
            <a:ext cx="237744" cy="237744"/>
          </a:xfrm>
          <a:prstGeom prst="ellipse">
            <a:avLst/>
          </a:prstGeom>
          <a:solidFill>
            <a:srgbClr val="EBEBEB"/>
          </a:solidFill>
          <a:ln w="12700">
            <a:solidFill>
              <a:srgbClr val="EBEBEB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411480" y="372160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777240" y="3735705"/>
            <a:ext cx="3657600" cy="227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先输出高电平，再拉低超过 18ms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411480" y="4032504"/>
            <a:ext cx="237744" cy="237744"/>
          </a:xfrm>
          <a:prstGeom prst="ellipse">
            <a:avLst/>
          </a:prstGeom>
          <a:solidFill>
            <a:srgbClr val="EBEBEB"/>
          </a:solidFill>
          <a:ln w="12700">
            <a:solidFill>
              <a:srgbClr val="EBEBEB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11480" y="403250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 txBox="1"/>
          <p:nvPr/>
        </p:nvSpPr>
        <p:spPr>
          <a:xfrm>
            <a:off x="777240" y="4046601"/>
            <a:ext cx="3657600" cy="227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DHT11 被叫醒：从低功耗模式切到高速模式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411480" y="4343400"/>
            <a:ext cx="237744" cy="237744"/>
          </a:xfrm>
          <a:prstGeom prst="ellipse">
            <a:avLst/>
          </a:prstGeom>
          <a:solidFill>
            <a:srgbClr val="EBEBEB"/>
          </a:solidFill>
          <a:ln w="12700">
            <a:solidFill>
              <a:srgbClr val="EBEBEB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411480" y="434340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100" dirty="0"/>
          </a:p>
        </p:txBody>
      </p:sp>
      <p:sp>
        <p:nvSpPr>
          <p:cNvPr id="20" name="Text 16"/>
          <p:cNvSpPr txBox="1"/>
          <p:nvPr/>
        </p:nvSpPr>
        <p:spPr>
          <a:xfrm>
            <a:off x="777240" y="4357497"/>
            <a:ext cx="3657600" cy="227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改为输入：上拉电阻把线拉回高电平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4709160" y="1243584"/>
            <a:ext cx="274320" cy="274320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4709160" y="12435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Text 19"/>
          <p:cNvSpPr txBox="1"/>
          <p:nvPr/>
        </p:nvSpPr>
        <p:spPr>
          <a:xfrm>
            <a:off x="5074920" y="123444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DHT11 响应信号（DHT11 → Arduino）</a:t>
            </a:r>
            <a:endParaRPr lang="en-US" sz="1300" dirty="0"/>
          </a:p>
        </p:txBody>
      </p:sp>
      <p:sp>
        <p:nvSpPr>
          <p:cNvPr id="24" name="Shape 20"/>
          <p:cNvSpPr/>
          <p:nvPr/>
        </p:nvSpPr>
        <p:spPr>
          <a:xfrm>
            <a:off x="4709160" y="1618488"/>
            <a:ext cx="402336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pic>
        <p:nvPicPr>
          <p:cNvPr id="25" name="Image 1" descr="原指南图（标题“THD 响应信号”应为 DHT）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8888" y="1746605"/>
            <a:ext cx="3803904" cy="1389686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4818888" y="3191256"/>
            <a:ext cx="38039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原指南图（标题“THD 响应信号”应为 DHT）</a:t>
            </a:r>
            <a:endParaRPr lang="en-US" sz="1000" dirty="0"/>
          </a:p>
        </p:txBody>
      </p:sp>
      <p:sp>
        <p:nvSpPr>
          <p:cNvPr id="27" name="Shape 22"/>
          <p:cNvSpPr/>
          <p:nvPr/>
        </p:nvSpPr>
        <p:spPr>
          <a:xfrm>
            <a:off x="4709160" y="3721608"/>
            <a:ext cx="237744" cy="237744"/>
          </a:xfrm>
          <a:prstGeom prst="ellipse">
            <a:avLst/>
          </a:prstGeom>
          <a:solidFill>
            <a:srgbClr val="EBEBEB"/>
          </a:solidFill>
          <a:ln w="12700">
            <a:solidFill>
              <a:srgbClr val="EBEBEB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4709160" y="372160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100" dirty="0"/>
          </a:p>
        </p:txBody>
      </p:sp>
      <p:sp>
        <p:nvSpPr>
          <p:cNvPr id="29" name="Text 24"/>
          <p:cNvSpPr txBox="1"/>
          <p:nvPr/>
        </p:nvSpPr>
        <p:spPr>
          <a:xfrm>
            <a:off x="5074920" y="3735705"/>
            <a:ext cx="3657600" cy="227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输出 80μs 低电平：应答“到！”</a:t>
            </a:r>
            <a:endParaRPr lang="en-US" sz="1200" dirty="0"/>
          </a:p>
        </p:txBody>
      </p:sp>
      <p:sp>
        <p:nvSpPr>
          <p:cNvPr id="30" name="Shape 25"/>
          <p:cNvSpPr/>
          <p:nvPr/>
        </p:nvSpPr>
        <p:spPr>
          <a:xfrm>
            <a:off x="4709160" y="4032504"/>
            <a:ext cx="237744" cy="237744"/>
          </a:xfrm>
          <a:prstGeom prst="ellipse">
            <a:avLst/>
          </a:prstGeom>
          <a:solidFill>
            <a:srgbClr val="EBEBEB"/>
          </a:solidFill>
          <a:ln w="12700">
            <a:solidFill>
              <a:srgbClr val="EBEBEB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4709160" y="403250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100" dirty="0"/>
          </a:p>
        </p:txBody>
      </p:sp>
      <p:sp>
        <p:nvSpPr>
          <p:cNvPr id="32" name="Text 27"/>
          <p:cNvSpPr txBox="1"/>
          <p:nvPr/>
        </p:nvSpPr>
        <p:spPr>
          <a:xfrm>
            <a:off x="5074920" y="4046601"/>
            <a:ext cx="3657600" cy="227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再输出 80μs 高电平：准备好发数据了</a:t>
            </a:r>
            <a:endParaRPr lang="en-US" sz="1200" dirty="0"/>
          </a:p>
        </p:txBody>
      </p:sp>
      <p:sp>
        <p:nvSpPr>
          <p:cNvPr id="33" name="Shape 28"/>
          <p:cNvSpPr/>
          <p:nvPr/>
        </p:nvSpPr>
        <p:spPr>
          <a:xfrm>
            <a:off x="4709160" y="4343400"/>
            <a:ext cx="237744" cy="237744"/>
          </a:xfrm>
          <a:prstGeom prst="ellipse">
            <a:avLst/>
          </a:prstGeom>
          <a:solidFill>
            <a:srgbClr val="EBEBEB"/>
          </a:solidFill>
          <a:ln w="12700">
            <a:solidFill>
              <a:srgbClr val="EBEBEB"/>
            </a:solidFill>
            <a:prstDash val="solid"/>
          </a:ln>
        </p:spPr>
      </p:sp>
      <p:sp>
        <p:nvSpPr>
          <p:cNvPr id="34" name="Text 29"/>
          <p:cNvSpPr txBox="1"/>
          <p:nvPr/>
        </p:nvSpPr>
        <p:spPr>
          <a:xfrm>
            <a:off x="4709160" y="434340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100" dirty="0"/>
          </a:p>
        </p:txBody>
      </p:sp>
      <p:sp>
        <p:nvSpPr>
          <p:cNvPr id="35" name="Text 30"/>
          <p:cNvSpPr txBox="1"/>
          <p:nvPr/>
        </p:nvSpPr>
        <p:spPr>
          <a:xfrm>
            <a:off x="5074920" y="4357497"/>
            <a:ext cx="3657600" cy="227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接着连续发出 40 位数据（上一次测得的）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实验四　温湿度传感器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时序细节②：高电平的长短表示 0 和 1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每一位都先拉低 50μs，接着看高电平多长：短（26–28μs）是 0，长（70μs）是 1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40233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pic>
        <p:nvPicPr>
          <p:cNvPr id="7" name="Image 0" descr="“0”：50μs 低电平 + 26–28μs 高电平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9366" y="1344168"/>
            <a:ext cx="2947587" cy="133502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21208" y="2715768"/>
            <a:ext cx="38039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“0”：50μs 低电平 + 26–28μs 高电平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4709160" y="1234440"/>
            <a:ext cx="40233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pic>
        <p:nvPicPr>
          <p:cNvPr id="10" name="Image 1" descr="“1”：50μs 低电平 + 70μs 高电平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7473" y="1344168"/>
            <a:ext cx="3286734" cy="1335024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4818888" y="2715768"/>
            <a:ext cx="38039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“1”：50μs 低电平 + 70μs 高电平</a:t>
            </a:r>
            <a:endParaRPr lang="en-US" sz="1000" dirty="0"/>
          </a:p>
        </p:txBody>
      </p:sp>
      <p:sp>
        <p:nvSpPr>
          <p:cNvPr id="12" name="Shape 7"/>
          <p:cNvSpPr/>
          <p:nvPr/>
        </p:nvSpPr>
        <p:spPr>
          <a:xfrm>
            <a:off x="411480" y="3337560"/>
            <a:ext cx="4023360" cy="1234440"/>
          </a:xfrm>
          <a:prstGeom prst="roundRect">
            <a:avLst>
              <a:gd name="adj" fmla="val 8889"/>
            </a:avLst>
          </a:prstGeom>
          <a:solidFill>
            <a:srgbClr val="E3FAF7"/>
          </a:solidFill>
          <a:ln w="12700">
            <a:solidFill>
              <a:srgbClr val="E3FAF7"/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557784" y="3465576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788" y="3544580"/>
            <a:ext cx="171176" cy="17117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996696" y="3465576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像摩尔斯电码</a:t>
            </a:r>
            <a:endParaRPr lang="en-US" sz="1400" dirty="0"/>
          </a:p>
        </p:txBody>
      </p:sp>
      <p:sp>
        <p:nvSpPr>
          <p:cNvPr id="16" name="Text 10"/>
          <p:cNvSpPr txBox="1"/>
          <p:nvPr/>
        </p:nvSpPr>
        <p:spPr>
          <a:xfrm>
            <a:off x="557784" y="3867912"/>
            <a:ext cx="374904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短音、长音拼字母；DHT11 用短、长高电平拼出 0 和 1。</a:t>
            </a:r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好消息：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时序都由 dht11 库处理，程序里一句 DHT11.read() 就够。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4709160" y="3337560"/>
            <a:ext cx="4023360" cy="1234440"/>
          </a:xfrm>
          <a:prstGeom prst="roundRect">
            <a:avLst>
              <a:gd name="adj" fmla="val 8889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4873752" y="3429000"/>
            <a:ext cx="3694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例：依次发出 0、1、1、0</a:t>
            </a:r>
            <a:endParaRPr lang="en-US" sz="1200" dirty="0"/>
          </a:p>
        </p:txBody>
      </p:sp>
      <p:sp>
        <p:nvSpPr>
          <p:cNvPr id="19" name="Shape 13"/>
          <p:cNvSpPr/>
          <p:nvPr/>
        </p:nvSpPr>
        <p:spPr>
          <a:xfrm>
            <a:off x="5484459" y="3840480"/>
            <a:ext cx="227090" cy="365760"/>
          </a:xfrm>
          <a:prstGeom prst="rect">
            <a:avLst/>
          </a:prstGeom>
          <a:solidFill>
            <a:srgbClr val="E2E2E2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232244" y="4242816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0（短）</a:t>
            </a:r>
            <a:endParaRPr lang="en-US" sz="1050" dirty="0"/>
          </a:p>
        </p:txBody>
      </p:sp>
      <p:sp>
        <p:nvSpPr>
          <p:cNvPr id="21" name="Shape 15"/>
          <p:cNvSpPr/>
          <p:nvPr/>
        </p:nvSpPr>
        <p:spPr>
          <a:xfrm>
            <a:off x="6132087" y="3840480"/>
            <a:ext cx="588753" cy="365760"/>
          </a:xfrm>
          <a:prstGeom prst="rect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6060704" y="4242816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1（长）</a:t>
            </a:r>
            <a:endParaRPr lang="en-US" sz="1050" dirty="0"/>
          </a:p>
        </p:txBody>
      </p:sp>
      <p:sp>
        <p:nvSpPr>
          <p:cNvPr id="23" name="Shape 17"/>
          <p:cNvSpPr/>
          <p:nvPr/>
        </p:nvSpPr>
        <p:spPr>
          <a:xfrm>
            <a:off x="7141378" y="3840480"/>
            <a:ext cx="588753" cy="365760"/>
          </a:xfrm>
          <a:prstGeom prst="rect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069994" y="4242816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1（长）</a:t>
            </a:r>
            <a:endParaRPr lang="en-US" sz="1050" dirty="0"/>
          </a:p>
        </p:txBody>
      </p:sp>
      <p:sp>
        <p:nvSpPr>
          <p:cNvPr id="25" name="Shape 19"/>
          <p:cNvSpPr/>
          <p:nvPr/>
        </p:nvSpPr>
        <p:spPr>
          <a:xfrm>
            <a:off x="8150668" y="3840480"/>
            <a:ext cx="227090" cy="365760"/>
          </a:xfrm>
          <a:prstGeom prst="rect">
            <a:avLst/>
          </a:prstGeom>
          <a:solidFill>
            <a:srgbClr val="E2E2E2"/>
          </a:solidFill>
          <a:ln w="12700">
            <a:solidFill>
              <a:srgbClr val="E2E2E2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898453" y="4242816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0（短）</a:t>
            </a:r>
            <a:endParaRPr lang="en-US" sz="1050" dirty="0"/>
          </a:p>
        </p:txBody>
      </p:sp>
      <p:sp>
        <p:nvSpPr>
          <p:cNvPr id="27" name="Shape 21"/>
          <p:cNvSpPr/>
          <p:nvPr/>
        </p:nvSpPr>
        <p:spPr>
          <a:xfrm>
            <a:off x="4937760" y="3840480"/>
            <a:ext cx="126161" cy="91"/>
          </a:xfrm>
          <a:prstGeom prst="line">
            <a:avLst/>
          </a:prstGeom>
          <a:noFill/>
          <a:ln w="25400">
            <a:solidFill>
              <a:srgbClr val="2D2D2D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5063921" y="3840480"/>
            <a:ext cx="91" cy="365760"/>
          </a:xfrm>
          <a:prstGeom prst="line">
            <a:avLst/>
          </a:prstGeom>
          <a:noFill/>
          <a:ln w="25400">
            <a:solidFill>
              <a:srgbClr val="2D2D2D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5063921" y="4206240"/>
            <a:ext cx="420538" cy="91"/>
          </a:xfrm>
          <a:prstGeom prst="line">
            <a:avLst/>
          </a:prstGeom>
          <a:noFill/>
          <a:ln w="25400">
            <a:solidFill>
              <a:srgbClr val="2D2D2D"/>
            </a:solidFill>
            <a:prstDash val="solid"/>
          </a:ln>
        </p:spPr>
      </p:sp>
      <p:sp>
        <p:nvSpPr>
          <p:cNvPr id="30" name="Shape 24"/>
          <p:cNvSpPr/>
          <p:nvPr/>
        </p:nvSpPr>
        <p:spPr>
          <a:xfrm flipV="1">
            <a:off x="5484459" y="3840480"/>
            <a:ext cx="91" cy="365760"/>
          </a:xfrm>
          <a:prstGeom prst="line">
            <a:avLst/>
          </a:prstGeom>
          <a:noFill/>
          <a:ln w="25400">
            <a:solidFill>
              <a:srgbClr val="2D2D2D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5484459" y="3840480"/>
            <a:ext cx="227090" cy="91"/>
          </a:xfrm>
          <a:prstGeom prst="line">
            <a:avLst/>
          </a:prstGeom>
          <a:noFill/>
          <a:ln w="25400">
            <a:solidFill>
              <a:srgbClr val="2D2D2D"/>
            </a:solidFill>
            <a:prstDash val="solid"/>
          </a:ln>
        </p:spPr>
      </p:sp>
      <p:sp>
        <p:nvSpPr>
          <p:cNvPr id="32" name="Shape 26"/>
          <p:cNvSpPr/>
          <p:nvPr/>
        </p:nvSpPr>
        <p:spPr>
          <a:xfrm>
            <a:off x="5711549" y="3840480"/>
            <a:ext cx="91" cy="365760"/>
          </a:xfrm>
          <a:prstGeom prst="line">
            <a:avLst/>
          </a:prstGeom>
          <a:noFill/>
          <a:ln w="25400">
            <a:solidFill>
              <a:srgbClr val="2D2D2D"/>
            </a:solidFill>
            <a:prstDash val="solid"/>
          </a:ln>
        </p:spPr>
      </p:sp>
      <p:sp>
        <p:nvSpPr>
          <p:cNvPr id="33" name="Shape 27"/>
          <p:cNvSpPr/>
          <p:nvPr/>
        </p:nvSpPr>
        <p:spPr>
          <a:xfrm>
            <a:off x="5711549" y="4206240"/>
            <a:ext cx="420538" cy="91"/>
          </a:xfrm>
          <a:prstGeom prst="line">
            <a:avLst/>
          </a:prstGeom>
          <a:noFill/>
          <a:ln w="25400">
            <a:solidFill>
              <a:srgbClr val="2D2D2D"/>
            </a:solidFill>
            <a:prstDash val="solid"/>
          </a:ln>
        </p:spPr>
      </p:sp>
      <p:sp>
        <p:nvSpPr>
          <p:cNvPr id="34" name="Shape 28"/>
          <p:cNvSpPr/>
          <p:nvPr/>
        </p:nvSpPr>
        <p:spPr>
          <a:xfrm flipV="1">
            <a:off x="6132087" y="3840480"/>
            <a:ext cx="91" cy="365760"/>
          </a:xfrm>
          <a:prstGeom prst="line">
            <a:avLst/>
          </a:prstGeom>
          <a:noFill/>
          <a:ln w="25400">
            <a:solidFill>
              <a:srgbClr val="2D2D2D"/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6132087" y="3840480"/>
            <a:ext cx="588753" cy="91"/>
          </a:xfrm>
          <a:prstGeom prst="line">
            <a:avLst/>
          </a:prstGeom>
          <a:noFill/>
          <a:ln w="25400">
            <a:solidFill>
              <a:srgbClr val="2D2D2D"/>
            </a:solidFill>
            <a:prstDash val="solid"/>
          </a:ln>
        </p:spPr>
      </p:sp>
      <p:sp>
        <p:nvSpPr>
          <p:cNvPr id="36" name="Shape 30"/>
          <p:cNvSpPr/>
          <p:nvPr/>
        </p:nvSpPr>
        <p:spPr>
          <a:xfrm>
            <a:off x="6720840" y="3840480"/>
            <a:ext cx="91" cy="365760"/>
          </a:xfrm>
          <a:prstGeom prst="line">
            <a:avLst/>
          </a:prstGeom>
          <a:noFill/>
          <a:ln w="25400">
            <a:solidFill>
              <a:srgbClr val="2D2D2D"/>
            </a:solidFill>
            <a:prstDash val="solid"/>
          </a:ln>
        </p:spPr>
      </p:sp>
      <p:sp>
        <p:nvSpPr>
          <p:cNvPr id="37" name="Shape 31"/>
          <p:cNvSpPr/>
          <p:nvPr/>
        </p:nvSpPr>
        <p:spPr>
          <a:xfrm>
            <a:off x="6720840" y="4206240"/>
            <a:ext cx="420538" cy="91"/>
          </a:xfrm>
          <a:prstGeom prst="line">
            <a:avLst/>
          </a:prstGeom>
          <a:noFill/>
          <a:ln w="25400">
            <a:solidFill>
              <a:srgbClr val="2D2D2D"/>
            </a:solidFill>
            <a:prstDash val="solid"/>
          </a:ln>
        </p:spPr>
      </p:sp>
      <p:sp>
        <p:nvSpPr>
          <p:cNvPr id="38" name="Shape 32"/>
          <p:cNvSpPr/>
          <p:nvPr/>
        </p:nvSpPr>
        <p:spPr>
          <a:xfrm flipV="1">
            <a:off x="7141378" y="3840480"/>
            <a:ext cx="91" cy="365760"/>
          </a:xfrm>
          <a:prstGeom prst="line">
            <a:avLst/>
          </a:prstGeom>
          <a:noFill/>
          <a:ln w="25400">
            <a:solidFill>
              <a:srgbClr val="2D2D2D"/>
            </a:solidFill>
            <a:prstDash val="solid"/>
          </a:ln>
        </p:spPr>
      </p:sp>
      <p:sp>
        <p:nvSpPr>
          <p:cNvPr id="39" name="Shape 33"/>
          <p:cNvSpPr/>
          <p:nvPr/>
        </p:nvSpPr>
        <p:spPr>
          <a:xfrm>
            <a:off x="7141378" y="3840480"/>
            <a:ext cx="588753" cy="91"/>
          </a:xfrm>
          <a:prstGeom prst="line">
            <a:avLst/>
          </a:prstGeom>
          <a:noFill/>
          <a:ln w="25400">
            <a:solidFill>
              <a:srgbClr val="2D2D2D"/>
            </a:solidFill>
            <a:prstDash val="solid"/>
          </a:ln>
        </p:spPr>
      </p:sp>
      <p:sp>
        <p:nvSpPr>
          <p:cNvPr id="40" name="Shape 34"/>
          <p:cNvSpPr/>
          <p:nvPr/>
        </p:nvSpPr>
        <p:spPr>
          <a:xfrm>
            <a:off x="7730131" y="3840480"/>
            <a:ext cx="91" cy="365760"/>
          </a:xfrm>
          <a:prstGeom prst="line">
            <a:avLst/>
          </a:prstGeom>
          <a:noFill/>
          <a:ln w="25400">
            <a:solidFill>
              <a:srgbClr val="2D2D2D"/>
            </a:solidFill>
            <a:prstDash val="solid"/>
          </a:ln>
        </p:spPr>
      </p:sp>
      <p:sp>
        <p:nvSpPr>
          <p:cNvPr id="41" name="Shape 35"/>
          <p:cNvSpPr/>
          <p:nvPr/>
        </p:nvSpPr>
        <p:spPr>
          <a:xfrm>
            <a:off x="7730131" y="4206240"/>
            <a:ext cx="420538" cy="91"/>
          </a:xfrm>
          <a:prstGeom prst="line">
            <a:avLst/>
          </a:prstGeom>
          <a:noFill/>
          <a:ln w="25400">
            <a:solidFill>
              <a:srgbClr val="2D2D2D"/>
            </a:solidFill>
            <a:prstDash val="solid"/>
          </a:ln>
        </p:spPr>
      </p:sp>
      <p:sp>
        <p:nvSpPr>
          <p:cNvPr id="42" name="Shape 36"/>
          <p:cNvSpPr/>
          <p:nvPr/>
        </p:nvSpPr>
        <p:spPr>
          <a:xfrm flipV="1">
            <a:off x="8150668" y="3840480"/>
            <a:ext cx="91" cy="365760"/>
          </a:xfrm>
          <a:prstGeom prst="line">
            <a:avLst/>
          </a:prstGeom>
          <a:noFill/>
          <a:ln w="25400">
            <a:solidFill>
              <a:srgbClr val="2D2D2D"/>
            </a:solidFill>
            <a:prstDash val="solid"/>
          </a:ln>
        </p:spPr>
      </p:sp>
      <p:sp>
        <p:nvSpPr>
          <p:cNvPr id="43" name="Shape 37"/>
          <p:cNvSpPr/>
          <p:nvPr/>
        </p:nvSpPr>
        <p:spPr>
          <a:xfrm>
            <a:off x="8150668" y="3840480"/>
            <a:ext cx="227090" cy="91"/>
          </a:xfrm>
          <a:prstGeom prst="line">
            <a:avLst/>
          </a:prstGeom>
          <a:noFill/>
          <a:ln w="25400">
            <a:solidFill>
              <a:srgbClr val="2D2D2D"/>
            </a:solidFill>
            <a:prstDash val="solid"/>
          </a:ln>
        </p:spPr>
      </p:sp>
      <p:sp>
        <p:nvSpPr>
          <p:cNvPr id="44" name="Shape 38"/>
          <p:cNvSpPr/>
          <p:nvPr/>
        </p:nvSpPr>
        <p:spPr>
          <a:xfrm>
            <a:off x="8377759" y="3840480"/>
            <a:ext cx="91" cy="365760"/>
          </a:xfrm>
          <a:prstGeom prst="line">
            <a:avLst/>
          </a:prstGeom>
          <a:noFill/>
          <a:ln w="25400">
            <a:solidFill>
              <a:srgbClr val="2D2D2D"/>
            </a:solidFill>
            <a:prstDash val="solid"/>
          </a:ln>
        </p:spPr>
      </p:sp>
      <p:sp>
        <p:nvSpPr>
          <p:cNvPr id="45" name="Shape 39"/>
          <p:cNvSpPr/>
          <p:nvPr/>
        </p:nvSpPr>
        <p:spPr>
          <a:xfrm>
            <a:off x="8377759" y="4206240"/>
            <a:ext cx="126161" cy="91"/>
          </a:xfrm>
          <a:prstGeom prst="line">
            <a:avLst/>
          </a:prstGeom>
          <a:noFill/>
          <a:ln w="25400">
            <a:solidFill>
              <a:srgbClr val="2D2D2D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实验四　温湿度传感器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组件与接线：LCD 接 I2C，DHT11 接 8 号脚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LCD 四根线：SDA → A4、SCL → A5、VCC → 5V、GND → GND；温湿度模块 OUT → 8 号脚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493776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pic>
        <p:nvPicPr>
          <p:cNvPr id="7" name="Image 0" descr="原指南接线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64" y="1344168"/>
            <a:ext cx="4324992" cy="188366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21208" y="3264408"/>
            <a:ext cx="4718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原指南接线图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411480" y="3886200"/>
            <a:ext cx="4937760" cy="685800"/>
          </a:xfrm>
          <a:prstGeom prst="roundRect">
            <a:avLst>
              <a:gd name="adj" fmla="val 16000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76072" y="3922776"/>
            <a:ext cx="460857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组件清单　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UNO R3 主板、面包板、USB 数据线、若干跳线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LCD1602 模块 ×1、DHT11 温湿度模块 ×1（原文误作 DTH11）</a:t>
            </a:r>
            <a:endParaRPr lang="en-US" sz="12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0" y="1234440"/>
          <a:ext cx="3063240" cy="914400"/>
        </p:xfrm>
        <a:graphic>
          <a:graphicData uri="http://schemas.openxmlformats.org/drawingml/2006/table">
            <a:tbl>
              <a:tblPr/>
              <a:tblGrid>
                <a:gridCol w="1837944"/>
                <a:gridCol w="1225296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LCD 显示屏 PCF8574T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Arduino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GND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GND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VCC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5V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SDA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A4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SCL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A5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0" y="2788920"/>
          <a:ext cx="3063240" cy="914400"/>
        </p:xfrm>
        <a:graphic>
          <a:graphicData uri="http://schemas.openxmlformats.org/drawingml/2006/table">
            <a:tbl>
              <a:tblPr/>
              <a:tblGrid>
                <a:gridCol w="1837944"/>
                <a:gridCol w="1225296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温湿度传感器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Arduino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GND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GND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VCC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5V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OUT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Shape 7"/>
          <p:cNvSpPr/>
          <p:nvPr/>
        </p:nvSpPr>
        <p:spPr>
          <a:xfrm>
            <a:off x="5669280" y="4087368"/>
            <a:ext cx="3063240" cy="484632"/>
          </a:xfrm>
          <a:prstGeom prst="roundRect">
            <a:avLst>
              <a:gd name="adj" fmla="val 22642"/>
            </a:avLst>
          </a:prstGeom>
          <a:solidFill>
            <a:srgbClr val="E3FAF7"/>
          </a:solidFill>
          <a:ln w="12700">
            <a:solidFill>
              <a:srgbClr val="E3FAF7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5815584" y="4123944"/>
            <a:ext cx="2770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A4 = SDA，A5 = SCL：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这里当 I2C 接口用，不是读模拟量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实验四　温湿度传感器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新语法小课堂①：库、#define 和对象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库是别人写好的“工具箱”，#include 把它搬进来；用 对象.成员 指挥一台具体的设备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2971800" cy="3337560"/>
          </a:xfrm>
          <a:prstGeom prst="roundRect">
            <a:avLst>
              <a:gd name="adj" fmla="val 3692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76072" y="1380744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5076" y="1459748"/>
            <a:ext cx="171176" cy="17117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014984" y="1380744"/>
            <a:ext cx="22037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库与 #include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576072" y="1819656"/>
            <a:ext cx="2642616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像借来一套工具：复杂的细节，库里都写好了。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576072" y="2311908"/>
            <a:ext cx="2642616" cy="351282"/>
          </a:xfrm>
          <a:prstGeom prst="roundRect">
            <a:avLst>
              <a:gd name="adj" fmla="val 20824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04088" y="2394204"/>
            <a:ext cx="2386584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#include 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"dht11.h"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576072" y="2791206"/>
            <a:ext cx="1691640" cy="2468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576072" y="2791206"/>
            <a:ext cx="1691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Wire.h</a:t>
            </a:r>
            <a:endParaRPr lang="en-US" sz="1000" dirty="0"/>
          </a:p>
        </p:txBody>
      </p:sp>
      <p:sp>
        <p:nvSpPr>
          <p:cNvPr id="15" name="Text 11"/>
          <p:cNvSpPr txBox="1"/>
          <p:nvPr/>
        </p:nvSpPr>
        <p:spPr>
          <a:xfrm>
            <a:off x="2340864" y="2782062"/>
            <a:ext cx="8778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I2C 通信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576072" y="3102102"/>
            <a:ext cx="1691640" cy="2468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76072" y="3102102"/>
            <a:ext cx="1691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dht11.h</a:t>
            </a:r>
            <a:endParaRPr lang="en-US" sz="1000" dirty="0"/>
          </a:p>
        </p:txBody>
      </p:sp>
      <p:sp>
        <p:nvSpPr>
          <p:cNvPr id="18" name="Text 14"/>
          <p:cNvSpPr txBox="1"/>
          <p:nvPr/>
        </p:nvSpPr>
        <p:spPr>
          <a:xfrm>
            <a:off x="2340864" y="3092958"/>
            <a:ext cx="8778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读温湿度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576072" y="3412998"/>
            <a:ext cx="1691640" cy="2468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76072" y="3412998"/>
            <a:ext cx="1691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LiquidCrystal_I2C.h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2340864" y="3403854"/>
            <a:ext cx="8778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I2C 液晶屏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576072" y="3861054"/>
            <a:ext cx="219456" cy="219456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741" y="3913723"/>
            <a:ext cx="114117" cy="114117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886968" y="3842766"/>
            <a:ext cx="233172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常见错误：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没安装库：编译时报 No such file。</a:t>
            </a:r>
            <a:endParaRPr lang="en-US" sz="1200" dirty="0"/>
          </a:p>
        </p:txBody>
      </p:sp>
      <p:sp>
        <p:nvSpPr>
          <p:cNvPr id="25" name="Shape 20"/>
          <p:cNvSpPr/>
          <p:nvPr/>
        </p:nvSpPr>
        <p:spPr>
          <a:xfrm>
            <a:off x="3657600" y="1234440"/>
            <a:ext cx="2286000" cy="3337560"/>
          </a:xfrm>
          <a:prstGeom prst="roundRect">
            <a:avLst>
              <a:gd name="adj" fmla="val 4800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3822192" y="1380744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1196" y="1459748"/>
            <a:ext cx="171176" cy="171176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4261104" y="1380744"/>
            <a:ext cx="15179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#define 起外号</a:t>
            </a:r>
            <a:endParaRPr lang="en-US" sz="1300" dirty="0"/>
          </a:p>
        </p:txBody>
      </p:sp>
      <p:sp>
        <p:nvSpPr>
          <p:cNvPr id="29" name="Text 23"/>
          <p:cNvSpPr txBox="1"/>
          <p:nvPr/>
        </p:nvSpPr>
        <p:spPr>
          <a:xfrm>
            <a:off x="3822192" y="1819656"/>
            <a:ext cx="1956816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像“查找替换”：编译前把名字换成后面的值。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3822192" y="2311908"/>
            <a:ext cx="1956816" cy="351282"/>
          </a:xfrm>
          <a:prstGeom prst="roundRect">
            <a:avLst>
              <a:gd name="adj" fmla="val 20824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3950208" y="2394204"/>
            <a:ext cx="1700784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#define 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DHT11PIN 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endParaRPr lang="en-US" sz="1050" dirty="0"/>
          </a:p>
        </p:txBody>
      </p:sp>
      <p:sp>
        <p:nvSpPr>
          <p:cNvPr id="32" name="Shape 26"/>
          <p:cNvSpPr/>
          <p:nvPr/>
        </p:nvSpPr>
        <p:spPr>
          <a:xfrm>
            <a:off x="3822192" y="2800350"/>
            <a:ext cx="219456" cy="219456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pic>
        <p:nvPicPr>
          <p:cNvPr id="3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74861" y="2853019"/>
            <a:ext cx="114117" cy="114117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4133088" y="2782062"/>
            <a:ext cx="164592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常见错误：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末尾加分号：分号也会被替换进去。</a:t>
            </a:r>
            <a:endParaRPr lang="en-US" sz="1200" dirty="0"/>
          </a:p>
        </p:txBody>
      </p:sp>
      <p:sp>
        <p:nvSpPr>
          <p:cNvPr id="35" name="Shape 28"/>
          <p:cNvSpPr/>
          <p:nvPr/>
        </p:nvSpPr>
        <p:spPr>
          <a:xfrm>
            <a:off x="6217920" y="1234440"/>
            <a:ext cx="2514600" cy="3337560"/>
          </a:xfrm>
          <a:prstGeom prst="roundRect">
            <a:avLst>
              <a:gd name="adj" fmla="val 4364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36" name="Shape 29"/>
          <p:cNvSpPr/>
          <p:nvPr/>
        </p:nvSpPr>
        <p:spPr>
          <a:xfrm>
            <a:off x="6382512" y="1380744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3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1516" y="1459748"/>
            <a:ext cx="171176" cy="171176"/>
          </a:xfrm>
          <a:prstGeom prst="rect">
            <a:avLst/>
          </a:prstGeom>
        </p:spPr>
      </p:pic>
      <p:sp>
        <p:nvSpPr>
          <p:cNvPr id="38" name="Text 30"/>
          <p:cNvSpPr txBox="1"/>
          <p:nvPr/>
        </p:nvSpPr>
        <p:spPr>
          <a:xfrm>
            <a:off x="6821424" y="1380744"/>
            <a:ext cx="1746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对象.成员</a:t>
            </a:r>
            <a:endParaRPr lang="en-US" sz="1300" dirty="0"/>
          </a:p>
        </p:txBody>
      </p:sp>
      <p:sp>
        <p:nvSpPr>
          <p:cNvPr id="39" name="Text 31"/>
          <p:cNvSpPr txBox="1"/>
          <p:nvPr/>
        </p:nvSpPr>
        <p:spPr>
          <a:xfrm>
            <a:off x="6382512" y="1819656"/>
            <a:ext cx="2185416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dht11 是“型号”，DHT11 是你手里这一台；用“.”按它的按钮、看它的读数。</a:t>
            </a:r>
            <a:endParaRPr lang="en-US" sz="1200" dirty="0"/>
          </a:p>
        </p:txBody>
      </p:sp>
      <p:sp>
        <p:nvSpPr>
          <p:cNvPr id="40" name="Shape 32"/>
          <p:cNvSpPr/>
          <p:nvPr/>
        </p:nvSpPr>
        <p:spPr>
          <a:xfrm>
            <a:off x="6382512" y="2521458"/>
            <a:ext cx="2185416" cy="724662"/>
          </a:xfrm>
          <a:prstGeom prst="roundRect">
            <a:avLst>
              <a:gd name="adj" fmla="val 10095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41" name="Text 33"/>
          <p:cNvSpPr txBox="1"/>
          <p:nvPr/>
        </p:nvSpPr>
        <p:spPr>
          <a:xfrm>
            <a:off x="6510528" y="2603754"/>
            <a:ext cx="1929384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dht11 DHT11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   </a:t>
            </a:r>
            <a:pPr indent="0" marL="0">
              <a:buNone/>
            </a:pPr>
            <a:r>
              <a:rPr lang="en-US" sz="1050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造一台</a:t>
            </a:r>
            <a:endParaRPr lang="en-US" sz="1050" dirty="0"/>
          </a:p>
        </p:txBody>
      </p:sp>
      <p:sp>
        <p:nvSpPr>
          <p:cNvPr id="42" name="Text 34"/>
          <p:cNvSpPr txBox="1"/>
          <p:nvPr/>
        </p:nvSpPr>
        <p:spPr>
          <a:xfrm>
            <a:off x="6510528" y="2790444"/>
            <a:ext cx="1929384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DHT11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 </a:t>
            </a:r>
            <a:pPr indent="0" marL="0">
              <a:buNone/>
            </a:pPr>
            <a:r>
              <a:rPr lang="en-US" sz="1050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读一次</a:t>
            </a:r>
            <a:endParaRPr lang="en-US" sz="1050" dirty="0"/>
          </a:p>
        </p:txBody>
      </p:sp>
      <p:sp>
        <p:nvSpPr>
          <p:cNvPr id="43" name="Text 35"/>
          <p:cNvSpPr txBox="1"/>
          <p:nvPr/>
        </p:nvSpPr>
        <p:spPr>
          <a:xfrm>
            <a:off x="6510528" y="2977134"/>
            <a:ext cx="1929384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DHT11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humidity </a:t>
            </a:r>
            <a:pPr indent="0" marL="0">
              <a:buNone/>
            </a:pPr>
            <a:r>
              <a:rPr lang="en-US" sz="1050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湿度</a:t>
            </a:r>
            <a:endParaRPr lang="en-US" sz="1050" dirty="0"/>
          </a:p>
        </p:txBody>
      </p:sp>
      <p:sp>
        <p:nvSpPr>
          <p:cNvPr id="44" name="Shape 36"/>
          <p:cNvSpPr/>
          <p:nvPr/>
        </p:nvSpPr>
        <p:spPr>
          <a:xfrm>
            <a:off x="6382512" y="3383280"/>
            <a:ext cx="219456" cy="219456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pic>
        <p:nvPicPr>
          <p:cNvPr id="4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35181" y="3435949"/>
            <a:ext cx="114117" cy="114117"/>
          </a:xfrm>
          <a:prstGeom prst="rect">
            <a:avLst/>
          </a:prstGeom>
        </p:spPr>
      </p:pic>
      <p:sp>
        <p:nvSpPr>
          <p:cNvPr id="46" name="Text 37"/>
          <p:cNvSpPr txBox="1"/>
          <p:nvPr/>
        </p:nvSpPr>
        <p:spPr>
          <a:xfrm>
            <a:off x="6693408" y="3364992"/>
            <a:ext cx="187452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常见错误：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大小写写错：dht11 是型号，DHT11 才是对象。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实验四　温湿度传感器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新语法小课堂②：setCursor() 和 print()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setCursor(列, 行) 先把光标移到位置（从 0 开始数），print() 再把文字或数字写上去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5120640" cy="1874520"/>
          </a:xfrm>
          <a:prstGeom prst="roundRect">
            <a:avLst>
              <a:gd name="adj" fmla="val 5854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94360" y="132588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setCursor(列, 行)</a:t>
            </a:r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：先指好从哪一格开始写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1691640"/>
            <a:ext cx="265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1179576" y="1691640"/>
            <a:ext cx="265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1444752" y="1691640"/>
            <a:ext cx="265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1709928" y="1691640"/>
            <a:ext cx="265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1975104" y="1691640"/>
            <a:ext cx="265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2240280" y="1691640"/>
            <a:ext cx="265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2505456" y="1691640"/>
            <a:ext cx="265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2770632" y="1691640"/>
            <a:ext cx="265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3035808" y="1691640"/>
            <a:ext cx="265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3300984" y="1691640"/>
            <a:ext cx="265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3566160" y="1691640"/>
            <a:ext cx="265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3831336" y="1691640"/>
            <a:ext cx="265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4096512" y="1691640"/>
            <a:ext cx="265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4361688" y="1691640"/>
            <a:ext cx="265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4626864" y="1691640"/>
            <a:ext cx="265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4892040" y="1691640"/>
            <a:ext cx="265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640080" y="1929384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640080" y="2295144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914400" y="1929384"/>
            <a:ext cx="265176" cy="365760"/>
          </a:xfrm>
          <a:prstGeom prst="rect">
            <a:avLst/>
          </a:prstGeom>
          <a:solidFill>
            <a:srgbClr val="40E0D0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14400" y="1929384"/>
            <a:ext cx="265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1179576" y="1929384"/>
            <a:ext cx="265176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1179576" y="1929384"/>
            <a:ext cx="265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1444752" y="1929384"/>
            <a:ext cx="265176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1444752" y="1929384"/>
            <a:ext cx="265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1709928" y="1929384"/>
            <a:ext cx="265176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709928" y="1929384"/>
            <a:ext cx="265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1300" dirty="0"/>
          </a:p>
        </p:txBody>
      </p:sp>
      <p:sp>
        <p:nvSpPr>
          <p:cNvPr id="34" name="Shape 31"/>
          <p:cNvSpPr/>
          <p:nvPr/>
        </p:nvSpPr>
        <p:spPr>
          <a:xfrm>
            <a:off x="1975104" y="1929384"/>
            <a:ext cx="265176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2240280" y="1929384"/>
            <a:ext cx="265176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2240280" y="1929384"/>
            <a:ext cx="265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300" dirty="0"/>
          </a:p>
        </p:txBody>
      </p:sp>
      <p:sp>
        <p:nvSpPr>
          <p:cNvPr id="37" name="Shape 34"/>
          <p:cNvSpPr/>
          <p:nvPr/>
        </p:nvSpPr>
        <p:spPr>
          <a:xfrm>
            <a:off x="2505456" y="1929384"/>
            <a:ext cx="265176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2505456" y="1929384"/>
            <a:ext cx="265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300" dirty="0"/>
          </a:p>
        </p:txBody>
      </p:sp>
      <p:sp>
        <p:nvSpPr>
          <p:cNvPr id="39" name="Shape 36"/>
          <p:cNvSpPr/>
          <p:nvPr/>
        </p:nvSpPr>
        <p:spPr>
          <a:xfrm>
            <a:off x="2770632" y="1929384"/>
            <a:ext cx="265176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2770632" y="1929384"/>
            <a:ext cx="265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3035808" y="1929384"/>
            <a:ext cx="265176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3035808" y="1929384"/>
            <a:ext cx="265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300" dirty="0"/>
          </a:p>
        </p:txBody>
      </p:sp>
      <p:sp>
        <p:nvSpPr>
          <p:cNvPr id="43" name="Shape 40"/>
          <p:cNvSpPr/>
          <p:nvPr/>
        </p:nvSpPr>
        <p:spPr>
          <a:xfrm>
            <a:off x="3300984" y="1929384"/>
            <a:ext cx="265176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3300984" y="1929384"/>
            <a:ext cx="265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300" dirty="0"/>
          </a:p>
        </p:txBody>
      </p:sp>
      <p:sp>
        <p:nvSpPr>
          <p:cNvPr id="45" name="Shape 42"/>
          <p:cNvSpPr/>
          <p:nvPr/>
        </p:nvSpPr>
        <p:spPr>
          <a:xfrm>
            <a:off x="3566160" y="1929384"/>
            <a:ext cx="265176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3566160" y="1929384"/>
            <a:ext cx="265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</a:t>
            </a:r>
            <a:endParaRPr lang="en-US" sz="1300" dirty="0"/>
          </a:p>
        </p:txBody>
      </p:sp>
      <p:sp>
        <p:nvSpPr>
          <p:cNvPr id="47" name="Shape 44"/>
          <p:cNvSpPr/>
          <p:nvPr/>
        </p:nvSpPr>
        <p:spPr>
          <a:xfrm>
            <a:off x="3831336" y="1929384"/>
            <a:ext cx="265176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4096512" y="1929384"/>
            <a:ext cx="265176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4361688" y="1929384"/>
            <a:ext cx="265176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4626864" y="1929384"/>
            <a:ext cx="265176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4892040" y="1929384"/>
            <a:ext cx="265176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914400" y="2295144"/>
            <a:ext cx="265176" cy="365760"/>
          </a:xfrm>
          <a:prstGeom prst="rect">
            <a:avLst/>
          </a:prstGeom>
          <a:solidFill>
            <a:srgbClr val="40E0D0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914400" y="2295144"/>
            <a:ext cx="265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</a:t>
            </a:r>
            <a:endParaRPr lang="en-US" sz="1300" dirty="0"/>
          </a:p>
        </p:txBody>
      </p:sp>
      <p:sp>
        <p:nvSpPr>
          <p:cNvPr id="54" name="Shape 51"/>
          <p:cNvSpPr/>
          <p:nvPr/>
        </p:nvSpPr>
        <p:spPr>
          <a:xfrm>
            <a:off x="1179576" y="2295144"/>
            <a:ext cx="265176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1179576" y="2295144"/>
            <a:ext cx="265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</a:t>
            </a:r>
            <a:endParaRPr lang="en-US" sz="1300" dirty="0"/>
          </a:p>
        </p:txBody>
      </p:sp>
      <p:sp>
        <p:nvSpPr>
          <p:cNvPr id="56" name="Shape 53"/>
          <p:cNvSpPr/>
          <p:nvPr/>
        </p:nvSpPr>
        <p:spPr>
          <a:xfrm>
            <a:off x="1444752" y="2295144"/>
            <a:ext cx="265176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1444752" y="2295144"/>
            <a:ext cx="265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</a:t>
            </a:r>
            <a:endParaRPr lang="en-US" sz="1300" dirty="0"/>
          </a:p>
        </p:txBody>
      </p:sp>
      <p:sp>
        <p:nvSpPr>
          <p:cNvPr id="58" name="Shape 55"/>
          <p:cNvSpPr/>
          <p:nvPr/>
        </p:nvSpPr>
        <p:spPr>
          <a:xfrm>
            <a:off x="1709928" y="2295144"/>
            <a:ext cx="265176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1709928" y="2295144"/>
            <a:ext cx="265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1300" dirty="0"/>
          </a:p>
        </p:txBody>
      </p:sp>
      <p:sp>
        <p:nvSpPr>
          <p:cNvPr id="60" name="Shape 57"/>
          <p:cNvSpPr/>
          <p:nvPr/>
        </p:nvSpPr>
        <p:spPr>
          <a:xfrm>
            <a:off x="1975104" y="2295144"/>
            <a:ext cx="265176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2240280" y="2295144"/>
            <a:ext cx="265176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2240280" y="2295144"/>
            <a:ext cx="265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300" dirty="0"/>
          </a:p>
        </p:txBody>
      </p:sp>
      <p:sp>
        <p:nvSpPr>
          <p:cNvPr id="63" name="Shape 60"/>
          <p:cNvSpPr/>
          <p:nvPr/>
        </p:nvSpPr>
        <p:spPr>
          <a:xfrm>
            <a:off x="2505456" y="2295144"/>
            <a:ext cx="265176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2505456" y="2295144"/>
            <a:ext cx="265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300" dirty="0"/>
          </a:p>
        </p:txBody>
      </p:sp>
      <p:sp>
        <p:nvSpPr>
          <p:cNvPr id="65" name="Shape 62"/>
          <p:cNvSpPr/>
          <p:nvPr/>
        </p:nvSpPr>
        <p:spPr>
          <a:xfrm>
            <a:off x="2770632" y="2295144"/>
            <a:ext cx="265176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2770632" y="2295144"/>
            <a:ext cx="265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endParaRPr lang="en-US" sz="1300" dirty="0"/>
          </a:p>
        </p:txBody>
      </p:sp>
      <p:sp>
        <p:nvSpPr>
          <p:cNvPr id="67" name="Shape 64"/>
          <p:cNvSpPr/>
          <p:nvPr/>
        </p:nvSpPr>
        <p:spPr>
          <a:xfrm>
            <a:off x="3035808" y="2295144"/>
            <a:ext cx="265176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68" name="Text 65"/>
          <p:cNvSpPr txBox="1"/>
          <p:nvPr/>
        </p:nvSpPr>
        <p:spPr>
          <a:xfrm>
            <a:off x="3035808" y="2295144"/>
            <a:ext cx="265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300" dirty="0"/>
          </a:p>
        </p:txBody>
      </p:sp>
      <p:sp>
        <p:nvSpPr>
          <p:cNvPr id="69" name="Shape 66"/>
          <p:cNvSpPr/>
          <p:nvPr/>
        </p:nvSpPr>
        <p:spPr>
          <a:xfrm>
            <a:off x="3300984" y="2295144"/>
            <a:ext cx="265176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3300984" y="2295144"/>
            <a:ext cx="265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300" dirty="0"/>
          </a:p>
        </p:txBody>
      </p:sp>
      <p:sp>
        <p:nvSpPr>
          <p:cNvPr id="71" name="Shape 68"/>
          <p:cNvSpPr/>
          <p:nvPr/>
        </p:nvSpPr>
        <p:spPr>
          <a:xfrm>
            <a:off x="3566160" y="2295144"/>
            <a:ext cx="265176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72" name="Text 69"/>
          <p:cNvSpPr txBox="1"/>
          <p:nvPr/>
        </p:nvSpPr>
        <p:spPr>
          <a:xfrm>
            <a:off x="3566160" y="2295144"/>
            <a:ext cx="265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</a:t>
            </a:r>
            <a:endParaRPr lang="en-US" sz="1300" dirty="0"/>
          </a:p>
        </p:txBody>
      </p:sp>
      <p:sp>
        <p:nvSpPr>
          <p:cNvPr id="73" name="Shape 70"/>
          <p:cNvSpPr/>
          <p:nvPr/>
        </p:nvSpPr>
        <p:spPr>
          <a:xfrm>
            <a:off x="3831336" y="2295144"/>
            <a:ext cx="265176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>
            <a:off x="4096512" y="2295144"/>
            <a:ext cx="265176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>
            <a:off x="4361688" y="2295144"/>
            <a:ext cx="265176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76" name="Shape 73"/>
          <p:cNvSpPr/>
          <p:nvPr/>
        </p:nvSpPr>
        <p:spPr>
          <a:xfrm>
            <a:off x="4626864" y="2295144"/>
            <a:ext cx="265176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77" name="Shape 74"/>
          <p:cNvSpPr/>
          <p:nvPr/>
        </p:nvSpPr>
        <p:spPr>
          <a:xfrm>
            <a:off x="4892040" y="2295144"/>
            <a:ext cx="265176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78" name="Text 75"/>
          <p:cNvSpPr txBox="1"/>
          <p:nvPr/>
        </p:nvSpPr>
        <p:spPr>
          <a:xfrm>
            <a:off x="594360" y="2770632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setCursor(0, 0)</a:t>
            </a:r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→ 第一行开头　</a:t>
            </a:r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setCursor(0, 1)</a:t>
            </a:r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 → 第二行开头</a:t>
            </a:r>
            <a:endParaRPr lang="en-US" sz="1100" dirty="0"/>
          </a:p>
        </p:txBody>
      </p:sp>
      <p:sp>
        <p:nvSpPr>
          <p:cNvPr id="79" name="Shape 76"/>
          <p:cNvSpPr/>
          <p:nvPr/>
        </p:nvSpPr>
        <p:spPr>
          <a:xfrm>
            <a:off x="411480" y="3383280"/>
            <a:ext cx="5120640" cy="1188720"/>
          </a:xfrm>
          <a:prstGeom prst="roundRect">
            <a:avLst>
              <a:gd name="adj" fmla="val 9231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80" name="Text 77"/>
          <p:cNvSpPr txBox="1"/>
          <p:nvPr/>
        </p:nvSpPr>
        <p:spPr>
          <a:xfrm>
            <a:off x="594360" y="347472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(float) 和“保留 2 位小数”</a:t>
            </a:r>
            <a:endParaRPr lang="en-US" sz="1250" dirty="0"/>
          </a:p>
        </p:txBody>
      </p:sp>
      <p:sp>
        <p:nvSpPr>
          <p:cNvPr id="81" name="Shape 78"/>
          <p:cNvSpPr/>
          <p:nvPr/>
        </p:nvSpPr>
        <p:spPr>
          <a:xfrm>
            <a:off x="594360" y="3785616"/>
            <a:ext cx="4754880" cy="351282"/>
          </a:xfrm>
          <a:prstGeom prst="roundRect">
            <a:avLst>
              <a:gd name="adj" fmla="val 20824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722376" y="3867912"/>
            <a:ext cx="4498848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lcd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((</a:t>
            </a:r>
            <a:pPr indent="0" marL="0"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float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DHT11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0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temperature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0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pPr indent="0" marL="0">
              <a:buNone/>
            </a:pPr>
            <a:r>
              <a:rPr lang="en-US" sz="10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050" dirty="0"/>
          </a:p>
        </p:txBody>
      </p:sp>
      <p:sp>
        <p:nvSpPr>
          <p:cNvPr id="83" name="Text 80"/>
          <p:cNvSpPr txBox="1"/>
          <p:nvPr/>
        </p:nvSpPr>
        <p:spPr>
          <a:xfrm>
            <a:off x="594360" y="419176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(float) 变成小数，参数 2 = 保留 2 位：24 → 24.00</a:t>
            </a:r>
            <a:endParaRPr lang="en-US" sz="1200" dirty="0"/>
          </a:p>
        </p:txBody>
      </p:sp>
      <p:sp>
        <p:nvSpPr>
          <p:cNvPr id="84" name="Shape 81"/>
          <p:cNvSpPr/>
          <p:nvPr/>
        </p:nvSpPr>
        <p:spPr>
          <a:xfrm>
            <a:off x="5806440" y="1234440"/>
            <a:ext cx="2926080" cy="1417320"/>
          </a:xfrm>
          <a:prstGeom prst="roundRect">
            <a:avLst>
              <a:gd name="adj" fmla="val 7742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85" name="Shape 82"/>
          <p:cNvSpPr/>
          <p:nvPr/>
        </p:nvSpPr>
        <p:spPr>
          <a:xfrm>
            <a:off x="5952744" y="1380744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8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1748" y="1459748"/>
            <a:ext cx="171176" cy="171176"/>
          </a:xfrm>
          <a:prstGeom prst="rect">
            <a:avLst/>
          </a:prstGeom>
        </p:spPr>
      </p:pic>
      <p:sp>
        <p:nvSpPr>
          <p:cNvPr id="87" name="Text 83"/>
          <p:cNvSpPr txBox="1"/>
          <p:nvPr/>
        </p:nvSpPr>
        <p:spPr>
          <a:xfrm>
            <a:off x="6409944" y="1371600"/>
            <a:ext cx="2176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像在格子本上写字</a:t>
            </a:r>
            <a:endParaRPr lang="en-US" sz="1300" dirty="0"/>
          </a:p>
        </p:txBody>
      </p:sp>
      <p:sp>
        <p:nvSpPr>
          <p:cNvPr id="88" name="Text 84"/>
          <p:cNvSpPr txBox="1"/>
          <p:nvPr/>
        </p:nvSpPr>
        <p:spPr>
          <a:xfrm>
            <a:off x="6409944" y="1682496"/>
            <a:ext cx="21762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LCD1602 是 16 列 × 2 行的格子本：setCursor 指到第几格，print 从那里往后写。</a:t>
            </a:r>
            <a:endParaRPr lang="en-US" sz="1200" dirty="0"/>
          </a:p>
        </p:txBody>
      </p:sp>
      <p:sp>
        <p:nvSpPr>
          <p:cNvPr id="89" name="Shape 85"/>
          <p:cNvSpPr/>
          <p:nvPr/>
        </p:nvSpPr>
        <p:spPr>
          <a:xfrm>
            <a:off x="5806440" y="2926080"/>
            <a:ext cx="292608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90" name="Shape 86"/>
          <p:cNvSpPr/>
          <p:nvPr/>
        </p:nvSpPr>
        <p:spPr>
          <a:xfrm>
            <a:off x="5971032" y="3090672"/>
            <a:ext cx="310896" cy="310896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pic>
        <p:nvPicPr>
          <p:cNvPr id="9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5647" y="3165287"/>
            <a:ext cx="161666" cy="161666"/>
          </a:xfrm>
          <a:prstGeom prst="rect">
            <a:avLst/>
          </a:prstGeom>
        </p:spPr>
      </p:pic>
      <p:sp>
        <p:nvSpPr>
          <p:cNvPr id="92" name="Text 87"/>
          <p:cNvSpPr txBox="1"/>
          <p:nvPr/>
        </p:nvSpPr>
        <p:spPr>
          <a:xfrm>
            <a:off x="6391656" y="3090672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常见错误</a:t>
            </a:r>
            <a:endParaRPr lang="en-US" sz="1350" dirty="0"/>
          </a:p>
        </p:txBody>
      </p:sp>
      <p:sp>
        <p:nvSpPr>
          <p:cNvPr id="93" name="Text 88"/>
          <p:cNvSpPr txBox="1"/>
          <p:nvPr/>
        </p:nvSpPr>
        <p:spPr>
          <a:xfrm>
            <a:off x="5971032" y="3511296"/>
            <a:ext cx="259689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① 行号从 0 开始：第二行是 1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② print 不擦旧字：新内容更短时，后面会残留旧字符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实验四　温湿度传感器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代码逐行看懂（1/2）：库、对象和准备工作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引入三个库，给 8 号脚起外号，创建传感器对象 DHT11 和屏幕对象 lcd，再初始化屏幕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4800600" cy="3337560"/>
          </a:xfrm>
          <a:prstGeom prst="roundRect">
            <a:avLst>
              <a:gd name="adj" fmla="val 274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39496" y="1298448"/>
            <a:ext cx="2880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dht11_lcd.ino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2331720" y="1298448"/>
            <a:ext cx="27523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1–13 行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1545336"/>
            <a:ext cx="4709160" cy="198628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02920" y="1545336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856016" y="1545336"/>
            <a:ext cx="422804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#include 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Wire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57200" y="1743964"/>
            <a:ext cx="4709160" cy="198628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2920" y="1743964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856016" y="1743964"/>
            <a:ext cx="422804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#include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"dht11.h"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457200" y="1942592"/>
            <a:ext cx="4709160" cy="198628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2920" y="1942592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856016" y="1942592"/>
            <a:ext cx="422804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#include 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"LiquidCrystal_I2C.h"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502920" y="2141220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856016" y="2141220"/>
            <a:ext cx="422804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57200" y="2339848"/>
            <a:ext cx="4709160" cy="198628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02920" y="2339848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856016" y="2339848"/>
            <a:ext cx="422804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#define    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DHT11PIN     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457200" y="2538476"/>
            <a:ext cx="4709160" cy="198628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02920" y="2538476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050" dirty="0"/>
          </a:p>
        </p:txBody>
      </p:sp>
      <p:sp>
        <p:nvSpPr>
          <p:cNvPr id="25" name="Text 22"/>
          <p:cNvSpPr txBox="1"/>
          <p:nvPr/>
        </p:nvSpPr>
        <p:spPr>
          <a:xfrm>
            <a:off x="856016" y="2538476"/>
            <a:ext cx="422804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dht11 DHT11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457200" y="2737104"/>
            <a:ext cx="4709160" cy="198628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02920" y="2737104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1050" dirty="0"/>
          </a:p>
        </p:txBody>
      </p:sp>
      <p:sp>
        <p:nvSpPr>
          <p:cNvPr id="28" name="Text 25"/>
          <p:cNvSpPr txBox="1"/>
          <p:nvPr/>
        </p:nvSpPr>
        <p:spPr>
          <a:xfrm>
            <a:off x="856016" y="2737104"/>
            <a:ext cx="422804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LiquidCrystal_I2C lcd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0x27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pPr indent="0" marL="0">
              <a:buNone/>
            </a:pPr>
            <a:r>
              <a:rPr lang="en-US" sz="115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0x27 is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457200" y="2935732"/>
            <a:ext cx="4709160" cy="198628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02920" y="2935732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↳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856016" y="2935732"/>
            <a:ext cx="422804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E8E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the I2C bus address for an unmodified backpack</a:t>
            </a:r>
            <a:endParaRPr lang="en-US" sz="1150" dirty="0"/>
          </a:p>
        </p:txBody>
      </p:sp>
      <p:sp>
        <p:nvSpPr>
          <p:cNvPr id="32" name="Text 29"/>
          <p:cNvSpPr txBox="1"/>
          <p:nvPr/>
        </p:nvSpPr>
        <p:spPr>
          <a:xfrm>
            <a:off x="502920" y="3134360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endParaRPr lang="en-US" sz="1050" dirty="0"/>
          </a:p>
        </p:txBody>
      </p:sp>
      <p:sp>
        <p:nvSpPr>
          <p:cNvPr id="33" name="Text 30"/>
          <p:cNvSpPr txBox="1"/>
          <p:nvPr/>
        </p:nvSpPr>
        <p:spPr>
          <a:xfrm>
            <a:off x="856016" y="3134360"/>
            <a:ext cx="422804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</a:t>
            </a:r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setup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 {</a:t>
            </a:r>
            <a:endParaRPr lang="en-US" sz="1150" dirty="0"/>
          </a:p>
        </p:txBody>
      </p:sp>
      <p:sp>
        <p:nvSpPr>
          <p:cNvPr id="34" name="Text 31"/>
          <p:cNvSpPr txBox="1"/>
          <p:nvPr/>
        </p:nvSpPr>
        <p:spPr>
          <a:xfrm>
            <a:off x="502920" y="3332988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856016" y="3332988"/>
            <a:ext cx="422804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pinMode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DHT11PIN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50" dirty="0"/>
          </a:p>
        </p:txBody>
      </p:sp>
      <p:sp>
        <p:nvSpPr>
          <p:cNvPr id="36" name="Text 33"/>
          <p:cNvSpPr txBox="1"/>
          <p:nvPr/>
        </p:nvSpPr>
        <p:spPr>
          <a:xfrm>
            <a:off x="502920" y="3531616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050" dirty="0"/>
          </a:p>
        </p:txBody>
      </p:sp>
      <p:sp>
        <p:nvSpPr>
          <p:cNvPr id="37" name="Text 34"/>
          <p:cNvSpPr txBox="1"/>
          <p:nvPr/>
        </p:nvSpPr>
        <p:spPr>
          <a:xfrm>
            <a:off x="856016" y="3531616"/>
            <a:ext cx="422804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lcd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init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</a:t>
            </a:r>
            <a:endParaRPr lang="en-US" sz="1150" dirty="0"/>
          </a:p>
        </p:txBody>
      </p:sp>
      <p:sp>
        <p:nvSpPr>
          <p:cNvPr id="38" name="Text 35"/>
          <p:cNvSpPr txBox="1"/>
          <p:nvPr/>
        </p:nvSpPr>
        <p:spPr>
          <a:xfrm>
            <a:off x="502920" y="3730244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1050" dirty="0"/>
          </a:p>
        </p:txBody>
      </p:sp>
      <p:sp>
        <p:nvSpPr>
          <p:cNvPr id="39" name="Text 36"/>
          <p:cNvSpPr txBox="1"/>
          <p:nvPr/>
        </p:nvSpPr>
        <p:spPr>
          <a:xfrm>
            <a:off x="856016" y="3730244"/>
            <a:ext cx="422804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lcd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backlight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();</a:t>
            </a:r>
            <a:endParaRPr lang="en-US" sz="1150" dirty="0"/>
          </a:p>
        </p:txBody>
      </p:sp>
      <p:sp>
        <p:nvSpPr>
          <p:cNvPr id="40" name="Text 37"/>
          <p:cNvSpPr txBox="1"/>
          <p:nvPr/>
        </p:nvSpPr>
        <p:spPr>
          <a:xfrm>
            <a:off x="502920" y="3928872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1050" dirty="0"/>
          </a:p>
        </p:txBody>
      </p:sp>
      <p:sp>
        <p:nvSpPr>
          <p:cNvPr id="41" name="Text 38"/>
          <p:cNvSpPr txBox="1"/>
          <p:nvPr/>
        </p:nvSpPr>
        <p:spPr>
          <a:xfrm>
            <a:off x="856016" y="3928872"/>
            <a:ext cx="422804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begin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5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9600</a:t>
            </a:r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50" dirty="0"/>
          </a:p>
        </p:txBody>
      </p:sp>
      <p:sp>
        <p:nvSpPr>
          <p:cNvPr id="42" name="Text 39"/>
          <p:cNvSpPr txBox="1"/>
          <p:nvPr/>
        </p:nvSpPr>
        <p:spPr>
          <a:xfrm>
            <a:off x="502920" y="4127500"/>
            <a:ext cx="228597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1050" dirty="0"/>
          </a:p>
        </p:txBody>
      </p:sp>
      <p:sp>
        <p:nvSpPr>
          <p:cNvPr id="43" name="Text 40"/>
          <p:cNvSpPr txBox="1"/>
          <p:nvPr/>
        </p:nvSpPr>
        <p:spPr>
          <a:xfrm>
            <a:off x="856016" y="4127500"/>
            <a:ext cx="4228048" cy="198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</p:txBody>
      </p:sp>
      <p:sp>
        <p:nvSpPr>
          <p:cNvPr id="44" name="Text 41"/>
          <p:cNvSpPr txBox="1"/>
          <p:nvPr/>
        </p:nvSpPr>
        <p:spPr>
          <a:xfrm>
            <a:off x="5532120" y="12344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逐行看懂</a:t>
            </a:r>
            <a:endParaRPr lang="en-US" sz="1300" dirty="0"/>
          </a:p>
        </p:txBody>
      </p:sp>
      <p:sp>
        <p:nvSpPr>
          <p:cNvPr id="45" name="Shape 42"/>
          <p:cNvSpPr/>
          <p:nvPr/>
        </p:nvSpPr>
        <p:spPr>
          <a:xfrm>
            <a:off x="5532120" y="1600200"/>
            <a:ext cx="723392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532120" y="1600200"/>
            <a:ext cx="723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1–3 行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6346952" y="1591056"/>
            <a:ext cx="2385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引入三个库（上一页讲过）</a:t>
            </a:r>
            <a:endParaRPr lang="en-US" sz="1200" dirty="0"/>
          </a:p>
        </p:txBody>
      </p:sp>
      <p:sp>
        <p:nvSpPr>
          <p:cNvPr id="48" name="Shape 45"/>
          <p:cNvSpPr/>
          <p:nvPr/>
        </p:nvSpPr>
        <p:spPr>
          <a:xfrm>
            <a:off x="5532120" y="2329434"/>
            <a:ext cx="723392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5532120" y="2329434"/>
            <a:ext cx="723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5–6 行</a:t>
            </a:r>
            <a:endParaRPr lang="en-US" sz="950" dirty="0"/>
          </a:p>
        </p:txBody>
      </p:sp>
      <p:sp>
        <p:nvSpPr>
          <p:cNvPr id="50" name="Text 47"/>
          <p:cNvSpPr txBox="1"/>
          <p:nvPr/>
        </p:nvSpPr>
        <p:spPr>
          <a:xfrm>
            <a:off x="6346952" y="2320290"/>
            <a:ext cx="2385568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 号脚起外号 DHT11PIN；</a:t>
            </a:r>
            <a:endParaRPr lang="en-US" sz="12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创建传感器对象 DHT11</a:t>
            </a:r>
            <a:endParaRPr lang="en-US" sz="1200" dirty="0"/>
          </a:p>
        </p:txBody>
      </p:sp>
      <p:sp>
        <p:nvSpPr>
          <p:cNvPr id="51" name="Shape 48"/>
          <p:cNvSpPr/>
          <p:nvPr/>
        </p:nvSpPr>
        <p:spPr>
          <a:xfrm>
            <a:off x="5532120" y="2801874"/>
            <a:ext cx="578612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5532120" y="2801874"/>
            <a:ext cx="5786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7 行</a:t>
            </a:r>
            <a:endParaRPr lang="en-US" sz="950" dirty="0"/>
          </a:p>
        </p:txBody>
      </p:sp>
      <p:sp>
        <p:nvSpPr>
          <p:cNvPr id="53" name="Text 50"/>
          <p:cNvSpPr txBox="1"/>
          <p:nvPr/>
        </p:nvSpPr>
        <p:spPr>
          <a:xfrm>
            <a:off x="6202172" y="2792730"/>
            <a:ext cx="2530348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创建屏幕对象 lcd：</a:t>
            </a:r>
            <a:endParaRPr lang="en-US" sz="12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地址 0x27，16 列 2 行</a:t>
            </a:r>
            <a:endParaRPr lang="en-US" sz="1200" dirty="0"/>
          </a:p>
        </p:txBody>
      </p:sp>
      <p:sp>
        <p:nvSpPr>
          <p:cNvPr id="54" name="Shape 51"/>
          <p:cNvSpPr/>
          <p:nvPr/>
        </p:nvSpPr>
        <p:spPr>
          <a:xfrm>
            <a:off x="5532120" y="3322574"/>
            <a:ext cx="578612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5532120" y="3322574"/>
            <a:ext cx="5786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9 行</a:t>
            </a:r>
            <a:endParaRPr lang="en-US" sz="950" dirty="0"/>
          </a:p>
        </p:txBody>
      </p:sp>
      <p:sp>
        <p:nvSpPr>
          <p:cNvPr id="56" name="Text 53"/>
          <p:cNvSpPr txBox="1"/>
          <p:nvPr/>
        </p:nvSpPr>
        <p:spPr>
          <a:xfrm>
            <a:off x="6202172" y="3313430"/>
            <a:ext cx="25303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 号脚先设为输出（库会自己切换）</a:t>
            </a:r>
            <a:endParaRPr lang="en-US" sz="1200" dirty="0"/>
          </a:p>
        </p:txBody>
      </p:sp>
      <p:sp>
        <p:nvSpPr>
          <p:cNvPr id="57" name="Shape 54"/>
          <p:cNvSpPr/>
          <p:nvPr/>
        </p:nvSpPr>
        <p:spPr>
          <a:xfrm>
            <a:off x="5532120" y="3633470"/>
            <a:ext cx="877824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5532120" y="3633470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10–12 行</a:t>
            </a:r>
            <a:endParaRPr lang="en-US" sz="950" dirty="0"/>
          </a:p>
        </p:txBody>
      </p:sp>
      <p:sp>
        <p:nvSpPr>
          <p:cNvPr id="59" name="Text 56"/>
          <p:cNvSpPr txBox="1"/>
          <p:nvPr/>
        </p:nvSpPr>
        <p:spPr>
          <a:xfrm>
            <a:off x="6501384" y="3624326"/>
            <a:ext cx="2231136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初始化屏幕、开背光；开串口（本程序没用到）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实验四　温湿度传感器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代码逐行看懂（2/2）：读一次，写两行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loop() 每轮：读一次温湿度 → 光标移到第一行写温度 → 移到第二行写湿度 → 等 0.2 秒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4343400" cy="2798064"/>
          </a:xfrm>
          <a:prstGeom prst="roundRect">
            <a:avLst>
              <a:gd name="adj" fmla="val 3268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39496" y="1298448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dht11_lcd.ino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2148840" y="1298448"/>
            <a:ext cx="2478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9A9A9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15–26 行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1545336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842254" y="1545336"/>
            <a:ext cx="378461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loop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 {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57200" y="1735328"/>
            <a:ext cx="4251960" cy="189992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02920" y="1735328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842254" y="1735328"/>
            <a:ext cx="378461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chk 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DHT11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DHT11PIN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1925320"/>
            <a:ext cx="4251960" cy="189992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02920" y="1925320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842254" y="1925320"/>
            <a:ext cx="378461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lcd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setCursor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2920" y="2115312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842254" y="2115312"/>
            <a:ext cx="378461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lcd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"Tep: "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305304"/>
            <a:ext cx="4251960" cy="189992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02920" y="2305304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842254" y="2305304"/>
            <a:ext cx="378461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lcd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((</a:t>
            </a:r>
            <a:pPr indent="0" marL="0">
              <a:buNone/>
            </a:pPr>
            <a:r>
              <a:rPr lang="en-US" sz="11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float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DHT11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temperature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502920" y="2495296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842254" y="2495296"/>
            <a:ext cx="378461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lcd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"C"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2685288"/>
            <a:ext cx="4251960" cy="189992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02920" y="2685288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842254" y="2685288"/>
            <a:ext cx="378461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lcd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setCursor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502920" y="2875280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842254" y="2875280"/>
            <a:ext cx="378461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lcd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"Hum: "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065272"/>
            <a:ext cx="4251960" cy="189992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02920" y="3065272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842254" y="3065272"/>
            <a:ext cx="378461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lcd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((</a:t>
            </a:r>
            <a:pPr indent="0" marL="0">
              <a:buNone/>
            </a:pPr>
            <a:r>
              <a:rPr lang="en-US" sz="11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float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DHT11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humidity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502920" y="3255264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842254" y="3255264"/>
            <a:ext cx="378461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lcd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"%"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3445256"/>
            <a:ext cx="4251960" cy="189992"/>
          </a:xfrm>
          <a:prstGeom prst="rect">
            <a:avLst/>
          </a:prstGeom>
          <a:solidFill>
            <a:srgbClr val="3E5250"/>
          </a:solidFill>
          <a:ln w="12700">
            <a:solidFill>
              <a:srgbClr val="3E5250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502920" y="3445256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40E0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842254" y="3445256"/>
            <a:ext cx="378461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delay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100" dirty="0">
                <a:solidFill>
                  <a:srgbClr val="F7C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200</a:t>
            </a:r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502920" y="3635248"/>
            <a:ext cx="218658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7A7A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</a:t>
            </a:r>
            <a:endParaRPr lang="en-US" sz="1000" dirty="0"/>
          </a:p>
        </p:txBody>
      </p:sp>
      <p:sp>
        <p:nvSpPr>
          <p:cNvPr id="38" name="Text 35"/>
          <p:cNvSpPr txBox="1"/>
          <p:nvPr/>
        </p:nvSpPr>
        <p:spPr>
          <a:xfrm>
            <a:off x="842254" y="3635248"/>
            <a:ext cx="3784610" cy="189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DB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5074920" y="1234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逐行看懂</a:t>
            </a:r>
            <a:endParaRPr lang="en-US" sz="1300" dirty="0"/>
          </a:p>
        </p:txBody>
      </p:sp>
      <p:sp>
        <p:nvSpPr>
          <p:cNvPr id="40" name="Shape 37"/>
          <p:cNvSpPr/>
          <p:nvPr/>
        </p:nvSpPr>
        <p:spPr>
          <a:xfrm>
            <a:off x="5074920" y="1720596"/>
            <a:ext cx="655828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074920" y="1720596"/>
            <a:ext cx="655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16 行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5822188" y="1711452"/>
            <a:ext cx="2910332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读一次温湿度；chk 是结果码（0 为成功），没用到</a:t>
            </a:r>
            <a:endParaRPr lang="en-US" sz="1200" dirty="0"/>
          </a:p>
        </p:txBody>
      </p:sp>
      <p:sp>
        <p:nvSpPr>
          <p:cNvPr id="43" name="Shape 40"/>
          <p:cNvSpPr/>
          <p:nvPr/>
        </p:nvSpPr>
        <p:spPr>
          <a:xfrm>
            <a:off x="5074920" y="2193036"/>
            <a:ext cx="655828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5074920" y="2193036"/>
            <a:ext cx="655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17 行</a:t>
            </a:r>
            <a:endParaRPr lang="en-US" sz="950" dirty="0"/>
          </a:p>
        </p:txBody>
      </p:sp>
      <p:sp>
        <p:nvSpPr>
          <p:cNvPr id="45" name="Text 42"/>
          <p:cNvSpPr txBox="1"/>
          <p:nvPr/>
        </p:nvSpPr>
        <p:spPr>
          <a:xfrm>
            <a:off x="5822188" y="2183892"/>
            <a:ext cx="29103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光标移到第 1 行开头</a:t>
            </a:r>
            <a:endParaRPr lang="en-US" sz="1200" dirty="0"/>
          </a:p>
        </p:txBody>
      </p:sp>
      <p:sp>
        <p:nvSpPr>
          <p:cNvPr id="46" name="Shape 43"/>
          <p:cNvSpPr/>
          <p:nvPr/>
        </p:nvSpPr>
        <p:spPr>
          <a:xfrm>
            <a:off x="5074920" y="2503932"/>
            <a:ext cx="877824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074920" y="2503932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18–20 行</a:t>
            </a:r>
            <a:endParaRPr lang="en-US" sz="950" dirty="0"/>
          </a:p>
        </p:txBody>
      </p:sp>
      <p:sp>
        <p:nvSpPr>
          <p:cNvPr id="48" name="Text 45"/>
          <p:cNvSpPr txBox="1"/>
          <p:nvPr/>
        </p:nvSpPr>
        <p:spPr>
          <a:xfrm>
            <a:off x="6044184" y="2494788"/>
            <a:ext cx="2688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显示 Tep: 24.00C（Tep 即 Temp）</a:t>
            </a:r>
            <a:endParaRPr lang="en-US" sz="1200" dirty="0"/>
          </a:p>
        </p:txBody>
      </p:sp>
      <p:sp>
        <p:nvSpPr>
          <p:cNvPr id="49" name="Shape 46"/>
          <p:cNvSpPr/>
          <p:nvPr/>
        </p:nvSpPr>
        <p:spPr>
          <a:xfrm>
            <a:off x="5074920" y="2814828"/>
            <a:ext cx="655828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5074920" y="2814828"/>
            <a:ext cx="655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21 行</a:t>
            </a:r>
            <a:endParaRPr lang="en-US" sz="950" dirty="0"/>
          </a:p>
        </p:txBody>
      </p:sp>
      <p:sp>
        <p:nvSpPr>
          <p:cNvPr id="51" name="Text 48"/>
          <p:cNvSpPr txBox="1"/>
          <p:nvPr/>
        </p:nvSpPr>
        <p:spPr>
          <a:xfrm>
            <a:off x="5822188" y="2805684"/>
            <a:ext cx="29103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光标移到第 2 行开头</a:t>
            </a:r>
            <a:endParaRPr lang="en-US" sz="1200" dirty="0"/>
          </a:p>
        </p:txBody>
      </p:sp>
      <p:sp>
        <p:nvSpPr>
          <p:cNvPr id="52" name="Shape 49"/>
          <p:cNvSpPr/>
          <p:nvPr/>
        </p:nvSpPr>
        <p:spPr>
          <a:xfrm>
            <a:off x="5074920" y="3125724"/>
            <a:ext cx="877824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5074920" y="3125724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22–24 行</a:t>
            </a:r>
            <a:endParaRPr lang="en-US" sz="950" dirty="0"/>
          </a:p>
        </p:txBody>
      </p:sp>
      <p:sp>
        <p:nvSpPr>
          <p:cNvPr id="54" name="Text 51"/>
          <p:cNvSpPr txBox="1"/>
          <p:nvPr/>
        </p:nvSpPr>
        <p:spPr>
          <a:xfrm>
            <a:off x="6044184" y="3116580"/>
            <a:ext cx="2688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显示 Hum: 46.00%</a:t>
            </a:r>
            <a:endParaRPr lang="en-US" sz="1200" dirty="0"/>
          </a:p>
        </p:txBody>
      </p:sp>
      <p:sp>
        <p:nvSpPr>
          <p:cNvPr id="55" name="Shape 52"/>
          <p:cNvSpPr/>
          <p:nvPr/>
        </p:nvSpPr>
        <p:spPr>
          <a:xfrm>
            <a:off x="5074920" y="3436620"/>
            <a:ext cx="655828" cy="219456"/>
          </a:xfrm>
          <a:prstGeom prst="roundRect">
            <a:avLst>
              <a:gd name="adj" fmla="val 50000"/>
            </a:avLst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5074920" y="3436620"/>
            <a:ext cx="655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25 行</a:t>
            </a:r>
            <a:endParaRPr lang="en-US" sz="950" dirty="0"/>
          </a:p>
        </p:txBody>
      </p:sp>
      <p:sp>
        <p:nvSpPr>
          <p:cNvPr id="57" name="Text 54"/>
          <p:cNvSpPr txBox="1"/>
          <p:nvPr/>
        </p:nvSpPr>
        <p:spPr>
          <a:xfrm>
            <a:off x="5822188" y="3427476"/>
            <a:ext cx="29103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等 0.2 秒再读（偏短，见常见坑）</a:t>
            </a:r>
            <a:endParaRPr lang="en-US" sz="1200" dirty="0"/>
          </a:p>
        </p:txBody>
      </p:sp>
      <p:sp>
        <p:nvSpPr>
          <p:cNvPr id="58" name="Shape 55"/>
          <p:cNvSpPr/>
          <p:nvPr/>
        </p:nvSpPr>
        <p:spPr>
          <a:xfrm>
            <a:off x="411480" y="4261104"/>
            <a:ext cx="4343400" cy="310896"/>
          </a:xfrm>
          <a:prstGeom prst="roundRect">
            <a:avLst>
              <a:gd name="adj" fmla="val 35294"/>
            </a:avLst>
          </a:prstGeom>
          <a:solidFill>
            <a:srgbClr val="FFFFFF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557784" y="4288536"/>
            <a:ext cx="4050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25 行偏短：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DHT11 两次读取最好隔 1 秒以上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实验四　温湿度传感器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实验结果：LCD 第一行温度，第二行湿度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上传后 LCD 显示 Tep: 24.00C 和 Hum: 46.00%；对着传感器哈口气，湿度会明显上升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4160520" cy="3337560"/>
          </a:xfrm>
          <a:prstGeom prst="roundRect">
            <a:avLst>
              <a:gd name="adj" fmla="val 3288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pic>
        <p:nvPicPr>
          <p:cNvPr id="7" name="Image 0" descr="原指南实物：LCD 显示 Tep: 24.00C / Hum: 46.00%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6630" y="1344168"/>
            <a:ext cx="3750220" cy="284378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21208" y="4224528"/>
            <a:ext cx="3941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原指南实物：LCD 显示 Tep: 24.00C / Hum: 46.00%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4892040" y="1234440"/>
            <a:ext cx="3840480" cy="914400"/>
          </a:xfrm>
          <a:prstGeom prst="roundRect">
            <a:avLst>
              <a:gd name="adj" fmla="val 1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020056" y="1362456"/>
            <a:ext cx="3584448" cy="658368"/>
          </a:xfrm>
          <a:prstGeom prst="rect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5166360" y="1362456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Tep: 24.00C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5166360" y="1691640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Hum: 46.00%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4892040" y="2423160"/>
            <a:ext cx="3840480" cy="822960"/>
          </a:xfrm>
          <a:prstGeom prst="roundRect">
            <a:avLst>
              <a:gd name="adj" fmla="val 13333"/>
            </a:avLst>
          </a:prstGeom>
          <a:solidFill>
            <a:srgbClr val="E3FAF7"/>
          </a:solidFill>
          <a:ln w="12700">
            <a:solidFill>
              <a:srgbClr val="E3FAF7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038344" y="2670048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7348" y="2749052"/>
            <a:ext cx="171176" cy="17117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495544" y="2459736"/>
            <a:ext cx="3090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原指南：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结果显示在 LCD 上，第一行显示温度，第二行显示湿度。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4892040" y="3520440"/>
            <a:ext cx="3840480" cy="1051560"/>
          </a:xfrm>
          <a:prstGeom prst="roundRect">
            <a:avLst>
              <a:gd name="adj" fmla="val 10435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5038344" y="3666744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7348" y="3745748"/>
            <a:ext cx="171176" cy="17117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5477256" y="36667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为什么总是 .00？</a:t>
            </a:r>
            <a:endParaRPr lang="en-US" sz="1350" dirty="0"/>
          </a:p>
        </p:txBody>
      </p:sp>
      <p:sp>
        <p:nvSpPr>
          <p:cNvPr id="21" name="Text 15"/>
          <p:cNvSpPr txBox="1"/>
          <p:nvPr/>
        </p:nvSpPr>
        <p:spPr>
          <a:xfrm>
            <a:off x="5038344" y="4069080"/>
            <a:ext cx="3547872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DHT11 只测到整数精度，程序用 (float) 保留 2 位小数显示，就成了 24.00。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实验四　温湿度传感器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扩展板接法、常见坑与动手改一改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有 Sensor V5.0 扩展板时接线更方便；读得太勤、LCD 没字是两个最常见的问题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11480" y="1234440"/>
            <a:ext cx="2331720" cy="3337560"/>
          </a:xfrm>
          <a:prstGeom prst="roundRect">
            <a:avLst>
              <a:gd name="adj" fmla="val 4706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pic>
        <p:nvPicPr>
          <p:cNvPr id="7" name="Image 0" descr="扩展板接法（原指南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" y="1357884"/>
            <a:ext cx="2112264" cy="281635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21208" y="4224528"/>
            <a:ext cx="21122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扩展板接法（原指南）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3017520" y="1234440"/>
            <a:ext cx="5715000" cy="731520"/>
          </a:xfrm>
          <a:prstGeom prst="roundRect">
            <a:avLst>
              <a:gd name="adj" fmla="val 15000"/>
            </a:avLst>
          </a:prstGeom>
          <a:solidFill>
            <a:srgbClr val="E3FAF7"/>
          </a:solidFill>
          <a:ln w="12700">
            <a:solidFill>
              <a:srgbClr val="E3FAF7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3163824" y="1380744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2828" y="1459748"/>
            <a:ext cx="171176" cy="17117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3621024" y="1371600"/>
            <a:ext cx="4965192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原指南：套件中有 Sensor V5.0 扩展板时，可以按左图接线，更加方便。照片里屏幕显示“Tep:30 C / Hum:45 %”，是另一版程序的显示格式。</a:t>
            </a:r>
            <a:endParaRPr lang="en-US" sz="1200" dirty="0"/>
          </a:p>
        </p:txBody>
      </p:sp>
      <p:sp>
        <p:nvSpPr>
          <p:cNvPr id="13" name="Shape 8"/>
          <p:cNvSpPr/>
          <p:nvPr/>
        </p:nvSpPr>
        <p:spPr>
          <a:xfrm>
            <a:off x="3017520" y="2240280"/>
            <a:ext cx="272034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3182112" y="2404872"/>
            <a:ext cx="310896" cy="310896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6727" y="2479487"/>
            <a:ext cx="161666" cy="161666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3602736" y="2404872"/>
            <a:ext cx="19705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读得太勤</a:t>
            </a:r>
            <a:endParaRPr lang="en-US" sz="1350" dirty="0"/>
          </a:p>
        </p:txBody>
      </p:sp>
      <p:sp>
        <p:nvSpPr>
          <p:cNvPr id="17" name="Text 11"/>
          <p:cNvSpPr txBox="1"/>
          <p:nvPr/>
        </p:nvSpPr>
        <p:spPr>
          <a:xfrm>
            <a:off x="3182112" y="2825496"/>
            <a:ext cx="239115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delay(200) 太短：DHT11 两次读取最好间隔 1 秒以上，改成 delay(2000) 更稳。</a:t>
            </a:r>
            <a:endParaRPr lang="en-US" sz="1200" dirty="0"/>
          </a:p>
        </p:txBody>
      </p:sp>
      <p:sp>
        <p:nvSpPr>
          <p:cNvPr id="18" name="Shape 12"/>
          <p:cNvSpPr/>
          <p:nvPr/>
        </p:nvSpPr>
        <p:spPr>
          <a:xfrm>
            <a:off x="6012180" y="2240280"/>
            <a:ext cx="272034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6176772" y="2404872"/>
            <a:ext cx="310896" cy="310896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1387" y="2479487"/>
            <a:ext cx="161666" cy="161666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6597396" y="2404872"/>
            <a:ext cx="19705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E548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LCD 亮了却没有字</a:t>
            </a:r>
            <a:endParaRPr lang="en-US" sz="1350" dirty="0"/>
          </a:p>
        </p:txBody>
      </p:sp>
      <p:sp>
        <p:nvSpPr>
          <p:cNvPr id="22" name="Text 15"/>
          <p:cNvSpPr txBox="1"/>
          <p:nvPr/>
        </p:nvSpPr>
        <p:spPr>
          <a:xfrm>
            <a:off x="6176772" y="2825496"/>
            <a:ext cx="239115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拧背面蓝色电位器调对比度；还不行就查地址：常见是 0x27，有的屏是 0x3F。</a:t>
            </a:r>
            <a:endParaRPr lang="en-US" sz="1200" dirty="0"/>
          </a:p>
        </p:txBody>
      </p:sp>
      <p:sp>
        <p:nvSpPr>
          <p:cNvPr id="23" name="Shape 16"/>
          <p:cNvSpPr/>
          <p:nvPr/>
        </p:nvSpPr>
        <p:spPr>
          <a:xfrm>
            <a:off x="3017520" y="3931920"/>
            <a:ext cx="5715000" cy="640080"/>
          </a:xfrm>
          <a:prstGeom prst="roundRect">
            <a:avLst>
              <a:gd name="adj" fmla="val 17143"/>
            </a:avLst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24" name="Shape 17"/>
          <p:cNvSpPr/>
          <p:nvPr/>
        </p:nvSpPr>
        <p:spPr>
          <a:xfrm>
            <a:off x="3163824" y="4087368"/>
            <a:ext cx="329184" cy="329184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42828" y="4166372"/>
            <a:ext cx="171176" cy="171176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3621024" y="3968496"/>
            <a:ext cx="4965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动手改一改　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在 loop() 里加一句 </a:t>
            </a:r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Serial.println(DHT11.humidity);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，串口监视器里也能看湿度。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4572000" y="473659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小结</a:t>
            </a:r>
            <a:endParaRPr lang="en-US" sz="8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411480" y="274320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本节小结</a:t>
            </a:r>
            <a:endParaRPr lang="en-US" sz="2400" dirty="0"/>
          </a:p>
        </p:txBody>
      </p:sp>
      <p:sp>
        <p:nvSpPr>
          <p:cNvPr id="4" name="Text 1"/>
          <p:cNvSpPr/>
          <p:nvPr>
            <p:ph idx="104" type="body" hasCustomPrompt="1"/>
          </p:nvPr>
        </p:nvSpPr>
        <p:spPr>
          <a:xfrm>
            <a:off x="411480" y="786384"/>
            <a:ext cx="8321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四个传感器，一条主线：测时间算距离、读字符拼数字、读高低做判断、按时序收数据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11480" y="123444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四个实验，一条主线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411480" y="1655064"/>
            <a:ext cx="274320" cy="274320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11480" y="16550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813816" y="1678718"/>
            <a:ext cx="3255264" cy="245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超声波：</a:t>
            </a:r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回声时间 ÷ 58 = 厘米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11480" y="2057400"/>
            <a:ext cx="274320" cy="274320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11480" y="20574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13816" y="2081054"/>
            <a:ext cx="3255264" cy="245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串口舵机：</a:t>
            </a:r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一个个读字符，拼成数字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11480" y="2459736"/>
            <a:ext cx="274320" cy="274320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11480" y="24597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13816" y="2483390"/>
            <a:ext cx="3255264" cy="245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红外避障：</a:t>
            </a:r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读到 0 = 前方有障碍物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411480" y="2862072"/>
            <a:ext cx="274320" cy="274320"/>
          </a:xfrm>
          <a:prstGeom prst="ellipse">
            <a:avLst/>
          </a:prstGeom>
          <a:solidFill>
            <a:srgbClr val="40E0D0"/>
          </a:solidFill>
          <a:ln w="12700">
            <a:solidFill>
              <a:srgbClr val="40E0D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11480" y="2862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813816" y="2885726"/>
            <a:ext cx="3255264" cy="245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DHT11：</a:t>
            </a:r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高电平长短 = 0 / 1，共 40 位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411480" y="330098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本节新语法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411480" y="3611880"/>
            <a:ext cx="618744" cy="241300"/>
          </a:xfrm>
          <a:prstGeom prst="roundRect">
            <a:avLst>
              <a:gd name="adj" fmla="val 5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11480" y="3611880"/>
            <a:ext cx="618744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1103376" y="3611880"/>
            <a:ext cx="1685544" cy="241300"/>
          </a:xfrm>
          <a:prstGeom prst="roundRect">
            <a:avLst>
              <a:gd name="adj" fmla="val 5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1103376" y="3611880"/>
            <a:ext cx="1685544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delayMicroseconds()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2862072" y="3611880"/>
            <a:ext cx="923544" cy="241300"/>
          </a:xfrm>
          <a:prstGeom prst="roundRect">
            <a:avLst>
              <a:gd name="adj" fmla="val 5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62072" y="3611880"/>
            <a:ext cx="923544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pulseIn()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411480" y="3926332"/>
            <a:ext cx="1075944" cy="241300"/>
          </a:xfrm>
          <a:prstGeom prst="roundRect">
            <a:avLst>
              <a:gd name="adj" fmla="val 5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411480" y="3926332"/>
            <a:ext cx="1075944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available()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1560576" y="3926332"/>
            <a:ext cx="694944" cy="241300"/>
          </a:xfrm>
          <a:prstGeom prst="roundRect">
            <a:avLst>
              <a:gd name="adj" fmla="val 5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1560576" y="3926332"/>
            <a:ext cx="694944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read()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2328672" y="3926332"/>
            <a:ext cx="694944" cy="241300"/>
          </a:xfrm>
          <a:prstGeom prst="roundRect">
            <a:avLst>
              <a:gd name="adj" fmla="val 5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2328672" y="3926332"/>
            <a:ext cx="694944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3096768" y="3926332"/>
            <a:ext cx="771144" cy="241300"/>
          </a:xfrm>
          <a:prstGeom prst="roundRect">
            <a:avLst>
              <a:gd name="adj" fmla="val 5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3096768" y="3926332"/>
            <a:ext cx="771144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toInt()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411480" y="4240784"/>
            <a:ext cx="847344" cy="241300"/>
          </a:xfrm>
          <a:prstGeom prst="roundRect">
            <a:avLst>
              <a:gd name="adj" fmla="val 5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11480" y="4240784"/>
            <a:ext cx="847344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#include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1331976" y="4240784"/>
            <a:ext cx="771144" cy="241300"/>
          </a:xfrm>
          <a:prstGeom prst="roundRect">
            <a:avLst>
              <a:gd name="adj" fmla="val 5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331976" y="4240784"/>
            <a:ext cx="771144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#define</a:t>
            </a:r>
            <a:endParaRPr lang="en-US" sz="1000" dirty="0"/>
          </a:p>
        </p:txBody>
      </p:sp>
      <p:sp>
        <p:nvSpPr>
          <p:cNvPr id="38" name="Shape 35"/>
          <p:cNvSpPr/>
          <p:nvPr/>
        </p:nvSpPr>
        <p:spPr>
          <a:xfrm>
            <a:off x="2176272" y="4240784"/>
            <a:ext cx="821944" cy="241300"/>
          </a:xfrm>
          <a:prstGeom prst="roundRect">
            <a:avLst>
              <a:gd name="adj" fmla="val 50000"/>
            </a:avLst>
          </a:prstGeom>
          <a:solidFill>
            <a:srgbClr val="2D2D2D"/>
          </a:solidFill>
          <a:ln w="12700">
            <a:solidFill>
              <a:srgbClr val="2D2D2D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2176272" y="4240784"/>
            <a:ext cx="821944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对象.成员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4343400" y="1234440"/>
            <a:ext cx="2194560" cy="1668780"/>
          </a:xfrm>
          <a:prstGeom prst="rect">
            <a:avLst/>
          </a:prstGeom>
          <a:solidFill>
            <a:srgbClr val="40E0D0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4544568" y="1399032"/>
            <a:ext cx="1792224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÷ 58</a:t>
            </a:r>
            <a:endParaRPr lang="en-US" sz="2600" dirty="0"/>
          </a:p>
        </p:txBody>
      </p:sp>
      <p:sp>
        <p:nvSpPr>
          <p:cNvPr id="42" name="Text 39"/>
          <p:cNvSpPr txBox="1"/>
          <p:nvPr/>
        </p:nvSpPr>
        <p:spPr>
          <a:xfrm>
            <a:off x="4544568" y="2145030"/>
            <a:ext cx="1792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超声波测距</a:t>
            </a:r>
            <a:endParaRPr lang="en-US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4544568" y="2492502"/>
            <a:ext cx="179222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回声时间 → 距离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>
            <a:off x="6537960" y="1234440"/>
            <a:ext cx="2194560" cy="1668780"/>
          </a:xfrm>
          <a:prstGeom prst="rect">
            <a:avLst/>
          </a:prstGeom>
          <a:solidFill>
            <a:srgbClr val="EBEBEB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6739128" y="1399032"/>
            <a:ext cx="1792224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2D2D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toInt()</a:t>
            </a:r>
            <a:endParaRPr lang="en-US" sz="2600" dirty="0"/>
          </a:p>
        </p:txBody>
      </p:sp>
      <p:sp>
        <p:nvSpPr>
          <p:cNvPr id="46" name="Text 43"/>
          <p:cNvSpPr txBox="1"/>
          <p:nvPr/>
        </p:nvSpPr>
        <p:spPr>
          <a:xfrm>
            <a:off x="6739128" y="2145030"/>
            <a:ext cx="1792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串口读字符</a:t>
            </a:r>
            <a:endParaRPr lang="en-US" sz="1500" dirty="0"/>
          </a:p>
        </p:txBody>
      </p:sp>
      <p:sp>
        <p:nvSpPr>
          <p:cNvPr id="47" name="Text 44"/>
          <p:cNvSpPr txBox="1"/>
          <p:nvPr/>
        </p:nvSpPr>
        <p:spPr>
          <a:xfrm>
            <a:off x="6739128" y="2492502"/>
            <a:ext cx="179222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"180" → 180</a:t>
            </a:r>
            <a:endParaRPr lang="en-US" sz="1200" dirty="0"/>
          </a:p>
        </p:txBody>
      </p:sp>
      <p:sp>
        <p:nvSpPr>
          <p:cNvPr id="48" name="Shape 45"/>
          <p:cNvSpPr/>
          <p:nvPr/>
        </p:nvSpPr>
        <p:spPr>
          <a:xfrm>
            <a:off x="4343400" y="2903220"/>
            <a:ext cx="2194560" cy="1668780"/>
          </a:xfrm>
          <a:prstGeom prst="rect">
            <a:avLst/>
          </a:prstGeom>
          <a:solidFill>
            <a:srgbClr val="2D2D2D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544568" y="3067812"/>
            <a:ext cx="1792224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40E0D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 = 有</a:t>
            </a:r>
            <a:endParaRPr lang="en-US" sz="2600" dirty="0"/>
          </a:p>
        </p:txBody>
      </p:sp>
      <p:sp>
        <p:nvSpPr>
          <p:cNvPr id="50" name="Text 47"/>
          <p:cNvSpPr txBox="1"/>
          <p:nvPr/>
        </p:nvSpPr>
        <p:spPr>
          <a:xfrm>
            <a:off x="4544568" y="3813810"/>
            <a:ext cx="1792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红外避障</a:t>
            </a:r>
            <a:endParaRPr lang="en-US" sz="1500" dirty="0"/>
          </a:p>
        </p:txBody>
      </p:sp>
      <p:sp>
        <p:nvSpPr>
          <p:cNvPr id="51" name="Text 48"/>
          <p:cNvSpPr txBox="1"/>
          <p:nvPr/>
        </p:nvSpPr>
        <p:spPr>
          <a:xfrm>
            <a:off x="4544568" y="4161282"/>
            <a:ext cx="179222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0D0D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低电平 = 有障碍物</a:t>
            </a:r>
            <a:endParaRPr lang="en-US" sz="1200" dirty="0"/>
          </a:p>
        </p:txBody>
      </p:sp>
      <p:sp>
        <p:nvSpPr>
          <p:cNvPr id="52" name="Shape 49"/>
          <p:cNvSpPr/>
          <p:nvPr/>
        </p:nvSpPr>
        <p:spPr>
          <a:xfrm>
            <a:off x="6537960" y="2903220"/>
            <a:ext cx="2194560" cy="16687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2E2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6739128" y="3067812"/>
            <a:ext cx="1792224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40 位</a:t>
            </a:r>
            <a:endParaRPr lang="en-US" sz="2600" dirty="0"/>
          </a:p>
        </p:txBody>
      </p:sp>
      <p:sp>
        <p:nvSpPr>
          <p:cNvPr id="54" name="Text 51"/>
          <p:cNvSpPr txBox="1"/>
          <p:nvPr/>
        </p:nvSpPr>
        <p:spPr>
          <a:xfrm>
            <a:off x="6739128" y="3813810"/>
            <a:ext cx="1792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DHT11 单总线</a:t>
            </a:r>
            <a:endParaRPr lang="en-US" sz="1500" dirty="0"/>
          </a:p>
        </p:txBody>
      </p:sp>
      <p:sp>
        <p:nvSpPr>
          <p:cNvPr id="55" name="Text 52"/>
          <p:cNvSpPr txBox="1"/>
          <p:nvPr/>
        </p:nvSpPr>
        <p:spPr>
          <a:xfrm>
            <a:off x="6739128" y="4161282"/>
            <a:ext cx="179222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高电平长短 = 0 / 1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39328" y="4736592"/>
            <a:ext cx="393192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800">
                <a:solidFill>
                  <a:srgbClr val="6B6B6B"/>
                </a:solidFill>
                <a:latin typeface="微软雅黑"/>
                <a:ea typeface="微软雅黑"/>
                <a:cs typeface="微软雅黑"/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02920" y="109728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会测量，也会“说话”</a:t>
            </a:r>
            <a:endParaRPr lang="en-US" sz="34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502920" y="205740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把超声波、红外和温湿度装进你的设计，让作品感知周围的世界。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D2D2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下一节：2-3　WS2812b 彩灯 · LCD1602 动态显示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rduino Turquoise">
  <a:themeElements>
    <a:clrScheme name="Arduino Turquoise">
      <a:dk1>
        <a:srgbClr val="2D2D2D"/>
      </a:dk1>
      <a:lt1>
        <a:srgbClr val="FFFFFF"/>
      </a:lt1>
      <a:dk2>
        <a:srgbClr val="6B6B6B"/>
      </a:dk2>
      <a:lt2>
        <a:srgbClr val="F5F5F5"/>
      </a:lt2>
      <a:accent1>
        <a:srgbClr val="40E0D0"/>
      </a:accent1>
      <a:accent2>
        <a:srgbClr val="EBEBEB"/>
      </a:accent2>
      <a:accent3>
        <a:srgbClr val="E2E2E2"/>
      </a:accent3>
      <a:accent4>
        <a:srgbClr val="2D2D2D"/>
      </a:accent4>
      <a:accent5>
        <a:srgbClr val="E5484D"/>
      </a:accent5>
      <a:accent6>
        <a:srgbClr val="1A9E92"/>
      </a:accent6>
      <a:hlink>
        <a:srgbClr val="1A9E92"/>
      </a:hlink>
      <a:folHlink>
        <a:srgbClr val="6B6B6B"/>
      </a:folHlink>
    </a:clrScheme>
    <a:fontScheme name="Arduino Turquoise">
      <a:majorFont>
        <a:latin typeface="微软雅黑"/>
        <a:ea typeface="微软雅黑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微软雅黑"/>
        <a:ea typeface="微软雅黑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湖北工业大学 · 工业设计学院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2-2 测距、通信与环境感知：超声波 · 串口调节舵机 · 红外避障 · 温湿度传感器</dc:title>
  <dc:subject>Arduino 编程</dc:subject>
  <dc:creator>湖北工业大学 · 工业设计学院</dc:creator>
  <cp:lastModifiedBy>湖北工业大学 · 工业设计学院</cp:lastModifiedBy>
  <cp:revision>1</cp:revision>
  <dcterms:created xsi:type="dcterms:W3CDTF">2026-10-12T15:31:38Z</dcterms:created>
  <dcterms:modified xsi:type="dcterms:W3CDTF">2026-10-12T15:31:38Z</dcterms:modified>
</cp:coreProperties>
</file>