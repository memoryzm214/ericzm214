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导入" id="{1f79a945-5cf5-2a32-5f32-93170cf888ab}">
          <p14:sldIdLst>
            <p14:sldId id="257"/>
          </p14:sldIdLst>
        </p14:section>
        <p14:section name="实验一　WS2812b 灯环" id="{9b3dbcf8-43de-f5f0-9845-d4320e9d034b}">
          <p14:sldIdLst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</p14:sldIdLst>
        </p14:section>
        <p14:section name="实验二　LCD1602 显示屏" id="{c2a6de22-af4b-9f42-655c-14be9ee8d73e}">
          <p14:sldIdLst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  <p14:sldId id="281"/>
            <p14:sldId id="282"/>
            <p14:sldId id="283"/>
          </p14:sldIdLst>
        </p14:section>
        <p14:section name="小结" id="{6c7d0aa8-1557-bedf-f85c-5bda7c21bf8b}">
          <p14:sldIdLst>
            <p14:sldId id="284"/>
            <p14:sldId id="28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这节课做两个“显示”实验：先让一圈 12 颗彩灯亮起来，再让液晶屏显示文字。开场可以问学生：商场的灯带、电梯里的楼层屏，是怎么被控制的？两个实验都要用到别人写好的“库”，这是今天最重要的新本领。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先给学生一张地图：实验一是 WS2812b 灯环，实验二是 LCD1602 显示屏，按原指南的顺序来做。两个模块内部都很复杂，但有人已经把控制它们的代码写成了“库”，我们装上库、创建一个“对象”，再用 对象.函数() 给它下命令就行。下方三条是今天两个实验共同的新本领，下课前回来对照一遍。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实验一分四步：认识灯环、接线、读代码、看结果。这次代码只有 20 来行，但几乎每一行都是新东西：#include、#define、对象、show()。我们会先上三节“新语法小课堂”，再逐行读代码。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把灯环传下去，让学生看正面 12 颗灯珠和背面的 4 根排针。和 2-1 课的 RGB 贴片模块对比：那个模块要 3 根信号线、3 个 PWM 引脚，只能控制 1 颗灯；WS2812 每颗灯珠里都有芯片，能自己“记住”颜色，所以 1 根线就能分别控制 12 颗。下面的组件清单照原指南准备即可。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用“传纸条”讲级联：Arduino 一口气发出 12 份颜色数据，第 1 颗灯留下第 1 份，把其余的从 D 脚传给第 2 颗，依此类推。因为每颗灯都会把信号重新“整理”一遍再转发，所以串得再长也不失真，这就是原指南说的“整形电路”。原指南写的“16 万色”有误：红、绿、蓝各 256 级，组合起来是 256×256×256，约 1677 万色。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照接线表接三根线，接线前先拔掉 USB。从灯环正面看，4 根排针从左到右是 D、R、V、G：R 是信号输入，要接 10 号脚；D 是信号输出，这次空着不接。最常见的错误是把信号线插到了相邻的 D 脚上，灯就不会亮。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库就像手机上的 App：别人写好、打包好，我们装上就能用。WS2812 要求按微秒级的节奏发出一长串数据，自己写非常难，Adafruit 公司的 NeoPixel 库把这些都做好了。安装只需一次：工具 → 管理库，搜索 Adafruit NeoPixel，点安装。如果没装就编译，会看到 “No such file or directory”，意思是找不到这个库文件。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对象可以想成一位管家：Adafruit_NeoPixel 是管家的“种类”，pixels 是我们给这位管家起的名字。创建时要交代清楚：管几颗灯、接哪个脚、用什么数据格式。以后说 pixels.show()，就是“pixels，把颜色发出去”，中间的点可以读成“的”。名字要一字不差，大小写写错就会报 was not declared 的错误。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用写信和寄信来类比：setPixelColor() 是在信纸上写“第几颗灯要什么颜色”，写多少行灯都不会变；show() 才是把信寄出去，灯环收到后一起变色。Color(红, 绿, 蓝) 三个数都是 0～255，和 2-1 课 analogWrite 调 RGB 是同一个道理。setBrightness(30) 把整体亮度限制在约 12%，既不刺眼，也避免 12 颗灯满亮时 USB 供电不够。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3、4 行的 #define 在 2-1 课见过：给数字起外号，编译前 LED_Pin 会被直接换成 10，注意末尾不加分号。第 6 行是本程序的核心：创建对象 pixels，括号里的外号分别代表 12 颗灯、10 号脚。setup() 里 begin() 让管家开工；紧接着的 show() 发出的是空草稿，作用是先把灯全部关掉；setBrightness(30) 设定亮度上限。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灯的编号和数组一样从 0 开始，12 颗灯是 0～11，所以条件写 i &lt; count。第 18 行只是写草稿，第 19 行 show() 才真正发出去，所以每转一圈就多亮一颗。12 圈加起来不到 10 毫秒，眼睛根本分辨不出先后，看到的就是 12 颗一起亮。loop() 结束后又从头写一遍同样的白色，所以灯一直亮着、不闪。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上传后灯环 12 颗灯同时亮白光，中间那个小红点是模块的电源指示灯（Power）。原指南写的是“12 bit RGB 灯会亮起”，意思是 12 颗灯珠。即使亮度只有 30，LED 也很刺眼，提醒学生不要盯着看太久。如果灯不亮，先看下一页的常见坑。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左边三个坑按出现频率排序：没装库编译不过、信号线插错脚、亮度太高供电不足。右边两个小挑战：挑战 1 只改三个数字；挑战 2 在 show() 后面加一个 delay，就能看清“一颗一颗亮”的过程，再用 clear() 清空草稿、show() 寄出，灯就全灭，然后循环重来。可以让学生比较 delay(100) 和 delay(30) 的区别。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实验二要运行两段程序：第一段扫描 I2C 地址，第二段才是显示文字。中间会讲 I2C 总线和十六进制，这是以后接各种 I2C 模块（OLED 屏、传感器）都要用到的知识。提醒学生：LCD 模块背面的转接板要先焊好。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LCD1602 是最常见的字符屏，电子钟、温度计、打印机面板上都能见到。名字里的 16 和 02 分别指每行 16 个字符、一共 2 行，原指南这句话的表述有误，这里已改正。背面黑色的小板是 I2C 转接板，上面的芯片是 PCF8574（原指南误写成 PCA8574），蓝色方块是调对比度的电位器，后面排错时会用到。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实验目的和原理照原指南念。右下角解释为什么要用转接板：不带转接板时，1602 至少要占 6 个 IO 口（RS、E 和 4 根数据线），再加上电源、背光、对比度的线，面包板上一大把；带了转接板，只要 SDA、SCL 两根信号线，省下来的口可以接别的传感器。组件里的 LCD 一定要是“带转接板”的那种。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I2C 只用两根线：SCL 像节拍器，SDA 跟着节拍一位一位地传数据。一条总线上可以挂很多设备，每个设备都有自己的地址，就像一条街上每户人家的门牌号；Arduino 喊“0x27 号”，只有门牌是 0x27 的设备会回答。0x 开头的数是十六进制，0x27 = 2×16 + 7 = 39，扫描程序会把两种写法都打印出来。转接板上的跳线可以把地址设成 0x20～0x27，所以一块 Arduino 可以同时接好几块屏。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原指南第一步是把转接板焊到 LCD 上，套件里如果已经焊好就跳过。接线只有 4 根：两根电源、两根信号。记住 SDA 对 A4、SCL 对 A5，接反了扫描程序就找不到设备。UNO R3 在 AREF 旁边还有两个标着 SDA、SCL 的排针，和 A4、A5 是连通的，接哪组都可以。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对照实物照片，让同桌互相检查四根线。插上 USB 后背光应该立刻亮起，这只说明电源接对了；能不能显示字，还要看地址和程序。如果背光不亮，先查 VCC 和 GND；转接板上还有一个背光跳线帽，掉了背光也不亮。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Wire 是 Arduino IDE 自带的 I2C 库，不用安装，但必须 #include &lt;Wire.h&gt;。原指南的扫描程序漏了这一行，直接编译会报 Wire was not declared，请学生先补上。程序思路就是挨家敲门：beginTransmission(i) 敲 i 号的门，endTransmission() 返回 0 表示有人应答。Serial.print 第二个参数 DEC、HEX 决定按十进制还是十六进制打印。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整个扫描程序都写在 setup() 里，只运行一次。第 3 行的英文注释说的是 Leonardo 板要等串口连上，UNO 上第 4 行会马上通过。第 9 行的 for 循环和流水灯里学过的一样，只是计数器换成了 byte 类型。第 11 行最关键：endTransmission() 返回 0，说明这个地址上有设备回应。再提醒一次：最前面要补 #include &lt;Wire.h&gt;。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12～16 行拼出一整行：“Found address: 39 (0x27)”，其中 DEC 打印十进制 39，HEX 打印十六进制 27，前面的 0x 是第 14 行手动印上去的。第 17 行 count++ 等于 count = count + 1。for 循环结束后打印 Done. 和找到的设备总数。loop() 是空的，所以想再扫一次，按一下板子上的复位键就行。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上传后打开串口监视器，右下角波特率选 9600，就能看到扫描结果。对照右边，每一行输出都能找到打印它的代码。原指南提醒：很多转接板默认是 0x27，但最好自己扫一下；如果扫出来是 0x3F，后面显示程序里的 0x27 也要改成 0x3F。如果显示 Found 0 device(s)，说明总线上没找到设备，先查 SDA、SCL 两根线。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和灯环一样，先请一位“屏幕管家”：LiquidCrystal_I2C lcd(0x27,16,2)，括号里是地址、列数、行数，地址必须和扫描结果一致。LiquidCrystal_I2C 库不是 IDE 自带的，要用套件资料里的库文件，或在库管理器里搜索 LiquidCrystal I2C 安装。setCursor 像在格子本上落笔：先说第几列，再说第几行，而且都从 0 开始数，这是最容易错的地方。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1 行的 Wire 是 I2C 通信库，第 2 行的 LiquidCrystal_I2C 是屏幕库；第 2 行用双引号，表示先在程序所在文件夹里找这个库文件，找不到再去库目录找。第 4 行最重要：0x27 一定要和程序①扫描到的地址一样。第 8 行 init() 是让屏幕开工，相当于灯环的 begin()；第 10 行打开背光，不开背光字会很难看清。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11 行的注释写成了 “go to start of 2nd line”，这是原程序抄错了：(0,0) 是第 1 行第 1 格，第 13 行的 (4,1) 才是第 2 行。Hello Word 也是原程序的拼写，正确应为 Hello World，学生可以自己改过来。数一数：Science Robot 有 13 个字符，从第 5 格开始只剩 12 格，最后的 t 显示不出来。字写一次就会一直留在屏幕上，所以 loop() 空着也没关系。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先展示原指南的结果照片，再说明：照片里的 Hello, world! 和我们这段程序的文字不同，说明照片拍的是另一版程序，不是我们看错了。按本页的程序上传，屏幕应该像右边那样：第 1 行 Hello Word，第 2 行从第 5 格开始 Science Robo。如果背光亮了但看不到字，就进入下一页的排错。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原指南给出的头号问题：上传后背光亮了却不显示字符，多半是对比度没调好。用小十字螺丝刀慢慢转背面的蓝色电位器：转过头会出现一排排黑方块，转反了什么都看不见，转到字清楚为止。如果怎么调都只有黑方块，通常是地址不对或程序没跑起来。动手改一改里的秒表用到了 millis()，它返回开机以来的毫秒数，除以 1000 就是秒，这正是本实验名字里“动态显示”的意思。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用左边的四步套路把两个实验串起来：以后遇到任何复杂模块，舵机、OLED 屏、温湿度传感器，都是装库、引入、创建对象、下命令。右边四个关键词，请学生各用一句话讲给同桌听。课后思考：能不能把光敏电阻的读数显示在 LCD 上，或者用灯环的颜色表示温度高低？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布置课后任务：把前面学过的一个传感器（光敏、超声波、温湿度任选）的读数显示在 LCD1602 上，或者用灯环的颜色表示读数的高低，下节课分享。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5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40E0D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46120"/>
            <a:ext cx="1325880" cy="132588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body" hasCustomPrompt="1"/>
          </p:nvPr>
        </p:nvSpPr>
        <p:spPr>
          <a:xfrm>
            <a:off x="502920" y="411480"/>
            <a:ext cx="813816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defRPr>
            </a:lvl1pPr>
          </a:lstStyle>
          <a:p>
            <a:pPr indent="0" marL="0">
              <a:buNone/>
            </a:pPr>
            <a:endParaRPr lang="en-US" sz="1100" dirty="0"/>
          </a:p>
        </p:txBody>
      </p:sp>
      <p:sp>
        <p:nvSpPr>
          <p:cNvPr id="4" name="Text 0"/>
          <p:cNvSpPr/>
          <p:nvPr>
            <p:ph idx="102" type="title" hasCustomPrompt="1"/>
          </p:nvPr>
        </p:nvSpPr>
        <p:spPr>
          <a:xfrm>
            <a:off x="502920" y="868680"/>
            <a:ext cx="813816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502920" y="1737360"/>
            <a:ext cx="813816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  <p:sp>
        <p:nvSpPr>
          <p:cNvPr id="6" name="Text 0"/>
          <p:cNvSpPr/>
          <p:nvPr>
            <p:ph idx="104" type="body" hasCustomPrompt="1"/>
          </p:nvPr>
        </p:nvSpPr>
        <p:spPr>
          <a:xfrm>
            <a:off x="4206240" y="4069080"/>
            <a:ext cx="448056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r" indent="0" marL="0">
              <a:buNone/>
              <a:defRPr lang="en-US" sz="10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defRPr>
            </a:lvl1pPr>
          </a:lstStyle>
          <a:p>
            <a:pPr algn="r" indent="0" marL="0">
              <a:buNone/>
            </a:pPr>
            <a:endParaRPr lang="en-US" sz="1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4754880"/>
            <a:ext cx="182880" cy="1828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4736592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2-3　显示模块</a:t>
            </a:r>
            <a:endParaRPr lang="en-US" sz="8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4572000" y="4736592"/>
            <a:ext cx="3703320" cy="219456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r" indent="0" marL="0">
              <a:buNone/>
              <a:defRPr lang="en-US" sz="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defRPr>
            </a:lvl1pPr>
          </a:lstStyle>
          <a:p>
            <a:pPr algn="r" indent="0" marL="0">
              <a:buNone/>
            </a:pPr>
            <a:endParaRPr lang="en-US" sz="800" dirty="0"/>
          </a:p>
        </p:txBody>
      </p:sp>
      <p:sp>
        <p:nvSpPr>
          <p:cNvPr id="5" name="Text 1"/>
          <p:cNvSpPr/>
          <p:nvPr>
            <p:ph idx="103" type="body" hasCustomPrompt="1"/>
          </p:nvPr>
        </p:nvSpPr>
        <p:spPr>
          <a:xfrm>
            <a:off x="411480" y="384048"/>
            <a:ext cx="338328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defRPr>
            </a:lvl1pPr>
          </a:lstStyle>
          <a:p>
            <a:pPr indent="0" marL="0">
              <a:buNone/>
            </a:pPr>
            <a:endParaRPr lang="en-US" sz="1100" dirty="0"/>
          </a:p>
        </p:txBody>
      </p:sp>
      <p:sp>
        <p:nvSpPr>
          <p:cNvPr id="6" name="Text 1"/>
          <p:cNvSpPr/>
          <p:nvPr>
            <p:ph idx="104" type="title" hasCustomPrompt="1"/>
          </p:nvPr>
        </p:nvSpPr>
        <p:spPr>
          <a:xfrm>
            <a:off x="411480" y="713232"/>
            <a:ext cx="338328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7" name="Text 1"/>
          <p:cNvSpPr/>
          <p:nvPr>
            <p:ph idx="105" type="body" hasCustomPrompt="1"/>
          </p:nvPr>
        </p:nvSpPr>
        <p:spPr>
          <a:xfrm>
            <a:off x="411480" y="1874520"/>
            <a:ext cx="3246120" cy="23774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lnSpc>
                <a:spcPct val="130000"/>
              </a:lnSpc>
              <a:buNone/>
              <a:def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defRPr>
            </a:lvl1pPr>
          </a:lstStyle>
          <a:p>
            <a:pPr indent="0" marL="0">
              <a:lnSpc>
                <a:spcPct val="130000"/>
              </a:lnSpc>
              <a:buNone/>
            </a:pP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39328" y="4736592"/>
            <a:ext cx="393192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B6B6B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4754880"/>
            <a:ext cx="182880" cy="1828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4736592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2-3　显示模块</a:t>
            </a:r>
            <a:endParaRPr lang="en-US" sz="8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4572000" y="4736592"/>
            <a:ext cx="3703320" cy="219456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r" indent="0" marL="0">
              <a:buNone/>
              <a:defRPr lang="en-US" sz="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defRPr>
            </a:lvl1pPr>
          </a:lstStyle>
          <a:p>
            <a:pPr algn="r" indent="0" marL="0">
              <a:buNone/>
            </a:pPr>
            <a:endParaRPr lang="en-US" sz="800" dirty="0"/>
          </a:p>
        </p:txBody>
      </p:sp>
      <p:sp>
        <p:nvSpPr>
          <p:cNvPr id="5" name="Text 1"/>
          <p:cNvSpPr/>
          <p:nvPr>
            <p:ph idx="103" type="title" hasCustomPrompt="1"/>
          </p:nvPr>
        </p:nvSpPr>
        <p:spPr>
          <a:xfrm>
            <a:off x="411480" y="274320"/>
            <a:ext cx="8321040" cy="5029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defRPr>
            </a:lvl1pPr>
          </a:lstStyle>
          <a:p>
            <a:pPr algn="l" indent="0" marL="0">
              <a:buNone/>
            </a:pPr>
            <a:endParaRPr lang="en-US" sz="2400" dirty="0"/>
          </a:p>
        </p:txBody>
      </p:sp>
      <p:sp>
        <p:nvSpPr>
          <p:cNvPr id="6" name="Text 1"/>
          <p:cNvSpPr/>
          <p:nvPr>
            <p:ph idx="104" type="body" hasCustomPrompt="1"/>
          </p:nvPr>
        </p:nvSpPr>
        <p:spPr>
          <a:xfrm>
            <a:off x="411480" y="786384"/>
            <a:ext cx="8321040" cy="329184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39328" y="4736592"/>
            <a:ext cx="393192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B6B6B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D">
    <p:bg>
      <p:bgPr>
        <a:solidFill>
          <a:srgbClr val="40E0D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46120"/>
            <a:ext cx="1325880" cy="132588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02920" y="1097280"/>
            <a:ext cx="813816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02920" y="2057400"/>
            <a:ext cx="813816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defRPr>
            </a:lvl1pPr>
          </a:lstStyle>
          <a:p>
            <a:pPr indent="0" marL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39328" y="4736592"/>
            <a:ext cx="393192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B6B6B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image" Target="../media/image-15-2.jp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image" Target="../media/image-16-6.png"/><Relationship Id="rId7" Type="http://schemas.openxmlformats.org/officeDocument/2006/relationships/image" Target="../media/image-16-7.png"/><Relationship Id="rId8" Type="http://schemas.openxmlformats.org/officeDocument/2006/relationships/slideLayout" Target="../slideLayouts/slideLayout4.xml"/><Relationship Id="rId9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jp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jp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jpg"/><Relationship Id="rId2" Type="http://schemas.openxmlformats.org/officeDocument/2006/relationships/image" Target="../media/image-23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jpg"/><Relationship Id="rId2" Type="http://schemas.openxmlformats.org/officeDocument/2006/relationships/image" Target="../media/image-27-2.png"/><Relationship Id="rId3" Type="http://schemas.openxmlformats.org/officeDocument/2006/relationships/image" Target="../media/image-27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jpg"/><Relationship Id="rId3" Type="http://schemas.openxmlformats.org/officeDocument/2006/relationships/image" Target="../media/image-28-3.png"/><Relationship Id="rId4" Type="http://schemas.openxmlformats.org/officeDocument/2006/relationships/image" Target="../media/image-28-4.png"/><Relationship Id="rId5" Type="http://schemas.openxmlformats.org/officeDocument/2006/relationships/image" Target="../media/image-28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502920" y="41148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开源硬件与 AI 辅助编程　/　实验 2-3</a:t>
            </a:r>
            <a:endParaRPr lang="en-US" sz="11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02920" y="868680"/>
            <a:ext cx="8138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2-3　显示模块</a:t>
            </a:r>
            <a:endParaRPr lang="en-US" sz="4000" dirty="0"/>
          </a:p>
        </p:txBody>
      </p:sp>
      <p:sp>
        <p:nvSpPr>
          <p:cNvPr id="4" name="Text 0"/>
          <p:cNvSpPr/>
          <p:nvPr>
            <p:ph idx="103" type="body" hasCustomPrompt="1"/>
          </p:nvPr>
        </p:nvSpPr>
        <p:spPr>
          <a:xfrm>
            <a:off x="502920" y="1737360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WS2812b RGB 灯环 · LCD1602 显示屏</a:t>
            </a:r>
            <a:endParaRPr lang="en-US" sz="2800" dirty="0"/>
          </a:p>
        </p:txBody>
      </p:sp>
      <p:sp>
        <p:nvSpPr>
          <p:cNvPr id="5" name="Text 0"/>
          <p:cNvSpPr/>
          <p:nvPr>
            <p:ph idx="104" type="body" hasCustomPrompt="1"/>
          </p:nvPr>
        </p:nvSpPr>
        <p:spPr>
          <a:xfrm>
            <a:off x="4206240" y="406908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湖北工业大学 · 工业设计学院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4572000" y="4736592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导入</a:t>
            </a:r>
            <a:endParaRPr lang="en-US" sz="8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411480" y="27432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本节导览</a:t>
            </a:r>
            <a:endParaRPr lang="en-US" sz="24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411480" y="786384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两个实验，两种“显示”：用彩灯显示颜色，用液晶屏显示文字——都要借助“库”来完成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11480" y="1234440"/>
            <a:ext cx="4023360" cy="219456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12648" y="1435608"/>
            <a:ext cx="502920" cy="502920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3349" y="1556309"/>
            <a:ext cx="261518" cy="261518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252728" y="1417320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实验一</a:t>
            </a:r>
            <a:endParaRPr lang="en-US" sz="1100" dirty="0"/>
          </a:p>
        </p:txBody>
      </p:sp>
      <p:sp>
        <p:nvSpPr>
          <p:cNvPr id="10" name="Text 6"/>
          <p:cNvSpPr txBox="1"/>
          <p:nvPr/>
        </p:nvSpPr>
        <p:spPr>
          <a:xfrm>
            <a:off x="1252728" y="1636776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WS2812b RGB 灯环</a:t>
            </a:r>
            <a:endParaRPr lang="en-US" sz="1800" dirty="0"/>
          </a:p>
        </p:txBody>
      </p:sp>
      <p:sp>
        <p:nvSpPr>
          <p:cNvPr id="11" name="Text 7"/>
          <p:cNvSpPr txBox="1"/>
          <p:nvPr/>
        </p:nvSpPr>
        <p:spPr>
          <a:xfrm>
            <a:off x="612648" y="2084832"/>
            <a:ext cx="36210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12 颗彩灯串成一圈，只用 1 根信号线，就能让每颗灯单独变色。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612648" y="2697480"/>
            <a:ext cx="877824" cy="253365"/>
          </a:xfrm>
          <a:prstGeom prst="roundRect">
            <a:avLst>
              <a:gd name="adj" fmla="val 50000"/>
            </a:avLst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612648" y="2697480"/>
            <a:ext cx="877824" cy="2533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1563624" y="2697480"/>
            <a:ext cx="1597914" cy="253365"/>
          </a:xfrm>
          <a:prstGeom prst="roundRect">
            <a:avLst>
              <a:gd name="adj" fmla="val 50000"/>
            </a:avLst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1563624" y="2697480"/>
            <a:ext cx="1597914" cy="2533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Adafruit_NeoPixel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612648" y="3023997"/>
            <a:ext cx="1277874" cy="253365"/>
          </a:xfrm>
          <a:prstGeom prst="roundRect">
            <a:avLst>
              <a:gd name="adj" fmla="val 50000"/>
            </a:avLst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612648" y="3023997"/>
            <a:ext cx="1277874" cy="2533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pixels.show()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1963674" y="3023997"/>
            <a:ext cx="1437894" cy="253365"/>
          </a:xfrm>
          <a:prstGeom prst="roundRect">
            <a:avLst>
              <a:gd name="adj" fmla="val 50000"/>
            </a:avLst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1963674" y="3023997"/>
            <a:ext cx="1437894" cy="2533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setBrightness()</a:t>
            </a:r>
            <a:endParaRPr lang="en-US" sz="1050" dirty="0"/>
          </a:p>
        </p:txBody>
      </p:sp>
      <p:sp>
        <p:nvSpPr>
          <p:cNvPr id="20" name="Shape 16"/>
          <p:cNvSpPr/>
          <p:nvPr/>
        </p:nvSpPr>
        <p:spPr>
          <a:xfrm>
            <a:off x="4709160" y="1234440"/>
            <a:ext cx="4023360" cy="219456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4910328" y="1435608"/>
            <a:ext cx="502920" cy="502920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1029" y="1556309"/>
            <a:ext cx="261518" cy="261518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5550408" y="1417320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实验二</a:t>
            </a:r>
            <a:endParaRPr lang="en-US" sz="1100" dirty="0"/>
          </a:p>
        </p:txBody>
      </p:sp>
      <p:sp>
        <p:nvSpPr>
          <p:cNvPr id="24" name="Text 19"/>
          <p:cNvSpPr txBox="1"/>
          <p:nvPr/>
        </p:nvSpPr>
        <p:spPr>
          <a:xfrm>
            <a:off x="5550408" y="1636776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串行 LCD1602 显示屏</a:t>
            </a:r>
            <a:endParaRPr lang="en-US" sz="1800" dirty="0"/>
          </a:p>
        </p:txBody>
      </p:sp>
      <p:sp>
        <p:nvSpPr>
          <p:cNvPr id="25" name="Text 20"/>
          <p:cNvSpPr txBox="1"/>
          <p:nvPr/>
        </p:nvSpPr>
        <p:spPr>
          <a:xfrm>
            <a:off x="4910328" y="2084832"/>
            <a:ext cx="36210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先扫描 I2C 地址，再让 16 × 2 的液晶屏显示两行英文。</a:t>
            </a:r>
            <a:endParaRPr lang="en-US" sz="1300" dirty="0"/>
          </a:p>
        </p:txBody>
      </p:sp>
      <p:sp>
        <p:nvSpPr>
          <p:cNvPr id="26" name="Shape 21"/>
          <p:cNvSpPr/>
          <p:nvPr/>
        </p:nvSpPr>
        <p:spPr>
          <a:xfrm>
            <a:off x="4910328" y="2697480"/>
            <a:ext cx="557784" cy="253365"/>
          </a:xfrm>
          <a:prstGeom prst="roundRect">
            <a:avLst>
              <a:gd name="adj" fmla="val 50000"/>
            </a:avLst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27" name="Text 22"/>
          <p:cNvSpPr txBox="1"/>
          <p:nvPr/>
        </p:nvSpPr>
        <p:spPr>
          <a:xfrm>
            <a:off x="4910328" y="2697480"/>
            <a:ext cx="557784" cy="2533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Wire</a:t>
            </a:r>
            <a:endParaRPr lang="en-US" sz="1050" dirty="0"/>
          </a:p>
        </p:txBody>
      </p:sp>
      <p:sp>
        <p:nvSpPr>
          <p:cNvPr id="28" name="Shape 23"/>
          <p:cNvSpPr/>
          <p:nvPr/>
        </p:nvSpPr>
        <p:spPr>
          <a:xfrm>
            <a:off x="5541264" y="2697480"/>
            <a:ext cx="1224534" cy="253365"/>
          </a:xfrm>
          <a:prstGeom prst="roundRect">
            <a:avLst>
              <a:gd name="adj" fmla="val 50000"/>
            </a:avLst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29" name="Text 24"/>
          <p:cNvSpPr txBox="1"/>
          <p:nvPr/>
        </p:nvSpPr>
        <p:spPr>
          <a:xfrm>
            <a:off x="5541264" y="2697480"/>
            <a:ext cx="1224534" cy="2533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I2C 地址 0x27</a:t>
            </a:r>
            <a:endParaRPr lang="en-US" sz="1050" dirty="0"/>
          </a:p>
        </p:txBody>
      </p:sp>
      <p:sp>
        <p:nvSpPr>
          <p:cNvPr id="30" name="Shape 25"/>
          <p:cNvSpPr/>
          <p:nvPr/>
        </p:nvSpPr>
        <p:spPr>
          <a:xfrm>
            <a:off x="6838950" y="2697480"/>
            <a:ext cx="1437894" cy="253365"/>
          </a:xfrm>
          <a:prstGeom prst="roundRect">
            <a:avLst>
              <a:gd name="adj" fmla="val 50000"/>
            </a:avLst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31" name="Text 26"/>
          <p:cNvSpPr txBox="1"/>
          <p:nvPr/>
        </p:nvSpPr>
        <p:spPr>
          <a:xfrm>
            <a:off x="6838950" y="2697480"/>
            <a:ext cx="1437894" cy="2533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lcd.setCursor()</a:t>
            </a:r>
            <a:endParaRPr lang="en-US" sz="1050" dirty="0"/>
          </a:p>
        </p:txBody>
      </p:sp>
      <p:sp>
        <p:nvSpPr>
          <p:cNvPr id="32" name="Shape 27"/>
          <p:cNvSpPr/>
          <p:nvPr/>
        </p:nvSpPr>
        <p:spPr>
          <a:xfrm>
            <a:off x="4910328" y="3023997"/>
            <a:ext cx="1117854" cy="253365"/>
          </a:xfrm>
          <a:prstGeom prst="roundRect">
            <a:avLst>
              <a:gd name="adj" fmla="val 50000"/>
            </a:avLst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33" name="Text 28"/>
          <p:cNvSpPr txBox="1"/>
          <p:nvPr/>
        </p:nvSpPr>
        <p:spPr>
          <a:xfrm>
            <a:off x="4910328" y="3023997"/>
            <a:ext cx="1117854" cy="2533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lcd.print()</a:t>
            </a:r>
            <a:endParaRPr lang="en-US" sz="1050" dirty="0"/>
          </a:p>
        </p:txBody>
      </p:sp>
      <p:sp>
        <p:nvSpPr>
          <p:cNvPr id="34" name="Text 29"/>
          <p:cNvSpPr txBox="1"/>
          <p:nvPr/>
        </p:nvSpPr>
        <p:spPr>
          <a:xfrm>
            <a:off x="411480" y="367588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两个实验共同的新本领</a:t>
            </a:r>
            <a:endParaRPr lang="en-US" sz="1300" dirty="0"/>
          </a:p>
        </p:txBody>
      </p:sp>
      <p:sp>
        <p:nvSpPr>
          <p:cNvPr id="35" name="Shape 30"/>
          <p:cNvSpPr/>
          <p:nvPr/>
        </p:nvSpPr>
        <p:spPr>
          <a:xfrm>
            <a:off x="411480" y="3995928"/>
            <a:ext cx="2590800" cy="576072"/>
          </a:xfrm>
          <a:prstGeom prst="roundRect">
            <a:avLst>
              <a:gd name="adj" fmla="val 19048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36" name="Shape 31"/>
          <p:cNvSpPr/>
          <p:nvPr/>
        </p:nvSpPr>
        <p:spPr>
          <a:xfrm>
            <a:off x="539496" y="4146804"/>
            <a:ext cx="566928" cy="274320"/>
          </a:xfrm>
          <a:prstGeom prst="roundRect">
            <a:avLst>
              <a:gd name="adj" fmla="val 50000"/>
            </a:avLst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37" name="Text 32"/>
          <p:cNvSpPr txBox="1"/>
          <p:nvPr/>
        </p:nvSpPr>
        <p:spPr>
          <a:xfrm>
            <a:off x="539496" y="4146804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库</a:t>
            </a:r>
            <a:endParaRPr lang="en-US" sz="1100" dirty="0"/>
          </a:p>
        </p:txBody>
      </p:sp>
      <p:sp>
        <p:nvSpPr>
          <p:cNvPr id="38" name="Text 33"/>
          <p:cNvSpPr txBox="1"/>
          <p:nvPr/>
        </p:nvSpPr>
        <p:spPr>
          <a:xfrm>
            <a:off x="1216152" y="3995928"/>
            <a:ext cx="1694688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#include 引入</a:t>
            </a:r>
            <a:endParaRPr lang="en-US" sz="12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别人写好的代码</a:t>
            </a:r>
            <a:endParaRPr lang="en-US" sz="1250" dirty="0"/>
          </a:p>
        </p:txBody>
      </p:sp>
      <p:sp>
        <p:nvSpPr>
          <p:cNvPr id="39" name="Shape 34"/>
          <p:cNvSpPr/>
          <p:nvPr/>
        </p:nvSpPr>
        <p:spPr>
          <a:xfrm>
            <a:off x="3276600" y="3995928"/>
            <a:ext cx="2590800" cy="576072"/>
          </a:xfrm>
          <a:prstGeom prst="roundRect">
            <a:avLst>
              <a:gd name="adj" fmla="val 19048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40" name="Shape 35"/>
          <p:cNvSpPr/>
          <p:nvPr/>
        </p:nvSpPr>
        <p:spPr>
          <a:xfrm>
            <a:off x="3404616" y="4146804"/>
            <a:ext cx="566928" cy="274320"/>
          </a:xfrm>
          <a:prstGeom prst="roundRect">
            <a:avLst>
              <a:gd name="adj" fmla="val 50000"/>
            </a:avLst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41" name="Text 36"/>
          <p:cNvSpPr txBox="1"/>
          <p:nvPr/>
        </p:nvSpPr>
        <p:spPr>
          <a:xfrm>
            <a:off x="3404616" y="4146804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对象</a:t>
            </a:r>
            <a:endParaRPr lang="en-US" sz="1100" dirty="0"/>
          </a:p>
        </p:txBody>
      </p:sp>
      <p:sp>
        <p:nvSpPr>
          <p:cNvPr id="42" name="Text 37"/>
          <p:cNvSpPr txBox="1"/>
          <p:nvPr/>
        </p:nvSpPr>
        <p:spPr>
          <a:xfrm>
            <a:off x="4081272" y="3995928"/>
            <a:ext cx="1694688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对象.函数() 下命令</a:t>
            </a:r>
            <a:endParaRPr lang="en-US" sz="12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如 lcd.print()</a:t>
            </a:r>
            <a:endParaRPr lang="en-US" sz="1250" dirty="0"/>
          </a:p>
        </p:txBody>
      </p:sp>
      <p:sp>
        <p:nvSpPr>
          <p:cNvPr id="43" name="Shape 38"/>
          <p:cNvSpPr/>
          <p:nvPr/>
        </p:nvSpPr>
        <p:spPr>
          <a:xfrm>
            <a:off x="6141720" y="3995928"/>
            <a:ext cx="2590800" cy="576072"/>
          </a:xfrm>
          <a:prstGeom prst="roundRect">
            <a:avLst>
              <a:gd name="adj" fmla="val 19048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44" name="Shape 39"/>
          <p:cNvSpPr/>
          <p:nvPr/>
        </p:nvSpPr>
        <p:spPr>
          <a:xfrm>
            <a:off x="6269736" y="4119372"/>
            <a:ext cx="329184" cy="329184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4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8740" y="4198376"/>
            <a:ext cx="171176" cy="171176"/>
          </a:xfrm>
          <a:prstGeom prst="rect">
            <a:avLst/>
          </a:prstGeom>
        </p:spPr>
      </p:pic>
      <p:sp>
        <p:nvSpPr>
          <p:cNvPr id="46" name="Text 40"/>
          <p:cNvSpPr txBox="1"/>
          <p:nvPr/>
        </p:nvSpPr>
        <p:spPr>
          <a:xfrm>
            <a:off x="6708648" y="3995928"/>
            <a:ext cx="193243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少占引脚：灯环 1 根</a:t>
            </a:r>
            <a:endParaRPr lang="en-US" sz="12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信号线，屏幕 2 根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39328" y="4736592"/>
            <a:ext cx="393192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B6B6B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4572000" y="4736592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实验一　WS2812b 灯环</a:t>
            </a:r>
            <a:endParaRPr lang="en-US" sz="800" dirty="0"/>
          </a:p>
        </p:txBody>
      </p:sp>
      <p:sp>
        <p:nvSpPr>
          <p:cNvPr id="3" name="Text 1"/>
          <p:cNvSpPr/>
          <p:nvPr>
            <p:ph idx="103" type="body" hasCustomPrompt="1"/>
          </p:nvPr>
        </p:nvSpPr>
        <p:spPr>
          <a:xfrm>
            <a:off x="411480" y="38404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 01</a:t>
            </a:r>
            <a:endParaRPr lang="en-US" sz="1100" dirty="0"/>
          </a:p>
        </p:txBody>
      </p:sp>
      <p:sp>
        <p:nvSpPr>
          <p:cNvPr id="4" name="Text 1"/>
          <p:cNvSpPr/>
          <p:nvPr>
            <p:ph idx="104" type="title" hasCustomPrompt="1"/>
          </p:nvPr>
        </p:nvSpPr>
        <p:spPr>
          <a:xfrm>
            <a:off x="411480" y="713232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WS2812b RGB LED 模块实验</a:t>
            </a:r>
            <a:endParaRPr lang="en-US" sz="2800" dirty="0"/>
          </a:p>
        </p:txBody>
      </p:sp>
      <p:sp>
        <p:nvSpPr>
          <p:cNvPr id="5" name="Text 1"/>
          <p:cNvSpPr/>
          <p:nvPr>
            <p:ph idx="105" type="body" hasCustomPrompt="1"/>
          </p:nvPr>
        </p:nvSpPr>
        <p:spPr>
          <a:xfrm>
            <a:off x="411480" y="1874520"/>
            <a:ext cx="32461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一圈 12 颗彩灯，只用 Arduino 的 1 个引脚就能全部点亮。这一课学会三样新本领：安装和引入“库”、用“对象”下命令、先写草稿再用 show() 发出去。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160520" y="347472"/>
            <a:ext cx="2286000" cy="2112264"/>
          </a:xfrm>
          <a:prstGeom prst="rect">
            <a:avLst/>
          </a:prstGeom>
          <a:solidFill>
            <a:srgbClr val="40E0D0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361688" y="512064"/>
            <a:ext cx="1883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01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4361688" y="1389888"/>
            <a:ext cx="1883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认识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4361688" y="1801368"/>
            <a:ext cx="1883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灯珠里藏着芯片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46520" y="347472"/>
            <a:ext cx="2286000" cy="2112264"/>
          </a:xfrm>
          <a:prstGeom prst="rect">
            <a:avLst/>
          </a:prstGeom>
          <a:solidFill>
            <a:srgbClr val="EBEBEB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647688" y="512064"/>
            <a:ext cx="1883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6647688" y="1389888"/>
            <a:ext cx="1883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接线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647688" y="1801368"/>
            <a:ext cx="1883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信号线 → 10 号脚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160520" y="2459736"/>
            <a:ext cx="2286000" cy="2112264"/>
          </a:xfrm>
          <a:prstGeom prst="rect">
            <a:avLst/>
          </a:prstGeom>
          <a:solidFill>
            <a:srgbClr val="2D2D2D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361688" y="2624328"/>
            <a:ext cx="1883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40E0D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</a:t>
            </a:r>
            <a:endParaRPr lang="en-US" sz="3000" dirty="0"/>
          </a:p>
        </p:txBody>
      </p:sp>
      <p:sp>
        <p:nvSpPr>
          <p:cNvPr id="16" name="Text 14"/>
          <p:cNvSpPr txBox="1"/>
          <p:nvPr/>
        </p:nvSpPr>
        <p:spPr>
          <a:xfrm>
            <a:off x="4361688" y="3502152"/>
            <a:ext cx="1883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代码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4361688" y="3913632"/>
            <a:ext cx="1883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FCFC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库 · 对象 · show()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46520" y="2459736"/>
            <a:ext cx="2286000" cy="2112264"/>
          </a:xfrm>
          <a:prstGeom prst="rect">
            <a:avLst/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647688" y="2624328"/>
            <a:ext cx="1883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04</a:t>
            </a:r>
            <a:endParaRPr lang="en-US" sz="3000" dirty="0"/>
          </a:p>
        </p:txBody>
      </p:sp>
      <p:sp>
        <p:nvSpPr>
          <p:cNvPr id="20" name="Text 18"/>
          <p:cNvSpPr txBox="1"/>
          <p:nvPr/>
        </p:nvSpPr>
        <p:spPr>
          <a:xfrm>
            <a:off x="6647688" y="3502152"/>
            <a:ext cx="1883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结果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6647688" y="3913632"/>
            <a:ext cx="1883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12 颗灯亮起白光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39328" y="4736592"/>
            <a:ext cx="393192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B6B6B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4572000" y="4736592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实验一　WS2812b 灯环</a:t>
            </a:r>
            <a:endParaRPr lang="en-US" sz="8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411480" y="27432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认识 WS2812b RGB 灯环</a:t>
            </a:r>
            <a:endParaRPr lang="en-US" sz="24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411480" y="786384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12 颗 WS2812 灯珠串成一圈，每颗灯珠里都藏着一个小芯片，所以 1 个 IO 口就能控制整圈灯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11480" y="1234440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它是什么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411480" y="1581912"/>
            <a:ext cx="3794760" cy="6548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模块由 12 颗 WS2812 RGB 灯珠串联成一圈。每颗灯珠里都集成了一个控制芯片，能“听懂”数据，所以只需要 Arduino 的 1 个 IO 口就能驱动整个模块。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411480" y="2437924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和 2-1 课的 RGB 灯比一比</a:t>
            </a:r>
            <a:endParaRPr lang="en-US" sz="1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785396"/>
          <a:ext cx="3794760" cy="914400"/>
        </p:xfrm>
        <a:graphic>
          <a:graphicData uri="http://schemas.openxmlformats.org/drawingml/2006/table">
            <a:tbl>
              <a:tblPr/>
              <a:tblGrid>
                <a:gridCol w="804672"/>
                <a:gridCol w="1618488"/>
                <a:gridCol w="1371600"/>
              </a:tblGrid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RGB 贴片模块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WS2812b 灯环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D2D2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信号线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 根：11、10、9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 根：10 号脚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D2D2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单独控制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 颗灯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12 颗，还能再串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D2D2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调颜色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analogWrite()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用库发颜色数据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4480560" y="1234440"/>
            <a:ext cx="4251960" cy="1810512"/>
          </a:xfrm>
          <a:prstGeom prst="roundRect">
            <a:avLst>
              <a:gd name="adj" fmla="val 6061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pic>
        <p:nvPicPr>
          <p:cNvPr id="11" name="Image 0" descr="ws_module_phot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68575" y="1344168"/>
            <a:ext cx="3475931" cy="1591056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4480560" y="3319272"/>
            <a:ext cx="4251960" cy="1252728"/>
          </a:xfrm>
          <a:prstGeom prst="roundRect">
            <a:avLst>
              <a:gd name="adj" fmla="val 8759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4645152" y="3429000"/>
            <a:ext cx="3922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组件清单（原指南）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4645152" y="3840480"/>
            <a:ext cx="237744" cy="237744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2211" y="3897539"/>
            <a:ext cx="123627" cy="123627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4974336" y="3794760"/>
            <a:ext cx="21214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Arduino UNO R3 主板</a:t>
            </a:r>
            <a:endParaRPr lang="en-US" sz="1200" dirty="0"/>
          </a:p>
        </p:txBody>
      </p:sp>
      <p:sp>
        <p:nvSpPr>
          <p:cNvPr id="17" name="Shape 11"/>
          <p:cNvSpPr/>
          <p:nvPr/>
        </p:nvSpPr>
        <p:spPr>
          <a:xfrm>
            <a:off x="4645152" y="4169664"/>
            <a:ext cx="237744" cy="237744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2211" y="4226723"/>
            <a:ext cx="123627" cy="123627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4974336" y="4123944"/>
            <a:ext cx="21214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WS2812b RGB LED 模块 ×1</a:t>
            </a:r>
            <a:endParaRPr lang="en-US" sz="1200" dirty="0"/>
          </a:p>
        </p:txBody>
      </p:sp>
      <p:sp>
        <p:nvSpPr>
          <p:cNvPr id="20" name="Shape 13"/>
          <p:cNvSpPr/>
          <p:nvPr/>
        </p:nvSpPr>
        <p:spPr>
          <a:xfrm>
            <a:off x="7132320" y="3840480"/>
            <a:ext cx="237744" cy="237744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89379" y="3897539"/>
            <a:ext cx="123627" cy="123627"/>
          </a:xfrm>
          <a:prstGeom prst="rect">
            <a:avLst/>
          </a:prstGeom>
        </p:spPr>
      </p:pic>
      <p:sp>
        <p:nvSpPr>
          <p:cNvPr id="22" name="Text 14"/>
          <p:cNvSpPr txBox="1"/>
          <p:nvPr/>
        </p:nvSpPr>
        <p:spPr>
          <a:xfrm>
            <a:off x="7461504" y="3794760"/>
            <a:ext cx="10698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USB 数据线</a:t>
            </a:r>
            <a:endParaRPr lang="en-US" sz="1200" dirty="0"/>
          </a:p>
        </p:txBody>
      </p:sp>
      <p:sp>
        <p:nvSpPr>
          <p:cNvPr id="23" name="Shape 15"/>
          <p:cNvSpPr/>
          <p:nvPr/>
        </p:nvSpPr>
        <p:spPr>
          <a:xfrm>
            <a:off x="7132320" y="4169664"/>
            <a:ext cx="237744" cy="237744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89379" y="4226723"/>
            <a:ext cx="123627" cy="123627"/>
          </a:xfrm>
          <a:prstGeom prst="rect">
            <a:avLst/>
          </a:prstGeom>
        </p:spPr>
      </p:pic>
      <p:sp>
        <p:nvSpPr>
          <p:cNvPr id="25" name="Text 16"/>
          <p:cNvSpPr txBox="1"/>
          <p:nvPr/>
        </p:nvSpPr>
        <p:spPr>
          <a:xfrm>
            <a:off x="7461504" y="4123944"/>
            <a:ext cx="10698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若干跳线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39328" y="4736592"/>
            <a:ext cx="393192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B6B6B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4572000" y="4736592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实验一　WS2812b 灯环</a:t>
            </a:r>
            <a:endParaRPr lang="en-US" sz="8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411480" y="27432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实验原理：一根信号线串起 12 颗灯</a:t>
            </a:r>
            <a:endParaRPr lang="en-US" sz="24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411480" y="786384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数据从第 1 颗灯流进去，每颗灯留下属于自己的那份颜色，再把剩下的从 D 脚传给下一颗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11480" y="1645920"/>
            <a:ext cx="960120" cy="658368"/>
          </a:xfrm>
          <a:prstGeom prst="roundRect">
            <a:avLst>
              <a:gd name="adj" fmla="val 11111"/>
            </a:avLst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466344" y="1645920"/>
            <a:ext cx="8503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UNO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10 号脚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411480" y="121615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进入这颗灯</a:t>
            </a:r>
            <a:endParaRPr lang="en-US" sz="10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的数据 →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1828800" y="1645920"/>
            <a:ext cx="123444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883664" y="1645920"/>
            <a:ext cx="182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6B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2825496" y="1645920"/>
            <a:ext cx="182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6B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2011680" y="1719072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1 颗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2011680" y="1993392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留下第 1 份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1947672" y="1243584"/>
            <a:ext cx="246888" cy="228600"/>
          </a:xfrm>
          <a:prstGeom prst="roundRect">
            <a:avLst>
              <a:gd name="adj" fmla="val 16000"/>
            </a:avLst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1947672" y="1243584"/>
            <a:ext cx="246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2231136" y="1243584"/>
            <a:ext cx="246888" cy="228600"/>
          </a:xfrm>
          <a:prstGeom prst="roundRect">
            <a:avLst>
              <a:gd name="adj" fmla="val 16000"/>
            </a:avLst>
          </a:prstGeom>
          <a:solidFill>
            <a:srgbClr val="EBEBEB"/>
          </a:solidFill>
          <a:ln w="12700">
            <a:solidFill>
              <a:srgbClr val="EBEBEB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2231136" y="1243584"/>
            <a:ext cx="246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2514600" y="1234440"/>
            <a:ext cx="1463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…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2697480" y="1243584"/>
            <a:ext cx="246888" cy="228600"/>
          </a:xfrm>
          <a:prstGeom prst="roundRect">
            <a:avLst>
              <a:gd name="adj" fmla="val 16000"/>
            </a:avLst>
          </a:prstGeom>
          <a:solidFill>
            <a:srgbClr val="EBEBEB"/>
          </a:solidFill>
          <a:ln w="12700">
            <a:solidFill>
              <a:srgbClr val="EBEBEB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2697480" y="1243584"/>
            <a:ext cx="246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3520440" y="1645920"/>
            <a:ext cx="123444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3575304" y="1645920"/>
            <a:ext cx="182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6B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4517136" y="1645920"/>
            <a:ext cx="182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6B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</a:t>
            </a:r>
            <a:endParaRPr lang="en-US" sz="1000" dirty="0"/>
          </a:p>
        </p:txBody>
      </p:sp>
      <p:sp>
        <p:nvSpPr>
          <p:cNvPr id="24" name="Text 21"/>
          <p:cNvSpPr txBox="1"/>
          <p:nvPr/>
        </p:nvSpPr>
        <p:spPr>
          <a:xfrm>
            <a:off x="3703320" y="1719072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2 颗</a:t>
            </a:r>
            <a:endParaRPr lang="en-US" sz="1300" dirty="0"/>
          </a:p>
        </p:txBody>
      </p:sp>
      <p:sp>
        <p:nvSpPr>
          <p:cNvPr id="25" name="Text 22"/>
          <p:cNvSpPr txBox="1"/>
          <p:nvPr/>
        </p:nvSpPr>
        <p:spPr>
          <a:xfrm>
            <a:off x="3703320" y="1993392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留下第 2 份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3639312" y="1243584"/>
            <a:ext cx="246888" cy="228600"/>
          </a:xfrm>
          <a:prstGeom prst="roundRect">
            <a:avLst>
              <a:gd name="adj" fmla="val 16000"/>
            </a:avLst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3639312" y="1243584"/>
            <a:ext cx="246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3922776" y="1243584"/>
            <a:ext cx="246888" cy="228600"/>
          </a:xfrm>
          <a:prstGeom prst="roundRect">
            <a:avLst>
              <a:gd name="adj" fmla="val 16000"/>
            </a:avLst>
          </a:prstGeom>
          <a:solidFill>
            <a:srgbClr val="EBEBEB"/>
          </a:solidFill>
          <a:ln w="12700">
            <a:solidFill>
              <a:srgbClr val="EBEBEB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3922776" y="1243584"/>
            <a:ext cx="246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000" dirty="0"/>
          </a:p>
        </p:txBody>
      </p:sp>
      <p:sp>
        <p:nvSpPr>
          <p:cNvPr id="30" name="Text 27"/>
          <p:cNvSpPr txBox="1"/>
          <p:nvPr/>
        </p:nvSpPr>
        <p:spPr>
          <a:xfrm>
            <a:off x="4206240" y="1234440"/>
            <a:ext cx="1463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…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4389120" y="1243584"/>
            <a:ext cx="246888" cy="228600"/>
          </a:xfrm>
          <a:prstGeom prst="roundRect">
            <a:avLst>
              <a:gd name="adj" fmla="val 16000"/>
            </a:avLst>
          </a:prstGeom>
          <a:solidFill>
            <a:srgbClr val="EBEBEB"/>
          </a:solidFill>
          <a:ln w="12700">
            <a:solidFill>
              <a:srgbClr val="EBEBEB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4389120" y="1243584"/>
            <a:ext cx="246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5669280" y="1645920"/>
            <a:ext cx="123444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5724144" y="1645920"/>
            <a:ext cx="182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6B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</a:t>
            </a:r>
            <a:endParaRPr lang="en-US" sz="1000" dirty="0"/>
          </a:p>
        </p:txBody>
      </p:sp>
      <p:sp>
        <p:nvSpPr>
          <p:cNvPr id="35" name="Text 32"/>
          <p:cNvSpPr txBox="1"/>
          <p:nvPr/>
        </p:nvSpPr>
        <p:spPr>
          <a:xfrm>
            <a:off x="6665976" y="1645920"/>
            <a:ext cx="182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6B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</a:t>
            </a:r>
            <a:endParaRPr lang="en-US" sz="1000" dirty="0"/>
          </a:p>
        </p:txBody>
      </p:sp>
      <p:sp>
        <p:nvSpPr>
          <p:cNvPr id="36" name="Text 33"/>
          <p:cNvSpPr txBox="1"/>
          <p:nvPr/>
        </p:nvSpPr>
        <p:spPr>
          <a:xfrm>
            <a:off x="5852160" y="1719072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12 颗</a:t>
            </a:r>
            <a:endParaRPr lang="en-US" sz="1300" dirty="0"/>
          </a:p>
        </p:txBody>
      </p:sp>
      <p:sp>
        <p:nvSpPr>
          <p:cNvPr id="37" name="Text 34"/>
          <p:cNvSpPr txBox="1"/>
          <p:nvPr/>
        </p:nvSpPr>
        <p:spPr>
          <a:xfrm>
            <a:off x="5852160" y="1993392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留下第 12 份</a:t>
            </a:r>
            <a:endParaRPr lang="en-US" sz="1050" dirty="0"/>
          </a:p>
        </p:txBody>
      </p:sp>
      <p:sp>
        <p:nvSpPr>
          <p:cNvPr id="38" name="Shape 35"/>
          <p:cNvSpPr/>
          <p:nvPr/>
        </p:nvSpPr>
        <p:spPr>
          <a:xfrm>
            <a:off x="6163056" y="1243584"/>
            <a:ext cx="246888" cy="228600"/>
          </a:xfrm>
          <a:prstGeom prst="roundRect">
            <a:avLst>
              <a:gd name="adj" fmla="val 16000"/>
            </a:avLst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6163056" y="1243584"/>
            <a:ext cx="246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1000" dirty="0"/>
          </a:p>
        </p:txBody>
      </p:sp>
      <p:sp>
        <p:nvSpPr>
          <p:cNvPr id="40" name="Shape 37"/>
          <p:cNvSpPr/>
          <p:nvPr/>
        </p:nvSpPr>
        <p:spPr>
          <a:xfrm>
            <a:off x="1417320" y="1975104"/>
            <a:ext cx="365760" cy="91"/>
          </a:xfrm>
          <a:prstGeom prst="line">
            <a:avLst/>
          </a:prstGeom>
          <a:noFill/>
          <a:ln w="19050">
            <a:solidFill>
              <a:srgbClr val="2D2D2D"/>
            </a:solidFill>
            <a:prstDash val="solid"/>
            <a:tailEnd type="triangle"/>
          </a:ln>
        </p:spPr>
      </p:sp>
      <p:sp>
        <p:nvSpPr>
          <p:cNvPr id="41" name="Shape 38"/>
          <p:cNvSpPr/>
          <p:nvPr/>
        </p:nvSpPr>
        <p:spPr>
          <a:xfrm>
            <a:off x="3108960" y="1975104"/>
            <a:ext cx="365760" cy="91"/>
          </a:xfrm>
          <a:prstGeom prst="line">
            <a:avLst/>
          </a:prstGeom>
          <a:noFill/>
          <a:ln w="19050">
            <a:solidFill>
              <a:srgbClr val="2D2D2D"/>
            </a:solidFill>
            <a:prstDash val="solid"/>
            <a:tailEnd type="triangle"/>
          </a:ln>
        </p:spPr>
      </p:sp>
      <p:sp>
        <p:nvSpPr>
          <p:cNvPr id="42" name="Shape 39"/>
          <p:cNvSpPr/>
          <p:nvPr/>
        </p:nvSpPr>
        <p:spPr>
          <a:xfrm>
            <a:off x="4800600" y="1975104"/>
            <a:ext cx="164592" cy="91"/>
          </a:xfrm>
          <a:prstGeom prst="line">
            <a:avLst/>
          </a:prstGeom>
          <a:noFill/>
          <a:ln w="19050">
            <a:solidFill>
              <a:srgbClr val="2D2D2D"/>
            </a:solidFill>
            <a:prstDash val="solid"/>
            <a:tailEnd type="triangle"/>
          </a:ln>
        </p:spPr>
      </p:sp>
      <p:sp>
        <p:nvSpPr>
          <p:cNvPr id="43" name="Text 40"/>
          <p:cNvSpPr txBox="1"/>
          <p:nvPr/>
        </p:nvSpPr>
        <p:spPr>
          <a:xfrm>
            <a:off x="4983480" y="1645920"/>
            <a:ext cx="2926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⋯</a:t>
            </a:r>
            <a:endParaRPr lang="en-US" sz="1600" dirty="0"/>
          </a:p>
        </p:txBody>
      </p:sp>
      <p:sp>
        <p:nvSpPr>
          <p:cNvPr id="44" name="Shape 41"/>
          <p:cNvSpPr/>
          <p:nvPr/>
        </p:nvSpPr>
        <p:spPr>
          <a:xfrm>
            <a:off x="5294376" y="1975104"/>
            <a:ext cx="329184" cy="91"/>
          </a:xfrm>
          <a:prstGeom prst="line">
            <a:avLst/>
          </a:prstGeom>
          <a:noFill/>
          <a:ln w="19050">
            <a:solidFill>
              <a:srgbClr val="2D2D2D"/>
            </a:solidFill>
            <a:prstDash val="solid"/>
            <a:tailEnd type="triangle"/>
          </a:ln>
        </p:spPr>
      </p:sp>
      <p:sp>
        <p:nvSpPr>
          <p:cNvPr id="45" name="Shape 42"/>
          <p:cNvSpPr/>
          <p:nvPr/>
        </p:nvSpPr>
        <p:spPr>
          <a:xfrm>
            <a:off x="6949440" y="1975104"/>
            <a:ext cx="411480" cy="91"/>
          </a:xfrm>
          <a:prstGeom prst="line">
            <a:avLst/>
          </a:prstGeom>
          <a:noFill/>
          <a:ln w="15875">
            <a:solidFill>
              <a:srgbClr val="6B6B6B"/>
            </a:solidFill>
            <a:prstDash val="dash"/>
            <a:tailEnd type="triangle"/>
          </a:ln>
        </p:spPr>
      </p:sp>
      <p:sp>
        <p:nvSpPr>
          <p:cNvPr id="46" name="Shape 43"/>
          <p:cNvSpPr/>
          <p:nvPr/>
        </p:nvSpPr>
        <p:spPr>
          <a:xfrm>
            <a:off x="7406640" y="1645920"/>
            <a:ext cx="132588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9A9A9A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7406640" y="1645920"/>
            <a:ext cx="1325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下一个灯环</a:t>
            </a:r>
            <a:endParaRPr lang="en-US" sz="11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（可以再串）</a:t>
            </a:r>
            <a:endParaRPr lang="en-US" sz="1100" dirty="0"/>
          </a:p>
        </p:txBody>
      </p:sp>
      <p:sp>
        <p:nvSpPr>
          <p:cNvPr id="48" name="Shape 45"/>
          <p:cNvSpPr/>
          <p:nvPr/>
        </p:nvSpPr>
        <p:spPr>
          <a:xfrm>
            <a:off x="411480" y="2606040"/>
            <a:ext cx="3154680" cy="1965960"/>
          </a:xfrm>
          <a:prstGeom prst="roundRect">
            <a:avLst>
              <a:gd name="adj" fmla="val 5581"/>
            </a:avLst>
          </a:prstGeom>
          <a:solidFill>
            <a:srgbClr val="E3FAF7"/>
          </a:solidFill>
          <a:ln w="12700">
            <a:solidFill>
              <a:srgbClr val="E3FAF7"/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594360" y="2770632"/>
            <a:ext cx="384048" cy="384048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5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6532" y="2862804"/>
            <a:ext cx="199705" cy="199705"/>
          </a:xfrm>
          <a:prstGeom prst="rect">
            <a:avLst/>
          </a:prstGeom>
        </p:spPr>
      </p:pic>
      <p:sp>
        <p:nvSpPr>
          <p:cNvPr id="51" name="Text 47"/>
          <p:cNvSpPr txBox="1"/>
          <p:nvPr/>
        </p:nvSpPr>
        <p:spPr>
          <a:xfrm>
            <a:off x="1106424" y="2770632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像传纸条</a:t>
            </a:r>
            <a:endParaRPr lang="en-US" sz="1500" dirty="0"/>
          </a:p>
        </p:txBody>
      </p:sp>
      <p:sp>
        <p:nvSpPr>
          <p:cNvPr id="52" name="Text 48"/>
          <p:cNvSpPr txBox="1"/>
          <p:nvPr/>
        </p:nvSpPr>
        <p:spPr>
          <a:xfrm>
            <a:off x="594360" y="3264408"/>
            <a:ext cx="2788920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老师把 12 张纸条交给第 1 位同学：他留下第 1 张，把剩下的往后传……每颗灯都这样做，所以 12 颗灯只要 1 根信号线。</a:t>
            </a:r>
            <a:endParaRPr lang="en-US" sz="1250" dirty="0"/>
          </a:p>
        </p:txBody>
      </p:sp>
      <p:sp>
        <p:nvSpPr>
          <p:cNvPr id="53" name="Text 49"/>
          <p:cNvSpPr txBox="1"/>
          <p:nvPr/>
        </p:nvSpPr>
        <p:spPr>
          <a:xfrm>
            <a:off x="3886200" y="260604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模块主要特点（原指南）</a:t>
            </a:r>
            <a:endParaRPr lang="en-US" sz="1350" dirty="0"/>
          </a:p>
        </p:txBody>
      </p:sp>
      <p:sp>
        <p:nvSpPr>
          <p:cNvPr id="54" name="Shape 50"/>
          <p:cNvSpPr/>
          <p:nvPr/>
        </p:nvSpPr>
        <p:spPr>
          <a:xfrm>
            <a:off x="3886200" y="3003804"/>
            <a:ext cx="201168" cy="201168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55" name="Text 51"/>
          <p:cNvSpPr txBox="1"/>
          <p:nvPr/>
        </p:nvSpPr>
        <p:spPr>
          <a:xfrm>
            <a:off x="3886200" y="300380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</a:t>
            </a:r>
            <a:endParaRPr lang="en-US" sz="950" dirty="0"/>
          </a:p>
        </p:txBody>
      </p:sp>
      <p:sp>
        <p:nvSpPr>
          <p:cNvPr id="56" name="Text 52"/>
          <p:cNvSpPr txBox="1"/>
          <p:nvPr/>
        </p:nvSpPr>
        <p:spPr>
          <a:xfrm>
            <a:off x="4160520" y="2971800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5050 高亮 LED，内置芯片</a:t>
            </a:r>
            <a:endParaRPr lang="en-US" sz="1200" dirty="0"/>
          </a:p>
        </p:txBody>
      </p:sp>
      <p:sp>
        <p:nvSpPr>
          <p:cNvPr id="57" name="Shape 53"/>
          <p:cNvSpPr/>
          <p:nvPr/>
        </p:nvSpPr>
        <p:spPr>
          <a:xfrm>
            <a:off x="6400800" y="3003804"/>
            <a:ext cx="201168" cy="201168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58" name="Text 54"/>
          <p:cNvSpPr txBox="1"/>
          <p:nvPr/>
        </p:nvSpPr>
        <p:spPr>
          <a:xfrm>
            <a:off x="6400800" y="300380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950" dirty="0"/>
          </a:p>
        </p:txBody>
      </p:sp>
      <p:sp>
        <p:nvSpPr>
          <p:cNvPr id="59" name="Text 55"/>
          <p:cNvSpPr txBox="1"/>
          <p:nvPr/>
        </p:nvSpPr>
        <p:spPr>
          <a:xfrm>
            <a:off x="6675120" y="2971800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 个 IO 口控制多颗灯</a:t>
            </a:r>
            <a:endParaRPr lang="en-US" sz="1200" dirty="0"/>
          </a:p>
        </p:txBody>
      </p:sp>
      <p:sp>
        <p:nvSpPr>
          <p:cNvPr id="60" name="Shape 56"/>
          <p:cNvSpPr/>
          <p:nvPr/>
        </p:nvSpPr>
        <p:spPr>
          <a:xfrm>
            <a:off x="3886200" y="3259836"/>
            <a:ext cx="201168" cy="201168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61" name="Text 57"/>
          <p:cNvSpPr txBox="1"/>
          <p:nvPr/>
        </p:nvSpPr>
        <p:spPr>
          <a:xfrm>
            <a:off x="3886200" y="325983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</a:t>
            </a:r>
            <a:endParaRPr lang="en-US" sz="950" dirty="0"/>
          </a:p>
        </p:txBody>
      </p:sp>
      <p:sp>
        <p:nvSpPr>
          <p:cNvPr id="62" name="Text 58"/>
          <p:cNvSpPr txBox="1"/>
          <p:nvPr/>
        </p:nvSpPr>
        <p:spPr>
          <a:xfrm>
            <a:off x="4160520" y="3227832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整形电路：失真不会累积</a:t>
            </a:r>
            <a:endParaRPr lang="en-US" sz="1200" dirty="0"/>
          </a:p>
        </p:txBody>
      </p:sp>
      <p:sp>
        <p:nvSpPr>
          <p:cNvPr id="63" name="Shape 59"/>
          <p:cNvSpPr/>
          <p:nvPr/>
        </p:nvSpPr>
        <p:spPr>
          <a:xfrm>
            <a:off x="6400800" y="3259836"/>
            <a:ext cx="201168" cy="201168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64" name="Text 60"/>
          <p:cNvSpPr txBox="1"/>
          <p:nvPr/>
        </p:nvSpPr>
        <p:spPr>
          <a:xfrm>
            <a:off x="6400800" y="325983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</a:t>
            </a:r>
            <a:endParaRPr lang="en-US" sz="950" dirty="0"/>
          </a:p>
        </p:txBody>
      </p:sp>
      <p:sp>
        <p:nvSpPr>
          <p:cNvPr id="65" name="Text 61"/>
          <p:cNvSpPr txBox="1"/>
          <p:nvPr/>
        </p:nvSpPr>
        <p:spPr>
          <a:xfrm>
            <a:off x="6675120" y="3227832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三基色各 256 级亮度</a:t>
            </a:r>
            <a:endParaRPr lang="en-US" sz="1200" dirty="0"/>
          </a:p>
        </p:txBody>
      </p:sp>
      <p:sp>
        <p:nvSpPr>
          <p:cNvPr id="66" name="Shape 62"/>
          <p:cNvSpPr/>
          <p:nvPr/>
        </p:nvSpPr>
        <p:spPr>
          <a:xfrm>
            <a:off x="3886200" y="3515868"/>
            <a:ext cx="201168" cy="201168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67" name="Text 63"/>
          <p:cNvSpPr txBox="1"/>
          <p:nvPr/>
        </p:nvSpPr>
        <p:spPr>
          <a:xfrm>
            <a:off x="3886200" y="351586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</a:t>
            </a:r>
            <a:endParaRPr lang="en-US" sz="950" dirty="0"/>
          </a:p>
        </p:txBody>
      </p:sp>
      <p:sp>
        <p:nvSpPr>
          <p:cNvPr id="68" name="Text 64"/>
          <p:cNvSpPr txBox="1"/>
          <p:nvPr/>
        </p:nvSpPr>
        <p:spPr>
          <a:xfrm>
            <a:off x="4160520" y="3483864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约 1677 万种颜色 *</a:t>
            </a:r>
            <a:endParaRPr lang="en-US" sz="1200" dirty="0"/>
          </a:p>
        </p:txBody>
      </p:sp>
      <p:sp>
        <p:nvSpPr>
          <p:cNvPr id="69" name="Shape 65"/>
          <p:cNvSpPr/>
          <p:nvPr/>
        </p:nvSpPr>
        <p:spPr>
          <a:xfrm>
            <a:off x="6400800" y="3515868"/>
            <a:ext cx="201168" cy="201168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70" name="Text 66"/>
          <p:cNvSpPr txBox="1"/>
          <p:nvPr/>
        </p:nvSpPr>
        <p:spPr>
          <a:xfrm>
            <a:off x="6400800" y="351586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</a:t>
            </a:r>
            <a:endParaRPr lang="en-US" sz="950" dirty="0"/>
          </a:p>
        </p:txBody>
      </p:sp>
      <p:sp>
        <p:nvSpPr>
          <p:cNvPr id="71" name="Text 67"/>
          <p:cNvSpPr txBox="1"/>
          <p:nvPr/>
        </p:nvSpPr>
        <p:spPr>
          <a:xfrm>
            <a:off x="6675120" y="3483864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扫描频率 ≥ 400 Hz</a:t>
            </a:r>
            <a:endParaRPr lang="en-US" sz="1200" dirty="0"/>
          </a:p>
        </p:txBody>
      </p:sp>
      <p:sp>
        <p:nvSpPr>
          <p:cNvPr id="72" name="Shape 68"/>
          <p:cNvSpPr/>
          <p:nvPr/>
        </p:nvSpPr>
        <p:spPr>
          <a:xfrm>
            <a:off x="3886200" y="3771900"/>
            <a:ext cx="201168" cy="201168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73" name="Text 69"/>
          <p:cNvSpPr txBox="1"/>
          <p:nvPr/>
        </p:nvSpPr>
        <p:spPr>
          <a:xfrm>
            <a:off x="3886200" y="377190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7</a:t>
            </a:r>
            <a:endParaRPr lang="en-US" sz="950" dirty="0"/>
          </a:p>
        </p:txBody>
      </p:sp>
      <p:sp>
        <p:nvSpPr>
          <p:cNvPr id="74" name="Text 70"/>
          <p:cNvSpPr txBox="1"/>
          <p:nvPr/>
        </p:nvSpPr>
        <p:spPr>
          <a:xfrm>
            <a:off x="4160520" y="3739896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30 帧/秒时可串 ≥ 512 颗</a:t>
            </a:r>
            <a:endParaRPr lang="en-US" sz="1200" dirty="0"/>
          </a:p>
        </p:txBody>
      </p:sp>
      <p:sp>
        <p:nvSpPr>
          <p:cNvPr id="75" name="Shape 71"/>
          <p:cNvSpPr/>
          <p:nvPr/>
        </p:nvSpPr>
        <p:spPr>
          <a:xfrm>
            <a:off x="6400800" y="3771900"/>
            <a:ext cx="201168" cy="201168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76" name="Text 72"/>
          <p:cNvSpPr txBox="1"/>
          <p:nvPr/>
        </p:nvSpPr>
        <p:spPr>
          <a:xfrm>
            <a:off x="6400800" y="377190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8</a:t>
            </a:r>
            <a:endParaRPr lang="en-US" sz="950" dirty="0"/>
          </a:p>
        </p:txBody>
      </p:sp>
      <p:sp>
        <p:nvSpPr>
          <p:cNvPr id="77" name="Text 73"/>
          <p:cNvSpPr txBox="1"/>
          <p:nvPr/>
        </p:nvSpPr>
        <p:spPr>
          <a:xfrm>
            <a:off x="6675120" y="3739896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一根信号线收数据、解码</a:t>
            </a:r>
            <a:endParaRPr lang="en-US" sz="1200" dirty="0"/>
          </a:p>
        </p:txBody>
      </p:sp>
      <p:sp>
        <p:nvSpPr>
          <p:cNvPr id="78" name="Shape 74"/>
          <p:cNvSpPr/>
          <p:nvPr/>
        </p:nvSpPr>
        <p:spPr>
          <a:xfrm>
            <a:off x="3886200" y="4027932"/>
            <a:ext cx="201168" cy="201168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79" name="Text 75"/>
          <p:cNvSpPr txBox="1"/>
          <p:nvPr/>
        </p:nvSpPr>
        <p:spPr>
          <a:xfrm>
            <a:off x="3886200" y="402793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9</a:t>
            </a:r>
            <a:endParaRPr lang="en-US" sz="950" dirty="0"/>
          </a:p>
        </p:txBody>
      </p:sp>
      <p:sp>
        <p:nvSpPr>
          <p:cNvPr id="80" name="Text 76"/>
          <p:cNvSpPr txBox="1"/>
          <p:nvPr/>
        </p:nvSpPr>
        <p:spPr>
          <a:xfrm>
            <a:off x="4160520" y="3995928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数据速度最高 800 Kbps</a:t>
            </a:r>
            <a:endParaRPr lang="en-US" sz="1200" dirty="0"/>
          </a:p>
        </p:txBody>
      </p:sp>
      <p:sp>
        <p:nvSpPr>
          <p:cNvPr id="81" name="Shape 77"/>
          <p:cNvSpPr/>
          <p:nvPr/>
        </p:nvSpPr>
        <p:spPr>
          <a:xfrm>
            <a:off x="6400800" y="4027932"/>
            <a:ext cx="201168" cy="201168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82" name="Text 78"/>
          <p:cNvSpPr txBox="1"/>
          <p:nvPr/>
        </p:nvSpPr>
        <p:spPr>
          <a:xfrm>
            <a:off x="6400800" y="402793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10</a:t>
            </a:r>
            <a:endParaRPr lang="en-US" sz="950" dirty="0"/>
          </a:p>
        </p:txBody>
      </p:sp>
      <p:sp>
        <p:nvSpPr>
          <p:cNvPr id="83" name="Text 79"/>
          <p:cNvSpPr txBox="1"/>
          <p:nvPr/>
        </p:nvSpPr>
        <p:spPr>
          <a:xfrm>
            <a:off x="6675120" y="3995928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光色、亮度一致性高</a:t>
            </a:r>
            <a:endParaRPr lang="en-US" sz="1200" dirty="0"/>
          </a:p>
        </p:txBody>
      </p:sp>
      <p:sp>
        <p:nvSpPr>
          <p:cNvPr id="84" name="Text 80"/>
          <p:cNvSpPr txBox="1"/>
          <p:nvPr/>
        </p:nvSpPr>
        <p:spPr>
          <a:xfrm>
            <a:off x="3886200" y="4288536"/>
            <a:ext cx="4846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* 原指南写“16 万色”有误：256 × 256 × 256 ≈ 1677 万色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39328" y="4736592"/>
            <a:ext cx="393192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B6B6B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4572000" y="4736592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实验一　WS2812b 灯环</a:t>
            </a:r>
            <a:endParaRPr lang="en-US" sz="8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411480" y="27432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接线：信号线接 10 号脚</a:t>
            </a:r>
            <a:endParaRPr lang="en-US" sz="24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411480" y="786384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只要三根线：10 号脚 → R（信号），5V → V，GND → G；D 脚空着，留给下一个灯环</a:t>
            </a:r>
            <a:endParaRPr lang="en-US" sz="1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234440"/>
          <a:ext cx="3017520" cy="914400"/>
        </p:xfrm>
        <a:graphic>
          <a:graphicData uri="http://schemas.openxmlformats.org/drawingml/2006/table">
            <a:tbl>
              <a:tblPr/>
              <a:tblGrid>
                <a:gridCol w="1508760"/>
                <a:gridCol w="1508760"/>
              </a:tblGrid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Arduino UNO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WS2812b 模块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10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5V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V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GND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411480" y="2752344"/>
            <a:ext cx="3017520" cy="1819656"/>
          </a:xfrm>
          <a:prstGeom prst="roundRect">
            <a:avLst>
              <a:gd name="adj" fmla="val 6030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576072" y="2862072"/>
            <a:ext cx="2688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灯环的四个引脚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576072" y="3232404"/>
            <a:ext cx="329184" cy="256032"/>
          </a:xfrm>
          <a:prstGeom prst="roundRect">
            <a:avLst>
              <a:gd name="adj" fmla="val 50000"/>
            </a:avLst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576072" y="3232404"/>
            <a:ext cx="329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</a:t>
            </a:r>
            <a:endParaRPr lang="en-US" sz="1100" dirty="0"/>
          </a:p>
        </p:txBody>
      </p:sp>
      <p:sp>
        <p:nvSpPr>
          <p:cNvPr id="11" name="Text 7"/>
          <p:cNvSpPr txBox="1"/>
          <p:nvPr/>
        </p:nvSpPr>
        <p:spPr>
          <a:xfrm>
            <a:off x="1014984" y="3209544"/>
            <a:ext cx="224942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信号输入：接 10 号脚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576072" y="3534156"/>
            <a:ext cx="329184" cy="256032"/>
          </a:xfrm>
          <a:prstGeom prst="roundRect">
            <a:avLst>
              <a:gd name="adj" fmla="val 50000"/>
            </a:avLst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576072" y="3534156"/>
            <a:ext cx="329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</a:t>
            </a:r>
            <a:endParaRPr lang="en-US" sz="1100" dirty="0"/>
          </a:p>
        </p:txBody>
      </p:sp>
      <p:sp>
        <p:nvSpPr>
          <p:cNvPr id="14" name="Text 10"/>
          <p:cNvSpPr txBox="1"/>
          <p:nvPr/>
        </p:nvSpPr>
        <p:spPr>
          <a:xfrm>
            <a:off x="1014984" y="3511296"/>
            <a:ext cx="224942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电源正极（VDD）：接 5V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576072" y="3835908"/>
            <a:ext cx="329184" cy="256032"/>
          </a:xfrm>
          <a:prstGeom prst="roundRect">
            <a:avLst>
              <a:gd name="adj" fmla="val 50000"/>
            </a:avLst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576072" y="3835908"/>
            <a:ext cx="329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</a:t>
            </a:r>
            <a:endParaRPr lang="en-US" sz="1100" dirty="0"/>
          </a:p>
        </p:txBody>
      </p:sp>
      <p:sp>
        <p:nvSpPr>
          <p:cNvPr id="17" name="Text 13"/>
          <p:cNvSpPr txBox="1"/>
          <p:nvPr/>
        </p:nvSpPr>
        <p:spPr>
          <a:xfrm>
            <a:off x="1014984" y="3813048"/>
            <a:ext cx="224942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电源负极：接 GND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576072" y="4137660"/>
            <a:ext cx="329184" cy="256032"/>
          </a:xfrm>
          <a:prstGeom prst="roundRect">
            <a:avLst>
              <a:gd name="adj" fmla="val 50000"/>
            </a:avLst>
          </a:prstGeom>
          <a:solidFill>
            <a:srgbClr val="E2E2E2"/>
          </a:solidFill>
          <a:ln w="12700">
            <a:solidFill>
              <a:srgbClr val="E2E2E2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576072" y="4137660"/>
            <a:ext cx="329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</a:t>
            </a:r>
            <a:endParaRPr lang="en-US" sz="1100" dirty="0"/>
          </a:p>
        </p:txBody>
      </p:sp>
      <p:sp>
        <p:nvSpPr>
          <p:cNvPr id="20" name="Text 16"/>
          <p:cNvSpPr txBox="1"/>
          <p:nvPr/>
        </p:nvSpPr>
        <p:spPr>
          <a:xfrm>
            <a:off x="1014984" y="4114800"/>
            <a:ext cx="224942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信号输出：这次空着</a:t>
            </a:r>
            <a:endParaRPr lang="en-US" sz="1200" dirty="0"/>
          </a:p>
        </p:txBody>
      </p:sp>
      <p:sp>
        <p:nvSpPr>
          <p:cNvPr id="21" name="Shape 17"/>
          <p:cNvSpPr/>
          <p:nvPr/>
        </p:nvSpPr>
        <p:spPr>
          <a:xfrm>
            <a:off x="3749040" y="1234440"/>
            <a:ext cx="498348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</p:sp>
      <p:pic>
        <p:nvPicPr>
          <p:cNvPr id="22" name="Image 0" descr="原指南接线图：蓝线 10 → R，红线 5V → V，黑线 GND → 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71268" y="1344168"/>
            <a:ext cx="3939024" cy="1517904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3858768" y="2898648"/>
            <a:ext cx="4764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原指南接线图：蓝线 10 → R，红线 5V → V，黑线 GND → G</a:t>
            </a:r>
            <a:endParaRPr lang="en-US" sz="1000" dirty="0"/>
          </a:p>
        </p:txBody>
      </p:sp>
      <p:sp>
        <p:nvSpPr>
          <p:cNvPr id="24" name="Shape 19"/>
          <p:cNvSpPr/>
          <p:nvPr/>
        </p:nvSpPr>
        <p:spPr>
          <a:xfrm>
            <a:off x="3749040" y="3520440"/>
            <a:ext cx="2354580" cy="1051560"/>
          </a:xfrm>
          <a:prstGeom prst="roundRect">
            <a:avLst>
              <a:gd name="adj" fmla="val 10435"/>
            </a:avLst>
          </a:prstGeom>
          <a:solidFill>
            <a:srgbClr val="E3FAF7"/>
          </a:solidFill>
          <a:ln w="12700">
            <a:solidFill>
              <a:srgbClr val="E3FAF7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3895344" y="3666744"/>
            <a:ext cx="329184" cy="329184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2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4348" y="3745748"/>
            <a:ext cx="171176" cy="171176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4352544" y="3657600"/>
            <a:ext cx="16047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 脚留给下一个灯环</a:t>
            </a:r>
            <a:endParaRPr lang="en-US" sz="1300" dirty="0"/>
          </a:p>
        </p:txBody>
      </p:sp>
      <p:sp>
        <p:nvSpPr>
          <p:cNvPr id="28" name="Text 22"/>
          <p:cNvSpPr txBox="1"/>
          <p:nvPr/>
        </p:nvSpPr>
        <p:spPr>
          <a:xfrm>
            <a:off x="4352544" y="3968496"/>
            <a:ext cx="16047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把 D 接到下一个灯环的 R，灯就能越串越多。</a:t>
            </a:r>
            <a:endParaRPr lang="en-US" sz="1200" dirty="0"/>
          </a:p>
        </p:txBody>
      </p:sp>
      <p:sp>
        <p:nvSpPr>
          <p:cNvPr id="29" name="Shape 23"/>
          <p:cNvSpPr/>
          <p:nvPr/>
        </p:nvSpPr>
        <p:spPr>
          <a:xfrm>
            <a:off x="6377940" y="3520440"/>
            <a:ext cx="235458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E5484D"/>
            </a:solidFill>
            <a:prstDash val="solid"/>
          </a:ln>
        </p:spPr>
      </p:sp>
      <p:sp>
        <p:nvSpPr>
          <p:cNvPr id="30" name="Shape 24"/>
          <p:cNvSpPr/>
          <p:nvPr/>
        </p:nvSpPr>
        <p:spPr>
          <a:xfrm>
            <a:off x="6524244" y="3666744"/>
            <a:ext cx="329184" cy="329184"/>
          </a:xfrm>
          <a:prstGeom prst="ellipse">
            <a:avLst/>
          </a:prstGeom>
          <a:solidFill>
            <a:srgbClr val="E5484D"/>
          </a:solidFill>
          <a:ln w="12700">
            <a:solidFill>
              <a:srgbClr val="E5484D"/>
            </a:solidFill>
            <a:prstDash val="solid"/>
          </a:ln>
        </p:spPr>
      </p:sp>
      <p:pic>
        <p:nvPicPr>
          <p:cNvPr id="3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3248" y="3745748"/>
            <a:ext cx="171176" cy="171176"/>
          </a:xfrm>
          <a:prstGeom prst="rect">
            <a:avLst/>
          </a:prstGeom>
        </p:spPr>
      </p:pic>
      <p:sp>
        <p:nvSpPr>
          <p:cNvPr id="32" name="Text 25"/>
          <p:cNvSpPr txBox="1"/>
          <p:nvPr/>
        </p:nvSpPr>
        <p:spPr>
          <a:xfrm>
            <a:off x="6981444" y="3657600"/>
            <a:ext cx="16047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E548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信号线别插到 D</a:t>
            </a:r>
            <a:endParaRPr lang="en-US" sz="1300" dirty="0"/>
          </a:p>
        </p:txBody>
      </p:sp>
      <p:sp>
        <p:nvSpPr>
          <p:cNvPr id="33" name="Text 26"/>
          <p:cNvSpPr txBox="1"/>
          <p:nvPr/>
        </p:nvSpPr>
        <p:spPr>
          <a:xfrm>
            <a:off x="6981444" y="3968496"/>
            <a:ext cx="16047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 是“输出”，插错了灯不亮；要插 R。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39328" y="4736592"/>
            <a:ext cx="393192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B6B6B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4572000" y="4736592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实验一　WS2812b 灯环</a:t>
            </a:r>
            <a:endParaRPr lang="en-US" sz="8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411480" y="27432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新语法①：库——给 Arduino 装“扩展包”</a:t>
            </a:r>
            <a:endParaRPr lang="en-US" sz="24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411480" y="786384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控制灯环的复杂代码，别人已经写好打包成了“库”：先在库管理器里安装，再用 #include 引进来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11480" y="1234440"/>
            <a:ext cx="3977640" cy="3337560"/>
          </a:xfrm>
          <a:prstGeom prst="roundRect">
            <a:avLst>
              <a:gd name="adj" fmla="val 3288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94360" y="1399032"/>
            <a:ext cx="384048" cy="384048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6532" y="1491204"/>
            <a:ext cx="199705" cy="199705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106424" y="1399032"/>
            <a:ext cx="30998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库 = 别人写好的“扩展包”</a:t>
            </a:r>
            <a:endParaRPr lang="en-US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594360" y="1911096"/>
            <a:ext cx="3611880" cy="873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要让 WS2812 亮起来，得按微秒级的节奏发出一长串 0 和 1，自己写很难。Adafruit 公司把这些代码写好、打包成“库”，装上就能直接用——就像给手机装 App。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594360" y="2893949"/>
            <a:ext cx="3611880" cy="369570"/>
          </a:xfrm>
          <a:prstGeom prst="roundRect">
            <a:avLst>
              <a:gd name="adj" fmla="val 19794"/>
            </a:avLst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740664" y="2985389"/>
            <a:ext cx="3319272" cy="1866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buNone/>
            </a:pPr>
            <a:r>
              <a:rPr lang="en-US" sz="10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Adafruit_NeoPixel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0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 </a:t>
            </a:r>
            <a:pPr indent="0" marL="0">
              <a:buNone/>
            </a:pPr>
            <a:r>
              <a:rPr lang="en-US" sz="1050" dirty="0">
                <a:solidFill>
                  <a:srgbClr val="8E8E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引入库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594360" y="3437255"/>
            <a:ext cx="237744" cy="237744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594360" y="3437255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</a:t>
            </a:r>
            <a:endParaRPr lang="en-US" sz="1000" dirty="0"/>
          </a:p>
        </p:txBody>
      </p:sp>
      <p:sp>
        <p:nvSpPr>
          <p:cNvPr id="15" name="Text 11"/>
          <p:cNvSpPr txBox="1"/>
          <p:nvPr/>
        </p:nvSpPr>
        <p:spPr>
          <a:xfrm>
            <a:off x="923544" y="3409823"/>
            <a:ext cx="32826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写在程序最开头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594360" y="3766439"/>
            <a:ext cx="237744" cy="237744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594360" y="3766439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1000" dirty="0"/>
          </a:p>
        </p:txBody>
      </p:sp>
      <p:sp>
        <p:nvSpPr>
          <p:cNvPr id="18" name="Text 14"/>
          <p:cNvSpPr txBox="1"/>
          <p:nvPr/>
        </p:nvSpPr>
        <p:spPr>
          <a:xfrm>
            <a:off x="923544" y="3739007"/>
            <a:ext cx="32826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&lt;&gt;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里是库的“说明书”文件（.h 头文件）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594360" y="4095623"/>
            <a:ext cx="237744" cy="237744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594360" y="4095623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</a:t>
            </a:r>
            <a:endParaRPr lang="en-US" sz="1000" dirty="0"/>
          </a:p>
        </p:txBody>
      </p:sp>
      <p:sp>
        <p:nvSpPr>
          <p:cNvPr id="21" name="Text 17"/>
          <p:cNvSpPr txBox="1"/>
          <p:nvPr/>
        </p:nvSpPr>
        <p:spPr>
          <a:xfrm>
            <a:off x="923544" y="4068191"/>
            <a:ext cx="32826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一个库装一次，以后所有程序都能用</a:t>
            </a:r>
            <a:endParaRPr lang="en-US" sz="1200" dirty="0"/>
          </a:p>
        </p:txBody>
      </p:sp>
      <p:sp>
        <p:nvSpPr>
          <p:cNvPr id="22" name="Text 18"/>
          <p:cNvSpPr txBox="1"/>
          <p:nvPr/>
        </p:nvSpPr>
        <p:spPr>
          <a:xfrm>
            <a:off x="4663440" y="1234440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安装步骤（每台电脑只需一次）</a:t>
            </a:r>
            <a:endParaRPr lang="en-US" sz="1350" dirty="0"/>
          </a:p>
        </p:txBody>
      </p:sp>
      <p:sp>
        <p:nvSpPr>
          <p:cNvPr id="23" name="Shape 19"/>
          <p:cNvSpPr/>
          <p:nvPr/>
        </p:nvSpPr>
        <p:spPr>
          <a:xfrm>
            <a:off x="4663440" y="1600200"/>
            <a:ext cx="4069080" cy="1700784"/>
          </a:xfrm>
          <a:prstGeom prst="roundRect">
            <a:avLst>
              <a:gd name="adj" fmla="val 6452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4828032" y="1764792"/>
            <a:ext cx="292608" cy="292608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4828032" y="17647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</a:t>
            </a:r>
            <a:endParaRPr lang="en-US" sz="1100" dirty="0"/>
          </a:p>
        </p:txBody>
      </p:sp>
      <p:sp>
        <p:nvSpPr>
          <p:cNvPr id="26" name="Text 22"/>
          <p:cNvSpPr txBox="1"/>
          <p:nvPr/>
        </p:nvSpPr>
        <p:spPr>
          <a:xfrm>
            <a:off x="5230368" y="1728216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打开库管理器</a:t>
            </a:r>
            <a:endParaRPr lang="en-US" sz="1300" dirty="0"/>
          </a:p>
        </p:txBody>
      </p:sp>
      <p:sp>
        <p:nvSpPr>
          <p:cNvPr id="27" name="Text 23"/>
          <p:cNvSpPr txBox="1"/>
          <p:nvPr/>
        </p:nvSpPr>
        <p:spPr>
          <a:xfrm>
            <a:off x="5230368" y="1984248"/>
            <a:ext cx="3337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菜单 工具 → 管理库…（Ctrl+Shift+I）</a:t>
            </a:r>
            <a:endParaRPr lang="en-US" sz="1200" dirty="0"/>
          </a:p>
        </p:txBody>
      </p:sp>
      <p:sp>
        <p:nvSpPr>
          <p:cNvPr id="28" name="Shape 24"/>
          <p:cNvSpPr/>
          <p:nvPr/>
        </p:nvSpPr>
        <p:spPr>
          <a:xfrm>
            <a:off x="4828032" y="2286000"/>
            <a:ext cx="292608" cy="292608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29" name="Text 25"/>
          <p:cNvSpPr txBox="1"/>
          <p:nvPr/>
        </p:nvSpPr>
        <p:spPr>
          <a:xfrm>
            <a:off x="4828032" y="22860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1100" dirty="0"/>
          </a:p>
        </p:txBody>
      </p:sp>
      <p:sp>
        <p:nvSpPr>
          <p:cNvPr id="30" name="Text 26"/>
          <p:cNvSpPr txBox="1"/>
          <p:nvPr/>
        </p:nvSpPr>
        <p:spPr>
          <a:xfrm>
            <a:off x="5230368" y="2249424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搜索库名</a:t>
            </a:r>
            <a:endParaRPr lang="en-US" sz="1300" dirty="0"/>
          </a:p>
        </p:txBody>
      </p:sp>
      <p:sp>
        <p:nvSpPr>
          <p:cNvPr id="31" name="Text 27"/>
          <p:cNvSpPr txBox="1"/>
          <p:nvPr/>
        </p:nvSpPr>
        <p:spPr>
          <a:xfrm>
            <a:off x="5230368" y="2505456"/>
            <a:ext cx="3337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在搜索框输入 Adafruit NeoPixel</a:t>
            </a:r>
            <a:endParaRPr lang="en-US" sz="1200" dirty="0"/>
          </a:p>
        </p:txBody>
      </p:sp>
      <p:sp>
        <p:nvSpPr>
          <p:cNvPr id="32" name="Shape 28"/>
          <p:cNvSpPr/>
          <p:nvPr/>
        </p:nvSpPr>
        <p:spPr>
          <a:xfrm>
            <a:off x="4828032" y="2807208"/>
            <a:ext cx="292608" cy="292608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33" name="Text 29"/>
          <p:cNvSpPr txBox="1"/>
          <p:nvPr/>
        </p:nvSpPr>
        <p:spPr>
          <a:xfrm>
            <a:off x="4828032" y="28072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</a:t>
            </a:r>
            <a:endParaRPr lang="en-US" sz="1100" dirty="0"/>
          </a:p>
        </p:txBody>
      </p:sp>
      <p:sp>
        <p:nvSpPr>
          <p:cNvPr id="34" name="Text 30"/>
          <p:cNvSpPr txBox="1"/>
          <p:nvPr/>
        </p:nvSpPr>
        <p:spPr>
          <a:xfrm>
            <a:off x="5230368" y="2770632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点“安装”</a:t>
            </a:r>
            <a:endParaRPr lang="en-US" sz="1300" dirty="0"/>
          </a:p>
        </p:txBody>
      </p:sp>
      <p:sp>
        <p:nvSpPr>
          <p:cNvPr id="35" name="Text 31"/>
          <p:cNvSpPr txBox="1"/>
          <p:nvPr/>
        </p:nvSpPr>
        <p:spPr>
          <a:xfrm>
            <a:off x="5230368" y="3026664"/>
            <a:ext cx="3337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找到作者是 Adafruit 的那个，点安装</a:t>
            </a:r>
            <a:endParaRPr lang="en-US" sz="1200" dirty="0"/>
          </a:p>
        </p:txBody>
      </p:sp>
      <p:sp>
        <p:nvSpPr>
          <p:cNvPr id="36" name="Shape 32"/>
          <p:cNvSpPr/>
          <p:nvPr/>
        </p:nvSpPr>
        <p:spPr>
          <a:xfrm>
            <a:off x="4663440" y="3575304"/>
            <a:ext cx="4069080" cy="996696"/>
          </a:xfrm>
          <a:prstGeom prst="roundRect">
            <a:avLst>
              <a:gd name="adj" fmla="val 11009"/>
            </a:avLst>
          </a:prstGeom>
          <a:solidFill>
            <a:srgbClr val="FFFFFF"/>
          </a:solidFill>
          <a:ln w="12700">
            <a:solidFill>
              <a:srgbClr val="E5484D"/>
            </a:solidFill>
            <a:prstDash val="solid"/>
          </a:ln>
        </p:spPr>
      </p:sp>
      <p:sp>
        <p:nvSpPr>
          <p:cNvPr id="37" name="Shape 33"/>
          <p:cNvSpPr/>
          <p:nvPr/>
        </p:nvSpPr>
        <p:spPr>
          <a:xfrm>
            <a:off x="4809744" y="3918204"/>
            <a:ext cx="310896" cy="310896"/>
          </a:xfrm>
          <a:prstGeom prst="ellipse">
            <a:avLst/>
          </a:prstGeom>
          <a:solidFill>
            <a:srgbClr val="E5484D"/>
          </a:solidFill>
          <a:ln w="12700">
            <a:solidFill>
              <a:srgbClr val="E5484D"/>
            </a:solidFill>
            <a:prstDash val="solid"/>
          </a:ln>
        </p:spPr>
      </p:sp>
      <p:pic>
        <p:nvPicPr>
          <p:cNvPr id="3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4359" y="3992819"/>
            <a:ext cx="161666" cy="161666"/>
          </a:xfrm>
          <a:prstGeom prst="rect">
            <a:avLst/>
          </a:prstGeom>
        </p:spPr>
      </p:pic>
      <p:sp>
        <p:nvSpPr>
          <p:cNvPr id="39" name="Text 34"/>
          <p:cNvSpPr txBox="1"/>
          <p:nvPr/>
        </p:nvSpPr>
        <p:spPr>
          <a:xfrm>
            <a:off x="5248656" y="3666744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E548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没装库就编译，会报错</a:t>
            </a:r>
            <a:endParaRPr lang="en-US" sz="1300" dirty="0"/>
          </a:p>
        </p:txBody>
      </p:sp>
      <p:sp>
        <p:nvSpPr>
          <p:cNvPr id="40" name="Text 35"/>
          <p:cNvSpPr txBox="1"/>
          <p:nvPr/>
        </p:nvSpPr>
        <p:spPr>
          <a:xfrm>
            <a:off x="5248656" y="3959352"/>
            <a:ext cx="333756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Adafruit_NeoPixel.h: No such file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意思是“找不到这个文件”：先去装库。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39328" y="4736592"/>
            <a:ext cx="393192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B6B6B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4572000" y="4736592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实验一　WS2812b 灯环</a:t>
            </a:r>
            <a:endParaRPr lang="en-US" sz="8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411480" y="27432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新语法②：对象——pixels 是你的“灯环管家”</a:t>
            </a:r>
            <a:endParaRPr lang="en-US" sz="24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411480" y="786384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用库先“创建一个对象”，以后就用 对象.函数() 给它下命令，比如 pixels.begin()、pixels.show()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11480" y="1234440"/>
            <a:ext cx="4206240" cy="3337560"/>
          </a:xfrm>
          <a:prstGeom prst="roundRect">
            <a:avLst>
              <a:gd name="adj" fmla="val 3288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94360" y="1399032"/>
            <a:ext cx="384048" cy="384048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6532" y="1491204"/>
            <a:ext cx="199705" cy="199705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106424" y="1399032"/>
            <a:ext cx="33284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对象 = 一位“灯环管家”</a:t>
            </a:r>
            <a:endParaRPr lang="en-US" sz="1500" dirty="0"/>
          </a:p>
        </p:txBody>
      </p:sp>
      <p:sp>
        <p:nvSpPr>
          <p:cNvPr id="10" name="Shape 6"/>
          <p:cNvSpPr/>
          <p:nvPr/>
        </p:nvSpPr>
        <p:spPr>
          <a:xfrm>
            <a:off x="594360" y="1911096"/>
            <a:ext cx="3840480" cy="769620"/>
          </a:xfrm>
          <a:prstGeom prst="roundRect">
            <a:avLst>
              <a:gd name="adj" fmla="val 9505"/>
            </a:avLst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740664" y="2002536"/>
            <a:ext cx="3547872" cy="195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Adafruit_NeoPixel pixels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endParaRPr lang="en-US" sz="1100" dirty="0"/>
          </a:p>
        </p:txBody>
      </p:sp>
      <p:sp>
        <p:nvSpPr>
          <p:cNvPr id="12" name="Text 8"/>
          <p:cNvSpPr txBox="1"/>
          <p:nvPr/>
        </p:nvSpPr>
        <p:spPr>
          <a:xfrm>
            <a:off x="740664" y="2198116"/>
            <a:ext cx="3547872" cy="195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PIXEL_COUNT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LED_Pin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100" dirty="0"/>
          </a:p>
        </p:txBody>
      </p:sp>
      <p:sp>
        <p:nvSpPr>
          <p:cNvPr id="13" name="Text 9"/>
          <p:cNvSpPr txBox="1"/>
          <p:nvPr/>
        </p:nvSpPr>
        <p:spPr>
          <a:xfrm>
            <a:off x="740664" y="2393696"/>
            <a:ext cx="3547872" cy="195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NEO_GRB 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</a:t>
            </a:r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NEO_KHZ800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1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2808732"/>
          <a:ext cx="3840480" cy="914400"/>
        </p:xfrm>
        <a:graphic>
          <a:graphicData uri="http://schemas.openxmlformats.org/drawingml/2006/table">
            <a:tbl>
              <a:tblPr/>
              <a:tblGrid>
                <a:gridCol w="1755648"/>
                <a:gridCol w="2084832"/>
              </a:tblGrid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Adafruit_NeoPixel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类型：管家的“种类”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pixels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名字：自己起，后面都用它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PIXEL_COUNT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管几颗灯：12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LED_Pin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接哪个脚：10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NEO_GRB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颜色按 绿-红-蓝 顺序发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NEO_KHZ800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发送速度 800 kHz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Shape 10"/>
          <p:cNvSpPr/>
          <p:nvPr/>
        </p:nvSpPr>
        <p:spPr>
          <a:xfrm>
            <a:off x="4892040" y="1234440"/>
            <a:ext cx="3840480" cy="1947672"/>
          </a:xfrm>
          <a:prstGeom prst="roundRect">
            <a:avLst>
              <a:gd name="adj" fmla="val 5634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5074920" y="1399032"/>
            <a:ext cx="384048" cy="384048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7092" y="1491204"/>
            <a:ext cx="199705" cy="199705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5586984" y="1399032"/>
            <a:ext cx="29626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对象.函数()：对管家下命令</a:t>
            </a:r>
            <a:endParaRPr lang="en-US" sz="1500" dirty="0"/>
          </a:p>
        </p:txBody>
      </p:sp>
      <p:sp>
        <p:nvSpPr>
          <p:cNvPr id="19" name="Shape 13"/>
          <p:cNvSpPr/>
          <p:nvPr/>
        </p:nvSpPr>
        <p:spPr>
          <a:xfrm>
            <a:off x="5074920" y="1911096"/>
            <a:ext cx="3474720" cy="556260"/>
          </a:xfrm>
          <a:prstGeom prst="roundRect">
            <a:avLst>
              <a:gd name="adj" fmla="val 13151"/>
            </a:avLst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20" name="Text 14"/>
          <p:cNvSpPr txBox="1"/>
          <p:nvPr/>
        </p:nvSpPr>
        <p:spPr>
          <a:xfrm>
            <a:off x="5221224" y="2002536"/>
            <a:ext cx="3182112" cy="1866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pixels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begin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  </a:t>
            </a:r>
            <a:pPr indent="0" marL="0">
              <a:buNone/>
            </a:pPr>
            <a:r>
              <a:rPr lang="en-US" sz="1050" dirty="0">
                <a:solidFill>
                  <a:srgbClr val="8E8E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管家，准备开工</a:t>
            </a:r>
            <a:endParaRPr lang="en-US" sz="1050" dirty="0"/>
          </a:p>
        </p:txBody>
      </p:sp>
      <p:sp>
        <p:nvSpPr>
          <p:cNvPr id="21" name="Text 15"/>
          <p:cNvSpPr txBox="1"/>
          <p:nvPr/>
        </p:nvSpPr>
        <p:spPr>
          <a:xfrm>
            <a:off x="5221224" y="2189226"/>
            <a:ext cx="3182112" cy="1866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pixels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0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show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   </a:t>
            </a:r>
            <a:pPr indent="0" marL="0">
              <a:buNone/>
            </a:pPr>
            <a:r>
              <a:rPr lang="en-US" sz="1050" dirty="0">
                <a:solidFill>
                  <a:srgbClr val="8E8E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管家，把颜色发出去</a:t>
            </a:r>
            <a:endParaRPr lang="en-US" sz="1050" dirty="0"/>
          </a:p>
        </p:txBody>
      </p:sp>
      <p:sp>
        <p:nvSpPr>
          <p:cNvPr id="22" name="Text 16"/>
          <p:cNvSpPr txBox="1"/>
          <p:nvPr/>
        </p:nvSpPr>
        <p:spPr>
          <a:xfrm>
            <a:off x="5074920" y="2558796"/>
            <a:ext cx="3474720" cy="5684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中间的“</a:t>
            </a:r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”读作“的”：pixels 的 show 功能。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后面还有 setPixelColor() 等命令。</a:t>
            </a:r>
            <a:endParaRPr lang="en-US" sz="1200" dirty="0"/>
          </a:p>
        </p:txBody>
      </p:sp>
      <p:sp>
        <p:nvSpPr>
          <p:cNvPr id="23" name="Shape 17"/>
          <p:cNvSpPr/>
          <p:nvPr/>
        </p:nvSpPr>
        <p:spPr>
          <a:xfrm>
            <a:off x="4892040" y="3456432"/>
            <a:ext cx="3840480" cy="1115568"/>
          </a:xfrm>
          <a:prstGeom prst="roundRect">
            <a:avLst>
              <a:gd name="adj" fmla="val 9836"/>
            </a:avLst>
          </a:prstGeom>
          <a:solidFill>
            <a:srgbClr val="FFFFFF"/>
          </a:solidFill>
          <a:ln w="12700">
            <a:solidFill>
              <a:srgbClr val="E5484D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5056632" y="3621024"/>
            <a:ext cx="310896" cy="310896"/>
          </a:xfrm>
          <a:prstGeom prst="ellipse">
            <a:avLst/>
          </a:prstGeom>
          <a:solidFill>
            <a:srgbClr val="E5484D"/>
          </a:solidFill>
          <a:ln w="12700">
            <a:solidFill>
              <a:srgbClr val="E5484D"/>
            </a:solidFill>
            <a:prstDash val="solid"/>
          </a:ln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1247" y="3695639"/>
            <a:ext cx="161666" cy="161666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5477256" y="3621024"/>
            <a:ext cx="3090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E548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名字要一字不差</a:t>
            </a:r>
            <a:endParaRPr lang="en-US" sz="1350" dirty="0"/>
          </a:p>
        </p:txBody>
      </p:sp>
      <p:sp>
        <p:nvSpPr>
          <p:cNvPr id="27" name="Text 20"/>
          <p:cNvSpPr txBox="1"/>
          <p:nvPr/>
        </p:nvSpPr>
        <p:spPr>
          <a:xfrm>
            <a:off x="5056632" y="4023360"/>
            <a:ext cx="35112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写成 Pixels.show()（大写 P）就会报错：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'Pixels' was not declared in this scope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39328" y="4736592"/>
            <a:ext cx="393192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B6B6B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4572000" y="4736592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实验一　WS2812b 灯环</a:t>
            </a:r>
            <a:endParaRPr lang="en-US" sz="8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411480" y="27432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新语法③：先写草稿，再用 show() 寄出</a:t>
            </a:r>
            <a:endParaRPr lang="en-US" sz="24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411480" y="786384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setPixelColor() 只是把颜色写进 Arduino 里的“草稿”，show() 才把 12 颗灯的颜色一次性发出去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11480" y="1234440"/>
            <a:ext cx="4206240" cy="2075688"/>
          </a:xfrm>
          <a:prstGeom prst="roundRect">
            <a:avLst>
              <a:gd name="adj" fmla="val 5286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94360" y="1399032"/>
            <a:ext cx="384048" cy="384048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6532" y="1491204"/>
            <a:ext cx="199705" cy="199705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106424" y="1399032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像写信和寄信</a:t>
            </a:r>
            <a:endParaRPr lang="en-US" sz="1500" dirty="0"/>
          </a:p>
        </p:txBody>
      </p:sp>
      <p:sp>
        <p:nvSpPr>
          <p:cNvPr id="10" name="Shape 6"/>
          <p:cNvSpPr/>
          <p:nvPr/>
        </p:nvSpPr>
        <p:spPr>
          <a:xfrm>
            <a:off x="594360" y="1929384"/>
            <a:ext cx="1691640" cy="1216152"/>
          </a:xfrm>
          <a:prstGeom prst="roundRect">
            <a:avLst>
              <a:gd name="adj" fmla="val 9023"/>
            </a:avLst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722376" y="2039112"/>
            <a:ext cx="274320" cy="274320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722376" y="20391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</a:t>
            </a:r>
            <a:endParaRPr lang="en-US" sz="1100" dirty="0"/>
          </a:p>
        </p:txBody>
      </p:sp>
      <p:sp>
        <p:nvSpPr>
          <p:cNvPr id="13" name="Text 9"/>
          <p:cNvSpPr txBox="1"/>
          <p:nvPr/>
        </p:nvSpPr>
        <p:spPr>
          <a:xfrm>
            <a:off x="1069848" y="2039112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写信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722376" y="2386584"/>
            <a:ext cx="1508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setPixelColor()</a:t>
            </a:r>
            <a:endParaRPr lang="en-US" sz="1100" dirty="0"/>
          </a:p>
        </p:txBody>
      </p:sp>
      <p:sp>
        <p:nvSpPr>
          <p:cNvPr id="15" name="Text 11"/>
          <p:cNvSpPr txBox="1"/>
          <p:nvPr/>
        </p:nvSpPr>
        <p:spPr>
          <a:xfrm>
            <a:off x="722376" y="2660904"/>
            <a:ext cx="145389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把第 i 颗灯的颜色写进草稿，灯还没变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2743200" y="1929384"/>
            <a:ext cx="1691640" cy="1216152"/>
          </a:xfrm>
          <a:prstGeom prst="roundRect">
            <a:avLst>
              <a:gd name="adj" fmla="val 9023"/>
            </a:avLst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2871216" y="2039112"/>
            <a:ext cx="274320" cy="274320"/>
          </a:xfrm>
          <a:prstGeom prst="ellipse">
            <a:avLst/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2871216" y="20391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1100" dirty="0"/>
          </a:p>
        </p:txBody>
      </p:sp>
      <p:sp>
        <p:nvSpPr>
          <p:cNvPr id="19" name="Text 15"/>
          <p:cNvSpPr txBox="1"/>
          <p:nvPr/>
        </p:nvSpPr>
        <p:spPr>
          <a:xfrm>
            <a:off x="3218688" y="2039112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寄出</a:t>
            </a:r>
            <a:endParaRPr lang="en-US" sz="1400" dirty="0"/>
          </a:p>
        </p:txBody>
      </p:sp>
      <p:sp>
        <p:nvSpPr>
          <p:cNvPr id="20" name="Text 16"/>
          <p:cNvSpPr txBox="1"/>
          <p:nvPr/>
        </p:nvSpPr>
        <p:spPr>
          <a:xfrm>
            <a:off x="2871216" y="2386584"/>
            <a:ext cx="1508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show()</a:t>
            </a:r>
            <a:endParaRPr lang="en-US" sz="1100" dirty="0"/>
          </a:p>
        </p:txBody>
      </p:sp>
      <p:sp>
        <p:nvSpPr>
          <p:cNvPr id="21" name="Text 17"/>
          <p:cNvSpPr txBox="1"/>
          <p:nvPr/>
        </p:nvSpPr>
        <p:spPr>
          <a:xfrm>
            <a:off x="2871216" y="2660904"/>
            <a:ext cx="145389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整份草稿发给灯环，灯一起变色</a:t>
            </a:r>
            <a:endParaRPr lang="en-US" sz="1200" dirty="0"/>
          </a:p>
        </p:txBody>
      </p:sp>
      <p:sp>
        <p:nvSpPr>
          <p:cNvPr id="22" name="Shape 18"/>
          <p:cNvSpPr/>
          <p:nvPr/>
        </p:nvSpPr>
        <p:spPr>
          <a:xfrm>
            <a:off x="2359152" y="2537460"/>
            <a:ext cx="310896" cy="91"/>
          </a:xfrm>
          <a:prstGeom prst="line">
            <a:avLst/>
          </a:prstGeom>
          <a:noFill/>
          <a:ln w="22225">
            <a:solidFill>
              <a:srgbClr val="2D2D2D"/>
            </a:solidFill>
            <a:prstDash val="solid"/>
            <a:tailEnd type="triangle"/>
          </a:ln>
        </p:spPr>
      </p:sp>
      <p:sp>
        <p:nvSpPr>
          <p:cNvPr id="23" name="Shape 19"/>
          <p:cNvSpPr/>
          <p:nvPr/>
        </p:nvSpPr>
        <p:spPr>
          <a:xfrm>
            <a:off x="411480" y="3584448"/>
            <a:ext cx="4206240" cy="987552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5484D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557784" y="3922776"/>
            <a:ext cx="310896" cy="310896"/>
          </a:xfrm>
          <a:prstGeom prst="ellipse">
            <a:avLst/>
          </a:prstGeom>
          <a:solidFill>
            <a:srgbClr val="E5484D"/>
          </a:solidFill>
          <a:ln w="12700">
            <a:solidFill>
              <a:srgbClr val="E5484D"/>
            </a:solidFill>
            <a:prstDash val="solid"/>
          </a:ln>
        </p:spPr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399" y="3997391"/>
            <a:ext cx="161666" cy="161666"/>
          </a:xfrm>
          <a:prstGeom prst="rect">
            <a:avLst/>
          </a:prstGeom>
        </p:spPr>
      </p:pic>
      <p:sp>
        <p:nvSpPr>
          <p:cNvPr id="26" name="Text 21"/>
          <p:cNvSpPr txBox="1"/>
          <p:nvPr/>
        </p:nvSpPr>
        <p:spPr>
          <a:xfrm>
            <a:off x="996696" y="367588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E548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只写不寄 = 灯不变</a:t>
            </a:r>
            <a:endParaRPr lang="en-US" sz="1300" dirty="0"/>
          </a:p>
        </p:txBody>
      </p:sp>
      <p:sp>
        <p:nvSpPr>
          <p:cNvPr id="27" name="Text 22"/>
          <p:cNvSpPr txBox="1"/>
          <p:nvPr/>
        </p:nvSpPr>
        <p:spPr>
          <a:xfrm>
            <a:off x="996696" y="3968496"/>
            <a:ext cx="3474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写完 setPixelColor() 却忘了 show()，灯一点反应都没有。</a:t>
            </a:r>
            <a:endParaRPr lang="en-US" sz="1200" dirty="0"/>
          </a:p>
        </p:txBody>
      </p:sp>
      <p:sp>
        <p:nvSpPr>
          <p:cNvPr id="28" name="Shape 23"/>
          <p:cNvSpPr/>
          <p:nvPr/>
        </p:nvSpPr>
        <p:spPr>
          <a:xfrm>
            <a:off x="4892040" y="1234440"/>
            <a:ext cx="3840480" cy="1737360"/>
          </a:xfrm>
          <a:prstGeom prst="roundRect">
            <a:avLst>
              <a:gd name="adj" fmla="val 6316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29" name="Shape 24"/>
          <p:cNvSpPr/>
          <p:nvPr/>
        </p:nvSpPr>
        <p:spPr>
          <a:xfrm>
            <a:off x="5074920" y="1380744"/>
            <a:ext cx="347472" cy="347472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3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58313" y="1464137"/>
            <a:ext cx="180685" cy="180685"/>
          </a:xfrm>
          <a:prstGeom prst="rect">
            <a:avLst/>
          </a:prstGeom>
        </p:spPr>
      </p:pic>
      <p:sp>
        <p:nvSpPr>
          <p:cNvPr id="31" name="Text 25"/>
          <p:cNvSpPr txBox="1"/>
          <p:nvPr/>
        </p:nvSpPr>
        <p:spPr>
          <a:xfrm>
            <a:off x="5532120" y="1380744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pixels.Color(红, 绿, 蓝)</a:t>
            </a:r>
            <a:endParaRPr lang="en-US" sz="1300" dirty="0"/>
          </a:p>
        </p:txBody>
      </p:sp>
      <p:sp>
        <p:nvSpPr>
          <p:cNvPr id="32" name="Text 26"/>
          <p:cNvSpPr txBox="1"/>
          <p:nvPr/>
        </p:nvSpPr>
        <p:spPr>
          <a:xfrm>
            <a:off x="5111496" y="1819656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(255, 0, 0)</a:t>
            </a:r>
            <a:endParaRPr lang="en-US" sz="1200" dirty="0"/>
          </a:p>
        </p:txBody>
      </p:sp>
      <p:sp>
        <p:nvSpPr>
          <p:cNvPr id="33" name="Text 27"/>
          <p:cNvSpPr txBox="1"/>
          <p:nvPr/>
        </p:nvSpPr>
        <p:spPr>
          <a:xfrm>
            <a:off x="6720840" y="1819656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→ 红</a:t>
            </a:r>
            <a:endParaRPr lang="en-US" sz="1200" dirty="0"/>
          </a:p>
        </p:txBody>
      </p:sp>
      <p:sp>
        <p:nvSpPr>
          <p:cNvPr id="34" name="Text 28"/>
          <p:cNvSpPr txBox="1"/>
          <p:nvPr/>
        </p:nvSpPr>
        <p:spPr>
          <a:xfrm>
            <a:off x="5111496" y="2084832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(0, 0, 255)</a:t>
            </a:r>
            <a:endParaRPr lang="en-US" sz="1200" dirty="0"/>
          </a:p>
        </p:txBody>
      </p:sp>
      <p:sp>
        <p:nvSpPr>
          <p:cNvPr id="35" name="Text 29"/>
          <p:cNvSpPr txBox="1"/>
          <p:nvPr/>
        </p:nvSpPr>
        <p:spPr>
          <a:xfrm>
            <a:off x="6720840" y="2084832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→ 蓝</a:t>
            </a:r>
            <a:endParaRPr lang="en-US" sz="1200" dirty="0"/>
          </a:p>
        </p:txBody>
      </p:sp>
      <p:sp>
        <p:nvSpPr>
          <p:cNvPr id="36" name="Text 30"/>
          <p:cNvSpPr txBox="1"/>
          <p:nvPr/>
        </p:nvSpPr>
        <p:spPr>
          <a:xfrm>
            <a:off x="5111496" y="2350008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(127, 127, 127)</a:t>
            </a:r>
            <a:endParaRPr lang="en-US" sz="1200" dirty="0"/>
          </a:p>
        </p:txBody>
      </p:sp>
      <p:sp>
        <p:nvSpPr>
          <p:cNvPr id="37" name="Text 31"/>
          <p:cNvSpPr txBox="1"/>
          <p:nvPr/>
        </p:nvSpPr>
        <p:spPr>
          <a:xfrm>
            <a:off x="6720840" y="2350008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→ 白（约一半亮度）</a:t>
            </a:r>
            <a:endParaRPr lang="en-US" sz="1200" dirty="0"/>
          </a:p>
        </p:txBody>
      </p:sp>
      <p:sp>
        <p:nvSpPr>
          <p:cNvPr id="38" name="Text 32"/>
          <p:cNvSpPr txBox="1"/>
          <p:nvPr/>
        </p:nvSpPr>
        <p:spPr>
          <a:xfrm>
            <a:off x="5111496" y="2633472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三个数各 0～255，可混出约 1677 万种颜色</a:t>
            </a:r>
            <a:endParaRPr lang="en-US" sz="1200" dirty="0"/>
          </a:p>
        </p:txBody>
      </p:sp>
      <p:sp>
        <p:nvSpPr>
          <p:cNvPr id="39" name="Shape 33"/>
          <p:cNvSpPr/>
          <p:nvPr/>
        </p:nvSpPr>
        <p:spPr>
          <a:xfrm>
            <a:off x="4892040" y="3246120"/>
            <a:ext cx="3840480" cy="1325880"/>
          </a:xfrm>
          <a:prstGeom prst="roundRect">
            <a:avLst>
              <a:gd name="adj" fmla="val 8276"/>
            </a:avLst>
          </a:prstGeom>
          <a:solidFill>
            <a:srgbClr val="E3FAF7"/>
          </a:solidFill>
          <a:ln w="12700">
            <a:solidFill>
              <a:srgbClr val="E3FAF7"/>
            </a:solidFill>
            <a:prstDash val="solid"/>
          </a:ln>
        </p:spPr>
      </p:sp>
      <p:sp>
        <p:nvSpPr>
          <p:cNvPr id="40" name="Shape 34"/>
          <p:cNvSpPr/>
          <p:nvPr/>
        </p:nvSpPr>
        <p:spPr>
          <a:xfrm>
            <a:off x="5074920" y="3374136"/>
            <a:ext cx="329184" cy="329184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4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53924" y="3453140"/>
            <a:ext cx="171176" cy="171176"/>
          </a:xfrm>
          <a:prstGeom prst="rect">
            <a:avLst/>
          </a:prstGeom>
        </p:spPr>
      </p:pic>
      <p:sp>
        <p:nvSpPr>
          <p:cNvPr id="42" name="Text 35"/>
          <p:cNvSpPr txBox="1"/>
          <p:nvPr/>
        </p:nvSpPr>
        <p:spPr>
          <a:xfrm>
            <a:off x="5495544" y="3374136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setBrightness(30)：亮度上限</a:t>
            </a:r>
            <a:endParaRPr lang="en-US" sz="1300" dirty="0"/>
          </a:p>
        </p:txBody>
      </p:sp>
      <p:sp>
        <p:nvSpPr>
          <p:cNvPr id="43" name="Shape 36"/>
          <p:cNvSpPr/>
          <p:nvPr/>
        </p:nvSpPr>
        <p:spPr>
          <a:xfrm>
            <a:off x="5111496" y="3776472"/>
            <a:ext cx="3401568" cy="1828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44" name="Shape 37"/>
          <p:cNvSpPr/>
          <p:nvPr/>
        </p:nvSpPr>
        <p:spPr>
          <a:xfrm>
            <a:off x="5111496" y="3776472"/>
            <a:ext cx="400184" cy="182880"/>
          </a:xfrm>
          <a:prstGeom prst="roundRect">
            <a:avLst>
              <a:gd name="adj" fmla="val 50000"/>
            </a:avLst>
          </a:prstGeom>
          <a:solidFill>
            <a:srgbClr val="1A9E92"/>
          </a:solidFill>
          <a:ln w="12700">
            <a:solidFill>
              <a:srgbClr val="1A9E92"/>
            </a:solidFill>
            <a:prstDash val="solid"/>
          </a:ln>
        </p:spPr>
      </p:sp>
      <p:sp>
        <p:nvSpPr>
          <p:cNvPr id="45" name="Text 38"/>
          <p:cNvSpPr txBox="1"/>
          <p:nvPr/>
        </p:nvSpPr>
        <p:spPr>
          <a:xfrm>
            <a:off x="5621408" y="3739896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30 / 255 ≈ 12%</a:t>
            </a:r>
            <a:endParaRPr lang="en-US" sz="1100" dirty="0"/>
          </a:p>
        </p:txBody>
      </p:sp>
      <p:sp>
        <p:nvSpPr>
          <p:cNvPr id="46" name="Text 39"/>
          <p:cNvSpPr txBox="1"/>
          <p:nvPr/>
        </p:nvSpPr>
        <p:spPr>
          <a:xfrm>
            <a:off x="5111496" y="4050792"/>
            <a:ext cx="343814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不刺眼、更省电：12 颗灯全亮白光约 0.7 A，电脑 USB 口一般只能给 0.5 A。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39328" y="4736592"/>
            <a:ext cx="393192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B6B6B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4572000" y="4736592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实验一　WS2812b 灯环</a:t>
            </a:r>
            <a:endParaRPr lang="en-US" sz="8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411480" y="27432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代码逐行看懂（1/2）：准备工作</a:t>
            </a:r>
            <a:endParaRPr lang="en-US" sz="24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411480" y="786384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先引入库、给数字起外号、创建灯环对象，再在 setup() 里让管家开工并设好亮度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11480" y="1234440"/>
            <a:ext cx="4709160" cy="3337560"/>
          </a:xfrm>
          <a:prstGeom prst="roundRect">
            <a:avLst>
              <a:gd name="adj" fmla="val 2740"/>
            </a:avLst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39496" y="1298448"/>
            <a:ext cx="2825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A9A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ws2812_ring.ino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2295144" y="1298448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A9A9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1–13 行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57200" y="1545336"/>
            <a:ext cx="4617720" cy="198628"/>
          </a:xfrm>
          <a:prstGeom prst="rect">
            <a:avLst/>
          </a:prstGeom>
          <a:solidFill>
            <a:srgbClr val="3E5250"/>
          </a:solidFill>
          <a:ln w="12700">
            <a:solidFill>
              <a:srgbClr val="3E5250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02920" y="1545336"/>
            <a:ext cx="228597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856016" y="1545336"/>
            <a:ext cx="4136608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buNone/>
            </a:pPr>
            <a:r>
              <a:rPr lang="en-US" sz="11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Adafruit_NeoPixel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1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   </a:t>
            </a:r>
            <a:pPr indent="0" marL="0">
              <a:buNone/>
            </a:pPr>
            <a:r>
              <a:rPr lang="en-US" sz="1150" dirty="0">
                <a:solidFill>
                  <a:srgbClr val="8E8E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//引入头文件</a:t>
            </a:r>
            <a:endParaRPr lang="en-US" sz="1150" dirty="0"/>
          </a:p>
        </p:txBody>
      </p:sp>
      <p:sp>
        <p:nvSpPr>
          <p:cNvPr id="12" name="Text 9"/>
          <p:cNvSpPr txBox="1"/>
          <p:nvPr/>
        </p:nvSpPr>
        <p:spPr>
          <a:xfrm>
            <a:off x="502920" y="1743964"/>
            <a:ext cx="228597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50" dirty="0"/>
          </a:p>
        </p:txBody>
      </p:sp>
      <p:sp>
        <p:nvSpPr>
          <p:cNvPr id="13" name="Text 10"/>
          <p:cNvSpPr txBox="1"/>
          <p:nvPr/>
        </p:nvSpPr>
        <p:spPr>
          <a:xfrm>
            <a:off x="856016" y="1743964"/>
            <a:ext cx="4136608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</p:txBody>
      </p:sp>
      <p:sp>
        <p:nvSpPr>
          <p:cNvPr id="14" name="Text 11"/>
          <p:cNvSpPr txBox="1"/>
          <p:nvPr/>
        </p:nvSpPr>
        <p:spPr>
          <a:xfrm>
            <a:off x="502920" y="1942592"/>
            <a:ext cx="228597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050" dirty="0"/>
          </a:p>
        </p:txBody>
      </p:sp>
      <p:sp>
        <p:nvSpPr>
          <p:cNvPr id="15" name="Text 12"/>
          <p:cNvSpPr txBox="1"/>
          <p:nvPr/>
        </p:nvSpPr>
        <p:spPr>
          <a:xfrm>
            <a:off x="856016" y="1942592"/>
            <a:ext cx="4136608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#define </a:t>
            </a:r>
            <a:pPr indent="0" marL="0">
              <a:buNone/>
            </a:pPr>
            <a:r>
              <a:rPr lang="en-US" sz="11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LED_Pin        </a:t>
            </a:r>
            <a:pPr indent="0" marL="0">
              <a:buNone/>
            </a:pPr>
            <a:r>
              <a:rPr lang="en-US" sz="115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 </a:t>
            </a:r>
            <a:pPr indent="0" marL="0">
              <a:buNone/>
            </a:pPr>
            <a:r>
              <a:rPr lang="en-US" sz="1150" dirty="0">
                <a:solidFill>
                  <a:srgbClr val="8E8E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//定义信号输出引脚</a:t>
            </a:r>
            <a:endParaRPr lang="en-US" sz="1150" dirty="0"/>
          </a:p>
        </p:txBody>
      </p:sp>
      <p:sp>
        <p:nvSpPr>
          <p:cNvPr id="16" name="Text 13"/>
          <p:cNvSpPr txBox="1"/>
          <p:nvPr/>
        </p:nvSpPr>
        <p:spPr>
          <a:xfrm>
            <a:off x="502920" y="2141220"/>
            <a:ext cx="228597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050" dirty="0"/>
          </a:p>
        </p:txBody>
      </p:sp>
      <p:sp>
        <p:nvSpPr>
          <p:cNvPr id="17" name="Text 14"/>
          <p:cNvSpPr txBox="1"/>
          <p:nvPr/>
        </p:nvSpPr>
        <p:spPr>
          <a:xfrm>
            <a:off x="856016" y="2141220"/>
            <a:ext cx="4136608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#define  </a:t>
            </a:r>
            <a:pPr indent="0" marL="0">
              <a:buNone/>
            </a:pPr>
            <a:r>
              <a:rPr lang="en-US" sz="11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PIXEL_COUNT    </a:t>
            </a:r>
            <a:pPr indent="0" marL="0">
              <a:buNone/>
            </a:pPr>
            <a:r>
              <a:rPr lang="en-US" sz="115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 </a:t>
            </a:r>
            <a:pPr indent="0" marL="0">
              <a:buNone/>
            </a:pPr>
            <a:r>
              <a:rPr lang="en-US" sz="1150" dirty="0">
                <a:solidFill>
                  <a:srgbClr val="8E8E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//定义LED灯个数</a:t>
            </a:r>
            <a:endParaRPr lang="en-US" sz="1150" dirty="0"/>
          </a:p>
        </p:txBody>
      </p:sp>
      <p:sp>
        <p:nvSpPr>
          <p:cNvPr id="18" name="Text 15"/>
          <p:cNvSpPr txBox="1"/>
          <p:nvPr/>
        </p:nvSpPr>
        <p:spPr>
          <a:xfrm>
            <a:off x="502920" y="2339848"/>
            <a:ext cx="228597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050" dirty="0"/>
          </a:p>
        </p:txBody>
      </p:sp>
      <p:sp>
        <p:nvSpPr>
          <p:cNvPr id="19" name="Text 16"/>
          <p:cNvSpPr txBox="1"/>
          <p:nvPr/>
        </p:nvSpPr>
        <p:spPr>
          <a:xfrm>
            <a:off x="856016" y="2339848"/>
            <a:ext cx="4136608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</a:t>
            </a:r>
            <a:pPr indent="0" marL="0">
              <a:buNone/>
            </a:pPr>
            <a:r>
              <a:rPr lang="en-US" sz="11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</a:t>
            </a:r>
            <a:pPr indent="0" marL="0">
              <a:buNone/>
            </a:pPr>
            <a:r>
              <a:rPr lang="en-US" sz="115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457200" y="2538476"/>
            <a:ext cx="4617720" cy="198628"/>
          </a:xfrm>
          <a:prstGeom prst="rect">
            <a:avLst/>
          </a:prstGeom>
          <a:solidFill>
            <a:srgbClr val="3E5250"/>
          </a:solidFill>
          <a:ln w="12700">
            <a:solidFill>
              <a:srgbClr val="3E5250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502920" y="2538476"/>
            <a:ext cx="228597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050" dirty="0"/>
          </a:p>
        </p:txBody>
      </p:sp>
      <p:sp>
        <p:nvSpPr>
          <p:cNvPr id="22" name="Text 19"/>
          <p:cNvSpPr txBox="1"/>
          <p:nvPr/>
        </p:nvSpPr>
        <p:spPr>
          <a:xfrm>
            <a:off x="856016" y="2538476"/>
            <a:ext cx="4136608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Adafruit_NeoPixel pixels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PIXEL_COUNT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1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LED_Pin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457200" y="2737104"/>
            <a:ext cx="4617720" cy="198628"/>
          </a:xfrm>
          <a:prstGeom prst="rect">
            <a:avLst/>
          </a:prstGeom>
          <a:solidFill>
            <a:srgbClr val="3E5250"/>
          </a:solidFill>
          <a:ln w="12700">
            <a:solidFill>
              <a:srgbClr val="3E5250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502920" y="2737104"/>
            <a:ext cx="228597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↳</a:t>
            </a:r>
            <a:endParaRPr lang="en-US" sz="1050" dirty="0"/>
          </a:p>
        </p:txBody>
      </p:sp>
      <p:sp>
        <p:nvSpPr>
          <p:cNvPr id="25" name="Text 22"/>
          <p:cNvSpPr txBox="1"/>
          <p:nvPr/>
        </p:nvSpPr>
        <p:spPr>
          <a:xfrm>
            <a:off x="856016" y="2737104"/>
            <a:ext cx="4136608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NEO_GRB 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</a:t>
            </a:r>
            <a:pPr indent="0" marL="0">
              <a:buNone/>
            </a:pPr>
            <a:r>
              <a:rPr lang="en-US" sz="11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NEO_KHZ800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150" dirty="0"/>
          </a:p>
        </p:txBody>
      </p:sp>
      <p:sp>
        <p:nvSpPr>
          <p:cNvPr id="26" name="Text 23"/>
          <p:cNvSpPr txBox="1"/>
          <p:nvPr/>
        </p:nvSpPr>
        <p:spPr>
          <a:xfrm>
            <a:off x="502920" y="2935732"/>
            <a:ext cx="228597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1050" dirty="0"/>
          </a:p>
        </p:txBody>
      </p:sp>
      <p:sp>
        <p:nvSpPr>
          <p:cNvPr id="27" name="Text 24"/>
          <p:cNvSpPr txBox="1"/>
          <p:nvPr/>
        </p:nvSpPr>
        <p:spPr>
          <a:xfrm>
            <a:off x="856016" y="2935732"/>
            <a:ext cx="4136608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</p:txBody>
      </p:sp>
      <p:sp>
        <p:nvSpPr>
          <p:cNvPr id="28" name="Text 25"/>
          <p:cNvSpPr txBox="1"/>
          <p:nvPr/>
        </p:nvSpPr>
        <p:spPr>
          <a:xfrm>
            <a:off x="502920" y="3134360"/>
            <a:ext cx="228597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1050" dirty="0"/>
          </a:p>
        </p:txBody>
      </p:sp>
      <p:sp>
        <p:nvSpPr>
          <p:cNvPr id="29" name="Text 26"/>
          <p:cNvSpPr txBox="1"/>
          <p:nvPr/>
        </p:nvSpPr>
        <p:spPr>
          <a:xfrm>
            <a:off x="856016" y="3134360"/>
            <a:ext cx="4136608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</a:t>
            </a:r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setup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{</a:t>
            </a:r>
            <a:endParaRPr lang="en-US" sz="1150" dirty="0"/>
          </a:p>
        </p:txBody>
      </p:sp>
      <p:sp>
        <p:nvSpPr>
          <p:cNvPr id="30" name="Text 27"/>
          <p:cNvSpPr txBox="1"/>
          <p:nvPr/>
        </p:nvSpPr>
        <p:spPr>
          <a:xfrm>
            <a:off x="502920" y="3332988"/>
            <a:ext cx="228597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endParaRPr lang="en-US" sz="1050" dirty="0"/>
          </a:p>
        </p:txBody>
      </p:sp>
      <p:sp>
        <p:nvSpPr>
          <p:cNvPr id="31" name="Text 28"/>
          <p:cNvSpPr txBox="1"/>
          <p:nvPr/>
        </p:nvSpPr>
        <p:spPr>
          <a:xfrm>
            <a:off x="856016" y="3332988"/>
            <a:ext cx="4136608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E8E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//灯条初始化</a:t>
            </a:r>
            <a:endParaRPr lang="en-US" sz="1150" dirty="0"/>
          </a:p>
        </p:txBody>
      </p:sp>
      <p:sp>
        <p:nvSpPr>
          <p:cNvPr id="32" name="Shape 29"/>
          <p:cNvSpPr/>
          <p:nvPr/>
        </p:nvSpPr>
        <p:spPr>
          <a:xfrm>
            <a:off x="457200" y="3531616"/>
            <a:ext cx="4617720" cy="198628"/>
          </a:xfrm>
          <a:prstGeom prst="rect">
            <a:avLst/>
          </a:prstGeom>
          <a:solidFill>
            <a:srgbClr val="3E5250"/>
          </a:solidFill>
          <a:ln w="12700">
            <a:solidFill>
              <a:srgbClr val="3E5250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502920" y="3531616"/>
            <a:ext cx="228597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050" dirty="0"/>
          </a:p>
        </p:txBody>
      </p:sp>
      <p:sp>
        <p:nvSpPr>
          <p:cNvPr id="34" name="Text 31"/>
          <p:cNvSpPr txBox="1"/>
          <p:nvPr/>
        </p:nvSpPr>
        <p:spPr>
          <a:xfrm>
            <a:off x="856016" y="3531616"/>
            <a:ext cx="4136608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pixels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begin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</a:t>
            </a:r>
            <a:endParaRPr lang="en-US" sz="1150" dirty="0"/>
          </a:p>
        </p:txBody>
      </p:sp>
      <p:sp>
        <p:nvSpPr>
          <p:cNvPr id="35" name="Shape 32"/>
          <p:cNvSpPr/>
          <p:nvPr/>
        </p:nvSpPr>
        <p:spPr>
          <a:xfrm>
            <a:off x="457200" y="3730244"/>
            <a:ext cx="4617720" cy="198628"/>
          </a:xfrm>
          <a:prstGeom prst="rect">
            <a:avLst/>
          </a:prstGeom>
          <a:solidFill>
            <a:srgbClr val="3E5250"/>
          </a:solidFill>
          <a:ln w="12700">
            <a:solidFill>
              <a:srgbClr val="3E5250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502920" y="3730244"/>
            <a:ext cx="228597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1050" dirty="0"/>
          </a:p>
        </p:txBody>
      </p:sp>
      <p:sp>
        <p:nvSpPr>
          <p:cNvPr id="37" name="Text 34"/>
          <p:cNvSpPr txBox="1"/>
          <p:nvPr/>
        </p:nvSpPr>
        <p:spPr>
          <a:xfrm>
            <a:off x="856016" y="3730244"/>
            <a:ext cx="4136608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pixels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1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show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</a:t>
            </a:r>
            <a:endParaRPr lang="en-US" sz="1150" dirty="0"/>
          </a:p>
        </p:txBody>
      </p:sp>
      <p:sp>
        <p:nvSpPr>
          <p:cNvPr id="38" name="Shape 35"/>
          <p:cNvSpPr/>
          <p:nvPr/>
        </p:nvSpPr>
        <p:spPr>
          <a:xfrm>
            <a:off x="457200" y="3928872"/>
            <a:ext cx="4617720" cy="198628"/>
          </a:xfrm>
          <a:prstGeom prst="rect">
            <a:avLst/>
          </a:prstGeom>
          <a:solidFill>
            <a:srgbClr val="3E5250"/>
          </a:solidFill>
          <a:ln w="12700">
            <a:solidFill>
              <a:srgbClr val="3E5250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502920" y="3928872"/>
            <a:ext cx="228597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1050" dirty="0"/>
          </a:p>
        </p:txBody>
      </p:sp>
      <p:sp>
        <p:nvSpPr>
          <p:cNvPr id="40" name="Text 37"/>
          <p:cNvSpPr txBox="1"/>
          <p:nvPr/>
        </p:nvSpPr>
        <p:spPr>
          <a:xfrm>
            <a:off x="856016" y="3928872"/>
            <a:ext cx="4136608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pixels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1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setBrightness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5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150" dirty="0"/>
          </a:p>
        </p:txBody>
      </p:sp>
      <p:sp>
        <p:nvSpPr>
          <p:cNvPr id="41" name="Text 38"/>
          <p:cNvSpPr txBox="1"/>
          <p:nvPr/>
        </p:nvSpPr>
        <p:spPr>
          <a:xfrm>
            <a:off x="502920" y="4127500"/>
            <a:ext cx="228597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</a:t>
            </a:r>
            <a:endParaRPr lang="en-US" sz="1050" dirty="0"/>
          </a:p>
        </p:txBody>
      </p:sp>
      <p:sp>
        <p:nvSpPr>
          <p:cNvPr id="42" name="Text 39"/>
          <p:cNvSpPr txBox="1"/>
          <p:nvPr/>
        </p:nvSpPr>
        <p:spPr>
          <a:xfrm>
            <a:off x="856016" y="4127500"/>
            <a:ext cx="4136608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50" dirty="0"/>
          </a:p>
        </p:txBody>
      </p:sp>
      <p:sp>
        <p:nvSpPr>
          <p:cNvPr id="43" name="Text 40"/>
          <p:cNvSpPr txBox="1"/>
          <p:nvPr/>
        </p:nvSpPr>
        <p:spPr>
          <a:xfrm>
            <a:off x="5413248" y="1234440"/>
            <a:ext cx="3319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逐行看懂</a:t>
            </a:r>
            <a:endParaRPr lang="en-US" sz="1300" dirty="0"/>
          </a:p>
        </p:txBody>
      </p:sp>
      <p:sp>
        <p:nvSpPr>
          <p:cNvPr id="44" name="Shape 41"/>
          <p:cNvSpPr/>
          <p:nvPr/>
        </p:nvSpPr>
        <p:spPr>
          <a:xfrm>
            <a:off x="5413248" y="1600200"/>
            <a:ext cx="578612" cy="219456"/>
          </a:xfrm>
          <a:prstGeom prst="roundRect">
            <a:avLst>
              <a:gd name="adj" fmla="val 50000"/>
            </a:avLst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5413248" y="1600200"/>
            <a:ext cx="5786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1 行</a:t>
            </a:r>
            <a:endParaRPr lang="en-US" sz="950" dirty="0"/>
          </a:p>
        </p:txBody>
      </p:sp>
      <p:sp>
        <p:nvSpPr>
          <p:cNvPr id="46" name="Text 43"/>
          <p:cNvSpPr txBox="1"/>
          <p:nvPr/>
        </p:nvSpPr>
        <p:spPr>
          <a:xfrm>
            <a:off x="6083300" y="1591056"/>
            <a:ext cx="26492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引入 NeoPixel 库（要先安装）</a:t>
            </a:r>
            <a:endParaRPr lang="en-US" sz="1200" dirty="0"/>
          </a:p>
        </p:txBody>
      </p:sp>
      <p:sp>
        <p:nvSpPr>
          <p:cNvPr id="47" name="Shape 44"/>
          <p:cNvSpPr/>
          <p:nvPr/>
        </p:nvSpPr>
        <p:spPr>
          <a:xfrm>
            <a:off x="5413248" y="1947672"/>
            <a:ext cx="723392" cy="219456"/>
          </a:xfrm>
          <a:prstGeom prst="roundRect">
            <a:avLst>
              <a:gd name="adj" fmla="val 50000"/>
            </a:avLst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48" name="Text 45"/>
          <p:cNvSpPr txBox="1"/>
          <p:nvPr/>
        </p:nvSpPr>
        <p:spPr>
          <a:xfrm>
            <a:off x="5413248" y="1947672"/>
            <a:ext cx="723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3–5 行</a:t>
            </a:r>
            <a:endParaRPr lang="en-US" sz="950" dirty="0"/>
          </a:p>
        </p:txBody>
      </p:sp>
      <p:sp>
        <p:nvSpPr>
          <p:cNvPr id="49" name="Text 46"/>
          <p:cNvSpPr txBox="1"/>
          <p:nvPr/>
        </p:nvSpPr>
        <p:spPr>
          <a:xfrm>
            <a:off x="6228080" y="1938528"/>
            <a:ext cx="2504440" cy="417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起外号：信号脚 10、灯数 12</a:t>
            </a:r>
            <a:endParaRPr lang="en-US" sz="12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变量 count 也存 12</a:t>
            </a:r>
            <a:endParaRPr lang="en-US" sz="1200" dirty="0"/>
          </a:p>
        </p:txBody>
      </p:sp>
      <p:sp>
        <p:nvSpPr>
          <p:cNvPr id="50" name="Shape 47"/>
          <p:cNvSpPr/>
          <p:nvPr/>
        </p:nvSpPr>
        <p:spPr>
          <a:xfrm>
            <a:off x="5413248" y="2528062"/>
            <a:ext cx="578612" cy="219456"/>
          </a:xfrm>
          <a:prstGeom prst="roundRect">
            <a:avLst>
              <a:gd name="adj" fmla="val 50000"/>
            </a:avLst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51" name="Text 48"/>
          <p:cNvSpPr txBox="1"/>
          <p:nvPr/>
        </p:nvSpPr>
        <p:spPr>
          <a:xfrm>
            <a:off x="5413248" y="2528062"/>
            <a:ext cx="5786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6 行</a:t>
            </a:r>
            <a:endParaRPr lang="en-US" sz="950" dirty="0"/>
          </a:p>
        </p:txBody>
      </p:sp>
      <p:sp>
        <p:nvSpPr>
          <p:cNvPr id="52" name="Text 49"/>
          <p:cNvSpPr txBox="1"/>
          <p:nvPr/>
        </p:nvSpPr>
        <p:spPr>
          <a:xfrm>
            <a:off x="6083300" y="2518918"/>
            <a:ext cx="2649220" cy="417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创建灯环对象 pixels：管 12 颗灯、接 10 号脚</a:t>
            </a:r>
            <a:endParaRPr lang="en-US" sz="1200" dirty="0"/>
          </a:p>
        </p:txBody>
      </p:sp>
      <p:sp>
        <p:nvSpPr>
          <p:cNvPr id="53" name="Shape 50"/>
          <p:cNvSpPr/>
          <p:nvPr/>
        </p:nvSpPr>
        <p:spPr>
          <a:xfrm>
            <a:off x="5413248" y="3123946"/>
            <a:ext cx="723392" cy="219456"/>
          </a:xfrm>
          <a:prstGeom prst="roundRect">
            <a:avLst>
              <a:gd name="adj" fmla="val 50000"/>
            </a:avLst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5413248" y="3123946"/>
            <a:ext cx="723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8–9 行</a:t>
            </a:r>
            <a:endParaRPr lang="en-US" sz="950" dirty="0"/>
          </a:p>
        </p:txBody>
      </p:sp>
      <p:sp>
        <p:nvSpPr>
          <p:cNvPr id="55" name="Text 52"/>
          <p:cNvSpPr txBox="1"/>
          <p:nvPr/>
        </p:nvSpPr>
        <p:spPr>
          <a:xfrm>
            <a:off x="6228080" y="3114802"/>
            <a:ext cx="250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setup() 开始，只运行一次</a:t>
            </a:r>
            <a:endParaRPr lang="en-US" sz="1200" dirty="0"/>
          </a:p>
        </p:txBody>
      </p:sp>
      <p:sp>
        <p:nvSpPr>
          <p:cNvPr id="56" name="Shape 53"/>
          <p:cNvSpPr/>
          <p:nvPr/>
        </p:nvSpPr>
        <p:spPr>
          <a:xfrm>
            <a:off x="5413248" y="3521202"/>
            <a:ext cx="877824" cy="219456"/>
          </a:xfrm>
          <a:prstGeom prst="roundRect">
            <a:avLst>
              <a:gd name="adj" fmla="val 50000"/>
            </a:avLst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57" name="Text 54"/>
          <p:cNvSpPr txBox="1"/>
          <p:nvPr/>
        </p:nvSpPr>
        <p:spPr>
          <a:xfrm>
            <a:off x="5413248" y="3521202"/>
            <a:ext cx="8778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10–11 行</a:t>
            </a:r>
            <a:endParaRPr lang="en-US" sz="950" dirty="0"/>
          </a:p>
        </p:txBody>
      </p:sp>
      <p:sp>
        <p:nvSpPr>
          <p:cNvPr id="58" name="Text 55"/>
          <p:cNvSpPr txBox="1"/>
          <p:nvPr/>
        </p:nvSpPr>
        <p:spPr>
          <a:xfrm>
            <a:off x="6382512" y="3512058"/>
            <a:ext cx="2350008" cy="417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begin() 让管家开工；show() 发出空草稿，先把灯全关掉</a:t>
            </a:r>
            <a:endParaRPr lang="en-US" sz="1200" dirty="0"/>
          </a:p>
        </p:txBody>
      </p:sp>
      <p:sp>
        <p:nvSpPr>
          <p:cNvPr id="59" name="Shape 56"/>
          <p:cNvSpPr/>
          <p:nvPr/>
        </p:nvSpPr>
        <p:spPr>
          <a:xfrm>
            <a:off x="5413248" y="4030218"/>
            <a:ext cx="655828" cy="219456"/>
          </a:xfrm>
          <a:prstGeom prst="roundRect">
            <a:avLst>
              <a:gd name="adj" fmla="val 50000"/>
            </a:avLst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60" name="Text 57"/>
          <p:cNvSpPr txBox="1"/>
          <p:nvPr/>
        </p:nvSpPr>
        <p:spPr>
          <a:xfrm>
            <a:off x="5413248" y="4030218"/>
            <a:ext cx="6558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12 行</a:t>
            </a:r>
            <a:endParaRPr lang="en-US" sz="950" dirty="0"/>
          </a:p>
        </p:txBody>
      </p:sp>
      <p:sp>
        <p:nvSpPr>
          <p:cNvPr id="61" name="Text 58"/>
          <p:cNvSpPr txBox="1"/>
          <p:nvPr/>
        </p:nvSpPr>
        <p:spPr>
          <a:xfrm>
            <a:off x="6160516" y="4021074"/>
            <a:ext cx="25720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亮度上限设为 30（最大 255）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39328" y="4736592"/>
            <a:ext cx="393192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B6B6B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4572000" y="4736592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实验一　WS2812b 灯环</a:t>
            </a:r>
            <a:endParaRPr lang="en-US" sz="8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411480" y="27432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代码逐行看懂（2/2）：一颗一颗写成白色</a:t>
            </a:r>
            <a:endParaRPr lang="en-US" sz="24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411480" y="786384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for 循环让 i 从 0 数到 11：每圈给第 i 颗灯写上白色，再 show() 发出去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11480" y="1234440"/>
            <a:ext cx="4709160" cy="2011680"/>
          </a:xfrm>
          <a:prstGeom prst="roundRect">
            <a:avLst>
              <a:gd name="adj" fmla="val 4545"/>
            </a:avLst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39496" y="1298448"/>
            <a:ext cx="2825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A9A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ws2812_ring.ino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2295144" y="1298448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A9A9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15–21 行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502920" y="1545336"/>
            <a:ext cx="228597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</a:t>
            </a:r>
            <a:endParaRPr lang="en-US" sz="1050" dirty="0"/>
          </a:p>
        </p:txBody>
      </p:sp>
      <p:sp>
        <p:nvSpPr>
          <p:cNvPr id="10" name="Text 7"/>
          <p:cNvSpPr txBox="1"/>
          <p:nvPr/>
        </p:nvSpPr>
        <p:spPr>
          <a:xfrm>
            <a:off x="856016" y="1545336"/>
            <a:ext cx="4136608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</a:t>
            </a:r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loop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{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57200" y="1743964"/>
            <a:ext cx="4617720" cy="198628"/>
          </a:xfrm>
          <a:prstGeom prst="rect">
            <a:avLst/>
          </a:prstGeom>
          <a:solidFill>
            <a:srgbClr val="3E5250"/>
          </a:solidFill>
          <a:ln w="12700">
            <a:solidFill>
              <a:srgbClr val="3E5250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02920" y="1743964"/>
            <a:ext cx="228597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</a:t>
            </a:r>
            <a:endParaRPr lang="en-US" sz="1050" dirty="0"/>
          </a:p>
        </p:txBody>
      </p:sp>
      <p:sp>
        <p:nvSpPr>
          <p:cNvPr id="13" name="Text 10"/>
          <p:cNvSpPr txBox="1"/>
          <p:nvPr/>
        </p:nvSpPr>
        <p:spPr>
          <a:xfrm>
            <a:off x="856016" y="1743964"/>
            <a:ext cx="4136608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15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5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</a:t>
            </a:r>
            <a:pPr indent="0" marL="0">
              <a:buNone/>
            </a:pPr>
            <a:r>
              <a:rPr lang="en-US" sz="11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 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</a:t>
            </a:r>
            <a:pPr indent="0" marL="0">
              <a:buNone/>
            </a:pPr>
            <a:r>
              <a:rPr lang="en-US" sz="115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</a:t>
            </a:r>
            <a:pPr indent="0" marL="0">
              <a:buNone/>
            </a:pPr>
            <a:r>
              <a:rPr lang="en-US" sz="11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 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 </a:t>
            </a:r>
            <a:pPr indent="0" marL="0">
              <a:buNone/>
            </a:pPr>
            <a:r>
              <a:rPr lang="en-US" sz="11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</a:t>
            </a:r>
            <a:pPr indent="0" marL="0">
              <a:buNone/>
            </a:pPr>
            <a:r>
              <a:rPr lang="en-US" sz="11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++)</a:t>
            </a:r>
            <a:endParaRPr lang="en-US" sz="1150" dirty="0"/>
          </a:p>
        </p:txBody>
      </p:sp>
      <p:sp>
        <p:nvSpPr>
          <p:cNvPr id="14" name="Text 11"/>
          <p:cNvSpPr txBox="1"/>
          <p:nvPr/>
        </p:nvSpPr>
        <p:spPr>
          <a:xfrm>
            <a:off x="502920" y="1942592"/>
            <a:ext cx="228597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</a:t>
            </a:r>
            <a:endParaRPr lang="en-US" sz="1050" dirty="0"/>
          </a:p>
        </p:txBody>
      </p:sp>
      <p:sp>
        <p:nvSpPr>
          <p:cNvPr id="15" name="Text 12"/>
          <p:cNvSpPr txBox="1"/>
          <p:nvPr/>
        </p:nvSpPr>
        <p:spPr>
          <a:xfrm>
            <a:off x="856016" y="1942592"/>
            <a:ext cx="4136608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457200" y="2141220"/>
            <a:ext cx="4617720" cy="198628"/>
          </a:xfrm>
          <a:prstGeom prst="rect">
            <a:avLst/>
          </a:prstGeom>
          <a:solidFill>
            <a:srgbClr val="3E5250"/>
          </a:solidFill>
          <a:ln w="12700">
            <a:solidFill>
              <a:srgbClr val="3E5250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02920" y="2141220"/>
            <a:ext cx="228597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</a:t>
            </a:r>
            <a:endParaRPr lang="en-US" sz="1050" dirty="0"/>
          </a:p>
        </p:txBody>
      </p:sp>
      <p:sp>
        <p:nvSpPr>
          <p:cNvPr id="18" name="Text 15"/>
          <p:cNvSpPr txBox="1"/>
          <p:nvPr/>
        </p:nvSpPr>
        <p:spPr>
          <a:xfrm>
            <a:off x="856016" y="2141220"/>
            <a:ext cx="4136608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pixels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1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setPixelColor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1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pixels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1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Color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5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127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457200" y="2339848"/>
            <a:ext cx="4617720" cy="198628"/>
          </a:xfrm>
          <a:prstGeom prst="rect">
            <a:avLst/>
          </a:prstGeom>
          <a:solidFill>
            <a:srgbClr val="3E5250"/>
          </a:solidFill>
          <a:ln w="12700">
            <a:solidFill>
              <a:srgbClr val="3E5250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502920" y="2339848"/>
            <a:ext cx="228597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↳</a:t>
            </a:r>
            <a:endParaRPr lang="en-US" sz="1050" dirty="0"/>
          </a:p>
        </p:txBody>
      </p:sp>
      <p:sp>
        <p:nvSpPr>
          <p:cNvPr id="21" name="Text 18"/>
          <p:cNvSpPr txBox="1"/>
          <p:nvPr/>
        </p:nvSpPr>
        <p:spPr>
          <a:xfrm>
            <a:off x="856016" y="2339848"/>
            <a:ext cx="4136608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pPr indent="0" marL="0">
              <a:buNone/>
            </a:pPr>
            <a:r>
              <a:rPr lang="en-US" sz="115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127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15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127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)); </a:t>
            </a:r>
            <a:pPr indent="0" marL="0">
              <a:buNone/>
            </a:pPr>
            <a:r>
              <a:rPr lang="en-US" sz="1150" dirty="0">
                <a:solidFill>
                  <a:srgbClr val="8E8E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//白色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457200" y="2538476"/>
            <a:ext cx="4617720" cy="198628"/>
          </a:xfrm>
          <a:prstGeom prst="rect">
            <a:avLst/>
          </a:prstGeom>
          <a:solidFill>
            <a:srgbClr val="3E5250"/>
          </a:solidFill>
          <a:ln w="12700">
            <a:solidFill>
              <a:srgbClr val="3E5250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502920" y="2538476"/>
            <a:ext cx="228597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</a:t>
            </a:r>
            <a:endParaRPr lang="en-US" sz="1050" dirty="0"/>
          </a:p>
        </p:txBody>
      </p:sp>
      <p:sp>
        <p:nvSpPr>
          <p:cNvPr id="24" name="Text 21"/>
          <p:cNvSpPr txBox="1"/>
          <p:nvPr/>
        </p:nvSpPr>
        <p:spPr>
          <a:xfrm>
            <a:off x="856016" y="2538476"/>
            <a:ext cx="4136608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pixels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1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show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</a:t>
            </a:r>
            <a:endParaRPr lang="en-US" sz="1150" dirty="0"/>
          </a:p>
        </p:txBody>
      </p:sp>
      <p:sp>
        <p:nvSpPr>
          <p:cNvPr id="25" name="Text 22"/>
          <p:cNvSpPr txBox="1"/>
          <p:nvPr/>
        </p:nvSpPr>
        <p:spPr>
          <a:xfrm>
            <a:off x="502920" y="2737104"/>
            <a:ext cx="228597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</a:t>
            </a:r>
            <a:endParaRPr lang="en-US" sz="1050" dirty="0"/>
          </a:p>
        </p:txBody>
      </p:sp>
      <p:sp>
        <p:nvSpPr>
          <p:cNvPr id="26" name="Text 23"/>
          <p:cNvSpPr txBox="1"/>
          <p:nvPr/>
        </p:nvSpPr>
        <p:spPr>
          <a:xfrm>
            <a:off x="856016" y="2737104"/>
            <a:ext cx="4136608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50" dirty="0"/>
          </a:p>
        </p:txBody>
      </p:sp>
      <p:sp>
        <p:nvSpPr>
          <p:cNvPr id="27" name="Text 24"/>
          <p:cNvSpPr txBox="1"/>
          <p:nvPr/>
        </p:nvSpPr>
        <p:spPr>
          <a:xfrm>
            <a:off x="502920" y="2935732"/>
            <a:ext cx="228597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</a:t>
            </a:r>
            <a:endParaRPr lang="en-US" sz="1050" dirty="0"/>
          </a:p>
        </p:txBody>
      </p:sp>
      <p:sp>
        <p:nvSpPr>
          <p:cNvPr id="28" name="Text 25"/>
          <p:cNvSpPr txBox="1"/>
          <p:nvPr/>
        </p:nvSpPr>
        <p:spPr>
          <a:xfrm>
            <a:off x="856016" y="2935732"/>
            <a:ext cx="4136608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50" dirty="0"/>
          </a:p>
        </p:txBody>
      </p:sp>
      <p:sp>
        <p:nvSpPr>
          <p:cNvPr id="29" name="Text 26"/>
          <p:cNvSpPr txBox="1"/>
          <p:nvPr/>
        </p:nvSpPr>
        <p:spPr>
          <a:xfrm>
            <a:off x="5413248" y="1234440"/>
            <a:ext cx="3319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逐行看懂</a:t>
            </a:r>
            <a:endParaRPr lang="en-US" sz="1300" dirty="0"/>
          </a:p>
        </p:txBody>
      </p:sp>
      <p:sp>
        <p:nvSpPr>
          <p:cNvPr id="30" name="Shape 27"/>
          <p:cNvSpPr/>
          <p:nvPr/>
        </p:nvSpPr>
        <p:spPr>
          <a:xfrm>
            <a:off x="5413248" y="1600200"/>
            <a:ext cx="655828" cy="219456"/>
          </a:xfrm>
          <a:prstGeom prst="roundRect">
            <a:avLst>
              <a:gd name="adj" fmla="val 50000"/>
            </a:avLst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5413248" y="1600200"/>
            <a:ext cx="6558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15 行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6160516" y="1591056"/>
            <a:ext cx="25720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loop()：一遍又一遍地重复</a:t>
            </a:r>
            <a:endParaRPr lang="en-US" sz="1200" dirty="0"/>
          </a:p>
        </p:txBody>
      </p:sp>
      <p:sp>
        <p:nvSpPr>
          <p:cNvPr id="33" name="Shape 30"/>
          <p:cNvSpPr/>
          <p:nvPr/>
        </p:nvSpPr>
        <p:spPr>
          <a:xfrm>
            <a:off x="5413248" y="1874520"/>
            <a:ext cx="655828" cy="219456"/>
          </a:xfrm>
          <a:prstGeom prst="roundRect">
            <a:avLst>
              <a:gd name="adj" fmla="val 50000"/>
            </a:avLst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5413248" y="1874520"/>
            <a:ext cx="6558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16 行</a:t>
            </a:r>
            <a:endParaRPr lang="en-US" sz="950" dirty="0"/>
          </a:p>
        </p:txBody>
      </p:sp>
      <p:sp>
        <p:nvSpPr>
          <p:cNvPr id="35" name="Text 32"/>
          <p:cNvSpPr txBox="1"/>
          <p:nvPr/>
        </p:nvSpPr>
        <p:spPr>
          <a:xfrm>
            <a:off x="6160516" y="1865376"/>
            <a:ext cx="25720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i 从 0 数到 11：正好 12 颗</a:t>
            </a:r>
            <a:endParaRPr lang="en-US" sz="1200" dirty="0"/>
          </a:p>
        </p:txBody>
      </p:sp>
      <p:sp>
        <p:nvSpPr>
          <p:cNvPr id="36" name="Shape 33"/>
          <p:cNvSpPr/>
          <p:nvPr/>
        </p:nvSpPr>
        <p:spPr>
          <a:xfrm>
            <a:off x="5413248" y="2148840"/>
            <a:ext cx="655828" cy="219456"/>
          </a:xfrm>
          <a:prstGeom prst="roundRect">
            <a:avLst>
              <a:gd name="adj" fmla="val 50000"/>
            </a:avLst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5413248" y="2148840"/>
            <a:ext cx="6558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18 行</a:t>
            </a:r>
            <a:endParaRPr lang="en-US" sz="950" dirty="0"/>
          </a:p>
        </p:txBody>
      </p:sp>
      <p:sp>
        <p:nvSpPr>
          <p:cNvPr id="38" name="Text 35"/>
          <p:cNvSpPr txBox="1"/>
          <p:nvPr/>
        </p:nvSpPr>
        <p:spPr>
          <a:xfrm>
            <a:off x="6160516" y="2139696"/>
            <a:ext cx="25720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写草稿：第 i 颗 → 白色</a:t>
            </a:r>
            <a:endParaRPr lang="en-US" sz="1200" dirty="0"/>
          </a:p>
        </p:txBody>
      </p:sp>
      <p:sp>
        <p:nvSpPr>
          <p:cNvPr id="39" name="Shape 36"/>
          <p:cNvSpPr/>
          <p:nvPr/>
        </p:nvSpPr>
        <p:spPr>
          <a:xfrm>
            <a:off x="5413248" y="2528062"/>
            <a:ext cx="655828" cy="219456"/>
          </a:xfrm>
          <a:prstGeom prst="roundRect">
            <a:avLst>
              <a:gd name="adj" fmla="val 50000"/>
            </a:avLst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5413248" y="2528062"/>
            <a:ext cx="6558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19 行</a:t>
            </a:r>
            <a:endParaRPr lang="en-US" sz="950" dirty="0"/>
          </a:p>
        </p:txBody>
      </p:sp>
      <p:sp>
        <p:nvSpPr>
          <p:cNvPr id="41" name="Text 38"/>
          <p:cNvSpPr txBox="1"/>
          <p:nvPr/>
        </p:nvSpPr>
        <p:spPr>
          <a:xfrm>
            <a:off x="6160516" y="2518918"/>
            <a:ext cx="25720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show() 寄出：第 i 颗亮起来</a:t>
            </a:r>
            <a:endParaRPr lang="en-US" sz="1200" dirty="0"/>
          </a:p>
        </p:txBody>
      </p:sp>
      <p:sp>
        <p:nvSpPr>
          <p:cNvPr id="42" name="Shape 39"/>
          <p:cNvSpPr/>
          <p:nvPr/>
        </p:nvSpPr>
        <p:spPr>
          <a:xfrm>
            <a:off x="5413248" y="2802382"/>
            <a:ext cx="877824" cy="219456"/>
          </a:xfrm>
          <a:prstGeom prst="roundRect">
            <a:avLst>
              <a:gd name="adj" fmla="val 50000"/>
            </a:avLst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5413248" y="2802382"/>
            <a:ext cx="8778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20–21 行</a:t>
            </a:r>
            <a:endParaRPr lang="en-US" sz="950" dirty="0"/>
          </a:p>
        </p:txBody>
      </p:sp>
      <p:sp>
        <p:nvSpPr>
          <p:cNvPr id="44" name="Text 41"/>
          <p:cNvSpPr txBox="1"/>
          <p:nvPr/>
        </p:nvSpPr>
        <p:spPr>
          <a:xfrm>
            <a:off x="6382512" y="2793238"/>
            <a:ext cx="2350008" cy="417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loop 又从头写一遍同样的白色，所以灯一直亮</a:t>
            </a:r>
            <a:endParaRPr lang="en-US" sz="1200" dirty="0"/>
          </a:p>
        </p:txBody>
      </p:sp>
      <p:sp>
        <p:nvSpPr>
          <p:cNvPr id="45" name="Shape 42"/>
          <p:cNvSpPr/>
          <p:nvPr/>
        </p:nvSpPr>
        <p:spPr>
          <a:xfrm>
            <a:off x="411480" y="3520440"/>
            <a:ext cx="8321040" cy="1051560"/>
          </a:xfrm>
          <a:prstGeom prst="roundRect">
            <a:avLst>
              <a:gd name="adj" fmla="val 10435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594360" y="3666744"/>
            <a:ext cx="347472" cy="347472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4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7753" y="3750137"/>
            <a:ext cx="180685" cy="180685"/>
          </a:xfrm>
          <a:prstGeom prst="rect">
            <a:avLst/>
          </a:prstGeom>
        </p:spPr>
      </p:pic>
      <p:sp>
        <p:nvSpPr>
          <p:cNvPr id="48" name="Text 44"/>
          <p:cNvSpPr txBox="1"/>
          <p:nvPr/>
        </p:nvSpPr>
        <p:spPr>
          <a:xfrm>
            <a:off x="1051560" y="3666744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慢动作回放</a:t>
            </a:r>
            <a:endParaRPr lang="en-US" sz="1400" dirty="0"/>
          </a:p>
        </p:txBody>
      </p:sp>
      <p:sp>
        <p:nvSpPr>
          <p:cNvPr id="49" name="Text 45"/>
          <p:cNvSpPr txBox="1"/>
          <p:nvPr/>
        </p:nvSpPr>
        <p:spPr>
          <a:xfrm>
            <a:off x="594360" y="4069080"/>
            <a:ext cx="301752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每圈多亮一颗；12 圈不到 10 毫秒，看起来就是“一起亮”。</a:t>
            </a:r>
            <a:endParaRPr lang="en-US" sz="1200" dirty="0"/>
          </a:p>
        </p:txBody>
      </p:sp>
      <p:sp>
        <p:nvSpPr>
          <p:cNvPr id="50" name="Text 46"/>
          <p:cNvSpPr txBox="1"/>
          <p:nvPr/>
        </p:nvSpPr>
        <p:spPr>
          <a:xfrm>
            <a:off x="3931920" y="36347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 = 0</a:t>
            </a:r>
            <a:endParaRPr lang="en-US" sz="1100" dirty="0"/>
          </a:p>
        </p:txBody>
      </p:sp>
      <p:sp>
        <p:nvSpPr>
          <p:cNvPr id="51" name="Shape 47"/>
          <p:cNvSpPr/>
          <p:nvPr/>
        </p:nvSpPr>
        <p:spPr>
          <a:xfrm>
            <a:off x="4709160" y="3671316"/>
            <a:ext cx="201168" cy="201168"/>
          </a:xfrm>
          <a:prstGeom prst="ellipse">
            <a:avLst/>
          </a:prstGeom>
          <a:solidFill>
            <a:srgbClr val="40E0D0"/>
          </a:solidFill>
          <a:ln w="9525">
            <a:solidFill>
              <a:srgbClr val="1A9E92"/>
            </a:solidFill>
            <a:prstDash val="solid"/>
          </a:ln>
        </p:spPr>
      </p:sp>
      <p:sp>
        <p:nvSpPr>
          <p:cNvPr id="52" name="Shape 48"/>
          <p:cNvSpPr/>
          <p:nvPr/>
        </p:nvSpPr>
        <p:spPr>
          <a:xfrm>
            <a:off x="4983480" y="3671316"/>
            <a:ext cx="201168" cy="201168"/>
          </a:xfrm>
          <a:prstGeom prst="ellipse">
            <a:avLst/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53" name="Shape 49"/>
          <p:cNvSpPr/>
          <p:nvPr/>
        </p:nvSpPr>
        <p:spPr>
          <a:xfrm>
            <a:off x="5257800" y="3671316"/>
            <a:ext cx="201168" cy="201168"/>
          </a:xfrm>
          <a:prstGeom prst="ellipse">
            <a:avLst/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54" name="Shape 50"/>
          <p:cNvSpPr/>
          <p:nvPr/>
        </p:nvSpPr>
        <p:spPr>
          <a:xfrm>
            <a:off x="5532120" y="3671316"/>
            <a:ext cx="201168" cy="201168"/>
          </a:xfrm>
          <a:prstGeom prst="ellipse">
            <a:avLst/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55" name="Shape 51"/>
          <p:cNvSpPr/>
          <p:nvPr/>
        </p:nvSpPr>
        <p:spPr>
          <a:xfrm>
            <a:off x="5806440" y="3671316"/>
            <a:ext cx="201168" cy="201168"/>
          </a:xfrm>
          <a:prstGeom prst="ellipse">
            <a:avLst/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56" name="Shape 52"/>
          <p:cNvSpPr/>
          <p:nvPr/>
        </p:nvSpPr>
        <p:spPr>
          <a:xfrm>
            <a:off x="6080760" y="3671316"/>
            <a:ext cx="201168" cy="201168"/>
          </a:xfrm>
          <a:prstGeom prst="ellipse">
            <a:avLst/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57" name="Shape 53"/>
          <p:cNvSpPr/>
          <p:nvPr/>
        </p:nvSpPr>
        <p:spPr>
          <a:xfrm>
            <a:off x="6355080" y="3671316"/>
            <a:ext cx="201168" cy="201168"/>
          </a:xfrm>
          <a:prstGeom prst="ellipse">
            <a:avLst/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58" name="Shape 54"/>
          <p:cNvSpPr/>
          <p:nvPr/>
        </p:nvSpPr>
        <p:spPr>
          <a:xfrm>
            <a:off x="6629400" y="3671316"/>
            <a:ext cx="201168" cy="201168"/>
          </a:xfrm>
          <a:prstGeom prst="ellipse">
            <a:avLst/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59" name="Shape 55"/>
          <p:cNvSpPr/>
          <p:nvPr/>
        </p:nvSpPr>
        <p:spPr>
          <a:xfrm>
            <a:off x="6903720" y="3671316"/>
            <a:ext cx="201168" cy="201168"/>
          </a:xfrm>
          <a:prstGeom prst="ellipse">
            <a:avLst/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60" name="Shape 56"/>
          <p:cNvSpPr/>
          <p:nvPr/>
        </p:nvSpPr>
        <p:spPr>
          <a:xfrm>
            <a:off x="7178040" y="3671316"/>
            <a:ext cx="201168" cy="201168"/>
          </a:xfrm>
          <a:prstGeom prst="ellipse">
            <a:avLst/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61" name="Shape 57"/>
          <p:cNvSpPr/>
          <p:nvPr/>
        </p:nvSpPr>
        <p:spPr>
          <a:xfrm>
            <a:off x="7452360" y="3671316"/>
            <a:ext cx="201168" cy="201168"/>
          </a:xfrm>
          <a:prstGeom prst="ellipse">
            <a:avLst/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62" name="Shape 58"/>
          <p:cNvSpPr/>
          <p:nvPr/>
        </p:nvSpPr>
        <p:spPr>
          <a:xfrm>
            <a:off x="7726680" y="3671316"/>
            <a:ext cx="201168" cy="201168"/>
          </a:xfrm>
          <a:prstGeom prst="ellipse">
            <a:avLst/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63" name="Text 59"/>
          <p:cNvSpPr txBox="1"/>
          <p:nvPr/>
        </p:nvSpPr>
        <p:spPr>
          <a:xfrm>
            <a:off x="3931920" y="39090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 = 1</a:t>
            </a:r>
            <a:endParaRPr lang="en-US" sz="1100" dirty="0"/>
          </a:p>
        </p:txBody>
      </p:sp>
      <p:sp>
        <p:nvSpPr>
          <p:cNvPr id="64" name="Shape 60"/>
          <p:cNvSpPr/>
          <p:nvPr/>
        </p:nvSpPr>
        <p:spPr>
          <a:xfrm>
            <a:off x="4709160" y="3945636"/>
            <a:ext cx="201168" cy="201168"/>
          </a:xfrm>
          <a:prstGeom prst="ellipse">
            <a:avLst/>
          </a:prstGeom>
          <a:solidFill>
            <a:srgbClr val="40E0D0"/>
          </a:solidFill>
          <a:ln w="9525">
            <a:solidFill>
              <a:srgbClr val="1A9E92"/>
            </a:solidFill>
            <a:prstDash val="solid"/>
          </a:ln>
        </p:spPr>
      </p:sp>
      <p:sp>
        <p:nvSpPr>
          <p:cNvPr id="65" name="Shape 61"/>
          <p:cNvSpPr/>
          <p:nvPr/>
        </p:nvSpPr>
        <p:spPr>
          <a:xfrm>
            <a:off x="4983480" y="3945636"/>
            <a:ext cx="201168" cy="201168"/>
          </a:xfrm>
          <a:prstGeom prst="ellipse">
            <a:avLst/>
          </a:prstGeom>
          <a:solidFill>
            <a:srgbClr val="40E0D0"/>
          </a:solidFill>
          <a:ln w="9525">
            <a:solidFill>
              <a:srgbClr val="1A9E92"/>
            </a:solidFill>
            <a:prstDash val="solid"/>
          </a:ln>
        </p:spPr>
      </p:sp>
      <p:sp>
        <p:nvSpPr>
          <p:cNvPr id="66" name="Shape 62"/>
          <p:cNvSpPr/>
          <p:nvPr/>
        </p:nvSpPr>
        <p:spPr>
          <a:xfrm>
            <a:off x="5257800" y="3945636"/>
            <a:ext cx="201168" cy="201168"/>
          </a:xfrm>
          <a:prstGeom prst="ellipse">
            <a:avLst/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67" name="Shape 63"/>
          <p:cNvSpPr/>
          <p:nvPr/>
        </p:nvSpPr>
        <p:spPr>
          <a:xfrm>
            <a:off x="5532120" y="3945636"/>
            <a:ext cx="201168" cy="201168"/>
          </a:xfrm>
          <a:prstGeom prst="ellipse">
            <a:avLst/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68" name="Shape 64"/>
          <p:cNvSpPr/>
          <p:nvPr/>
        </p:nvSpPr>
        <p:spPr>
          <a:xfrm>
            <a:off x="5806440" y="3945636"/>
            <a:ext cx="201168" cy="201168"/>
          </a:xfrm>
          <a:prstGeom prst="ellipse">
            <a:avLst/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69" name="Shape 65"/>
          <p:cNvSpPr/>
          <p:nvPr/>
        </p:nvSpPr>
        <p:spPr>
          <a:xfrm>
            <a:off x="6080760" y="3945636"/>
            <a:ext cx="201168" cy="201168"/>
          </a:xfrm>
          <a:prstGeom prst="ellipse">
            <a:avLst/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70" name="Shape 66"/>
          <p:cNvSpPr/>
          <p:nvPr/>
        </p:nvSpPr>
        <p:spPr>
          <a:xfrm>
            <a:off x="6355080" y="3945636"/>
            <a:ext cx="201168" cy="201168"/>
          </a:xfrm>
          <a:prstGeom prst="ellipse">
            <a:avLst/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71" name="Shape 67"/>
          <p:cNvSpPr/>
          <p:nvPr/>
        </p:nvSpPr>
        <p:spPr>
          <a:xfrm>
            <a:off x="6629400" y="3945636"/>
            <a:ext cx="201168" cy="201168"/>
          </a:xfrm>
          <a:prstGeom prst="ellipse">
            <a:avLst/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72" name="Shape 68"/>
          <p:cNvSpPr/>
          <p:nvPr/>
        </p:nvSpPr>
        <p:spPr>
          <a:xfrm>
            <a:off x="6903720" y="3945636"/>
            <a:ext cx="201168" cy="201168"/>
          </a:xfrm>
          <a:prstGeom prst="ellipse">
            <a:avLst/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73" name="Shape 69"/>
          <p:cNvSpPr/>
          <p:nvPr/>
        </p:nvSpPr>
        <p:spPr>
          <a:xfrm>
            <a:off x="7178040" y="3945636"/>
            <a:ext cx="201168" cy="201168"/>
          </a:xfrm>
          <a:prstGeom prst="ellipse">
            <a:avLst/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74" name="Shape 70"/>
          <p:cNvSpPr/>
          <p:nvPr/>
        </p:nvSpPr>
        <p:spPr>
          <a:xfrm>
            <a:off x="7452360" y="3945636"/>
            <a:ext cx="201168" cy="201168"/>
          </a:xfrm>
          <a:prstGeom prst="ellipse">
            <a:avLst/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75" name="Shape 71"/>
          <p:cNvSpPr/>
          <p:nvPr/>
        </p:nvSpPr>
        <p:spPr>
          <a:xfrm>
            <a:off x="7726680" y="3945636"/>
            <a:ext cx="201168" cy="201168"/>
          </a:xfrm>
          <a:prstGeom prst="ellipse">
            <a:avLst/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76" name="Text 72"/>
          <p:cNvSpPr txBox="1"/>
          <p:nvPr/>
        </p:nvSpPr>
        <p:spPr>
          <a:xfrm>
            <a:off x="3931920" y="41833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 = 11</a:t>
            </a:r>
            <a:endParaRPr lang="en-US" sz="1100" dirty="0"/>
          </a:p>
        </p:txBody>
      </p:sp>
      <p:sp>
        <p:nvSpPr>
          <p:cNvPr id="77" name="Shape 73"/>
          <p:cNvSpPr/>
          <p:nvPr/>
        </p:nvSpPr>
        <p:spPr>
          <a:xfrm>
            <a:off x="4709160" y="4219956"/>
            <a:ext cx="201168" cy="201168"/>
          </a:xfrm>
          <a:prstGeom prst="ellipse">
            <a:avLst/>
          </a:prstGeom>
          <a:solidFill>
            <a:srgbClr val="40E0D0"/>
          </a:solidFill>
          <a:ln w="9525">
            <a:solidFill>
              <a:srgbClr val="1A9E92"/>
            </a:solidFill>
            <a:prstDash val="solid"/>
          </a:ln>
        </p:spPr>
      </p:sp>
      <p:sp>
        <p:nvSpPr>
          <p:cNvPr id="78" name="Shape 74"/>
          <p:cNvSpPr/>
          <p:nvPr/>
        </p:nvSpPr>
        <p:spPr>
          <a:xfrm>
            <a:off x="4983480" y="4219956"/>
            <a:ext cx="201168" cy="201168"/>
          </a:xfrm>
          <a:prstGeom prst="ellipse">
            <a:avLst/>
          </a:prstGeom>
          <a:solidFill>
            <a:srgbClr val="40E0D0"/>
          </a:solidFill>
          <a:ln w="9525">
            <a:solidFill>
              <a:srgbClr val="1A9E92"/>
            </a:solidFill>
            <a:prstDash val="solid"/>
          </a:ln>
        </p:spPr>
      </p:sp>
      <p:sp>
        <p:nvSpPr>
          <p:cNvPr id="79" name="Shape 75"/>
          <p:cNvSpPr/>
          <p:nvPr/>
        </p:nvSpPr>
        <p:spPr>
          <a:xfrm>
            <a:off x="5257800" y="4219956"/>
            <a:ext cx="201168" cy="201168"/>
          </a:xfrm>
          <a:prstGeom prst="ellipse">
            <a:avLst/>
          </a:prstGeom>
          <a:solidFill>
            <a:srgbClr val="40E0D0"/>
          </a:solidFill>
          <a:ln w="9525">
            <a:solidFill>
              <a:srgbClr val="1A9E92"/>
            </a:solidFill>
            <a:prstDash val="solid"/>
          </a:ln>
        </p:spPr>
      </p:sp>
      <p:sp>
        <p:nvSpPr>
          <p:cNvPr id="80" name="Shape 76"/>
          <p:cNvSpPr/>
          <p:nvPr/>
        </p:nvSpPr>
        <p:spPr>
          <a:xfrm>
            <a:off x="5532120" y="4219956"/>
            <a:ext cx="201168" cy="201168"/>
          </a:xfrm>
          <a:prstGeom prst="ellipse">
            <a:avLst/>
          </a:prstGeom>
          <a:solidFill>
            <a:srgbClr val="40E0D0"/>
          </a:solidFill>
          <a:ln w="9525">
            <a:solidFill>
              <a:srgbClr val="1A9E92"/>
            </a:solidFill>
            <a:prstDash val="solid"/>
          </a:ln>
        </p:spPr>
      </p:sp>
      <p:sp>
        <p:nvSpPr>
          <p:cNvPr id="81" name="Shape 77"/>
          <p:cNvSpPr/>
          <p:nvPr/>
        </p:nvSpPr>
        <p:spPr>
          <a:xfrm>
            <a:off x="5806440" y="4219956"/>
            <a:ext cx="201168" cy="201168"/>
          </a:xfrm>
          <a:prstGeom prst="ellipse">
            <a:avLst/>
          </a:prstGeom>
          <a:solidFill>
            <a:srgbClr val="40E0D0"/>
          </a:solidFill>
          <a:ln w="9525">
            <a:solidFill>
              <a:srgbClr val="1A9E92"/>
            </a:solidFill>
            <a:prstDash val="solid"/>
          </a:ln>
        </p:spPr>
      </p:sp>
      <p:sp>
        <p:nvSpPr>
          <p:cNvPr id="82" name="Shape 78"/>
          <p:cNvSpPr/>
          <p:nvPr/>
        </p:nvSpPr>
        <p:spPr>
          <a:xfrm>
            <a:off x="6080760" y="4219956"/>
            <a:ext cx="201168" cy="201168"/>
          </a:xfrm>
          <a:prstGeom prst="ellipse">
            <a:avLst/>
          </a:prstGeom>
          <a:solidFill>
            <a:srgbClr val="40E0D0"/>
          </a:solidFill>
          <a:ln w="9525">
            <a:solidFill>
              <a:srgbClr val="1A9E92"/>
            </a:solidFill>
            <a:prstDash val="solid"/>
          </a:ln>
        </p:spPr>
      </p:sp>
      <p:sp>
        <p:nvSpPr>
          <p:cNvPr id="83" name="Shape 79"/>
          <p:cNvSpPr/>
          <p:nvPr/>
        </p:nvSpPr>
        <p:spPr>
          <a:xfrm>
            <a:off x="6355080" y="4219956"/>
            <a:ext cx="201168" cy="201168"/>
          </a:xfrm>
          <a:prstGeom prst="ellipse">
            <a:avLst/>
          </a:prstGeom>
          <a:solidFill>
            <a:srgbClr val="40E0D0"/>
          </a:solidFill>
          <a:ln w="9525">
            <a:solidFill>
              <a:srgbClr val="1A9E92"/>
            </a:solidFill>
            <a:prstDash val="solid"/>
          </a:ln>
        </p:spPr>
      </p:sp>
      <p:sp>
        <p:nvSpPr>
          <p:cNvPr id="84" name="Shape 80"/>
          <p:cNvSpPr/>
          <p:nvPr/>
        </p:nvSpPr>
        <p:spPr>
          <a:xfrm>
            <a:off x="6629400" y="4219956"/>
            <a:ext cx="201168" cy="201168"/>
          </a:xfrm>
          <a:prstGeom prst="ellipse">
            <a:avLst/>
          </a:prstGeom>
          <a:solidFill>
            <a:srgbClr val="40E0D0"/>
          </a:solidFill>
          <a:ln w="9525">
            <a:solidFill>
              <a:srgbClr val="1A9E92"/>
            </a:solidFill>
            <a:prstDash val="solid"/>
          </a:ln>
        </p:spPr>
      </p:sp>
      <p:sp>
        <p:nvSpPr>
          <p:cNvPr id="85" name="Shape 81"/>
          <p:cNvSpPr/>
          <p:nvPr/>
        </p:nvSpPr>
        <p:spPr>
          <a:xfrm>
            <a:off x="6903720" y="4219956"/>
            <a:ext cx="201168" cy="201168"/>
          </a:xfrm>
          <a:prstGeom prst="ellipse">
            <a:avLst/>
          </a:prstGeom>
          <a:solidFill>
            <a:srgbClr val="40E0D0"/>
          </a:solidFill>
          <a:ln w="9525">
            <a:solidFill>
              <a:srgbClr val="1A9E92"/>
            </a:solidFill>
            <a:prstDash val="solid"/>
          </a:ln>
        </p:spPr>
      </p:sp>
      <p:sp>
        <p:nvSpPr>
          <p:cNvPr id="86" name="Shape 82"/>
          <p:cNvSpPr/>
          <p:nvPr/>
        </p:nvSpPr>
        <p:spPr>
          <a:xfrm>
            <a:off x="7178040" y="4219956"/>
            <a:ext cx="201168" cy="201168"/>
          </a:xfrm>
          <a:prstGeom prst="ellipse">
            <a:avLst/>
          </a:prstGeom>
          <a:solidFill>
            <a:srgbClr val="40E0D0"/>
          </a:solidFill>
          <a:ln w="9525">
            <a:solidFill>
              <a:srgbClr val="1A9E92"/>
            </a:solidFill>
            <a:prstDash val="solid"/>
          </a:ln>
        </p:spPr>
      </p:sp>
      <p:sp>
        <p:nvSpPr>
          <p:cNvPr id="87" name="Shape 83"/>
          <p:cNvSpPr/>
          <p:nvPr/>
        </p:nvSpPr>
        <p:spPr>
          <a:xfrm>
            <a:off x="7452360" y="4219956"/>
            <a:ext cx="201168" cy="201168"/>
          </a:xfrm>
          <a:prstGeom prst="ellipse">
            <a:avLst/>
          </a:prstGeom>
          <a:solidFill>
            <a:srgbClr val="40E0D0"/>
          </a:solidFill>
          <a:ln w="9525">
            <a:solidFill>
              <a:srgbClr val="1A9E92"/>
            </a:solidFill>
            <a:prstDash val="solid"/>
          </a:ln>
        </p:spPr>
      </p:sp>
      <p:sp>
        <p:nvSpPr>
          <p:cNvPr id="88" name="Shape 84"/>
          <p:cNvSpPr/>
          <p:nvPr/>
        </p:nvSpPr>
        <p:spPr>
          <a:xfrm>
            <a:off x="7726680" y="4219956"/>
            <a:ext cx="201168" cy="201168"/>
          </a:xfrm>
          <a:prstGeom prst="ellipse">
            <a:avLst/>
          </a:prstGeom>
          <a:solidFill>
            <a:srgbClr val="40E0D0"/>
          </a:solidFill>
          <a:ln w="9525">
            <a:solidFill>
              <a:srgbClr val="1A9E92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39328" y="4736592"/>
            <a:ext cx="393192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B6B6B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4572000" y="4736592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实验一　WS2812b 灯环</a:t>
            </a:r>
            <a:endParaRPr lang="en-US" sz="8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411480" y="27432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实验结果：12 颗灯亮起白光</a:t>
            </a:r>
            <a:endParaRPr lang="en-US" sz="24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411480" y="786384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上传程序后，12 颗灯一起亮起柔和的白光——注意：不要长时间直视！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11480" y="1234440"/>
            <a:ext cx="4846320" cy="3337560"/>
          </a:xfrm>
          <a:prstGeom prst="roundRect">
            <a:avLst>
              <a:gd name="adj" fmla="val 3288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pic>
        <p:nvPicPr>
          <p:cNvPr id="7" name="Image 0" descr="原指南实物图：12 颗灯亮起白光（中间小红点是电源指示灯）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1208" y="1504716"/>
            <a:ext cx="4626864" cy="2522687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521208" y="4224528"/>
            <a:ext cx="46268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原指南实物图：12 颗灯亮起白光（中间小红点是电源指示灯）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5532120" y="1234440"/>
            <a:ext cx="3200400" cy="1298448"/>
          </a:xfrm>
          <a:prstGeom prst="roundRect">
            <a:avLst>
              <a:gd name="adj" fmla="val 8451"/>
            </a:avLst>
          </a:prstGeom>
          <a:solidFill>
            <a:srgbClr val="E3FAF7"/>
          </a:solidFill>
          <a:ln w="12700">
            <a:solidFill>
              <a:srgbClr val="E3FAF7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5678424" y="1380744"/>
            <a:ext cx="329184" cy="329184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7428" y="1459748"/>
            <a:ext cx="171176" cy="171176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6135624" y="1371600"/>
            <a:ext cx="2450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原指南结论</a:t>
            </a:r>
            <a:endParaRPr lang="en-US" sz="1300" dirty="0"/>
          </a:p>
        </p:txBody>
      </p:sp>
      <p:sp>
        <p:nvSpPr>
          <p:cNvPr id="13" name="Text 8"/>
          <p:cNvSpPr txBox="1"/>
          <p:nvPr/>
        </p:nvSpPr>
        <p:spPr>
          <a:xfrm>
            <a:off x="6135624" y="1682496"/>
            <a:ext cx="2450592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上传程序之后，12 颗 RGB 灯会亮起；注意，不要直视太久！</a:t>
            </a:r>
            <a:endParaRPr lang="en-US" sz="1250" dirty="0"/>
          </a:p>
        </p:txBody>
      </p:sp>
      <p:sp>
        <p:nvSpPr>
          <p:cNvPr id="14" name="Shape 9"/>
          <p:cNvSpPr/>
          <p:nvPr/>
        </p:nvSpPr>
        <p:spPr>
          <a:xfrm>
            <a:off x="5532120" y="2807208"/>
            <a:ext cx="3200400" cy="1764792"/>
          </a:xfrm>
          <a:prstGeom prst="roundRect">
            <a:avLst>
              <a:gd name="adj" fmla="val 6218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5" name="Text 10"/>
          <p:cNvSpPr txBox="1"/>
          <p:nvPr/>
        </p:nvSpPr>
        <p:spPr>
          <a:xfrm>
            <a:off x="5715000" y="2935224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为什么是柔和的白光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5715000" y="3374136"/>
            <a:ext cx="329184" cy="329184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4004" y="3453140"/>
            <a:ext cx="171176" cy="171176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6153912" y="3319272"/>
            <a:ext cx="24140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 = G = B = 127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三色等量混合，就是白光</a:t>
            </a:r>
            <a:endParaRPr lang="en-US" sz="1200" dirty="0"/>
          </a:p>
        </p:txBody>
      </p:sp>
      <p:sp>
        <p:nvSpPr>
          <p:cNvPr id="19" name="Shape 13"/>
          <p:cNvSpPr/>
          <p:nvPr/>
        </p:nvSpPr>
        <p:spPr>
          <a:xfrm>
            <a:off x="5715000" y="3977640"/>
            <a:ext cx="329184" cy="329184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94004" y="4056644"/>
            <a:ext cx="171176" cy="171176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6153912" y="3922776"/>
            <a:ext cx="24140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setBrightness(30)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整体只有约 12% 亮度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39328" y="4736592"/>
            <a:ext cx="393192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B6B6B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4572000" y="4736592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实验一　WS2812b 灯环</a:t>
            </a:r>
            <a:endParaRPr lang="en-US" sz="8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411480" y="27432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常见坑与动手改一改</a:t>
            </a:r>
            <a:endParaRPr lang="en-US" sz="24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411480" y="786384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灯不亮先查库和接线；跑通以后，改几行代码，就能换颜色、做出“一颗颗亮起”的效果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11480" y="1234440"/>
            <a:ext cx="3931920" cy="929640"/>
          </a:xfrm>
          <a:prstGeom prst="roundRect">
            <a:avLst>
              <a:gd name="adj" fmla="val 11803"/>
            </a:avLst>
          </a:prstGeom>
          <a:solidFill>
            <a:srgbClr val="FFFFFF"/>
          </a:solidFill>
          <a:ln w="12700">
            <a:solidFill>
              <a:srgbClr val="E5484D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57784" y="1543812"/>
            <a:ext cx="310896" cy="310896"/>
          </a:xfrm>
          <a:prstGeom prst="ellipse">
            <a:avLst/>
          </a:prstGeom>
          <a:solidFill>
            <a:srgbClr val="E5484D"/>
          </a:solidFill>
          <a:ln w="12700">
            <a:solidFill>
              <a:srgbClr val="E5484D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2399" y="1618427"/>
            <a:ext cx="161666" cy="161666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996696" y="13258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E548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编译报错：No such file…</a:t>
            </a:r>
            <a:endParaRPr lang="en-US" sz="1300" dirty="0"/>
          </a:p>
        </p:txBody>
      </p:sp>
      <p:sp>
        <p:nvSpPr>
          <p:cNvPr id="10" name="Text 6"/>
          <p:cNvSpPr txBox="1"/>
          <p:nvPr/>
        </p:nvSpPr>
        <p:spPr>
          <a:xfrm>
            <a:off x="996696" y="1618488"/>
            <a:ext cx="3200400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没装库：工具 → 管理库，搜索 Adafruit NeoPixel 安装。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411480" y="2438400"/>
            <a:ext cx="3931920" cy="929640"/>
          </a:xfrm>
          <a:prstGeom prst="roundRect">
            <a:avLst>
              <a:gd name="adj" fmla="val 11803"/>
            </a:avLst>
          </a:prstGeom>
          <a:solidFill>
            <a:srgbClr val="FFFFFF"/>
          </a:solidFill>
          <a:ln w="12700">
            <a:solidFill>
              <a:srgbClr val="E5484D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557784" y="2747772"/>
            <a:ext cx="310896" cy="310896"/>
          </a:xfrm>
          <a:prstGeom prst="ellipse">
            <a:avLst/>
          </a:prstGeom>
          <a:solidFill>
            <a:srgbClr val="E5484D"/>
          </a:solidFill>
          <a:ln w="12700">
            <a:solidFill>
              <a:srgbClr val="E5484D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399" y="2822387"/>
            <a:ext cx="161666" cy="161666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996696" y="25298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E548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上传成功，灯却不亮</a:t>
            </a:r>
            <a:endParaRPr lang="en-US" sz="1300" dirty="0"/>
          </a:p>
        </p:txBody>
      </p:sp>
      <p:sp>
        <p:nvSpPr>
          <p:cNvPr id="15" name="Text 10"/>
          <p:cNvSpPr txBox="1"/>
          <p:nvPr/>
        </p:nvSpPr>
        <p:spPr>
          <a:xfrm>
            <a:off x="996696" y="2822448"/>
            <a:ext cx="3200400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信号线插到 D 脚了？要插 R；再查 V、G 两根线。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411480" y="3642360"/>
            <a:ext cx="3931920" cy="929640"/>
          </a:xfrm>
          <a:prstGeom prst="roundRect">
            <a:avLst>
              <a:gd name="adj" fmla="val 11803"/>
            </a:avLst>
          </a:prstGeom>
          <a:solidFill>
            <a:srgbClr val="FFFFFF"/>
          </a:solidFill>
          <a:ln w="12700">
            <a:solidFill>
              <a:srgbClr val="E5484D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557784" y="3951732"/>
            <a:ext cx="310896" cy="310896"/>
          </a:xfrm>
          <a:prstGeom prst="ellipse">
            <a:avLst/>
          </a:prstGeom>
          <a:solidFill>
            <a:srgbClr val="E5484D"/>
          </a:solidFill>
          <a:ln w="12700">
            <a:solidFill>
              <a:srgbClr val="E5484D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399" y="4026347"/>
            <a:ext cx="161666" cy="161666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996696" y="37338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E548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灯闪烁、板子反复重启</a:t>
            </a:r>
            <a:endParaRPr lang="en-US" sz="1300" dirty="0"/>
          </a:p>
        </p:txBody>
      </p:sp>
      <p:sp>
        <p:nvSpPr>
          <p:cNvPr id="20" name="Text 14"/>
          <p:cNvSpPr txBox="1"/>
          <p:nvPr/>
        </p:nvSpPr>
        <p:spPr>
          <a:xfrm>
            <a:off x="996696" y="4026408"/>
            <a:ext cx="3200400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亮度太高，USB 供电不够：把 setBrightness() 的数调小。</a:t>
            </a:r>
            <a:endParaRPr lang="en-US" sz="1200" dirty="0"/>
          </a:p>
        </p:txBody>
      </p:sp>
      <p:sp>
        <p:nvSpPr>
          <p:cNvPr id="21" name="Shape 15"/>
          <p:cNvSpPr/>
          <p:nvPr/>
        </p:nvSpPr>
        <p:spPr>
          <a:xfrm>
            <a:off x="4663440" y="1234440"/>
            <a:ext cx="4069080" cy="3337560"/>
          </a:xfrm>
          <a:prstGeom prst="roundRect">
            <a:avLst>
              <a:gd name="adj" fmla="val 3288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4846320" y="1399032"/>
            <a:ext cx="384048" cy="384048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8492" y="1491204"/>
            <a:ext cx="199705" cy="199705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5358384" y="1399032"/>
            <a:ext cx="31912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动手改一改</a:t>
            </a:r>
            <a:endParaRPr lang="en-US" sz="1500" dirty="0"/>
          </a:p>
        </p:txBody>
      </p:sp>
      <p:sp>
        <p:nvSpPr>
          <p:cNvPr id="25" name="Text 18"/>
          <p:cNvSpPr txBox="1"/>
          <p:nvPr/>
        </p:nvSpPr>
        <p:spPr>
          <a:xfrm>
            <a:off x="4846320" y="1911096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挑战 1　</a:t>
            </a:r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换个颜色：改第 18 行的三个数</a:t>
            </a:r>
            <a:endParaRPr lang="en-US" sz="1250" dirty="0"/>
          </a:p>
        </p:txBody>
      </p:sp>
      <p:sp>
        <p:nvSpPr>
          <p:cNvPr id="26" name="Shape 19"/>
          <p:cNvSpPr/>
          <p:nvPr/>
        </p:nvSpPr>
        <p:spPr>
          <a:xfrm>
            <a:off x="4846320" y="2221992"/>
            <a:ext cx="3703320" cy="556260"/>
          </a:xfrm>
          <a:prstGeom prst="roundRect">
            <a:avLst>
              <a:gd name="adj" fmla="val 13151"/>
            </a:avLst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27" name="Text 20"/>
          <p:cNvSpPr txBox="1"/>
          <p:nvPr/>
        </p:nvSpPr>
        <p:spPr>
          <a:xfrm>
            <a:off x="4992624" y="2313432"/>
            <a:ext cx="3410712" cy="1866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pixels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0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Color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05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127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05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127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05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127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 </a:t>
            </a:r>
            <a:pPr indent="0" marL="0">
              <a:buNone/>
            </a:pPr>
            <a:r>
              <a:rPr lang="en-US" sz="1050" dirty="0">
                <a:solidFill>
                  <a:srgbClr val="8E8E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原来：白</a:t>
            </a:r>
            <a:endParaRPr lang="en-US" sz="1050" dirty="0"/>
          </a:p>
        </p:txBody>
      </p:sp>
      <p:sp>
        <p:nvSpPr>
          <p:cNvPr id="28" name="Shape 21"/>
          <p:cNvSpPr/>
          <p:nvPr/>
        </p:nvSpPr>
        <p:spPr>
          <a:xfrm>
            <a:off x="4892040" y="2500122"/>
            <a:ext cx="3611880" cy="186690"/>
          </a:xfrm>
          <a:prstGeom prst="rect">
            <a:avLst/>
          </a:prstGeom>
          <a:solidFill>
            <a:srgbClr val="3E5250"/>
          </a:solidFill>
          <a:ln w="12700">
            <a:solidFill>
              <a:srgbClr val="3E5250"/>
            </a:solidFill>
            <a:prstDash val="solid"/>
          </a:ln>
        </p:spPr>
      </p:sp>
      <p:sp>
        <p:nvSpPr>
          <p:cNvPr id="29" name="Text 22"/>
          <p:cNvSpPr txBox="1"/>
          <p:nvPr/>
        </p:nvSpPr>
        <p:spPr>
          <a:xfrm>
            <a:off x="4992624" y="2500122"/>
            <a:ext cx="3410712" cy="1866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pixels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0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Color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05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05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05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127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     </a:t>
            </a:r>
            <a:pPr indent="0" marL="0">
              <a:buNone/>
            </a:pPr>
            <a:r>
              <a:rPr lang="en-US" sz="1050" dirty="0">
                <a:solidFill>
                  <a:srgbClr val="8E8E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改成：蓝</a:t>
            </a:r>
            <a:endParaRPr lang="en-US" sz="1050" dirty="0"/>
          </a:p>
        </p:txBody>
      </p:sp>
      <p:sp>
        <p:nvSpPr>
          <p:cNvPr id="30" name="Text 23"/>
          <p:cNvSpPr txBox="1"/>
          <p:nvPr/>
        </p:nvSpPr>
        <p:spPr>
          <a:xfrm>
            <a:off x="4846320" y="2924556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挑战 2　</a:t>
            </a:r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一颗颗亮起再全灭（高亮行为新增）</a:t>
            </a:r>
            <a:endParaRPr lang="en-US" sz="1250" dirty="0"/>
          </a:p>
        </p:txBody>
      </p:sp>
      <p:sp>
        <p:nvSpPr>
          <p:cNvPr id="31" name="Shape 24"/>
          <p:cNvSpPr/>
          <p:nvPr/>
        </p:nvSpPr>
        <p:spPr>
          <a:xfrm>
            <a:off x="4846320" y="3235452"/>
            <a:ext cx="3703320" cy="1116330"/>
          </a:xfrm>
          <a:prstGeom prst="roundRect">
            <a:avLst>
              <a:gd name="adj" fmla="val 6553"/>
            </a:avLst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32" name="Shape 25"/>
          <p:cNvSpPr/>
          <p:nvPr/>
        </p:nvSpPr>
        <p:spPr>
          <a:xfrm>
            <a:off x="4892040" y="3326892"/>
            <a:ext cx="3611880" cy="186690"/>
          </a:xfrm>
          <a:prstGeom prst="rect">
            <a:avLst/>
          </a:prstGeom>
          <a:solidFill>
            <a:srgbClr val="3E5250"/>
          </a:solidFill>
          <a:ln w="12700">
            <a:solidFill>
              <a:srgbClr val="3E5250"/>
            </a:solidFill>
            <a:prstDash val="solid"/>
          </a:ln>
        </p:spPr>
      </p:sp>
      <p:sp>
        <p:nvSpPr>
          <p:cNvPr id="33" name="Text 26"/>
          <p:cNvSpPr txBox="1"/>
          <p:nvPr/>
        </p:nvSpPr>
        <p:spPr>
          <a:xfrm>
            <a:off x="4992624" y="3326892"/>
            <a:ext cx="3410712" cy="1866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delay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05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      </a:t>
            </a:r>
            <a:pPr indent="0" marL="0">
              <a:buNone/>
            </a:pPr>
            <a:r>
              <a:rPr lang="en-US" sz="1050" dirty="0">
                <a:solidFill>
                  <a:srgbClr val="8E8E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新增：每颗停 0.1 秒</a:t>
            </a:r>
            <a:endParaRPr lang="en-US" sz="1050" dirty="0"/>
          </a:p>
        </p:txBody>
      </p:sp>
      <p:sp>
        <p:nvSpPr>
          <p:cNvPr id="34" name="Text 27"/>
          <p:cNvSpPr txBox="1"/>
          <p:nvPr/>
        </p:nvSpPr>
        <p:spPr>
          <a:xfrm>
            <a:off x="4992624" y="3513582"/>
            <a:ext cx="3410712" cy="1866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</p:txBody>
      </p:sp>
      <p:sp>
        <p:nvSpPr>
          <p:cNvPr id="35" name="Shape 28"/>
          <p:cNvSpPr/>
          <p:nvPr/>
        </p:nvSpPr>
        <p:spPr>
          <a:xfrm>
            <a:off x="4892040" y="3700272"/>
            <a:ext cx="3611880" cy="186690"/>
          </a:xfrm>
          <a:prstGeom prst="rect">
            <a:avLst/>
          </a:prstGeom>
          <a:solidFill>
            <a:srgbClr val="3E5250"/>
          </a:solidFill>
          <a:ln w="12700">
            <a:solidFill>
              <a:srgbClr val="3E5250"/>
            </a:solidFill>
            <a:prstDash val="solid"/>
          </a:ln>
        </p:spPr>
      </p:sp>
      <p:sp>
        <p:nvSpPr>
          <p:cNvPr id="36" name="Text 29"/>
          <p:cNvSpPr txBox="1"/>
          <p:nvPr/>
        </p:nvSpPr>
        <p:spPr>
          <a:xfrm>
            <a:off x="4992624" y="3700272"/>
            <a:ext cx="3410712" cy="1866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pixels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0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clear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    </a:t>
            </a:r>
            <a:pPr indent="0" marL="0">
              <a:buNone/>
            </a:pPr>
            <a:r>
              <a:rPr lang="en-US" sz="1050" dirty="0">
                <a:solidFill>
                  <a:srgbClr val="8E8E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新增：草稿全清空</a:t>
            </a:r>
            <a:endParaRPr lang="en-US" sz="1050" dirty="0"/>
          </a:p>
        </p:txBody>
      </p:sp>
      <p:sp>
        <p:nvSpPr>
          <p:cNvPr id="37" name="Shape 30"/>
          <p:cNvSpPr/>
          <p:nvPr/>
        </p:nvSpPr>
        <p:spPr>
          <a:xfrm>
            <a:off x="4892040" y="3886962"/>
            <a:ext cx="3611880" cy="186690"/>
          </a:xfrm>
          <a:prstGeom prst="rect">
            <a:avLst/>
          </a:prstGeom>
          <a:solidFill>
            <a:srgbClr val="3E5250"/>
          </a:solidFill>
          <a:ln w="12700">
            <a:solidFill>
              <a:srgbClr val="3E5250"/>
            </a:solidFill>
            <a:prstDash val="solid"/>
          </a:ln>
        </p:spPr>
      </p:sp>
      <p:sp>
        <p:nvSpPr>
          <p:cNvPr id="38" name="Text 31"/>
          <p:cNvSpPr txBox="1"/>
          <p:nvPr/>
        </p:nvSpPr>
        <p:spPr>
          <a:xfrm>
            <a:off x="4992624" y="3886962"/>
            <a:ext cx="3410712" cy="1866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pixels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0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show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     </a:t>
            </a:r>
            <a:pPr indent="0" marL="0">
              <a:buNone/>
            </a:pPr>
            <a:r>
              <a:rPr lang="en-US" sz="1050" dirty="0">
                <a:solidFill>
                  <a:srgbClr val="8E8E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新增：寄出 = 全灭</a:t>
            </a:r>
            <a:endParaRPr lang="en-US" sz="1050" dirty="0"/>
          </a:p>
        </p:txBody>
      </p:sp>
      <p:sp>
        <p:nvSpPr>
          <p:cNvPr id="39" name="Shape 32"/>
          <p:cNvSpPr/>
          <p:nvPr/>
        </p:nvSpPr>
        <p:spPr>
          <a:xfrm>
            <a:off x="4892040" y="4073652"/>
            <a:ext cx="3611880" cy="186690"/>
          </a:xfrm>
          <a:prstGeom prst="rect">
            <a:avLst/>
          </a:prstGeom>
          <a:solidFill>
            <a:srgbClr val="3E5250"/>
          </a:solidFill>
          <a:ln w="12700">
            <a:solidFill>
              <a:srgbClr val="3E5250"/>
            </a:solidFill>
            <a:prstDash val="solid"/>
          </a:ln>
        </p:spPr>
      </p:sp>
      <p:sp>
        <p:nvSpPr>
          <p:cNvPr id="40" name="Text 33"/>
          <p:cNvSpPr txBox="1"/>
          <p:nvPr/>
        </p:nvSpPr>
        <p:spPr>
          <a:xfrm>
            <a:off x="4992624" y="4073652"/>
            <a:ext cx="3410712" cy="1866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delay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05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500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        </a:t>
            </a:r>
            <a:pPr indent="0" marL="0">
              <a:buNone/>
            </a:pPr>
            <a:r>
              <a:rPr lang="en-US" sz="1050" dirty="0">
                <a:solidFill>
                  <a:srgbClr val="8E8E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新增：停 0.5 秒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39328" y="4736592"/>
            <a:ext cx="393192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B6B6B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4572000" y="4736592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实验二　LCD1602 显示屏</a:t>
            </a:r>
            <a:endParaRPr lang="en-US" sz="800" dirty="0"/>
          </a:p>
        </p:txBody>
      </p:sp>
      <p:sp>
        <p:nvSpPr>
          <p:cNvPr id="3" name="Text 1"/>
          <p:cNvSpPr/>
          <p:nvPr>
            <p:ph idx="103" type="body" hasCustomPrompt="1"/>
          </p:nvPr>
        </p:nvSpPr>
        <p:spPr>
          <a:xfrm>
            <a:off x="411480" y="38404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 02</a:t>
            </a:r>
            <a:endParaRPr lang="en-US" sz="1100" dirty="0"/>
          </a:p>
        </p:txBody>
      </p:sp>
      <p:sp>
        <p:nvSpPr>
          <p:cNvPr id="4" name="Text 1"/>
          <p:cNvSpPr/>
          <p:nvPr>
            <p:ph idx="104" type="title" hasCustomPrompt="1"/>
          </p:nvPr>
        </p:nvSpPr>
        <p:spPr>
          <a:xfrm>
            <a:off x="411480" y="713232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串行 LCD1602 模块动态显示屏实验</a:t>
            </a:r>
            <a:endParaRPr lang="en-US" sz="2800" dirty="0"/>
          </a:p>
        </p:txBody>
      </p:sp>
      <p:sp>
        <p:nvSpPr>
          <p:cNvPr id="5" name="Text 1"/>
          <p:cNvSpPr/>
          <p:nvPr>
            <p:ph idx="105" type="body" hasCustomPrompt="1"/>
          </p:nvPr>
        </p:nvSpPr>
        <p:spPr>
          <a:xfrm>
            <a:off x="411480" y="1874520"/>
            <a:ext cx="32461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让一块 16 × 2 的液晶屏显示文字。只用两根信号线（I2C）：先“敲门”找到屏幕的地址，再用 setCursor() 和 print() 把字写上去。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160520" y="347472"/>
            <a:ext cx="2286000" cy="2112264"/>
          </a:xfrm>
          <a:prstGeom prst="rect">
            <a:avLst/>
          </a:prstGeom>
          <a:solidFill>
            <a:srgbClr val="40E0D0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361688" y="512064"/>
            <a:ext cx="1883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01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4361688" y="1389888"/>
            <a:ext cx="1883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认识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4361688" y="1801368"/>
            <a:ext cx="1883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 行 × 16 字符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46520" y="347472"/>
            <a:ext cx="2286000" cy="2112264"/>
          </a:xfrm>
          <a:prstGeom prst="rect">
            <a:avLst/>
          </a:prstGeom>
          <a:solidFill>
            <a:srgbClr val="EBEBEB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647688" y="512064"/>
            <a:ext cx="1883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6647688" y="1389888"/>
            <a:ext cx="1883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I2C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647688" y="1801368"/>
            <a:ext cx="1883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两根线 · 门牌号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160520" y="2459736"/>
            <a:ext cx="2286000" cy="2112264"/>
          </a:xfrm>
          <a:prstGeom prst="rect">
            <a:avLst/>
          </a:prstGeom>
          <a:solidFill>
            <a:srgbClr val="2D2D2D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361688" y="2624328"/>
            <a:ext cx="1883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40E0D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</a:t>
            </a:r>
            <a:endParaRPr lang="en-US" sz="3000" dirty="0"/>
          </a:p>
        </p:txBody>
      </p:sp>
      <p:sp>
        <p:nvSpPr>
          <p:cNvPr id="16" name="Text 14"/>
          <p:cNvSpPr txBox="1"/>
          <p:nvPr/>
        </p:nvSpPr>
        <p:spPr>
          <a:xfrm>
            <a:off x="4361688" y="3502152"/>
            <a:ext cx="1883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找地址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4361688" y="3913632"/>
            <a:ext cx="1883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FCFC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扫描程序 → 0x27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46520" y="2459736"/>
            <a:ext cx="2286000" cy="2112264"/>
          </a:xfrm>
          <a:prstGeom prst="rect">
            <a:avLst/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647688" y="2624328"/>
            <a:ext cx="1883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04</a:t>
            </a:r>
            <a:endParaRPr lang="en-US" sz="3000" dirty="0"/>
          </a:p>
        </p:txBody>
      </p:sp>
      <p:sp>
        <p:nvSpPr>
          <p:cNvPr id="20" name="Text 18"/>
          <p:cNvSpPr txBox="1"/>
          <p:nvPr/>
        </p:nvSpPr>
        <p:spPr>
          <a:xfrm>
            <a:off x="6647688" y="3502152"/>
            <a:ext cx="1883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显示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6647688" y="3913632"/>
            <a:ext cx="1883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setCursor + print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39328" y="4736592"/>
            <a:ext cx="393192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B6B6B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4572000" y="4736592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实验二　LCD1602 显示屏</a:t>
            </a:r>
            <a:endParaRPr lang="en-US" sz="8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411480" y="27432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认识 LCD1602 液晶显示屏</a:t>
            </a:r>
            <a:endParaRPr lang="en-US" sz="24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411480" y="786384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“1602” 的意思是 2 行、每行 16 个字符；背面的转接板让它只用两根信号线就能工作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11480" y="1234440"/>
            <a:ext cx="3749040" cy="1737360"/>
          </a:xfrm>
          <a:prstGeom prst="roundRect">
            <a:avLst>
              <a:gd name="adj" fmla="val 6316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pic>
        <p:nvPicPr>
          <p:cNvPr id="7" name="Image 0" descr="背面：I2C 转接板与蓝色电位器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2589" y="1344168"/>
            <a:ext cx="2986822" cy="124358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521208" y="2624328"/>
            <a:ext cx="35295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背面：I2C 转接板与蓝色电位器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4434840" y="1234440"/>
            <a:ext cx="2651760" cy="1737360"/>
          </a:xfrm>
          <a:prstGeom prst="roundRect">
            <a:avLst>
              <a:gd name="adj" fmla="val 6316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pic>
        <p:nvPicPr>
          <p:cNvPr id="10" name="Image 1" descr="侧面：转接板的 4 根排针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5177" y="1344168"/>
            <a:ext cx="1951087" cy="1243584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4544568" y="2624328"/>
            <a:ext cx="24323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侧面：转接板的 4 根排针</a:t>
            </a:r>
            <a:endParaRPr lang="en-US" sz="1000" dirty="0"/>
          </a:p>
        </p:txBody>
      </p:sp>
      <p:sp>
        <p:nvSpPr>
          <p:cNvPr id="12" name="Shape 7"/>
          <p:cNvSpPr/>
          <p:nvPr/>
        </p:nvSpPr>
        <p:spPr>
          <a:xfrm>
            <a:off x="7360920" y="1234440"/>
            <a:ext cx="1371600" cy="1737360"/>
          </a:xfrm>
          <a:prstGeom prst="rect">
            <a:avLst/>
          </a:prstGeom>
          <a:solidFill>
            <a:srgbClr val="2D2D2D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7507224" y="1380744"/>
            <a:ext cx="1152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600" b="1" dirty="0">
                <a:solidFill>
                  <a:srgbClr val="40E0D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16×2</a:t>
            </a:r>
            <a:endParaRPr lang="en-US" sz="2600" dirty="0"/>
          </a:p>
        </p:txBody>
      </p:sp>
      <p:sp>
        <p:nvSpPr>
          <p:cNvPr id="14" name="Text 9"/>
          <p:cNvSpPr txBox="1"/>
          <p:nvPr/>
        </p:nvSpPr>
        <p:spPr>
          <a:xfrm>
            <a:off x="7507224" y="2313432"/>
            <a:ext cx="115214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0D0D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每行 16 个字符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0D0D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一共 2 行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411480" y="3246120"/>
            <a:ext cx="2590800" cy="1325880"/>
          </a:xfrm>
          <a:prstGeom prst="roundRect">
            <a:avLst>
              <a:gd name="adj" fmla="val 8276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594360" y="3410712"/>
            <a:ext cx="329184" cy="329184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364" y="3489716"/>
            <a:ext cx="171176" cy="171176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051560" y="3410712"/>
            <a:ext cx="1767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字符型液晶屏</a:t>
            </a:r>
            <a:endParaRPr lang="en-US" sz="1350" dirty="0"/>
          </a:p>
        </p:txBody>
      </p:sp>
      <p:sp>
        <p:nvSpPr>
          <p:cNvPr id="19" name="Text 13"/>
          <p:cNvSpPr txBox="1"/>
          <p:nvPr/>
        </p:nvSpPr>
        <p:spPr>
          <a:xfrm>
            <a:off x="594360" y="3813048"/>
            <a:ext cx="2261616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专门显示字母、数字和符号，电子钟、温度显示器里很常见。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3276600" y="3246120"/>
            <a:ext cx="2590800" cy="1325880"/>
          </a:xfrm>
          <a:prstGeom prst="roundRect">
            <a:avLst>
              <a:gd name="adj" fmla="val 8276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3459480" y="3410712"/>
            <a:ext cx="329184" cy="329184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38484" y="3489716"/>
            <a:ext cx="171176" cy="171176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3916680" y="3410712"/>
            <a:ext cx="1767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控制芯片 HD44780</a:t>
            </a:r>
            <a:endParaRPr lang="en-US" sz="1350" dirty="0"/>
          </a:p>
        </p:txBody>
      </p:sp>
      <p:sp>
        <p:nvSpPr>
          <p:cNvPr id="24" name="Text 17"/>
          <p:cNvSpPr txBox="1"/>
          <p:nvPr/>
        </p:nvSpPr>
        <p:spPr>
          <a:xfrm>
            <a:off x="3459480" y="3813048"/>
            <a:ext cx="2261616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市面上的 1602 大多用它，控制方法都一样，屏内自带字库。</a:t>
            </a:r>
            <a:endParaRPr lang="en-US" sz="1200" dirty="0"/>
          </a:p>
        </p:txBody>
      </p:sp>
      <p:sp>
        <p:nvSpPr>
          <p:cNvPr id="25" name="Shape 18"/>
          <p:cNvSpPr/>
          <p:nvPr/>
        </p:nvSpPr>
        <p:spPr>
          <a:xfrm>
            <a:off x="6141720" y="3246120"/>
            <a:ext cx="2590800" cy="1325880"/>
          </a:xfrm>
          <a:prstGeom prst="roundRect">
            <a:avLst>
              <a:gd name="adj" fmla="val 8276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26" name="Shape 19"/>
          <p:cNvSpPr/>
          <p:nvPr/>
        </p:nvSpPr>
        <p:spPr>
          <a:xfrm>
            <a:off x="6324600" y="3410712"/>
            <a:ext cx="329184" cy="329184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3604" y="3489716"/>
            <a:ext cx="171176" cy="171176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6781800" y="3410712"/>
            <a:ext cx="1767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背面：I2C 转接板</a:t>
            </a:r>
            <a:endParaRPr lang="en-US" sz="1350" dirty="0"/>
          </a:p>
        </p:txBody>
      </p:sp>
      <p:sp>
        <p:nvSpPr>
          <p:cNvPr id="29" name="Text 21"/>
          <p:cNvSpPr txBox="1"/>
          <p:nvPr/>
        </p:nvSpPr>
        <p:spPr>
          <a:xfrm>
            <a:off x="6324600" y="3813048"/>
            <a:ext cx="2261616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PCF8574 芯片（原指南误作 PCA8574），只占 SDA、SCL 两根线。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39328" y="4736592"/>
            <a:ext cx="393192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B6B6B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4572000" y="4736592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实验二　LCD1602 显示屏</a:t>
            </a:r>
            <a:endParaRPr lang="en-US" sz="8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411480" y="27432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实验目的、原理与组件清单</a:t>
            </a:r>
            <a:endParaRPr lang="en-US" sz="24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411480" y="786384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Arduino 通过 I2C 通信控制 LCD1602 显示字符；带上转接板，屏幕只占 2 个 IO 口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11480" y="1234440"/>
            <a:ext cx="4000500" cy="950976"/>
          </a:xfrm>
          <a:prstGeom prst="roundRect">
            <a:avLst>
              <a:gd name="adj" fmla="val 11538"/>
            </a:avLst>
          </a:prstGeom>
          <a:solidFill>
            <a:srgbClr val="E3FAF7"/>
          </a:solidFill>
          <a:ln w="12700">
            <a:solidFill>
              <a:srgbClr val="E3FAF7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57784" y="1380744"/>
            <a:ext cx="329184" cy="329184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6788" y="1459748"/>
            <a:ext cx="171176" cy="171176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014984" y="1371600"/>
            <a:ext cx="32506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实验目的</a:t>
            </a:r>
            <a:endParaRPr lang="en-US" sz="1300" dirty="0"/>
          </a:p>
        </p:txBody>
      </p:sp>
      <p:sp>
        <p:nvSpPr>
          <p:cNvPr id="10" name="Text 6"/>
          <p:cNvSpPr txBox="1"/>
          <p:nvPr/>
        </p:nvSpPr>
        <p:spPr>
          <a:xfrm>
            <a:off x="1014984" y="1682496"/>
            <a:ext cx="325069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通过 Arduino UNO R3 主控板控制 LCD1602 液晶显示屏显示字符。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4732020" y="1234440"/>
            <a:ext cx="4000500" cy="950976"/>
          </a:xfrm>
          <a:prstGeom prst="roundRect">
            <a:avLst>
              <a:gd name="adj" fmla="val 11538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4878324" y="1380744"/>
            <a:ext cx="329184" cy="329184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7328" y="1459748"/>
            <a:ext cx="171176" cy="171176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5335524" y="1371600"/>
            <a:ext cx="32506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实验原理</a:t>
            </a:r>
            <a:endParaRPr lang="en-US" sz="1300" dirty="0"/>
          </a:p>
        </p:txBody>
      </p:sp>
      <p:sp>
        <p:nvSpPr>
          <p:cNvPr id="15" name="Text 10"/>
          <p:cNvSpPr txBox="1"/>
          <p:nvPr/>
        </p:nvSpPr>
        <p:spPr>
          <a:xfrm>
            <a:off x="5335524" y="1682496"/>
            <a:ext cx="325069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UNO 主控板与串行 LCD1602 相连，使用 I2C 通信，控制液晶屏显示字符。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411480" y="2459736"/>
            <a:ext cx="3429000" cy="2112264"/>
          </a:xfrm>
          <a:prstGeom prst="roundRect">
            <a:avLst>
              <a:gd name="adj" fmla="val 5195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7" name="Text 12"/>
          <p:cNvSpPr txBox="1"/>
          <p:nvPr/>
        </p:nvSpPr>
        <p:spPr>
          <a:xfrm>
            <a:off x="576072" y="2569464"/>
            <a:ext cx="3099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组件清单（原指南）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576072" y="2971800"/>
            <a:ext cx="237744" cy="237744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131" y="3028859"/>
            <a:ext cx="123627" cy="123627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905256" y="2935224"/>
            <a:ext cx="27340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Arduino Uno R3 主板</a:t>
            </a:r>
            <a:endParaRPr lang="en-US" sz="1200" dirty="0"/>
          </a:p>
        </p:txBody>
      </p:sp>
      <p:sp>
        <p:nvSpPr>
          <p:cNvPr id="21" name="Shape 15"/>
          <p:cNvSpPr/>
          <p:nvPr/>
        </p:nvSpPr>
        <p:spPr>
          <a:xfrm>
            <a:off x="576072" y="3282696"/>
            <a:ext cx="237744" cy="237744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131" y="3339755"/>
            <a:ext cx="123627" cy="123627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905256" y="3246120"/>
            <a:ext cx="27340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面包板</a:t>
            </a:r>
            <a:endParaRPr lang="en-US" sz="1200" dirty="0"/>
          </a:p>
        </p:txBody>
      </p:sp>
      <p:sp>
        <p:nvSpPr>
          <p:cNvPr id="24" name="Shape 17"/>
          <p:cNvSpPr/>
          <p:nvPr/>
        </p:nvSpPr>
        <p:spPr>
          <a:xfrm>
            <a:off x="576072" y="3593592"/>
            <a:ext cx="237744" cy="237744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3131" y="3650651"/>
            <a:ext cx="123627" cy="123627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905256" y="3557016"/>
            <a:ext cx="27340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USB 数据线</a:t>
            </a:r>
            <a:endParaRPr lang="en-US" sz="1200" dirty="0"/>
          </a:p>
        </p:txBody>
      </p:sp>
      <p:sp>
        <p:nvSpPr>
          <p:cNvPr id="27" name="Shape 19"/>
          <p:cNvSpPr/>
          <p:nvPr/>
        </p:nvSpPr>
        <p:spPr>
          <a:xfrm>
            <a:off x="576072" y="3904488"/>
            <a:ext cx="237744" cy="237744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3131" y="3961547"/>
            <a:ext cx="123627" cy="123627"/>
          </a:xfrm>
          <a:prstGeom prst="rect">
            <a:avLst/>
          </a:prstGeom>
        </p:spPr>
      </p:pic>
      <p:sp>
        <p:nvSpPr>
          <p:cNvPr id="29" name="Text 20"/>
          <p:cNvSpPr txBox="1"/>
          <p:nvPr/>
        </p:nvSpPr>
        <p:spPr>
          <a:xfrm>
            <a:off x="905256" y="3867912"/>
            <a:ext cx="27340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带转接板的 LCD1602 显示屏</a:t>
            </a:r>
            <a:endParaRPr lang="en-US" sz="1200" dirty="0"/>
          </a:p>
        </p:txBody>
      </p:sp>
      <p:sp>
        <p:nvSpPr>
          <p:cNvPr id="30" name="Shape 21"/>
          <p:cNvSpPr/>
          <p:nvPr/>
        </p:nvSpPr>
        <p:spPr>
          <a:xfrm>
            <a:off x="576072" y="4215384"/>
            <a:ext cx="237744" cy="237744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3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3131" y="4272443"/>
            <a:ext cx="123627" cy="123627"/>
          </a:xfrm>
          <a:prstGeom prst="rect">
            <a:avLst/>
          </a:prstGeom>
        </p:spPr>
      </p:pic>
      <p:sp>
        <p:nvSpPr>
          <p:cNvPr id="32" name="Text 22"/>
          <p:cNvSpPr txBox="1"/>
          <p:nvPr/>
        </p:nvSpPr>
        <p:spPr>
          <a:xfrm>
            <a:off x="905256" y="4178808"/>
            <a:ext cx="27340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若干跳线</a:t>
            </a:r>
            <a:endParaRPr lang="en-US" sz="1200" dirty="0"/>
          </a:p>
        </p:txBody>
      </p:sp>
      <p:sp>
        <p:nvSpPr>
          <p:cNvPr id="33" name="Text 23"/>
          <p:cNvSpPr txBox="1"/>
          <p:nvPr/>
        </p:nvSpPr>
        <p:spPr>
          <a:xfrm>
            <a:off x="4160520" y="245973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为什么要带转接板？</a:t>
            </a:r>
            <a:endParaRPr lang="en-US" sz="1350" dirty="0"/>
          </a:p>
        </p:txBody>
      </p:sp>
      <p:sp>
        <p:nvSpPr>
          <p:cNvPr id="34" name="Shape 24"/>
          <p:cNvSpPr/>
          <p:nvPr/>
        </p:nvSpPr>
        <p:spPr>
          <a:xfrm>
            <a:off x="4160520" y="2825496"/>
            <a:ext cx="2148840" cy="1746504"/>
          </a:xfrm>
          <a:prstGeom prst="roundRect">
            <a:avLst>
              <a:gd name="adj" fmla="val 6283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35" name="Text 25"/>
          <p:cNvSpPr txBox="1"/>
          <p:nvPr/>
        </p:nvSpPr>
        <p:spPr>
          <a:xfrm>
            <a:off x="4325112" y="2916936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4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 个</a:t>
            </a:r>
            <a:endParaRPr lang="en-US" sz="2400" dirty="0"/>
          </a:p>
        </p:txBody>
      </p:sp>
      <p:sp>
        <p:nvSpPr>
          <p:cNvPr id="36" name="Text 26"/>
          <p:cNvSpPr txBox="1"/>
          <p:nvPr/>
        </p:nvSpPr>
        <p:spPr>
          <a:xfrm>
            <a:off x="5120640" y="297180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不带转接板</a:t>
            </a:r>
            <a:endParaRPr lang="en-US" sz="1300" dirty="0"/>
          </a:p>
        </p:txBody>
      </p:sp>
      <p:sp>
        <p:nvSpPr>
          <p:cNvPr id="37" name="Text 27"/>
          <p:cNvSpPr txBox="1"/>
          <p:nvPr/>
        </p:nvSpPr>
        <p:spPr>
          <a:xfrm>
            <a:off x="4325112" y="3429000"/>
            <a:ext cx="1837944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要占 6 个 IO 口：RS、E 和 4 根数据线，还有电源、背光等线</a:t>
            </a:r>
            <a:endParaRPr lang="en-US" sz="1200" dirty="0"/>
          </a:p>
        </p:txBody>
      </p:sp>
      <p:sp>
        <p:nvSpPr>
          <p:cNvPr id="38" name="Shape 28"/>
          <p:cNvSpPr/>
          <p:nvPr/>
        </p:nvSpPr>
        <p:spPr>
          <a:xfrm>
            <a:off x="6583680" y="2825496"/>
            <a:ext cx="2148840" cy="1746504"/>
          </a:xfrm>
          <a:prstGeom prst="roundRect">
            <a:avLst>
              <a:gd name="adj" fmla="val 6283"/>
            </a:avLst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39" name="Text 29"/>
          <p:cNvSpPr txBox="1"/>
          <p:nvPr/>
        </p:nvSpPr>
        <p:spPr>
          <a:xfrm>
            <a:off x="6748272" y="2916936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4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 个</a:t>
            </a:r>
            <a:endParaRPr lang="en-US" sz="2400" dirty="0"/>
          </a:p>
        </p:txBody>
      </p:sp>
      <p:sp>
        <p:nvSpPr>
          <p:cNvPr id="40" name="Text 30"/>
          <p:cNvSpPr txBox="1"/>
          <p:nvPr/>
        </p:nvSpPr>
        <p:spPr>
          <a:xfrm>
            <a:off x="7543800" y="297180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带转接板</a:t>
            </a:r>
            <a:endParaRPr lang="en-US" sz="1300" dirty="0"/>
          </a:p>
        </p:txBody>
      </p:sp>
      <p:sp>
        <p:nvSpPr>
          <p:cNvPr id="41" name="Text 31"/>
          <p:cNvSpPr txBox="1"/>
          <p:nvPr/>
        </p:nvSpPr>
        <p:spPr>
          <a:xfrm>
            <a:off x="6748272" y="3429000"/>
            <a:ext cx="1837944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只占 A4、A5 两个口，一共 4 根线；省下的口留给别的传感器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39328" y="4736592"/>
            <a:ext cx="393192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B6B6B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4572000" y="4736592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实验二　LCD1602 显示屏</a:t>
            </a:r>
            <a:endParaRPr lang="en-US" sz="8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411480" y="27432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原理：I2C 总线——两根线，按“门牌号”找设备</a:t>
            </a:r>
            <a:endParaRPr lang="en-US" sz="24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411480" y="786384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SDA 传数据、SCL 打节拍；同一条总线能挂很多设备，Arduino 按地址（门牌号）找到要说话的那一个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11480" y="1280160"/>
            <a:ext cx="1005840" cy="1143000"/>
          </a:xfrm>
          <a:prstGeom prst="roundRect">
            <a:avLst>
              <a:gd name="adj" fmla="val 7273"/>
            </a:avLst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411480" y="137160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UNO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1033272" y="1737360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A4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1033272" y="2066544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A5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1417320" y="1847088"/>
            <a:ext cx="3977640" cy="91"/>
          </a:xfrm>
          <a:prstGeom prst="line">
            <a:avLst/>
          </a:prstGeom>
          <a:noFill/>
          <a:ln w="28575">
            <a:solidFill>
              <a:srgbClr val="1A9E92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417320" y="2176272"/>
            <a:ext cx="3977640" cy="91"/>
          </a:xfrm>
          <a:prstGeom prst="line">
            <a:avLst/>
          </a:prstGeom>
          <a:noFill/>
          <a:ln w="28575">
            <a:solidFill>
              <a:srgbClr val="2D2D2D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1508760" y="1572768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A9E9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SDA 数据线</a:t>
            </a:r>
            <a:endParaRPr lang="en-US" sz="1050" dirty="0"/>
          </a:p>
        </p:txBody>
      </p:sp>
      <p:sp>
        <p:nvSpPr>
          <p:cNvPr id="13" name="Text 10"/>
          <p:cNvSpPr txBox="1"/>
          <p:nvPr/>
        </p:nvSpPr>
        <p:spPr>
          <a:xfrm>
            <a:off x="1508760" y="1901952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SCL 时钟线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2560320" y="1847088"/>
            <a:ext cx="91" cy="987552"/>
          </a:xfrm>
          <a:prstGeom prst="line">
            <a:avLst/>
          </a:prstGeom>
          <a:noFill/>
          <a:ln w="15875">
            <a:solidFill>
              <a:srgbClr val="1A9E92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2834640" y="2176272"/>
            <a:ext cx="91" cy="658368"/>
          </a:xfrm>
          <a:prstGeom prst="line">
            <a:avLst/>
          </a:prstGeom>
          <a:noFill/>
          <a:ln w="15875">
            <a:solidFill>
              <a:srgbClr val="2D2D2D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2523744" y="1810512"/>
            <a:ext cx="73152" cy="73152"/>
          </a:xfrm>
          <a:prstGeom prst="ellipse">
            <a:avLst/>
          </a:prstGeom>
          <a:solidFill>
            <a:srgbClr val="1A9E92"/>
          </a:solidFill>
          <a:ln w="12700">
            <a:solidFill>
              <a:srgbClr val="1A9E92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2798064" y="2139696"/>
            <a:ext cx="73152" cy="73152"/>
          </a:xfrm>
          <a:prstGeom prst="ellipse">
            <a:avLst/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2240280" y="2834640"/>
            <a:ext cx="914400" cy="749808"/>
          </a:xfrm>
          <a:prstGeom prst="roundRect">
            <a:avLst>
              <a:gd name="adj" fmla="val 14634"/>
            </a:avLst>
          </a:prstGeom>
          <a:solidFill>
            <a:srgbClr val="E3FAF7"/>
          </a:solidFill>
          <a:ln w="9525">
            <a:solidFill>
              <a:srgbClr val="1A9E92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2276856" y="2889504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LCD1602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2414016" y="3236976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2414016" y="3236976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0x27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3685032" y="1847088"/>
            <a:ext cx="91" cy="987552"/>
          </a:xfrm>
          <a:prstGeom prst="line">
            <a:avLst/>
          </a:prstGeom>
          <a:noFill/>
          <a:ln w="15875">
            <a:solidFill>
              <a:srgbClr val="1A9E92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3959352" y="2176272"/>
            <a:ext cx="91" cy="658368"/>
          </a:xfrm>
          <a:prstGeom prst="line">
            <a:avLst/>
          </a:prstGeom>
          <a:noFill/>
          <a:ln w="15875">
            <a:solidFill>
              <a:srgbClr val="2D2D2D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3648456" y="1810512"/>
            <a:ext cx="73152" cy="73152"/>
          </a:xfrm>
          <a:prstGeom prst="ellipse">
            <a:avLst/>
          </a:prstGeom>
          <a:solidFill>
            <a:srgbClr val="1A9E92"/>
          </a:solidFill>
          <a:ln w="12700">
            <a:solidFill>
              <a:srgbClr val="1A9E92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3922776" y="2139696"/>
            <a:ext cx="73152" cy="73152"/>
          </a:xfrm>
          <a:prstGeom prst="ellipse">
            <a:avLst/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3364992" y="2834640"/>
            <a:ext cx="914400" cy="749808"/>
          </a:xfrm>
          <a:prstGeom prst="roundRect">
            <a:avLst>
              <a:gd name="adj" fmla="val 14634"/>
            </a:avLst>
          </a:prstGeom>
          <a:solidFill>
            <a:srgbClr val="F5F5F5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3401568" y="2889504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另一块 LCD</a:t>
            </a:r>
            <a:endParaRPr lang="en-US" sz="1150" dirty="0"/>
          </a:p>
        </p:txBody>
      </p:sp>
      <p:sp>
        <p:nvSpPr>
          <p:cNvPr id="28" name="Shape 25"/>
          <p:cNvSpPr/>
          <p:nvPr/>
        </p:nvSpPr>
        <p:spPr>
          <a:xfrm>
            <a:off x="3538728" y="3236976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3538728" y="3236976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0x26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4800600" y="1847088"/>
            <a:ext cx="91" cy="987552"/>
          </a:xfrm>
          <a:prstGeom prst="line">
            <a:avLst/>
          </a:prstGeom>
          <a:noFill/>
          <a:ln w="15875">
            <a:solidFill>
              <a:srgbClr val="1A9E92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5074920" y="2176272"/>
            <a:ext cx="91" cy="658368"/>
          </a:xfrm>
          <a:prstGeom prst="line">
            <a:avLst/>
          </a:prstGeom>
          <a:noFill/>
          <a:ln w="15875">
            <a:solidFill>
              <a:srgbClr val="2D2D2D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4764024" y="1810512"/>
            <a:ext cx="73152" cy="73152"/>
          </a:xfrm>
          <a:prstGeom prst="ellipse">
            <a:avLst/>
          </a:prstGeom>
          <a:solidFill>
            <a:srgbClr val="1A9E92"/>
          </a:solidFill>
          <a:ln w="12700">
            <a:solidFill>
              <a:srgbClr val="1A9E92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5038344" y="2139696"/>
            <a:ext cx="73152" cy="73152"/>
          </a:xfrm>
          <a:prstGeom prst="ellipse">
            <a:avLst/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4480560" y="2834640"/>
            <a:ext cx="914400" cy="749808"/>
          </a:xfrm>
          <a:prstGeom prst="roundRect">
            <a:avLst>
              <a:gd name="adj" fmla="val 14634"/>
            </a:avLst>
          </a:prstGeom>
          <a:solidFill>
            <a:srgbClr val="F5F5F5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517136" y="2889504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OLED 屏</a:t>
            </a:r>
            <a:endParaRPr lang="en-US" sz="1150" dirty="0"/>
          </a:p>
        </p:txBody>
      </p:sp>
      <p:sp>
        <p:nvSpPr>
          <p:cNvPr id="36" name="Shape 33"/>
          <p:cNvSpPr/>
          <p:nvPr/>
        </p:nvSpPr>
        <p:spPr>
          <a:xfrm>
            <a:off x="4654296" y="3236976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4654296" y="3236976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0x3C</a:t>
            </a:r>
            <a:endParaRPr lang="en-US" sz="1050" dirty="0"/>
          </a:p>
        </p:txBody>
      </p:sp>
      <p:sp>
        <p:nvSpPr>
          <p:cNvPr id="38" name="Shape 35"/>
          <p:cNvSpPr/>
          <p:nvPr/>
        </p:nvSpPr>
        <p:spPr>
          <a:xfrm>
            <a:off x="502920" y="2999232"/>
            <a:ext cx="420624" cy="420624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3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870" y="3100182"/>
            <a:ext cx="218724" cy="218724"/>
          </a:xfrm>
          <a:prstGeom prst="rect">
            <a:avLst/>
          </a:prstGeom>
        </p:spPr>
      </p:pic>
      <p:sp>
        <p:nvSpPr>
          <p:cNvPr id="40" name="Text 36"/>
          <p:cNvSpPr txBox="1"/>
          <p:nvPr/>
        </p:nvSpPr>
        <p:spPr>
          <a:xfrm>
            <a:off x="996696" y="2926080"/>
            <a:ext cx="822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门牌号</a:t>
            </a:r>
            <a:endParaRPr lang="en-US" sz="11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（地址）</a:t>
            </a:r>
            <a:endParaRPr lang="en-US" sz="1100" dirty="0"/>
          </a:p>
        </p:txBody>
      </p:sp>
      <p:sp>
        <p:nvSpPr>
          <p:cNvPr id="41" name="Shape 37"/>
          <p:cNvSpPr/>
          <p:nvPr/>
        </p:nvSpPr>
        <p:spPr>
          <a:xfrm>
            <a:off x="1691640" y="3355848"/>
            <a:ext cx="667512" cy="91"/>
          </a:xfrm>
          <a:prstGeom prst="line">
            <a:avLst/>
          </a:prstGeom>
          <a:noFill/>
          <a:ln w="12700">
            <a:solidFill>
              <a:srgbClr val="6B6B6B"/>
            </a:solidFill>
            <a:prstDash val="solid"/>
            <a:tailEnd type="triangle"/>
          </a:ln>
        </p:spPr>
      </p:sp>
      <p:sp>
        <p:nvSpPr>
          <p:cNvPr id="42" name="Shape 38"/>
          <p:cNvSpPr/>
          <p:nvPr/>
        </p:nvSpPr>
        <p:spPr>
          <a:xfrm>
            <a:off x="411480" y="3858768"/>
            <a:ext cx="4983480" cy="713232"/>
          </a:xfrm>
          <a:prstGeom prst="roundRect">
            <a:avLst>
              <a:gd name="adj" fmla="val 15385"/>
            </a:avLst>
          </a:prstGeom>
          <a:solidFill>
            <a:srgbClr val="E3FAF7"/>
          </a:solidFill>
          <a:ln w="12700">
            <a:solidFill>
              <a:srgbClr val="E3FAF7"/>
            </a:solidFill>
            <a:prstDash val="solid"/>
          </a:ln>
        </p:spPr>
      </p:sp>
      <p:sp>
        <p:nvSpPr>
          <p:cNvPr id="43" name="Text 39"/>
          <p:cNvSpPr txBox="1"/>
          <p:nvPr/>
        </p:nvSpPr>
        <p:spPr>
          <a:xfrm>
            <a:off x="594360" y="3858768"/>
            <a:ext cx="4617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像一条街：</a:t>
            </a:r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SDA、SCL 是街道，设备是住户。Arduino 喊“0x27 号”，只有门牌是 0x27 的设备回应。</a:t>
            </a:r>
            <a:endParaRPr lang="en-US" sz="1250" dirty="0"/>
          </a:p>
        </p:txBody>
      </p:sp>
      <p:sp>
        <p:nvSpPr>
          <p:cNvPr id="44" name="Shape 40"/>
          <p:cNvSpPr/>
          <p:nvPr/>
        </p:nvSpPr>
        <p:spPr>
          <a:xfrm>
            <a:off x="5669280" y="1234440"/>
            <a:ext cx="3063240" cy="3337560"/>
          </a:xfrm>
          <a:prstGeom prst="roundRect">
            <a:avLst>
              <a:gd name="adj" fmla="val 3582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45" name="Shape 41"/>
          <p:cNvSpPr/>
          <p:nvPr/>
        </p:nvSpPr>
        <p:spPr>
          <a:xfrm>
            <a:off x="5852160" y="1399032"/>
            <a:ext cx="365760" cy="365760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4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39942" y="1486814"/>
            <a:ext cx="190195" cy="190195"/>
          </a:xfrm>
          <a:prstGeom prst="rect">
            <a:avLst/>
          </a:prstGeom>
        </p:spPr>
      </p:pic>
      <p:sp>
        <p:nvSpPr>
          <p:cNvPr id="47" name="Text 42"/>
          <p:cNvSpPr txBox="1"/>
          <p:nvPr/>
        </p:nvSpPr>
        <p:spPr>
          <a:xfrm>
            <a:off x="6327648" y="1399032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0x27 是多少？</a:t>
            </a:r>
            <a:endParaRPr lang="en-US" sz="1500" dirty="0"/>
          </a:p>
        </p:txBody>
      </p:sp>
      <p:sp>
        <p:nvSpPr>
          <p:cNvPr id="48" name="Text 43"/>
          <p:cNvSpPr txBox="1"/>
          <p:nvPr/>
        </p:nvSpPr>
        <p:spPr>
          <a:xfrm>
            <a:off x="5852160" y="1874520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0x 开头表示十六进制（逢 16 进 1）</a:t>
            </a:r>
            <a:endParaRPr lang="en-US" sz="1200" dirty="0"/>
          </a:p>
        </p:txBody>
      </p:sp>
      <p:sp>
        <p:nvSpPr>
          <p:cNvPr id="49" name="Shape 44"/>
          <p:cNvSpPr/>
          <p:nvPr/>
        </p:nvSpPr>
        <p:spPr>
          <a:xfrm>
            <a:off x="5852160" y="2221992"/>
            <a:ext cx="2697480" cy="512064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50" name="Text 45"/>
          <p:cNvSpPr txBox="1"/>
          <p:nvPr/>
        </p:nvSpPr>
        <p:spPr>
          <a:xfrm>
            <a:off x="5852160" y="2221992"/>
            <a:ext cx="2697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0x27</a:t>
            </a:r>
            <a:pPr algn="ctr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= 2 × 16 + 7 = </a:t>
            </a:r>
            <a:pPr algn="ctr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39</a:t>
            </a:r>
            <a:endParaRPr lang="en-US" sz="16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852160" y="2935224"/>
          <a:ext cx="2697480" cy="914400"/>
        </p:xfrm>
        <a:graphic>
          <a:graphicData uri="http://schemas.openxmlformats.org/drawingml/2006/table">
            <a:tbl>
              <a:tblPr/>
              <a:tblGrid>
                <a:gridCol w="1348740"/>
                <a:gridCol w="1348740"/>
              </a:tblGrid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十进制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十六进制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32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0x20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…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…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39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0x27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2" name="Text 46"/>
          <p:cNvSpPr txBox="1"/>
          <p:nvPr/>
        </p:nvSpPr>
        <p:spPr>
          <a:xfrm>
            <a:off x="5852160" y="3977640"/>
            <a:ext cx="2697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跳线可把地址设成 0x20～0x27，一块 Arduino 能接好几块屏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39328" y="4736592"/>
            <a:ext cx="393192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B6B6B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4572000" y="4736592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实验二　LCD1602 显示屏</a:t>
            </a:r>
            <a:endParaRPr lang="en-US" sz="8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411480" y="27432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接线：4 根线，SDA 接 A4、SCL 接 A5</a:t>
            </a:r>
            <a:endParaRPr lang="en-US" sz="24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411480" y="786384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先把转接板焊在屏幕背面，再接 4 根线：GND → GND、VCC → 5V、SDA → A4、SCL → A5</a:t>
            </a:r>
            <a:endParaRPr lang="en-US" sz="12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234440"/>
          <a:ext cx="3246120" cy="914400"/>
        </p:xfrm>
        <a:graphic>
          <a:graphicData uri="http://schemas.openxmlformats.org/drawingml/2006/table">
            <a:tbl>
              <a:tblPr/>
              <a:tblGrid>
                <a:gridCol w="1623060"/>
                <a:gridCol w="1623060"/>
              </a:tblGrid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LCD1602 模块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Arduino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GND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GND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VCC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5V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SDA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A4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SCL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A5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411480" y="3063240"/>
            <a:ext cx="3246120" cy="1508760"/>
          </a:xfrm>
          <a:prstGeom prst="roundRect">
            <a:avLst>
              <a:gd name="adj" fmla="val 7273"/>
            </a:avLst>
          </a:prstGeom>
          <a:solidFill>
            <a:srgbClr val="E3FAF7"/>
          </a:solidFill>
          <a:ln w="12700">
            <a:solidFill>
              <a:srgbClr val="E3FAF7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557784" y="3209544"/>
            <a:ext cx="329184" cy="329184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6788" y="3288548"/>
            <a:ext cx="171176" cy="171176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1014984" y="3200400"/>
            <a:ext cx="2496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记一记</a:t>
            </a:r>
            <a:endParaRPr lang="en-US" sz="1300" dirty="0"/>
          </a:p>
        </p:txBody>
      </p:sp>
      <p:sp>
        <p:nvSpPr>
          <p:cNvPr id="11" name="Text 6"/>
          <p:cNvSpPr txBox="1"/>
          <p:nvPr/>
        </p:nvSpPr>
        <p:spPr>
          <a:xfrm>
            <a:off x="1014984" y="3511296"/>
            <a:ext cx="24963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SDA（数据）→ A4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SCL（时钟）→ A5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AREF 旁的 SDA、SCL 排针和 A4、A5 相通，接哪组都行。</a:t>
            </a:r>
            <a:endParaRPr lang="en-US" sz="1200" dirty="0"/>
          </a:p>
        </p:txBody>
      </p:sp>
      <p:sp>
        <p:nvSpPr>
          <p:cNvPr id="12" name="Shape 7"/>
          <p:cNvSpPr/>
          <p:nvPr/>
        </p:nvSpPr>
        <p:spPr>
          <a:xfrm>
            <a:off x="3931920" y="1234440"/>
            <a:ext cx="4800600" cy="3337560"/>
          </a:xfrm>
          <a:prstGeom prst="roundRect">
            <a:avLst>
              <a:gd name="adj" fmla="val 3288"/>
            </a:avLst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</p:sp>
      <p:pic>
        <p:nvPicPr>
          <p:cNvPr id="13" name="Image 1" descr="原指南接线图：红 5V · 黑 GND · 黄 A4（SDA）· 蓝 A5（SCL）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2444" y="1344168"/>
            <a:ext cx="4359553" cy="2843784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4041648" y="4224528"/>
            <a:ext cx="4581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原指南接线图：红 5V · 黑 GND · 黄 A4（SDA）· 蓝 A5（SCL）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39328" y="4736592"/>
            <a:ext cx="393192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B6B6B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4572000" y="4736592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实验二　LCD1602 显示屏</a:t>
            </a:r>
            <a:endParaRPr lang="en-US" sz="8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411480" y="27432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实物连接：对照照片检查一遍</a:t>
            </a:r>
            <a:endParaRPr lang="en-US" sz="24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411480" y="786384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杜邦线插在转接板的 4 根排针上，另一头接 UNO 的 5V、GND、A4、A5，接好再插 USB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11480" y="1234440"/>
            <a:ext cx="4937760" cy="3337560"/>
          </a:xfrm>
          <a:prstGeom prst="roundRect">
            <a:avLst>
              <a:gd name="adj" fmla="val 3288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pic>
        <p:nvPicPr>
          <p:cNvPr id="7" name="Image 0" descr="原指南实物连接照片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1208" y="1347663"/>
            <a:ext cx="4718304" cy="283679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521208" y="4224528"/>
            <a:ext cx="47183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原指南实物连接照片</a:t>
            </a:r>
            <a:endParaRPr lang="en-US" sz="1000" dirty="0"/>
          </a:p>
        </p:txBody>
      </p:sp>
      <p:sp>
        <p:nvSpPr>
          <p:cNvPr id="9" name="Text 5"/>
          <p:cNvSpPr txBox="1"/>
          <p:nvPr/>
        </p:nvSpPr>
        <p:spPr>
          <a:xfrm>
            <a:off x="5623560" y="123444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接线检查</a:t>
            </a:r>
            <a:endParaRPr lang="en-US" sz="1500" dirty="0"/>
          </a:p>
        </p:txBody>
      </p:sp>
      <p:sp>
        <p:nvSpPr>
          <p:cNvPr id="10" name="Shape 6"/>
          <p:cNvSpPr/>
          <p:nvPr/>
        </p:nvSpPr>
        <p:spPr>
          <a:xfrm>
            <a:off x="5623560" y="1655064"/>
            <a:ext cx="274320" cy="274320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5623560" y="16550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</a:t>
            </a:r>
            <a:endParaRPr lang="en-US" sz="1100" dirty="0"/>
          </a:p>
        </p:txBody>
      </p:sp>
      <p:sp>
        <p:nvSpPr>
          <p:cNvPr id="12" name="Text 8"/>
          <p:cNvSpPr txBox="1"/>
          <p:nvPr/>
        </p:nvSpPr>
        <p:spPr>
          <a:xfrm>
            <a:off x="6025896" y="1683083"/>
            <a:ext cx="2706624" cy="2365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先拔掉 USB，再接线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5623560" y="2112264"/>
            <a:ext cx="274320" cy="274320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5623560" y="21122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Text 11"/>
          <p:cNvSpPr txBox="1"/>
          <p:nvPr/>
        </p:nvSpPr>
        <p:spPr>
          <a:xfrm>
            <a:off x="6025896" y="2140283"/>
            <a:ext cx="2706624" cy="2365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VCC 接 5V，不要接 3.3V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5623560" y="2569464"/>
            <a:ext cx="274320" cy="274320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5623560" y="25694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Text 14"/>
          <p:cNvSpPr txBox="1"/>
          <p:nvPr/>
        </p:nvSpPr>
        <p:spPr>
          <a:xfrm>
            <a:off x="6025896" y="2597483"/>
            <a:ext cx="2706624" cy="2365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SDA → A4，SCL → A5，别接反</a:t>
            </a:r>
            <a:endParaRPr lang="en-US" sz="1250" dirty="0"/>
          </a:p>
        </p:txBody>
      </p:sp>
      <p:sp>
        <p:nvSpPr>
          <p:cNvPr id="19" name="Shape 15"/>
          <p:cNvSpPr/>
          <p:nvPr/>
        </p:nvSpPr>
        <p:spPr>
          <a:xfrm>
            <a:off x="5623560" y="3026664"/>
            <a:ext cx="274320" cy="274320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5623560" y="30266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</a:t>
            </a:r>
            <a:endParaRPr lang="en-US" sz="1100" dirty="0"/>
          </a:p>
        </p:txBody>
      </p:sp>
      <p:sp>
        <p:nvSpPr>
          <p:cNvPr id="21" name="Text 17"/>
          <p:cNvSpPr txBox="1"/>
          <p:nvPr/>
        </p:nvSpPr>
        <p:spPr>
          <a:xfrm>
            <a:off x="6025896" y="3054683"/>
            <a:ext cx="2706624" cy="2365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插上 USB：背光亮 = 电源接对了</a:t>
            </a:r>
            <a:endParaRPr lang="en-US" sz="1250" dirty="0"/>
          </a:p>
        </p:txBody>
      </p:sp>
      <p:sp>
        <p:nvSpPr>
          <p:cNvPr id="22" name="Shape 18"/>
          <p:cNvSpPr/>
          <p:nvPr/>
        </p:nvSpPr>
        <p:spPr>
          <a:xfrm>
            <a:off x="5623560" y="3703320"/>
            <a:ext cx="3108960" cy="868680"/>
          </a:xfrm>
          <a:prstGeom prst="roundRect">
            <a:avLst>
              <a:gd name="adj" fmla="val 12632"/>
            </a:avLst>
          </a:prstGeom>
          <a:solidFill>
            <a:srgbClr val="E3FAF7"/>
          </a:solidFill>
          <a:ln w="12700">
            <a:solidFill>
              <a:srgbClr val="E3FAF7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5769864" y="3973068"/>
            <a:ext cx="329184" cy="329184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8868" y="4052072"/>
            <a:ext cx="171176" cy="171176"/>
          </a:xfrm>
          <a:prstGeom prst="rect">
            <a:avLst/>
          </a:prstGeom>
        </p:spPr>
      </p:pic>
      <p:sp>
        <p:nvSpPr>
          <p:cNvPr id="25" name="Text 20"/>
          <p:cNvSpPr txBox="1"/>
          <p:nvPr/>
        </p:nvSpPr>
        <p:spPr>
          <a:xfrm>
            <a:off x="6208776" y="3703320"/>
            <a:ext cx="241401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背光亮 ≠ 能显示字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还要找到地址、上传程序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39328" y="4736592"/>
            <a:ext cx="393192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B6B6B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4572000" y="4736592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实验二　LCD1602 显示屏</a:t>
            </a:r>
            <a:endParaRPr lang="en-US" sz="8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411480" y="27432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新语法④：Wire 库——挨家“敲门”找地址</a:t>
            </a:r>
            <a:endParaRPr lang="en-US" sz="24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411480" y="786384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扫描程序用 for 循环把 8～119 号地址挨个“敲一遍门”，谁应答，就把谁的地址打印出来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11480" y="1234440"/>
            <a:ext cx="4206240" cy="3337560"/>
          </a:xfrm>
          <a:prstGeom prst="roundRect">
            <a:avLst>
              <a:gd name="adj" fmla="val 3288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94360" y="1399032"/>
            <a:ext cx="384048" cy="384048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6532" y="1491204"/>
            <a:ext cx="199705" cy="199705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106424" y="1399032"/>
            <a:ext cx="33284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像挨家挨户敲门</a:t>
            </a:r>
            <a:endParaRPr lang="en-US" sz="1500" dirty="0"/>
          </a:p>
        </p:txBody>
      </p:sp>
      <p:sp>
        <p:nvSpPr>
          <p:cNvPr id="10" name="Shape 6"/>
          <p:cNvSpPr/>
          <p:nvPr/>
        </p:nvSpPr>
        <p:spPr>
          <a:xfrm>
            <a:off x="594360" y="1911096"/>
            <a:ext cx="438912" cy="457200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594360" y="1911096"/>
            <a:ext cx="438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1124712" y="1911096"/>
            <a:ext cx="438912" cy="457200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1124712" y="1911096"/>
            <a:ext cx="438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1655064" y="1911096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…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2020824" y="1911096"/>
            <a:ext cx="438912" cy="457200"/>
          </a:xfrm>
          <a:prstGeom prst="roundRect">
            <a:avLst>
              <a:gd name="adj" fmla="val 10417"/>
            </a:avLst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2020824" y="1911096"/>
            <a:ext cx="438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39</a:t>
            </a:r>
            <a:endParaRPr lang="en-US" sz="1200" dirty="0"/>
          </a:p>
        </p:txBody>
      </p:sp>
      <p:sp>
        <p:nvSpPr>
          <p:cNvPr id="17" name="Text 13"/>
          <p:cNvSpPr txBox="1"/>
          <p:nvPr/>
        </p:nvSpPr>
        <p:spPr>
          <a:xfrm>
            <a:off x="1837944" y="2386584"/>
            <a:ext cx="804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A9E9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应答！</a:t>
            </a:r>
            <a:endParaRPr lang="en-US" sz="1100" dirty="0"/>
          </a:p>
        </p:txBody>
      </p:sp>
      <p:sp>
        <p:nvSpPr>
          <p:cNvPr id="18" name="Text 14"/>
          <p:cNvSpPr txBox="1"/>
          <p:nvPr/>
        </p:nvSpPr>
        <p:spPr>
          <a:xfrm>
            <a:off x="2551176" y="1911096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…</a:t>
            </a:r>
            <a:endParaRPr lang="en-US" sz="1400" dirty="0"/>
          </a:p>
        </p:txBody>
      </p:sp>
      <p:sp>
        <p:nvSpPr>
          <p:cNvPr id="19" name="Shape 15"/>
          <p:cNvSpPr/>
          <p:nvPr/>
        </p:nvSpPr>
        <p:spPr>
          <a:xfrm>
            <a:off x="2916936" y="1911096"/>
            <a:ext cx="438912" cy="457200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2916936" y="1911096"/>
            <a:ext cx="438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119</a:t>
            </a:r>
            <a:endParaRPr lang="en-US" sz="1200" dirty="0"/>
          </a:p>
        </p:txBody>
      </p:sp>
      <p:sp>
        <p:nvSpPr>
          <p:cNvPr id="21" name="Text 17"/>
          <p:cNvSpPr txBox="1"/>
          <p:nvPr/>
        </p:nvSpPr>
        <p:spPr>
          <a:xfrm>
            <a:off x="3465576" y="1911096"/>
            <a:ext cx="987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其他门没人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594360" y="2697480"/>
            <a:ext cx="3840480" cy="894080"/>
          </a:xfrm>
          <a:prstGeom prst="roundRect">
            <a:avLst>
              <a:gd name="adj" fmla="val 8182"/>
            </a:avLst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740664" y="2788920"/>
            <a:ext cx="3547872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</a:t>
            </a:r>
            <a:pPr indent="0" marL="0">
              <a:buNone/>
            </a:pPr>
            <a:r>
              <a:rPr lang="en-US" sz="10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buNone/>
            </a:pPr>
            <a:r>
              <a:rPr lang="en-US" sz="10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Wire</a:t>
            </a:r>
            <a:pPr indent="0" marL="0">
              <a:buNone/>
            </a:pPr>
            <a:r>
              <a:rPr lang="en-US" sz="10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</a:t>
            </a:r>
            <a:pPr indent="0" marL="0">
              <a:buNone/>
            </a:pPr>
            <a:r>
              <a:rPr lang="en-US" sz="10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            </a:t>
            </a:r>
            <a:pPr indent="0" marL="0">
              <a:buNone/>
            </a:pPr>
            <a:r>
              <a:rPr lang="en-US" sz="1000" dirty="0">
                <a:solidFill>
                  <a:srgbClr val="8E8E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IDE 自带</a:t>
            </a:r>
            <a:endParaRPr lang="en-US" sz="1000" dirty="0"/>
          </a:p>
        </p:txBody>
      </p:sp>
      <p:sp>
        <p:nvSpPr>
          <p:cNvPr id="24" name="Text 20"/>
          <p:cNvSpPr txBox="1"/>
          <p:nvPr/>
        </p:nvSpPr>
        <p:spPr>
          <a:xfrm>
            <a:off x="740664" y="2966720"/>
            <a:ext cx="3547872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Wire</a:t>
            </a:r>
            <a:pPr indent="0" marL="0">
              <a:buNone/>
            </a:pPr>
            <a:r>
              <a:rPr lang="en-US" sz="10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begin</a:t>
            </a:r>
            <a:pPr indent="0" marL="0">
              <a:buNone/>
            </a:pPr>
            <a:r>
              <a:rPr lang="en-US" sz="10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                 </a:t>
            </a:r>
            <a:pPr indent="0" marL="0">
              <a:buNone/>
            </a:pPr>
            <a:r>
              <a:rPr lang="en-US" sz="1000" dirty="0">
                <a:solidFill>
                  <a:srgbClr val="8E8E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加入 I2C 总线</a:t>
            </a:r>
            <a:endParaRPr lang="en-US" sz="1000" dirty="0"/>
          </a:p>
        </p:txBody>
      </p:sp>
      <p:sp>
        <p:nvSpPr>
          <p:cNvPr id="25" name="Text 21"/>
          <p:cNvSpPr txBox="1"/>
          <p:nvPr/>
        </p:nvSpPr>
        <p:spPr>
          <a:xfrm>
            <a:off x="740664" y="3144520"/>
            <a:ext cx="3547872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Wire</a:t>
            </a:r>
            <a:pPr indent="0" marL="0">
              <a:buNone/>
            </a:pPr>
            <a:r>
              <a:rPr lang="en-US" sz="10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beginTransmission</a:t>
            </a:r>
            <a:pPr indent="0" marL="0">
              <a:buNone/>
            </a:pPr>
            <a:r>
              <a:rPr lang="en-US" sz="10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39</a:t>
            </a:r>
            <a:pPr indent="0" marL="0">
              <a:buNone/>
            </a:pPr>
            <a:r>
              <a:rPr lang="en-US" sz="10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   </a:t>
            </a:r>
            <a:pPr indent="0" marL="0">
              <a:buNone/>
            </a:pPr>
            <a:r>
              <a:rPr lang="en-US" sz="1000" dirty="0">
                <a:solidFill>
                  <a:srgbClr val="8E8E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敲 39 号门</a:t>
            </a:r>
            <a:endParaRPr lang="en-US" sz="1000" dirty="0"/>
          </a:p>
        </p:txBody>
      </p:sp>
      <p:sp>
        <p:nvSpPr>
          <p:cNvPr id="26" name="Text 22"/>
          <p:cNvSpPr txBox="1"/>
          <p:nvPr/>
        </p:nvSpPr>
        <p:spPr>
          <a:xfrm>
            <a:off x="740664" y="3322320"/>
            <a:ext cx="3547872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Wire</a:t>
            </a:r>
            <a:pPr indent="0" marL="0">
              <a:buNone/>
            </a:pPr>
            <a:r>
              <a:rPr lang="en-US" sz="10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endTransmission</a:t>
            </a:r>
            <a:pPr indent="0" marL="0">
              <a:buNone/>
            </a:pPr>
            <a:r>
              <a:rPr lang="en-US" sz="10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== </a:t>
            </a:r>
            <a:pPr indent="0" marL="0">
              <a:buNone/>
            </a:pPr>
            <a:r>
              <a:rPr lang="en-US" sz="100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   </a:t>
            </a:r>
            <a:pPr indent="0" marL="0">
              <a:buNone/>
            </a:pPr>
            <a:r>
              <a:rPr lang="en-US" sz="1000" dirty="0">
                <a:solidFill>
                  <a:srgbClr val="8E8E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0 = 有人应答</a:t>
            </a:r>
            <a:endParaRPr lang="en-US" sz="1000" dirty="0"/>
          </a:p>
        </p:txBody>
      </p:sp>
      <p:sp>
        <p:nvSpPr>
          <p:cNvPr id="27" name="Text 23"/>
          <p:cNvSpPr txBox="1"/>
          <p:nvPr/>
        </p:nvSpPr>
        <p:spPr>
          <a:xfrm>
            <a:off x="594360" y="3719576"/>
            <a:ext cx="3840480" cy="760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程序里用 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(byte i = 8; i &lt; 120; i++)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从 8 号敲到 119 号。</a:t>
            </a:r>
            <a:endParaRPr lang="en-US" sz="1200" dirty="0"/>
          </a:p>
        </p:txBody>
      </p:sp>
      <p:sp>
        <p:nvSpPr>
          <p:cNvPr id="28" name="Shape 24"/>
          <p:cNvSpPr/>
          <p:nvPr/>
        </p:nvSpPr>
        <p:spPr>
          <a:xfrm>
            <a:off x="4892040" y="1234440"/>
            <a:ext cx="3840480" cy="1645920"/>
          </a:xfrm>
          <a:prstGeom prst="roundRect">
            <a:avLst>
              <a:gd name="adj" fmla="val 6667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5074920" y="1399032"/>
            <a:ext cx="365760" cy="365760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3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2702" y="1486814"/>
            <a:ext cx="190195" cy="190195"/>
          </a:xfrm>
          <a:prstGeom prst="rect">
            <a:avLst/>
          </a:prstGeom>
        </p:spPr>
      </p:pic>
      <p:sp>
        <p:nvSpPr>
          <p:cNvPr id="31" name="Text 26"/>
          <p:cNvSpPr txBox="1"/>
          <p:nvPr/>
        </p:nvSpPr>
        <p:spPr>
          <a:xfrm>
            <a:off x="5568696" y="1399032"/>
            <a:ext cx="29809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同一个数，两种写法</a:t>
            </a:r>
            <a:endParaRPr lang="en-US" sz="1500" dirty="0"/>
          </a:p>
        </p:txBody>
      </p:sp>
      <p:sp>
        <p:nvSpPr>
          <p:cNvPr id="32" name="Text 27"/>
          <p:cNvSpPr txBox="1"/>
          <p:nvPr/>
        </p:nvSpPr>
        <p:spPr>
          <a:xfrm>
            <a:off x="5074920" y="1892808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Serial.print(i, DEC)</a:t>
            </a:r>
            <a:endParaRPr lang="en-US" sz="1150" dirty="0"/>
          </a:p>
        </p:txBody>
      </p:sp>
      <p:sp>
        <p:nvSpPr>
          <p:cNvPr id="33" name="Text 28"/>
          <p:cNvSpPr txBox="1"/>
          <p:nvPr/>
        </p:nvSpPr>
        <p:spPr>
          <a:xfrm>
            <a:off x="7269480" y="189280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39</a:t>
            </a:r>
            <a:endParaRPr lang="en-US" sz="1200" dirty="0"/>
          </a:p>
        </p:txBody>
      </p:sp>
      <p:sp>
        <p:nvSpPr>
          <p:cNvPr id="34" name="Text 29"/>
          <p:cNvSpPr txBox="1"/>
          <p:nvPr/>
        </p:nvSpPr>
        <p:spPr>
          <a:xfrm>
            <a:off x="5074920" y="2167128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Serial.print(i, HEX)</a:t>
            </a:r>
            <a:endParaRPr lang="en-US" sz="1150" dirty="0"/>
          </a:p>
        </p:txBody>
      </p:sp>
      <p:sp>
        <p:nvSpPr>
          <p:cNvPr id="35" name="Text 30"/>
          <p:cNvSpPr txBox="1"/>
          <p:nvPr/>
        </p:nvSpPr>
        <p:spPr>
          <a:xfrm>
            <a:off x="7269480" y="216712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27</a:t>
            </a:r>
            <a:endParaRPr lang="en-US" sz="1200" dirty="0"/>
          </a:p>
        </p:txBody>
      </p:sp>
      <p:sp>
        <p:nvSpPr>
          <p:cNvPr id="36" name="Text 31"/>
          <p:cNvSpPr txBox="1"/>
          <p:nvPr/>
        </p:nvSpPr>
        <p:spPr>
          <a:xfrm>
            <a:off x="5074920" y="249631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byte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：装 0～255 的小整数，放地址正好够用</a:t>
            </a:r>
            <a:endParaRPr lang="en-US" sz="1200" dirty="0"/>
          </a:p>
        </p:txBody>
      </p:sp>
      <p:sp>
        <p:nvSpPr>
          <p:cNvPr id="37" name="Shape 32"/>
          <p:cNvSpPr/>
          <p:nvPr/>
        </p:nvSpPr>
        <p:spPr>
          <a:xfrm>
            <a:off x="4892040" y="3154680"/>
            <a:ext cx="384048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E5484D"/>
            </a:solidFill>
            <a:prstDash val="solid"/>
          </a:ln>
        </p:spPr>
      </p:sp>
      <p:sp>
        <p:nvSpPr>
          <p:cNvPr id="38" name="Shape 33"/>
          <p:cNvSpPr/>
          <p:nvPr/>
        </p:nvSpPr>
        <p:spPr>
          <a:xfrm>
            <a:off x="5056632" y="3319272"/>
            <a:ext cx="310896" cy="310896"/>
          </a:xfrm>
          <a:prstGeom prst="ellipse">
            <a:avLst/>
          </a:prstGeom>
          <a:solidFill>
            <a:srgbClr val="E5484D"/>
          </a:solidFill>
          <a:ln w="12700">
            <a:solidFill>
              <a:srgbClr val="E5484D"/>
            </a:solidFill>
            <a:prstDash val="solid"/>
          </a:ln>
        </p:spPr>
      </p:sp>
      <p:pic>
        <p:nvPicPr>
          <p:cNvPr id="3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1247" y="3393887"/>
            <a:ext cx="161666" cy="161666"/>
          </a:xfrm>
          <a:prstGeom prst="rect">
            <a:avLst/>
          </a:prstGeom>
        </p:spPr>
      </p:pic>
      <p:sp>
        <p:nvSpPr>
          <p:cNvPr id="40" name="Text 34"/>
          <p:cNvSpPr txBox="1"/>
          <p:nvPr/>
        </p:nvSpPr>
        <p:spPr>
          <a:xfrm>
            <a:off x="5477256" y="3319272"/>
            <a:ext cx="3090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E548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原指南程序少了一行</a:t>
            </a:r>
            <a:endParaRPr lang="en-US" sz="1350" dirty="0"/>
          </a:p>
        </p:txBody>
      </p:sp>
      <p:sp>
        <p:nvSpPr>
          <p:cNvPr id="41" name="Text 35"/>
          <p:cNvSpPr txBox="1"/>
          <p:nvPr/>
        </p:nvSpPr>
        <p:spPr>
          <a:xfrm>
            <a:off x="5056632" y="3721608"/>
            <a:ext cx="3511296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在最前面补上 </a:t>
            </a:r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&lt;Wire.h&gt;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。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不补这一行，编译会报错：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'Wire' was not declared in this scope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39328" y="4736592"/>
            <a:ext cx="393192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B6B6B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4572000" y="4736592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实验二　LCD1602 显示屏</a:t>
            </a:r>
            <a:endParaRPr lang="en-US" sz="8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411480" y="27432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程序①逐行看懂（1/2）：准备好，开始敲门</a:t>
            </a:r>
            <a:endParaRPr lang="en-US" sz="24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411480" y="786384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打开串口、加入 I2C 总线，然后让 i 从 8 数到 119，每个号码都敲一次门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11480" y="1234440"/>
            <a:ext cx="4709160" cy="2715768"/>
          </a:xfrm>
          <a:prstGeom prst="roundRect">
            <a:avLst>
              <a:gd name="adj" fmla="val 3367"/>
            </a:avLst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39496" y="1298448"/>
            <a:ext cx="2825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A9A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i2c_scanner.ino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2295144" y="1298448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A9A9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1–11 行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502920" y="1545336"/>
            <a:ext cx="218658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842254" y="1545336"/>
            <a:ext cx="4150370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setup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502920" y="1735328"/>
            <a:ext cx="218658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842254" y="1735328"/>
            <a:ext cx="4150370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502920" y="1925320"/>
            <a:ext cx="218658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842254" y="1925320"/>
            <a:ext cx="4150370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Serial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begin 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9600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 </a:t>
            </a:r>
            <a:pPr indent="0" marL="0">
              <a:buNone/>
            </a:pPr>
            <a:r>
              <a:rPr lang="en-US" sz="1100" i="1" dirty="0">
                <a:solidFill>
                  <a:srgbClr val="8E8E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Leonardo: wait for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502920" y="2115312"/>
            <a:ext cx="218658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↳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842254" y="2115312"/>
            <a:ext cx="4150370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E8E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serial port to connect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02920" y="2305304"/>
            <a:ext cx="218658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842254" y="2305304"/>
            <a:ext cx="4150370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10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(!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Serial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{ }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02920" y="2495296"/>
            <a:ext cx="218658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000" dirty="0"/>
          </a:p>
        </p:txBody>
      </p:sp>
      <p:sp>
        <p:nvSpPr>
          <p:cNvPr id="20" name="Text 17"/>
          <p:cNvSpPr txBox="1"/>
          <p:nvPr/>
        </p:nvSpPr>
        <p:spPr>
          <a:xfrm>
            <a:off x="842254" y="2495296"/>
            <a:ext cx="4150370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Serial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println 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502920" y="2685288"/>
            <a:ext cx="218658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000" dirty="0"/>
          </a:p>
        </p:txBody>
      </p:sp>
      <p:sp>
        <p:nvSpPr>
          <p:cNvPr id="22" name="Text 19"/>
          <p:cNvSpPr txBox="1"/>
          <p:nvPr/>
        </p:nvSpPr>
        <p:spPr>
          <a:xfrm>
            <a:off x="842254" y="2685288"/>
            <a:ext cx="4150370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Serial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println 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"I2C scanner. Scanning ..."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502920" y="2875280"/>
            <a:ext cx="218658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1000" dirty="0"/>
          </a:p>
        </p:txBody>
      </p:sp>
      <p:sp>
        <p:nvSpPr>
          <p:cNvPr id="24" name="Text 21"/>
          <p:cNvSpPr txBox="1"/>
          <p:nvPr/>
        </p:nvSpPr>
        <p:spPr>
          <a:xfrm>
            <a:off x="842254" y="2875280"/>
            <a:ext cx="4150370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10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byte </a:t>
            </a:r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 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</a:t>
            </a:r>
            <a:pPr indent="0" marL="0">
              <a:buNone/>
            </a:pPr>
            <a:r>
              <a:rPr lang="en-US" sz="110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57200" y="3065272"/>
            <a:ext cx="4617720" cy="189992"/>
          </a:xfrm>
          <a:prstGeom prst="rect">
            <a:avLst/>
          </a:prstGeom>
          <a:solidFill>
            <a:srgbClr val="3E5250"/>
          </a:solidFill>
          <a:ln w="12700">
            <a:solidFill>
              <a:srgbClr val="3E5250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502920" y="3065272"/>
            <a:ext cx="218658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1000" dirty="0"/>
          </a:p>
        </p:txBody>
      </p:sp>
      <p:sp>
        <p:nvSpPr>
          <p:cNvPr id="27" name="Text 24"/>
          <p:cNvSpPr txBox="1"/>
          <p:nvPr/>
        </p:nvSpPr>
        <p:spPr>
          <a:xfrm>
            <a:off x="842254" y="3065272"/>
            <a:ext cx="4150370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Wire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begin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457200" y="3255264"/>
            <a:ext cx="4617720" cy="189992"/>
          </a:xfrm>
          <a:prstGeom prst="rect">
            <a:avLst/>
          </a:prstGeom>
          <a:solidFill>
            <a:srgbClr val="3E5250"/>
          </a:solidFill>
          <a:ln w="12700">
            <a:solidFill>
              <a:srgbClr val="3E5250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502920" y="3255264"/>
            <a:ext cx="218658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endParaRPr lang="en-US" sz="1000" dirty="0"/>
          </a:p>
        </p:txBody>
      </p:sp>
      <p:sp>
        <p:nvSpPr>
          <p:cNvPr id="30" name="Text 27"/>
          <p:cNvSpPr txBox="1"/>
          <p:nvPr/>
        </p:nvSpPr>
        <p:spPr>
          <a:xfrm>
            <a:off x="842254" y="3255264"/>
            <a:ext cx="4150370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10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0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byte </a:t>
            </a:r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 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</a:t>
            </a:r>
            <a:pPr indent="0" marL="0">
              <a:buNone/>
            </a:pPr>
            <a:r>
              <a:rPr lang="en-US" sz="110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</a:t>
            </a:r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 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 </a:t>
            </a:r>
            <a:pPr indent="0" marL="0">
              <a:buNone/>
            </a:pPr>
            <a:r>
              <a:rPr lang="en-US" sz="110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120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</a:t>
            </a:r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++) {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457200" y="3445256"/>
            <a:ext cx="4617720" cy="189992"/>
          </a:xfrm>
          <a:prstGeom prst="rect">
            <a:avLst/>
          </a:prstGeom>
          <a:solidFill>
            <a:srgbClr val="3E5250"/>
          </a:solidFill>
          <a:ln w="12700">
            <a:solidFill>
              <a:srgbClr val="3E5250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502920" y="3445256"/>
            <a:ext cx="218658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000" dirty="0"/>
          </a:p>
        </p:txBody>
      </p:sp>
      <p:sp>
        <p:nvSpPr>
          <p:cNvPr id="33" name="Text 30"/>
          <p:cNvSpPr txBox="1"/>
          <p:nvPr/>
        </p:nvSpPr>
        <p:spPr>
          <a:xfrm>
            <a:off x="842254" y="3445256"/>
            <a:ext cx="4150370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Wire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beginTransmission 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3635248"/>
            <a:ext cx="4617720" cy="189992"/>
          </a:xfrm>
          <a:prstGeom prst="rect">
            <a:avLst/>
          </a:prstGeom>
          <a:solidFill>
            <a:srgbClr val="3E5250"/>
          </a:solidFill>
          <a:ln w="12700">
            <a:solidFill>
              <a:srgbClr val="3E5250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502920" y="3635248"/>
            <a:ext cx="218658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1000" dirty="0"/>
          </a:p>
        </p:txBody>
      </p:sp>
      <p:sp>
        <p:nvSpPr>
          <p:cNvPr id="36" name="Text 33"/>
          <p:cNvSpPr txBox="1"/>
          <p:nvPr/>
        </p:nvSpPr>
        <p:spPr>
          <a:xfrm>
            <a:off x="842254" y="3635248"/>
            <a:ext cx="4150370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10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Wire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endTransmission 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== </a:t>
            </a:r>
            <a:pPr indent="0" marL="0">
              <a:buNone/>
            </a:pPr>
            <a:r>
              <a:rPr lang="en-US" sz="110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{</a:t>
            </a: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5413248" y="1234440"/>
            <a:ext cx="3319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逐行看懂</a:t>
            </a:r>
            <a:endParaRPr lang="en-US" sz="1300" dirty="0"/>
          </a:p>
        </p:txBody>
      </p:sp>
      <p:sp>
        <p:nvSpPr>
          <p:cNvPr id="38" name="Shape 35"/>
          <p:cNvSpPr/>
          <p:nvPr/>
        </p:nvSpPr>
        <p:spPr>
          <a:xfrm>
            <a:off x="5413248" y="1600200"/>
            <a:ext cx="723392" cy="219456"/>
          </a:xfrm>
          <a:prstGeom prst="roundRect">
            <a:avLst>
              <a:gd name="adj" fmla="val 50000"/>
            </a:avLst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5413248" y="1600200"/>
            <a:ext cx="723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1–2 行</a:t>
            </a:r>
            <a:endParaRPr lang="en-US" sz="950" dirty="0"/>
          </a:p>
        </p:txBody>
      </p:sp>
      <p:sp>
        <p:nvSpPr>
          <p:cNvPr id="40" name="Text 37"/>
          <p:cNvSpPr txBox="1"/>
          <p:nvPr/>
        </p:nvSpPr>
        <p:spPr>
          <a:xfrm>
            <a:off x="6228080" y="1591056"/>
            <a:ext cx="2504440" cy="417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全部写在 setup() 里：扫描一次就够</a:t>
            </a:r>
            <a:endParaRPr lang="en-US" sz="1200" dirty="0"/>
          </a:p>
        </p:txBody>
      </p:sp>
      <p:sp>
        <p:nvSpPr>
          <p:cNvPr id="41" name="Shape 38"/>
          <p:cNvSpPr/>
          <p:nvPr/>
        </p:nvSpPr>
        <p:spPr>
          <a:xfrm>
            <a:off x="5413248" y="2036064"/>
            <a:ext cx="723392" cy="219456"/>
          </a:xfrm>
          <a:prstGeom prst="roundRect">
            <a:avLst>
              <a:gd name="adj" fmla="val 50000"/>
            </a:avLst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5413248" y="2036064"/>
            <a:ext cx="723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3–4 行</a:t>
            </a:r>
            <a:endParaRPr lang="en-US" sz="950" dirty="0"/>
          </a:p>
        </p:txBody>
      </p:sp>
      <p:sp>
        <p:nvSpPr>
          <p:cNvPr id="43" name="Text 40"/>
          <p:cNvSpPr txBox="1"/>
          <p:nvPr/>
        </p:nvSpPr>
        <p:spPr>
          <a:xfrm>
            <a:off x="6228080" y="2026920"/>
            <a:ext cx="250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打开串口 9600，等它准备好</a:t>
            </a:r>
            <a:endParaRPr lang="en-US" sz="1200" dirty="0"/>
          </a:p>
        </p:txBody>
      </p:sp>
      <p:sp>
        <p:nvSpPr>
          <p:cNvPr id="44" name="Shape 41"/>
          <p:cNvSpPr/>
          <p:nvPr/>
        </p:nvSpPr>
        <p:spPr>
          <a:xfrm>
            <a:off x="5413248" y="2480564"/>
            <a:ext cx="723392" cy="219456"/>
          </a:xfrm>
          <a:prstGeom prst="roundRect">
            <a:avLst>
              <a:gd name="adj" fmla="val 50000"/>
            </a:avLst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5413248" y="2480564"/>
            <a:ext cx="723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5–7 行</a:t>
            </a:r>
            <a:endParaRPr lang="en-US" sz="950" dirty="0"/>
          </a:p>
        </p:txBody>
      </p:sp>
      <p:sp>
        <p:nvSpPr>
          <p:cNvPr id="46" name="Text 43"/>
          <p:cNvSpPr txBox="1"/>
          <p:nvPr/>
        </p:nvSpPr>
        <p:spPr>
          <a:xfrm>
            <a:off x="6228080" y="2471420"/>
            <a:ext cx="250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打印标题；count 用来计数</a:t>
            </a:r>
            <a:endParaRPr lang="en-US" sz="1200" dirty="0"/>
          </a:p>
        </p:txBody>
      </p:sp>
      <p:sp>
        <p:nvSpPr>
          <p:cNvPr id="47" name="Shape 44"/>
          <p:cNvSpPr/>
          <p:nvPr/>
        </p:nvSpPr>
        <p:spPr>
          <a:xfrm>
            <a:off x="5413248" y="3050540"/>
            <a:ext cx="723392" cy="219456"/>
          </a:xfrm>
          <a:prstGeom prst="roundRect">
            <a:avLst>
              <a:gd name="adj" fmla="val 50000"/>
            </a:avLst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48" name="Text 45"/>
          <p:cNvSpPr txBox="1"/>
          <p:nvPr/>
        </p:nvSpPr>
        <p:spPr>
          <a:xfrm>
            <a:off x="5413248" y="3050540"/>
            <a:ext cx="723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8–9 行</a:t>
            </a:r>
            <a:endParaRPr lang="en-US" sz="950" dirty="0"/>
          </a:p>
        </p:txBody>
      </p:sp>
      <p:sp>
        <p:nvSpPr>
          <p:cNvPr id="49" name="Text 46"/>
          <p:cNvSpPr txBox="1"/>
          <p:nvPr/>
        </p:nvSpPr>
        <p:spPr>
          <a:xfrm>
            <a:off x="6228080" y="3041396"/>
            <a:ext cx="250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启动 I2C；i 从 8 数到 119</a:t>
            </a:r>
            <a:endParaRPr lang="en-US" sz="1200" dirty="0"/>
          </a:p>
        </p:txBody>
      </p:sp>
      <p:sp>
        <p:nvSpPr>
          <p:cNvPr id="50" name="Shape 47"/>
          <p:cNvSpPr/>
          <p:nvPr/>
        </p:nvSpPr>
        <p:spPr>
          <a:xfrm>
            <a:off x="5413248" y="3430524"/>
            <a:ext cx="877824" cy="219456"/>
          </a:xfrm>
          <a:prstGeom prst="roundRect">
            <a:avLst>
              <a:gd name="adj" fmla="val 50000"/>
            </a:avLst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51" name="Text 48"/>
          <p:cNvSpPr txBox="1"/>
          <p:nvPr/>
        </p:nvSpPr>
        <p:spPr>
          <a:xfrm>
            <a:off x="5413248" y="3430524"/>
            <a:ext cx="8778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10–11 行</a:t>
            </a:r>
            <a:endParaRPr lang="en-US" sz="950" dirty="0"/>
          </a:p>
        </p:txBody>
      </p:sp>
      <p:sp>
        <p:nvSpPr>
          <p:cNvPr id="52" name="Text 49"/>
          <p:cNvSpPr txBox="1"/>
          <p:nvPr/>
        </p:nvSpPr>
        <p:spPr>
          <a:xfrm>
            <a:off x="6382512" y="3421380"/>
            <a:ext cx="2350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敲 i 号的门：返回 0 = 有应答</a:t>
            </a:r>
            <a:endParaRPr lang="en-US" sz="1200" dirty="0"/>
          </a:p>
        </p:txBody>
      </p:sp>
      <p:sp>
        <p:nvSpPr>
          <p:cNvPr id="53" name="Shape 50"/>
          <p:cNvSpPr/>
          <p:nvPr/>
        </p:nvSpPr>
        <p:spPr>
          <a:xfrm>
            <a:off x="411480" y="4224528"/>
            <a:ext cx="8321040" cy="347472"/>
          </a:xfrm>
          <a:prstGeom prst="roundRect">
            <a:avLst>
              <a:gd name="adj" fmla="val 31579"/>
            </a:avLst>
          </a:prstGeom>
          <a:solidFill>
            <a:srgbClr val="FFFFFF"/>
          </a:solidFill>
          <a:ln w="12700">
            <a:solidFill>
              <a:srgbClr val="E5484D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539496" y="4270248"/>
            <a:ext cx="256032" cy="256032"/>
          </a:xfrm>
          <a:prstGeom prst="ellipse">
            <a:avLst/>
          </a:prstGeom>
          <a:solidFill>
            <a:srgbClr val="E5484D"/>
          </a:solidFill>
          <a:ln w="12700">
            <a:solidFill>
              <a:srgbClr val="E5484D"/>
            </a:solidFill>
            <a:prstDash val="solid"/>
          </a:ln>
        </p:spPr>
      </p:sp>
      <p:pic>
        <p:nvPicPr>
          <p:cNvPr id="5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0944" y="4331696"/>
            <a:ext cx="133137" cy="133137"/>
          </a:xfrm>
          <a:prstGeom prst="rect">
            <a:avLst/>
          </a:prstGeom>
        </p:spPr>
      </p:pic>
      <p:sp>
        <p:nvSpPr>
          <p:cNvPr id="56" name="Text 52"/>
          <p:cNvSpPr txBox="1"/>
          <p:nvPr/>
        </p:nvSpPr>
        <p:spPr>
          <a:xfrm>
            <a:off x="905256" y="4224528"/>
            <a:ext cx="76992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548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原指南这段程序漏了第一行：要在第 1 行之前补上 </a:t>
            </a:r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E548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&lt;Wire.h&gt;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548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，否则编译报错。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39328" y="4736592"/>
            <a:ext cx="393192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B6B6B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4572000" y="4736592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实验二　LCD1602 显示屏</a:t>
            </a:r>
            <a:endParaRPr lang="en-US" sz="8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411480" y="27432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程序①逐行看懂（2/2）：有人应答就打印</a:t>
            </a:r>
            <a:endParaRPr lang="en-US" sz="24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411480" y="786384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找到设备就用十进制和十六进制各打印一次地址，全部敲完再报告一共找到几个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11480" y="1234440"/>
            <a:ext cx="4709160" cy="3337560"/>
          </a:xfrm>
          <a:prstGeom prst="roundRect">
            <a:avLst>
              <a:gd name="adj" fmla="val 2740"/>
            </a:avLst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39496" y="1298448"/>
            <a:ext cx="2825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A9A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i2c_scanner.ino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2295144" y="1298448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A9A9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12–28 行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502920" y="1545336"/>
            <a:ext cx="188841" cy="1640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850" dirty="0"/>
          </a:p>
        </p:txBody>
      </p:sp>
      <p:sp>
        <p:nvSpPr>
          <p:cNvPr id="10" name="Text 7"/>
          <p:cNvSpPr txBox="1"/>
          <p:nvPr/>
        </p:nvSpPr>
        <p:spPr>
          <a:xfrm>
            <a:off x="800969" y="1545336"/>
            <a:ext cx="4191655" cy="1640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Serial</a:t>
            </a:r>
            <a:pPr indent="0" marL="0">
              <a:buNone/>
            </a:pPr>
            <a:r>
              <a:rPr lang="en-US" sz="9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 </a:t>
            </a:r>
            <a:pPr indent="0" marL="0">
              <a:buNone/>
            </a:pPr>
            <a:r>
              <a:rPr lang="en-US" sz="9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95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"Found address: "</a:t>
            </a:r>
            <a:pPr indent="0" marL="0">
              <a:buNone/>
            </a:pPr>
            <a:r>
              <a:rPr lang="en-US" sz="9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457200" y="1709420"/>
            <a:ext cx="4617720" cy="164084"/>
          </a:xfrm>
          <a:prstGeom prst="rect">
            <a:avLst/>
          </a:prstGeom>
          <a:solidFill>
            <a:srgbClr val="3E5250"/>
          </a:solidFill>
          <a:ln w="12700">
            <a:solidFill>
              <a:srgbClr val="3E5250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02920" y="1709420"/>
            <a:ext cx="188841" cy="1640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</a:t>
            </a:r>
            <a:endParaRPr lang="en-US" sz="850" dirty="0"/>
          </a:p>
        </p:txBody>
      </p:sp>
      <p:sp>
        <p:nvSpPr>
          <p:cNvPr id="13" name="Text 10"/>
          <p:cNvSpPr txBox="1"/>
          <p:nvPr/>
        </p:nvSpPr>
        <p:spPr>
          <a:xfrm>
            <a:off x="800969" y="1709420"/>
            <a:ext cx="4191655" cy="1640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Serial</a:t>
            </a:r>
            <a:pPr indent="0" marL="0">
              <a:buNone/>
            </a:pPr>
            <a:r>
              <a:rPr lang="en-US" sz="9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 </a:t>
            </a:r>
            <a:pPr indent="0" marL="0">
              <a:buNone/>
            </a:pPr>
            <a:r>
              <a:rPr lang="en-US" sz="9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9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pPr indent="0" marL="0">
              <a:buNone/>
            </a:pPr>
            <a:r>
              <a:rPr lang="en-US" sz="9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95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</a:t>
            </a:r>
            <a:pPr indent="0" marL="0">
              <a:buNone/>
            </a:pPr>
            <a:r>
              <a:rPr lang="en-US" sz="9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950" dirty="0"/>
          </a:p>
        </p:txBody>
      </p:sp>
      <p:sp>
        <p:nvSpPr>
          <p:cNvPr id="14" name="Text 11"/>
          <p:cNvSpPr txBox="1"/>
          <p:nvPr/>
        </p:nvSpPr>
        <p:spPr>
          <a:xfrm>
            <a:off x="502920" y="1873504"/>
            <a:ext cx="188841" cy="1640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</a:t>
            </a:r>
            <a:endParaRPr lang="en-US" sz="850" dirty="0"/>
          </a:p>
        </p:txBody>
      </p:sp>
      <p:sp>
        <p:nvSpPr>
          <p:cNvPr id="15" name="Text 12"/>
          <p:cNvSpPr txBox="1"/>
          <p:nvPr/>
        </p:nvSpPr>
        <p:spPr>
          <a:xfrm>
            <a:off x="800969" y="1873504"/>
            <a:ext cx="4191655" cy="1640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Serial</a:t>
            </a:r>
            <a:pPr indent="0" marL="0">
              <a:buNone/>
            </a:pPr>
            <a:r>
              <a:rPr lang="en-US" sz="9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 </a:t>
            </a:r>
            <a:pPr indent="0" marL="0">
              <a:buNone/>
            </a:pPr>
            <a:r>
              <a:rPr lang="en-US" sz="9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95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 (0x"</a:t>
            </a:r>
            <a:pPr indent="0" marL="0">
              <a:buNone/>
            </a:pPr>
            <a:r>
              <a:rPr lang="en-US" sz="9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457200" y="2037588"/>
            <a:ext cx="4617720" cy="164084"/>
          </a:xfrm>
          <a:prstGeom prst="rect">
            <a:avLst/>
          </a:prstGeom>
          <a:solidFill>
            <a:srgbClr val="3E5250"/>
          </a:solidFill>
          <a:ln w="12700">
            <a:solidFill>
              <a:srgbClr val="3E5250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02920" y="2037588"/>
            <a:ext cx="188841" cy="1640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</a:t>
            </a:r>
            <a:endParaRPr lang="en-US" sz="850" dirty="0"/>
          </a:p>
        </p:txBody>
      </p:sp>
      <p:sp>
        <p:nvSpPr>
          <p:cNvPr id="18" name="Text 15"/>
          <p:cNvSpPr txBox="1"/>
          <p:nvPr/>
        </p:nvSpPr>
        <p:spPr>
          <a:xfrm>
            <a:off x="800969" y="2037588"/>
            <a:ext cx="4191655" cy="1640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Serial</a:t>
            </a:r>
            <a:pPr indent="0" marL="0">
              <a:buNone/>
            </a:pPr>
            <a:r>
              <a:rPr lang="en-US" sz="9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 </a:t>
            </a:r>
            <a:pPr indent="0" marL="0">
              <a:buNone/>
            </a:pPr>
            <a:r>
              <a:rPr lang="en-US" sz="9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9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pPr indent="0" marL="0">
              <a:buNone/>
            </a:pPr>
            <a:r>
              <a:rPr lang="en-US" sz="9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95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HEX</a:t>
            </a:r>
            <a:pPr indent="0" marL="0">
              <a:buNone/>
            </a:pPr>
            <a:r>
              <a:rPr lang="en-US" sz="9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950" dirty="0"/>
          </a:p>
        </p:txBody>
      </p:sp>
      <p:sp>
        <p:nvSpPr>
          <p:cNvPr id="19" name="Text 16"/>
          <p:cNvSpPr txBox="1"/>
          <p:nvPr/>
        </p:nvSpPr>
        <p:spPr>
          <a:xfrm>
            <a:off x="502920" y="2201672"/>
            <a:ext cx="188841" cy="1640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</a:t>
            </a:r>
            <a:endParaRPr lang="en-US" sz="850" dirty="0"/>
          </a:p>
        </p:txBody>
      </p:sp>
      <p:sp>
        <p:nvSpPr>
          <p:cNvPr id="20" name="Text 17"/>
          <p:cNvSpPr txBox="1"/>
          <p:nvPr/>
        </p:nvSpPr>
        <p:spPr>
          <a:xfrm>
            <a:off x="800969" y="2201672"/>
            <a:ext cx="4191655" cy="1640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Serial</a:t>
            </a:r>
            <a:pPr indent="0" marL="0">
              <a:buNone/>
            </a:pPr>
            <a:r>
              <a:rPr lang="en-US" sz="9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println </a:t>
            </a:r>
            <a:pPr indent="0" marL="0">
              <a:buNone/>
            </a:pPr>
            <a:r>
              <a:rPr lang="en-US" sz="9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95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")"</a:t>
            </a:r>
            <a:pPr indent="0" marL="0">
              <a:buNone/>
            </a:pPr>
            <a:r>
              <a:rPr lang="en-US" sz="9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457200" y="2365756"/>
            <a:ext cx="4617720" cy="164084"/>
          </a:xfrm>
          <a:prstGeom prst="rect">
            <a:avLst/>
          </a:prstGeom>
          <a:solidFill>
            <a:srgbClr val="3E5250"/>
          </a:solidFill>
          <a:ln w="12700">
            <a:solidFill>
              <a:srgbClr val="3E5250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502920" y="2365756"/>
            <a:ext cx="188841" cy="1640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</a:t>
            </a:r>
            <a:endParaRPr lang="en-US" sz="850" dirty="0"/>
          </a:p>
        </p:txBody>
      </p:sp>
      <p:sp>
        <p:nvSpPr>
          <p:cNvPr id="23" name="Text 20"/>
          <p:cNvSpPr txBox="1"/>
          <p:nvPr/>
        </p:nvSpPr>
        <p:spPr>
          <a:xfrm>
            <a:off x="800969" y="2365756"/>
            <a:ext cx="4191655" cy="1640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count</a:t>
            </a:r>
            <a:pPr indent="0" marL="0">
              <a:buNone/>
            </a:pPr>
            <a:r>
              <a:rPr lang="en-US" sz="9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++;</a:t>
            </a:r>
            <a:endParaRPr lang="en-US" sz="950" dirty="0"/>
          </a:p>
        </p:txBody>
      </p:sp>
      <p:sp>
        <p:nvSpPr>
          <p:cNvPr id="24" name="Text 21"/>
          <p:cNvSpPr txBox="1"/>
          <p:nvPr/>
        </p:nvSpPr>
        <p:spPr>
          <a:xfrm>
            <a:off x="502920" y="2529840"/>
            <a:ext cx="188841" cy="1640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</a:t>
            </a:r>
            <a:endParaRPr lang="en-US" sz="850" dirty="0"/>
          </a:p>
        </p:txBody>
      </p:sp>
      <p:sp>
        <p:nvSpPr>
          <p:cNvPr id="25" name="Text 22"/>
          <p:cNvSpPr txBox="1"/>
          <p:nvPr/>
        </p:nvSpPr>
        <p:spPr>
          <a:xfrm>
            <a:off x="800969" y="2529840"/>
            <a:ext cx="4191655" cy="1640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delay </a:t>
            </a:r>
            <a:pPr indent="0" marL="0">
              <a:buNone/>
            </a:pPr>
            <a:r>
              <a:rPr lang="en-US" sz="9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95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indent="0" marL="0">
              <a:buNone/>
            </a:pPr>
            <a:r>
              <a:rPr lang="en-US" sz="9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 </a:t>
            </a:r>
            <a:pPr indent="0" marL="0">
              <a:buNone/>
            </a:pPr>
            <a:r>
              <a:rPr lang="en-US" sz="950" i="1" dirty="0">
                <a:solidFill>
                  <a:srgbClr val="8E8E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maybe unneeded?</a:t>
            </a:r>
            <a:endParaRPr lang="en-US" sz="950" dirty="0"/>
          </a:p>
        </p:txBody>
      </p:sp>
      <p:sp>
        <p:nvSpPr>
          <p:cNvPr id="26" name="Text 23"/>
          <p:cNvSpPr txBox="1"/>
          <p:nvPr/>
        </p:nvSpPr>
        <p:spPr>
          <a:xfrm>
            <a:off x="502920" y="2693924"/>
            <a:ext cx="188841" cy="1640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</a:t>
            </a:r>
            <a:endParaRPr lang="en-US" sz="850" dirty="0"/>
          </a:p>
        </p:txBody>
      </p:sp>
      <p:sp>
        <p:nvSpPr>
          <p:cNvPr id="27" name="Text 24"/>
          <p:cNvSpPr txBox="1"/>
          <p:nvPr/>
        </p:nvSpPr>
        <p:spPr>
          <a:xfrm>
            <a:off x="800969" y="2693924"/>
            <a:ext cx="4191655" cy="1640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9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</a:t>
            </a:r>
            <a:pPr indent="0" marL="0">
              <a:buNone/>
            </a:pPr>
            <a:r>
              <a:rPr lang="en-US" sz="950" i="1" dirty="0">
                <a:solidFill>
                  <a:srgbClr val="8E8E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end of good response</a:t>
            </a:r>
            <a:endParaRPr lang="en-US" sz="950" dirty="0"/>
          </a:p>
        </p:txBody>
      </p:sp>
      <p:sp>
        <p:nvSpPr>
          <p:cNvPr id="28" name="Text 25"/>
          <p:cNvSpPr txBox="1"/>
          <p:nvPr/>
        </p:nvSpPr>
        <p:spPr>
          <a:xfrm>
            <a:off x="502920" y="2858008"/>
            <a:ext cx="188841" cy="1640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</a:t>
            </a:r>
            <a:endParaRPr lang="en-US" sz="850" dirty="0"/>
          </a:p>
        </p:txBody>
      </p:sp>
      <p:sp>
        <p:nvSpPr>
          <p:cNvPr id="29" name="Text 26"/>
          <p:cNvSpPr txBox="1"/>
          <p:nvPr/>
        </p:nvSpPr>
        <p:spPr>
          <a:xfrm>
            <a:off x="800969" y="2858008"/>
            <a:ext cx="4191655" cy="1640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9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</a:t>
            </a:r>
            <a:pPr indent="0" marL="0">
              <a:buNone/>
            </a:pPr>
            <a:r>
              <a:rPr lang="en-US" sz="950" i="1" dirty="0">
                <a:solidFill>
                  <a:srgbClr val="8E8E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end of for loop</a:t>
            </a:r>
            <a:endParaRPr lang="en-US" sz="950" dirty="0"/>
          </a:p>
        </p:txBody>
      </p:sp>
      <p:sp>
        <p:nvSpPr>
          <p:cNvPr id="30" name="Text 27"/>
          <p:cNvSpPr txBox="1"/>
          <p:nvPr/>
        </p:nvSpPr>
        <p:spPr>
          <a:xfrm>
            <a:off x="502920" y="3022092"/>
            <a:ext cx="188841" cy="1640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</a:t>
            </a:r>
            <a:endParaRPr lang="en-US" sz="850" dirty="0"/>
          </a:p>
        </p:txBody>
      </p:sp>
      <p:sp>
        <p:nvSpPr>
          <p:cNvPr id="31" name="Text 28"/>
          <p:cNvSpPr txBox="1"/>
          <p:nvPr/>
        </p:nvSpPr>
        <p:spPr>
          <a:xfrm>
            <a:off x="800969" y="3022092"/>
            <a:ext cx="4191655" cy="1640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Serial</a:t>
            </a:r>
            <a:pPr indent="0" marL="0">
              <a:buNone/>
            </a:pPr>
            <a:r>
              <a:rPr lang="en-US" sz="9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println </a:t>
            </a:r>
            <a:pPr indent="0" marL="0">
              <a:buNone/>
            </a:pPr>
            <a:r>
              <a:rPr lang="en-US" sz="9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95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"Done."</a:t>
            </a:r>
            <a:pPr indent="0" marL="0">
              <a:buNone/>
            </a:pPr>
            <a:r>
              <a:rPr lang="en-US" sz="9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502920" y="3186176"/>
            <a:ext cx="188841" cy="1640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</a:t>
            </a:r>
            <a:endParaRPr lang="en-US" sz="850" dirty="0"/>
          </a:p>
        </p:txBody>
      </p:sp>
      <p:sp>
        <p:nvSpPr>
          <p:cNvPr id="33" name="Text 30"/>
          <p:cNvSpPr txBox="1"/>
          <p:nvPr/>
        </p:nvSpPr>
        <p:spPr>
          <a:xfrm>
            <a:off x="800969" y="3186176"/>
            <a:ext cx="4191655" cy="1640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Serial</a:t>
            </a:r>
            <a:pPr indent="0" marL="0">
              <a:buNone/>
            </a:pPr>
            <a:r>
              <a:rPr lang="en-US" sz="9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 </a:t>
            </a:r>
            <a:pPr indent="0" marL="0">
              <a:buNone/>
            </a:pPr>
            <a:r>
              <a:rPr lang="en-US" sz="9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95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"Found "</a:t>
            </a:r>
            <a:pPr indent="0" marL="0">
              <a:buNone/>
            </a:pPr>
            <a:r>
              <a:rPr lang="en-US" sz="9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950" dirty="0"/>
          </a:p>
        </p:txBody>
      </p:sp>
      <p:sp>
        <p:nvSpPr>
          <p:cNvPr id="34" name="Text 31"/>
          <p:cNvSpPr txBox="1"/>
          <p:nvPr/>
        </p:nvSpPr>
        <p:spPr>
          <a:xfrm>
            <a:off x="502920" y="3350260"/>
            <a:ext cx="188841" cy="1640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23</a:t>
            </a:r>
            <a:endParaRPr lang="en-US" sz="850" dirty="0"/>
          </a:p>
        </p:txBody>
      </p:sp>
      <p:sp>
        <p:nvSpPr>
          <p:cNvPr id="35" name="Text 32"/>
          <p:cNvSpPr txBox="1"/>
          <p:nvPr/>
        </p:nvSpPr>
        <p:spPr>
          <a:xfrm>
            <a:off x="800969" y="3350260"/>
            <a:ext cx="4191655" cy="1640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Serial</a:t>
            </a:r>
            <a:pPr indent="0" marL="0">
              <a:buNone/>
            </a:pPr>
            <a:r>
              <a:rPr lang="en-US" sz="9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 </a:t>
            </a:r>
            <a:pPr indent="0" marL="0">
              <a:buNone/>
            </a:pPr>
            <a:r>
              <a:rPr lang="en-US" sz="9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9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</a:t>
            </a:r>
            <a:pPr indent="0" marL="0">
              <a:buNone/>
            </a:pPr>
            <a:r>
              <a:rPr lang="en-US" sz="9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95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</a:t>
            </a:r>
            <a:pPr indent="0" marL="0">
              <a:buNone/>
            </a:pPr>
            <a:r>
              <a:rPr lang="en-US" sz="9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950" dirty="0"/>
          </a:p>
        </p:txBody>
      </p:sp>
      <p:sp>
        <p:nvSpPr>
          <p:cNvPr id="36" name="Text 33"/>
          <p:cNvSpPr txBox="1"/>
          <p:nvPr/>
        </p:nvSpPr>
        <p:spPr>
          <a:xfrm>
            <a:off x="502920" y="3514344"/>
            <a:ext cx="188841" cy="1640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24</a:t>
            </a:r>
            <a:endParaRPr lang="en-US" sz="850" dirty="0"/>
          </a:p>
        </p:txBody>
      </p:sp>
      <p:sp>
        <p:nvSpPr>
          <p:cNvPr id="37" name="Text 34"/>
          <p:cNvSpPr txBox="1"/>
          <p:nvPr/>
        </p:nvSpPr>
        <p:spPr>
          <a:xfrm>
            <a:off x="800969" y="3514344"/>
            <a:ext cx="4191655" cy="1640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Serial</a:t>
            </a:r>
            <a:pPr indent="0" marL="0">
              <a:buNone/>
            </a:pPr>
            <a:r>
              <a:rPr lang="en-US" sz="9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println </a:t>
            </a:r>
            <a:pPr indent="0" marL="0">
              <a:buNone/>
            </a:pPr>
            <a:r>
              <a:rPr lang="en-US" sz="9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95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 device(s)."</a:t>
            </a:r>
            <a:pPr indent="0" marL="0">
              <a:buNone/>
            </a:pPr>
            <a:r>
              <a:rPr lang="en-US" sz="9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950" dirty="0"/>
          </a:p>
        </p:txBody>
      </p:sp>
      <p:sp>
        <p:nvSpPr>
          <p:cNvPr id="38" name="Text 35"/>
          <p:cNvSpPr txBox="1"/>
          <p:nvPr/>
        </p:nvSpPr>
        <p:spPr>
          <a:xfrm>
            <a:off x="502920" y="3678428"/>
            <a:ext cx="188841" cy="1640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</a:t>
            </a:r>
            <a:endParaRPr lang="en-US" sz="850" dirty="0"/>
          </a:p>
        </p:txBody>
      </p:sp>
      <p:sp>
        <p:nvSpPr>
          <p:cNvPr id="39" name="Text 36"/>
          <p:cNvSpPr txBox="1"/>
          <p:nvPr/>
        </p:nvSpPr>
        <p:spPr>
          <a:xfrm>
            <a:off x="800969" y="3678428"/>
            <a:ext cx="4191655" cy="1640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</a:t>
            </a:r>
            <a:pPr indent="0" marL="0">
              <a:buNone/>
            </a:pPr>
            <a:r>
              <a:rPr lang="en-US" sz="950" i="1" dirty="0">
                <a:solidFill>
                  <a:srgbClr val="8E8E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end of setup</a:t>
            </a:r>
            <a:endParaRPr lang="en-US" sz="950" dirty="0"/>
          </a:p>
        </p:txBody>
      </p:sp>
      <p:sp>
        <p:nvSpPr>
          <p:cNvPr id="40" name="Text 37"/>
          <p:cNvSpPr txBox="1"/>
          <p:nvPr/>
        </p:nvSpPr>
        <p:spPr>
          <a:xfrm>
            <a:off x="502920" y="3842512"/>
            <a:ext cx="188841" cy="1640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26</a:t>
            </a:r>
            <a:endParaRPr lang="en-US" sz="850" dirty="0"/>
          </a:p>
        </p:txBody>
      </p:sp>
      <p:sp>
        <p:nvSpPr>
          <p:cNvPr id="41" name="Text 38"/>
          <p:cNvSpPr txBox="1"/>
          <p:nvPr/>
        </p:nvSpPr>
        <p:spPr>
          <a:xfrm>
            <a:off x="800969" y="3842512"/>
            <a:ext cx="4191655" cy="1640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</a:t>
            </a:r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loop</a:t>
            </a:r>
            <a:pPr indent="0" marL="0">
              <a:buNone/>
            </a:pPr>
            <a:r>
              <a:rPr lang="en-US" sz="9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502920" y="4006596"/>
            <a:ext cx="188841" cy="1640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27</a:t>
            </a:r>
            <a:endParaRPr lang="en-US" sz="850" dirty="0"/>
          </a:p>
        </p:txBody>
      </p:sp>
      <p:sp>
        <p:nvSpPr>
          <p:cNvPr id="43" name="Text 40"/>
          <p:cNvSpPr txBox="1"/>
          <p:nvPr/>
        </p:nvSpPr>
        <p:spPr>
          <a:xfrm>
            <a:off x="800969" y="4006596"/>
            <a:ext cx="4191655" cy="1640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950" dirty="0"/>
          </a:p>
        </p:txBody>
      </p:sp>
      <p:sp>
        <p:nvSpPr>
          <p:cNvPr id="44" name="Text 41"/>
          <p:cNvSpPr txBox="1"/>
          <p:nvPr/>
        </p:nvSpPr>
        <p:spPr>
          <a:xfrm>
            <a:off x="502920" y="4170680"/>
            <a:ext cx="188841" cy="1640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28</a:t>
            </a:r>
            <a:endParaRPr lang="en-US" sz="850" dirty="0"/>
          </a:p>
        </p:txBody>
      </p:sp>
      <p:sp>
        <p:nvSpPr>
          <p:cNvPr id="45" name="Text 42"/>
          <p:cNvSpPr txBox="1"/>
          <p:nvPr/>
        </p:nvSpPr>
        <p:spPr>
          <a:xfrm>
            <a:off x="800969" y="4170680"/>
            <a:ext cx="4191655" cy="1640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  <p:sp>
        <p:nvSpPr>
          <p:cNvPr id="46" name="Text 43"/>
          <p:cNvSpPr txBox="1"/>
          <p:nvPr/>
        </p:nvSpPr>
        <p:spPr>
          <a:xfrm>
            <a:off x="5413248" y="1234440"/>
            <a:ext cx="3319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逐行看懂</a:t>
            </a:r>
            <a:endParaRPr lang="en-US" sz="1300" dirty="0"/>
          </a:p>
        </p:txBody>
      </p:sp>
      <p:sp>
        <p:nvSpPr>
          <p:cNvPr id="47" name="Shape 44"/>
          <p:cNvSpPr/>
          <p:nvPr/>
        </p:nvSpPr>
        <p:spPr>
          <a:xfrm>
            <a:off x="5413248" y="1600200"/>
            <a:ext cx="877824" cy="219456"/>
          </a:xfrm>
          <a:prstGeom prst="roundRect">
            <a:avLst>
              <a:gd name="adj" fmla="val 50000"/>
            </a:avLst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48" name="Text 45"/>
          <p:cNvSpPr txBox="1"/>
          <p:nvPr/>
        </p:nvSpPr>
        <p:spPr>
          <a:xfrm>
            <a:off x="5413248" y="1600200"/>
            <a:ext cx="8778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12–16 行</a:t>
            </a:r>
            <a:endParaRPr lang="en-US" sz="950" dirty="0"/>
          </a:p>
        </p:txBody>
      </p:sp>
      <p:sp>
        <p:nvSpPr>
          <p:cNvPr id="49" name="Text 46"/>
          <p:cNvSpPr txBox="1"/>
          <p:nvPr/>
        </p:nvSpPr>
        <p:spPr>
          <a:xfrm>
            <a:off x="6382512" y="1591056"/>
            <a:ext cx="2350008" cy="6080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拼出一行：DEC 印出 39，HEX 印出 27，前后补上 “(0x” 和 “)”</a:t>
            </a:r>
            <a:endParaRPr lang="en-US" sz="1200" dirty="0"/>
          </a:p>
        </p:txBody>
      </p:sp>
      <p:sp>
        <p:nvSpPr>
          <p:cNvPr id="50" name="Shape 47"/>
          <p:cNvSpPr/>
          <p:nvPr/>
        </p:nvSpPr>
        <p:spPr>
          <a:xfrm>
            <a:off x="5413248" y="2338070"/>
            <a:ext cx="877824" cy="219456"/>
          </a:xfrm>
          <a:prstGeom prst="roundRect">
            <a:avLst>
              <a:gd name="adj" fmla="val 50000"/>
            </a:avLst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51" name="Text 48"/>
          <p:cNvSpPr txBox="1"/>
          <p:nvPr/>
        </p:nvSpPr>
        <p:spPr>
          <a:xfrm>
            <a:off x="5413248" y="2338070"/>
            <a:ext cx="8778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17–18 行</a:t>
            </a:r>
            <a:endParaRPr lang="en-US" sz="950" dirty="0"/>
          </a:p>
        </p:txBody>
      </p:sp>
      <p:sp>
        <p:nvSpPr>
          <p:cNvPr id="52" name="Text 49"/>
          <p:cNvSpPr txBox="1"/>
          <p:nvPr/>
        </p:nvSpPr>
        <p:spPr>
          <a:xfrm>
            <a:off x="6382512" y="2328926"/>
            <a:ext cx="2350008" cy="417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count 加 1；稍等 1 毫秒（注释：也许不需要）</a:t>
            </a:r>
            <a:endParaRPr lang="en-US" sz="1200" dirty="0"/>
          </a:p>
        </p:txBody>
      </p:sp>
      <p:sp>
        <p:nvSpPr>
          <p:cNvPr id="53" name="Shape 50"/>
          <p:cNvSpPr/>
          <p:nvPr/>
        </p:nvSpPr>
        <p:spPr>
          <a:xfrm>
            <a:off x="5413248" y="2810510"/>
            <a:ext cx="877824" cy="219456"/>
          </a:xfrm>
          <a:prstGeom prst="roundRect">
            <a:avLst>
              <a:gd name="adj" fmla="val 50000"/>
            </a:avLst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5413248" y="2810510"/>
            <a:ext cx="8778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19–20 行</a:t>
            </a:r>
            <a:endParaRPr lang="en-US" sz="950" dirty="0"/>
          </a:p>
        </p:txBody>
      </p:sp>
      <p:sp>
        <p:nvSpPr>
          <p:cNvPr id="55" name="Text 52"/>
          <p:cNvSpPr txBox="1"/>
          <p:nvPr/>
        </p:nvSpPr>
        <p:spPr>
          <a:xfrm>
            <a:off x="6382512" y="2801366"/>
            <a:ext cx="2350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应答处理结束；for 循环结束</a:t>
            </a:r>
            <a:endParaRPr lang="en-US" sz="1200" dirty="0"/>
          </a:p>
        </p:txBody>
      </p:sp>
      <p:sp>
        <p:nvSpPr>
          <p:cNvPr id="56" name="Shape 53"/>
          <p:cNvSpPr/>
          <p:nvPr/>
        </p:nvSpPr>
        <p:spPr>
          <a:xfrm>
            <a:off x="5413248" y="3121406"/>
            <a:ext cx="877824" cy="219456"/>
          </a:xfrm>
          <a:prstGeom prst="roundRect">
            <a:avLst>
              <a:gd name="adj" fmla="val 50000"/>
            </a:avLst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57" name="Text 54"/>
          <p:cNvSpPr txBox="1"/>
          <p:nvPr/>
        </p:nvSpPr>
        <p:spPr>
          <a:xfrm>
            <a:off x="5413248" y="3121406"/>
            <a:ext cx="8778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21–24 行</a:t>
            </a:r>
            <a:endParaRPr lang="en-US" sz="950" dirty="0"/>
          </a:p>
        </p:txBody>
      </p:sp>
      <p:sp>
        <p:nvSpPr>
          <p:cNvPr id="58" name="Text 55"/>
          <p:cNvSpPr txBox="1"/>
          <p:nvPr/>
        </p:nvSpPr>
        <p:spPr>
          <a:xfrm>
            <a:off x="6382512" y="3112262"/>
            <a:ext cx="2350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打印 Done. 和找到的设备总数</a:t>
            </a:r>
            <a:endParaRPr lang="en-US" sz="1200" dirty="0"/>
          </a:p>
        </p:txBody>
      </p:sp>
      <p:sp>
        <p:nvSpPr>
          <p:cNvPr id="59" name="Shape 56"/>
          <p:cNvSpPr/>
          <p:nvPr/>
        </p:nvSpPr>
        <p:spPr>
          <a:xfrm>
            <a:off x="5413248" y="3814826"/>
            <a:ext cx="877824" cy="219456"/>
          </a:xfrm>
          <a:prstGeom prst="roundRect">
            <a:avLst>
              <a:gd name="adj" fmla="val 50000"/>
            </a:avLst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60" name="Text 57"/>
          <p:cNvSpPr txBox="1"/>
          <p:nvPr/>
        </p:nvSpPr>
        <p:spPr>
          <a:xfrm>
            <a:off x="5413248" y="3814826"/>
            <a:ext cx="8778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26–28 行</a:t>
            </a:r>
            <a:endParaRPr lang="en-US" sz="950" dirty="0"/>
          </a:p>
        </p:txBody>
      </p:sp>
      <p:sp>
        <p:nvSpPr>
          <p:cNvPr id="61" name="Text 58"/>
          <p:cNvSpPr txBox="1"/>
          <p:nvPr/>
        </p:nvSpPr>
        <p:spPr>
          <a:xfrm>
            <a:off x="6382512" y="3805682"/>
            <a:ext cx="2350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loop() 空着；重扫按复位键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39328" y="4736592"/>
            <a:ext cx="393192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B6B6B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4572000" y="4736592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实验二　LCD1602 显示屏</a:t>
            </a:r>
            <a:endParaRPr lang="en-US" sz="8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411480" y="27432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程序①结果：扫描到地址 0x27</a:t>
            </a:r>
            <a:endParaRPr lang="en-US" sz="24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411480" y="786384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串口监视器（波特率 9600）显示 Found address: 39 (0x27)——39 和 0x27 是同一个数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11480" y="1234440"/>
            <a:ext cx="3931920" cy="3337560"/>
          </a:xfrm>
          <a:prstGeom prst="roundRect">
            <a:avLst>
              <a:gd name="adj" fmla="val 3288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pic>
        <p:nvPicPr>
          <p:cNvPr id="7" name="Image 0" descr="原指南：串口监视器扫描到的 I2C 地址为 0x27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330" y="1344168"/>
            <a:ext cx="3512220" cy="284378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521208" y="4224528"/>
            <a:ext cx="37124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原指南：串口监视器扫描到的 I2C 地址为 0x27</a:t>
            </a:r>
            <a:endParaRPr lang="en-US" sz="1000" dirty="0"/>
          </a:p>
        </p:txBody>
      </p:sp>
      <p:sp>
        <p:nvSpPr>
          <p:cNvPr id="9" name="Text 5"/>
          <p:cNvSpPr txBox="1"/>
          <p:nvPr/>
        </p:nvSpPr>
        <p:spPr>
          <a:xfrm>
            <a:off x="4617720" y="12344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每一行是哪句代码打印的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617720" y="1600200"/>
            <a:ext cx="2999232" cy="310896"/>
          </a:xfrm>
          <a:prstGeom prst="roundRect">
            <a:avLst>
              <a:gd name="adj" fmla="val 17647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4727448" y="1600200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I2C scanner. Scanning ...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7726680" y="1636776"/>
            <a:ext cx="1005840" cy="237744"/>
          </a:xfrm>
          <a:prstGeom prst="roundRect">
            <a:avLst>
              <a:gd name="adj" fmla="val 50000"/>
            </a:avLst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7726680" y="1636776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6 行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4617720" y="1984248"/>
            <a:ext cx="2999232" cy="310896"/>
          </a:xfrm>
          <a:prstGeom prst="roundRect">
            <a:avLst>
              <a:gd name="adj" fmla="val 17647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4727448" y="1984248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Found address: 39 (0x27)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7726680" y="2020824"/>
            <a:ext cx="1005840" cy="237744"/>
          </a:xfrm>
          <a:prstGeom prst="roundRect">
            <a:avLst>
              <a:gd name="adj" fmla="val 50000"/>
            </a:avLst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7726680" y="2020824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12–16 行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4617720" y="2368296"/>
            <a:ext cx="2999232" cy="310896"/>
          </a:xfrm>
          <a:prstGeom prst="roundRect">
            <a:avLst>
              <a:gd name="adj" fmla="val 17647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4727448" y="2368296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Done.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7726680" y="2404872"/>
            <a:ext cx="1005840" cy="237744"/>
          </a:xfrm>
          <a:prstGeom prst="roundRect">
            <a:avLst>
              <a:gd name="adj" fmla="val 50000"/>
            </a:avLst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7726680" y="2404872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21 行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4617720" y="2752344"/>
            <a:ext cx="2999232" cy="310896"/>
          </a:xfrm>
          <a:prstGeom prst="roundRect">
            <a:avLst>
              <a:gd name="adj" fmla="val 17647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4727448" y="2752344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Found 1 device(s).</a:t>
            </a:r>
            <a:endParaRPr lang="en-US" sz="1100" dirty="0"/>
          </a:p>
        </p:txBody>
      </p:sp>
      <p:sp>
        <p:nvSpPr>
          <p:cNvPr id="24" name="Shape 20"/>
          <p:cNvSpPr/>
          <p:nvPr/>
        </p:nvSpPr>
        <p:spPr>
          <a:xfrm>
            <a:off x="7726680" y="2788920"/>
            <a:ext cx="1005840" cy="237744"/>
          </a:xfrm>
          <a:prstGeom prst="roundRect">
            <a:avLst>
              <a:gd name="adj" fmla="val 50000"/>
            </a:avLst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7726680" y="2788920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22–24 行</a:t>
            </a:r>
            <a:endParaRPr lang="en-US" sz="1000" dirty="0"/>
          </a:p>
        </p:txBody>
      </p:sp>
      <p:sp>
        <p:nvSpPr>
          <p:cNvPr id="26" name="Shape 22"/>
          <p:cNvSpPr/>
          <p:nvPr/>
        </p:nvSpPr>
        <p:spPr>
          <a:xfrm>
            <a:off x="4617720" y="3337560"/>
            <a:ext cx="4114800" cy="1234440"/>
          </a:xfrm>
          <a:prstGeom prst="roundRect">
            <a:avLst>
              <a:gd name="adj" fmla="val 8889"/>
            </a:avLst>
          </a:prstGeom>
          <a:solidFill>
            <a:srgbClr val="E3FAF7"/>
          </a:solidFill>
          <a:ln w="12700">
            <a:solidFill>
              <a:srgbClr val="E3FAF7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4764024" y="3483864"/>
            <a:ext cx="329184" cy="329184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2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3028" y="3562868"/>
            <a:ext cx="171176" cy="171176"/>
          </a:xfrm>
          <a:prstGeom prst="rect">
            <a:avLst/>
          </a:prstGeom>
        </p:spPr>
      </p:pic>
      <p:sp>
        <p:nvSpPr>
          <p:cNvPr id="29" name="Text 24"/>
          <p:cNvSpPr txBox="1"/>
          <p:nvPr/>
        </p:nvSpPr>
        <p:spPr>
          <a:xfrm>
            <a:off x="5221224" y="3474720"/>
            <a:ext cx="3364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最好自己扫一下</a:t>
            </a:r>
            <a:endParaRPr lang="en-US" sz="1300" dirty="0"/>
          </a:p>
        </p:txBody>
      </p:sp>
      <p:sp>
        <p:nvSpPr>
          <p:cNvPr id="30" name="Text 25"/>
          <p:cNvSpPr txBox="1"/>
          <p:nvPr/>
        </p:nvSpPr>
        <p:spPr>
          <a:xfrm>
            <a:off x="5221224" y="3785616"/>
            <a:ext cx="33649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原指南：很多转接板默认是 0x27，但要以扫描结果为准。若扫出 0x3F，程序②里的 0x27 也要改成 0x3F。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39328" y="4736592"/>
            <a:ext cx="393192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B6B6B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4572000" y="4736592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实验二　LCD1602 显示屏</a:t>
            </a:r>
            <a:endParaRPr lang="en-US" sz="8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411480" y="27432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新语法⑤：lcd 对象和 setCursor(列, 行)</a:t>
            </a:r>
            <a:endParaRPr lang="en-US" sz="24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411480" y="786384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先创建 lcd 对象，告诉它地址和尺寸；setCursor(列, 行) 把“笔尖”放到某一格，print() 从那里开始写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11480" y="1234440"/>
            <a:ext cx="3931920" cy="3337560"/>
          </a:xfrm>
          <a:prstGeom prst="roundRect">
            <a:avLst>
              <a:gd name="adj" fmla="val 3288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94360" y="1399032"/>
            <a:ext cx="384048" cy="384048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6532" y="1491204"/>
            <a:ext cx="199705" cy="199705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106424" y="1399032"/>
            <a:ext cx="3054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再请一位“屏幕管家”</a:t>
            </a:r>
            <a:endParaRPr lang="en-US" sz="1500" dirty="0"/>
          </a:p>
        </p:txBody>
      </p:sp>
      <p:sp>
        <p:nvSpPr>
          <p:cNvPr id="10" name="Shape 6"/>
          <p:cNvSpPr/>
          <p:nvPr/>
        </p:nvSpPr>
        <p:spPr>
          <a:xfrm>
            <a:off x="594360" y="1911096"/>
            <a:ext cx="3566160" cy="378460"/>
          </a:xfrm>
          <a:prstGeom prst="roundRect">
            <a:avLst>
              <a:gd name="adj" fmla="val 19329"/>
            </a:avLst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740664" y="2002536"/>
            <a:ext cx="3273552" cy="195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LiquidCrystal_I2C lcd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0x27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100" dirty="0"/>
          </a:p>
        </p:txBody>
      </p:sp>
      <p:sp>
        <p:nvSpPr>
          <p:cNvPr id="12" name="Text 8"/>
          <p:cNvSpPr txBox="1"/>
          <p:nvPr/>
        </p:nvSpPr>
        <p:spPr>
          <a:xfrm>
            <a:off x="594360" y="2380996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括号里：</a:t>
            </a:r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0x27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地址（和扫描结果一致）、</a:t>
            </a:r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列、</a:t>
            </a:r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行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594360" y="2920492"/>
            <a:ext cx="1965960" cy="256032"/>
          </a:xfrm>
          <a:prstGeom prst="roundRect">
            <a:avLst>
              <a:gd name="adj" fmla="val 50000"/>
            </a:avLst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594360" y="2920492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lcd.init()</a:t>
            </a:r>
            <a:endParaRPr lang="en-US" sz="1050" dirty="0"/>
          </a:p>
        </p:txBody>
      </p:sp>
      <p:sp>
        <p:nvSpPr>
          <p:cNvPr id="15" name="Text 11"/>
          <p:cNvSpPr txBox="1"/>
          <p:nvPr/>
        </p:nvSpPr>
        <p:spPr>
          <a:xfrm>
            <a:off x="2670048" y="2893060"/>
            <a:ext cx="1490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初始化屏幕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594360" y="3231388"/>
            <a:ext cx="1965960" cy="256032"/>
          </a:xfrm>
          <a:prstGeom prst="roundRect">
            <a:avLst>
              <a:gd name="adj" fmla="val 50000"/>
            </a:avLst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594360" y="3231388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lcd.backlight()</a:t>
            </a:r>
            <a:endParaRPr lang="en-US" sz="1050" dirty="0"/>
          </a:p>
        </p:txBody>
      </p:sp>
      <p:sp>
        <p:nvSpPr>
          <p:cNvPr id="18" name="Text 14"/>
          <p:cNvSpPr txBox="1"/>
          <p:nvPr/>
        </p:nvSpPr>
        <p:spPr>
          <a:xfrm>
            <a:off x="2670048" y="3203956"/>
            <a:ext cx="1490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打开背光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594360" y="3542284"/>
            <a:ext cx="1965960" cy="256032"/>
          </a:xfrm>
          <a:prstGeom prst="roundRect">
            <a:avLst>
              <a:gd name="adj" fmla="val 50000"/>
            </a:avLst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594360" y="3542284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lcd.setCursor(列,行)</a:t>
            </a:r>
            <a:endParaRPr lang="en-US" sz="1050" dirty="0"/>
          </a:p>
        </p:txBody>
      </p:sp>
      <p:sp>
        <p:nvSpPr>
          <p:cNvPr id="21" name="Text 17"/>
          <p:cNvSpPr txBox="1"/>
          <p:nvPr/>
        </p:nvSpPr>
        <p:spPr>
          <a:xfrm>
            <a:off x="2670048" y="3514852"/>
            <a:ext cx="1490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移动“笔尖”</a:t>
            </a:r>
            <a:endParaRPr lang="en-US" sz="1200" dirty="0"/>
          </a:p>
        </p:txBody>
      </p:sp>
      <p:sp>
        <p:nvSpPr>
          <p:cNvPr id="22" name="Shape 18"/>
          <p:cNvSpPr/>
          <p:nvPr/>
        </p:nvSpPr>
        <p:spPr>
          <a:xfrm>
            <a:off x="594360" y="3853180"/>
            <a:ext cx="1965960" cy="256032"/>
          </a:xfrm>
          <a:prstGeom prst="roundRect">
            <a:avLst>
              <a:gd name="adj" fmla="val 50000"/>
            </a:avLst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594360" y="3853180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lcd.print("…")</a:t>
            </a:r>
            <a:endParaRPr lang="en-US" sz="1050" dirty="0"/>
          </a:p>
        </p:txBody>
      </p:sp>
      <p:sp>
        <p:nvSpPr>
          <p:cNvPr id="24" name="Text 20"/>
          <p:cNvSpPr txBox="1"/>
          <p:nvPr/>
        </p:nvSpPr>
        <p:spPr>
          <a:xfrm>
            <a:off x="2670048" y="3825748"/>
            <a:ext cx="1490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从笔尖处写字</a:t>
            </a:r>
            <a:endParaRPr lang="en-US" sz="1200" dirty="0"/>
          </a:p>
        </p:txBody>
      </p:sp>
      <p:sp>
        <p:nvSpPr>
          <p:cNvPr id="25" name="Text 21"/>
          <p:cNvSpPr txBox="1"/>
          <p:nvPr/>
        </p:nvSpPr>
        <p:spPr>
          <a:xfrm>
            <a:off x="594360" y="4228084"/>
            <a:ext cx="3566160" cy="270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库要先安装：LiquidCrystal_I2C（套件资料提供）</a:t>
            </a:r>
            <a:endParaRPr lang="en-US" sz="1150" dirty="0"/>
          </a:p>
        </p:txBody>
      </p:sp>
      <p:sp>
        <p:nvSpPr>
          <p:cNvPr id="26" name="Text 22"/>
          <p:cNvSpPr txBox="1"/>
          <p:nvPr/>
        </p:nvSpPr>
        <p:spPr>
          <a:xfrm>
            <a:off x="4617720" y="12344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像在格子本上写字：先列后行，从 0 数</a:t>
            </a:r>
            <a:endParaRPr lang="en-US" sz="1350" dirty="0"/>
          </a:p>
        </p:txBody>
      </p:sp>
      <p:sp>
        <p:nvSpPr>
          <p:cNvPr id="27" name="Text 23"/>
          <p:cNvSpPr txBox="1"/>
          <p:nvPr/>
        </p:nvSpPr>
        <p:spPr>
          <a:xfrm>
            <a:off x="4636008" y="164592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列 →</a:t>
            </a:r>
            <a:endParaRPr lang="en-US" sz="1000" dirty="0"/>
          </a:p>
        </p:txBody>
      </p:sp>
      <p:sp>
        <p:nvSpPr>
          <p:cNvPr id="28" name="Shape 24"/>
          <p:cNvSpPr/>
          <p:nvPr/>
        </p:nvSpPr>
        <p:spPr>
          <a:xfrm>
            <a:off x="5195621" y="1903781"/>
            <a:ext cx="197510" cy="343814"/>
          </a:xfrm>
          <a:prstGeom prst="rect">
            <a:avLst/>
          </a:prstGeom>
          <a:solidFill>
            <a:srgbClr val="40E0D0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29" name="Text 25"/>
          <p:cNvSpPr txBox="1"/>
          <p:nvPr/>
        </p:nvSpPr>
        <p:spPr>
          <a:xfrm>
            <a:off x="5184648" y="1892808"/>
            <a:ext cx="219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</a:t>
            </a:r>
            <a:endParaRPr lang="en-US" sz="1200" dirty="0"/>
          </a:p>
        </p:txBody>
      </p:sp>
      <p:sp>
        <p:nvSpPr>
          <p:cNvPr id="30" name="Shape 26"/>
          <p:cNvSpPr/>
          <p:nvPr/>
        </p:nvSpPr>
        <p:spPr>
          <a:xfrm>
            <a:off x="5415077" y="1903781"/>
            <a:ext cx="197510" cy="343814"/>
          </a:xfrm>
          <a:prstGeom prst="rect">
            <a:avLst/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5634533" y="1903781"/>
            <a:ext cx="197510" cy="343814"/>
          </a:xfrm>
          <a:prstGeom prst="rect">
            <a:avLst/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5853989" y="1903781"/>
            <a:ext cx="197510" cy="343814"/>
          </a:xfrm>
          <a:prstGeom prst="rect">
            <a:avLst/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6073445" y="1903781"/>
            <a:ext cx="197510" cy="343814"/>
          </a:xfrm>
          <a:prstGeom prst="rect">
            <a:avLst/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34" name="Shape 30"/>
          <p:cNvSpPr/>
          <p:nvPr/>
        </p:nvSpPr>
        <p:spPr>
          <a:xfrm>
            <a:off x="6292901" y="1903781"/>
            <a:ext cx="197510" cy="343814"/>
          </a:xfrm>
          <a:prstGeom prst="rect">
            <a:avLst/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35" name="Shape 31"/>
          <p:cNvSpPr/>
          <p:nvPr/>
        </p:nvSpPr>
        <p:spPr>
          <a:xfrm>
            <a:off x="6512357" y="1903781"/>
            <a:ext cx="197510" cy="343814"/>
          </a:xfrm>
          <a:prstGeom prst="rect">
            <a:avLst/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36" name="Shape 32"/>
          <p:cNvSpPr/>
          <p:nvPr/>
        </p:nvSpPr>
        <p:spPr>
          <a:xfrm>
            <a:off x="6731813" y="1903781"/>
            <a:ext cx="197510" cy="343814"/>
          </a:xfrm>
          <a:prstGeom prst="rect">
            <a:avLst/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37" name="Shape 33"/>
          <p:cNvSpPr/>
          <p:nvPr/>
        </p:nvSpPr>
        <p:spPr>
          <a:xfrm>
            <a:off x="6951269" y="1903781"/>
            <a:ext cx="197510" cy="343814"/>
          </a:xfrm>
          <a:prstGeom prst="rect">
            <a:avLst/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38" name="Shape 34"/>
          <p:cNvSpPr/>
          <p:nvPr/>
        </p:nvSpPr>
        <p:spPr>
          <a:xfrm>
            <a:off x="7170725" y="1903781"/>
            <a:ext cx="197510" cy="343814"/>
          </a:xfrm>
          <a:prstGeom prst="rect">
            <a:avLst/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39" name="Shape 35"/>
          <p:cNvSpPr/>
          <p:nvPr/>
        </p:nvSpPr>
        <p:spPr>
          <a:xfrm>
            <a:off x="7390181" y="1903781"/>
            <a:ext cx="197510" cy="343814"/>
          </a:xfrm>
          <a:prstGeom prst="rect">
            <a:avLst/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40" name="Shape 36"/>
          <p:cNvSpPr/>
          <p:nvPr/>
        </p:nvSpPr>
        <p:spPr>
          <a:xfrm>
            <a:off x="7609637" y="1903781"/>
            <a:ext cx="197510" cy="343814"/>
          </a:xfrm>
          <a:prstGeom prst="rect">
            <a:avLst/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41" name="Shape 37"/>
          <p:cNvSpPr/>
          <p:nvPr/>
        </p:nvSpPr>
        <p:spPr>
          <a:xfrm>
            <a:off x="7829093" y="1903781"/>
            <a:ext cx="197510" cy="343814"/>
          </a:xfrm>
          <a:prstGeom prst="rect">
            <a:avLst/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42" name="Shape 38"/>
          <p:cNvSpPr/>
          <p:nvPr/>
        </p:nvSpPr>
        <p:spPr>
          <a:xfrm>
            <a:off x="8048549" y="1903781"/>
            <a:ext cx="197510" cy="343814"/>
          </a:xfrm>
          <a:prstGeom prst="rect">
            <a:avLst/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43" name="Shape 39"/>
          <p:cNvSpPr/>
          <p:nvPr/>
        </p:nvSpPr>
        <p:spPr>
          <a:xfrm>
            <a:off x="8268005" y="1903781"/>
            <a:ext cx="197510" cy="343814"/>
          </a:xfrm>
          <a:prstGeom prst="rect">
            <a:avLst/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44" name="Shape 40"/>
          <p:cNvSpPr/>
          <p:nvPr/>
        </p:nvSpPr>
        <p:spPr>
          <a:xfrm>
            <a:off x="8487461" y="1903781"/>
            <a:ext cx="197510" cy="343814"/>
          </a:xfrm>
          <a:prstGeom prst="rect">
            <a:avLst/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45" name="Shape 41"/>
          <p:cNvSpPr/>
          <p:nvPr/>
        </p:nvSpPr>
        <p:spPr>
          <a:xfrm>
            <a:off x="5195621" y="2269541"/>
            <a:ext cx="197510" cy="343814"/>
          </a:xfrm>
          <a:prstGeom prst="rect">
            <a:avLst/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46" name="Shape 42"/>
          <p:cNvSpPr/>
          <p:nvPr/>
        </p:nvSpPr>
        <p:spPr>
          <a:xfrm>
            <a:off x="5415077" y="2269541"/>
            <a:ext cx="197510" cy="343814"/>
          </a:xfrm>
          <a:prstGeom prst="rect">
            <a:avLst/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47" name="Shape 43"/>
          <p:cNvSpPr/>
          <p:nvPr/>
        </p:nvSpPr>
        <p:spPr>
          <a:xfrm>
            <a:off x="5634533" y="2269541"/>
            <a:ext cx="197510" cy="343814"/>
          </a:xfrm>
          <a:prstGeom prst="rect">
            <a:avLst/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48" name="Shape 44"/>
          <p:cNvSpPr/>
          <p:nvPr/>
        </p:nvSpPr>
        <p:spPr>
          <a:xfrm>
            <a:off x="5853989" y="2269541"/>
            <a:ext cx="197510" cy="343814"/>
          </a:xfrm>
          <a:prstGeom prst="rect">
            <a:avLst/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49" name="Shape 45"/>
          <p:cNvSpPr/>
          <p:nvPr/>
        </p:nvSpPr>
        <p:spPr>
          <a:xfrm>
            <a:off x="6073445" y="2269541"/>
            <a:ext cx="197510" cy="343814"/>
          </a:xfrm>
          <a:prstGeom prst="rect">
            <a:avLst/>
          </a:prstGeom>
          <a:solidFill>
            <a:srgbClr val="40E0D0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50" name="Text 46"/>
          <p:cNvSpPr txBox="1"/>
          <p:nvPr/>
        </p:nvSpPr>
        <p:spPr>
          <a:xfrm>
            <a:off x="6062472" y="2258568"/>
            <a:ext cx="219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</a:t>
            </a:r>
            <a:endParaRPr lang="en-US" sz="1200" dirty="0"/>
          </a:p>
        </p:txBody>
      </p:sp>
      <p:sp>
        <p:nvSpPr>
          <p:cNvPr id="51" name="Shape 47"/>
          <p:cNvSpPr/>
          <p:nvPr/>
        </p:nvSpPr>
        <p:spPr>
          <a:xfrm>
            <a:off x="6292901" y="2269541"/>
            <a:ext cx="197510" cy="343814"/>
          </a:xfrm>
          <a:prstGeom prst="rect">
            <a:avLst/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52" name="Shape 48"/>
          <p:cNvSpPr/>
          <p:nvPr/>
        </p:nvSpPr>
        <p:spPr>
          <a:xfrm>
            <a:off x="6512357" y="2269541"/>
            <a:ext cx="197510" cy="343814"/>
          </a:xfrm>
          <a:prstGeom prst="rect">
            <a:avLst/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53" name="Shape 49"/>
          <p:cNvSpPr/>
          <p:nvPr/>
        </p:nvSpPr>
        <p:spPr>
          <a:xfrm>
            <a:off x="6731813" y="2269541"/>
            <a:ext cx="197510" cy="343814"/>
          </a:xfrm>
          <a:prstGeom prst="rect">
            <a:avLst/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54" name="Shape 50"/>
          <p:cNvSpPr/>
          <p:nvPr/>
        </p:nvSpPr>
        <p:spPr>
          <a:xfrm>
            <a:off x="6951269" y="2269541"/>
            <a:ext cx="197510" cy="343814"/>
          </a:xfrm>
          <a:prstGeom prst="rect">
            <a:avLst/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55" name="Shape 51"/>
          <p:cNvSpPr/>
          <p:nvPr/>
        </p:nvSpPr>
        <p:spPr>
          <a:xfrm>
            <a:off x="7170725" y="2269541"/>
            <a:ext cx="197510" cy="343814"/>
          </a:xfrm>
          <a:prstGeom prst="rect">
            <a:avLst/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56" name="Shape 52"/>
          <p:cNvSpPr/>
          <p:nvPr/>
        </p:nvSpPr>
        <p:spPr>
          <a:xfrm>
            <a:off x="7390181" y="2269541"/>
            <a:ext cx="197510" cy="343814"/>
          </a:xfrm>
          <a:prstGeom prst="rect">
            <a:avLst/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57" name="Shape 53"/>
          <p:cNvSpPr/>
          <p:nvPr/>
        </p:nvSpPr>
        <p:spPr>
          <a:xfrm>
            <a:off x="7609637" y="2269541"/>
            <a:ext cx="197510" cy="343814"/>
          </a:xfrm>
          <a:prstGeom prst="rect">
            <a:avLst/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58" name="Shape 54"/>
          <p:cNvSpPr/>
          <p:nvPr/>
        </p:nvSpPr>
        <p:spPr>
          <a:xfrm>
            <a:off x="7829093" y="2269541"/>
            <a:ext cx="197510" cy="343814"/>
          </a:xfrm>
          <a:prstGeom prst="rect">
            <a:avLst/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59" name="Shape 55"/>
          <p:cNvSpPr/>
          <p:nvPr/>
        </p:nvSpPr>
        <p:spPr>
          <a:xfrm>
            <a:off x="8048549" y="2269541"/>
            <a:ext cx="197510" cy="343814"/>
          </a:xfrm>
          <a:prstGeom prst="rect">
            <a:avLst/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60" name="Shape 56"/>
          <p:cNvSpPr/>
          <p:nvPr/>
        </p:nvSpPr>
        <p:spPr>
          <a:xfrm>
            <a:off x="8268005" y="2269541"/>
            <a:ext cx="197510" cy="343814"/>
          </a:xfrm>
          <a:prstGeom prst="rect">
            <a:avLst/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61" name="Shape 57"/>
          <p:cNvSpPr/>
          <p:nvPr/>
        </p:nvSpPr>
        <p:spPr>
          <a:xfrm>
            <a:off x="8487461" y="2269541"/>
            <a:ext cx="197510" cy="343814"/>
          </a:xfrm>
          <a:prstGeom prst="rect">
            <a:avLst/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62" name="Text 58"/>
          <p:cNvSpPr txBox="1"/>
          <p:nvPr/>
        </p:nvSpPr>
        <p:spPr>
          <a:xfrm>
            <a:off x="5184648" y="1655064"/>
            <a:ext cx="219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000" dirty="0"/>
          </a:p>
        </p:txBody>
      </p:sp>
      <p:sp>
        <p:nvSpPr>
          <p:cNvPr id="63" name="Text 59"/>
          <p:cNvSpPr txBox="1"/>
          <p:nvPr/>
        </p:nvSpPr>
        <p:spPr>
          <a:xfrm>
            <a:off x="5404104" y="1655064"/>
            <a:ext cx="219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sp>
        <p:nvSpPr>
          <p:cNvPr id="64" name="Text 60"/>
          <p:cNvSpPr txBox="1"/>
          <p:nvPr/>
        </p:nvSpPr>
        <p:spPr>
          <a:xfrm>
            <a:off x="5623560" y="1655064"/>
            <a:ext cx="219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00" dirty="0"/>
          </a:p>
        </p:txBody>
      </p:sp>
      <p:sp>
        <p:nvSpPr>
          <p:cNvPr id="65" name="Text 61"/>
          <p:cNvSpPr txBox="1"/>
          <p:nvPr/>
        </p:nvSpPr>
        <p:spPr>
          <a:xfrm>
            <a:off x="5843016" y="1655064"/>
            <a:ext cx="219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000" dirty="0"/>
          </a:p>
        </p:txBody>
      </p:sp>
      <p:sp>
        <p:nvSpPr>
          <p:cNvPr id="66" name="Text 62"/>
          <p:cNvSpPr txBox="1"/>
          <p:nvPr/>
        </p:nvSpPr>
        <p:spPr>
          <a:xfrm>
            <a:off x="6062472" y="1655064"/>
            <a:ext cx="219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000" dirty="0"/>
          </a:p>
        </p:txBody>
      </p:sp>
      <p:sp>
        <p:nvSpPr>
          <p:cNvPr id="67" name="Text 63"/>
          <p:cNvSpPr txBox="1"/>
          <p:nvPr/>
        </p:nvSpPr>
        <p:spPr>
          <a:xfrm>
            <a:off x="6281928" y="1655064"/>
            <a:ext cx="219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000" dirty="0"/>
          </a:p>
        </p:txBody>
      </p:sp>
      <p:sp>
        <p:nvSpPr>
          <p:cNvPr id="68" name="Text 64"/>
          <p:cNvSpPr txBox="1"/>
          <p:nvPr/>
        </p:nvSpPr>
        <p:spPr>
          <a:xfrm>
            <a:off x="6501384" y="1655064"/>
            <a:ext cx="219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000" dirty="0"/>
          </a:p>
        </p:txBody>
      </p:sp>
      <p:sp>
        <p:nvSpPr>
          <p:cNvPr id="69" name="Text 65"/>
          <p:cNvSpPr txBox="1"/>
          <p:nvPr/>
        </p:nvSpPr>
        <p:spPr>
          <a:xfrm>
            <a:off x="6720840" y="1655064"/>
            <a:ext cx="219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1000" dirty="0"/>
          </a:p>
        </p:txBody>
      </p:sp>
      <p:sp>
        <p:nvSpPr>
          <p:cNvPr id="70" name="Text 66"/>
          <p:cNvSpPr txBox="1"/>
          <p:nvPr/>
        </p:nvSpPr>
        <p:spPr>
          <a:xfrm>
            <a:off x="6940296" y="1655064"/>
            <a:ext cx="219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1000" dirty="0"/>
          </a:p>
        </p:txBody>
      </p:sp>
      <p:sp>
        <p:nvSpPr>
          <p:cNvPr id="71" name="Text 67"/>
          <p:cNvSpPr txBox="1"/>
          <p:nvPr/>
        </p:nvSpPr>
        <p:spPr>
          <a:xfrm>
            <a:off x="7159752" y="1655064"/>
            <a:ext cx="219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endParaRPr lang="en-US" sz="1000" dirty="0"/>
          </a:p>
        </p:txBody>
      </p:sp>
      <p:sp>
        <p:nvSpPr>
          <p:cNvPr id="72" name="Text 68"/>
          <p:cNvSpPr txBox="1"/>
          <p:nvPr/>
        </p:nvSpPr>
        <p:spPr>
          <a:xfrm>
            <a:off x="7379208" y="1655064"/>
            <a:ext cx="219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000" dirty="0"/>
          </a:p>
        </p:txBody>
      </p:sp>
      <p:sp>
        <p:nvSpPr>
          <p:cNvPr id="73" name="Text 69"/>
          <p:cNvSpPr txBox="1"/>
          <p:nvPr/>
        </p:nvSpPr>
        <p:spPr>
          <a:xfrm>
            <a:off x="7598664" y="1655064"/>
            <a:ext cx="219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1000" dirty="0"/>
          </a:p>
        </p:txBody>
      </p:sp>
      <p:sp>
        <p:nvSpPr>
          <p:cNvPr id="74" name="Text 70"/>
          <p:cNvSpPr txBox="1"/>
          <p:nvPr/>
        </p:nvSpPr>
        <p:spPr>
          <a:xfrm>
            <a:off x="7818120" y="1655064"/>
            <a:ext cx="219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1000" dirty="0"/>
          </a:p>
        </p:txBody>
      </p:sp>
      <p:sp>
        <p:nvSpPr>
          <p:cNvPr id="75" name="Text 71"/>
          <p:cNvSpPr txBox="1"/>
          <p:nvPr/>
        </p:nvSpPr>
        <p:spPr>
          <a:xfrm>
            <a:off x="8037576" y="1655064"/>
            <a:ext cx="219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</a:t>
            </a:r>
            <a:endParaRPr lang="en-US" sz="1000" dirty="0"/>
          </a:p>
        </p:txBody>
      </p:sp>
      <p:sp>
        <p:nvSpPr>
          <p:cNvPr id="76" name="Text 72"/>
          <p:cNvSpPr txBox="1"/>
          <p:nvPr/>
        </p:nvSpPr>
        <p:spPr>
          <a:xfrm>
            <a:off x="8257032" y="1655064"/>
            <a:ext cx="219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</a:t>
            </a:r>
            <a:endParaRPr lang="en-US" sz="1000" dirty="0"/>
          </a:p>
        </p:txBody>
      </p:sp>
      <p:sp>
        <p:nvSpPr>
          <p:cNvPr id="77" name="Text 73"/>
          <p:cNvSpPr txBox="1"/>
          <p:nvPr/>
        </p:nvSpPr>
        <p:spPr>
          <a:xfrm>
            <a:off x="8476488" y="1655064"/>
            <a:ext cx="219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</a:t>
            </a:r>
            <a:endParaRPr lang="en-US" sz="1000" dirty="0"/>
          </a:p>
        </p:txBody>
      </p:sp>
      <p:sp>
        <p:nvSpPr>
          <p:cNvPr id="78" name="Text 74"/>
          <p:cNvSpPr txBox="1"/>
          <p:nvPr/>
        </p:nvSpPr>
        <p:spPr>
          <a:xfrm>
            <a:off x="4873752" y="1892808"/>
            <a:ext cx="237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000" dirty="0"/>
          </a:p>
        </p:txBody>
      </p:sp>
      <p:sp>
        <p:nvSpPr>
          <p:cNvPr id="79" name="Text 75"/>
          <p:cNvSpPr txBox="1"/>
          <p:nvPr/>
        </p:nvSpPr>
        <p:spPr>
          <a:xfrm>
            <a:off x="4873752" y="2258568"/>
            <a:ext cx="237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sp>
        <p:nvSpPr>
          <p:cNvPr id="80" name="Text 76"/>
          <p:cNvSpPr txBox="1"/>
          <p:nvPr/>
        </p:nvSpPr>
        <p:spPr>
          <a:xfrm>
            <a:off x="4617720" y="1984248"/>
            <a:ext cx="2194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行</a:t>
            </a:r>
            <a:endParaRPr lang="en-US" sz="10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↓</a:t>
            </a:r>
            <a:endParaRPr lang="en-US" sz="1000" dirty="0"/>
          </a:p>
        </p:txBody>
      </p:sp>
      <p:sp>
        <p:nvSpPr>
          <p:cNvPr id="81" name="Shape 77"/>
          <p:cNvSpPr/>
          <p:nvPr/>
        </p:nvSpPr>
        <p:spPr>
          <a:xfrm>
            <a:off x="4617720" y="2825496"/>
            <a:ext cx="1417320" cy="256032"/>
          </a:xfrm>
          <a:prstGeom prst="roundRect">
            <a:avLst>
              <a:gd name="adj" fmla="val 50000"/>
            </a:avLst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82" name="Text 78"/>
          <p:cNvSpPr txBox="1"/>
          <p:nvPr/>
        </p:nvSpPr>
        <p:spPr>
          <a:xfrm>
            <a:off x="4617720" y="2825496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setCursor(0,0)</a:t>
            </a:r>
            <a:endParaRPr lang="en-US" sz="1050" dirty="0"/>
          </a:p>
        </p:txBody>
      </p:sp>
      <p:sp>
        <p:nvSpPr>
          <p:cNvPr id="83" name="Text 79"/>
          <p:cNvSpPr txBox="1"/>
          <p:nvPr/>
        </p:nvSpPr>
        <p:spPr>
          <a:xfrm>
            <a:off x="6144768" y="280720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→ 第 1 行第 1 格</a:t>
            </a:r>
            <a:endParaRPr lang="en-US" sz="1250" dirty="0"/>
          </a:p>
        </p:txBody>
      </p:sp>
      <p:sp>
        <p:nvSpPr>
          <p:cNvPr id="84" name="Shape 80"/>
          <p:cNvSpPr/>
          <p:nvPr/>
        </p:nvSpPr>
        <p:spPr>
          <a:xfrm>
            <a:off x="4617720" y="3136392"/>
            <a:ext cx="1417320" cy="256032"/>
          </a:xfrm>
          <a:prstGeom prst="roundRect">
            <a:avLst>
              <a:gd name="adj" fmla="val 50000"/>
            </a:avLst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85" name="Text 81"/>
          <p:cNvSpPr txBox="1"/>
          <p:nvPr/>
        </p:nvSpPr>
        <p:spPr>
          <a:xfrm>
            <a:off x="4617720" y="313639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setCursor(4,1)</a:t>
            </a:r>
            <a:endParaRPr lang="en-US" sz="1050" dirty="0"/>
          </a:p>
        </p:txBody>
      </p:sp>
      <p:sp>
        <p:nvSpPr>
          <p:cNvPr id="86" name="Text 82"/>
          <p:cNvSpPr txBox="1"/>
          <p:nvPr/>
        </p:nvSpPr>
        <p:spPr>
          <a:xfrm>
            <a:off x="6144768" y="3118104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→ 第 2 行第 5 格</a:t>
            </a:r>
            <a:endParaRPr lang="en-US" sz="1250" dirty="0"/>
          </a:p>
        </p:txBody>
      </p:sp>
      <p:sp>
        <p:nvSpPr>
          <p:cNvPr id="87" name="Shape 83"/>
          <p:cNvSpPr/>
          <p:nvPr/>
        </p:nvSpPr>
        <p:spPr>
          <a:xfrm>
            <a:off x="4617720" y="3648456"/>
            <a:ext cx="4114800" cy="923544"/>
          </a:xfrm>
          <a:prstGeom prst="roundRect">
            <a:avLst>
              <a:gd name="adj" fmla="val 11881"/>
            </a:avLst>
          </a:prstGeom>
          <a:solidFill>
            <a:srgbClr val="FFFFFF"/>
          </a:solidFill>
          <a:ln w="12700">
            <a:solidFill>
              <a:srgbClr val="E5484D"/>
            </a:solidFill>
            <a:prstDash val="solid"/>
          </a:ln>
        </p:spPr>
      </p:sp>
      <p:sp>
        <p:nvSpPr>
          <p:cNvPr id="88" name="Shape 84"/>
          <p:cNvSpPr/>
          <p:nvPr/>
        </p:nvSpPr>
        <p:spPr>
          <a:xfrm>
            <a:off x="4764024" y="3954780"/>
            <a:ext cx="310896" cy="310896"/>
          </a:xfrm>
          <a:prstGeom prst="ellipse">
            <a:avLst/>
          </a:prstGeom>
          <a:solidFill>
            <a:srgbClr val="E5484D"/>
          </a:solidFill>
          <a:ln w="12700">
            <a:solidFill>
              <a:srgbClr val="E5484D"/>
            </a:solidFill>
            <a:prstDash val="solid"/>
          </a:ln>
        </p:spPr>
      </p:sp>
      <p:pic>
        <p:nvPicPr>
          <p:cNvPr id="8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8639" y="4029395"/>
            <a:ext cx="161666" cy="161666"/>
          </a:xfrm>
          <a:prstGeom prst="rect">
            <a:avLst/>
          </a:prstGeom>
        </p:spPr>
      </p:pic>
      <p:sp>
        <p:nvSpPr>
          <p:cNvPr id="90" name="Text 85"/>
          <p:cNvSpPr txBox="1"/>
          <p:nvPr/>
        </p:nvSpPr>
        <p:spPr>
          <a:xfrm>
            <a:off x="5202936" y="373989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E548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行、列都从 0 开始</a:t>
            </a:r>
            <a:endParaRPr lang="en-US" sz="1300" dirty="0"/>
          </a:p>
        </p:txBody>
      </p:sp>
      <p:sp>
        <p:nvSpPr>
          <p:cNvPr id="91" name="Text 86"/>
          <p:cNvSpPr txBox="1"/>
          <p:nvPr/>
        </p:nvSpPr>
        <p:spPr>
          <a:xfrm>
            <a:off x="5202936" y="4032504"/>
            <a:ext cx="338328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setCursor(1,1)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指的是第 2 行、第 2 格。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39328" y="4736592"/>
            <a:ext cx="393192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B6B6B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4572000" y="4736592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实验二　LCD1602 显示屏</a:t>
            </a:r>
            <a:endParaRPr lang="en-US" sz="8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411480" y="27432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程序②逐行看懂（1/2）：创建 lcd 对象</a:t>
            </a:r>
            <a:endParaRPr lang="en-US" sz="24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411480" y="786384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引入两个库，按扫描到的地址创建 lcd 对象，然后在 setup() 里初始化屏幕、打开背光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11480" y="1234440"/>
            <a:ext cx="4709160" cy="3337560"/>
          </a:xfrm>
          <a:prstGeom prst="roundRect">
            <a:avLst>
              <a:gd name="adj" fmla="val 2740"/>
            </a:avLst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39496" y="1298448"/>
            <a:ext cx="2825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A9A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lcd1602_hello.ino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2295144" y="1298448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A9A9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1–10 行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502920" y="1545336"/>
            <a:ext cx="228597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50" dirty="0"/>
          </a:p>
        </p:txBody>
      </p:sp>
      <p:sp>
        <p:nvSpPr>
          <p:cNvPr id="10" name="Text 7"/>
          <p:cNvSpPr txBox="1"/>
          <p:nvPr/>
        </p:nvSpPr>
        <p:spPr>
          <a:xfrm>
            <a:off x="856016" y="1545336"/>
            <a:ext cx="4136608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buNone/>
            </a:pPr>
            <a:r>
              <a:rPr lang="en-US" sz="11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Wire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1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150" dirty="0"/>
          </a:p>
        </p:txBody>
      </p:sp>
      <p:sp>
        <p:nvSpPr>
          <p:cNvPr id="11" name="Text 8"/>
          <p:cNvSpPr txBox="1"/>
          <p:nvPr/>
        </p:nvSpPr>
        <p:spPr>
          <a:xfrm>
            <a:off x="502920" y="1743964"/>
            <a:ext cx="228597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50" dirty="0"/>
          </a:p>
        </p:txBody>
      </p:sp>
      <p:sp>
        <p:nvSpPr>
          <p:cNvPr id="12" name="Text 9"/>
          <p:cNvSpPr txBox="1"/>
          <p:nvPr/>
        </p:nvSpPr>
        <p:spPr>
          <a:xfrm>
            <a:off x="856016" y="1743964"/>
            <a:ext cx="4136608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</a:t>
            </a:r>
            <a:pPr indent="0" marL="0">
              <a:buNone/>
            </a:pPr>
            <a:r>
              <a:rPr lang="en-US" sz="115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"LiquidCrystal_I2C.h"</a:t>
            </a:r>
            <a:endParaRPr lang="en-US" sz="1150" dirty="0"/>
          </a:p>
        </p:txBody>
      </p:sp>
      <p:sp>
        <p:nvSpPr>
          <p:cNvPr id="13" name="Text 10"/>
          <p:cNvSpPr txBox="1"/>
          <p:nvPr/>
        </p:nvSpPr>
        <p:spPr>
          <a:xfrm>
            <a:off x="502920" y="1942592"/>
            <a:ext cx="228597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050" dirty="0"/>
          </a:p>
        </p:txBody>
      </p:sp>
      <p:sp>
        <p:nvSpPr>
          <p:cNvPr id="14" name="Text 11"/>
          <p:cNvSpPr txBox="1"/>
          <p:nvPr/>
        </p:nvSpPr>
        <p:spPr>
          <a:xfrm>
            <a:off x="856016" y="1942592"/>
            <a:ext cx="4136608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457200" y="2141220"/>
            <a:ext cx="4617720" cy="198628"/>
          </a:xfrm>
          <a:prstGeom prst="rect">
            <a:avLst/>
          </a:prstGeom>
          <a:solidFill>
            <a:srgbClr val="3E5250"/>
          </a:solidFill>
          <a:ln w="12700">
            <a:solidFill>
              <a:srgbClr val="3E5250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02920" y="2141220"/>
            <a:ext cx="228597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050" dirty="0"/>
          </a:p>
        </p:txBody>
      </p:sp>
      <p:sp>
        <p:nvSpPr>
          <p:cNvPr id="17" name="Text 14"/>
          <p:cNvSpPr txBox="1"/>
          <p:nvPr/>
        </p:nvSpPr>
        <p:spPr>
          <a:xfrm>
            <a:off x="856016" y="2141220"/>
            <a:ext cx="4136608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LiquidCrystal_I2C lcd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5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0x27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15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15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  </a:t>
            </a:r>
            <a:pPr indent="0" marL="0">
              <a:buNone/>
            </a:pPr>
            <a:r>
              <a:rPr lang="en-US" sz="1150" i="1" dirty="0">
                <a:solidFill>
                  <a:srgbClr val="8E8E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set the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457200" y="2339848"/>
            <a:ext cx="4617720" cy="198628"/>
          </a:xfrm>
          <a:prstGeom prst="rect">
            <a:avLst/>
          </a:prstGeom>
          <a:solidFill>
            <a:srgbClr val="3E5250"/>
          </a:solidFill>
          <a:ln w="12700">
            <a:solidFill>
              <a:srgbClr val="3E5250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502920" y="2339848"/>
            <a:ext cx="228597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↳</a:t>
            </a:r>
            <a:endParaRPr lang="en-US" sz="1050" dirty="0"/>
          </a:p>
        </p:txBody>
      </p:sp>
      <p:sp>
        <p:nvSpPr>
          <p:cNvPr id="20" name="Text 17"/>
          <p:cNvSpPr txBox="1"/>
          <p:nvPr/>
        </p:nvSpPr>
        <p:spPr>
          <a:xfrm>
            <a:off x="856016" y="2339848"/>
            <a:ext cx="4136608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E8E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LCD address to 0x27 for a 16 chars and 2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457200" y="2538476"/>
            <a:ext cx="4617720" cy="198628"/>
          </a:xfrm>
          <a:prstGeom prst="rect">
            <a:avLst/>
          </a:prstGeom>
          <a:solidFill>
            <a:srgbClr val="3E5250"/>
          </a:solidFill>
          <a:ln w="12700">
            <a:solidFill>
              <a:srgbClr val="3E5250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502920" y="2538476"/>
            <a:ext cx="228597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↳</a:t>
            </a:r>
            <a:endParaRPr lang="en-US" sz="1050" dirty="0"/>
          </a:p>
        </p:txBody>
      </p:sp>
      <p:sp>
        <p:nvSpPr>
          <p:cNvPr id="23" name="Text 20"/>
          <p:cNvSpPr txBox="1"/>
          <p:nvPr/>
        </p:nvSpPr>
        <p:spPr>
          <a:xfrm>
            <a:off x="856016" y="2538476"/>
            <a:ext cx="4136608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E8E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line display</a:t>
            </a:r>
            <a:endParaRPr lang="en-US" sz="1150" dirty="0"/>
          </a:p>
        </p:txBody>
      </p:sp>
      <p:sp>
        <p:nvSpPr>
          <p:cNvPr id="24" name="Text 21"/>
          <p:cNvSpPr txBox="1"/>
          <p:nvPr/>
        </p:nvSpPr>
        <p:spPr>
          <a:xfrm>
            <a:off x="502920" y="2737104"/>
            <a:ext cx="228597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050" dirty="0"/>
          </a:p>
        </p:txBody>
      </p:sp>
      <p:sp>
        <p:nvSpPr>
          <p:cNvPr id="25" name="Text 22"/>
          <p:cNvSpPr txBox="1"/>
          <p:nvPr/>
        </p:nvSpPr>
        <p:spPr>
          <a:xfrm>
            <a:off x="856016" y="2737104"/>
            <a:ext cx="4136608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</p:txBody>
      </p:sp>
      <p:sp>
        <p:nvSpPr>
          <p:cNvPr id="26" name="Text 23"/>
          <p:cNvSpPr txBox="1"/>
          <p:nvPr/>
        </p:nvSpPr>
        <p:spPr>
          <a:xfrm>
            <a:off x="502920" y="2935732"/>
            <a:ext cx="228597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050" dirty="0"/>
          </a:p>
        </p:txBody>
      </p:sp>
      <p:sp>
        <p:nvSpPr>
          <p:cNvPr id="27" name="Text 24"/>
          <p:cNvSpPr txBox="1"/>
          <p:nvPr/>
        </p:nvSpPr>
        <p:spPr>
          <a:xfrm>
            <a:off x="856016" y="2935732"/>
            <a:ext cx="4136608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</a:t>
            </a:r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setup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endParaRPr lang="en-US" sz="1150" dirty="0"/>
          </a:p>
        </p:txBody>
      </p:sp>
      <p:sp>
        <p:nvSpPr>
          <p:cNvPr id="28" name="Text 25"/>
          <p:cNvSpPr txBox="1"/>
          <p:nvPr/>
        </p:nvSpPr>
        <p:spPr>
          <a:xfrm>
            <a:off x="502920" y="3134360"/>
            <a:ext cx="228597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1050" dirty="0"/>
          </a:p>
        </p:txBody>
      </p:sp>
      <p:sp>
        <p:nvSpPr>
          <p:cNvPr id="29" name="Text 26"/>
          <p:cNvSpPr txBox="1"/>
          <p:nvPr/>
        </p:nvSpPr>
        <p:spPr>
          <a:xfrm>
            <a:off x="856016" y="3134360"/>
            <a:ext cx="4136608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50" dirty="0"/>
          </a:p>
        </p:txBody>
      </p:sp>
      <p:sp>
        <p:nvSpPr>
          <p:cNvPr id="30" name="Shape 27"/>
          <p:cNvSpPr/>
          <p:nvPr/>
        </p:nvSpPr>
        <p:spPr>
          <a:xfrm>
            <a:off x="457200" y="3332988"/>
            <a:ext cx="4617720" cy="198628"/>
          </a:xfrm>
          <a:prstGeom prst="rect">
            <a:avLst/>
          </a:prstGeom>
          <a:solidFill>
            <a:srgbClr val="3E5250"/>
          </a:solidFill>
          <a:ln w="12700">
            <a:solidFill>
              <a:srgbClr val="3E5250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502920" y="3332988"/>
            <a:ext cx="228597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1050" dirty="0"/>
          </a:p>
        </p:txBody>
      </p:sp>
      <p:sp>
        <p:nvSpPr>
          <p:cNvPr id="32" name="Text 29"/>
          <p:cNvSpPr txBox="1"/>
          <p:nvPr/>
        </p:nvSpPr>
        <p:spPr>
          <a:xfrm>
            <a:off x="856016" y="3332988"/>
            <a:ext cx="4136608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lcd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1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init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  </a:t>
            </a:r>
            <a:pPr indent="0" marL="0">
              <a:buNone/>
            </a:pPr>
            <a:r>
              <a:rPr lang="en-US" sz="1150" i="1" dirty="0">
                <a:solidFill>
                  <a:srgbClr val="8E8E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initialize the lcd</a:t>
            </a:r>
            <a:endParaRPr lang="en-US" sz="1150" dirty="0"/>
          </a:p>
        </p:txBody>
      </p:sp>
      <p:sp>
        <p:nvSpPr>
          <p:cNvPr id="33" name="Text 30"/>
          <p:cNvSpPr txBox="1"/>
          <p:nvPr/>
        </p:nvSpPr>
        <p:spPr>
          <a:xfrm>
            <a:off x="502920" y="3531616"/>
            <a:ext cx="228597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endParaRPr lang="en-US" sz="1050" dirty="0"/>
          </a:p>
        </p:txBody>
      </p:sp>
      <p:sp>
        <p:nvSpPr>
          <p:cNvPr id="34" name="Text 31"/>
          <p:cNvSpPr txBox="1"/>
          <p:nvPr/>
        </p:nvSpPr>
        <p:spPr>
          <a:xfrm>
            <a:off x="856016" y="3531616"/>
            <a:ext cx="4136608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150" i="1" dirty="0">
                <a:solidFill>
                  <a:srgbClr val="8E8E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Print a message to the LCD.</a:t>
            </a:r>
            <a:endParaRPr lang="en-US" sz="1150" dirty="0"/>
          </a:p>
        </p:txBody>
      </p:sp>
      <p:sp>
        <p:nvSpPr>
          <p:cNvPr id="35" name="Shape 32"/>
          <p:cNvSpPr/>
          <p:nvPr/>
        </p:nvSpPr>
        <p:spPr>
          <a:xfrm>
            <a:off x="457200" y="3730244"/>
            <a:ext cx="4617720" cy="198628"/>
          </a:xfrm>
          <a:prstGeom prst="rect">
            <a:avLst/>
          </a:prstGeom>
          <a:solidFill>
            <a:srgbClr val="3E5250"/>
          </a:solidFill>
          <a:ln w="12700">
            <a:solidFill>
              <a:srgbClr val="3E5250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502920" y="3730244"/>
            <a:ext cx="228597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050" dirty="0"/>
          </a:p>
        </p:txBody>
      </p:sp>
      <p:sp>
        <p:nvSpPr>
          <p:cNvPr id="37" name="Text 34"/>
          <p:cNvSpPr txBox="1"/>
          <p:nvPr/>
        </p:nvSpPr>
        <p:spPr>
          <a:xfrm>
            <a:off x="856016" y="3730244"/>
            <a:ext cx="4136608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lcd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1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backlight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</a:t>
            </a:r>
            <a:endParaRPr lang="en-US" sz="1150" dirty="0"/>
          </a:p>
        </p:txBody>
      </p:sp>
      <p:sp>
        <p:nvSpPr>
          <p:cNvPr id="38" name="Text 35"/>
          <p:cNvSpPr txBox="1"/>
          <p:nvPr/>
        </p:nvSpPr>
        <p:spPr>
          <a:xfrm>
            <a:off x="5413248" y="1234440"/>
            <a:ext cx="3319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逐行看懂</a:t>
            </a:r>
            <a:endParaRPr lang="en-US" sz="1300" dirty="0"/>
          </a:p>
        </p:txBody>
      </p:sp>
      <p:sp>
        <p:nvSpPr>
          <p:cNvPr id="39" name="Shape 36"/>
          <p:cNvSpPr/>
          <p:nvPr/>
        </p:nvSpPr>
        <p:spPr>
          <a:xfrm>
            <a:off x="5413248" y="1600200"/>
            <a:ext cx="723392" cy="219456"/>
          </a:xfrm>
          <a:prstGeom prst="roundRect">
            <a:avLst>
              <a:gd name="adj" fmla="val 50000"/>
            </a:avLst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5413248" y="1600200"/>
            <a:ext cx="723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1–2 行</a:t>
            </a:r>
            <a:endParaRPr lang="en-US" sz="950" dirty="0"/>
          </a:p>
        </p:txBody>
      </p:sp>
      <p:sp>
        <p:nvSpPr>
          <p:cNvPr id="41" name="Text 38"/>
          <p:cNvSpPr txBox="1"/>
          <p:nvPr/>
        </p:nvSpPr>
        <p:spPr>
          <a:xfrm>
            <a:off x="6228080" y="1591056"/>
            <a:ext cx="2504440" cy="417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引入 Wire（I2C，IDE 自带）和 LiquidCrystal_I2C（要安装）</a:t>
            </a:r>
            <a:endParaRPr lang="en-US" sz="1200" dirty="0"/>
          </a:p>
        </p:txBody>
      </p:sp>
      <p:sp>
        <p:nvSpPr>
          <p:cNvPr id="42" name="Shape 39"/>
          <p:cNvSpPr/>
          <p:nvPr/>
        </p:nvSpPr>
        <p:spPr>
          <a:xfrm>
            <a:off x="5413248" y="2130806"/>
            <a:ext cx="578612" cy="219456"/>
          </a:xfrm>
          <a:prstGeom prst="roundRect">
            <a:avLst>
              <a:gd name="adj" fmla="val 50000"/>
            </a:avLst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5413248" y="2130806"/>
            <a:ext cx="5786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4 行</a:t>
            </a:r>
            <a:endParaRPr lang="en-US" sz="950" dirty="0"/>
          </a:p>
        </p:txBody>
      </p:sp>
      <p:sp>
        <p:nvSpPr>
          <p:cNvPr id="44" name="Text 41"/>
          <p:cNvSpPr txBox="1"/>
          <p:nvPr/>
        </p:nvSpPr>
        <p:spPr>
          <a:xfrm>
            <a:off x="6083300" y="2121662"/>
            <a:ext cx="2649220" cy="6080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创建 lcd 对象：地址 0x27、16 列、2 行。注意：地址要和程序①扫描到的一致</a:t>
            </a:r>
            <a:endParaRPr lang="en-US" sz="1200" dirty="0"/>
          </a:p>
        </p:txBody>
      </p:sp>
      <p:sp>
        <p:nvSpPr>
          <p:cNvPr id="45" name="Shape 42"/>
          <p:cNvSpPr/>
          <p:nvPr/>
        </p:nvSpPr>
        <p:spPr>
          <a:xfrm>
            <a:off x="5413248" y="2925318"/>
            <a:ext cx="723392" cy="219456"/>
          </a:xfrm>
          <a:prstGeom prst="roundRect">
            <a:avLst>
              <a:gd name="adj" fmla="val 50000"/>
            </a:avLst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5413248" y="2925318"/>
            <a:ext cx="723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6–7 行</a:t>
            </a:r>
            <a:endParaRPr lang="en-US" sz="950" dirty="0"/>
          </a:p>
        </p:txBody>
      </p:sp>
      <p:sp>
        <p:nvSpPr>
          <p:cNvPr id="47" name="Text 44"/>
          <p:cNvSpPr txBox="1"/>
          <p:nvPr/>
        </p:nvSpPr>
        <p:spPr>
          <a:xfrm>
            <a:off x="6228080" y="2916174"/>
            <a:ext cx="250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setup()：只运行一次</a:t>
            </a:r>
            <a:endParaRPr lang="en-US" sz="1200" dirty="0"/>
          </a:p>
        </p:txBody>
      </p:sp>
      <p:sp>
        <p:nvSpPr>
          <p:cNvPr id="48" name="Shape 45"/>
          <p:cNvSpPr/>
          <p:nvPr/>
        </p:nvSpPr>
        <p:spPr>
          <a:xfrm>
            <a:off x="5413248" y="3322574"/>
            <a:ext cx="578612" cy="219456"/>
          </a:xfrm>
          <a:prstGeom prst="roundRect">
            <a:avLst>
              <a:gd name="adj" fmla="val 50000"/>
            </a:avLst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5413248" y="3322574"/>
            <a:ext cx="5786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8 行</a:t>
            </a:r>
            <a:endParaRPr lang="en-US" sz="950" dirty="0"/>
          </a:p>
        </p:txBody>
      </p:sp>
      <p:sp>
        <p:nvSpPr>
          <p:cNvPr id="50" name="Text 47"/>
          <p:cNvSpPr txBox="1"/>
          <p:nvPr/>
        </p:nvSpPr>
        <p:spPr>
          <a:xfrm>
            <a:off x="6083300" y="3313430"/>
            <a:ext cx="26492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init()：屏幕开工，像 begin()</a:t>
            </a:r>
            <a:endParaRPr lang="en-US" sz="1200" dirty="0"/>
          </a:p>
        </p:txBody>
      </p:sp>
      <p:sp>
        <p:nvSpPr>
          <p:cNvPr id="51" name="Shape 48"/>
          <p:cNvSpPr/>
          <p:nvPr/>
        </p:nvSpPr>
        <p:spPr>
          <a:xfrm>
            <a:off x="5413248" y="3596894"/>
            <a:ext cx="800608" cy="219456"/>
          </a:xfrm>
          <a:prstGeom prst="roundRect">
            <a:avLst>
              <a:gd name="adj" fmla="val 50000"/>
            </a:avLst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5413248" y="3596894"/>
            <a:ext cx="800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9–10 行</a:t>
            </a:r>
            <a:endParaRPr lang="en-US" sz="950" dirty="0"/>
          </a:p>
        </p:txBody>
      </p:sp>
      <p:sp>
        <p:nvSpPr>
          <p:cNvPr id="53" name="Text 50"/>
          <p:cNvSpPr txBox="1"/>
          <p:nvPr/>
        </p:nvSpPr>
        <p:spPr>
          <a:xfrm>
            <a:off x="6305296" y="3587750"/>
            <a:ext cx="2427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注释；backlight() 开背光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39328" y="4736592"/>
            <a:ext cx="393192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B6B6B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4572000" y="4736592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实验二　LCD1602 显示屏</a:t>
            </a:r>
            <a:endParaRPr lang="en-US" sz="8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411480" y="27432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程序②逐行看懂（2/2）：落笔、写字</a:t>
            </a:r>
            <a:endParaRPr lang="en-US" sz="24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411480" y="786384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两次“先 setCursor 落笔、再 print 写字”：第 1 行写 Hello Word，第 2 行从第 5 格写 Science Robot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11480" y="1234440"/>
            <a:ext cx="4709160" cy="2157984"/>
          </a:xfrm>
          <a:prstGeom prst="roundRect">
            <a:avLst>
              <a:gd name="adj" fmla="val 4237"/>
            </a:avLst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39496" y="1298448"/>
            <a:ext cx="2825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A9A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lcd1602_hello.ino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2295144" y="1298448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A9A9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11–19 行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57200" y="1545336"/>
            <a:ext cx="4617720" cy="189992"/>
          </a:xfrm>
          <a:prstGeom prst="rect">
            <a:avLst/>
          </a:prstGeom>
          <a:solidFill>
            <a:srgbClr val="3E5250"/>
          </a:solidFill>
          <a:ln w="12700">
            <a:solidFill>
              <a:srgbClr val="3E5250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02920" y="1545336"/>
            <a:ext cx="218658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842254" y="1545336"/>
            <a:ext cx="4150370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lcd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setCursor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 </a:t>
            </a:r>
            <a:pPr indent="0" marL="0">
              <a:buNone/>
            </a:pPr>
            <a:r>
              <a:rPr lang="en-US" sz="1100" i="1" dirty="0">
                <a:solidFill>
                  <a:srgbClr val="8E8E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go to start of 2nd line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57200" y="1735328"/>
            <a:ext cx="4617720" cy="189992"/>
          </a:xfrm>
          <a:prstGeom prst="rect">
            <a:avLst/>
          </a:prstGeom>
          <a:solidFill>
            <a:srgbClr val="3E5250"/>
          </a:solidFill>
          <a:ln w="12700">
            <a:solidFill>
              <a:srgbClr val="3E5250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02920" y="1735328"/>
            <a:ext cx="218658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842254" y="1735328"/>
            <a:ext cx="4150370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lcd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"Hello Word"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57200" y="1925320"/>
            <a:ext cx="4617720" cy="189992"/>
          </a:xfrm>
          <a:prstGeom prst="rect">
            <a:avLst/>
          </a:prstGeom>
          <a:solidFill>
            <a:srgbClr val="3E5250"/>
          </a:solidFill>
          <a:ln w="12700">
            <a:solidFill>
              <a:srgbClr val="3E5250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02920" y="1925320"/>
            <a:ext cx="218658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</a:t>
            </a:r>
            <a:endParaRPr lang="en-US" sz="1000" dirty="0"/>
          </a:p>
        </p:txBody>
      </p:sp>
      <p:sp>
        <p:nvSpPr>
          <p:cNvPr id="17" name="Text 14"/>
          <p:cNvSpPr txBox="1"/>
          <p:nvPr/>
        </p:nvSpPr>
        <p:spPr>
          <a:xfrm>
            <a:off x="842254" y="1925320"/>
            <a:ext cx="4150370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lcd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setCursor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 </a:t>
            </a:r>
            <a:pPr indent="0" marL="0">
              <a:buNone/>
            </a:pPr>
            <a:r>
              <a:rPr lang="en-US" sz="1100" i="1" dirty="0">
                <a:solidFill>
                  <a:srgbClr val="8E8E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go to start of 2nd line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457200" y="2115312"/>
            <a:ext cx="4617720" cy="189992"/>
          </a:xfrm>
          <a:prstGeom prst="rect">
            <a:avLst/>
          </a:prstGeom>
          <a:solidFill>
            <a:srgbClr val="3E5250"/>
          </a:solidFill>
          <a:ln w="12700">
            <a:solidFill>
              <a:srgbClr val="3E5250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502920" y="2115312"/>
            <a:ext cx="218658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</a:t>
            </a:r>
            <a:endParaRPr lang="en-US" sz="1000" dirty="0"/>
          </a:p>
        </p:txBody>
      </p:sp>
      <p:sp>
        <p:nvSpPr>
          <p:cNvPr id="20" name="Text 17"/>
          <p:cNvSpPr txBox="1"/>
          <p:nvPr/>
        </p:nvSpPr>
        <p:spPr>
          <a:xfrm>
            <a:off x="842254" y="2115312"/>
            <a:ext cx="4150370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lcd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"Science Robot"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502920" y="2305304"/>
            <a:ext cx="218658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</a:t>
            </a:r>
            <a:endParaRPr lang="en-US" sz="1000" dirty="0"/>
          </a:p>
        </p:txBody>
      </p:sp>
      <p:sp>
        <p:nvSpPr>
          <p:cNvPr id="22" name="Text 19"/>
          <p:cNvSpPr txBox="1"/>
          <p:nvPr/>
        </p:nvSpPr>
        <p:spPr>
          <a:xfrm>
            <a:off x="842254" y="2305304"/>
            <a:ext cx="4150370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502920" y="2495296"/>
            <a:ext cx="218658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</a:t>
            </a:r>
            <a:endParaRPr lang="en-US" sz="1000" dirty="0"/>
          </a:p>
        </p:txBody>
      </p:sp>
      <p:sp>
        <p:nvSpPr>
          <p:cNvPr id="24" name="Text 21"/>
          <p:cNvSpPr txBox="1"/>
          <p:nvPr/>
        </p:nvSpPr>
        <p:spPr>
          <a:xfrm>
            <a:off x="842254" y="2495296"/>
            <a:ext cx="4150370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502920" y="2685288"/>
            <a:ext cx="218658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842254" y="2685288"/>
            <a:ext cx="4150370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loop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endParaRPr lang="en-US" sz="1100" dirty="0"/>
          </a:p>
        </p:txBody>
      </p:sp>
      <p:sp>
        <p:nvSpPr>
          <p:cNvPr id="27" name="Text 24"/>
          <p:cNvSpPr txBox="1"/>
          <p:nvPr/>
        </p:nvSpPr>
        <p:spPr>
          <a:xfrm>
            <a:off x="502920" y="2875280"/>
            <a:ext cx="218658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</a:t>
            </a:r>
            <a:endParaRPr lang="en-US" sz="1000" dirty="0"/>
          </a:p>
        </p:txBody>
      </p:sp>
      <p:sp>
        <p:nvSpPr>
          <p:cNvPr id="28" name="Text 25"/>
          <p:cNvSpPr txBox="1"/>
          <p:nvPr/>
        </p:nvSpPr>
        <p:spPr>
          <a:xfrm>
            <a:off x="842254" y="2875280"/>
            <a:ext cx="4150370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502920" y="3065272"/>
            <a:ext cx="218658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</a:t>
            </a:r>
            <a:endParaRPr lang="en-US" sz="1000" dirty="0"/>
          </a:p>
        </p:txBody>
      </p:sp>
      <p:sp>
        <p:nvSpPr>
          <p:cNvPr id="30" name="Text 27"/>
          <p:cNvSpPr txBox="1"/>
          <p:nvPr/>
        </p:nvSpPr>
        <p:spPr>
          <a:xfrm>
            <a:off x="842254" y="3065272"/>
            <a:ext cx="4150370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31" name="Text 28"/>
          <p:cNvSpPr txBox="1"/>
          <p:nvPr/>
        </p:nvSpPr>
        <p:spPr>
          <a:xfrm>
            <a:off x="5413248" y="1234440"/>
            <a:ext cx="3319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逐行看懂</a:t>
            </a:r>
            <a:endParaRPr lang="en-US" sz="1300" dirty="0"/>
          </a:p>
        </p:txBody>
      </p:sp>
      <p:sp>
        <p:nvSpPr>
          <p:cNvPr id="32" name="Shape 29"/>
          <p:cNvSpPr/>
          <p:nvPr/>
        </p:nvSpPr>
        <p:spPr>
          <a:xfrm>
            <a:off x="5413248" y="1600200"/>
            <a:ext cx="877824" cy="219456"/>
          </a:xfrm>
          <a:prstGeom prst="roundRect">
            <a:avLst>
              <a:gd name="adj" fmla="val 50000"/>
            </a:avLst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5413248" y="1600200"/>
            <a:ext cx="8778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11–12 行</a:t>
            </a:r>
            <a:endParaRPr lang="en-US" sz="950" dirty="0"/>
          </a:p>
        </p:txBody>
      </p:sp>
      <p:sp>
        <p:nvSpPr>
          <p:cNvPr id="34" name="Text 31"/>
          <p:cNvSpPr txBox="1"/>
          <p:nvPr/>
        </p:nvSpPr>
        <p:spPr>
          <a:xfrm>
            <a:off x="6382512" y="1591056"/>
            <a:ext cx="2350008" cy="417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(0,0) 是第 1 行第 1 格，写 “Hello Word”</a:t>
            </a:r>
            <a:endParaRPr lang="en-US" sz="1200" dirty="0"/>
          </a:p>
        </p:txBody>
      </p:sp>
      <p:sp>
        <p:nvSpPr>
          <p:cNvPr id="35" name="Shape 32"/>
          <p:cNvSpPr/>
          <p:nvPr/>
        </p:nvSpPr>
        <p:spPr>
          <a:xfrm>
            <a:off x="5413248" y="2036064"/>
            <a:ext cx="877824" cy="219456"/>
          </a:xfrm>
          <a:prstGeom prst="roundRect">
            <a:avLst>
              <a:gd name="adj" fmla="val 50000"/>
            </a:avLst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5413248" y="2036064"/>
            <a:ext cx="8778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13–14 行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6382512" y="2026920"/>
            <a:ext cx="2350008" cy="417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(4,1) 是第 2 行第 5 格，写 “Science Robot”</a:t>
            </a:r>
            <a:endParaRPr lang="en-US" sz="1200" dirty="0"/>
          </a:p>
        </p:txBody>
      </p:sp>
      <p:sp>
        <p:nvSpPr>
          <p:cNvPr id="38" name="Shape 35"/>
          <p:cNvSpPr/>
          <p:nvPr/>
        </p:nvSpPr>
        <p:spPr>
          <a:xfrm>
            <a:off x="5413248" y="2670556"/>
            <a:ext cx="877824" cy="219456"/>
          </a:xfrm>
          <a:prstGeom prst="roundRect">
            <a:avLst>
              <a:gd name="adj" fmla="val 50000"/>
            </a:avLst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5413248" y="2670556"/>
            <a:ext cx="8778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17–19 行</a:t>
            </a:r>
            <a:endParaRPr lang="en-US" sz="950" dirty="0"/>
          </a:p>
        </p:txBody>
      </p:sp>
      <p:sp>
        <p:nvSpPr>
          <p:cNvPr id="40" name="Text 37"/>
          <p:cNvSpPr txBox="1"/>
          <p:nvPr/>
        </p:nvSpPr>
        <p:spPr>
          <a:xfrm>
            <a:off x="6382512" y="2661412"/>
            <a:ext cx="2350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loop() 空着：字会一直留着</a:t>
            </a:r>
            <a:endParaRPr lang="en-US" sz="1200" dirty="0"/>
          </a:p>
        </p:txBody>
      </p:sp>
      <p:sp>
        <p:nvSpPr>
          <p:cNvPr id="41" name="Shape 38"/>
          <p:cNvSpPr/>
          <p:nvPr/>
        </p:nvSpPr>
        <p:spPr>
          <a:xfrm>
            <a:off x="5413248" y="3200400"/>
            <a:ext cx="3319272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484D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5577840" y="3364992"/>
            <a:ext cx="310896" cy="310896"/>
          </a:xfrm>
          <a:prstGeom prst="ellipse">
            <a:avLst/>
          </a:prstGeom>
          <a:solidFill>
            <a:srgbClr val="E5484D"/>
          </a:solidFill>
          <a:ln w="12700">
            <a:solidFill>
              <a:srgbClr val="E5484D"/>
            </a:solidFill>
            <a:prstDash val="solid"/>
          </a:ln>
        </p:spPr>
      </p:sp>
      <p:pic>
        <p:nvPicPr>
          <p:cNvPr id="4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52455" y="3439607"/>
            <a:ext cx="161666" cy="161666"/>
          </a:xfrm>
          <a:prstGeom prst="rect">
            <a:avLst/>
          </a:prstGeom>
        </p:spPr>
      </p:pic>
      <p:sp>
        <p:nvSpPr>
          <p:cNvPr id="44" name="Text 40"/>
          <p:cNvSpPr txBox="1"/>
          <p:nvPr/>
        </p:nvSpPr>
        <p:spPr>
          <a:xfrm>
            <a:off x="5998464" y="3364992"/>
            <a:ext cx="25694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E548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原程序的两处笔误</a:t>
            </a:r>
            <a:endParaRPr lang="en-US" sz="1350" dirty="0"/>
          </a:p>
        </p:txBody>
      </p:sp>
      <p:sp>
        <p:nvSpPr>
          <p:cNvPr id="45" name="Shape 41"/>
          <p:cNvSpPr/>
          <p:nvPr/>
        </p:nvSpPr>
        <p:spPr>
          <a:xfrm>
            <a:off x="5577840" y="3785616"/>
            <a:ext cx="219456" cy="219456"/>
          </a:xfrm>
          <a:prstGeom prst="ellipse">
            <a:avLst/>
          </a:prstGeom>
          <a:solidFill>
            <a:srgbClr val="E5484D"/>
          </a:solidFill>
          <a:ln w="12700">
            <a:solidFill>
              <a:srgbClr val="E5484D"/>
            </a:solidFill>
            <a:prstDash val="solid"/>
          </a:ln>
        </p:spPr>
      </p:sp>
      <p:sp>
        <p:nvSpPr>
          <p:cNvPr id="46" name="Text 42"/>
          <p:cNvSpPr txBox="1"/>
          <p:nvPr/>
        </p:nvSpPr>
        <p:spPr>
          <a:xfrm>
            <a:off x="5577840" y="378561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</a:t>
            </a:r>
            <a:endParaRPr lang="en-US" sz="1100" dirty="0"/>
          </a:p>
        </p:txBody>
      </p:sp>
      <p:sp>
        <p:nvSpPr>
          <p:cNvPr id="47" name="Text 43"/>
          <p:cNvSpPr txBox="1"/>
          <p:nvPr/>
        </p:nvSpPr>
        <p:spPr>
          <a:xfrm>
            <a:off x="5925312" y="3790569"/>
            <a:ext cx="2642616" cy="2278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11 行注释 2nd line 应为第 1 行</a:t>
            </a:r>
            <a:endParaRPr lang="en-US" sz="1200" dirty="0"/>
          </a:p>
        </p:txBody>
      </p:sp>
      <p:sp>
        <p:nvSpPr>
          <p:cNvPr id="48" name="Shape 44"/>
          <p:cNvSpPr/>
          <p:nvPr/>
        </p:nvSpPr>
        <p:spPr>
          <a:xfrm>
            <a:off x="5577840" y="4096512"/>
            <a:ext cx="219456" cy="219456"/>
          </a:xfrm>
          <a:prstGeom prst="ellipse">
            <a:avLst/>
          </a:prstGeom>
          <a:solidFill>
            <a:srgbClr val="E5484D"/>
          </a:solidFill>
          <a:ln w="12700">
            <a:solidFill>
              <a:srgbClr val="E5484D"/>
            </a:solidFill>
            <a:prstDash val="solid"/>
          </a:ln>
        </p:spPr>
      </p:sp>
      <p:sp>
        <p:nvSpPr>
          <p:cNvPr id="49" name="Text 45"/>
          <p:cNvSpPr txBox="1"/>
          <p:nvPr/>
        </p:nvSpPr>
        <p:spPr>
          <a:xfrm>
            <a:off x="5577840" y="409651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1100" dirty="0"/>
          </a:p>
        </p:txBody>
      </p:sp>
      <p:sp>
        <p:nvSpPr>
          <p:cNvPr id="50" name="Text 46"/>
          <p:cNvSpPr txBox="1"/>
          <p:nvPr/>
        </p:nvSpPr>
        <p:spPr>
          <a:xfrm>
            <a:off x="5925312" y="4101465"/>
            <a:ext cx="2642616" cy="2278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“Hello Word” 应为 Hello World</a:t>
            </a:r>
            <a:endParaRPr lang="en-US" sz="1200" dirty="0"/>
          </a:p>
        </p:txBody>
      </p:sp>
      <p:sp>
        <p:nvSpPr>
          <p:cNvPr id="51" name="Shape 47"/>
          <p:cNvSpPr/>
          <p:nvPr/>
        </p:nvSpPr>
        <p:spPr>
          <a:xfrm>
            <a:off x="411480" y="3666744"/>
            <a:ext cx="4709160" cy="905256"/>
          </a:xfrm>
          <a:prstGeom prst="roundRect">
            <a:avLst>
              <a:gd name="adj" fmla="val 12121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52" name="Text 48"/>
          <p:cNvSpPr txBox="1"/>
          <p:nvPr/>
        </p:nvSpPr>
        <p:spPr>
          <a:xfrm>
            <a:off x="576072" y="3721608"/>
            <a:ext cx="43799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数一数第 2 行：</a:t>
            </a:r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548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编号 16 的格子不存在，t 看不见</a:t>
            </a:r>
            <a:endParaRPr lang="en-US" sz="1250" dirty="0"/>
          </a:p>
        </p:txBody>
      </p:sp>
      <p:sp>
        <p:nvSpPr>
          <p:cNvPr id="53" name="Shape 49"/>
          <p:cNvSpPr/>
          <p:nvPr/>
        </p:nvSpPr>
        <p:spPr>
          <a:xfrm>
            <a:off x="640080" y="4151376"/>
            <a:ext cx="228600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54" name="Text 50"/>
          <p:cNvSpPr txBox="1"/>
          <p:nvPr/>
        </p:nvSpPr>
        <p:spPr>
          <a:xfrm>
            <a:off x="630936" y="3959352"/>
            <a:ext cx="2468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000" dirty="0"/>
          </a:p>
        </p:txBody>
      </p:sp>
      <p:sp>
        <p:nvSpPr>
          <p:cNvPr id="55" name="Shape 51"/>
          <p:cNvSpPr/>
          <p:nvPr/>
        </p:nvSpPr>
        <p:spPr>
          <a:xfrm>
            <a:off x="886968" y="4151376"/>
            <a:ext cx="228600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56" name="Shape 52"/>
          <p:cNvSpPr/>
          <p:nvPr/>
        </p:nvSpPr>
        <p:spPr>
          <a:xfrm>
            <a:off x="1133856" y="4151376"/>
            <a:ext cx="228600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57" name="Shape 53"/>
          <p:cNvSpPr/>
          <p:nvPr/>
        </p:nvSpPr>
        <p:spPr>
          <a:xfrm>
            <a:off x="1380744" y="4151376"/>
            <a:ext cx="228600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58" name="Shape 54"/>
          <p:cNvSpPr/>
          <p:nvPr/>
        </p:nvSpPr>
        <p:spPr>
          <a:xfrm>
            <a:off x="1627632" y="4151376"/>
            <a:ext cx="228600" cy="310896"/>
          </a:xfrm>
          <a:prstGeom prst="rect">
            <a:avLst/>
          </a:prstGeom>
          <a:solidFill>
            <a:srgbClr val="E3FAF7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59" name="Text 55"/>
          <p:cNvSpPr txBox="1"/>
          <p:nvPr/>
        </p:nvSpPr>
        <p:spPr>
          <a:xfrm>
            <a:off x="1618488" y="4142232"/>
            <a:ext cx="2468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</a:t>
            </a:r>
            <a:endParaRPr lang="en-US" sz="1200" dirty="0"/>
          </a:p>
        </p:txBody>
      </p:sp>
      <p:sp>
        <p:nvSpPr>
          <p:cNvPr id="60" name="Text 56"/>
          <p:cNvSpPr txBox="1"/>
          <p:nvPr/>
        </p:nvSpPr>
        <p:spPr>
          <a:xfrm>
            <a:off x="1618488" y="3959352"/>
            <a:ext cx="2468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000" dirty="0"/>
          </a:p>
        </p:txBody>
      </p:sp>
      <p:sp>
        <p:nvSpPr>
          <p:cNvPr id="61" name="Shape 57"/>
          <p:cNvSpPr/>
          <p:nvPr/>
        </p:nvSpPr>
        <p:spPr>
          <a:xfrm>
            <a:off x="1874520" y="4151376"/>
            <a:ext cx="228600" cy="310896"/>
          </a:xfrm>
          <a:prstGeom prst="rect">
            <a:avLst/>
          </a:prstGeom>
          <a:solidFill>
            <a:srgbClr val="E3FAF7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62" name="Text 58"/>
          <p:cNvSpPr txBox="1"/>
          <p:nvPr/>
        </p:nvSpPr>
        <p:spPr>
          <a:xfrm>
            <a:off x="1865376" y="4142232"/>
            <a:ext cx="2468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</a:t>
            </a:r>
            <a:endParaRPr lang="en-US" sz="1200" dirty="0"/>
          </a:p>
        </p:txBody>
      </p:sp>
      <p:sp>
        <p:nvSpPr>
          <p:cNvPr id="63" name="Shape 59"/>
          <p:cNvSpPr/>
          <p:nvPr/>
        </p:nvSpPr>
        <p:spPr>
          <a:xfrm>
            <a:off x="2121408" y="4151376"/>
            <a:ext cx="228600" cy="310896"/>
          </a:xfrm>
          <a:prstGeom prst="rect">
            <a:avLst/>
          </a:prstGeom>
          <a:solidFill>
            <a:srgbClr val="E3FAF7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64" name="Text 60"/>
          <p:cNvSpPr txBox="1"/>
          <p:nvPr/>
        </p:nvSpPr>
        <p:spPr>
          <a:xfrm>
            <a:off x="2112264" y="4142232"/>
            <a:ext cx="2468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endParaRPr lang="en-US" sz="1200" dirty="0"/>
          </a:p>
        </p:txBody>
      </p:sp>
      <p:sp>
        <p:nvSpPr>
          <p:cNvPr id="65" name="Shape 61"/>
          <p:cNvSpPr/>
          <p:nvPr/>
        </p:nvSpPr>
        <p:spPr>
          <a:xfrm>
            <a:off x="2368296" y="4151376"/>
            <a:ext cx="228600" cy="310896"/>
          </a:xfrm>
          <a:prstGeom prst="rect">
            <a:avLst/>
          </a:prstGeom>
          <a:solidFill>
            <a:srgbClr val="E3FAF7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66" name="Text 62"/>
          <p:cNvSpPr txBox="1"/>
          <p:nvPr/>
        </p:nvSpPr>
        <p:spPr>
          <a:xfrm>
            <a:off x="2359152" y="4142232"/>
            <a:ext cx="2468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</a:t>
            </a:r>
            <a:endParaRPr lang="en-US" sz="1200" dirty="0"/>
          </a:p>
        </p:txBody>
      </p:sp>
      <p:sp>
        <p:nvSpPr>
          <p:cNvPr id="67" name="Shape 63"/>
          <p:cNvSpPr/>
          <p:nvPr/>
        </p:nvSpPr>
        <p:spPr>
          <a:xfrm>
            <a:off x="2615184" y="4151376"/>
            <a:ext cx="228600" cy="310896"/>
          </a:xfrm>
          <a:prstGeom prst="rect">
            <a:avLst/>
          </a:prstGeom>
          <a:solidFill>
            <a:srgbClr val="E3FAF7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68" name="Text 64"/>
          <p:cNvSpPr txBox="1"/>
          <p:nvPr/>
        </p:nvSpPr>
        <p:spPr>
          <a:xfrm>
            <a:off x="2606040" y="4142232"/>
            <a:ext cx="2468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</a:t>
            </a:r>
            <a:endParaRPr lang="en-US" sz="1200" dirty="0"/>
          </a:p>
        </p:txBody>
      </p:sp>
      <p:sp>
        <p:nvSpPr>
          <p:cNvPr id="69" name="Shape 65"/>
          <p:cNvSpPr/>
          <p:nvPr/>
        </p:nvSpPr>
        <p:spPr>
          <a:xfrm>
            <a:off x="2862072" y="4151376"/>
            <a:ext cx="228600" cy="310896"/>
          </a:xfrm>
          <a:prstGeom prst="rect">
            <a:avLst/>
          </a:prstGeom>
          <a:solidFill>
            <a:srgbClr val="E3FAF7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70" name="Text 66"/>
          <p:cNvSpPr txBox="1"/>
          <p:nvPr/>
        </p:nvSpPr>
        <p:spPr>
          <a:xfrm>
            <a:off x="2852928" y="4142232"/>
            <a:ext cx="2468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</a:t>
            </a:r>
            <a:endParaRPr lang="en-US" sz="1200" dirty="0"/>
          </a:p>
        </p:txBody>
      </p:sp>
      <p:sp>
        <p:nvSpPr>
          <p:cNvPr id="71" name="Shape 67"/>
          <p:cNvSpPr/>
          <p:nvPr/>
        </p:nvSpPr>
        <p:spPr>
          <a:xfrm>
            <a:off x="3108960" y="4151376"/>
            <a:ext cx="228600" cy="310896"/>
          </a:xfrm>
          <a:prstGeom prst="rect">
            <a:avLst/>
          </a:prstGeom>
          <a:solidFill>
            <a:srgbClr val="E3FAF7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72" name="Text 68"/>
          <p:cNvSpPr txBox="1"/>
          <p:nvPr/>
        </p:nvSpPr>
        <p:spPr>
          <a:xfrm>
            <a:off x="3099816" y="4142232"/>
            <a:ext cx="2468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</a:t>
            </a:r>
            <a:endParaRPr lang="en-US" sz="1200" dirty="0"/>
          </a:p>
        </p:txBody>
      </p:sp>
      <p:sp>
        <p:nvSpPr>
          <p:cNvPr id="73" name="Shape 69"/>
          <p:cNvSpPr/>
          <p:nvPr/>
        </p:nvSpPr>
        <p:spPr>
          <a:xfrm>
            <a:off x="3355848" y="4151376"/>
            <a:ext cx="228600" cy="310896"/>
          </a:xfrm>
          <a:prstGeom prst="rect">
            <a:avLst/>
          </a:prstGeom>
          <a:solidFill>
            <a:srgbClr val="E3FAF7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74" name="Shape 70"/>
          <p:cNvSpPr/>
          <p:nvPr/>
        </p:nvSpPr>
        <p:spPr>
          <a:xfrm>
            <a:off x="3602736" y="4151376"/>
            <a:ext cx="228600" cy="310896"/>
          </a:xfrm>
          <a:prstGeom prst="rect">
            <a:avLst/>
          </a:prstGeom>
          <a:solidFill>
            <a:srgbClr val="E3FAF7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75" name="Text 71"/>
          <p:cNvSpPr txBox="1"/>
          <p:nvPr/>
        </p:nvSpPr>
        <p:spPr>
          <a:xfrm>
            <a:off x="3593592" y="4142232"/>
            <a:ext cx="2468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</a:t>
            </a:r>
            <a:endParaRPr lang="en-US" sz="1200" dirty="0"/>
          </a:p>
        </p:txBody>
      </p:sp>
      <p:sp>
        <p:nvSpPr>
          <p:cNvPr id="76" name="Shape 72"/>
          <p:cNvSpPr/>
          <p:nvPr/>
        </p:nvSpPr>
        <p:spPr>
          <a:xfrm>
            <a:off x="3849624" y="4151376"/>
            <a:ext cx="228600" cy="310896"/>
          </a:xfrm>
          <a:prstGeom prst="rect">
            <a:avLst/>
          </a:prstGeom>
          <a:solidFill>
            <a:srgbClr val="E3FAF7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77" name="Text 73"/>
          <p:cNvSpPr txBox="1"/>
          <p:nvPr/>
        </p:nvSpPr>
        <p:spPr>
          <a:xfrm>
            <a:off x="3840480" y="4142232"/>
            <a:ext cx="2468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</a:t>
            </a:r>
            <a:endParaRPr lang="en-US" sz="1200" dirty="0"/>
          </a:p>
        </p:txBody>
      </p:sp>
      <p:sp>
        <p:nvSpPr>
          <p:cNvPr id="78" name="Shape 74"/>
          <p:cNvSpPr/>
          <p:nvPr/>
        </p:nvSpPr>
        <p:spPr>
          <a:xfrm>
            <a:off x="4096512" y="4151376"/>
            <a:ext cx="228600" cy="310896"/>
          </a:xfrm>
          <a:prstGeom prst="rect">
            <a:avLst/>
          </a:prstGeom>
          <a:solidFill>
            <a:srgbClr val="E3FAF7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79" name="Text 75"/>
          <p:cNvSpPr txBox="1"/>
          <p:nvPr/>
        </p:nvSpPr>
        <p:spPr>
          <a:xfrm>
            <a:off x="4087368" y="4142232"/>
            <a:ext cx="2468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</a:t>
            </a:r>
            <a:endParaRPr lang="en-US" sz="1200" dirty="0"/>
          </a:p>
        </p:txBody>
      </p:sp>
      <p:sp>
        <p:nvSpPr>
          <p:cNvPr id="80" name="Shape 76"/>
          <p:cNvSpPr/>
          <p:nvPr/>
        </p:nvSpPr>
        <p:spPr>
          <a:xfrm>
            <a:off x="4343400" y="4151376"/>
            <a:ext cx="228600" cy="310896"/>
          </a:xfrm>
          <a:prstGeom prst="rect">
            <a:avLst/>
          </a:prstGeom>
          <a:solidFill>
            <a:srgbClr val="E3FAF7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81" name="Text 77"/>
          <p:cNvSpPr txBox="1"/>
          <p:nvPr/>
        </p:nvSpPr>
        <p:spPr>
          <a:xfrm>
            <a:off x="4334256" y="4142232"/>
            <a:ext cx="2468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</a:t>
            </a:r>
            <a:endParaRPr lang="en-US" sz="1200" dirty="0"/>
          </a:p>
        </p:txBody>
      </p:sp>
      <p:sp>
        <p:nvSpPr>
          <p:cNvPr id="82" name="Text 78"/>
          <p:cNvSpPr txBox="1"/>
          <p:nvPr/>
        </p:nvSpPr>
        <p:spPr>
          <a:xfrm>
            <a:off x="4334256" y="3959352"/>
            <a:ext cx="2468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</a:t>
            </a:r>
            <a:endParaRPr lang="en-US" sz="1000" dirty="0"/>
          </a:p>
        </p:txBody>
      </p:sp>
      <p:sp>
        <p:nvSpPr>
          <p:cNvPr id="83" name="Shape 79"/>
          <p:cNvSpPr/>
          <p:nvPr/>
        </p:nvSpPr>
        <p:spPr>
          <a:xfrm>
            <a:off x="4608576" y="4151376"/>
            <a:ext cx="228600" cy="310896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E5484D"/>
            </a:solidFill>
            <a:prstDash val="solid"/>
          </a:ln>
        </p:spPr>
      </p:sp>
      <p:sp>
        <p:nvSpPr>
          <p:cNvPr id="84" name="Text 80"/>
          <p:cNvSpPr txBox="1"/>
          <p:nvPr/>
        </p:nvSpPr>
        <p:spPr>
          <a:xfrm>
            <a:off x="4581144" y="4142232"/>
            <a:ext cx="2468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E548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39328" y="4736592"/>
            <a:ext cx="393192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B6B6B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4572000" y="4736592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实验二　LCD1602 显示屏</a:t>
            </a:r>
            <a:endParaRPr lang="en-US" sz="8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411480" y="27432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实验结果：屏幕显示文字</a:t>
            </a:r>
            <a:endParaRPr lang="en-US" sz="24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411480" y="786384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原指南照片里屏幕显示 “Hello, world!”，和程序里的文字不一样——照片来自另一版程序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11480" y="1234440"/>
            <a:ext cx="4389120" cy="3337560"/>
          </a:xfrm>
          <a:prstGeom prst="roundRect">
            <a:avLst>
              <a:gd name="adj" fmla="val 3288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pic>
        <p:nvPicPr>
          <p:cNvPr id="7" name="Image 0" descr="原指南结果照片（显示 “Hello, world!”，来自另一版程序）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1208" y="1610205"/>
            <a:ext cx="4169664" cy="2311711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521208" y="4224528"/>
            <a:ext cx="4169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原指南结果照片（显示 “Hello, world!”，来自另一版程序）</a:t>
            </a:r>
            <a:endParaRPr lang="en-US" sz="1000" dirty="0"/>
          </a:p>
        </p:txBody>
      </p:sp>
      <p:sp>
        <p:nvSpPr>
          <p:cNvPr id="9" name="Text 5"/>
          <p:cNvSpPr txBox="1"/>
          <p:nvPr/>
        </p:nvSpPr>
        <p:spPr>
          <a:xfrm>
            <a:off x="5074920" y="1234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按本节程序，屏幕应该是这样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5120640" y="1600200"/>
            <a:ext cx="3566160" cy="841248"/>
          </a:xfrm>
          <a:prstGeom prst="roundRect">
            <a:avLst>
              <a:gd name="adj" fmla="val 6522"/>
            </a:avLst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5223053" y="1702613"/>
            <a:ext cx="189509" cy="307238"/>
          </a:xfrm>
          <a:prstGeom prst="rect">
            <a:avLst/>
          </a:prstGeom>
          <a:solidFill>
            <a:srgbClr val="3A3A3A"/>
          </a:solidFill>
          <a:ln w="9525">
            <a:solidFill>
              <a:srgbClr val="2D2D2D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5212080" y="1691640"/>
            <a:ext cx="21145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5434508" y="1702613"/>
            <a:ext cx="189509" cy="307238"/>
          </a:xfrm>
          <a:prstGeom prst="rect">
            <a:avLst/>
          </a:prstGeom>
          <a:solidFill>
            <a:srgbClr val="3A3A3A"/>
          </a:solidFill>
          <a:ln w="9525">
            <a:solidFill>
              <a:srgbClr val="2D2D2D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5423535" y="1691640"/>
            <a:ext cx="21145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5645963" y="1702613"/>
            <a:ext cx="189509" cy="307238"/>
          </a:xfrm>
          <a:prstGeom prst="rect">
            <a:avLst/>
          </a:prstGeom>
          <a:solidFill>
            <a:srgbClr val="3A3A3A"/>
          </a:solidFill>
          <a:ln w="9525">
            <a:solidFill>
              <a:srgbClr val="2D2D2D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5634990" y="1691640"/>
            <a:ext cx="21145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5857418" y="1702613"/>
            <a:ext cx="189509" cy="307238"/>
          </a:xfrm>
          <a:prstGeom prst="rect">
            <a:avLst/>
          </a:prstGeom>
          <a:solidFill>
            <a:srgbClr val="3A3A3A"/>
          </a:solidFill>
          <a:ln w="9525">
            <a:solidFill>
              <a:srgbClr val="2D2D2D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5846445" y="1691640"/>
            <a:ext cx="21145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</a:t>
            </a:r>
            <a:endParaRPr lang="en-US" sz="1150" dirty="0"/>
          </a:p>
        </p:txBody>
      </p:sp>
      <p:sp>
        <p:nvSpPr>
          <p:cNvPr id="19" name="Shape 15"/>
          <p:cNvSpPr/>
          <p:nvPr/>
        </p:nvSpPr>
        <p:spPr>
          <a:xfrm>
            <a:off x="6068873" y="1702613"/>
            <a:ext cx="189509" cy="307238"/>
          </a:xfrm>
          <a:prstGeom prst="rect">
            <a:avLst/>
          </a:prstGeom>
          <a:solidFill>
            <a:srgbClr val="3A3A3A"/>
          </a:solidFill>
          <a:ln w="9525">
            <a:solidFill>
              <a:srgbClr val="2D2D2D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6057900" y="1691640"/>
            <a:ext cx="21145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</a:t>
            </a:r>
            <a:endParaRPr lang="en-US" sz="1150" dirty="0"/>
          </a:p>
        </p:txBody>
      </p:sp>
      <p:sp>
        <p:nvSpPr>
          <p:cNvPr id="21" name="Shape 17"/>
          <p:cNvSpPr/>
          <p:nvPr/>
        </p:nvSpPr>
        <p:spPr>
          <a:xfrm>
            <a:off x="6280328" y="1702613"/>
            <a:ext cx="189509" cy="307238"/>
          </a:xfrm>
          <a:prstGeom prst="rect">
            <a:avLst/>
          </a:prstGeom>
          <a:solidFill>
            <a:srgbClr val="3A3A3A"/>
          </a:solidFill>
          <a:ln w="9525">
            <a:solidFill>
              <a:srgbClr val="2D2D2D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6491783" y="1702613"/>
            <a:ext cx="189509" cy="307238"/>
          </a:xfrm>
          <a:prstGeom prst="rect">
            <a:avLst/>
          </a:prstGeom>
          <a:solidFill>
            <a:srgbClr val="3A3A3A"/>
          </a:solidFill>
          <a:ln w="9525">
            <a:solidFill>
              <a:srgbClr val="2D2D2D"/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6480810" y="1691640"/>
            <a:ext cx="21145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</a:t>
            </a:r>
            <a:endParaRPr lang="en-US" sz="1150" dirty="0"/>
          </a:p>
        </p:txBody>
      </p:sp>
      <p:sp>
        <p:nvSpPr>
          <p:cNvPr id="24" name="Shape 20"/>
          <p:cNvSpPr/>
          <p:nvPr/>
        </p:nvSpPr>
        <p:spPr>
          <a:xfrm>
            <a:off x="6703238" y="1702613"/>
            <a:ext cx="189509" cy="307238"/>
          </a:xfrm>
          <a:prstGeom prst="rect">
            <a:avLst/>
          </a:prstGeom>
          <a:solidFill>
            <a:srgbClr val="3A3A3A"/>
          </a:solidFill>
          <a:ln w="9525">
            <a:solidFill>
              <a:srgbClr val="2D2D2D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6692265" y="1691640"/>
            <a:ext cx="21145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</a:t>
            </a:r>
            <a:endParaRPr lang="en-US" sz="1150" dirty="0"/>
          </a:p>
        </p:txBody>
      </p:sp>
      <p:sp>
        <p:nvSpPr>
          <p:cNvPr id="26" name="Shape 22"/>
          <p:cNvSpPr/>
          <p:nvPr/>
        </p:nvSpPr>
        <p:spPr>
          <a:xfrm>
            <a:off x="6914693" y="1702613"/>
            <a:ext cx="189509" cy="307238"/>
          </a:xfrm>
          <a:prstGeom prst="rect">
            <a:avLst/>
          </a:prstGeom>
          <a:solidFill>
            <a:srgbClr val="3A3A3A"/>
          </a:solidFill>
          <a:ln w="9525">
            <a:solidFill>
              <a:srgbClr val="2D2D2D"/>
            </a:solidFill>
            <a:prstDash val="solid"/>
          </a:ln>
        </p:spPr>
      </p:sp>
      <p:sp>
        <p:nvSpPr>
          <p:cNvPr id="27" name="Text 23"/>
          <p:cNvSpPr txBox="1"/>
          <p:nvPr/>
        </p:nvSpPr>
        <p:spPr>
          <a:xfrm>
            <a:off x="6903720" y="1691640"/>
            <a:ext cx="21145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</a:t>
            </a:r>
            <a:endParaRPr lang="en-US" sz="1150" dirty="0"/>
          </a:p>
        </p:txBody>
      </p:sp>
      <p:sp>
        <p:nvSpPr>
          <p:cNvPr id="28" name="Shape 24"/>
          <p:cNvSpPr/>
          <p:nvPr/>
        </p:nvSpPr>
        <p:spPr>
          <a:xfrm>
            <a:off x="7126148" y="1702613"/>
            <a:ext cx="189509" cy="307238"/>
          </a:xfrm>
          <a:prstGeom prst="rect">
            <a:avLst/>
          </a:prstGeom>
          <a:solidFill>
            <a:srgbClr val="3A3A3A"/>
          </a:solidFill>
          <a:ln w="9525">
            <a:solidFill>
              <a:srgbClr val="2D2D2D"/>
            </a:solidFill>
            <a:prstDash val="solid"/>
          </a:ln>
        </p:spPr>
      </p:sp>
      <p:sp>
        <p:nvSpPr>
          <p:cNvPr id="29" name="Text 25"/>
          <p:cNvSpPr txBox="1"/>
          <p:nvPr/>
        </p:nvSpPr>
        <p:spPr>
          <a:xfrm>
            <a:off x="7115175" y="1691640"/>
            <a:ext cx="21145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</a:t>
            </a:r>
            <a:endParaRPr lang="en-US" sz="1150" dirty="0"/>
          </a:p>
        </p:txBody>
      </p:sp>
      <p:sp>
        <p:nvSpPr>
          <p:cNvPr id="30" name="Shape 26"/>
          <p:cNvSpPr/>
          <p:nvPr/>
        </p:nvSpPr>
        <p:spPr>
          <a:xfrm>
            <a:off x="7337603" y="1702613"/>
            <a:ext cx="189509" cy="307238"/>
          </a:xfrm>
          <a:prstGeom prst="rect">
            <a:avLst/>
          </a:prstGeom>
          <a:solidFill>
            <a:srgbClr val="3A3A3A"/>
          </a:solidFill>
          <a:ln w="9525">
            <a:solidFill>
              <a:srgbClr val="2D2D2D"/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7549058" y="1702613"/>
            <a:ext cx="189509" cy="307238"/>
          </a:xfrm>
          <a:prstGeom prst="rect">
            <a:avLst/>
          </a:prstGeom>
          <a:solidFill>
            <a:srgbClr val="3A3A3A"/>
          </a:solidFill>
          <a:ln w="9525">
            <a:solidFill>
              <a:srgbClr val="2D2D2D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7760513" y="1702613"/>
            <a:ext cx="189509" cy="307238"/>
          </a:xfrm>
          <a:prstGeom prst="rect">
            <a:avLst/>
          </a:prstGeom>
          <a:solidFill>
            <a:srgbClr val="3A3A3A"/>
          </a:solidFill>
          <a:ln w="9525">
            <a:solidFill>
              <a:srgbClr val="2D2D2D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7971968" y="1702613"/>
            <a:ext cx="189509" cy="307238"/>
          </a:xfrm>
          <a:prstGeom prst="rect">
            <a:avLst/>
          </a:prstGeom>
          <a:solidFill>
            <a:srgbClr val="3A3A3A"/>
          </a:solidFill>
          <a:ln w="9525">
            <a:solidFill>
              <a:srgbClr val="2D2D2D"/>
            </a:solidFill>
            <a:prstDash val="solid"/>
          </a:ln>
        </p:spPr>
      </p:sp>
      <p:sp>
        <p:nvSpPr>
          <p:cNvPr id="34" name="Shape 30"/>
          <p:cNvSpPr/>
          <p:nvPr/>
        </p:nvSpPr>
        <p:spPr>
          <a:xfrm>
            <a:off x="8183423" y="1702613"/>
            <a:ext cx="189509" cy="307238"/>
          </a:xfrm>
          <a:prstGeom prst="rect">
            <a:avLst/>
          </a:prstGeom>
          <a:solidFill>
            <a:srgbClr val="3A3A3A"/>
          </a:solidFill>
          <a:ln w="9525">
            <a:solidFill>
              <a:srgbClr val="2D2D2D"/>
            </a:solidFill>
            <a:prstDash val="solid"/>
          </a:ln>
        </p:spPr>
      </p:sp>
      <p:sp>
        <p:nvSpPr>
          <p:cNvPr id="35" name="Shape 31"/>
          <p:cNvSpPr/>
          <p:nvPr/>
        </p:nvSpPr>
        <p:spPr>
          <a:xfrm>
            <a:off x="8394878" y="1702613"/>
            <a:ext cx="189509" cy="307238"/>
          </a:xfrm>
          <a:prstGeom prst="rect">
            <a:avLst/>
          </a:prstGeom>
          <a:solidFill>
            <a:srgbClr val="3A3A3A"/>
          </a:solidFill>
          <a:ln w="9525">
            <a:solidFill>
              <a:srgbClr val="2D2D2D"/>
            </a:solidFill>
            <a:prstDash val="solid"/>
          </a:ln>
        </p:spPr>
      </p:sp>
      <p:sp>
        <p:nvSpPr>
          <p:cNvPr id="36" name="Shape 32"/>
          <p:cNvSpPr/>
          <p:nvPr/>
        </p:nvSpPr>
        <p:spPr>
          <a:xfrm>
            <a:off x="5223053" y="2031797"/>
            <a:ext cx="189509" cy="307238"/>
          </a:xfrm>
          <a:prstGeom prst="rect">
            <a:avLst/>
          </a:prstGeom>
          <a:solidFill>
            <a:srgbClr val="3A3A3A"/>
          </a:solidFill>
          <a:ln w="9525">
            <a:solidFill>
              <a:srgbClr val="2D2D2D"/>
            </a:solidFill>
            <a:prstDash val="solid"/>
          </a:ln>
        </p:spPr>
      </p:sp>
      <p:sp>
        <p:nvSpPr>
          <p:cNvPr id="37" name="Shape 33"/>
          <p:cNvSpPr/>
          <p:nvPr/>
        </p:nvSpPr>
        <p:spPr>
          <a:xfrm>
            <a:off x="5434508" y="2031797"/>
            <a:ext cx="189509" cy="307238"/>
          </a:xfrm>
          <a:prstGeom prst="rect">
            <a:avLst/>
          </a:prstGeom>
          <a:solidFill>
            <a:srgbClr val="3A3A3A"/>
          </a:solidFill>
          <a:ln w="9525">
            <a:solidFill>
              <a:srgbClr val="2D2D2D"/>
            </a:solidFill>
            <a:prstDash val="solid"/>
          </a:ln>
        </p:spPr>
      </p:sp>
      <p:sp>
        <p:nvSpPr>
          <p:cNvPr id="38" name="Shape 34"/>
          <p:cNvSpPr/>
          <p:nvPr/>
        </p:nvSpPr>
        <p:spPr>
          <a:xfrm>
            <a:off x="5645963" y="2031797"/>
            <a:ext cx="189509" cy="307238"/>
          </a:xfrm>
          <a:prstGeom prst="rect">
            <a:avLst/>
          </a:prstGeom>
          <a:solidFill>
            <a:srgbClr val="3A3A3A"/>
          </a:solidFill>
          <a:ln w="9525">
            <a:solidFill>
              <a:srgbClr val="2D2D2D"/>
            </a:solidFill>
            <a:prstDash val="solid"/>
          </a:ln>
        </p:spPr>
      </p:sp>
      <p:sp>
        <p:nvSpPr>
          <p:cNvPr id="39" name="Shape 35"/>
          <p:cNvSpPr/>
          <p:nvPr/>
        </p:nvSpPr>
        <p:spPr>
          <a:xfrm>
            <a:off x="5857418" y="2031797"/>
            <a:ext cx="189509" cy="307238"/>
          </a:xfrm>
          <a:prstGeom prst="rect">
            <a:avLst/>
          </a:prstGeom>
          <a:solidFill>
            <a:srgbClr val="3A3A3A"/>
          </a:solidFill>
          <a:ln w="9525">
            <a:solidFill>
              <a:srgbClr val="2D2D2D"/>
            </a:solidFill>
            <a:prstDash val="solid"/>
          </a:ln>
        </p:spPr>
      </p:sp>
      <p:sp>
        <p:nvSpPr>
          <p:cNvPr id="40" name="Shape 36"/>
          <p:cNvSpPr/>
          <p:nvPr/>
        </p:nvSpPr>
        <p:spPr>
          <a:xfrm>
            <a:off x="6068873" y="2031797"/>
            <a:ext cx="189509" cy="307238"/>
          </a:xfrm>
          <a:prstGeom prst="rect">
            <a:avLst/>
          </a:prstGeom>
          <a:solidFill>
            <a:srgbClr val="3A3A3A"/>
          </a:solidFill>
          <a:ln w="9525">
            <a:solidFill>
              <a:srgbClr val="2D2D2D"/>
            </a:solidFill>
            <a:prstDash val="solid"/>
          </a:ln>
        </p:spPr>
      </p:sp>
      <p:sp>
        <p:nvSpPr>
          <p:cNvPr id="41" name="Text 37"/>
          <p:cNvSpPr txBox="1"/>
          <p:nvPr/>
        </p:nvSpPr>
        <p:spPr>
          <a:xfrm>
            <a:off x="6057900" y="2020824"/>
            <a:ext cx="21145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</a:t>
            </a:r>
            <a:endParaRPr lang="en-US" sz="1150" dirty="0"/>
          </a:p>
        </p:txBody>
      </p:sp>
      <p:sp>
        <p:nvSpPr>
          <p:cNvPr id="42" name="Shape 38"/>
          <p:cNvSpPr/>
          <p:nvPr/>
        </p:nvSpPr>
        <p:spPr>
          <a:xfrm>
            <a:off x="6280328" y="2031797"/>
            <a:ext cx="189509" cy="307238"/>
          </a:xfrm>
          <a:prstGeom prst="rect">
            <a:avLst/>
          </a:prstGeom>
          <a:solidFill>
            <a:srgbClr val="3A3A3A"/>
          </a:solidFill>
          <a:ln w="9525">
            <a:solidFill>
              <a:srgbClr val="2D2D2D"/>
            </a:solidFill>
            <a:prstDash val="solid"/>
          </a:ln>
        </p:spPr>
      </p:sp>
      <p:sp>
        <p:nvSpPr>
          <p:cNvPr id="43" name="Text 39"/>
          <p:cNvSpPr txBox="1"/>
          <p:nvPr/>
        </p:nvSpPr>
        <p:spPr>
          <a:xfrm>
            <a:off x="6269355" y="2020824"/>
            <a:ext cx="21145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</a:t>
            </a:r>
            <a:endParaRPr lang="en-US" sz="1150" dirty="0"/>
          </a:p>
        </p:txBody>
      </p:sp>
      <p:sp>
        <p:nvSpPr>
          <p:cNvPr id="44" name="Shape 40"/>
          <p:cNvSpPr/>
          <p:nvPr/>
        </p:nvSpPr>
        <p:spPr>
          <a:xfrm>
            <a:off x="6491783" y="2031797"/>
            <a:ext cx="189509" cy="307238"/>
          </a:xfrm>
          <a:prstGeom prst="rect">
            <a:avLst/>
          </a:prstGeom>
          <a:solidFill>
            <a:srgbClr val="3A3A3A"/>
          </a:solidFill>
          <a:ln w="9525">
            <a:solidFill>
              <a:srgbClr val="2D2D2D"/>
            </a:solidFill>
            <a:prstDash val="solid"/>
          </a:ln>
        </p:spPr>
      </p:sp>
      <p:sp>
        <p:nvSpPr>
          <p:cNvPr id="45" name="Text 41"/>
          <p:cNvSpPr txBox="1"/>
          <p:nvPr/>
        </p:nvSpPr>
        <p:spPr>
          <a:xfrm>
            <a:off x="6480810" y="2020824"/>
            <a:ext cx="21145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endParaRPr lang="en-US" sz="1150" dirty="0"/>
          </a:p>
        </p:txBody>
      </p:sp>
      <p:sp>
        <p:nvSpPr>
          <p:cNvPr id="46" name="Shape 42"/>
          <p:cNvSpPr/>
          <p:nvPr/>
        </p:nvSpPr>
        <p:spPr>
          <a:xfrm>
            <a:off x="6703238" y="2031797"/>
            <a:ext cx="189509" cy="307238"/>
          </a:xfrm>
          <a:prstGeom prst="rect">
            <a:avLst/>
          </a:prstGeom>
          <a:solidFill>
            <a:srgbClr val="3A3A3A"/>
          </a:solidFill>
          <a:ln w="9525">
            <a:solidFill>
              <a:srgbClr val="2D2D2D"/>
            </a:solidFill>
            <a:prstDash val="solid"/>
          </a:ln>
        </p:spPr>
      </p:sp>
      <p:sp>
        <p:nvSpPr>
          <p:cNvPr id="47" name="Text 43"/>
          <p:cNvSpPr txBox="1"/>
          <p:nvPr/>
        </p:nvSpPr>
        <p:spPr>
          <a:xfrm>
            <a:off x="6692265" y="2020824"/>
            <a:ext cx="21145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</a:t>
            </a:r>
            <a:endParaRPr lang="en-US" sz="1150" dirty="0"/>
          </a:p>
        </p:txBody>
      </p:sp>
      <p:sp>
        <p:nvSpPr>
          <p:cNvPr id="48" name="Shape 44"/>
          <p:cNvSpPr/>
          <p:nvPr/>
        </p:nvSpPr>
        <p:spPr>
          <a:xfrm>
            <a:off x="6914693" y="2031797"/>
            <a:ext cx="189509" cy="307238"/>
          </a:xfrm>
          <a:prstGeom prst="rect">
            <a:avLst/>
          </a:prstGeom>
          <a:solidFill>
            <a:srgbClr val="3A3A3A"/>
          </a:solidFill>
          <a:ln w="9525">
            <a:solidFill>
              <a:srgbClr val="2D2D2D"/>
            </a:solidFill>
            <a:prstDash val="solid"/>
          </a:ln>
        </p:spPr>
      </p:sp>
      <p:sp>
        <p:nvSpPr>
          <p:cNvPr id="49" name="Text 45"/>
          <p:cNvSpPr txBox="1"/>
          <p:nvPr/>
        </p:nvSpPr>
        <p:spPr>
          <a:xfrm>
            <a:off x="6903720" y="2020824"/>
            <a:ext cx="21145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</a:t>
            </a:r>
            <a:endParaRPr lang="en-US" sz="1150" dirty="0"/>
          </a:p>
        </p:txBody>
      </p:sp>
      <p:sp>
        <p:nvSpPr>
          <p:cNvPr id="50" name="Shape 46"/>
          <p:cNvSpPr/>
          <p:nvPr/>
        </p:nvSpPr>
        <p:spPr>
          <a:xfrm>
            <a:off x="7126148" y="2031797"/>
            <a:ext cx="189509" cy="307238"/>
          </a:xfrm>
          <a:prstGeom prst="rect">
            <a:avLst/>
          </a:prstGeom>
          <a:solidFill>
            <a:srgbClr val="3A3A3A"/>
          </a:solidFill>
          <a:ln w="9525">
            <a:solidFill>
              <a:srgbClr val="2D2D2D"/>
            </a:solidFill>
            <a:prstDash val="solid"/>
          </a:ln>
        </p:spPr>
      </p:sp>
      <p:sp>
        <p:nvSpPr>
          <p:cNvPr id="51" name="Text 47"/>
          <p:cNvSpPr txBox="1"/>
          <p:nvPr/>
        </p:nvSpPr>
        <p:spPr>
          <a:xfrm>
            <a:off x="7115175" y="2020824"/>
            <a:ext cx="21145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</a:t>
            </a:r>
            <a:endParaRPr lang="en-US" sz="1150" dirty="0"/>
          </a:p>
        </p:txBody>
      </p:sp>
      <p:sp>
        <p:nvSpPr>
          <p:cNvPr id="52" name="Shape 48"/>
          <p:cNvSpPr/>
          <p:nvPr/>
        </p:nvSpPr>
        <p:spPr>
          <a:xfrm>
            <a:off x="7337603" y="2031797"/>
            <a:ext cx="189509" cy="307238"/>
          </a:xfrm>
          <a:prstGeom prst="rect">
            <a:avLst/>
          </a:prstGeom>
          <a:solidFill>
            <a:srgbClr val="3A3A3A"/>
          </a:solidFill>
          <a:ln w="9525">
            <a:solidFill>
              <a:srgbClr val="2D2D2D"/>
            </a:solidFill>
            <a:prstDash val="solid"/>
          </a:ln>
        </p:spPr>
      </p:sp>
      <p:sp>
        <p:nvSpPr>
          <p:cNvPr id="53" name="Text 49"/>
          <p:cNvSpPr txBox="1"/>
          <p:nvPr/>
        </p:nvSpPr>
        <p:spPr>
          <a:xfrm>
            <a:off x="7326630" y="2020824"/>
            <a:ext cx="21145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</a:t>
            </a:r>
            <a:endParaRPr lang="en-US" sz="1150" dirty="0"/>
          </a:p>
        </p:txBody>
      </p:sp>
      <p:sp>
        <p:nvSpPr>
          <p:cNvPr id="54" name="Shape 50"/>
          <p:cNvSpPr/>
          <p:nvPr/>
        </p:nvSpPr>
        <p:spPr>
          <a:xfrm>
            <a:off x="7549058" y="2031797"/>
            <a:ext cx="189509" cy="307238"/>
          </a:xfrm>
          <a:prstGeom prst="rect">
            <a:avLst/>
          </a:prstGeom>
          <a:solidFill>
            <a:srgbClr val="3A3A3A"/>
          </a:solidFill>
          <a:ln w="9525">
            <a:solidFill>
              <a:srgbClr val="2D2D2D"/>
            </a:solidFill>
            <a:prstDash val="solid"/>
          </a:ln>
        </p:spPr>
      </p:sp>
      <p:sp>
        <p:nvSpPr>
          <p:cNvPr id="55" name="Shape 51"/>
          <p:cNvSpPr/>
          <p:nvPr/>
        </p:nvSpPr>
        <p:spPr>
          <a:xfrm>
            <a:off x="7760513" y="2031797"/>
            <a:ext cx="189509" cy="307238"/>
          </a:xfrm>
          <a:prstGeom prst="rect">
            <a:avLst/>
          </a:prstGeom>
          <a:solidFill>
            <a:srgbClr val="3A3A3A"/>
          </a:solidFill>
          <a:ln w="9525">
            <a:solidFill>
              <a:srgbClr val="2D2D2D"/>
            </a:solidFill>
            <a:prstDash val="solid"/>
          </a:ln>
        </p:spPr>
      </p:sp>
      <p:sp>
        <p:nvSpPr>
          <p:cNvPr id="56" name="Text 52"/>
          <p:cNvSpPr txBox="1"/>
          <p:nvPr/>
        </p:nvSpPr>
        <p:spPr>
          <a:xfrm>
            <a:off x="7749540" y="2020824"/>
            <a:ext cx="21145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</a:t>
            </a:r>
            <a:endParaRPr lang="en-US" sz="1150" dirty="0"/>
          </a:p>
        </p:txBody>
      </p:sp>
      <p:sp>
        <p:nvSpPr>
          <p:cNvPr id="57" name="Shape 53"/>
          <p:cNvSpPr/>
          <p:nvPr/>
        </p:nvSpPr>
        <p:spPr>
          <a:xfrm>
            <a:off x="7971968" y="2031797"/>
            <a:ext cx="189509" cy="307238"/>
          </a:xfrm>
          <a:prstGeom prst="rect">
            <a:avLst/>
          </a:prstGeom>
          <a:solidFill>
            <a:srgbClr val="3A3A3A"/>
          </a:solidFill>
          <a:ln w="9525">
            <a:solidFill>
              <a:srgbClr val="2D2D2D"/>
            </a:solidFill>
            <a:prstDash val="solid"/>
          </a:ln>
        </p:spPr>
      </p:sp>
      <p:sp>
        <p:nvSpPr>
          <p:cNvPr id="58" name="Text 54"/>
          <p:cNvSpPr txBox="1"/>
          <p:nvPr/>
        </p:nvSpPr>
        <p:spPr>
          <a:xfrm>
            <a:off x="7960995" y="2020824"/>
            <a:ext cx="21145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</a:t>
            </a:r>
            <a:endParaRPr lang="en-US" sz="1150" dirty="0"/>
          </a:p>
        </p:txBody>
      </p:sp>
      <p:sp>
        <p:nvSpPr>
          <p:cNvPr id="59" name="Shape 55"/>
          <p:cNvSpPr/>
          <p:nvPr/>
        </p:nvSpPr>
        <p:spPr>
          <a:xfrm>
            <a:off x="8183423" y="2031797"/>
            <a:ext cx="189509" cy="307238"/>
          </a:xfrm>
          <a:prstGeom prst="rect">
            <a:avLst/>
          </a:prstGeom>
          <a:solidFill>
            <a:srgbClr val="3A3A3A"/>
          </a:solidFill>
          <a:ln w="9525">
            <a:solidFill>
              <a:srgbClr val="2D2D2D"/>
            </a:solidFill>
            <a:prstDash val="solid"/>
          </a:ln>
        </p:spPr>
      </p:sp>
      <p:sp>
        <p:nvSpPr>
          <p:cNvPr id="60" name="Text 56"/>
          <p:cNvSpPr txBox="1"/>
          <p:nvPr/>
        </p:nvSpPr>
        <p:spPr>
          <a:xfrm>
            <a:off x="8172450" y="2020824"/>
            <a:ext cx="21145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</a:t>
            </a:r>
            <a:endParaRPr lang="en-US" sz="1150" dirty="0"/>
          </a:p>
        </p:txBody>
      </p:sp>
      <p:sp>
        <p:nvSpPr>
          <p:cNvPr id="61" name="Shape 57"/>
          <p:cNvSpPr/>
          <p:nvPr/>
        </p:nvSpPr>
        <p:spPr>
          <a:xfrm>
            <a:off x="8394878" y="2031797"/>
            <a:ext cx="189509" cy="307238"/>
          </a:xfrm>
          <a:prstGeom prst="rect">
            <a:avLst/>
          </a:prstGeom>
          <a:solidFill>
            <a:srgbClr val="3A3A3A"/>
          </a:solidFill>
          <a:ln w="9525">
            <a:solidFill>
              <a:srgbClr val="2D2D2D"/>
            </a:solidFill>
            <a:prstDash val="solid"/>
          </a:ln>
        </p:spPr>
      </p:sp>
      <p:sp>
        <p:nvSpPr>
          <p:cNvPr id="62" name="Text 58"/>
          <p:cNvSpPr txBox="1"/>
          <p:nvPr/>
        </p:nvSpPr>
        <p:spPr>
          <a:xfrm>
            <a:off x="8383905" y="2020824"/>
            <a:ext cx="21145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</a:t>
            </a:r>
            <a:endParaRPr lang="en-US" sz="1150" dirty="0"/>
          </a:p>
        </p:txBody>
      </p:sp>
      <p:sp>
        <p:nvSpPr>
          <p:cNvPr id="63" name="Shape 59"/>
          <p:cNvSpPr/>
          <p:nvPr/>
        </p:nvSpPr>
        <p:spPr>
          <a:xfrm>
            <a:off x="5074920" y="2715768"/>
            <a:ext cx="3657600" cy="786384"/>
          </a:xfrm>
          <a:prstGeom prst="roundRect">
            <a:avLst>
              <a:gd name="adj" fmla="val 13953"/>
            </a:avLst>
          </a:prstGeom>
          <a:solidFill>
            <a:srgbClr val="E3FAF7"/>
          </a:solidFill>
          <a:ln w="12700">
            <a:solidFill>
              <a:srgbClr val="E3FAF7"/>
            </a:solidFill>
            <a:prstDash val="solid"/>
          </a:ln>
        </p:spPr>
      </p:sp>
      <p:sp>
        <p:nvSpPr>
          <p:cNvPr id="64" name="Shape 60"/>
          <p:cNvSpPr/>
          <p:nvPr/>
        </p:nvSpPr>
        <p:spPr>
          <a:xfrm>
            <a:off x="5221224" y="2862072"/>
            <a:ext cx="329184" cy="329184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6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0228" y="2941076"/>
            <a:ext cx="171176" cy="171176"/>
          </a:xfrm>
          <a:prstGeom prst="rect">
            <a:avLst/>
          </a:prstGeom>
        </p:spPr>
      </p:pic>
      <p:sp>
        <p:nvSpPr>
          <p:cNvPr id="66" name="Text 61"/>
          <p:cNvSpPr txBox="1"/>
          <p:nvPr/>
        </p:nvSpPr>
        <p:spPr>
          <a:xfrm>
            <a:off x="5678424" y="2852928"/>
            <a:ext cx="2907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照片和程序为什么不一样</a:t>
            </a:r>
            <a:endParaRPr lang="en-US" sz="1300" dirty="0"/>
          </a:p>
        </p:txBody>
      </p:sp>
      <p:sp>
        <p:nvSpPr>
          <p:cNvPr id="67" name="Text 62"/>
          <p:cNvSpPr txBox="1"/>
          <p:nvPr/>
        </p:nvSpPr>
        <p:spPr>
          <a:xfrm>
            <a:off x="5678424" y="3163824"/>
            <a:ext cx="290779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照片拍的是另一版程序，以本页为准。</a:t>
            </a:r>
            <a:endParaRPr lang="en-US" sz="1200" dirty="0"/>
          </a:p>
        </p:txBody>
      </p:sp>
      <p:sp>
        <p:nvSpPr>
          <p:cNvPr id="68" name="Shape 63"/>
          <p:cNvSpPr/>
          <p:nvPr/>
        </p:nvSpPr>
        <p:spPr>
          <a:xfrm>
            <a:off x="5074920" y="3776472"/>
            <a:ext cx="3657600" cy="795528"/>
          </a:xfrm>
          <a:prstGeom prst="roundRect">
            <a:avLst>
              <a:gd name="adj" fmla="val 13793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69" name="Shape 64"/>
          <p:cNvSpPr/>
          <p:nvPr/>
        </p:nvSpPr>
        <p:spPr>
          <a:xfrm>
            <a:off x="5221224" y="3922776"/>
            <a:ext cx="329184" cy="329184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7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0228" y="4001780"/>
            <a:ext cx="171176" cy="171176"/>
          </a:xfrm>
          <a:prstGeom prst="rect">
            <a:avLst/>
          </a:prstGeom>
        </p:spPr>
      </p:pic>
      <p:sp>
        <p:nvSpPr>
          <p:cNvPr id="71" name="Text 65"/>
          <p:cNvSpPr txBox="1"/>
          <p:nvPr/>
        </p:nvSpPr>
        <p:spPr>
          <a:xfrm>
            <a:off x="5678424" y="3913632"/>
            <a:ext cx="2907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想显示 Hello World？</a:t>
            </a:r>
            <a:endParaRPr lang="en-US" sz="1300" dirty="0"/>
          </a:p>
        </p:txBody>
      </p:sp>
      <p:sp>
        <p:nvSpPr>
          <p:cNvPr id="72" name="Text 66"/>
          <p:cNvSpPr txBox="1"/>
          <p:nvPr/>
        </p:nvSpPr>
        <p:spPr>
          <a:xfrm>
            <a:off x="5678424" y="4224528"/>
            <a:ext cx="2907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把第 12 行的 Word 改成 World 再上传。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39328" y="4736592"/>
            <a:ext cx="393192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B6B6B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4572000" y="4736592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实验二　LCD1602 显示屏</a:t>
            </a:r>
            <a:endParaRPr lang="en-US" sz="8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411480" y="27432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常见问题与动手改一改</a:t>
            </a:r>
            <a:endParaRPr lang="en-US" sz="24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411480" y="786384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背光亮了却没有字，先调转接板背面的蓝色电位器；跑通以后，让屏幕“动”起来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11480" y="1234440"/>
            <a:ext cx="4434840" cy="1828800"/>
          </a:xfrm>
          <a:prstGeom prst="roundRect">
            <a:avLst>
              <a:gd name="adj" fmla="val 6000"/>
            </a:avLst>
          </a:prstGeom>
          <a:solidFill>
            <a:srgbClr val="E3FAF7"/>
          </a:solidFill>
          <a:ln w="12700">
            <a:solidFill>
              <a:srgbClr val="E3FAF7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76072" y="1380744"/>
            <a:ext cx="347472" cy="347472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9465" y="1464137"/>
            <a:ext cx="180685" cy="180685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014984" y="1380744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背光亮了，却不显示字？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3255264" y="1362456"/>
            <a:ext cx="1463040" cy="1572768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1" name="Image 1" descr="蓝色方块 = 电位器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4992" y="1771081"/>
            <a:ext cx="1243584" cy="517775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3364992" y="2624328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蓝色方块 = 电位器</a:t>
            </a:r>
            <a:endParaRPr lang="en-US" sz="1000" dirty="0"/>
          </a:p>
        </p:txBody>
      </p:sp>
      <p:sp>
        <p:nvSpPr>
          <p:cNvPr id="13" name="Shape 8"/>
          <p:cNvSpPr/>
          <p:nvPr/>
        </p:nvSpPr>
        <p:spPr>
          <a:xfrm>
            <a:off x="576072" y="1874520"/>
            <a:ext cx="219456" cy="219456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14" name="Text 9"/>
          <p:cNvSpPr txBox="1"/>
          <p:nvPr/>
        </p:nvSpPr>
        <p:spPr>
          <a:xfrm>
            <a:off x="576072" y="187452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</a:t>
            </a:r>
            <a:endParaRPr lang="en-US" sz="1100" dirty="0"/>
          </a:p>
        </p:txBody>
      </p:sp>
      <p:sp>
        <p:nvSpPr>
          <p:cNvPr id="15" name="Text 10"/>
          <p:cNvSpPr txBox="1"/>
          <p:nvPr/>
        </p:nvSpPr>
        <p:spPr>
          <a:xfrm>
            <a:off x="923544" y="1879473"/>
            <a:ext cx="2167128" cy="2278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原指南：调背面的蓝色电位器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576072" y="2203704"/>
            <a:ext cx="219456" cy="219456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17" name="Text 12"/>
          <p:cNvSpPr txBox="1"/>
          <p:nvPr/>
        </p:nvSpPr>
        <p:spPr>
          <a:xfrm>
            <a:off x="576072" y="2203704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1100" dirty="0"/>
          </a:p>
        </p:txBody>
      </p:sp>
      <p:sp>
        <p:nvSpPr>
          <p:cNvPr id="18" name="Text 13"/>
          <p:cNvSpPr txBox="1"/>
          <p:nvPr/>
        </p:nvSpPr>
        <p:spPr>
          <a:xfrm>
            <a:off x="923544" y="2208657"/>
            <a:ext cx="2167128" cy="2278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用小螺丝刀慢慢转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576072" y="2532888"/>
            <a:ext cx="219456" cy="219456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576072" y="253288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</a:t>
            </a:r>
            <a:endParaRPr lang="en-US" sz="1100" dirty="0"/>
          </a:p>
        </p:txBody>
      </p:sp>
      <p:sp>
        <p:nvSpPr>
          <p:cNvPr id="21" name="Text 16"/>
          <p:cNvSpPr txBox="1"/>
          <p:nvPr/>
        </p:nvSpPr>
        <p:spPr>
          <a:xfrm>
            <a:off x="923544" y="2537841"/>
            <a:ext cx="2167128" cy="2278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满屏黑方块＝转过头，往回调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411480" y="3337560"/>
            <a:ext cx="208026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5484D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576072" y="3502152"/>
            <a:ext cx="310896" cy="310896"/>
          </a:xfrm>
          <a:prstGeom prst="ellipse">
            <a:avLst/>
          </a:prstGeom>
          <a:solidFill>
            <a:srgbClr val="E5484D"/>
          </a:solidFill>
          <a:ln w="12700">
            <a:solidFill>
              <a:srgbClr val="E5484D"/>
            </a:solidFill>
            <a:prstDash val="solid"/>
          </a:ln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687" y="3576767"/>
            <a:ext cx="161666" cy="161666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996696" y="3502152"/>
            <a:ext cx="13304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E548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只有一排黑方块</a:t>
            </a:r>
            <a:endParaRPr lang="en-US" sz="1300" dirty="0"/>
          </a:p>
        </p:txBody>
      </p:sp>
      <p:sp>
        <p:nvSpPr>
          <p:cNvPr id="26" name="Text 20"/>
          <p:cNvSpPr txBox="1"/>
          <p:nvPr/>
        </p:nvSpPr>
        <p:spPr>
          <a:xfrm>
            <a:off x="576072" y="3904488"/>
            <a:ext cx="1751076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地址不对或程序没跑：用程序①核对地址。</a:t>
            </a:r>
            <a:endParaRPr lang="en-US" sz="1200" dirty="0"/>
          </a:p>
        </p:txBody>
      </p:sp>
      <p:sp>
        <p:nvSpPr>
          <p:cNvPr id="27" name="Shape 21"/>
          <p:cNvSpPr/>
          <p:nvPr/>
        </p:nvSpPr>
        <p:spPr>
          <a:xfrm>
            <a:off x="2766060" y="3337560"/>
            <a:ext cx="208026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5484D"/>
            </a:solidFill>
            <a:prstDash val="solid"/>
          </a:ln>
        </p:spPr>
      </p:sp>
      <p:sp>
        <p:nvSpPr>
          <p:cNvPr id="28" name="Shape 22"/>
          <p:cNvSpPr/>
          <p:nvPr/>
        </p:nvSpPr>
        <p:spPr>
          <a:xfrm>
            <a:off x="2930652" y="3502152"/>
            <a:ext cx="310896" cy="310896"/>
          </a:xfrm>
          <a:prstGeom prst="ellipse">
            <a:avLst/>
          </a:prstGeom>
          <a:solidFill>
            <a:srgbClr val="E5484D"/>
          </a:solidFill>
          <a:ln w="12700">
            <a:solidFill>
              <a:srgbClr val="E5484D"/>
            </a:solidFill>
            <a:prstDash val="solid"/>
          </a:ln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05267" y="3576767"/>
            <a:ext cx="161666" cy="161666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3351276" y="3502152"/>
            <a:ext cx="13304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E548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扫出 0 个设备</a:t>
            </a:r>
            <a:endParaRPr lang="en-US" sz="1300" dirty="0"/>
          </a:p>
        </p:txBody>
      </p:sp>
      <p:sp>
        <p:nvSpPr>
          <p:cNvPr id="31" name="Text 24"/>
          <p:cNvSpPr txBox="1"/>
          <p:nvPr/>
        </p:nvSpPr>
        <p:spPr>
          <a:xfrm>
            <a:off x="2930652" y="3904488"/>
            <a:ext cx="1751076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查 SDA、SCL 是否接反、松动。</a:t>
            </a:r>
            <a:endParaRPr lang="en-US" sz="1200" dirty="0"/>
          </a:p>
        </p:txBody>
      </p:sp>
      <p:sp>
        <p:nvSpPr>
          <p:cNvPr id="32" name="Shape 25"/>
          <p:cNvSpPr/>
          <p:nvPr/>
        </p:nvSpPr>
        <p:spPr>
          <a:xfrm>
            <a:off x="5120640" y="1234440"/>
            <a:ext cx="3611880" cy="3337560"/>
          </a:xfrm>
          <a:prstGeom prst="roundRect">
            <a:avLst>
              <a:gd name="adj" fmla="val 3288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33" name="Shape 26"/>
          <p:cNvSpPr/>
          <p:nvPr/>
        </p:nvSpPr>
        <p:spPr>
          <a:xfrm>
            <a:off x="5303520" y="1399032"/>
            <a:ext cx="384048" cy="384048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3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95692" y="1491204"/>
            <a:ext cx="199705" cy="199705"/>
          </a:xfrm>
          <a:prstGeom prst="rect">
            <a:avLst/>
          </a:prstGeom>
        </p:spPr>
      </p:pic>
      <p:sp>
        <p:nvSpPr>
          <p:cNvPr id="35" name="Text 27"/>
          <p:cNvSpPr txBox="1"/>
          <p:nvPr/>
        </p:nvSpPr>
        <p:spPr>
          <a:xfrm>
            <a:off x="5815584" y="1399032"/>
            <a:ext cx="2734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动手改一改</a:t>
            </a:r>
            <a:endParaRPr lang="en-US" sz="1500" dirty="0"/>
          </a:p>
        </p:txBody>
      </p:sp>
      <p:sp>
        <p:nvSpPr>
          <p:cNvPr id="36" name="Text 28"/>
          <p:cNvSpPr txBox="1"/>
          <p:nvPr/>
        </p:nvSpPr>
        <p:spPr>
          <a:xfrm>
            <a:off x="5303520" y="1911096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挑战 1　</a:t>
            </a:r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显示你的名字（只能用英文字母）</a:t>
            </a:r>
            <a:endParaRPr lang="en-US" sz="1250" dirty="0"/>
          </a:p>
        </p:txBody>
      </p:sp>
      <p:sp>
        <p:nvSpPr>
          <p:cNvPr id="37" name="Shape 29"/>
          <p:cNvSpPr/>
          <p:nvPr/>
        </p:nvSpPr>
        <p:spPr>
          <a:xfrm>
            <a:off x="5303520" y="2203704"/>
            <a:ext cx="3246120" cy="369570"/>
          </a:xfrm>
          <a:prstGeom prst="roundRect">
            <a:avLst>
              <a:gd name="adj" fmla="val 19794"/>
            </a:avLst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38" name="Text 30"/>
          <p:cNvSpPr txBox="1"/>
          <p:nvPr/>
        </p:nvSpPr>
        <p:spPr>
          <a:xfrm>
            <a:off x="5449824" y="2295144"/>
            <a:ext cx="2953512" cy="1866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lcd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05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"Li Ming"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050" dirty="0"/>
          </a:p>
        </p:txBody>
      </p:sp>
      <p:sp>
        <p:nvSpPr>
          <p:cNvPr id="39" name="Text 31"/>
          <p:cNvSpPr txBox="1"/>
          <p:nvPr/>
        </p:nvSpPr>
        <p:spPr>
          <a:xfrm>
            <a:off x="5303520" y="2719578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挑战 2　</a:t>
            </a:r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做个秒表：把 loop() 改成</a:t>
            </a:r>
            <a:endParaRPr lang="en-US" sz="1250" dirty="0"/>
          </a:p>
        </p:txBody>
      </p:sp>
      <p:sp>
        <p:nvSpPr>
          <p:cNvPr id="40" name="Shape 32"/>
          <p:cNvSpPr/>
          <p:nvPr/>
        </p:nvSpPr>
        <p:spPr>
          <a:xfrm>
            <a:off x="5303520" y="3012186"/>
            <a:ext cx="3246120" cy="1116330"/>
          </a:xfrm>
          <a:prstGeom prst="roundRect">
            <a:avLst>
              <a:gd name="adj" fmla="val 6553"/>
            </a:avLst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41" name="Text 33"/>
          <p:cNvSpPr txBox="1"/>
          <p:nvPr/>
        </p:nvSpPr>
        <p:spPr>
          <a:xfrm>
            <a:off x="5449824" y="3103626"/>
            <a:ext cx="2953512" cy="1866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</a:t>
            </a:r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loop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{</a:t>
            </a:r>
            <a:endParaRPr lang="en-US" sz="1050" dirty="0"/>
          </a:p>
        </p:txBody>
      </p:sp>
      <p:sp>
        <p:nvSpPr>
          <p:cNvPr id="42" name="Shape 34"/>
          <p:cNvSpPr/>
          <p:nvPr/>
        </p:nvSpPr>
        <p:spPr>
          <a:xfrm>
            <a:off x="5349240" y="3290316"/>
            <a:ext cx="3154680" cy="186690"/>
          </a:xfrm>
          <a:prstGeom prst="rect">
            <a:avLst/>
          </a:prstGeom>
          <a:solidFill>
            <a:srgbClr val="3E5250"/>
          </a:solidFill>
          <a:ln w="12700">
            <a:solidFill>
              <a:srgbClr val="3E5250"/>
            </a:solidFill>
            <a:prstDash val="solid"/>
          </a:ln>
        </p:spPr>
      </p:sp>
      <p:sp>
        <p:nvSpPr>
          <p:cNvPr id="43" name="Text 35"/>
          <p:cNvSpPr txBox="1"/>
          <p:nvPr/>
        </p:nvSpPr>
        <p:spPr>
          <a:xfrm>
            <a:off x="5449824" y="3290316"/>
            <a:ext cx="2953512" cy="1866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lcd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0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setCursor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05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05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050" dirty="0"/>
          </a:p>
        </p:txBody>
      </p:sp>
      <p:sp>
        <p:nvSpPr>
          <p:cNvPr id="44" name="Shape 36"/>
          <p:cNvSpPr/>
          <p:nvPr/>
        </p:nvSpPr>
        <p:spPr>
          <a:xfrm>
            <a:off x="5349240" y="3477006"/>
            <a:ext cx="3154680" cy="186690"/>
          </a:xfrm>
          <a:prstGeom prst="rect">
            <a:avLst/>
          </a:prstGeom>
          <a:solidFill>
            <a:srgbClr val="3E5250"/>
          </a:solidFill>
          <a:ln w="12700">
            <a:solidFill>
              <a:srgbClr val="3E5250"/>
            </a:solidFill>
            <a:prstDash val="solid"/>
          </a:ln>
        </p:spPr>
      </p:sp>
      <p:sp>
        <p:nvSpPr>
          <p:cNvPr id="45" name="Text 37"/>
          <p:cNvSpPr txBox="1"/>
          <p:nvPr/>
        </p:nvSpPr>
        <p:spPr>
          <a:xfrm>
            <a:off x="5449824" y="3477006"/>
            <a:ext cx="2953512" cy="1866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lcd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millis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()/</a:t>
            </a:r>
            <a:pPr indent="0" marL="0">
              <a:buNone/>
            </a:pPr>
            <a:r>
              <a:rPr lang="en-US" sz="105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1000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050" dirty="0"/>
          </a:p>
        </p:txBody>
      </p:sp>
      <p:sp>
        <p:nvSpPr>
          <p:cNvPr id="46" name="Shape 38"/>
          <p:cNvSpPr/>
          <p:nvPr/>
        </p:nvSpPr>
        <p:spPr>
          <a:xfrm>
            <a:off x="5349240" y="3663696"/>
            <a:ext cx="3154680" cy="186690"/>
          </a:xfrm>
          <a:prstGeom prst="rect">
            <a:avLst/>
          </a:prstGeom>
          <a:solidFill>
            <a:srgbClr val="3E5250"/>
          </a:solidFill>
          <a:ln w="12700">
            <a:solidFill>
              <a:srgbClr val="3E5250"/>
            </a:solidFill>
            <a:prstDash val="solid"/>
          </a:ln>
        </p:spPr>
      </p:sp>
      <p:sp>
        <p:nvSpPr>
          <p:cNvPr id="47" name="Text 39"/>
          <p:cNvSpPr txBox="1"/>
          <p:nvPr/>
        </p:nvSpPr>
        <p:spPr>
          <a:xfrm>
            <a:off x="5449824" y="3663696"/>
            <a:ext cx="2953512" cy="1866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delay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05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200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050" dirty="0"/>
          </a:p>
        </p:txBody>
      </p:sp>
      <p:sp>
        <p:nvSpPr>
          <p:cNvPr id="48" name="Text 40"/>
          <p:cNvSpPr txBox="1"/>
          <p:nvPr/>
        </p:nvSpPr>
        <p:spPr>
          <a:xfrm>
            <a:off x="5449824" y="3850386"/>
            <a:ext cx="2953512" cy="1866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</p:txBody>
      </p:sp>
      <p:sp>
        <p:nvSpPr>
          <p:cNvPr id="49" name="Text 41"/>
          <p:cNvSpPr txBox="1"/>
          <p:nvPr/>
        </p:nvSpPr>
        <p:spPr>
          <a:xfrm>
            <a:off x="5303520" y="4183380"/>
            <a:ext cx="3246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2 行左边会显示开机后的秒数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39328" y="4736592"/>
            <a:ext cx="393192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B6B6B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4572000" y="4736592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小结</a:t>
            </a:r>
            <a:endParaRPr lang="en-US" sz="8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411480" y="27432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本节小结</a:t>
            </a:r>
            <a:endParaRPr lang="en-US" sz="24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411480" y="786384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两个模块，一个套路：装库 → #include → 创建对象 → 对象.函数() 下命令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11480" y="123444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一个套路，用遍所有复杂模块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411480" y="1691640"/>
            <a:ext cx="292608" cy="292608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11480" y="16916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832104" y="1724438"/>
            <a:ext cx="3328416" cy="245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装库：工具 → 管理库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11480" y="2167128"/>
            <a:ext cx="292608" cy="292608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11480" y="21671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832104" y="2199926"/>
            <a:ext cx="3328416" cy="245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把库引进来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11480" y="2642616"/>
            <a:ext cx="292608" cy="292608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11480" y="26426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832104" y="2675414"/>
            <a:ext cx="3328416" cy="245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创建对象：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pixels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/ 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lcd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411480" y="3118104"/>
            <a:ext cx="292608" cy="292608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411480" y="31181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832104" y="3150902"/>
            <a:ext cx="3328416" cy="245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对象.函数() 下命令：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show()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、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print()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411480" y="3685032"/>
            <a:ext cx="3749040" cy="886968"/>
          </a:xfrm>
          <a:prstGeom prst="roundRect">
            <a:avLst>
              <a:gd name="adj" fmla="val 12371"/>
            </a:avLst>
          </a:prstGeom>
          <a:solidFill>
            <a:srgbClr val="E3FAF7"/>
          </a:solidFill>
          <a:ln w="12700">
            <a:solidFill>
              <a:srgbClr val="E3FAF7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557784" y="3954780"/>
            <a:ext cx="347472" cy="347472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1177" y="4038173"/>
            <a:ext cx="180685" cy="180685"/>
          </a:xfrm>
          <a:prstGeom prst="rect">
            <a:avLst/>
          </a:prstGeom>
        </p:spPr>
      </p:pic>
      <p:sp>
        <p:nvSpPr>
          <p:cNvPr id="22" name="Text 18"/>
          <p:cNvSpPr txBox="1"/>
          <p:nvPr/>
        </p:nvSpPr>
        <p:spPr>
          <a:xfrm>
            <a:off x="1014984" y="3685032"/>
            <a:ext cx="301752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排错口诀</a:t>
            </a:r>
            <a:endParaRPr lang="en-US" sz="12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编译报错 → 先查库</a:t>
            </a:r>
            <a:endParaRPr lang="en-US" sz="12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没有反应 → 先查线和地址</a:t>
            </a:r>
            <a:endParaRPr lang="en-US" sz="1250" dirty="0"/>
          </a:p>
        </p:txBody>
      </p:sp>
      <p:sp>
        <p:nvSpPr>
          <p:cNvPr id="23" name="Shape 19"/>
          <p:cNvSpPr/>
          <p:nvPr/>
        </p:nvSpPr>
        <p:spPr>
          <a:xfrm>
            <a:off x="4434840" y="1234440"/>
            <a:ext cx="2148840" cy="1668780"/>
          </a:xfrm>
          <a:prstGeom prst="rect">
            <a:avLst/>
          </a:prstGeom>
          <a:solidFill>
            <a:srgbClr val="40E0D0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4636008" y="1399032"/>
            <a:ext cx="1746504" cy="363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</a:t>
            </a:r>
            <a:endParaRPr lang="en-US" sz="2200" dirty="0"/>
          </a:p>
        </p:txBody>
      </p:sp>
      <p:sp>
        <p:nvSpPr>
          <p:cNvPr id="25" name="Text 21"/>
          <p:cNvSpPr txBox="1"/>
          <p:nvPr/>
        </p:nvSpPr>
        <p:spPr>
          <a:xfrm>
            <a:off x="4636008" y="1935480"/>
            <a:ext cx="17465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库</a:t>
            </a:r>
            <a:endParaRPr lang="en-US" sz="1500" dirty="0"/>
          </a:p>
        </p:txBody>
      </p:sp>
      <p:sp>
        <p:nvSpPr>
          <p:cNvPr id="26" name="Text 22"/>
          <p:cNvSpPr txBox="1"/>
          <p:nvPr/>
        </p:nvSpPr>
        <p:spPr>
          <a:xfrm>
            <a:off x="4636008" y="2282952"/>
            <a:ext cx="1746504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别人写好的“扩展包”，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装一次就能用</a:t>
            </a:r>
            <a:endParaRPr lang="en-US" sz="1200" dirty="0"/>
          </a:p>
        </p:txBody>
      </p:sp>
      <p:sp>
        <p:nvSpPr>
          <p:cNvPr id="27" name="Shape 23"/>
          <p:cNvSpPr/>
          <p:nvPr/>
        </p:nvSpPr>
        <p:spPr>
          <a:xfrm>
            <a:off x="6583680" y="1234440"/>
            <a:ext cx="2148840" cy="1668780"/>
          </a:xfrm>
          <a:prstGeom prst="rect">
            <a:avLst/>
          </a:prstGeom>
          <a:solidFill>
            <a:srgbClr val="EBEBEB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28" name="Text 24"/>
          <p:cNvSpPr txBox="1"/>
          <p:nvPr/>
        </p:nvSpPr>
        <p:spPr>
          <a:xfrm>
            <a:off x="6784848" y="1399032"/>
            <a:ext cx="1746504" cy="363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show()</a:t>
            </a:r>
            <a:endParaRPr lang="en-US" sz="2200" dirty="0"/>
          </a:p>
        </p:txBody>
      </p:sp>
      <p:sp>
        <p:nvSpPr>
          <p:cNvPr id="29" name="Text 25"/>
          <p:cNvSpPr txBox="1"/>
          <p:nvPr/>
        </p:nvSpPr>
        <p:spPr>
          <a:xfrm>
            <a:off x="6784848" y="1935480"/>
            <a:ext cx="17465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先写草稿再寄出</a:t>
            </a:r>
            <a:endParaRPr lang="en-US" sz="1500" dirty="0"/>
          </a:p>
        </p:txBody>
      </p:sp>
      <p:sp>
        <p:nvSpPr>
          <p:cNvPr id="30" name="Text 26"/>
          <p:cNvSpPr txBox="1"/>
          <p:nvPr/>
        </p:nvSpPr>
        <p:spPr>
          <a:xfrm>
            <a:off x="6784848" y="2282952"/>
            <a:ext cx="1746504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setPixelColor 写草稿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show() 才寄出</a:t>
            </a:r>
            <a:endParaRPr lang="en-US" sz="1200" dirty="0"/>
          </a:p>
        </p:txBody>
      </p:sp>
      <p:sp>
        <p:nvSpPr>
          <p:cNvPr id="31" name="Shape 27"/>
          <p:cNvSpPr/>
          <p:nvPr/>
        </p:nvSpPr>
        <p:spPr>
          <a:xfrm>
            <a:off x="4434840" y="2903220"/>
            <a:ext cx="2148840" cy="1668780"/>
          </a:xfrm>
          <a:prstGeom prst="rect">
            <a:avLst/>
          </a:prstGeom>
          <a:solidFill>
            <a:srgbClr val="2D2D2D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32" name="Text 28"/>
          <p:cNvSpPr txBox="1"/>
          <p:nvPr/>
        </p:nvSpPr>
        <p:spPr>
          <a:xfrm>
            <a:off x="4636008" y="3067812"/>
            <a:ext cx="1746504" cy="363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0x27</a:t>
            </a:r>
            <a:endParaRPr lang="en-US" sz="2200" dirty="0"/>
          </a:p>
        </p:txBody>
      </p:sp>
      <p:sp>
        <p:nvSpPr>
          <p:cNvPr id="33" name="Text 29"/>
          <p:cNvSpPr txBox="1"/>
          <p:nvPr/>
        </p:nvSpPr>
        <p:spPr>
          <a:xfrm>
            <a:off x="4636008" y="3604260"/>
            <a:ext cx="17465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I2C 门牌号</a:t>
            </a:r>
            <a:endParaRPr lang="en-US" sz="1500" dirty="0"/>
          </a:p>
        </p:txBody>
      </p:sp>
      <p:sp>
        <p:nvSpPr>
          <p:cNvPr id="34" name="Text 30"/>
          <p:cNvSpPr txBox="1"/>
          <p:nvPr/>
        </p:nvSpPr>
        <p:spPr>
          <a:xfrm>
            <a:off x="4636008" y="3951732"/>
            <a:ext cx="1746504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0D0D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两根线挂多台设备，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0D0D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0x27 就是 39</a:t>
            </a:r>
            <a:endParaRPr lang="en-US" sz="1200" dirty="0"/>
          </a:p>
        </p:txBody>
      </p:sp>
      <p:sp>
        <p:nvSpPr>
          <p:cNvPr id="35" name="Shape 31"/>
          <p:cNvSpPr/>
          <p:nvPr/>
        </p:nvSpPr>
        <p:spPr>
          <a:xfrm>
            <a:off x="6583680" y="2903220"/>
            <a:ext cx="2148840" cy="16687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36" name="Text 32"/>
          <p:cNvSpPr txBox="1"/>
          <p:nvPr/>
        </p:nvSpPr>
        <p:spPr>
          <a:xfrm>
            <a:off x="6784848" y="3067812"/>
            <a:ext cx="1746504" cy="363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(列, 行)</a:t>
            </a:r>
            <a:endParaRPr lang="en-US" sz="2200" dirty="0"/>
          </a:p>
        </p:txBody>
      </p:sp>
      <p:sp>
        <p:nvSpPr>
          <p:cNvPr id="37" name="Text 33"/>
          <p:cNvSpPr txBox="1"/>
          <p:nvPr/>
        </p:nvSpPr>
        <p:spPr>
          <a:xfrm>
            <a:off x="6784848" y="3604260"/>
            <a:ext cx="17465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setCursor</a:t>
            </a:r>
            <a:endParaRPr lang="en-US" sz="1500" dirty="0"/>
          </a:p>
        </p:txBody>
      </p:sp>
      <p:sp>
        <p:nvSpPr>
          <p:cNvPr id="38" name="Text 34"/>
          <p:cNvSpPr txBox="1"/>
          <p:nvPr/>
        </p:nvSpPr>
        <p:spPr>
          <a:xfrm>
            <a:off x="6784848" y="3951732"/>
            <a:ext cx="1746504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先列后行，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都从 0 开始数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39328" y="4736592"/>
            <a:ext cx="393192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B6B6B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02920" y="109728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让作品会发光，也会“说话”</a:t>
            </a:r>
            <a:endParaRPr lang="en-US" sz="3400" dirty="0"/>
          </a:p>
        </p:txBody>
      </p:sp>
      <p:sp>
        <p:nvSpPr>
          <p:cNvPr id="3" name="Text 0"/>
          <p:cNvSpPr/>
          <p:nvPr>
            <p:ph idx="102" type="body" hasCustomPrompt="1"/>
          </p:nvPr>
        </p:nvSpPr>
        <p:spPr>
          <a:xfrm>
            <a:off x="502920" y="205740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灯环显示颜色，液晶屏显示文字——下一步，试着把传感器的读数显示出来。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rduino Turquoise">
  <a:themeElements>
    <a:clrScheme name="Arduino Turquoise">
      <a:dk1>
        <a:srgbClr val="2D2D2D"/>
      </a:dk1>
      <a:lt1>
        <a:srgbClr val="FFFFFF"/>
      </a:lt1>
      <a:dk2>
        <a:srgbClr val="6B6B6B"/>
      </a:dk2>
      <a:lt2>
        <a:srgbClr val="F5F5F5"/>
      </a:lt2>
      <a:accent1>
        <a:srgbClr val="40E0D0"/>
      </a:accent1>
      <a:accent2>
        <a:srgbClr val="EBEBEB"/>
      </a:accent2>
      <a:accent3>
        <a:srgbClr val="E2E2E2"/>
      </a:accent3>
      <a:accent4>
        <a:srgbClr val="2D2D2D"/>
      </a:accent4>
      <a:accent5>
        <a:srgbClr val="E5484D"/>
      </a:accent5>
      <a:accent6>
        <a:srgbClr val="1A9E92"/>
      </a:accent6>
      <a:hlink>
        <a:srgbClr val="1A9E92"/>
      </a:hlink>
      <a:folHlink>
        <a:srgbClr val="6B6B6B"/>
      </a:folHlink>
    </a:clrScheme>
    <a:fontScheme name="Arduino Turquoise">
      <a:majorFont>
        <a:latin typeface="微软雅黑"/>
        <a:ea typeface="微软雅黑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微软雅黑"/>
        <a:ea typeface="微软雅黑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湖北工业大学 · 工业设计学院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2-3 显示模块：WS2812b RGB 灯环 · LCD1602 显示屏</dc:title>
  <dc:subject>Arduino 编程</dc:subject>
  <dc:creator>湖北工业大学 · 工业设计学院</dc:creator>
  <cp:lastModifiedBy>湖北工业大学 · 工业设计学院</cp:lastModifiedBy>
  <cp:revision>1</cp:revision>
  <dcterms:created xsi:type="dcterms:W3CDTF">2026-10-13T01:22:55Z</dcterms:created>
  <dcterms:modified xsi:type="dcterms:W3CDTF">2026-10-13T01:22:55Z</dcterms:modified>
</cp:coreProperties>
</file>