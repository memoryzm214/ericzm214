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slideMasters/slideMaster16.xml" ContentType="application/vnd.openxmlformats-officedocument.presentationml.slideMaster+xml"/>
  <Override PartName="/ppt/slides/slide16.xml" ContentType="application/vnd.openxmlformats-officedocument.presentationml.slide+xml"/>
  <Override PartName="/ppt/slideMasters/slideMaster17.xml" ContentType="application/vnd.openxmlformats-officedocument.presentationml.slideMaster+xml"/>
  <Override PartName="/ppt/slides/slide17.xml" ContentType="application/vnd.openxmlformats-officedocument.presentationml.slide+xml"/>
  <Override PartName="/ppt/slideMasters/slideMaster18.xml" ContentType="application/vnd.openxmlformats-officedocument.presentationml.slideMaster+xml"/>
  <Override PartName="/ppt/slides/slide18.xml" ContentType="application/vnd.openxmlformats-officedocument.presentationml.slide+xml"/>
  <Override PartName="/ppt/slideMasters/slideMaster19.xml" ContentType="application/vnd.openxmlformats-officedocument.presentationml.slideMaster+xml"/>
  <Override PartName="/ppt/slides/slide19.xml" ContentType="application/vnd.openxmlformats-officedocument.presentationml.slide+xml"/>
  <Override PartName="/ppt/slideMasters/slideMaster20.xml" ContentType="application/vnd.openxmlformats-officedocument.presentationml.slideMaster+xml"/>
  <Override PartName="/ppt/slides/slide20.xml" ContentType="application/vnd.openxmlformats-officedocument.presentationml.slide+xml"/>
  <Override PartName="/ppt/slideMasters/slideMaster21.xml" ContentType="application/vnd.openxmlformats-officedocument.presentationml.slideMaster+xml"/>
  <Override PartName="/ppt/slides/slide21.xml" ContentType="application/vnd.openxmlformats-officedocument.presentationml.slide+xml"/>
  <Override PartName="/ppt/slideMasters/slideMaster22.xml" ContentType="application/vnd.openxmlformats-officedocument.presentationml.slideMaster+xml"/>
  <Override PartName="/ppt/slides/slide22.xml" ContentType="application/vnd.openxmlformats-officedocument.presentationml.slide+xml"/>
  <Override PartName="/ppt/slideMasters/slideMaster23.xml" ContentType="application/vnd.openxmlformats-officedocument.presentationml.slideMaster+xml"/>
  <Override PartName="/ppt/slides/slide23.xml" ContentType="application/vnd.openxmlformats-officedocument.presentationml.slide+xml"/>
  <Override PartName="/ppt/slideMasters/slideMaster24.xml" ContentType="application/vnd.openxmlformats-officedocument.presentationml.slideMaster+xml"/>
  <Override PartName="/ppt/slides/slide24.xml" ContentType="application/vnd.openxmlformats-officedocument.presentationml.slide+xml"/>
  <Override PartName="/ppt/slideMasters/slideMaster25.xml" ContentType="application/vnd.openxmlformats-officedocument.presentationml.slideMaster+xml"/>
  <Override PartName="/ppt/slides/slide25.xml" ContentType="application/vnd.openxmlformats-officedocument.presentationml.slide+xml"/>
  <Override PartName="/ppt/slideMasters/slideMaster26.xml" ContentType="application/vnd.openxmlformats-officedocument.presentationml.slideMaster+xml"/>
  <Override PartName="/ppt/slides/slide26.xml" ContentType="application/vnd.openxmlformats-officedocument.presentationml.slide+xml"/>
  <Override PartName="/ppt/slideMasters/slideMaster27.xml" ContentType="application/vnd.openxmlformats-officedocument.presentationml.slideMaster+xml"/>
  <Override PartName="/ppt/slides/slide27.xml" ContentType="application/vnd.openxmlformats-officedocument.presentationml.slide+xml"/>
  <Override PartName="/ppt/slideMasters/slideMaster28.xml" ContentType="application/vnd.openxmlformats-officedocument.presentationml.slideMaster+xml"/>
  <Override PartName="/ppt/slides/slide28.xml" ContentType="application/vnd.openxmlformats-officedocument.presentationml.slide+xml"/>
  <Override PartName="/ppt/slideMasters/slideMaster29.xml" ContentType="application/vnd.openxmlformats-officedocument.presentationml.slideMaster+xml"/>
  <Override PartName="/ppt/slides/slide29.xml" ContentType="application/vnd.openxmlformats-officedocument.presentationml.slide+xml"/>
  <Override PartName="/ppt/slideMasters/slideMaster30.xml" ContentType="application/vnd.openxmlformats-officedocument.presentationml.slideMaster+xml"/>
  <Override PartName="/ppt/slides/slide30.xml" ContentType="application/vnd.openxmlformats-officedocument.presentationml.slide+xml"/>
  <Override PartName="/ppt/slideMasters/slideMaster31.xml" ContentType="application/vnd.openxmlformats-officedocument.presentationml.slideMaster+xml"/>
  <Override PartName="/ppt/slides/slide31.xml" ContentType="application/vnd.openxmlformats-officedocument.presentationml.slide+xml"/>
  <Override PartName="/ppt/slideMasters/slideMaster32.xml" ContentType="application/vnd.openxmlformats-officedocument.presentationml.slideMaster+xml"/>
  <Override PartName="/ppt/slides/slide32.xml" ContentType="application/vnd.openxmlformats-officedocument.presentationml.slide+xml"/>
  <Override PartName="/ppt/slideMasters/slideMaster33.xml" ContentType="application/vnd.openxmlformats-officedocument.presentationml.slideMaster+xml"/>
  <Override PartName="/ppt/slides/slide33.xml" ContentType="application/vnd.openxmlformats-officedocument.presentationml.slide+xml"/>
  <Override PartName="/ppt/slideMasters/slideMaster34.xml" ContentType="application/vnd.openxmlformats-officedocument.presentationml.slideMaster+xml"/>
  <Override PartName="/ppt/slides/slide34.xml" ContentType="application/vnd.openxmlformats-officedocument.presentationml.slide+xml"/>
  <Override PartName="/ppt/slideMasters/slideMaster35.xml" ContentType="application/vnd.openxmlformats-officedocument.presentationml.slideMaster+xml"/>
  <Override PartName="/ppt/slides/slide35.xml" ContentType="application/vnd.openxmlformats-officedocument.presentationml.slide+xml"/>
  <Override PartName="/ppt/slideMasters/slideMaster36.xml" ContentType="application/vnd.openxmlformats-officedocument.presentationml.slideMaster+xml"/>
  <Override PartName="/ppt/slides/slide36.xml" ContentType="application/vnd.openxmlformats-officedocument.presentationml.slide+xml"/>
  <Override PartName="/ppt/slideMasters/slideMaster37.xml" ContentType="application/vnd.openxmlformats-officedocument.presentationml.slideMaster+xml"/>
  <Override PartName="/ppt/slides/slide37.xml" ContentType="application/vnd.openxmlformats-officedocument.presentationml.slide+xml"/>
  <Override PartName="/ppt/slideMasters/slideMaster38.xml" ContentType="application/vnd.openxmlformats-officedocument.presentationml.slideMaster+xml"/>
  <Override PartName="/ppt/slides/slide38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ppt/notesSlides/notesSlide28.xml" ContentType="application/vnd.openxmlformats-officedocument.presentationml.notesSlide+xml"/>
  <Override PartName="/ppt/notesSlides/notesSlide29.xml" ContentType="application/vnd.openxmlformats-officedocument.presentationml.notesSlide+xml"/>
  <Override PartName="/ppt/notesSlides/notesSlide30.xml" ContentType="application/vnd.openxmlformats-officedocument.presentationml.notesSlide+xml"/>
  <Override PartName="/ppt/notesSlides/notesSlide31.xml" ContentType="application/vnd.openxmlformats-officedocument.presentationml.notesSlide+xml"/>
  <Override PartName="/ppt/notesSlides/notesSlide32.xml" ContentType="application/vnd.openxmlformats-officedocument.presentationml.notesSlide+xml"/>
  <Override PartName="/ppt/notesSlides/notesSlide33.xml" ContentType="application/vnd.openxmlformats-officedocument.presentationml.notesSlide+xml"/>
  <Override PartName="/ppt/notesSlides/notesSlide34.xml" ContentType="application/vnd.openxmlformats-officedocument.presentationml.notesSlide+xml"/>
  <Override PartName="/ppt/notesSlides/notesSlide35.xml" ContentType="application/vnd.openxmlformats-officedocument.presentationml.notesSlide+xml"/>
  <Override PartName="/ppt/notesSlides/notesSlide36.xml" ContentType="application/vnd.openxmlformats-officedocument.presentationml.notesSlide+xml"/>
  <Override PartName="/ppt/notesSlides/notesSlide37.xml" ContentType="application/vnd.openxmlformats-officedocument.presentationml.notesSlide+xml"/>
  <Override PartName="/ppt/notesSlides/notesSlide38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  <p:sldId id="277" r:id="rId23"/>
    <p:sldId id="278" r:id="rId24"/>
    <p:sldId id="279" r:id="rId25"/>
    <p:sldId id="280" r:id="rId26"/>
    <p:sldId id="281" r:id="rId27"/>
    <p:sldId id="282" r:id="rId28"/>
    <p:sldId id="283" r:id="rId29"/>
    <p:sldId id="284" r:id="rId30"/>
    <p:sldId id="285" r:id="rId31"/>
    <p:sldId id="286" r:id="rId32"/>
    <p:sldId id="287" r:id="rId33"/>
    <p:sldId id="288" r:id="rId34"/>
    <p:sldId id="289" r:id="rId35"/>
    <p:sldId id="290" r:id="rId36"/>
    <p:sldId id="291" r:id="rId37"/>
    <p:sldId id="292" r:id="rId38"/>
    <p:sldId id="293" r:id="rId39"/>
  </p:sldIdLst>
  <p:notesMasterIdLst>
    <p:notesMasterId r:id="rId40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521415D9-36F7-43E2-AB2F-B90AF26B5E84}">
      <p14:sectionLst xmlns:p14="http://schemas.microsoft.com/office/powerpoint/2010/main">
        <p14:section name="开始之前" id="{38b2963c-6ced-35fe-81f8-858eadf0ffe4}">
          <p14:sldIdLst>
            <p14:sldId id="256"/>
            <p14:sldId id="257"/>
            <p14:sldId id="258"/>
          </p14:sldIdLst>
        </p14:section>
        <p14:section name="程序的骨架" id="{3c8a59d8-6e67-7aea-59d0-9ee1ca5ba07e}">
          <p14:sldIdLst>
            <p14:sldId id="259"/>
            <p14:sldId id="260"/>
            <p14:sldId id="261"/>
          </p14:sldIdLst>
        </p14:section>
        <p14:section name="变量与数据" id="{bdf05885-4155-6f3f-3791-18e070ba5457}">
          <p14:sldIdLst>
            <p14:sldId id="262"/>
            <p14:sldId id="263"/>
            <p14:sldId id="264"/>
            <p14:sldId id="265"/>
            <p14:sldId id="266"/>
            <p14:sldId id="267"/>
          </p14:sldIdLst>
        </p14:section>
        <p14:section name="和硬件对话" id="{4f802a7c-7e75-00c6-2f6a-274314293bf2}">
          <p14:sldIdLst>
            <p14:sldId id="268"/>
            <p14:sldId id="269"/>
            <p14:sldId id="270"/>
            <p14:sldId id="271"/>
            <p14:sldId id="272"/>
            <p14:sldId id="273"/>
            <p14:sldId id="274"/>
            <p14:sldId id="275"/>
          </p14:sldIdLst>
        </p14:section>
        <p14:section name="让程序会做决定" id="{32ff805f-69ee-54d2-e978-558ca5537606}">
          <p14:sldIdLst>
            <p14:sldId id="276"/>
            <p14:sldId id="277"/>
            <p14:sldId id="278"/>
            <p14:sldId id="279"/>
            <p14:sldId id="280"/>
          </p14:sldIdLst>
        </p14:section>
        <p14:section name="把代码打包" id="{1c24b0c5-5b54-4ba1-0488-6f92bac784c4}">
          <p14:sldIdLst>
            <p14:sldId id="281"/>
            <p14:sldId id="282"/>
            <p14:sldId id="283"/>
            <p14:sldId id="284"/>
            <p14:sldId id="285"/>
            <p14:sldId id="286"/>
            <p14:sldId id="287"/>
            <p14:sldId id="288"/>
          </p14:sldIdLst>
        </p14:section>
        <p14:section name="速查与排错" id="{73d0e1f5-ee48-204e-66bf-47d437d70dd0}">
          <p14:sldIdLst>
            <p14:sldId id="289"/>
            <p14:sldId id="290"/>
            <p14:sldId id="291"/>
            <p14:sldId id="292"/>
            <p14:sldId id="293"/>
          </p14:sldIdLst>
        </p14:section>
      </p14:sectionLst>
    </p:ex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slide" Target="slides/slide17.xml"/><Relationship Id="rId19" Type="http://schemas.openxmlformats.org/officeDocument/2006/relationships/slide" Target="slides/slide18.xml"/><Relationship Id="rId20" Type="http://schemas.openxmlformats.org/officeDocument/2006/relationships/slide" Target="slides/slide19.xml"/><Relationship Id="rId21" Type="http://schemas.openxmlformats.org/officeDocument/2006/relationships/slide" Target="slides/slide20.xml"/><Relationship Id="rId22" Type="http://schemas.openxmlformats.org/officeDocument/2006/relationships/slide" Target="slides/slide21.xml"/><Relationship Id="rId23" Type="http://schemas.openxmlformats.org/officeDocument/2006/relationships/slide" Target="slides/slide22.xml"/><Relationship Id="rId24" Type="http://schemas.openxmlformats.org/officeDocument/2006/relationships/slide" Target="slides/slide23.xml"/><Relationship Id="rId25" Type="http://schemas.openxmlformats.org/officeDocument/2006/relationships/slide" Target="slides/slide24.xml"/><Relationship Id="rId26" Type="http://schemas.openxmlformats.org/officeDocument/2006/relationships/slide" Target="slides/slide25.xml"/><Relationship Id="rId27" Type="http://schemas.openxmlformats.org/officeDocument/2006/relationships/slide" Target="slides/slide26.xml"/><Relationship Id="rId28" Type="http://schemas.openxmlformats.org/officeDocument/2006/relationships/slide" Target="slides/slide27.xml"/><Relationship Id="rId29" Type="http://schemas.openxmlformats.org/officeDocument/2006/relationships/slide" Target="slides/slide28.xml"/><Relationship Id="rId30" Type="http://schemas.openxmlformats.org/officeDocument/2006/relationships/slide" Target="slides/slide29.xml"/><Relationship Id="rId31" Type="http://schemas.openxmlformats.org/officeDocument/2006/relationships/slide" Target="slides/slide30.xml"/><Relationship Id="rId32" Type="http://schemas.openxmlformats.org/officeDocument/2006/relationships/slide" Target="slides/slide31.xml"/><Relationship Id="rId33" Type="http://schemas.openxmlformats.org/officeDocument/2006/relationships/slide" Target="slides/slide32.xml"/><Relationship Id="rId34" Type="http://schemas.openxmlformats.org/officeDocument/2006/relationships/slide" Target="slides/slide33.xml"/><Relationship Id="rId35" Type="http://schemas.openxmlformats.org/officeDocument/2006/relationships/slide" Target="slides/slide34.xml"/><Relationship Id="rId36" Type="http://schemas.openxmlformats.org/officeDocument/2006/relationships/slide" Target="slides/slide35.xml"/><Relationship Id="rId37" Type="http://schemas.openxmlformats.org/officeDocument/2006/relationships/slide" Target="slides/slide36.xml"/><Relationship Id="rId38" Type="http://schemas.openxmlformats.org/officeDocument/2006/relationships/slide" Target="slides/slide37.xml"/><Relationship Id="rId39" Type="http://schemas.openxmlformats.org/officeDocument/2006/relationships/slide" Target="slides/slide38.xml"/><Relationship Id="rId40" Type="http://schemas.openxmlformats.org/officeDocument/2006/relationships/notesMaster" Target="notesMasters/notesMaster1.xml"/><Relationship Id="rId41" Type="http://schemas.openxmlformats.org/officeDocument/2006/relationships/presProps" Target="presProps.xml"/><Relationship Id="rId42" Type="http://schemas.openxmlformats.org/officeDocument/2006/relationships/viewProps" Target="viewProps.xml"/><Relationship Id="rId43" Type="http://schemas.openxmlformats.org/officeDocument/2006/relationships/theme" Target="theme/theme1.xml"/><Relationship Id="rId44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_rels/notesSlide1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6.xml"/>
		</Relationships>
</file>

<file path=ppt/notesSlides/_rels/notesSlide1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7.xml"/>
		</Relationships>
</file>

<file path=ppt/notesSlides/_rels/notesSlide1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8.xml"/>
		</Relationships>
</file>

<file path=ppt/notesSlides/_rels/notesSlide1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9.xml"/>
		</Relationships>
</file>

<file path=ppt/notesSlides/_rels/notesSlide2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0.xml"/>
		</Relationships>
</file>

<file path=ppt/notesSlides/_rels/notesSlide2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1.xml"/>
		</Relationships>
</file>

<file path=ppt/notesSlides/_rels/notesSlide2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2.xml"/>
		</Relationships>
</file>

<file path=ppt/notesSlides/_rels/notesSlide2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3.xml"/>
		</Relationships>
</file>

<file path=ppt/notesSlides/_rels/notesSlide2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4.xml"/>
		</Relationships>
</file>

<file path=ppt/notesSlides/_rels/notesSlide2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5.xml"/>
		</Relationships>
</file>

<file path=ppt/notesSlides/_rels/notesSlide2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6.xml"/>
		</Relationships>
</file>

<file path=ppt/notesSlides/_rels/notesSlide2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7.xml"/>
		</Relationships>
</file>

<file path=ppt/notesSlides/_rels/notesSlide2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8.xml"/>
		</Relationships>
</file>

<file path=ppt/notesSlides/_rels/notesSlide2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9.xml"/>
		</Relationships>
</file>

<file path=ppt/notesSlides/_rels/notesSlide3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0.xml"/>
		</Relationships>
</file>

<file path=ppt/notesSlides/_rels/notesSlide3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1.xml"/>
		</Relationships>
</file>

<file path=ppt/notesSlides/_rels/notesSlide3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2.xml"/>
		</Relationships>
</file>

<file path=ppt/notesSlides/_rels/notesSlide3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3.xml"/>
		</Relationships>
</file>

<file path=ppt/notesSlides/_rels/notesSlide3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4.xml"/>
		</Relationships>
</file>

<file path=ppt/notesSlides/_rels/notesSlide3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5.xml"/>
		</Relationships>
</file>

<file path=ppt/notesSlides/_rels/notesSlide3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6.xml"/>
		</Relationships>
</file>

<file path=ppt/notesSlides/_rels/notesSlide3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7.xml"/>
		</Relationships>
</file>

<file path=ppt/notesSlides/_rels/notesSlide3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8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这一讲把 Arduino 编程语言的基础单独拿出来讲：不追求一次学全，先能读懂套件里的代码。每个知识点都按“生活类比 → 最小写法 → 小例子 → 常见错误”的顺序展开。建议学生边听边在 Arduino IDE 里跟着敲。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先给学生一张地图：6 个小站，前 5 站是语法，最后一站是随时翻的速查表。每一站都对应套件实验里马上会用到的东西，不讲用不到的语法。可以告诉学生：学完第 3 站就能自己点灯、读按键。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用“菜谱”打比方：程序就是一条条写清楚的步骤，Arduino 严格按顺序执行。强调它“听话但死板”：标点、大小写、拼写错一点都不行，这也是后面 6 条规则的由来。可以现场念一遍左边三行代码，让学生说出 LED 会怎样。Arduino 用的是 C / C++ 语言，但只要认识骨架和十几个常用函数，就能完成套件里的全部实验。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第 1 站只讲一件事：所有 Arduino 程序都长着同一副骨架。看懂 setup() 和 loop() 的分工，再记住 6 条书写规则，后面的代码就都能“对号入座”。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用开店来类比：setup() 是开门前的准备，只做一次；loop() 是营业时间，一遍遍重复，直到断电。强调两个函数都必须写，哪怕里面是空的。可以让学生按一下板子上的复位键，观察程序会从 setup() 重新开始。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前三条（分号、英文标点、大小写）是新手报错的三大来源，红框卡片里打 ✗ 的写法都会编译失败。提醒学生写代码前先切换到英文输入法。原课件里“int 按钮状态 = digitalRead(2);”这类中文变量名只是为了说明意思，实际写代码要用英文名字，例如 buttonState。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第 2 站讲程序怎么“记东西”。变量就像贴了标签的盒子，数据类型决定盒子能装什么，运算符负责计算和比较。这里有两个大坑（整数除法、= 和 ==），一定要讲透。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把一句 int count = 0; 像产品爆炸图一样拆开：类型、名字、放进去的值、分号。强调“先声明，再使用”，以及变量里的值可以随时改变——count = count + 1 就是把盒子里的数加 1 再放回去。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套件实验里最常用的是 int 和 float，其次是 String、char、byte。提醒：int 最大只到 32767，超过就要用 long；有小数就用 float。millis() 的结果很大，要用 unsigned long 来装。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常量：起了名字就不再改。const 有类型、更安全；#define 是编译前的“查找替换”，末尾不加分号、不写等号（实验 2.3、2.17）。数组：一排编号的储物柜，编号从 0 开始，8 个柜子的编号是 0～7；配合 for 循环，几行代码就能控制 8 盏灯（实验 2.2）。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四类运算符里，赋值和比较最容易混。x += 2 和 i++ 是“简写”，在循环里非常常见。逻辑运算可以用生活里的话来说：&amp;&amp; 是“并且”，|| 是“或者”，! 是“不是”——比如“带了钥匙 &amp;&amp; 带了手机”才出门。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第一个坑：两个整数相除，结果还是整数，小数直接扔掉，所以 7 / 2 = 3。电压换算时如果写 value / 1023，读数小于 1023 时结果总是 0，要写成 value / 1023.0 或先转成 float。第二个坑：if 里写一个等号是“赋值”，不是比较，编译器不一定报错，但结果会出错。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第 3 站开始和硬件打交道：引脚怎么输出、怎么读取，程序怎么等待，Arduino 怎么把数据发给电脑。这一站学完，就能做点灯、读按键、读旋钮这些最基础的实验。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数字信号像电灯开关：只有开（HIGH，约 5V）和关（LOW，0V）。模拟信号像调光旋钮：可以停在中间任意位置。UNO 上 0～13 是数字引脚，其中带 ~ 的 6 个能输出 PWM；A0～A5 用来读模拟电压。0、1 号脚还兼做串口通信，初学时尽量不要占用。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三个函数记一个顺序：先 pinMode 说明方向，再 digitalWrite 输出或 digitalRead 读取。右边解释“按下 = LOW”：平时电阻把引脚拉到 5V，就像弹簧把门拉住；按下按键，引脚直接接地变成 LOW。如果写 pinMode(pin, INPUT_PULLUP)，就是借用芯片里自带的上拉电阻，按键直接接在引脚和 GND 之间即可。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analogRead 把 0～5V 换成 0～1023 的数，换算回电压要除以 1023 再乘 5（实验 2.4、2.5、2.10、2.17、2.20）。analogWrite 并不是真的输出 2.5V，而是用 PWM 快速开关：开的时间占一半，看起来就是半亮。提醒只有带 ~ 的 3、5、6、9、10、11 号引脚能用 analogWrite（实验 2.3、2.5、2.20）。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delay 最简单，但等待的时候 Arduino 什么都做不了，按键按了也不知道。delayMicroseconds 用在需要极短时间的场合，比如超声波测距（实验 2.38）。millis 是进阶写法：不停地看表，到点了再做事，中间还能干别的。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串口监视器是调试程序最好用的工具：看不到的数值，打印出来就看得到。强调 print 不换行、println 换行；available 和 read 用于电脑给 Arduino 发消息（实验 2.11）。波特率不一致是串口乱码最常见的原因。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这是第一个完整的小程序：setup() 里打开串口、打招呼，loop() 里每秒计数一次。注意 count 声明在最上面，所以 loop() 每一圈都能接着上一次的数继续加。可以让学生先猜一猜串口里会出现什么，再看下一页。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对照代码看输出：Hello! 只出现一次（在 setup 里），“第 N 次循环”每秒一行（在 loop 里）。三句 print 拼成一行，是因为只有最后一句是 println。动手改一改，让学生体会每一处修改带来的变化。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第 4 站让程序变“聪明”：会根据情况选择（if），会重复做事（for / while）。这两样是所有交互作品的核心——按下就亮、越近越响、依次点亮一排灯，都离不开它们。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if 就像岔路口：条件成立走一条路，不成立走另一条。注意条件写在小括号里，要做的事写在大括号里，判断相等一定用两个等号。套件里的例子：实验 2.15 用 if (value == LOW) 判断按键；实验 2.17 用一串 else if 依次判断 6 个按键和 4 个方向；实验 2.32 条件成立时同时打开 RGB 灯和蜂鸣器。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这个例子把前面学的串起来：数字输入（按键）+ 数字输出（L 灯）+ if/else。按键模块按下时读到 LOW，所以条件写 == LOW。L 灯是板子上自带的、接在 13 号脚的小灯，不用接线就能看到效果。按键模块接线：S 接 2 号脚，V（或 +）接 5V，G（或 -）接 GND。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for 的小括号里有三段：从几开始、什么时候继续、每圈怎么变，用分号隔开。“数着圈跑步”：i 是圈数，跑一圈加 1，i &lt; 8 不成立就停下，所以一共 8 圈。while 只有条件，适合“不知道要重复几次”的情况；注意条件要有机会变成假，否则就停不下来。实验 2.2 用 for 依次点亮 8 盏灯，实验 2.3 用 i 从 0 数到 255 让颜色由暗变亮；实验 2.11 用 while 把串口里的字符全部读完。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两个 for 循环一前一后：前一个 i 从 0 加到 255，亮度慢慢增加；后一个从 255 减到 0，亮度慢慢减小。256 级 × 10 毫秒约 2.6 秒，所以一呼一吸大约 5 秒。9 号脚必须是带 ~ 的 PWM 引脚，换成 8 号就不会有渐变效果。接线：LED 长脚串一个 220Ω 电阻接 9 号脚，短脚接 GND。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第 5 站讲“打包”：把常用的一段代码起个名字（函数），用现成的换算工具（map），以及直接用别人写好的代码（库）。代码越写越长时，打包能让它更短、更好读。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函数就像菜谱：写一次步骤，以后喊名字就能做；参数就是每次可以不一样的配料。读函数的第一行要看三样东西：返回类型、函数名、参数。需要函数交回结果时，把 void 换成 int 等类型，并用 return 把结果交回去，比如 add(2, 3) 的结果是 5。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这一页只是“定义”函数，相当于写好了菜谱，还没有开始做。times 和 ms 是两个参数，在函数里像普通变量一样使用。for 循环跑 times 圈，每圈亮一次、灭一次。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loop() 里两次调用同一个函数，只是传的参数不同，就得到“快闪 3 下、慢闪 1 下”的节奏。这就是函数的好处：想改闪法，只改参数，不用重写四行代码。可以让学生用 blink 拼出一段求救信号（三短三长三短）。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map() 是传感器编程里最常用的换算器：把一个范围按比例换成另一个范围，就像比例尺。注意 map 只做整数运算，512 换算成 127.6 会被舍成 127。constrain 常和 map 搭配，保证结果不越界。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先看实验卡和接线：电位器两边脚接 5V 和 GND，中间脚接 A0；LED 串一个 220Ω 电阻接 9 号脚，长脚是正极。第 1–7 行只是起名字和做准备：LED 引脚设为输出，打开串口。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loop() 里四步：读旋钮、换算、限制范围、输出亮度，再把两个数打印出来。串口里“读数 -&gt; 亮度”一行一行地出现，转旋钮时数字跟着变。动手题：把 map 的最后两个数换成 255, 0，旋钮方向就反过来了。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库就像手机上的 App：装好以后，用一句 #include 引入，就能直接用它提供的功能。IDE 自带的库（Servo、Wire）不用安装；其他库用“管理库”在线安装，或者导入套件资料里的 .ZIP 文件。库的函数通常写成“对象.函数()”，例如 lcd.print()、myservo.write(90)。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这张图基本覆盖了套件里所有模块：先判断模块属于哪一类，再用对应的函数。数字输出控制开关量，数字输入读开关量，模拟输入读连续变化的电压，PWM 输出“中间亮度”。舵机、LCD、彩灯、温湿度、超声波这些复杂一些的模块，通过库或特殊函数控制。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两页速查表可以打印出来贴在桌边。写代码时忘了写法，就来这里查，不用死记。重点提醒 analogWrite 只能用在 3、5、6、9、10、11 号引脚。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判断与循环、时间、串口、数学函数都在这一页。pulseIn 前面没有展开，它用来测量一个高电平持续了多少微秒，超声波测距会用到。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编译报错别慌：先看最上面的第一条，它会告诉你出错的行号。最常见的就是表里前四条：漏分号、拼写或大小写、括号不成对、中文标点。上传失败多半是端口没选对，串口乱码多半是波特率不一致。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总结：先让程序跑起来，再一点点改，每次只改一处，观察变化。下一步就可以进入套件实验，把这些语法用到真实的电路里。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002-1.png"/><Relationship Id="rId2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003-1.png"/><Relationship Id="rId2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004-1.png"/><Relationship Id="rId2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005-1.png"/><Relationship Id="rId2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VER">
    <p:bg>
      <p:bgPr>
        <a:solidFill>
          <a:srgbClr val="40E0D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57200" y="3246120"/>
            <a:ext cx="1325880" cy="1325880"/>
          </a:xfrm>
          <a:prstGeom prst="rect">
            <a:avLst/>
          </a:prstGeom>
        </p:spPr>
      </p:pic>
      <p:sp>
        <p:nvSpPr>
          <p:cNvPr id="3" name="Text 0"/>
          <p:cNvSpPr/>
          <p:nvPr>
            <p:ph idx="101" type="body" hasCustomPrompt="1"/>
          </p:nvPr>
        </p:nvSpPr>
        <p:spPr>
          <a:xfrm>
            <a:off x="502920" y="411480"/>
            <a:ext cx="8138160" cy="274320"/>
          </a:xfrm>
          <a:prstGeom prst="rect">
            <a:avLst/>
          </a:prstGeom>
          <a:noFill/>
          <a:ln/>
        </p:spPr>
        <p:txBody>
          <a:bodyPr wrap="square" rtlCol="0"/>
          <a:lstStyle>
            <a:lvl1pPr indent="0" marL="0">
              <a:buNone/>
              <a:defRPr lang="en-US" sz="1100" dirty="0">
                <a:solidFill>
                  <a:srgbClr val="2D2D2D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defRPr>
            </a:lvl1pPr>
          </a:lstStyle>
          <a:p>
            <a:pPr indent="0" marL="0">
              <a:buNone/>
            </a:pPr>
            <a:endParaRPr lang="en-US" sz="1100" dirty="0"/>
          </a:p>
        </p:txBody>
      </p:sp>
      <p:sp>
        <p:nvSpPr>
          <p:cNvPr id="4" name="Text 0"/>
          <p:cNvSpPr/>
          <p:nvPr>
            <p:ph idx="102" type="title" hasCustomPrompt="1"/>
          </p:nvPr>
        </p:nvSpPr>
        <p:spPr>
          <a:xfrm>
            <a:off x="502920" y="868680"/>
            <a:ext cx="8138160" cy="86868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buNone/>
              <a:defRPr lang="en-US" sz="4000" b="1" dirty="0">
                <a:solidFill>
                  <a:srgbClr val="2D2D2D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defRPr>
            </a:lvl1pPr>
          </a:lstStyle>
          <a:p>
            <a:pPr algn="l" indent="0" marL="0">
              <a:buNone/>
            </a:pPr>
            <a:endParaRPr lang="en-US" sz="4000" dirty="0"/>
          </a:p>
        </p:txBody>
      </p:sp>
      <p:sp>
        <p:nvSpPr>
          <p:cNvPr id="5" name="Text 0"/>
          <p:cNvSpPr/>
          <p:nvPr>
            <p:ph idx="103" type="body" hasCustomPrompt="1"/>
          </p:nvPr>
        </p:nvSpPr>
        <p:spPr>
          <a:xfrm>
            <a:off x="502920" y="1737360"/>
            <a:ext cx="8138160" cy="731520"/>
          </a:xfrm>
          <a:prstGeom prst="rect">
            <a:avLst/>
          </a:prstGeom>
          <a:noFill/>
          <a:ln/>
        </p:spPr>
        <p:txBody>
          <a:bodyPr wrap="square" rtlCol="0"/>
          <a:lstStyle>
            <a:lvl1pPr indent="0" marL="0">
              <a:buNone/>
              <a:defRPr lang="en-US" sz="2800" dirty="0">
                <a:solidFill>
                  <a:srgbClr val="2D2D2D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defRPr>
            </a:lvl1pPr>
          </a:lstStyle>
          <a:p>
            <a:pPr indent="0" marL="0">
              <a:buNone/>
            </a:pPr>
            <a:endParaRPr lang="en-US" sz="2800" dirty="0"/>
          </a:p>
        </p:txBody>
      </p:sp>
      <p:sp>
        <p:nvSpPr>
          <p:cNvPr id="6" name="Text 0"/>
          <p:cNvSpPr/>
          <p:nvPr>
            <p:ph idx="104" type="body" hasCustomPrompt="1"/>
          </p:nvPr>
        </p:nvSpPr>
        <p:spPr>
          <a:xfrm>
            <a:off x="4206240" y="4069080"/>
            <a:ext cx="4480560" cy="54864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r" indent="0" marL="0">
              <a:buNone/>
              <a:defRPr lang="en-US" sz="1000" dirty="0">
                <a:solidFill>
                  <a:srgbClr val="2D2D2D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defRPr>
            </a:lvl1pPr>
          </a:lstStyle>
          <a:p>
            <a:pPr algn="r" indent="0" marL="0">
              <a:buNone/>
            </a:pPr>
            <a:endParaRPr lang="en-US" sz="1000" dirty="0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ECTION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11480" y="4754880"/>
            <a:ext cx="182880" cy="18288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685800" y="4736592"/>
            <a:ext cx="38404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2D2D2D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Arduino 编程语言基础</a:t>
            </a:r>
            <a:endParaRPr lang="en-US" sz="800" dirty="0"/>
          </a:p>
        </p:txBody>
      </p:sp>
      <p:sp>
        <p:nvSpPr>
          <p:cNvPr id="4" name="Text 1"/>
          <p:cNvSpPr/>
          <p:nvPr>
            <p:ph idx="102" type="body" hasCustomPrompt="1"/>
          </p:nvPr>
        </p:nvSpPr>
        <p:spPr>
          <a:xfrm>
            <a:off x="4572000" y="4736592"/>
            <a:ext cx="3703320" cy="219456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r" indent="0" marL="0">
              <a:buNone/>
              <a:defRPr lang="en-US" sz="800" dirty="0">
                <a:solidFill>
                  <a:srgbClr val="2D2D2D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defRPr>
            </a:lvl1pPr>
          </a:lstStyle>
          <a:p>
            <a:pPr algn="r" indent="0" marL="0">
              <a:buNone/>
            </a:pPr>
            <a:endParaRPr lang="en-US" sz="800" dirty="0"/>
          </a:p>
        </p:txBody>
      </p:sp>
      <p:sp>
        <p:nvSpPr>
          <p:cNvPr id="5" name="Text 1"/>
          <p:cNvSpPr/>
          <p:nvPr>
            <p:ph idx="103" type="body" hasCustomPrompt="1"/>
          </p:nvPr>
        </p:nvSpPr>
        <p:spPr>
          <a:xfrm>
            <a:off x="411480" y="384048"/>
            <a:ext cx="3383280" cy="274320"/>
          </a:xfrm>
          <a:prstGeom prst="rect">
            <a:avLst/>
          </a:prstGeom>
          <a:noFill/>
          <a:ln/>
        </p:spPr>
        <p:txBody>
          <a:bodyPr wrap="square" rtlCol="0"/>
          <a:lstStyle>
            <a:lvl1pPr indent="0" marL="0">
              <a:buNone/>
              <a:defRPr lang="en-US" sz="1100" dirty="0">
                <a:solidFill>
                  <a:srgbClr val="6B6B6B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defRPr>
            </a:lvl1pPr>
          </a:lstStyle>
          <a:p>
            <a:pPr indent="0" marL="0">
              <a:buNone/>
            </a:pPr>
            <a:endParaRPr lang="en-US" sz="1100" dirty="0"/>
          </a:p>
        </p:txBody>
      </p:sp>
      <p:sp>
        <p:nvSpPr>
          <p:cNvPr id="6" name="Text 1"/>
          <p:cNvSpPr/>
          <p:nvPr>
            <p:ph idx="104" type="title" hasCustomPrompt="1"/>
          </p:nvPr>
        </p:nvSpPr>
        <p:spPr>
          <a:xfrm>
            <a:off x="411480" y="713232"/>
            <a:ext cx="3383280" cy="109728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buNone/>
              <a:defRPr lang="en-US" sz="2800" dirty="0">
                <a:solidFill>
                  <a:srgbClr val="2D2D2D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defRPr>
            </a:lvl1pPr>
          </a:lstStyle>
          <a:p>
            <a:pPr algn="l" indent="0" marL="0">
              <a:buNone/>
            </a:pPr>
            <a:endParaRPr lang="en-US" sz="2800" dirty="0"/>
          </a:p>
        </p:txBody>
      </p:sp>
      <p:sp>
        <p:nvSpPr>
          <p:cNvPr id="7" name="Text 1"/>
          <p:cNvSpPr/>
          <p:nvPr>
            <p:ph idx="105" type="body" hasCustomPrompt="1"/>
          </p:nvPr>
        </p:nvSpPr>
        <p:spPr>
          <a:xfrm>
            <a:off x="411480" y="1874520"/>
            <a:ext cx="3246120" cy="2377440"/>
          </a:xfrm>
          <a:prstGeom prst="rect">
            <a:avLst/>
          </a:prstGeom>
          <a:noFill/>
          <a:ln/>
        </p:spPr>
        <p:txBody>
          <a:bodyPr wrap="square" rtlCol="0"/>
          <a:lstStyle>
            <a:lvl1pPr indent="0" marL="0">
              <a:lnSpc>
                <a:spcPct val="130000"/>
              </a:lnSpc>
              <a:buNone/>
              <a:defRPr lang="en-US" sz="1200" dirty="0">
                <a:solidFill>
                  <a:srgbClr val="2D2D2D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defRPr>
            </a:lvl1pPr>
          </a:lstStyle>
          <a:p>
            <a:pPr indent="0" marL="0">
              <a:lnSpc>
                <a:spcPct val="130000"/>
              </a:lnSpc>
              <a:buNone/>
            </a:pPr>
            <a:endParaRPr lang="en-US" sz="12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339328" y="4736592"/>
            <a:ext cx="393192" cy="219456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 lIns="0" tIns="0" rIns="0" bIns="0" anchor="ctr"/>
          <a:lstStyle>
            <a:lvl1pPr>
              <a:defRPr sz="800">
                <a:solidFill>
                  <a:srgbClr val="6B6B6B"/>
                </a:solidFill>
                <a:latin typeface="微软雅黑"/>
                <a:ea typeface="微软雅黑"/>
                <a:cs typeface="微软雅黑"/>
              </a:defRPr>
            </a:lvl1pPr>
          </a:lstStyle>
          <a:p>
            <a:pPr algn="r"/>
            <a:fld id="{F7021451-1387-4CA6-816F-3879F97B5CBC}" type="slidenum">
              <a:rPr b="0" lang="en-US"/>
              <a:t>1003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TENT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11480" y="4754880"/>
            <a:ext cx="182880" cy="18288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685800" y="4736592"/>
            <a:ext cx="38404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2D2D2D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Arduino 编程语言基础</a:t>
            </a:r>
            <a:endParaRPr lang="en-US" sz="800" dirty="0"/>
          </a:p>
        </p:txBody>
      </p:sp>
      <p:sp>
        <p:nvSpPr>
          <p:cNvPr id="4" name="Text 1"/>
          <p:cNvSpPr/>
          <p:nvPr>
            <p:ph idx="102" type="body" hasCustomPrompt="1"/>
          </p:nvPr>
        </p:nvSpPr>
        <p:spPr>
          <a:xfrm>
            <a:off x="4572000" y="4736592"/>
            <a:ext cx="3703320" cy="219456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r" indent="0" marL="0">
              <a:buNone/>
              <a:defRPr lang="en-US" sz="800" dirty="0">
                <a:solidFill>
                  <a:srgbClr val="2D2D2D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defRPr>
            </a:lvl1pPr>
          </a:lstStyle>
          <a:p>
            <a:pPr algn="r" indent="0" marL="0">
              <a:buNone/>
            </a:pPr>
            <a:endParaRPr lang="en-US" sz="800" dirty="0"/>
          </a:p>
        </p:txBody>
      </p:sp>
      <p:sp>
        <p:nvSpPr>
          <p:cNvPr id="5" name="Text 1"/>
          <p:cNvSpPr/>
          <p:nvPr>
            <p:ph idx="103" type="title" hasCustomPrompt="1"/>
          </p:nvPr>
        </p:nvSpPr>
        <p:spPr>
          <a:xfrm>
            <a:off x="411480" y="274320"/>
            <a:ext cx="8321040" cy="50292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buNone/>
              <a:defRPr lang="en-US" sz="2400" dirty="0">
                <a:solidFill>
                  <a:srgbClr val="2D2D2D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defRPr>
            </a:lvl1pPr>
          </a:lstStyle>
          <a:p>
            <a:pPr algn="l" indent="0" marL="0">
              <a:buNone/>
            </a:pPr>
            <a:endParaRPr lang="en-US" sz="2400" dirty="0"/>
          </a:p>
        </p:txBody>
      </p:sp>
      <p:sp>
        <p:nvSpPr>
          <p:cNvPr id="6" name="Text 1"/>
          <p:cNvSpPr/>
          <p:nvPr>
            <p:ph idx="104" type="body" hasCustomPrompt="1"/>
          </p:nvPr>
        </p:nvSpPr>
        <p:spPr>
          <a:xfrm>
            <a:off x="411480" y="786384"/>
            <a:ext cx="8321040" cy="329184"/>
          </a:xfrm>
          <a:prstGeom prst="rect">
            <a:avLst/>
          </a:prstGeom>
          <a:noFill/>
          <a:ln/>
        </p:spPr>
        <p:txBody>
          <a:bodyPr wrap="square" rtlCol="0"/>
          <a:lstStyle>
            <a:lvl1pPr indent="0" marL="0">
              <a:buNone/>
              <a:defRPr lang="en-US" sz="1200" dirty="0">
                <a:solidFill>
                  <a:srgbClr val="6B6B6B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defRPr>
            </a:lvl1pPr>
          </a:lstStyle>
          <a:p>
            <a:pPr indent="0" marL="0">
              <a:buNone/>
            </a:pPr>
            <a:endParaRPr lang="en-US" sz="12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339328" y="4736592"/>
            <a:ext cx="393192" cy="219456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 lIns="0" tIns="0" rIns="0" bIns="0" anchor="ctr"/>
          <a:lstStyle>
            <a:lvl1pPr>
              <a:defRPr sz="800">
                <a:solidFill>
                  <a:srgbClr val="6B6B6B"/>
                </a:solidFill>
                <a:latin typeface="微软雅黑"/>
                <a:ea typeface="微软雅黑"/>
                <a:cs typeface="微软雅黑"/>
              </a:defRPr>
            </a:lvl1pPr>
          </a:lstStyle>
          <a:p>
            <a:pPr algn="r"/>
            <a:fld id="{F7021451-1387-4CA6-816F-3879F97B5CBC}" type="slidenum">
              <a:rPr b="0" lang="en-US"/>
              <a:t>1004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END">
    <p:bg>
      <p:bgPr>
        <a:solidFill>
          <a:srgbClr val="40E0D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57200" y="3246120"/>
            <a:ext cx="1325880" cy="1325880"/>
          </a:xfrm>
          <a:prstGeom prst="rect">
            <a:avLst/>
          </a:prstGeom>
        </p:spPr>
      </p:pic>
      <p:sp>
        <p:nvSpPr>
          <p:cNvPr id="3" name="Text 0"/>
          <p:cNvSpPr/>
          <p:nvPr>
            <p:ph idx="101" type="title" hasCustomPrompt="1"/>
          </p:nvPr>
        </p:nvSpPr>
        <p:spPr>
          <a:xfrm>
            <a:off x="502920" y="1097280"/>
            <a:ext cx="8138160" cy="91440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buNone/>
              <a:defRPr lang="en-US" sz="3400" b="1" dirty="0">
                <a:solidFill>
                  <a:srgbClr val="2D2D2D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defRPr>
            </a:lvl1pPr>
          </a:lstStyle>
          <a:p>
            <a:pPr algn="l" indent="0" marL="0">
              <a:buNone/>
            </a:pPr>
            <a:endParaRPr lang="en-US" sz="3400" dirty="0"/>
          </a:p>
        </p:txBody>
      </p:sp>
      <p:sp>
        <p:nvSpPr>
          <p:cNvPr id="4" name="Text 0"/>
          <p:cNvSpPr/>
          <p:nvPr>
            <p:ph idx="102" type="body" hasCustomPrompt="1"/>
          </p:nvPr>
        </p:nvSpPr>
        <p:spPr>
          <a:xfrm>
            <a:off x="502920" y="2057400"/>
            <a:ext cx="8138160" cy="914400"/>
          </a:xfrm>
          <a:prstGeom prst="rect">
            <a:avLst/>
          </a:prstGeom>
          <a:noFill/>
          <a:ln/>
        </p:spPr>
        <p:txBody>
          <a:bodyPr wrap="square" rtlCol="0"/>
          <a:lstStyle>
            <a:lvl1pPr indent="0" marL="0">
              <a:buNone/>
              <a:defRPr lang="en-US" sz="1600" dirty="0">
                <a:solidFill>
                  <a:srgbClr val="2D2D2D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defRPr>
            </a:lvl1pPr>
          </a:lstStyle>
          <a:p>
            <a:pPr indent="0" marL="0">
              <a:buNone/>
            </a:pPr>
            <a:endParaRPr lang="en-US" sz="1600" dirty="0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339328" y="4736592"/>
            <a:ext cx="393192" cy="219456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 lIns="0" tIns="0" rIns="0" bIns="0" anchor="ctr"/>
          <a:lstStyle>
            <a:lvl1pPr>
              <a:defRPr sz="800">
                <a:solidFill>
                  <a:srgbClr val="6B6B6B"/>
                </a:solidFill>
                <a:latin typeface="微软雅黑"/>
                <a:ea typeface="微软雅黑"/>
                <a:cs typeface="微软雅黑"/>
              </a:defRPr>
            </a:lvl1pPr>
          </a:lstStyle>
          <a:p>
            <a:pPr algn="r"/>
            <a:fld id="{F7021451-1387-4CA6-816F-3879F97B5CBC}" type="slidenum">
              <a:rPr b="0" lang="en-US"/>
              <a:t>null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-1.png"/><Relationship Id="rId2" Type="http://schemas.openxmlformats.org/officeDocument/2006/relationships/image" Target="../media/image-2-2.png"/><Relationship Id="rId3" Type="http://schemas.openxmlformats.org/officeDocument/2006/relationships/image" Target="../media/image-2-3.png"/><Relationship Id="rId4" Type="http://schemas.openxmlformats.org/officeDocument/2006/relationships/image" Target="../media/image-2-4.png"/><Relationship Id="rId5" Type="http://schemas.openxmlformats.org/officeDocument/2006/relationships/image" Target="../media/image-2-5.png"/><Relationship Id="rId6" Type="http://schemas.openxmlformats.org/officeDocument/2006/relationships/image" Target="../media/image-2-6.png"/><Relationship Id="rId7" Type="http://schemas.openxmlformats.org/officeDocument/2006/relationships/slideLayout" Target="../slideLayouts/slideLayout4.xml"/><Relationship Id="rId8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png"/><Relationship Id="rId2" Type="http://schemas.openxmlformats.org/officeDocument/2006/relationships/image" Target="../media/image-3-2.png"/><Relationship Id="rId3" Type="http://schemas.openxmlformats.org/officeDocument/2006/relationships/image" Target="../media/image-3-3.png"/><Relationship Id="rId4" Type="http://schemas.openxmlformats.org/officeDocument/2006/relationships/image" Target="../media/image-3-4.png"/><Relationship Id="rId5" Type="http://schemas.openxmlformats.org/officeDocument/2006/relationships/slideLayout" Target="../slideLayouts/slideLayout4.xml"/><Relationship Id="rId6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-1.png"/><Relationship Id="rId2" Type="http://schemas.openxmlformats.org/officeDocument/2006/relationships/image" Target="../media/image-5-2.png"/><Relationship Id="rId3" Type="http://schemas.openxmlformats.org/officeDocument/2006/relationships/image" Target="../media/image-5-3.png"/><Relationship Id="rId4" Type="http://schemas.openxmlformats.org/officeDocument/2006/relationships/image" Target="../media/image-5-4.png"/><Relationship Id="rId5" Type="http://schemas.openxmlformats.org/officeDocument/2006/relationships/slideLayout" Target="../slideLayouts/slideLayout4.xml"/><Relationship Id="rId6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-1.png"/><Relationship Id="rId2" Type="http://schemas.openxmlformats.org/officeDocument/2006/relationships/image" Target="../media/image-6-2.png"/><Relationship Id="rId3" Type="http://schemas.openxmlformats.org/officeDocument/2006/relationships/image" Target="../media/image-6-3.png"/><Relationship Id="rId4" Type="http://schemas.openxmlformats.org/officeDocument/2006/relationships/image" Target="../media/image-6-4.png"/><Relationship Id="rId5" Type="http://schemas.openxmlformats.org/officeDocument/2006/relationships/image" Target="../media/image-6-5.png"/><Relationship Id="rId6" Type="http://schemas.openxmlformats.org/officeDocument/2006/relationships/image" Target="../media/image-6-6.png"/><Relationship Id="rId7" Type="http://schemas.openxmlformats.org/officeDocument/2006/relationships/slideLayout" Target="../slideLayouts/slideLayout4.xml"/><Relationship Id="rId8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8-1.png"/><Relationship Id="rId2" Type="http://schemas.openxmlformats.org/officeDocument/2006/relationships/slideLayout" Target="../slideLayouts/slideLayout4.xml"/><Relationship Id="rId3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9-1.png"/><Relationship Id="rId2" Type="http://schemas.openxmlformats.org/officeDocument/2006/relationships/slideLayout" Target="../slideLayouts/slideLayout4.xml"/><Relationship Id="rId3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0-1.png"/><Relationship Id="rId2" Type="http://schemas.openxmlformats.org/officeDocument/2006/relationships/image" Target="../media/image-10-2.png"/><Relationship Id="rId3" Type="http://schemas.openxmlformats.org/officeDocument/2006/relationships/image" Target="../media/image-10-3.png"/><Relationship Id="rId4" Type="http://schemas.openxmlformats.org/officeDocument/2006/relationships/image" Target="../media/image-10-4.png"/><Relationship Id="rId5" Type="http://schemas.openxmlformats.org/officeDocument/2006/relationships/image" Target="../media/image-10-5.png"/><Relationship Id="rId6" Type="http://schemas.openxmlformats.org/officeDocument/2006/relationships/slideLayout" Target="../slideLayouts/slideLayout4.xml"/><Relationship Id="rId7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1-1.png"/><Relationship Id="rId2" Type="http://schemas.openxmlformats.org/officeDocument/2006/relationships/image" Target="../media/image-11-2.png"/><Relationship Id="rId3" Type="http://schemas.openxmlformats.org/officeDocument/2006/relationships/image" Target="../media/image-11-3.png"/><Relationship Id="rId4" Type="http://schemas.openxmlformats.org/officeDocument/2006/relationships/image" Target="../media/image-11-4.png"/><Relationship Id="rId5" Type="http://schemas.openxmlformats.org/officeDocument/2006/relationships/slideLayout" Target="../slideLayouts/slideLayout4.xml"/><Relationship Id="rId6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2-1.png"/><Relationship Id="rId2" Type="http://schemas.openxmlformats.org/officeDocument/2006/relationships/image" Target="../media/image-12-2.png"/><Relationship Id="rId3" Type="http://schemas.openxmlformats.org/officeDocument/2006/relationships/image" Target="../media/image-12-3.png"/><Relationship Id="rId4" Type="http://schemas.openxmlformats.org/officeDocument/2006/relationships/image" Target="../media/image-12-4.png"/><Relationship Id="rId5" Type="http://schemas.openxmlformats.org/officeDocument/2006/relationships/image" Target="../media/image-12-5.png"/><Relationship Id="rId6" Type="http://schemas.openxmlformats.org/officeDocument/2006/relationships/image" Target="../media/image-12-6.png"/><Relationship Id="rId7" Type="http://schemas.openxmlformats.org/officeDocument/2006/relationships/image" Target="../media/image-12-7.png"/><Relationship Id="rId8" Type="http://schemas.openxmlformats.org/officeDocument/2006/relationships/image" Target="../media/image-12-8.png"/><Relationship Id="rId9" Type="http://schemas.openxmlformats.org/officeDocument/2006/relationships/slideLayout" Target="../slideLayouts/slideLayout4.xml"/><Relationship Id="rId10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4-1.png"/><Relationship Id="rId2" Type="http://schemas.openxmlformats.org/officeDocument/2006/relationships/image" Target="../media/image-14-2.png"/><Relationship Id="rId3" Type="http://schemas.openxmlformats.org/officeDocument/2006/relationships/slideLayout" Target="../slideLayouts/slideLayout4.xml"/><Relationship Id="rId4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5-1.png"/><Relationship Id="rId2" Type="http://schemas.openxmlformats.org/officeDocument/2006/relationships/slideLayout" Target="../slideLayouts/slideLayout4.xml"/><Relationship Id="rId3" Type="http://schemas.openxmlformats.org/officeDocument/2006/relationships/notesSlide" Target="../notesSlides/notesSlide15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16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7-1.png"/><Relationship Id="rId2" Type="http://schemas.openxmlformats.org/officeDocument/2006/relationships/image" Target="../media/image-17-2.png"/><Relationship Id="rId3" Type="http://schemas.openxmlformats.org/officeDocument/2006/relationships/image" Target="../media/image-17-3.png"/><Relationship Id="rId4" Type="http://schemas.openxmlformats.org/officeDocument/2006/relationships/image" Target="../media/image-17-4.png"/><Relationship Id="rId5" Type="http://schemas.openxmlformats.org/officeDocument/2006/relationships/slideLayout" Target="../slideLayouts/slideLayout4.xml"/><Relationship Id="rId6" Type="http://schemas.openxmlformats.org/officeDocument/2006/relationships/notesSlide" Target="../notesSlides/notesSlide17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8-1.png"/><Relationship Id="rId2" Type="http://schemas.openxmlformats.org/officeDocument/2006/relationships/image" Target="../media/image-18-2.png"/><Relationship Id="rId3" Type="http://schemas.openxmlformats.org/officeDocument/2006/relationships/image" Target="../media/image-18-3.png"/><Relationship Id="rId4" Type="http://schemas.openxmlformats.org/officeDocument/2006/relationships/image" Target="../media/image-18-4.png"/><Relationship Id="rId5" Type="http://schemas.openxmlformats.org/officeDocument/2006/relationships/slideLayout" Target="../slideLayouts/slideLayout4.xml"/><Relationship Id="rId6" Type="http://schemas.openxmlformats.org/officeDocument/2006/relationships/notesSlide" Target="../notesSlides/notesSlide18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19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0-1.png"/><Relationship Id="rId2" Type="http://schemas.openxmlformats.org/officeDocument/2006/relationships/slideLayout" Target="../slideLayouts/slideLayout4.xml"/><Relationship Id="rId3" Type="http://schemas.openxmlformats.org/officeDocument/2006/relationships/notesSlide" Target="../notesSlides/notesSlide20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1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2-1.png"/><Relationship Id="rId2" Type="http://schemas.openxmlformats.org/officeDocument/2006/relationships/slideLayout" Target="../slideLayouts/slideLayout4.xml"/><Relationship Id="rId3" Type="http://schemas.openxmlformats.org/officeDocument/2006/relationships/notesSlide" Target="../notesSlides/notesSlide22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3-1.png"/><Relationship Id="rId2" Type="http://schemas.openxmlformats.org/officeDocument/2006/relationships/slideLayout" Target="../slideLayouts/slideLayout4.xml"/><Relationship Id="rId3" Type="http://schemas.openxmlformats.org/officeDocument/2006/relationships/notesSlide" Target="../notesSlides/notesSlide23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24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5-1.png"/><Relationship Id="rId2" Type="http://schemas.openxmlformats.org/officeDocument/2006/relationships/slideLayout" Target="../slideLayouts/slideLayout4.xml"/><Relationship Id="rId3" Type="http://schemas.openxmlformats.org/officeDocument/2006/relationships/notesSlide" Target="../notesSlides/notesSlide25.xm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6.xml"/></Relationships>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7-1.png"/><Relationship Id="rId2" Type="http://schemas.openxmlformats.org/officeDocument/2006/relationships/slideLayout" Target="../slideLayouts/slideLayout4.xml"/><Relationship Id="rId3" Type="http://schemas.openxmlformats.org/officeDocument/2006/relationships/notesSlide" Target="../notesSlides/notesSlide27.xml"/></Relationships>
</file>

<file path=ppt/slides/_rels/slide2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8-1.png"/><Relationship Id="rId2" Type="http://schemas.openxmlformats.org/officeDocument/2006/relationships/slideLayout" Target="../slideLayouts/slideLayout4.xml"/><Relationship Id="rId3" Type="http://schemas.openxmlformats.org/officeDocument/2006/relationships/notesSlide" Target="../notesSlides/notesSlide28.xml"/></Relationships>
</file>

<file path=ppt/slides/_rels/slide2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9-1.png"/><Relationship Id="rId2" Type="http://schemas.openxmlformats.org/officeDocument/2006/relationships/slideLayout" Target="../slideLayouts/slideLayout4.xml"/><Relationship Id="rId3" Type="http://schemas.openxmlformats.org/officeDocument/2006/relationships/notesSlide" Target="../notesSlides/notesSlide29.xml"/></Relationships>
</file>

<file path=ppt/slides/_rels/slide3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0-1.png"/><Relationship Id="rId2" Type="http://schemas.openxmlformats.org/officeDocument/2006/relationships/image" Target="../media/image-30-2.png"/><Relationship Id="rId3" Type="http://schemas.openxmlformats.org/officeDocument/2006/relationships/slideLayout" Target="../slideLayouts/slideLayout4.xml"/><Relationship Id="rId4" Type="http://schemas.openxmlformats.org/officeDocument/2006/relationships/notesSlide" Target="../notesSlides/notesSlide30.xml"/></Relationships>
</file>

<file path=ppt/slides/_rels/slide3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1-1.png"/><Relationship Id="rId2" Type="http://schemas.openxmlformats.org/officeDocument/2006/relationships/slideLayout" Target="../slideLayouts/slideLayout4.xml"/><Relationship Id="rId3" Type="http://schemas.openxmlformats.org/officeDocument/2006/relationships/notesSlide" Target="../notesSlides/notesSlide31.xml"/></Relationships>
</file>

<file path=ppt/slides/_rels/slide3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2-1.png"/><Relationship Id="rId2" Type="http://schemas.openxmlformats.org/officeDocument/2006/relationships/slideLayout" Target="../slideLayouts/slideLayout4.xml"/><Relationship Id="rId3" Type="http://schemas.openxmlformats.org/officeDocument/2006/relationships/notesSlide" Target="../notesSlides/notesSlide32.xml"/></Relationships>
</file>

<file path=ppt/slides/_rels/slide3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33.xml"/></Relationships>
</file>

<file path=ppt/slides/_rels/slide3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4-1.png"/><Relationship Id="rId2" Type="http://schemas.openxmlformats.org/officeDocument/2006/relationships/image" Target="../media/image-34-2.png"/><Relationship Id="rId3" Type="http://schemas.openxmlformats.org/officeDocument/2006/relationships/image" Target="../media/image-34-3.png"/><Relationship Id="rId4" Type="http://schemas.openxmlformats.org/officeDocument/2006/relationships/image" Target="../media/image-34-4.png"/><Relationship Id="rId5" Type="http://schemas.openxmlformats.org/officeDocument/2006/relationships/slideLayout" Target="../slideLayouts/slideLayout4.xml"/><Relationship Id="rId6" Type="http://schemas.openxmlformats.org/officeDocument/2006/relationships/notesSlide" Target="../notesSlides/notesSlide34.xml"/></Relationships>
</file>

<file path=ppt/slides/_rels/slide3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5-1.png"/><Relationship Id="rId2" Type="http://schemas.openxmlformats.org/officeDocument/2006/relationships/image" Target="../media/image-35-2.png"/><Relationship Id="rId3" Type="http://schemas.openxmlformats.org/officeDocument/2006/relationships/image" Target="../media/image-35-3.png"/><Relationship Id="rId4" Type="http://schemas.openxmlformats.org/officeDocument/2006/relationships/image" Target="../media/image-35-4.png"/><Relationship Id="rId5" Type="http://schemas.openxmlformats.org/officeDocument/2006/relationships/slideLayout" Target="../slideLayouts/slideLayout4.xml"/><Relationship Id="rId6" Type="http://schemas.openxmlformats.org/officeDocument/2006/relationships/notesSlide" Target="../notesSlides/notesSlide35.xml"/></Relationships>
</file>

<file path=ppt/slides/_rels/slide3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6-1.png"/><Relationship Id="rId2" Type="http://schemas.openxmlformats.org/officeDocument/2006/relationships/image" Target="../media/image-36-2.png"/><Relationship Id="rId3" Type="http://schemas.openxmlformats.org/officeDocument/2006/relationships/image" Target="../media/image-36-3.png"/><Relationship Id="rId4" Type="http://schemas.openxmlformats.org/officeDocument/2006/relationships/image" Target="../media/image-36-4.png"/><Relationship Id="rId5" Type="http://schemas.openxmlformats.org/officeDocument/2006/relationships/slideLayout" Target="../slideLayouts/slideLayout4.xml"/><Relationship Id="rId6" Type="http://schemas.openxmlformats.org/officeDocument/2006/relationships/notesSlide" Target="../notesSlides/notesSlide36.xml"/></Relationships>
</file>

<file path=ppt/slides/_rels/slide3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7-1.png"/><Relationship Id="rId2" Type="http://schemas.openxmlformats.org/officeDocument/2006/relationships/slideLayout" Target="../slideLayouts/slideLayout4.xml"/><Relationship Id="rId3" Type="http://schemas.openxmlformats.org/officeDocument/2006/relationships/notesSlide" Target="../notesSlides/notesSlide37.xml"/></Relationships>
</file>

<file path=ppt/slides/_rels/slide3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notesSlide" Target="../notesSlides/notesSlide38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1" type="body" hasCustomPrompt="1"/>
          </p:nvPr>
        </p:nvSpPr>
        <p:spPr>
          <a:xfrm>
            <a:off x="502920" y="411480"/>
            <a:ext cx="81381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2D2D2D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开源硬件与 AI 辅助编程　/　编程语言基础</a:t>
            </a:r>
            <a:endParaRPr lang="en-US" sz="1100" dirty="0"/>
          </a:p>
        </p:txBody>
      </p:sp>
      <p:sp>
        <p:nvSpPr>
          <p:cNvPr id="3" name="Text 0"/>
          <p:cNvSpPr/>
          <p:nvPr>
            <p:ph idx="102" type="title" hasCustomPrompt="1"/>
          </p:nvPr>
        </p:nvSpPr>
        <p:spPr>
          <a:xfrm>
            <a:off x="502920" y="868680"/>
            <a:ext cx="813816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4000" b="1" dirty="0">
                <a:solidFill>
                  <a:srgbClr val="2D2D2D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Arduino 编程语言基础</a:t>
            </a:r>
            <a:endParaRPr lang="en-US" sz="4000" dirty="0"/>
          </a:p>
        </p:txBody>
      </p:sp>
      <p:sp>
        <p:nvSpPr>
          <p:cNvPr id="4" name="Text 0"/>
          <p:cNvSpPr/>
          <p:nvPr>
            <p:ph idx="103" type="body" hasCustomPrompt="1"/>
          </p:nvPr>
        </p:nvSpPr>
        <p:spPr>
          <a:xfrm>
            <a:off x="502920" y="1737360"/>
            <a:ext cx="81381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800" dirty="0">
                <a:solidFill>
                  <a:srgbClr val="2D2D2D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从零读懂 Arduino 代码</a:t>
            </a:r>
            <a:endParaRPr lang="en-US" sz="2800" dirty="0"/>
          </a:p>
        </p:txBody>
      </p:sp>
      <p:sp>
        <p:nvSpPr>
          <p:cNvPr id="5" name="Text 0"/>
          <p:cNvSpPr/>
          <p:nvPr>
            <p:ph idx="104" type="body" hasCustomPrompt="1"/>
          </p:nvPr>
        </p:nvSpPr>
        <p:spPr>
          <a:xfrm>
            <a:off x="4206240" y="4069080"/>
            <a:ext cx="44805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algn="r" indent="0" marL="0">
              <a:buNone/>
            </a:pPr>
            <a:r>
              <a:rPr lang="en-US" sz="1000" dirty="0">
                <a:solidFill>
                  <a:srgbClr val="2D2D2D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湖北工业大学 · 工业设计学院</a:t>
            </a:r>
            <a:endParaRPr lang="en-US" sz="10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1"/>
          <p:cNvSpPr/>
          <p:nvPr>
            <p:ph idx="102" type="body" hasCustomPrompt="1"/>
          </p:nvPr>
        </p:nvSpPr>
        <p:spPr>
          <a:xfrm>
            <a:off x="4572000" y="4736592"/>
            <a:ext cx="370332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2D2D2D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开始之前</a:t>
            </a:r>
            <a:endParaRPr lang="en-US" sz="800" dirty="0"/>
          </a:p>
        </p:txBody>
      </p:sp>
      <p:sp>
        <p:nvSpPr>
          <p:cNvPr id="3" name="Text 1"/>
          <p:cNvSpPr/>
          <p:nvPr>
            <p:ph idx="103" type="title" hasCustomPrompt="1"/>
          </p:nvPr>
        </p:nvSpPr>
        <p:spPr>
          <a:xfrm>
            <a:off x="411480" y="274320"/>
            <a:ext cx="83210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400" dirty="0">
                <a:solidFill>
                  <a:srgbClr val="2D2D2D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这节课的学习路线</a:t>
            </a:r>
            <a:endParaRPr lang="en-US" sz="2400" dirty="0"/>
          </a:p>
        </p:txBody>
      </p:sp>
      <p:sp>
        <p:nvSpPr>
          <p:cNvPr id="4" name="Text 1"/>
          <p:cNvSpPr/>
          <p:nvPr>
            <p:ph idx="104" type="body" hasCustomPrompt="1"/>
          </p:nvPr>
        </p:nvSpPr>
        <p:spPr>
          <a:xfrm>
            <a:off x="411480" y="786384"/>
            <a:ext cx="83210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6B6B6B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6 个小站：前 5 站学语法，最后一站是写代码时随手翻的速查表。</a:t>
            </a:r>
            <a:endParaRPr lang="en-US" sz="1200" dirty="0"/>
          </a:p>
        </p:txBody>
      </p:sp>
      <p:sp>
        <p:nvSpPr>
          <p:cNvPr id="6" name="Shape 3"/>
          <p:cNvSpPr/>
          <p:nvPr/>
        </p:nvSpPr>
        <p:spPr>
          <a:xfrm>
            <a:off x="411480" y="1234440"/>
            <a:ext cx="2773680" cy="1668780"/>
          </a:xfrm>
          <a:prstGeom prst="rect">
            <a:avLst/>
          </a:prstGeom>
          <a:solidFill>
            <a:srgbClr val="40E0D0"/>
          </a:solidFill>
          <a:ln w="9525">
            <a:solidFill>
              <a:srgbClr val="E2E2E2"/>
            </a:solidFill>
            <a:prstDash val="solid"/>
          </a:ln>
        </p:spPr>
      </p:sp>
      <p:sp>
        <p:nvSpPr>
          <p:cNvPr id="7" name="Text 4"/>
          <p:cNvSpPr txBox="1"/>
          <p:nvPr/>
        </p:nvSpPr>
        <p:spPr>
          <a:xfrm>
            <a:off x="612648" y="1362456"/>
            <a:ext cx="10972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2800" b="1" dirty="0">
                <a:solidFill>
                  <a:srgbClr val="2D2D2D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01</a:t>
            </a:r>
            <a:endParaRPr lang="en-US" sz="2800" dirty="0"/>
          </a:p>
        </p:txBody>
      </p:sp>
      <p:sp>
        <p:nvSpPr>
          <p:cNvPr id="8" name="Shape 5"/>
          <p:cNvSpPr/>
          <p:nvPr/>
        </p:nvSpPr>
        <p:spPr>
          <a:xfrm>
            <a:off x="2563368" y="1399032"/>
            <a:ext cx="420624" cy="420624"/>
          </a:xfrm>
          <a:prstGeom prst="ellipse">
            <a:avLst/>
          </a:prstGeom>
          <a:solidFill>
            <a:srgbClr val="2D2D2D"/>
          </a:solidFill>
          <a:ln w="12700">
            <a:solidFill>
              <a:srgbClr val="2D2D2D"/>
            </a:solidFill>
            <a:prstDash val="solid"/>
          </a:ln>
        </p:spPr>
      </p:sp>
      <p:pic>
        <p:nvPicPr>
          <p:cNvPr id="9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2664318" y="1499982"/>
            <a:ext cx="218724" cy="218724"/>
          </a:xfrm>
          <a:prstGeom prst="rect">
            <a:avLst/>
          </a:prstGeom>
        </p:spPr>
      </p:pic>
      <p:sp>
        <p:nvSpPr>
          <p:cNvPr id="10" name="Text 6"/>
          <p:cNvSpPr txBox="1"/>
          <p:nvPr/>
        </p:nvSpPr>
        <p:spPr>
          <a:xfrm>
            <a:off x="612648" y="1965960"/>
            <a:ext cx="2371344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1600" b="1" dirty="0">
                <a:solidFill>
                  <a:srgbClr val="2D2D2D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程序的骨架</a:t>
            </a:r>
            <a:endParaRPr lang="en-US" sz="1600" dirty="0"/>
          </a:p>
        </p:txBody>
      </p:sp>
      <p:sp>
        <p:nvSpPr>
          <p:cNvPr id="11" name="Text 7"/>
          <p:cNvSpPr txBox="1"/>
          <p:nvPr/>
        </p:nvSpPr>
        <p:spPr>
          <a:xfrm>
            <a:off x="612648" y="2350008"/>
            <a:ext cx="2371344" cy="4617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1200" dirty="0">
                <a:solidFill>
                  <a:srgbClr val="2D2D2D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setup() 和 loop()</a:t>
            </a:r>
            <a:endParaRPr lang="en-US" sz="1200" dirty="0"/>
          </a:p>
          <a:p>
            <a:pPr algn="l" indent="0" marL="0">
              <a:lnSpc>
                <a:spcPct val="115000"/>
              </a:lnSpc>
              <a:buNone/>
            </a:pPr>
            <a:r>
              <a:rPr lang="en-US" sz="1200" dirty="0">
                <a:solidFill>
                  <a:srgbClr val="2D2D2D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写代码的 6 条规则</a:t>
            </a:r>
            <a:endParaRPr lang="en-US" sz="1200" dirty="0"/>
          </a:p>
        </p:txBody>
      </p:sp>
      <p:sp>
        <p:nvSpPr>
          <p:cNvPr id="12" name="Shape 8"/>
          <p:cNvSpPr/>
          <p:nvPr/>
        </p:nvSpPr>
        <p:spPr>
          <a:xfrm>
            <a:off x="3185160" y="1234440"/>
            <a:ext cx="2773680" cy="1668780"/>
          </a:xfrm>
          <a:prstGeom prst="rect">
            <a:avLst/>
          </a:prstGeom>
          <a:solidFill>
            <a:srgbClr val="EBEBEB"/>
          </a:solidFill>
          <a:ln w="9525">
            <a:solidFill>
              <a:srgbClr val="E2E2E2"/>
            </a:solidFill>
            <a:prstDash val="solid"/>
          </a:ln>
        </p:spPr>
      </p:sp>
      <p:sp>
        <p:nvSpPr>
          <p:cNvPr id="13" name="Text 9"/>
          <p:cNvSpPr txBox="1"/>
          <p:nvPr/>
        </p:nvSpPr>
        <p:spPr>
          <a:xfrm>
            <a:off x="3386328" y="1362456"/>
            <a:ext cx="10972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2800" b="1" dirty="0">
                <a:solidFill>
                  <a:srgbClr val="2D2D2D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02</a:t>
            </a:r>
            <a:endParaRPr lang="en-US" sz="2800" dirty="0"/>
          </a:p>
        </p:txBody>
      </p:sp>
      <p:sp>
        <p:nvSpPr>
          <p:cNvPr id="14" name="Shape 10"/>
          <p:cNvSpPr/>
          <p:nvPr/>
        </p:nvSpPr>
        <p:spPr>
          <a:xfrm>
            <a:off x="5337048" y="1399032"/>
            <a:ext cx="420624" cy="420624"/>
          </a:xfrm>
          <a:prstGeom prst="ellipse">
            <a:avLst/>
          </a:prstGeom>
          <a:solidFill>
            <a:srgbClr val="40E0D0"/>
          </a:solidFill>
          <a:ln w="12700">
            <a:solidFill>
              <a:srgbClr val="40E0D0"/>
            </a:solidFill>
            <a:prstDash val="solid"/>
          </a:ln>
        </p:spPr>
      </p:sp>
      <p:pic>
        <p:nvPicPr>
          <p:cNvPr id="15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437998" y="1499982"/>
            <a:ext cx="218724" cy="218724"/>
          </a:xfrm>
          <a:prstGeom prst="rect">
            <a:avLst/>
          </a:prstGeom>
        </p:spPr>
      </p:pic>
      <p:sp>
        <p:nvSpPr>
          <p:cNvPr id="16" name="Text 11"/>
          <p:cNvSpPr txBox="1"/>
          <p:nvPr/>
        </p:nvSpPr>
        <p:spPr>
          <a:xfrm>
            <a:off x="3386328" y="1965960"/>
            <a:ext cx="2371344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1600" b="1" dirty="0">
                <a:solidFill>
                  <a:srgbClr val="2D2D2D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变量与数据</a:t>
            </a:r>
            <a:endParaRPr lang="en-US" sz="1600" dirty="0"/>
          </a:p>
        </p:txBody>
      </p:sp>
      <p:sp>
        <p:nvSpPr>
          <p:cNvPr id="17" name="Text 12"/>
          <p:cNvSpPr txBox="1"/>
          <p:nvPr/>
        </p:nvSpPr>
        <p:spPr>
          <a:xfrm>
            <a:off x="3386328" y="2350008"/>
            <a:ext cx="2371344" cy="4617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1200" dirty="0">
                <a:solidFill>
                  <a:srgbClr val="6B6B6B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变量、数据类型、常量</a:t>
            </a:r>
            <a:endParaRPr lang="en-US" sz="1200" dirty="0"/>
          </a:p>
          <a:p>
            <a:pPr algn="l" indent="0" marL="0">
              <a:lnSpc>
                <a:spcPct val="115000"/>
              </a:lnSpc>
              <a:buNone/>
            </a:pPr>
            <a:r>
              <a:rPr lang="en-US" sz="1200" dirty="0">
                <a:solidFill>
                  <a:srgbClr val="6B6B6B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数组、运算符</a:t>
            </a:r>
            <a:endParaRPr lang="en-US" sz="1200" dirty="0"/>
          </a:p>
        </p:txBody>
      </p:sp>
      <p:sp>
        <p:nvSpPr>
          <p:cNvPr id="18" name="Shape 13"/>
          <p:cNvSpPr/>
          <p:nvPr/>
        </p:nvSpPr>
        <p:spPr>
          <a:xfrm>
            <a:off x="5958840" y="1234440"/>
            <a:ext cx="2773680" cy="1668780"/>
          </a:xfrm>
          <a:prstGeom prst="rect">
            <a:avLst/>
          </a:prstGeom>
          <a:solidFill>
            <a:srgbClr val="FFFFFF"/>
          </a:solidFill>
          <a:ln w="9525">
            <a:solidFill>
              <a:srgbClr val="E2E2E2"/>
            </a:solidFill>
            <a:prstDash val="solid"/>
          </a:ln>
        </p:spPr>
      </p:sp>
      <p:sp>
        <p:nvSpPr>
          <p:cNvPr id="19" name="Text 14"/>
          <p:cNvSpPr txBox="1"/>
          <p:nvPr/>
        </p:nvSpPr>
        <p:spPr>
          <a:xfrm>
            <a:off x="6160008" y="1362456"/>
            <a:ext cx="10972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2800" b="1" dirty="0">
                <a:solidFill>
                  <a:srgbClr val="2D2D2D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03</a:t>
            </a:r>
            <a:endParaRPr lang="en-US" sz="2800" dirty="0"/>
          </a:p>
        </p:txBody>
      </p:sp>
      <p:sp>
        <p:nvSpPr>
          <p:cNvPr id="20" name="Shape 15"/>
          <p:cNvSpPr/>
          <p:nvPr/>
        </p:nvSpPr>
        <p:spPr>
          <a:xfrm>
            <a:off x="8110728" y="1399032"/>
            <a:ext cx="420624" cy="420624"/>
          </a:xfrm>
          <a:prstGeom prst="ellipse">
            <a:avLst/>
          </a:prstGeom>
          <a:solidFill>
            <a:srgbClr val="40E0D0"/>
          </a:solidFill>
          <a:ln w="12700">
            <a:solidFill>
              <a:srgbClr val="40E0D0"/>
            </a:solidFill>
            <a:prstDash val="solid"/>
          </a:ln>
        </p:spPr>
      </p:sp>
      <p:pic>
        <p:nvPicPr>
          <p:cNvPr id="21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211678" y="1499982"/>
            <a:ext cx="218724" cy="218724"/>
          </a:xfrm>
          <a:prstGeom prst="rect">
            <a:avLst/>
          </a:prstGeom>
        </p:spPr>
      </p:pic>
      <p:sp>
        <p:nvSpPr>
          <p:cNvPr id="22" name="Text 16"/>
          <p:cNvSpPr txBox="1"/>
          <p:nvPr/>
        </p:nvSpPr>
        <p:spPr>
          <a:xfrm>
            <a:off x="6160008" y="1965960"/>
            <a:ext cx="2371344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1600" b="1" dirty="0">
                <a:solidFill>
                  <a:srgbClr val="2D2D2D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和硬件对话</a:t>
            </a:r>
            <a:endParaRPr lang="en-US" sz="1600" dirty="0"/>
          </a:p>
        </p:txBody>
      </p:sp>
      <p:sp>
        <p:nvSpPr>
          <p:cNvPr id="23" name="Text 17"/>
          <p:cNvSpPr txBox="1"/>
          <p:nvPr/>
        </p:nvSpPr>
        <p:spPr>
          <a:xfrm>
            <a:off x="6160008" y="2350008"/>
            <a:ext cx="2371344" cy="4617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1200" dirty="0">
                <a:solidFill>
                  <a:srgbClr val="6B6B6B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数字 / 模拟输入输出</a:t>
            </a:r>
            <a:endParaRPr lang="en-US" sz="1200" dirty="0"/>
          </a:p>
          <a:p>
            <a:pPr algn="l" indent="0" marL="0">
              <a:lnSpc>
                <a:spcPct val="115000"/>
              </a:lnSpc>
              <a:buNone/>
            </a:pPr>
            <a:r>
              <a:rPr lang="en-US" sz="1200" dirty="0">
                <a:solidFill>
                  <a:srgbClr val="6B6B6B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时间、串口</a:t>
            </a:r>
            <a:endParaRPr lang="en-US" sz="1200" dirty="0"/>
          </a:p>
        </p:txBody>
      </p:sp>
      <p:sp>
        <p:nvSpPr>
          <p:cNvPr id="24" name="Shape 18"/>
          <p:cNvSpPr/>
          <p:nvPr/>
        </p:nvSpPr>
        <p:spPr>
          <a:xfrm>
            <a:off x="411480" y="2903220"/>
            <a:ext cx="2773680" cy="1668780"/>
          </a:xfrm>
          <a:prstGeom prst="rect">
            <a:avLst/>
          </a:prstGeom>
          <a:solidFill>
            <a:srgbClr val="2D2D2D"/>
          </a:solidFill>
          <a:ln w="9525">
            <a:solidFill>
              <a:srgbClr val="E2E2E2"/>
            </a:solidFill>
            <a:prstDash val="solid"/>
          </a:ln>
        </p:spPr>
      </p:sp>
      <p:sp>
        <p:nvSpPr>
          <p:cNvPr id="25" name="Text 19"/>
          <p:cNvSpPr txBox="1"/>
          <p:nvPr/>
        </p:nvSpPr>
        <p:spPr>
          <a:xfrm>
            <a:off x="612648" y="3031236"/>
            <a:ext cx="10972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2800" b="1" dirty="0">
                <a:solidFill>
                  <a:srgbClr val="40E0D0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04</a:t>
            </a:r>
            <a:endParaRPr lang="en-US" sz="2800" dirty="0"/>
          </a:p>
        </p:txBody>
      </p:sp>
      <p:sp>
        <p:nvSpPr>
          <p:cNvPr id="26" name="Shape 20"/>
          <p:cNvSpPr/>
          <p:nvPr/>
        </p:nvSpPr>
        <p:spPr>
          <a:xfrm>
            <a:off x="2563368" y="3067812"/>
            <a:ext cx="420624" cy="420624"/>
          </a:xfrm>
          <a:prstGeom prst="ellipse">
            <a:avLst/>
          </a:prstGeom>
          <a:solidFill>
            <a:srgbClr val="40E0D0"/>
          </a:solidFill>
          <a:ln w="12700">
            <a:solidFill>
              <a:srgbClr val="40E0D0"/>
            </a:solidFill>
            <a:prstDash val="solid"/>
          </a:ln>
        </p:spPr>
      </p:sp>
      <p:pic>
        <p:nvPicPr>
          <p:cNvPr id="27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664318" y="3168762"/>
            <a:ext cx="218724" cy="218724"/>
          </a:xfrm>
          <a:prstGeom prst="rect">
            <a:avLst/>
          </a:prstGeom>
        </p:spPr>
      </p:pic>
      <p:sp>
        <p:nvSpPr>
          <p:cNvPr id="28" name="Text 21"/>
          <p:cNvSpPr txBox="1"/>
          <p:nvPr/>
        </p:nvSpPr>
        <p:spPr>
          <a:xfrm>
            <a:off x="612648" y="3634740"/>
            <a:ext cx="2371344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1600" b="1" dirty="0">
                <a:solidFill>
                  <a:srgbClr val="FFFFFF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让程序会做决定</a:t>
            </a:r>
            <a:endParaRPr lang="en-US" sz="1600" dirty="0"/>
          </a:p>
        </p:txBody>
      </p:sp>
      <p:sp>
        <p:nvSpPr>
          <p:cNvPr id="29" name="Text 22"/>
          <p:cNvSpPr txBox="1"/>
          <p:nvPr/>
        </p:nvSpPr>
        <p:spPr>
          <a:xfrm>
            <a:off x="612648" y="4018788"/>
            <a:ext cx="2371344" cy="4617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1200" dirty="0">
                <a:solidFill>
                  <a:srgbClr val="D6D6D6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if / else 判断</a:t>
            </a:r>
            <a:endParaRPr lang="en-US" sz="1200" dirty="0"/>
          </a:p>
          <a:p>
            <a:pPr algn="l" indent="0" marL="0">
              <a:lnSpc>
                <a:spcPct val="115000"/>
              </a:lnSpc>
              <a:buNone/>
            </a:pPr>
            <a:r>
              <a:rPr lang="en-US" sz="1200" dirty="0">
                <a:solidFill>
                  <a:srgbClr val="D6D6D6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for / while 循环</a:t>
            </a:r>
            <a:endParaRPr lang="en-US" sz="1200" dirty="0"/>
          </a:p>
        </p:txBody>
      </p:sp>
      <p:sp>
        <p:nvSpPr>
          <p:cNvPr id="30" name="Shape 23"/>
          <p:cNvSpPr/>
          <p:nvPr/>
        </p:nvSpPr>
        <p:spPr>
          <a:xfrm>
            <a:off x="3185160" y="2903220"/>
            <a:ext cx="2773680" cy="1668780"/>
          </a:xfrm>
          <a:prstGeom prst="rect">
            <a:avLst/>
          </a:prstGeom>
          <a:solidFill>
            <a:srgbClr val="FFFFFF"/>
          </a:solidFill>
          <a:ln w="9525">
            <a:solidFill>
              <a:srgbClr val="E2E2E2"/>
            </a:solidFill>
            <a:prstDash val="solid"/>
          </a:ln>
        </p:spPr>
      </p:sp>
      <p:sp>
        <p:nvSpPr>
          <p:cNvPr id="31" name="Text 24"/>
          <p:cNvSpPr txBox="1"/>
          <p:nvPr/>
        </p:nvSpPr>
        <p:spPr>
          <a:xfrm>
            <a:off x="3386328" y="3031236"/>
            <a:ext cx="10972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2800" b="1" dirty="0">
                <a:solidFill>
                  <a:srgbClr val="2D2D2D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05</a:t>
            </a:r>
            <a:endParaRPr lang="en-US" sz="2800" dirty="0"/>
          </a:p>
        </p:txBody>
      </p:sp>
      <p:sp>
        <p:nvSpPr>
          <p:cNvPr id="32" name="Shape 25"/>
          <p:cNvSpPr/>
          <p:nvPr/>
        </p:nvSpPr>
        <p:spPr>
          <a:xfrm>
            <a:off x="5337048" y="3067812"/>
            <a:ext cx="420624" cy="420624"/>
          </a:xfrm>
          <a:prstGeom prst="ellipse">
            <a:avLst/>
          </a:prstGeom>
          <a:solidFill>
            <a:srgbClr val="40E0D0"/>
          </a:solidFill>
          <a:ln w="12700">
            <a:solidFill>
              <a:srgbClr val="40E0D0"/>
            </a:solidFill>
            <a:prstDash val="solid"/>
          </a:ln>
        </p:spPr>
      </p:sp>
      <p:pic>
        <p:nvPicPr>
          <p:cNvPr id="33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437998" y="3168762"/>
            <a:ext cx="218724" cy="218724"/>
          </a:xfrm>
          <a:prstGeom prst="rect">
            <a:avLst/>
          </a:prstGeom>
        </p:spPr>
      </p:pic>
      <p:sp>
        <p:nvSpPr>
          <p:cNvPr id="34" name="Text 26"/>
          <p:cNvSpPr txBox="1"/>
          <p:nvPr/>
        </p:nvSpPr>
        <p:spPr>
          <a:xfrm>
            <a:off x="3386328" y="3634740"/>
            <a:ext cx="2371344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1600" b="1" dirty="0">
                <a:solidFill>
                  <a:srgbClr val="2D2D2D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把代码打包</a:t>
            </a:r>
            <a:endParaRPr lang="en-US" sz="1600" dirty="0"/>
          </a:p>
        </p:txBody>
      </p:sp>
      <p:sp>
        <p:nvSpPr>
          <p:cNvPr id="35" name="Text 27"/>
          <p:cNvSpPr txBox="1"/>
          <p:nvPr/>
        </p:nvSpPr>
        <p:spPr>
          <a:xfrm>
            <a:off x="3386328" y="4018788"/>
            <a:ext cx="2371344" cy="4617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1200" dirty="0">
                <a:solidFill>
                  <a:srgbClr val="6B6B6B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自定义函数、map() 换算</a:t>
            </a:r>
            <a:endParaRPr lang="en-US" sz="1200" dirty="0"/>
          </a:p>
          <a:p>
            <a:pPr algn="l" indent="0" marL="0">
              <a:lnSpc>
                <a:spcPct val="115000"/>
              </a:lnSpc>
              <a:buNone/>
            </a:pPr>
            <a:r>
              <a:rPr lang="en-US" sz="1200" dirty="0">
                <a:solidFill>
                  <a:srgbClr val="6B6B6B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库 #include</a:t>
            </a:r>
            <a:endParaRPr lang="en-US" sz="1200" dirty="0"/>
          </a:p>
        </p:txBody>
      </p:sp>
      <p:sp>
        <p:nvSpPr>
          <p:cNvPr id="36" name="Shape 28"/>
          <p:cNvSpPr/>
          <p:nvPr/>
        </p:nvSpPr>
        <p:spPr>
          <a:xfrm>
            <a:off x="5958840" y="2903220"/>
            <a:ext cx="2773680" cy="1668780"/>
          </a:xfrm>
          <a:prstGeom prst="rect">
            <a:avLst/>
          </a:prstGeom>
          <a:solidFill>
            <a:srgbClr val="EBEBEB"/>
          </a:solidFill>
          <a:ln w="9525">
            <a:solidFill>
              <a:srgbClr val="E2E2E2"/>
            </a:solidFill>
            <a:prstDash val="solid"/>
          </a:ln>
        </p:spPr>
      </p:sp>
      <p:sp>
        <p:nvSpPr>
          <p:cNvPr id="37" name="Text 29"/>
          <p:cNvSpPr txBox="1"/>
          <p:nvPr/>
        </p:nvSpPr>
        <p:spPr>
          <a:xfrm>
            <a:off x="6160008" y="3031236"/>
            <a:ext cx="10972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2800" b="1" dirty="0">
                <a:solidFill>
                  <a:srgbClr val="2D2D2D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06</a:t>
            </a:r>
            <a:endParaRPr lang="en-US" sz="2800" dirty="0"/>
          </a:p>
        </p:txBody>
      </p:sp>
      <p:sp>
        <p:nvSpPr>
          <p:cNvPr id="38" name="Shape 30"/>
          <p:cNvSpPr/>
          <p:nvPr/>
        </p:nvSpPr>
        <p:spPr>
          <a:xfrm>
            <a:off x="8110728" y="3067812"/>
            <a:ext cx="420624" cy="420624"/>
          </a:xfrm>
          <a:prstGeom prst="ellipse">
            <a:avLst/>
          </a:prstGeom>
          <a:solidFill>
            <a:srgbClr val="40E0D0"/>
          </a:solidFill>
          <a:ln w="12700">
            <a:solidFill>
              <a:srgbClr val="40E0D0"/>
            </a:solidFill>
            <a:prstDash val="solid"/>
          </a:ln>
        </p:spPr>
      </p:sp>
      <p:pic>
        <p:nvPicPr>
          <p:cNvPr id="39" name="Image 5" descr="preencoded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8211678" y="3168762"/>
            <a:ext cx="218724" cy="218724"/>
          </a:xfrm>
          <a:prstGeom prst="rect">
            <a:avLst/>
          </a:prstGeom>
        </p:spPr>
      </p:pic>
      <p:sp>
        <p:nvSpPr>
          <p:cNvPr id="40" name="Text 31"/>
          <p:cNvSpPr txBox="1"/>
          <p:nvPr/>
        </p:nvSpPr>
        <p:spPr>
          <a:xfrm>
            <a:off x="6160008" y="3634740"/>
            <a:ext cx="2371344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1600" b="1" dirty="0">
                <a:solidFill>
                  <a:srgbClr val="2D2D2D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速查与排错</a:t>
            </a:r>
            <a:endParaRPr lang="en-US" sz="1600" dirty="0"/>
          </a:p>
        </p:txBody>
      </p:sp>
      <p:sp>
        <p:nvSpPr>
          <p:cNvPr id="41" name="Text 32"/>
          <p:cNvSpPr txBox="1"/>
          <p:nvPr/>
        </p:nvSpPr>
        <p:spPr>
          <a:xfrm>
            <a:off x="6160008" y="4018788"/>
            <a:ext cx="2371344" cy="4617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1200" dirty="0">
                <a:solidFill>
                  <a:srgbClr val="6B6B6B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四类输入输出、语法速查</a:t>
            </a:r>
            <a:endParaRPr lang="en-US" sz="1200" dirty="0"/>
          </a:p>
          <a:p>
            <a:pPr algn="l" indent="0" marL="0">
              <a:lnSpc>
                <a:spcPct val="115000"/>
              </a:lnSpc>
              <a:buNone/>
            </a:pPr>
            <a:r>
              <a:rPr lang="en-US" sz="1200" dirty="0">
                <a:solidFill>
                  <a:srgbClr val="6B6B6B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常见报错</a:t>
            </a:r>
            <a:endParaRPr lang="en-US" sz="12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339328" y="4736592"/>
            <a:ext cx="393192" cy="219456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 lIns="0" tIns="0" rIns="0" bIns="0" anchor="ctr"/>
          <a:lstStyle>
            <a:lvl1pPr>
              <a:defRPr sz="800">
                <a:solidFill>
                  <a:srgbClr val="6B6B6B"/>
                </a:solidFill>
                <a:latin typeface="微软雅黑"/>
                <a:ea typeface="微软雅黑"/>
                <a:cs typeface="微软雅黑"/>
              </a:defRPr>
            </a:lvl1pPr>
          </a:lstStyle>
          <a:p>
            <a:pPr algn="r"/>
            <a:fld id="{F7021451-1387-4CA6-816F-3879F97B5CBC}" type="slidenum">
              <a:rPr b="0" lang="en-US"/>
              <a:t>2</a:t>
            </a:fld>
            <a:endParaRPr lang="en-US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1"/>
          <p:cNvSpPr/>
          <p:nvPr>
            <p:ph idx="102" type="body" hasCustomPrompt="1"/>
          </p:nvPr>
        </p:nvSpPr>
        <p:spPr>
          <a:xfrm>
            <a:off x="4572000" y="4736592"/>
            <a:ext cx="370332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2D2D2D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开始之前</a:t>
            </a:r>
            <a:endParaRPr lang="en-US" sz="800" dirty="0"/>
          </a:p>
        </p:txBody>
      </p:sp>
      <p:sp>
        <p:nvSpPr>
          <p:cNvPr id="3" name="Text 1"/>
          <p:cNvSpPr/>
          <p:nvPr>
            <p:ph idx="103" type="title" hasCustomPrompt="1"/>
          </p:nvPr>
        </p:nvSpPr>
        <p:spPr>
          <a:xfrm>
            <a:off x="411480" y="274320"/>
            <a:ext cx="83210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400" dirty="0">
                <a:solidFill>
                  <a:srgbClr val="2D2D2D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先打个比方：程序就是一份“菜谱”</a:t>
            </a:r>
            <a:endParaRPr lang="en-US" sz="2400" dirty="0"/>
          </a:p>
        </p:txBody>
      </p:sp>
      <p:sp>
        <p:nvSpPr>
          <p:cNvPr id="4" name="Text 1"/>
          <p:cNvSpPr/>
          <p:nvPr>
            <p:ph idx="104" type="body" hasCustomPrompt="1"/>
          </p:nvPr>
        </p:nvSpPr>
        <p:spPr>
          <a:xfrm>
            <a:off x="411480" y="786384"/>
            <a:ext cx="83210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6B6B6B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Arduino 是一个听话但很死板的小助手：你写什么，它就一步一步照着做。</a:t>
            </a:r>
            <a:endParaRPr lang="en-US" sz="1200" dirty="0"/>
          </a:p>
        </p:txBody>
      </p:sp>
      <p:sp>
        <p:nvSpPr>
          <p:cNvPr id="6" name="Text 3"/>
          <p:cNvSpPr txBox="1"/>
          <p:nvPr/>
        </p:nvSpPr>
        <p:spPr>
          <a:xfrm>
            <a:off x="411480" y="1234440"/>
            <a:ext cx="379476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1400" dirty="0">
                <a:solidFill>
                  <a:srgbClr val="2D2D2D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程序就是写给 Arduino 的指令清单：</a:t>
            </a:r>
            <a:endParaRPr lang="en-US" sz="1400" dirty="0"/>
          </a:p>
          <a:p>
            <a:pPr algn="l" indent="0" marL="0">
              <a:lnSpc>
                <a:spcPct val="115000"/>
              </a:lnSpc>
              <a:buNone/>
            </a:pPr>
            <a:r>
              <a:rPr lang="en-US" sz="1400" dirty="0">
                <a:solidFill>
                  <a:srgbClr val="2D2D2D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一行一句话，它从上往下照着做。</a:t>
            </a:r>
            <a:endParaRPr lang="en-US" sz="1400" dirty="0"/>
          </a:p>
        </p:txBody>
      </p:sp>
      <p:sp>
        <p:nvSpPr>
          <p:cNvPr id="7" name="Text 4"/>
          <p:cNvSpPr txBox="1"/>
          <p:nvPr/>
        </p:nvSpPr>
        <p:spPr>
          <a:xfrm>
            <a:off x="411480" y="1920240"/>
            <a:ext cx="379476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1200" dirty="0">
                <a:solidFill>
                  <a:srgbClr val="6B6B6B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Arduino 用的是 C / C++ 语言。不用一下子全学会：</a:t>
            </a:r>
            <a:endParaRPr lang="en-US" sz="1200" dirty="0"/>
          </a:p>
          <a:p>
            <a:pPr algn="l" indent="0" marL="0">
              <a:lnSpc>
                <a:spcPct val="115000"/>
              </a:lnSpc>
              <a:buNone/>
            </a:pPr>
            <a:r>
              <a:rPr lang="en-US" sz="1200" dirty="0">
                <a:solidFill>
                  <a:srgbClr val="6B6B6B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认识程序的骨架和十几个常用函数，</a:t>
            </a:r>
            <a:endParaRPr lang="en-US" sz="1200" dirty="0"/>
          </a:p>
          <a:p>
            <a:pPr algn="l" indent="0" marL="0">
              <a:lnSpc>
                <a:spcPct val="115000"/>
              </a:lnSpc>
              <a:buNone/>
            </a:pPr>
            <a:r>
              <a:rPr lang="en-US" sz="1200" dirty="0">
                <a:solidFill>
                  <a:srgbClr val="6B6B6B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就能完成套件里的全部实验。</a:t>
            </a:r>
            <a:endParaRPr lang="en-US" sz="1200" dirty="0"/>
          </a:p>
        </p:txBody>
      </p:sp>
      <p:sp>
        <p:nvSpPr>
          <p:cNvPr id="8" name="Shape 5"/>
          <p:cNvSpPr/>
          <p:nvPr/>
        </p:nvSpPr>
        <p:spPr>
          <a:xfrm>
            <a:off x="411480" y="2880360"/>
            <a:ext cx="3794760" cy="1691640"/>
          </a:xfrm>
          <a:prstGeom prst="roundRect">
            <a:avLst>
              <a:gd name="adj" fmla="val 6486"/>
            </a:avLst>
          </a:prstGeom>
          <a:solidFill>
            <a:srgbClr val="F5F5F5"/>
          </a:solidFill>
          <a:ln w="12700">
            <a:solidFill>
              <a:srgbClr val="F5F5F5"/>
            </a:solidFill>
            <a:prstDash val="solid"/>
          </a:ln>
        </p:spPr>
      </p:sp>
      <p:sp>
        <p:nvSpPr>
          <p:cNvPr id="9" name="Text 6"/>
          <p:cNvSpPr txBox="1"/>
          <p:nvPr/>
        </p:nvSpPr>
        <p:spPr>
          <a:xfrm>
            <a:off x="576072" y="2990088"/>
            <a:ext cx="11887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1200" b="1" dirty="0">
                <a:solidFill>
                  <a:srgbClr val="6B6B6B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菜谱上写的</a:t>
            </a:r>
            <a:endParaRPr lang="en-US" sz="1200" dirty="0"/>
          </a:p>
        </p:txBody>
      </p:sp>
      <p:sp>
        <p:nvSpPr>
          <p:cNvPr id="10" name="Text 7"/>
          <p:cNvSpPr txBox="1"/>
          <p:nvPr/>
        </p:nvSpPr>
        <p:spPr>
          <a:xfrm>
            <a:off x="2057400" y="2990088"/>
            <a:ext cx="18288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1200" b="1" dirty="0">
                <a:solidFill>
                  <a:srgbClr val="6B6B6B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程序里写的</a:t>
            </a:r>
            <a:endParaRPr lang="en-US" sz="1200" dirty="0"/>
          </a:p>
        </p:txBody>
      </p:sp>
      <p:sp>
        <p:nvSpPr>
          <p:cNvPr id="11" name="Text 8"/>
          <p:cNvSpPr txBox="1"/>
          <p:nvPr/>
        </p:nvSpPr>
        <p:spPr>
          <a:xfrm>
            <a:off x="576072" y="3337560"/>
            <a:ext cx="11430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1300" b="1" dirty="0">
                <a:solidFill>
                  <a:srgbClr val="2D2D2D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① 把灯打开</a:t>
            </a:r>
            <a:endParaRPr lang="en-US" sz="1300" dirty="0"/>
          </a:p>
        </p:txBody>
      </p:sp>
      <p:sp>
        <p:nvSpPr>
          <p:cNvPr id="12" name="Shape 9"/>
          <p:cNvSpPr/>
          <p:nvPr/>
        </p:nvSpPr>
        <p:spPr>
          <a:xfrm>
            <a:off x="1709928" y="3493008"/>
            <a:ext cx="274320" cy="91"/>
          </a:xfrm>
          <a:prstGeom prst="line">
            <a:avLst/>
          </a:prstGeom>
          <a:noFill/>
          <a:ln w="15875">
            <a:solidFill>
              <a:srgbClr val="6B6B6B"/>
            </a:solidFill>
            <a:prstDash val="solid"/>
            <a:tailEnd type="triangle"/>
          </a:ln>
        </p:spPr>
      </p:sp>
      <p:sp>
        <p:nvSpPr>
          <p:cNvPr id="13" name="Shape 10"/>
          <p:cNvSpPr/>
          <p:nvPr/>
        </p:nvSpPr>
        <p:spPr>
          <a:xfrm>
            <a:off x="2057400" y="3337560"/>
            <a:ext cx="1984248" cy="310896"/>
          </a:xfrm>
          <a:prstGeom prst="roundRect">
            <a:avLst>
              <a:gd name="adj" fmla="val 23529"/>
            </a:avLst>
          </a:prstGeom>
          <a:solidFill>
            <a:srgbClr val="2D2D2D"/>
          </a:solidFill>
          <a:ln w="12700">
            <a:solidFill>
              <a:srgbClr val="2D2D2D"/>
            </a:solidFill>
            <a:prstDash val="solid"/>
          </a:ln>
        </p:spPr>
      </p:sp>
      <p:sp>
        <p:nvSpPr>
          <p:cNvPr id="14" name="Text 11"/>
          <p:cNvSpPr txBox="1"/>
          <p:nvPr/>
        </p:nvSpPr>
        <p:spPr>
          <a:xfrm>
            <a:off x="2148840" y="3337560"/>
            <a:ext cx="1801368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000" b="1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digitalWrite</a:t>
            </a:r>
            <a:pPr algn="l" indent="0" marL="0">
              <a:lnSpc>
                <a:spcPct val="100000"/>
              </a:lnSpc>
              <a:buNone/>
            </a:pPr>
            <a:r>
              <a:rPr lang="en-US" sz="1000" dirty="0">
                <a:solidFill>
                  <a:srgbClr val="BDBDB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(</a:t>
            </a:r>
            <a:pPr algn="l" indent="0" marL="0">
              <a:lnSpc>
                <a:spcPct val="100000"/>
              </a:lnSpc>
              <a:buNone/>
            </a:pPr>
            <a:r>
              <a:rPr lang="en-US" sz="1000" dirty="0">
                <a:solidFill>
                  <a:srgbClr val="F7C87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13</a:t>
            </a:r>
            <a:pPr algn="l" indent="0" marL="0">
              <a:lnSpc>
                <a:spcPct val="100000"/>
              </a:lnSpc>
              <a:buNone/>
            </a:pPr>
            <a:r>
              <a:rPr lang="en-US" sz="1000" dirty="0">
                <a:solidFill>
                  <a:srgbClr val="BDBDB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, </a:t>
            </a:r>
            <a:pPr algn="l" indent="0" marL="0">
              <a:lnSpc>
                <a:spcPct val="100000"/>
              </a:lnSpc>
              <a:buNone/>
            </a:pPr>
            <a:r>
              <a:rPr lang="en-US" sz="1000" dirty="0">
                <a:solidFill>
                  <a:srgbClr val="F7C87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HIGH</a:t>
            </a:r>
            <a:pPr algn="l" indent="0" marL="0">
              <a:lnSpc>
                <a:spcPct val="100000"/>
              </a:lnSpc>
              <a:buNone/>
            </a:pPr>
            <a:r>
              <a:rPr lang="en-US" sz="1000" dirty="0">
                <a:solidFill>
                  <a:srgbClr val="BDBDB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);</a:t>
            </a:r>
            <a:endParaRPr lang="en-US" sz="1000" dirty="0"/>
          </a:p>
        </p:txBody>
      </p:sp>
      <p:sp>
        <p:nvSpPr>
          <p:cNvPr id="15" name="Text 12"/>
          <p:cNvSpPr txBox="1"/>
          <p:nvPr/>
        </p:nvSpPr>
        <p:spPr>
          <a:xfrm>
            <a:off x="576072" y="3749040"/>
            <a:ext cx="11430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1300" b="1" dirty="0">
                <a:solidFill>
                  <a:srgbClr val="2D2D2D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② 等 1 秒</a:t>
            </a:r>
            <a:endParaRPr lang="en-US" sz="1300" dirty="0"/>
          </a:p>
        </p:txBody>
      </p:sp>
      <p:sp>
        <p:nvSpPr>
          <p:cNvPr id="16" name="Shape 13"/>
          <p:cNvSpPr/>
          <p:nvPr/>
        </p:nvSpPr>
        <p:spPr>
          <a:xfrm>
            <a:off x="1709928" y="3904488"/>
            <a:ext cx="274320" cy="91"/>
          </a:xfrm>
          <a:prstGeom prst="line">
            <a:avLst/>
          </a:prstGeom>
          <a:noFill/>
          <a:ln w="15875">
            <a:solidFill>
              <a:srgbClr val="6B6B6B"/>
            </a:solidFill>
            <a:prstDash val="solid"/>
            <a:tailEnd type="triangle"/>
          </a:ln>
        </p:spPr>
      </p:sp>
      <p:sp>
        <p:nvSpPr>
          <p:cNvPr id="17" name="Shape 14"/>
          <p:cNvSpPr/>
          <p:nvPr/>
        </p:nvSpPr>
        <p:spPr>
          <a:xfrm>
            <a:off x="2057400" y="3749040"/>
            <a:ext cx="1984248" cy="310896"/>
          </a:xfrm>
          <a:prstGeom prst="roundRect">
            <a:avLst>
              <a:gd name="adj" fmla="val 23529"/>
            </a:avLst>
          </a:prstGeom>
          <a:solidFill>
            <a:srgbClr val="2D2D2D"/>
          </a:solidFill>
          <a:ln w="12700">
            <a:solidFill>
              <a:srgbClr val="2D2D2D"/>
            </a:solidFill>
            <a:prstDash val="solid"/>
          </a:ln>
        </p:spPr>
      </p:sp>
      <p:sp>
        <p:nvSpPr>
          <p:cNvPr id="18" name="Text 15"/>
          <p:cNvSpPr txBox="1"/>
          <p:nvPr/>
        </p:nvSpPr>
        <p:spPr>
          <a:xfrm>
            <a:off x="2148840" y="3749040"/>
            <a:ext cx="1801368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000" b="1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delay</a:t>
            </a:r>
            <a:pPr algn="l" indent="0" marL="0">
              <a:lnSpc>
                <a:spcPct val="100000"/>
              </a:lnSpc>
              <a:buNone/>
            </a:pPr>
            <a:r>
              <a:rPr lang="en-US" sz="1000" dirty="0">
                <a:solidFill>
                  <a:srgbClr val="BDBDB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(</a:t>
            </a:r>
            <a:pPr algn="l" indent="0" marL="0">
              <a:lnSpc>
                <a:spcPct val="100000"/>
              </a:lnSpc>
              <a:buNone/>
            </a:pPr>
            <a:r>
              <a:rPr lang="en-US" sz="1000" dirty="0">
                <a:solidFill>
                  <a:srgbClr val="F7C87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1000</a:t>
            </a:r>
            <a:pPr algn="l" indent="0" marL="0">
              <a:lnSpc>
                <a:spcPct val="100000"/>
              </a:lnSpc>
              <a:buNone/>
            </a:pPr>
            <a:r>
              <a:rPr lang="en-US" sz="1000" dirty="0">
                <a:solidFill>
                  <a:srgbClr val="BDBDB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);</a:t>
            </a:r>
            <a:endParaRPr lang="en-US" sz="1000" dirty="0"/>
          </a:p>
        </p:txBody>
      </p:sp>
      <p:sp>
        <p:nvSpPr>
          <p:cNvPr id="19" name="Text 16"/>
          <p:cNvSpPr txBox="1"/>
          <p:nvPr/>
        </p:nvSpPr>
        <p:spPr>
          <a:xfrm>
            <a:off x="576072" y="4160520"/>
            <a:ext cx="11430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1300" b="1" dirty="0">
                <a:solidFill>
                  <a:srgbClr val="2D2D2D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③ 把灯关掉</a:t>
            </a:r>
            <a:endParaRPr lang="en-US" sz="1300" dirty="0"/>
          </a:p>
        </p:txBody>
      </p:sp>
      <p:sp>
        <p:nvSpPr>
          <p:cNvPr id="20" name="Shape 17"/>
          <p:cNvSpPr/>
          <p:nvPr/>
        </p:nvSpPr>
        <p:spPr>
          <a:xfrm>
            <a:off x="1709928" y="4315968"/>
            <a:ext cx="274320" cy="91"/>
          </a:xfrm>
          <a:prstGeom prst="line">
            <a:avLst/>
          </a:prstGeom>
          <a:noFill/>
          <a:ln w="15875">
            <a:solidFill>
              <a:srgbClr val="6B6B6B"/>
            </a:solidFill>
            <a:prstDash val="solid"/>
            <a:tailEnd type="triangle"/>
          </a:ln>
        </p:spPr>
      </p:sp>
      <p:sp>
        <p:nvSpPr>
          <p:cNvPr id="21" name="Shape 18"/>
          <p:cNvSpPr/>
          <p:nvPr/>
        </p:nvSpPr>
        <p:spPr>
          <a:xfrm>
            <a:off x="2057400" y="4160520"/>
            <a:ext cx="1984248" cy="310896"/>
          </a:xfrm>
          <a:prstGeom prst="roundRect">
            <a:avLst>
              <a:gd name="adj" fmla="val 23529"/>
            </a:avLst>
          </a:prstGeom>
          <a:solidFill>
            <a:srgbClr val="2D2D2D"/>
          </a:solidFill>
          <a:ln w="12700">
            <a:solidFill>
              <a:srgbClr val="2D2D2D"/>
            </a:solidFill>
            <a:prstDash val="solid"/>
          </a:ln>
        </p:spPr>
      </p:sp>
      <p:sp>
        <p:nvSpPr>
          <p:cNvPr id="22" name="Text 19"/>
          <p:cNvSpPr txBox="1"/>
          <p:nvPr/>
        </p:nvSpPr>
        <p:spPr>
          <a:xfrm>
            <a:off x="2148840" y="4160520"/>
            <a:ext cx="1801368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000" b="1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digitalWrite</a:t>
            </a:r>
            <a:pPr algn="l" indent="0" marL="0">
              <a:lnSpc>
                <a:spcPct val="100000"/>
              </a:lnSpc>
              <a:buNone/>
            </a:pPr>
            <a:r>
              <a:rPr lang="en-US" sz="1000" dirty="0">
                <a:solidFill>
                  <a:srgbClr val="BDBDB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(</a:t>
            </a:r>
            <a:pPr algn="l" indent="0" marL="0">
              <a:lnSpc>
                <a:spcPct val="100000"/>
              </a:lnSpc>
              <a:buNone/>
            </a:pPr>
            <a:r>
              <a:rPr lang="en-US" sz="1000" dirty="0">
                <a:solidFill>
                  <a:srgbClr val="F7C87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13</a:t>
            </a:r>
            <a:pPr algn="l" indent="0" marL="0">
              <a:lnSpc>
                <a:spcPct val="100000"/>
              </a:lnSpc>
              <a:buNone/>
            </a:pPr>
            <a:r>
              <a:rPr lang="en-US" sz="1000" dirty="0">
                <a:solidFill>
                  <a:srgbClr val="BDBDB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, </a:t>
            </a:r>
            <a:pPr algn="l" indent="0" marL="0">
              <a:lnSpc>
                <a:spcPct val="100000"/>
              </a:lnSpc>
              <a:buNone/>
            </a:pPr>
            <a:r>
              <a:rPr lang="en-US" sz="1000" dirty="0">
                <a:solidFill>
                  <a:srgbClr val="F7C87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LOW</a:t>
            </a:r>
            <a:pPr algn="l" indent="0" marL="0">
              <a:lnSpc>
                <a:spcPct val="100000"/>
              </a:lnSpc>
              <a:buNone/>
            </a:pPr>
            <a:r>
              <a:rPr lang="en-US" sz="1000" dirty="0">
                <a:solidFill>
                  <a:srgbClr val="BDBDB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);</a:t>
            </a:r>
            <a:endParaRPr lang="en-US" sz="1000" dirty="0"/>
          </a:p>
        </p:txBody>
      </p:sp>
      <p:sp>
        <p:nvSpPr>
          <p:cNvPr id="23" name="Shape 20"/>
          <p:cNvSpPr/>
          <p:nvPr/>
        </p:nvSpPr>
        <p:spPr>
          <a:xfrm>
            <a:off x="4526280" y="1234440"/>
            <a:ext cx="2103120" cy="1668780"/>
          </a:xfrm>
          <a:prstGeom prst="rect">
            <a:avLst/>
          </a:prstGeom>
          <a:solidFill>
            <a:srgbClr val="40E0D0"/>
          </a:solidFill>
          <a:ln w="9525">
            <a:solidFill>
              <a:srgbClr val="E2E2E2"/>
            </a:solidFill>
            <a:prstDash val="solid"/>
          </a:ln>
        </p:spPr>
      </p:sp>
      <p:sp>
        <p:nvSpPr>
          <p:cNvPr id="24" name="Shape 21"/>
          <p:cNvSpPr/>
          <p:nvPr/>
        </p:nvSpPr>
        <p:spPr>
          <a:xfrm>
            <a:off x="4727448" y="1435608"/>
            <a:ext cx="457200" cy="457200"/>
          </a:xfrm>
          <a:prstGeom prst="ellipse">
            <a:avLst/>
          </a:prstGeom>
          <a:solidFill>
            <a:srgbClr val="2D2D2D"/>
          </a:solidFill>
          <a:ln w="12700">
            <a:solidFill>
              <a:srgbClr val="2D2D2D"/>
            </a:solidFill>
            <a:prstDash val="solid"/>
          </a:ln>
        </p:spPr>
      </p:sp>
      <p:pic>
        <p:nvPicPr>
          <p:cNvPr id="25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837176" y="1545336"/>
            <a:ext cx="237744" cy="237744"/>
          </a:xfrm>
          <a:prstGeom prst="rect">
            <a:avLst/>
          </a:prstGeom>
        </p:spPr>
      </p:pic>
      <p:sp>
        <p:nvSpPr>
          <p:cNvPr id="26" name="Text 22"/>
          <p:cNvSpPr txBox="1"/>
          <p:nvPr/>
        </p:nvSpPr>
        <p:spPr>
          <a:xfrm>
            <a:off x="4727448" y="2020824"/>
            <a:ext cx="1700784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1500" b="1" dirty="0">
                <a:solidFill>
                  <a:srgbClr val="2D2D2D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一步一步照做</a:t>
            </a:r>
            <a:endParaRPr lang="en-US" sz="1500" dirty="0"/>
          </a:p>
        </p:txBody>
      </p:sp>
      <p:sp>
        <p:nvSpPr>
          <p:cNvPr id="27" name="Text 23"/>
          <p:cNvSpPr txBox="1"/>
          <p:nvPr/>
        </p:nvSpPr>
        <p:spPr>
          <a:xfrm>
            <a:off x="4727448" y="2404872"/>
            <a:ext cx="1700784" cy="4069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1200" dirty="0">
                <a:solidFill>
                  <a:srgbClr val="2D2D2D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从上往下一行行执行，</a:t>
            </a:r>
            <a:endParaRPr lang="en-US" sz="1200" dirty="0"/>
          </a:p>
          <a:p>
            <a:pPr algn="l" indent="0" marL="0">
              <a:lnSpc>
                <a:spcPct val="115000"/>
              </a:lnSpc>
              <a:buNone/>
            </a:pPr>
            <a:r>
              <a:rPr lang="en-US" sz="1200" dirty="0">
                <a:solidFill>
                  <a:srgbClr val="2D2D2D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不会跳步</a:t>
            </a:r>
            <a:endParaRPr lang="en-US" sz="1200" dirty="0"/>
          </a:p>
        </p:txBody>
      </p:sp>
      <p:sp>
        <p:nvSpPr>
          <p:cNvPr id="28" name="Shape 24"/>
          <p:cNvSpPr/>
          <p:nvPr/>
        </p:nvSpPr>
        <p:spPr>
          <a:xfrm>
            <a:off x="6629400" y="1234440"/>
            <a:ext cx="2103120" cy="1668780"/>
          </a:xfrm>
          <a:prstGeom prst="rect">
            <a:avLst/>
          </a:prstGeom>
          <a:solidFill>
            <a:srgbClr val="EBEBEB"/>
          </a:solidFill>
          <a:ln w="9525">
            <a:solidFill>
              <a:srgbClr val="E2E2E2"/>
            </a:solidFill>
            <a:prstDash val="solid"/>
          </a:ln>
        </p:spPr>
      </p:sp>
      <p:sp>
        <p:nvSpPr>
          <p:cNvPr id="29" name="Shape 25"/>
          <p:cNvSpPr/>
          <p:nvPr/>
        </p:nvSpPr>
        <p:spPr>
          <a:xfrm>
            <a:off x="6830568" y="1435608"/>
            <a:ext cx="457200" cy="457200"/>
          </a:xfrm>
          <a:prstGeom prst="ellipse">
            <a:avLst/>
          </a:prstGeom>
          <a:solidFill>
            <a:srgbClr val="40E0D0"/>
          </a:solidFill>
          <a:ln w="12700">
            <a:solidFill>
              <a:srgbClr val="40E0D0"/>
            </a:solidFill>
            <a:prstDash val="solid"/>
          </a:ln>
        </p:spPr>
      </p:sp>
      <p:pic>
        <p:nvPicPr>
          <p:cNvPr id="30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940296" y="1545336"/>
            <a:ext cx="237744" cy="237744"/>
          </a:xfrm>
          <a:prstGeom prst="rect">
            <a:avLst/>
          </a:prstGeom>
        </p:spPr>
      </p:pic>
      <p:sp>
        <p:nvSpPr>
          <p:cNvPr id="31" name="Text 26"/>
          <p:cNvSpPr txBox="1"/>
          <p:nvPr/>
        </p:nvSpPr>
        <p:spPr>
          <a:xfrm>
            <a:off x="6830568" y="2020824"/>
            <a:ext cx="1700784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1500" b="1" dirty="0">
                <a:solidFill>
                  <a:srgbClr val="2D2D2D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只认英文标点</a:t>
            </a:r>
            <a:endParaRPr lang="en-US" sz="1500" dirty="0"/>
          </a:p>
        </p:txBody>
      </p:sp>
      <p:sp>
        <p:nvSpPr>
          <p:cNvPr id="32" name="Text 27"/>
          <p:cNvSpPr txBox="1"/>
          <p:nvPr/>
        </p:nvSpPr>
        <p:spPr>
          <a:xfrm>
            <a:off x="6830568" y="2404872"/>
            <a:ext cx="1700784" cy="4069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1200" dirty="0">
                <a:solidFill>
                  <a:srgbClr val="6B6B6B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中文的 ；（）“”</a:t>
            </a:r>
            <a:endParaRPr lang="en-US" sz="1200" dirty="0"/>
          </a:p>
          <a:p>
            <a:pPr algn="l" indent="0" marL="0">
              <a:lnSpc>
                <a:spcPct val="115000"/>
              </a:lnSpc>
              <a:buNone/>
            </a:pPr>
            <a:r>
              <a:rPr lang="en-US" sz="1200" dirty="0">
                <a:solidFill>
                  <a:srgbClr val="6B6B6B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它看不懂</a:t>
            </a:r>
            <a:endParaRPr lang="en-US" sz="1200" dirty="0"/>
          </a:p>
        </p:txBody>
      </p:sp>
      <p:sp>
        <p:nvSpPr>
          <p:cNvPr id="33" name="Shape 28"/>
          <p:cNvSpPr/>
          <p:nvPr/>
        </p:nvSpPr>
        <p:spPr>
          <a:xfrm>
            <a:off x="4526280" y="2903220"/>
            <a:ext cx="2103120" cy="1668780"/>
          </a:xfrm>
          <a:prstGeom prst="rect">
            <a:avLst/>
          </a:prstGeom>
          <a:solidFill>
            <a:srgbClr val="2D2D2D"/>
          </a:solidFill>
          <a:ln w="9525">
            <a:solidFill>
              <a:srgbClr val="E2E2E2"/>
            </a:solidFill>
            <a:prstDash val="solid"/>
          </a:ln>
        </p:spPr>
      </p:sp>
      <p:sp>
        <p:nvSpPr>
          <p:cNvPr id="34" name="Shape 29"/>
          <p:cNvSpPr/>
          <p:nvPr/>
        </p:nvSpPr>
        <p:spPr>
          <a:xfrm>
            <a:off x="4727448" y="3104388"/>
            <a:ext cx="457200" cy="457200"/>
          </a:xfrm>
          <a:prstGeom prst="ellipse">
            <a:avLst/>
          </a:prstGeom>
          <a:solidFill>
            <a:srgbClr val="40E0D0"/>
          </a:solidFill>
          <a:ln w="12700">
            <a:solidFill>
              <a:srgbClr val="40E0D0"/>
            </a:solidFill>
            <a:prstDash val="solid"/>
          </a:ln>
        </p:spPr>
      </p:sp>
      <p:pic>
        <p:nvPicPr>
          <p:cNvPr id="35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837176" y="3214116"/>
            <a:ext cx="237744" cy="237744"/>
          </a:xfrm>
          <a:prstGeom prst="rect">
            <a:avLst/>
          </a:prstGeom>
        </p:spPr>
      </p:pic>
      <p:sp>
        <p:nvSpPr>
          <p:cNvPr id="36" name="Text 30"/>
          <p:cNvSpPr txBox="1"/>
          <p:nvPr/>
        </p:nvSpPr>
        <p:spPr>
          <a:xfrm>
            <a:off x="4727448" y="3689604"/>
            <a:ext cx="1700784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1500" b="1" dirty="0">
                <a:solidFill>
                  <a:srgbClr val="FFFFFF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分得清大小写</a:t>
            </a:r>
            <a:endParaRPr lang="en-US" sz="1500" dirty="0"/>
          </a:p>
        </p:txBody>
      </p:sp>
      <p:sp>
        <p:nvSpPr>
          <p:cNvPr id="37" name="Text 31"/>
          <p:cNvSpPr txBox="1"/>
          <p:nvPr/>
        </p:nvSpPr>
        <p:spPr>
          <a:xfrm>
            <a:off x="4727448" y="4073652"/>
            <a:ext cx="1700784" cy="4069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1200" dirty="0">
                <a:solidFill>
                  <a:srgbClr val="D6D6D6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pinMode 对，写成</a:t>
            </a:r>
            <a:endParaRPr lang="en-US" sz="1200" dirty="0"/>
          </a:p>
          <a:p>
            <a:pPr algn="l" indent="0" marL="0">
              <a:lnSpc>
                <a:spcPct val="115000"/>
              </a:lnSpc>
              <a:buNone/>
            </a:pPr>
            <a:r>
              <a:rPr lang="en-US" sz="1200" dirty="0">
                <a:solidFill>
                  <a:srgbClr val="D6D6D6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pinmode 它就不认识</a:t>
            </a:r>
            <a:endParaRPr lang="en-US" sz="1200" dirty="0"/>
          </a:p>
        </p:txBody>
      </p:sp>
      <p:sp>
        <p:nvSpPr>
          <p:cNvPr id="38" name="Shape 32"/>
          <p:cNvSpPr/>
          <p:nvPr/>
        </p:nvSpPr>
        <p:spPr>
          <a:xfrm>
            <a:off x="6629400" y="2903220"/>
            <a:ext cx="2103120" cy="1668780"/>
          </a:xfrm>
          <a:prstGeom prst="rect">
            <a:avLst/>
          </a:prstGeom>
          <a:solidFill>
            <a:srgbClr val="FFFFFF"/>
          </a:solidFill>
          <a:ln w="9525">
            <a:solidFill>
              <a:srgbClr val="E2E2E2"/>
            </a:solidFill>
            <a:prstDash val="solid"/>
          </a:ln>
        </p:spPr>
      </p:sp>
      <p:sp>
        <p:nvSpPr>
          <p:cNvPr id="39" name="Shape 33"/>
          <p:cNvSpPr/>
          <p:nvPr/>
        </p:nvSpPr>
        <p:spPr>
          <a:xfrm>
            <a:off x="6830568" y="3104388"/>
            <a:ext cx="457200" cy="457200"/>
          </a:xfrm>
          <a:prstGeom prst="ellipse">
            <a:avLst/>
          </a:prstGeom>
          <a:solidFill>
            <a:srgbClr val="40E0D0"/>
          </a:solidFill>
          <a:ln w="12700">
            <a:solidFill>
              <a:srgbClr val="40E0D0"/>
            </a:solidFill>
            <a:prstDash val="solid"/>
          </a:ln>
        </p:spPr>
      </p:sp>
      <p:pic>
        <p:nvPicPr>
          <p:cNvPr id="40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940296" y="3214116"/>
            <a:ext cx="237744" cy="237744"/>
          </a:xfrm>
          <a:prstGeom prst="rect">
            <a:avLst/>
          </a:prstGeom>
        </p:spPr>
      </p:pic>
      <p:sp>
        <p:nvSpPr>
          <p:cNvPr id="41" name="Text 34"/>
          <p:cNvSpPr txBox="1"/>
          <p:nvPr/>
        </p:nvSpPr>
        <p:spPr>
          <a:xfrm>
            <a:off x="6830568" y="3689604"/>
            <a:ext cx="1700784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1500" b="1" dirty="0">
                <a:solidFill>
                  <a:srgbClr val="2D2D2D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不会猜你的意思</a:t>
            </a:r>
            <a:endParaRPr lang="en-US" sz="1500" dirty="0"/>
          </a:p>
        </p:txBody>
      </p:sp>
      <p:sp>
        <p:nvSpPr>
          <p:cNvPr id="42" name="Text 35"/>
          <p:cNvSpPr txBox="1"/>
          <p:nvPr/>
        </p:nvSpPr>
        <p:spPr>
          <a:xfrm>
            <a:off x="6830568" y="4073652"/>
            <a:ext cx="1700784" cy="4069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1200" dirty="0">
                <a:solidFill>
                  <a:srgbClr val="6B6B6B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少一个分号，</a:t>
            </a:r>
            <a:endParaRPr lang="en-US" sz="1200" dirty="0"/>
          </a:p>
          <a:p>
            <a:pPr algn="l" indent="0" marL="0">
              <a:lnSpc>
                <a:spcPct val="115000"/>
              </a:lnSpc>
              <a:buNone/>
            </a:pPr>
            <a:r>
              <a:rPr lang="en-US" sz="1200" dirty="0">
                <a:solidFill>
                  <a:srgbClr val="6B6B6B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它就“罢工”报错</a:t>
            </a:r>
            <a:endParaRPr lang="en-US" sz="12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339328" y="4736592"/>
            <a:ext cx="393192" cy="219456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 lIns="0" tIns="0" rIns="0" bIns="0" anchor="ctr"/>
          <a:lstStyle>
            <a:lvl1pPr>
              <a:defRPr sz="800">
                <a:solidFill>
                  <a:srgbClr val="6B6B6B"/>
                </a:solidFill>
                <a:latin typeface="微软雅黑"/>
                <a:ea typeface="微软雅黑"/>
                <a:cs typeface="微软雅黑"/>
              </a:defRPr>
            </a:lvl1pPr>
          </a:lstStyle>
          <a:p>
            <a:pPr algn="r"/>
            <a:fld id="{F7021451-1387-4CA6-816F-3879F97B5CBC}" type="slidenum">
              <a:rPr b="0" lang="en-US"/>
              <a:t>3</a:t>
            </a:fld>
            <a:endParaRPr lang="en-US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1"/>
          <p:cNvSpPr/>
          <p:nvPr>
            <p:ph idx="102" type="body" hasCustomPrompt="1"/>
          </p:nvPr>
        </p:nvSpPr>
        <p:spPr>
          <a:xfrm>
            <a:off x="4572000" y="4736592"/>
            <a:ext cx="370332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2D2D2D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程序的骨架</a:t>
            </a:r>
            <a:endParaRPr lang="en-US" sz="800" dirty="0"/>
          </a:p>
        </p:txBody>
      </p:sp>
      <p:sp>
        <p:nvSpPr>
          <p:cNvPr id="3" name="Text 1"/>
          <p:cNvSpPr/>
          <p:nvPr>
            <p:ph idx="103" type="body" hasCustomPrompt="1"/>
          </p:nvPr>
        </p:nvSpPr>
        <p:spPr>
          <a:xfrm>
            <a:off x="411480" y="384048"/>
            <a:ext cx="3383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B6B6B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第 1 站</a:t>
            </a:r>
            <a:endParaRPr lang="en-US" sz="1100" dirty="0"/>
          </a:p>
        </p:txBody>
      </p:sp>
      <p:sp>
        <p:nvSpPr>
          <p:cNvPr id="4" name="Text 1"/>
          <p:cNvSpPr/>
          <p:nvPr>
            <p:ph idx="104" type="title" hasCustomPrompt="1"/>
          </p:nvPr>
        </p:nvSpPr>
        <p:spPr>
          <a:xfrm>
            <a:off x="411480" y="713232"/>
            <a:ext cx="338328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800" dirty="0">
                <a:solidFill>
                  <a:srgbClr val="2D2D2D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程序的骨架</a:t>
            </a:r>
            <a:endParaRPr lang="en-US" sz="2800" dirty="0"/>
          </a:p>
        </p:txBody>
      </p:sp>
      <p:sp>
        <p:nvSpPr>
          <p:cNvPr id="5" name="Text 1"/>
          <p:cNvSpPr/>
          <p:nvPr>
            <p:ph idx="105" type="body" hasCustomPrompt="1"/>
          </p:nvPr>
        </p:nvSpPr>
        <p:spPr>
          <a:xfrm>
            <a:off x="411480" y="1874520"/>
            <a:ext cx="3246120" cy="23774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30000"/>
              </a:lnSpc>
              <a:buNone/>
            </a:pPr>
            <a:r>
              <a:rPr lang="en-US" sz="1200" dirty="0">
                <a:solidFill>
                  <a:srgbClr val="2D2D2D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每个 Arduino 程序都长着同一副“骨架”：</a:t>
            </a:r>
            <a:endParaRPr lang="en-US" sz="1200" dirty="0"/>
          </a:p>
          <a:p>
            <a:pPr indent="0" marL="0">
              <a:lnSpc>
                <a:spcPct val="130000"/>
              </a:lnSpc>
              <a:buNone/>
            </a:pPr>
            <a:r>
              <a:rPr lang="en-US" sz="1200" dirty="0">
                <a:solidFill>
                  <a:srgbClr val="2D2D2D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setup() 负责开机准备，loop() 负责不停干活。</a:t>
            </a:r>
            <a:endParaRPr lang="en-US" sz="1200" dirty="0"/>
          </a:p>
          <a:p>
            <a:pPr indent="0" marL="0">
              <a:lnSpc>
                <a:spcPct val="130000"/>
              </a:lnSpc>
              <a:buNone/>
            </a:pPr>
            <a:r>
              <a:rPr lang="en-US" sz="1200" dirty="0">
                <a:solidFill>
                  <a:srgbClr val="2D2D2D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再记住 6 条书写规则，代码就不会被“退货”。</a:t>
            </a:r>
            <a:endParaRPr lang="en-US" sz="1200" dirty="0"/>
          </a:p>
        </p:txBody>
      </p:sp>
      <p:sp>
        <p:nvSpPr>
          <p:cNvPr id="6" name="Shape 4"/>
          <p:cNvSpPr/>
          <p:nvPr/>
        </p:nvSpPr>
        <p:spPr>
          <a:xfrm>
            <a:off x="4160520" y="347472"/>
            <a:ext cx="2286000" cy="2112264"/>
          </a:xfrm>
          <a:prstGeom prst="rect">
            <a:avLst/>
          </a:prstGeom>
          <a:solidFill>
            <a:srgbClr val="40E0D0"/>
          </a:solidFill>
          <a:ln w="9525">
            <a:solidFill>
              <a:srgbClr val="E2E2E2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4361688" y="512064"/>
            <a:ext cx="1883664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3000" b="1" dirty="0">
                <a:solidFill>
                  <a:srgbClr val="2D2D2D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01</a:t>
            </a:r>
            <a:endParaRPr lang="en-US" sz="3000" dirty="0"/>
          </a:p>
        </p:txBody>
      </p:sp>
      <p:sp>
        <p:nvSpPr>
          <p:cNvPr id="8" name="Text 6"/>
          <p:cNvSpPr txBox="1"/>
          <p:nvPr/>
        </p:nvSpPr>
        <p:spPr>
          <a:xfrm>
            <a:off x="4361688" y="1389888"/>
            <a:ext cx="1883664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1600" b="1" dirty="0">
                <a:solidFill>
                  <a:srgbClr val="2D2D2D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setup()</a:t>
            </a:r>
            <a:endParaRPr lang="en-US" sz="1600" dirty="0"/>
          </a:p>
        </p:txBody>
      </p:sp>
      <p:sp>
        <p:nvSpPr>
          <p:cNvPr id="9" name="Text 7"/>
          <p:cNvSpPr txBox="1"/>
          <p:nvPr/>
        </p:nvSpPr>
        <p:spPr>
          <a:xfrm>
            <a:off x="4361688" y="1801368"/>
            <a:ext cx="1883664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1200" dirty="0">
                <a:solidFill>
                  <a:srgbClr val="2D2D2D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开机只做一次</a:t>
            </a:r>
            <a:endParaRPr lang="en-US" sz="1200" dirty="0"/>
          </a:p>
        </p:txBody>
      </p:sp>
      <p:sp>
        <p:nvSpPr>
          <p:cNvPr id="10" name="Shape 8"/>
          <p:cNvSpPr/>
          <p:nvPr/>
        </p:nvSpPr>
        <p:spPr>
          <a:xfrm>
            <a:off x="6446520" y="347472"/>
            <a:ext cx="2286000" cy="2112264"/>
          </a:xfrm>
          <a:prstGeom prst="rect">
            <a:avLst/>
          </a:prstGeom>
          <a:solidFill>
            <a:srgbClr val="EBEBEB"/>
          </a:solidFill>
          <a:ln w="9525">
            <a:solidFill>
              <a:srgbClr val="E2E2E2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6647688" y="512064"/>
            <a:ext cx="1883664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3000" b="1" dirty="0">
                <a:solidFill>
                  <a:srgbClr val="2D2D2D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02</a:t>
            </a:r>
            <a:endParaRPr lang="en-US" sz="3000" dirty="0"/>
          </a:p>
        </p:txBody>
      </p:sp>
      <p:sp>
        <p:nvSpPr>
          <p:cNvPr id="12" name="Text 10"/>
          <p:cNvSpPr txBox="1"/>
          <p:nvPr/>
        </p:nvSpPr>
        <p:spPr>
          <a:xfrm>
            <a:off x="6647688" y="1389888"/>
            <a:ext cx="1883664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1600" b="1" dirty="0">
                <a:solidFill>
                  <a:srgbClr val="2D2D2D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loop()</a:t>
            </a:r>
            <a:endParaRPr lang="en-US" sz="1600" dirty="0"/>
          </a:p>
        </p:txBody>
      </p:sp>
      <p:sp>
        <p:nvSpPr>
          <p:cNvPr id="13" name="Text 11"/>
          <p:cNvSpPr txBox="1"/>
          <p:nvPr/>
        </p:nvSpPr>
        <p:spPr>
          <a:xfrm>
            <a:off x="6647688" y="1801368"/>
            <a:ext cx="1883664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1200" dirty="0">
                <a:solidFill>
                  <a:srgbClr val="6B6B6B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一遍遍不停重复</a:t>
            </a:r>
            <a:endParaRPr lang="en-US" sz="1200" dirty="0"/>
          </a:p>
        </p:txBody>
      </p:sp>
      <p:sp>
        <p:nvSpPr>
          <p:cNvPr id="14" name="Shape 12"/>
          <p:cNvSpPr/>
          <p:nvPr/>
        </p:nvSpPr>
        <p:spPr>
          <a:xfrm>
            <a:off x="4160520" y="2459736"/>
            <a:ext cx="2286000" cy="2112264"/>
          </a:xfrm>
          <a:prstGeom prst="rect">
            <a:avLst/>
          </a:prstGeom>
          <a:solidFill>
            <a:srgbClr val="2D2D2D"/>
          </a:solidFill>
          <a:ln w="9525">
            <a:solidFill>
              <a:srgbClr val="E2E2E2"/>
            </a:solidFill>
            <a:prstDash val="solid"/>
          </a:ln>
        </p:spPr>
      </p:sp>
      <p:sp>
        <p:nvSpPr>
          <p:cNvPr id="15" name="Text 13"/>
          <p:cNvSpPr txBox="1"/>
          <p:nvPr/>
        </p:nvSpPr>
        <p:spPr>
          <a:xfrm>
            <a:off x="4361688" y="2624328"/>
            <a:ext cx="1883664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3000" b="1" dirty="0">
                <a:solidFill>
                  <a:srgbClr val="40E0D0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03</a:t>
            </a:r>
            <a:endParaRPr lang="en-US" sz="3000" dirty="0"/>
          </a:p>
        </p:txBody>
      </p:sp>
      <p:sp>
        <p:nvSpPr>
          <p:cNvPr id="16" name="Text 14"/>
          <p:cNvSpPr txBox="1"/>
          <p:nvPr/>
        </p:nvSpPr>
        <p:spPr>
          <a:xfrm>
            <a:off x="4361688" y="3502152"/>
            <a:ext cx="1883664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1600" b="1" dirty="0">
                <a:solidFill>
                  <a:srgbClr val="FFFFFF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书写规则</a:t>
            </a:r>
            <a:endParaRPr lang="en-US" sz="1600" dirty="0"/>
          </a:p>
        </p:txBody>
      </p:sp>
      <p:sp>
        <p:nvSpPr>
          <p:cNvPr id="17" name="Text 15"/>
          <p:cNvSpPr txBox="1"/>
          <p:nvPr/>
        </p:nvSpPr>
        <p:spPr>
          <a:xfrm>
            <a:off x="4361688" y="3913632"/>
            <a:ext cx="1883664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1200" dirty="0">
                <a:solidFill>
                  <a:srgbClr val="CFCFCF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分号、括号、大小写</a:t>
            </a:r>
            <a:endParaRPr lang="en-US" sz="1200" dirty="0"/>
          </a:p>
        </p:txBody>
      </p:sp>
      <p:sp>
        <p:nvSpPr>
          <p:cNvPr id="18" name="Shape 16"/>
          <p:cNvSpPr/>
          <p:nvPr/>
        </p:nvSpPr>
        <p:spPr>
          <a:xfrm>
            <a:off x="6446520" y="2459736"/>
            <a:ext cx="2286000" cy="2112264"/>
          </a:xfrm>
          <a:prstGeom prst="rect">
            <a:avLst/>
          </a:prstGeom>
          <a:solidFill>
            <a:srgbClr val="FFFFFF"/>
          </a:solidFill>
          <a:ln w="9525">
            <a:solidFill>
              <a:srgbClr val="E2E2E2"/>
            </a:solidFill>
            <a:prstDash val="solid"/>
          </a:ln>
        </p:spPr>
      </p:sp>
      <p:sp>
        <p:nvSpPr>
          <p:cNvPr id="19" name="Text 17"/>
          <p:cNvSpPr txBox="1"/>
          <p:nvPr/>
        </p:nvSpPr>
        <p:spPr>
          <a:xfrm>
            <a:off x="6647688" y="2624328"/>
            <a:ext cx="1883664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3000" b="1" dirty="0">
                <a:solidFill>
                  <a:srgbClr val="2D2D2D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04</a:t>
            </a:r>
            <a:endParaRPr lang="en-US" sz="3000" dirty="0"/>
          </a:p>
        </p:txBody>
      </p:sp>
      <p:sp>
        <p:nvSpPr>
          <p:cNvPr id="20" name="Text 18"/>
          <p:cNvSpPr txBox="1"/>
          <p:nvPr/>
        </p:nvSpPr>
        <p:spPr>
          <a:xfrm>
            <a:off x="6647688" y="3502152"/>
            <a:ext cx="1883664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1600" b="1" dirty="0">
                <a:solidFill>
                  <a:srgbClr val="2D2D2D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注释</a:t>
            </a:r>
            <a:endParaRPr lang="en-US" sz="1600" dirty="0"/>
          </a:p>
        </p:txBody>
      </p:sp>
      <p:sp>
        <p:nvSpPr>
          <p:cNvPr id="21" name="Text 19"/>
          <p:cNvSpPr txBox="1"/>
          <p:nvPr/>
        </p:nvSpPr>
        <p:spPr>
          <a:xfrm>
            <a:off x="6647688" y="3913632"/>
            <a:ext cx="1883664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1200" dirty="0">
                <a:solidFill>
                  <a:srgbClr val="6B6B6B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写给人看的说明</a:t>
            </a:r>
            <a:endParaRPr lang="en-US" sz="12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339328" y="4736592"/>
            <a:ext cx="393192" cy="219456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 lIns="0" tIns="0" rIns="0" bIns="0" anchor="ctr"/>
          <a:lstStyle>
            <a:lvl1pPr>
              <a:defRPr sz="800">
                <a:solidFill>
                  <a:srgbClr val="6B6B6B"/>
                </a:solidFill>
                <a:latin typeface="微软雅黑"/>
                <a:ea typeface="微软雅黑"/>
                <a:cs typeface="微软雅黑"/>
              </a:defRPr>
            </a:lvl1pPr>
          </a:lstStyle>
          <a:p>
            <a:pPr algn="r"/>
            <a:fld id="{F7021451-1387-4CA6-816F-3879F97B5CBC}" type="slidenum">
              <a:rPr b="0" lang="en-US"/>
              <a:t>4</a:t>
            </a:fld>
            <a:endParaRPr lang="en-US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1"/>
          <p:cNvSpPr/>
          <p:nvPr>
            <p:ph idx="102" type="body" hasCustomPrompt="1"/>
          </p:nvPr>
        </p:nvSpPr>
        <p:spPr>
          <a:xfrm>
            <a:off x="4572000" y="4736592"/>
            <a:ext cx="370332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2D2D2D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程序的骨架</a:t>
            </a:r>
            <a:endParaRPr lang="en-US" sz="800" dirty="0"/>
          </a:p>
        </p:txBody>
      </p:sp>
      <p:sp>
        <p:nvSpPr>
          <p:cNvPr id="3" name="Text 1"/>
          <p:cNvSpPr/>
          <p:nvPr>
            <p:ph idx="103" type="title" hasCustomPrompt="1"/>
          </p:nvPr>
        </p:nvSpPr>
        <p:spPr>
          <a:xfrm>
            <a:off x="411480" y="274320"/>
            <a:ext cx="83210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400" dirty="0">
                <a:solidFill>
                  <a:srgbClr val="2D2D2D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程序的骨架：setup() 和 loop()</a:t>
            </a:r>
            <a:endParaRPr lang="en-US" sz="2400" dirty="0"/>
          </a:p>
        </p:txBody>
      </p:sp>
      <p:sp>
        <p:nvSpPr>
          <p:cNvPr id="4" name="Text 1"/>
          <p:cNvSpPr/>
          <p:nvPr>
            <p:ph idx="104" type="body" hasCustomPrompt="1"/>
          </p:nvPr>
        </p:nvSpPr>
        <p:spPr>
          <a:xfrm>
            <a:off x="411480" y="786384"/>
            <a:ext cx="83210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6B6B6B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每个程序都至少有这两个函数：setup() 开机只做一次，loop() 做完又从头再来。</a:t>
            </a:r>
            <a:endParaRPr lang="en-US" sz="1200" dirty="0"/>
          </a:p>
        </p:txBody>
      </p:sp>
      <p:sp>
        <p:nvSpPr>
          <p:cNvPr id="6" name="Shape 3"/>
          <p:cNvSpPr/>
          <p:nvPr/>
        </p:nvSpPr>
        <p:spPr>
          <a:xfrm>
            <a:off x="411480" y="1234440"/>
            <a:ext cx="4023360" cy="2148840"/>
          </a:xfrm>
          <a:prstGeom prst="roundRect">
            <a:avLst>
              <a:gd name="adj" fmla="val 4255"/>
            </a:avLst>
          </a:prstGeom>
          <a:solidFill>
            <a:srgbClr val="2D2D2D"/>
          </a:solidFill>
          <a:ln w="12700">
            <a:solidFill>
              <a:srgbClr val="2D2D2D"/>
            </a:solidFill>
            <a:prstDash val="solid"/>
          </a:ln>
        </p:spPr>
      </p:sp>
      <p:sp>
        <p:nvSpPr>
          <p:cNvPr id="7" name="Text 4"/>
          <p:cNvSpPr txBox="1"/>
          <p:nvPr/>
        </p:nvSpPr>
        <p:spPr>
          <a:xfrm>
            <a:off x="539496" y="1298448"/>
            <a:ext cx="241401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1000" dirty="0">
                <a:solidFill>
                  <a:srgbClr val="9A9A9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skeleton.ino</a:t>
            </a:r>
            <a:endParaRPr lang="en-US" sz="1000" dirty="0"/>
          </a:p>
        </p:txBody>
      </p:sp>
      <p:sp>
        <p:nvSpPr>
          <p:cNvPr id="8" name="Shape 5"/>
          <p:cNvSpPr/>
          <p:nvPr/>
        </p:nvSpPr>
        <p:spPr>
          <a:xfrm>
            <a:off x="457200" y="1545336"/>
            <a:ext cx="3931920" cy="189992"/>
          </a:xfrm>
          <a:prstGeom prst="rect">
            <a:avLst/>
          </a:prstGeom>
          <a:solidFill>
            <a:srgbClr val="3E5250"/>
          </a:solidFill>
          <a:ln w="12700">
            <a:solidFill>
              <a:srgbClr val="3E5250"/>
            </a:solidFill>
            <a:prstDash val="solid"/>
          </a:ln>
        </p:spPr>
      </p:sp>
      <p:sp>
        <p:nvSpPr>
          <p:cNvPr id="9" name="Text 6"/>
          <p:cNvSpPr txBox="1"/>
          <p:nvPr/>
        </p:nvSpPr>
        <p:spPr>
          <a:xfrm>
            <a:off x="502920" y="1545336"/>
            <a:ext cx="134559" cy="1899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lnSpc>
                <a:spcPct val="115000"/>
              </a:lnSpc>
              <a:buNone/>
            </a:pPr>
            <a:r>
              <a:rPr lang="en-US" sz="1000" b="1" dirty="0">
                <a:solidFill>
                  <a:srgbClr val="40E0D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1</a:t>
            </a:r>
            <a:endParaRPr lang="en-US" sz="1000" dirty="0"/>
          </a:p>
        </p:txBody>
      </p:sp>
      <p:sp>
        <p:nvSpPr>
          <p:cNvPr id="10" name="Text 7"/>
          <p:cNvSpPr txBox="1"/>
          <p:nvPr/>
        </p:nvSpPr>
        <p:spPr>
          <a:xfrm>
            <a:off x="758154" y="1545336"/>
            <a:ext cx="3548670" cy="1899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40E0D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void </a:t>
            </a:r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setup</a:t>
            </a:r>
            <a:pPr indent="0" marL="0">
              <a:buNone/>
            </a:pPr>
            <a:r>
              <a:rPr lang="en-US" sz="1100" dirty="0">
                <a:solidFill>
                  <a:srgbClr val="BDBDB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() {</a:t>
            </a:r>
            <a:endParaRPr lang="en-US" sz="1100" dirty="0"/>
          </a:p>
        </p:txBody>
      </p:sp>
      <p:sp>
        <p:nvSpPr>
          <p:cNvPr id="11" name="Text 8"/>
          <p:cNvSpPr txBox="1"/>
          <p:nvPr/>
        </p:nvSpPr>
        <p:spPr>
          <a:xfrm>
            <a:off x="502920" y="1735328"/>
            <a:ext cx="134559" cy="1899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lnSpc>
                <a:spcPct val="115000"/>
              </a:lnSpc>
              <a:buNone/>
            </a:pPr>
            <a:r>
              <a:rPr lang="en-US" sz="1000" dirty="0">
                <a:solidFill>
                  <a:srgbClr val="7A7A7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2</a:t>
            </a:r>
            <a:endParaRPr lang="en-US" sz="1000" dirty="0"/>
          </a:p>
        </p:txBody>
      </p:sp>
      <p:sp>
        <p:nvSpPr>
          <p:cNvPr id="12" name="Text 9"/>
          <p:cNvSpPr txBox="1"/>
          <p:nvPr/>
        </p:nvSpPr>
        <p:spPr>
          <a:xfrm>
            <a:off x="758154" y="1735328"/>
            <a:ext cx="3548670" cy="1899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9D9D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</a:t>
            </a:r>
            <a:pPr indent="0" marL="0">
              <a:buNone/>
            </a:pPr>
            <a:r>
              <a:rPr lang="en-US" sz="1100" i="1" dirty="0">
                <a:solidFill>
                  <a:srgbClr val="8E8E8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// 只运行一次：</a:t>
            </a:r>
            <a:endParaRPr lang="en-US" sz="1100" dirty="0"/>
          </a:p>
        </p:txBody>
      </p:sp>
      <p:sp>
        <p:nvSpPr>
          <p:cNvPr id="13" name="Text 10"/>
          <p:cNvSpPr txBox="1"/>
          <p:nvPr/>
        </p:nvSpPr>
        <p:spPr>
          <a:xfrm>
            <a:off x="502920" y="1925320"/>
            <a:ext cx="134559" cy="1899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lnSpc>
                <a:spcPct val="115000"/>
              </a:lnSpc>
              <a:buNone/>
            </a:pPr>
            <a:r>
              <a:rPr lang="en-US" sz="1000" dirty="0">
                <a:solidFill>
                  <a:srgbClr val="7A7A7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3</a:t>
            </a:r>
            <a:endParaRPr lang="en-US" sz="1000" dirty="0"/>
          </a:p>
        </p:txBody>
      </p:sp>
      <p:sp>
        <p:nvSpPr>
          <p:cNvPr id="14" name="Text 11"/>
          <p:cNvSpPr txBox="1"/>
          <p:nvPr/>
        </p:nvSpPr>
        <p:spPr>
          <a:xfrm>
            <a:off x="758154" y="1925320"/>
            <a:ext cx="3548670" cy="1899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9D9D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</a:t>
            </a:r>
            <a:pPr indent="0" marL="0">
              <a:buNone/>
            </a:pPr>
            <a:r>
              <a:rPr lang="en-US" sz="1100" i="1" dirty="0">
                <a:solidFill>
                  <a:srgbClr val="8E8E8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// 设置引脚、打开串口……</a:t>
            </a:r>
            <a:endParaRPr lang="en-US" sz="1100" dirty="0"/>
          </a:p>
        </p:txBody>
      </p:sp>
      <p:sp>
        <p:nvSpPr>
          <p:cNvPr id="15" name="Text 12"/>
          <p:cNvSpPr txBox="1"/>
          <p:nvPr/>
        </p:nvSpPr>
        <p:spPr>
          <a:xfrm>
            <a:off x="502920" y="2115312"/>
            <a:ext cx="134559" cy="1899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lnSpc>
                <a:spcPct val="115000"/>
              </a:lnSpc>
              <a:buNone/>
            </a:pPr>
            <a:r>
              <a:rPr lang="en-US" sz="1000" dirty="0">
                <a:solidFill>
                  <a:srgbClr val="7A7A7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4</a:t>
            </a:r>
            <a:endParaRPr lang="en-US" sz="1000" dirty="0"/>
          </a:p>
        </p:txBody>
      </p:sp>
      <p:sp>
        <p:nvSpPr>
          <p:cNvPr id="16" name="Text 13"/>
          <p:cNvSpPr txBox="1"/>
          <p:nvPr/>
        </p:nvSpPr>
        <p:spPr>
          <a:xfrm>
            <a:off x="758154" y="2115312"/>
            <a:ext cx="3548670" cy="1899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BDBDB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}</a:t>
            </a:r>
            <a:endParaRPr lang="en-US" sz="1100" dirty="0"/>
          </a:p>
        </p:txBody>
      </p:sp>
      <p:sp>
        <p:nvSpPr>
          <p:cNvPr id="17" name="Text 14"/>
          <p:cNvSpPr txBox="1"/>
          <p:nvPr/>
        </p:nvSpPr>
        <p:spPr>
          <a:xfrm>
            <a:off x="502920" y="2305304"/>
            <a:ext cx="134559" cy="1899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lnSpc>
                <a:spcPct val="115000"/>
              </a:lnSpc>
              <a:buNone/>
            </a:pPr>
            <a:r>
              <a:rPr lang="en-US" sz="1000" dirty="0">
                <a:solidFill>
                  <a:srgbClr val="7A7A7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5</a:t>
            </a:r>
            <a:endParaRPr lang="en-US" sz="1000" dirty="0"/>
          </a:p>
        </p:txBody>
      </p:sp>
      <p:sp>
        <p:nvSpPr>
          <p:cNvPr id="18" name="Text 15"/>
          <p:cNvSpPr txBox="1"/>
          <p:nvPr/>
        </p:nvSpPr>
        <p:spPr>
          <a:xfrm>
            <a:off x="758154" y="2305304"/>
            <a:ext cx="3548670" cy="1899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9D9D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endParaRPr lang="en-US" sz="1100" dirty="0"/>
          </a:p>
        </p:txBody>
      </p:sp>
      <p:sp>
        <p:nvSpPr>
          <p:cNvPr id="19" name="Shape 16"/>
          <p:cNvSpPr/>
          <p:nvPr/>
        </p:nvSpPr>
        <p:spPr>
          <a:xfrm>
            <a:off x="457200" y="2495296"/>
            <a:ext cx="3931920" cy="189992"/>
          </a:xfrm>
          <a:prstGeom prst="rect">
            <a:avLst/>
          </a:prstGeom>
          <a:solidFill>
            <a:srgbClr val="3E5250"/>
          </a:solidFill>
          <a:ln w="12700">
            <a:solidFill>
              <a:srgbClr val="3E5250"/>
            </a:solidFill>
            <a:prstDash val="solid"/>
          </a:ln>
        </p:spPr>
      </p:sp>
      <p:sp>
        <p:nvSpPr>
          <p:cNvPr id="20" name="Text 17"/>
          <p:cNvSpPr txBox="1"/>
          <p:nvPr/>
        </p:nvSpPr>
        <p:spPr>
          <a:xfrm>
            <a:off x="502920" y="2495296"/>
            <a:ext cx="134559" cy="1899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lnSpc>
                <a:spcPct val="115000"/>
              </a:lnSpc>
              <a:buNone/>
            </a:pPr>
            <a:r>
              <a:rPr lang="en-US" sz="1000" b="1" dirty="0">
                <a:solidFill>
                  <a:srgbClr val="40E0D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6</a:t>
            </a:r>
            <a:endParaRPr lang="en-US" sz="1000" dirty="0"/>
          </a:p>
        </p:txBody>
      </p:sp>
      <p:sp>
        <p:nvSpPr>
          <p:cNvPr id="21" name="Text 18"/>
          <p:cNvSpPr txBox="1"/>
          <p:nvPr/>
        </p:nvSpPr>
        <p:spPr>
          <a:xfrm>
            <a:off x="758154" y="2495296"/>
            <a:ext cx="3548670" cy="1899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40E0D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void </a:t>
            </a:r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loop</a:t>
            </a:r>
            <a:pPr indent="0" marL="0">
              <a:buNone/>
            </a:pPr>
            <a:r>
              <a:rPr lang="en-US" sz="1100" dirty="0">
                <a:solidFill>
                  <a:srgbClr val="BDBDB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() {</a:t>
            </a:r>
            <a:endParaRPr lang="en-US" sz="1100" dirty="0"/>
          </a:p>
        </p:txBody>
      </p:sp>
      <p:sp>
        <p:nvSpPr>
          <p:cNvPr id="22" name="Text 19"/>
          <p:cNvSpPr txBox="1"/>
          <p:nvPr/>
        </p:nvSpPr>
        <p:spPr>
          <a:xfrm>
            <a:off x="502920" y="2685288"/>
            <a:ext cx="134559" cy="1899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lnSpc>
                <a:spcPct val="115000"/>
              </a:lnSpc>
              <a:buNone/>
            </a:pPr>
            <a:r>
              <a:rPr lang="en-US" sz="1000" dirty="0">
                <a:solidFill>
                  <a:srgbClr val="7A7A7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7</a:t>
            </a:r>
            <a:endParaRPr lang="en-US" sz="1000" dirty="0"/>
          </a:p>
        </p:txBody>
      </p:sp>
      <p:sp>
        <p:nvSpPr>
          <p:cNvPr id="23" name="Text 20"/>
          <p:cNvSpPr txBox="1"/>
          <p:nvPr/>
        </p:nvSpPr>
        <p:spPr>
          <a:xfrm>
            <a:off x="758154" y="2685288"/>
            <a:ext cx="3548670" cy="1899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9D9D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</a:t>
            </a:r>
            <a:pPr indent="0" marL="0">
              <a:buNone/>
            </a:pPr>
            <a:r>
              <a:rPr lang="en-US" sz="1100" i="1" dirty="0">
                <a:solidFill>
                  <a:srgbClr val="8E8E8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// 反复运行，永不停止：</a:t>
            </a:r>
            <a:endParaRPr lang="en-US" sz="1100" dirty="0"/>
          </a:p>
        </p:txBody>
      </p:sp>
      <p:sp>
        <p:nvSpPr>
          <p:cNvPr id="24" name="Text 21"/>
          <p:cNvSpPr txBox="1"/>
          <p:nvPr/>
        </p:nvSpPr>
        <p:spPr>
          <a:xfrm>
            <a:off x="502920" y="2875280"/>
            <a:ext cx="134559" cy="1899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lnSpc>
                <a:spcPct val="115000"/>
              </a:lnSpc>
              <a:buNone/>
            </a:pPr>
            <a:r>
              <a:rPr lang="en-US" sz="1000" dirty="0">
                <a:solidFill>
                  <a:srgbClr val="7A7A7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8</a:t>
            </a:r>
            <a:endParaRPr lang="en-US" sz="1000" dirty="0"/>
          </a:p>
        </p:txBody>
      </p:sp>
      <p:sp>
        <p:nvSpPr>
          <p:cNvPr id="25" name="Text 22"/>
          <p:cNvSpPr txBox="1"/>
          <p:nvPr/>
        </p:nvSpPr>
        <p:spPr>
          <a:xfrm>
            <a:off x="758154" y="2875280"/>
            <a:ext cx="3548670" cy="1899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9D9D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</a:t>
            </a:r>
            <a:pPr indent="0" marL="0">
              <a:buNone/>
            </a:pPr>
            <a:r>
              <a:rPr lang="en-US" sz="1100" i="1" dirty="0">
                <a:solidFill>
                  <a:srgbClr val="8E8E8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// 读传感器、控制输出……</a:t>
            </a:r>
            <a:endParaRPr lang="en-US" sz="1100" dirty="0"/>
          </a:p>
        </p:txBody>
      </p:sp>
      <p:sp>
        <p:nvSpPr>
          <p:cNvPr id="26" name="Text 23"/>
          <p:cNvSpPr txBox="1"/>
          <p:nvPr/>
        </p:nvSpPr>
        <p:spPr>
          <a:xfrm>
            <a:off x="502920" y="3065272"/>
            <a:ext cx="134559" cy="1899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lnSpc>
                <a:spcPct val="115000"/>
              </a:lnSpc>
              <a:buNone/>
            </a:pPr>
            <a:r>
              <a:rPr lang="en-US" sz="1000" dirty="0">
                <a:solidFill>
                  <a:srgbClr val="7A7A7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9</a:t>
            </a:r>
            <a:endParaRPr lang="en-US" sz="1000" dirty="0"/>
          </a:p>
        </p:txBody>
      </p:sp>
      <p:sp>
        <p:nvSpPr>
          <p:cNvPr id="27" name="Text 24"/>
          <p:cNvSpPr txBox="1"/>
          <p:nvPr/>
        </p:nvSpPr>
        <p:spPr>
          <a:xfrm>
            <a:off x="758154" y="3065272"/>
            <a:ext cx="3548670" cy="1899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BDBDB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}</a:t>
            </a:r>
            <a:endParaRPr lang="en-US" sz="1100" dirty="0"/>
          </a:p>
        </p:txBody>
      </p:sp>
      <p:sp>
        <p:nvSpPr>
          <p:cNvPr id="28" name="Shape 25"/>
          <p:cNvSpPr/>
          <p:nvPr/>
        </p:nvSpPr>
        <p:spPr>
          <a:xfrm>
            <a:off x="411480" y="3657600"/>
            <a:ext cx="4023360" cy="914400"/>
          </a:xfrm>
          <a:prstGeom prst="roundRect">
            <a:avLst>
              <a:gd name="adj" fmla="val 12000"/>
            </a:avLst>
          </a:prstGeom>
          <a:solidFill>
            <a:srgbClr val="F5F5F5"/>
          </a:solidFill>
          <a:ln w="12700">
            <a:solidFill>
              <a:srgbClr val="F5F5F5"/>
            </a:solidFill>
            <a:prstDash val="solid"/>
          </a:ln>
        </p:spPr>
      </p:sp>
      <p:sp>
        <p:nvSpPr>
          <p:cNvPr id="29" name="Shape 26"/>
          <p:cNvSpPr/>
          <p:nvPr/>
        </p:nvSpPr>
        <p:spPr>
          <a:xfrm>
            <a:off x="557784" y="3803904"/>
            <a:ext cx="329184" cy="329184"/>
          </a:xfrm>
          <a:prstGeom prst="ellipse">
            <a:avLst/>
          </a:prstGeom>
          <a:solidFill>
            <a:srgbClr val="40E0D0"/>
          </a:solidFill>
          <a:ln w="12700">
            <a:solidFill>
              <a:srgbClr val="40E0D0"/>
            </a:solidFill>
            <a:prstDash val="solid"/>
          </a:ln>
        </p:spPr>
      </p:sp>
      <p:pic>
        <p:nvPicPr>
          <p:cNvPr id="30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36788" y="3882908"/>
            <a:ext cx="171176" cy="171176"/>
          </a:xfrm>
          <a:prstGeom prst="rect">
            <a:avLst/>
          </a:prstGeom>
        </p:spPr>
      </p:pic>
      <p:sp>
        <p:nvSpPr>
          <p:cNvPr id="31" name="Text 27"/>
          <p:cNvSpPr txBox="1"/>
          <p:nvPr/>
        </p:nvSpPr>
        <p:spPr>
          <a:xfrm>
            <a:off x="1014984" y="3794760"/>
            <a:ext cx="3273552" cy="63093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1200" dirty="0">
                <a:solidFill>
                  <a:srgbClr val="2D2D2D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void 表示“不交回结果”；</a:t>
            </a:r>
            <a:endParaRPr lang="en-US" sz="1200" dirty="0"/>
          </a:p>
          <a:p>
            <a:pPr algn="l" indent="0" marL="0">
              <a:lnSpc>
                <a:spcPct val="115000"/>
              </a:lnSpc>
              <a:buNone/>
            </a:pPr>
            <a:r>
              <a:rPr lang="en-US" sz="1200" dirty="0">
                <a:solidFill>
                  <a:srgbClr val="2D2D2D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( ) 里放参数，{ } 里写要做的事；</a:t>
            </a:r>
            <a:endParaRPr lang="en-US" sz="1200" dirty="0"/>
          </a:p>
          <a:p>
            <a:pPr algn="l" indent="0" marL="0">
              <a:lnSpc>
                <a:spcPct val="115000"/>
              </a:lnSpc>
              <a:buNone/>
            </a:pPr>
            <a:r>
              <a:rPr lang="en-US" sz="1200" dirty="0">
                <a:solidFill>
                  <a:srgbClr val="2D2D2D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两个函数都必须写，哪怕里面是空的。</a:t>
            </a:r>
            <a:endParaRPr lang="en-US" sz="1200" dirty="0"/>
          </a:p>
        </p:txBody>
      </p:sp>
      <p:sp>
        <p:nvSpPr>
          <p:cNvPr id="32" name="Shape 28"/>
          <p:cNvSpPr/>
          <p:nvPr/>
        </p:nvSpPr>
        <p:spPr>
          <a:xfrm>
            <a:off x="4754880" y="1234440"/>
            <a:ext cx="3429000" cy="384048"/>
          </a:xfrm>
          <a:prstGeom prst="roundRect">
            <a:avLst>
              <a:gd name="adj" fmla="val 28571"/>
            </a:avLst>
          </a:prstGeom>
          <a:solidFill>
            <a:srgbClr val="EBEBEB"/>
          </a:solidFill>
          <a:ln w="12700">
            <a:solidFill>
              <a:srgbClr val="EBEBEB"/>
            </a:solidFill>
            <a:prstDash val="solid"/>
          </a:ln>
        </p:spPr>
      </p:sp>
      <p:sp>
        <p:nvSpPr>
          <p:cNvPr id="33" name="Shape 29"/>
          <p:cNvSpPr/>
          <p:nvPr/>
        </p:nvSpPr>
        <p:spPr>
          <a:xfrm>
            <a:off x="4828032" y="1280160"/>
            <a:ext cx="292608" cy="292608"/>
          </a:xfrm>
          <a:prstGeom prst="ellipse">
            <a:avLst/>
          </a:prstGeom>
          <a:solidFill>
            <a:srgbClr val="40E0D0"/>
          </a:solidFill>
          <a:ln w="12700">
            <a:solidFill>
              <a:srgbClr val="40E0D0"/>
            </a:solidFill>
            <a:prstDash val="solid"/>
          </a:ln>
        </p:spPr>
      </p:sp>
      <p:pic>
        <p:nvPicPr>
          <p:cNvPr id="34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898258" y="1350386"/>
            <a:ext cx="152156" cy="152156"/>
          </a:xfrm>
          <a:prstGeom prst="rect">
            <a:avLst/>
          </a:prstGeom>
        </p:spPr>
      </p:pic>
      <p:sp>
        <p:nvSpPr>
          <p:cNvPr id="35" name="Text 30"/>
          <p:cNvSpPr txBox="1"/>
          <p:nvPr/>
        </p:nvSpPr>
        <p:spPr>
          <a:xfrm>
            <a:off x="5230368" y="1234440"/>
            <a:ext cx="28803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1300" b="1" dirty="0">
                <a:solidFill>
                  <a:srgbClr val="2D2D2D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通电 / 按复位键</a:t>
            </a:r>
            <a:endParaRPr lang="en-US" sz="1300" dirty="0"/>
          </a:p>
        </p:txBody>
      </p:sp>
      <p:sp>
        <p:nvSpPr>
          <p:cNvPr id="36" name="Shape 31"/>
          <p:cNvSpPr/>
          <p:nvPr/>
        </p:nvSpPr>
        <p:spPr>
          <a:xfrm>
            <a:off x="6469380" y="1636776"/>
            <a:ext cx="91" cy="182880"/>
          </a:xfrm>
          <a:prstGeom prst="line">
            <a:avLst/>
          </a:prstGeom>
          <a:noFill/>
          <a:ln w="15875">
            <a:solidFill>
              <a:srgbClr val="2D2D2D"/>
            </a:solidFill>
            <a:prstDash val="solid"/>
            <a:tailEnd type="triangle"/>
          </a:ln>
        </p:spPr>
      </p:sp>
      <p:sp>
        <p:nvSpPr>
          <p:cNvPr id="37" name="Shape 32"/>
          <p:cNvSpPr/>
          <p:nvPr/>
        </p:nvSpPr>
        <p:spPr>
          <a:xfrm>
            <a:off x="4754880" y="1847088"/>
            <a:ext cx="3429000" cy="1051560"/>
          </a:xfrm>
          <a:prstGeom prst="roundRect">
            <a:avLst>
              <a:gd name="adj" fmla="val 10435"/>
            </a:avLst>
          </a:prstGeom>
          <a:solidFill>
            <a:srgbClr val="F5F5F5"/>
          </a:solidFill>
          <a:ln w="12700">
            <a:solidFill>
              <a:srgbClr val="F5F5F5"/>
            </a:solidFill>
            <a:prstDash val="solid"/>
          </a:ln>
        </p:spPr>
      </p:sp>
      <p:sp>
        <p:nvSpPr>
          <p:cNvPr id="38" name="Shape 33"/>
          <p:cNvSpPr/>
          <p:nvPr/>
        </p:nvSpPr>
        <p:spPr>
          <a:xfrm>
            <a:off x="4919472" y="2011680"/>
            <a:ext cx="384048" cy="384048"/>
          </a:xfrm>
          <a:prstGeom prst="ellipse">
            <a:avLst/>
          </a:prstGeom>
          <a:solidFill>
            <a:srgbClr val="40E0D0"/>
          </a:solidFill>
          <a:ln w="12700">
            <a:solidFill>
              <a:srgbClr val="40E0D0"/>
            </a:solidFill>
            <a:prstDash val="solid"/>
          </a:ln>
        </p:spPr>
      </p:sp>
      <p:pic>
        <p:nvPicPr>
          <p:cNvPr id="39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011644" y="2103852"/>
            <a:ext cx="199705" cy="199705"/>
          </a:xfrm>
          <a:prstGeom prst="rect">
            <a:avLst/>
          </a:prstGeom>
        </p:spPr>
      </p:pic>
      <p:sp>
        <p:nvSpPr>
          <p:cNvPr id="40" name="Text 34"/>
          <p:cNvSpPr txBox="1"/>
          <p:nvPr/>
        </p:nvSpPr>
        <p:spPr>
          <a:xfrm>
            <a:off x="5431536" y="1993392"/>
            <a:ext cx="26060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1500" b="1" dirty="0">
                <a:solidFill>
                  <a:srgbClr val="2D2D2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setup()</a:t>
            </a:r>
            <a:pPr algn="l" indent="0" marL="0">
              <a:lnSpc>
                <a:spcPct val="115000"/>
              </a:lnSpc>
              <a:buNone/>
            </a:pPr>
            <a:r>
              <a:rPr lang="en-US" sz="1500" b="1" dirty="0">
                <a:solidFill>
                  <a:srgbClr val="2D2D2D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　只执行一次</a:t>
            </a:r>
            <a:endParaRPr lang="en-US" sz="1500" dirty="0"/>
          </a:p>
        </p:txBody>
      </p:sp>
      <p:sp>
        <p:nvSpPr>
          <p:cNvPr id="41" name="Text 35"/>
          <p:cNvSpPr txBox="1"/>
          <p:nvPr/>
        </p:nvSpPr>
        <p:spPr>
          <a:xfrm>
            <a:off x="5431536" y="2395728"/>
            <a:ext cx="258775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1200" dirty="0">
                <a:solidFill>
                  <a:srgbClr val="2D2D2D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像开店前的准备：</a:t>
            </a:r>
            <a:endParaRPr lang="en-US" sz="1200" dirty="0"/>
          </a:p>
          <a:p>
            <a:pPr algn="l" indent="0" marL="0">
              <a:lnSpc>
                <a:spcPct val="115000"/>
              </a:lnSpc>
              <a:buNone/>
            </a:pPr>
            <a:r>
              <a:rPr lang="en-US" sz="1200" dirty="0">
                <a:solidFill>
                  <a:srgbClr val="2D2D2D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开灯、摆货、开收银机，只做一次</a:t>
            </a:r>
            <a:endParaRPr lang="en-US" sz="1200" dirty="0"/>
          </a:p>
        </p:txBody>
      </p:sp>
      <p:sp>
        <p:nvSpPr>
          <p:cNvPr id="42" name="Shape 36"/>
          <p:cNvSpPr/>
          <p:nvPr/>
        </p:nvSpPr>
        <p:spPr>
          <a:xfrm>
            <a:off x="6469380" y="2916936"/>
            <a:ext cx="91" cy="192024"/>
          </a:xfrm>
          <a:prstGeom prst="line">
            <a:avLst/>
          </a:prstGeom>
          <a:noFill/>
          <a:ln w="15875">
            <a:solidFill>
              <a:srgbClr val="2D2D2D"/>
            </a:solidFill>
            <a:prstDash val="solid"/>
            <a:tailEnd type="triangle"/>
          </a:ln>
        </p:spPr>
      </p:sp>
      <p:sp>
        <p:nvSpPr>
          <p:cNvPr id="43" name="Shape 37"/>
          <p:cNvSpPr/>
          <p:nvPr/>
        </p:nvSpPr>
        <p:spPr>
          <a:xfrm>
            <a:off x="4754880" y="3127248"/>
            <a:ext cx="3429000" cy="1051560"/>
          </a:xfrm>
          <a:prstGeom prst="roundRect">
            <a:avLst>
              <a:gd name="adj" fmla="val 10435"/>
            </a:avLst>
          </a:prstGeom>
          <a:solidFill>
            <a:srgbClr val="40E0D0"/>
          </a:solidFill>
          <a:ln w="12700">
            <a:solidFill>
              <a:srgbClr val="40E0D0"/>
            </a:solidFill>
            <a:prstDash val="solid"/>
          </a:ln>
        </p:spPr>
      </p:sp>
      <p:sp>
        <p:nvSpPr>
          <p:cNvPr id="44" name="Shape 38"/>
          <p:cNvSpPr/>
          <p:nvPr/>
        </p:nvSpPr>
        <p:spPr>
          <a:xfrm>
            <a:off x="4919472" y="3291840"/>
            <a:ext cx="384048" cy="384048"/>
          </a:xfrm>
          <a:prstGeom prst="ellipse">
            <a:avLst/>
          </a:prstGeom>
          <a:solidFill>
            <a:srgbClr val="2D2D2D"/>
          </a:solidFill>
          <a:ln w="12700">
            <a:solidFill>
              <a:srgbClr val="2D2D2D"/>
            </a:solidFill>
            <a:prstDash val="solid"/>
          </a:ln>
        </p:spPr>
      </p:sp>
      <p:pic>
        <p:nvPicPr>
          <p:cNvPr id="45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011644" y="3384012"/>
            <a:ext cx="199705" cy="199705"/>
          </a:xfrm>
          <a:prstGeom prst="rect">
            <a:avLst/>
          </a:prstGeom>
        </p:spPr>
      </p:pic>
      <p:sp>
        <p:nvSpPr>
          <p:cNvPr id="46" name="Text 39"/>
          <p:cNvSpPr txBox="1"/>
          <p:nvPr/>
        </p:nvSpPr>
        <p:spPr>
          <a:xfrm>
            <a:off x="5431536" y="3273552"/>
            <a:ext cx="26060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1500" b="1" dirty="0">
                <a:solidFill>
                  <a:srgbClr val="2D2D2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loop()</a:t>
            </a:r>
            <a:pPr algn="l" indent="0" marL="0">
              <a:lnSpc>
                <a:spcPct val="115000"/>
              </a:lnSpc>
              <a:buNone/>
            </a:pPr>
            <a:r>
              <a:rPr lang="en-US" sz="1500" b="1" dirty="0">
                <a:solidFill>
                  <a:srgbClr val="2D2D2D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　做完又从头开始</a:t>
            </a:r>
            <a:endParaRPr lang="en-US" sz="1500" dirty="0"/>
          </a:p>
        </p:txBody>
      </p:sp>
      <p:sp>
        <p:nvSpPr>
          <p:cNvPr id="47" name="Text 40"/>
          <p:cNvSpPr txBox="1"/>
          <p:nvPr/>
        </p:nvSpPr>
        <p:spPr>
          <a:xfrm>
            <a:off x="5431536" y="3675888"/>
            <a:ext cx="258775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1200" dirty="0">
                <a:solidFill>
                  <a:srgbClr val="2D2D2D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像营业时间：</a:t>
            </a:r>
            <a:endParaRPr lang="en-US" sz="1200" dirty="0"/>
          </a:p>
          <a:p>
            <a:pPr algn="l" indent="0" marL="0">
              <a:lnSpc>
                <a:spcPct val="115000"/>
              </a:lnSpc>
              <a:buNone/>
            </a:pPr>
            <a:r>
              <a:rPr lang="en-US" sz="1200" dirty="0">
                <a:solidFill>
                  <a:srgbClr val="2D2D2D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一位客人接一位客人，不停地重复</a:t>
            </a:r>
            <a:endParaRPr lang="en-US" sz="1200" dirty="0"/>
          </a:p>
        </p:txBody>
      </p:sp>
      <p:sp>
        <p:nvSpPr>
          <p:cNvPr id="48" name="Shape 41"/>
          <p:cNvSpPr/>
          <p:nvPr/>
        </p:nvSpPr>
        <p:spPr>
          <a:xfrm>
            <a:off x="8202168" y="3931920"/>
            <a:ext cx="274320" cy="91"/>
          </a:xfrm>
          <a:prstGeom prst="line">
            <a:avLst/>
          </a:prstGeom>
          <a:noFill/>
          <a:ln w="15875">
            <a:solidFill>
              <a:srgbClr val="2D2D2D"/>
            </a:solidFill>
            <a:prstDash val="solid"/>
          </a:ln>
        </p:spPr>
      </p:sp>
      <p:sp>
        <p:nvSpPr>
          <p:cNvPr id="49" name="Shape 42"/>
          <p:cNvSpPr/>
          <p:nvPr/>
        </p:nvSpPr>
        <p:spPr>
          <a:xfrm flipV="1">
            <a:off x="8476488" y="3429000"/>
            <a:ext cx="91" cy="502920"/>
          </a:xfrm>
          <a:prstGeom prst="line">
            <a:avLst/>
          </a:prstGeom>
          <a:noFill/>
          <a:ln w="15875">
            <a:solidFill>
              <a:srgbClr val="2D2D2D"/>
            </a:solidFill>
            <a:prstDash val="solid"/>
          </a:ln>
        </p:spPr>
      </p:sp>
      <p:sp>
        <p:nvSpPr>
          <p:cNvPr id="50" name="Shape 43"/>
          <p:cNvSpPr/>
          <p:nvPr/>
        </p:nvSpPr>
        <p:spPr>
          <a:xfrm flipH="1">
            <a:off x="8220456" y="3429000"/>
            <a:ext cx="256032" cy="91"/>
          </a:xfrm>
          <a:prstGeom prst="line">
            <a:avLst/>
          </a:prstGeom>
          <a:noFill/>
          <a:ln w="15875">
            <a:solidFill>
              <a:srgbClr val="2D2D2D"/>
            </a:solidFill>
            <a:prstDash val="solid"/>
            <a:tailEnd type="triangle"/>
          </a:ln>
        </p:spPr>
      </p:sp>
      <p:sp>
        <p:nvSpPr>
          <p:cNvPr id="51" name="Text 44"/>
          <p:cNvSpPr txBox="1"/>
          <p:nvPr/>
        </p:nvSpPr>
        <p:spPr>
          <a:xfrm>
            <a:off x="4754880" y="4279392"/>
            <a:ext cx="3977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1200" dirty="0">
                <a:solidFill>
                  <a:srgbClr val="6B6B6B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loop() 跑完最后一行，马上回到第一行，永不停止</a:t>
            </a:r>
            <a:endParaRPr lang="en-US" sz="12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339328" y="4736592"/>
            <a:ext cx="393192" cy="219456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 lIns="0" tIns="0" rIns="0" bIns="0" anchor="ctr"/>
          <a:lstStyle>
            <a:lvl1pPr>
              <a:defRPr sz="800">
                <a:solidFill>
                  <a:srgbClr val="6B6B6B"/>
                </a:solidFill>
                <a:latin typeface="微软雅黑"/>
                <a:ea typeface="微软雅黑"/>
                <a:cs typeface="微软雅黑"/>
              </a:defRPr>
            </a:lvl1pPr>
          </a:lstStyle>
          <a:p>
            <a:pPr algn="r"/>
            <a:fld id="{F7021451-1387-4CA6-816F-3879F97B5CBC}" type="slidenum">
              <a:rPr b="0" lang="en-US"/>
              <a:t>5</a:t>
            </a:fld>
            <a:endParaRPr lang="en-US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1"/>
          <p:cNvSpPr/>
          <p:nvPr>
            <p:ph idx="102" type="body" hasCustomPrompt="1"/>
          </p:nvPr>
        </p:nvSpPr>
        <p:spPr>
          <a:xfrm>
            <a:off x="4572000" y="4736592"/>
            <a:ext cx="370332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2D2D2D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程序的骨架</a:t>
            </a:r>
            <a:endParaRPr lang="en-US" sz="800" dirty="0"/>
          </a:p>
        </p:txBody>
      </p:sp>
      <p:sp>
        <p:nvSpPr>
          <p:cNvPr id="3" name="Text 1"/>
          <p:cNvSpPr/>
          <p:nvPr>
            <p:ph idx="103" type="title" hasCustomPrompt="1"/>
          </p:nvPr>
        </p:nvSpPr>
        <p:spPr>
          <a:xfrm>
            <a:off x="411480" y="274320"/>
            <a:ext cx="83210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400" dirty="0">
                <a:solidFill>
                  <a:srgbClr val="2D2D2D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写代码的 6 条规则</a:t>
            </a:r>
            <a:endParaRPr lang="en-US" sz="2400" dirty="0"/>
          </a:p>
        </p:txBody>
      </p:sp>
      <p:sp>
        <p:nvSpPr>
          <p:cNvPr id="4" name="Text 1"/>
          <p:cNvSpPr/>
          <p:nvPr>
            <p:ph idx="104" type="body" hasCustomPrompt="1"/>
          </p:nvPr>
        </p:nvSpPr>
        <p:spPr>
          <a:xfrm>
            <a:off x="411480" y="786384"/>
            <a:ext cx="83210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6B6B6B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代码要让电脑看懂，规则比写作文严格得多——红框里的 3 条最容易出错。</a:t>
            </a:r>
            <a:endParaRPr lang="en-US" sz="1200" dirty="0"/>
          </a:p>
        </p:txBody>
      </p:sp>
      <p:sp>
        <p:nvSpPr>
          <p:cNvPr id="6" name="Shape 3"/>
          <p:cNvSpPr/>
          <p:nvPr/>
        </p:nvSpPr>
        <p:spPr>
          <a:xfrm>
            <a:off x="411480" y="1234440"/>
            <a:ext cx="2590800" cy="1531620"/>
          </a:xfrm>
          <a:prstGeom prst="roundRect">
            <a:avLst>
              <a:gd name="adj" fmla="val 7164"/>
            </a:avLst>
          </a:prstGeom>
          <a:solidFill>
            <a:srgbClr val="FFFFFF"/>
          </a:solidFill>
          <a:ln w="12700">
            <a:solidFill>
              <a:srgbClr val="E5484D"/>
            </a:solidFill>
            <a:prstDash val="solid"/>
          </a:ln>
        </p:spPr>
      </p:sp>
      <p:sp>
        <p:nvSpPr>
          <p:cNvPr id="7" name="Text 4"/>
          <p:cNvSpPr txBox="1"/>
          <p:nvPr/>
        </p:nvSpPr>
        <p:spPr>
          <a:xfrm>
            <a:off x="557784" y="1344168"/>
            <a:ext cx="2298192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1400" b="1" dirty="0">
                <a:solidFill>
                  <a:srgbClr val="E5484D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01　</a:t>
            </a:r>
            <a:pPr algn="l" indent="0" marL="0">
              <a:lnSpc>
                <a:spcPct val="115000"/>
              </a:lnSpc>
              <a:buNone/>
            </a:pPr>
            <a:r>
              <a:rPr lang="en-US" sz="1400" b="1" dirty="0">
                <a:solidFill>
                  <a:srgbClr val="2D2D2D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每句话以分号结尾</a:t>
            </a:r>
            <a:endParaRPr lang="en-US" sz="1400" dirty="0"/>
          </a:p>
        </p:txBody>
      </p:sp>
      <p:sp>
        <p:nvSpPr>
          <p:cNvPr id="8" name="Shape 5"/>
          <p:cNvSpPr/>
          <p:nvPr/>
        </p:nvSpPr>
        <p:spPr>
          <a:xfrm>
            <a:off x="557784" y="1746504"/>
            <a:ext cx="219456" cy="219456"/>
          </a:xfrm>
          <a:prstGeom prst="ellipse">
            <a:avLst/>
          </a:prstGeom>
          <a:solidFill>
            <a:srgbClr val="E5484D"/>
          </a:solidFill>
          <a:ln w="12700">
            <a:solidFill>
              <a:srgbClr val="E5484D"/>
            </a:solidFill>
            <a:prstDash val="solid"/>
          </a:ln>
        </p:spPr>
      </p:sp>
      <p:pic>
        <p:nvPicPr>
          <p:cNvPr id="9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12648" y="1801368"/>
            <a:ext cx="109728" cy="109728"/>
          </a:xfrm>
          <a:prstGeom prst="rect">
            <a:avLst/>
          </a:prstGeom>
        </p:spPr>
      </p:pic>
      <p:sp>
        <p:nvSpPr>
          <p:cNvPr id="10" name="Shape 6"/>
          <p:cNvSpPr/>
          <p:nvPr/>
        </p:nvSpPr>
        <p:spPr>
          <a:xfrm>
            <a:off x="868680" y="1709928"/>
            <a:ext cx="1987296" cy="292608"/>
          </a:xfrm>
          <a:prstGeom prst="roundRect">
            <a:avLst>
              <a:gd name="adj" fmla="val 25000"/>
            </a:avLst>
          </a:prstGeom>
          <a:solidFill>
            <a:srgbClr val="2D2D2D"/>
          </a:solidFill>
          <a:ln w="12700">
            <a:solidFill>
              <a:srgbClr val="2D2D2D"/>
            </a:solidFill>
            <a:prstDash val="solid"/>
          </a:ln>
        </p:spPr>
      </p:sp>
      <p:sp>
        <p:nvSpPr>
          <p:cNvPr id="11" name="Text 7"/>
          <p:cNvSpPr txBox="1"/>
          <p:nvPr/>
        </p:nvSpPr>
        <p:spPr>
          <a:xfrm>
            <a:off x="960120" y="1709928"/>
            <a:ext cx="1804416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050" b="1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pinMode</a:t>
            </a:r>
            <a:pPr algn="l" indent="0" marL="0">
              <a:lnSpc>
                <a:spcPct val="100000"/>
              </a:lnSpc>
              <a:buNone/>
            </a:pPr>
            <a:r>
              <a:rPr lang="en-US" sz="1050" dirty="0">
                <a:solidFill>
                  <a:srgbClr val="BDBDB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(</a:t>
            </a:r>
            <a:pPr algn="l" indent="0" marL="0">
              <a:lnSpc>
                <a:spcPct val="100000"/>
              </a:lnSpc>
              <a:buNone/>
            </a:pPr>
            <a:r>
              <a:rPr lang="en-US" sz="1050" dirty="0">
                <a:solidFill>
                  <a:srgbClr val="F7C87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13</a:t>
            </a:r>
            <a:pPr algn="l" indent="0" marL="0">
              <a:lnSpc>
                <a:spcPct val="100000"/>
              </a:lnSpc>
              <a:buNone/>
            </a:pPr>
            <a:r>
              <a:rPr lang="en-US" sz="1050" dirty="0">
                <a:solidFill>
                  <a:srgbClr val="BDBDB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, </a:t>
            </a:r>
            <a:pPr algn="l" indent="0" marL="0">
              <a:lnSpc>
                <a:spcPct val="100000"/>
              </a:lnSpc>
              <a:buNone/>
            </a:pPr>
            <a:r>
              <a:rPr lang="en-US" sz="1050" dirty="0">
                <a:solidFill>
                  <a:srgbClr val="F7C87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OUTPUT</a:t>
            </a:r>
            <a:pPr algn="l" indent="0" marL="0">
              <a:lnSpc>
                <a:spcPct val="100000"/>
              </a:lnSpc>
              <a:buNone/>
            </a:pPr>
            <a:r>
              <a:rPr lang="en-US" sz="1050" dirty="0">
                <a:solidFill>
                  <a:srgbClr val="BDBDB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)</a:t>
            </a:r>
            <a:endParaRPr lang="en-US" sz="1050" dirty="0"/>
          </a:p>
        </p:txBody>
      </p:sp>
      <p:sp>
        <p:nvSpPr>
          <p:cNvPr id="12" name="Shape 8"/>
          <p:cNvSpPr/>
          <p:nvPr/>
        </p:nvSpPr>
        <p:spPr>
          <a:xfrm>
            <a:off x="557784" y="2093976"/>
            <a:ext cx="219456" cy="219456"/>
          </a:xfrm>
          <a:prstGeom prst="ellipse">
            <a:avLst/>
          </a:prstGeom>
          <a:solidFill>
            <a:srgbClr val="40E0D0"/>
          </a:solidFill>
          <a:ln w="12700">
            <a:solidFill>
              <a:srgbClr val="40E0D0"/>
            </a:solidFill>
            <a:prstDash val="solid"/>
          </a:ln>
        </p:spPr>
      </p:sp>
      <p:pic>
        <p:nvPicPr>
          <p:cNvPr id="13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12648" y="2148840"/>
            <a:ext cx="109728" cy="109728"/>
          </a:xfrm>
          <a:prstGeom prst="rect">
            <a:avLst/>
          </a:prstGeom>
        </p:spPr>
      </p:pic>
      <p:sp>
        <p:nvSpPr>
          <p:cNvPr id="14" name="Shape 9"/>
          <p:cNvSpPr/>
          <p:nvPr/>
        </p:nvSpPr>
        <p:spPr>
          <a:xfrm>
            <a:off x="868680" y="2057400"/>
            <a:ext cx="1987296" cy="292608"/>
          </a:xfrm>
          <a:prstGeom prst="roundRect">
            <a:avLst>
              <a:gd name="adj" fmla="val 25000"/>
            </a:avLst>
          </a:prstGeom>
          <a:solidFill>
            <a:srgbClr val="2D2D2D"/>
          </a:solidFill>
          <a:ln w="12700">
            <a:solidFill>
              <a:srgbClr val="2D2D2D"/>
            </a:solidFill>
            <a:prstDash val="solid"/>
          </a:ln>
        </p:spPr>
      </p:sp>
      <p:sp>
        <p:nvSpPr>
          <p:cNvPr id="15" name="Text 10"/>
          <p:cNvSpPr txBox="1"/>
          <p:nvPr/>
        </p:nvSpPr>
        <p:spPr>
          <a:xfrm>
            <a:off x="960120" y="2057400"/>
            <a:ext cx="1804416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050" b="1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pinMode</a:t>
            </a:r>
            <a:pPr algn="l" indent="0" marL="0">
              <a:lnSpc>
                <a:spcPct val="100000"/>
              </a:lnSpc>
              <a:buNone/>
            </a:pPr>
            <a:r>
              <a:rPr lang="en-US" sz="1050" dirty="0">
                <a:solidFill>
                  <a:srgbClr val="BDBDB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(</a:t>
            </a:r>
            <a:pPr algn="l" indent="0" marL="0">
              <a:lnSpc>
                <a:spcPct val="100000"/>
              </a:lnSpc>
              <a:buNone/>
            </a:pPr>
            <a:r>
              <a:rPr lang="en-US" sz="1050" dirty="0">
                <a:solidFill>
                  <a:srgbClr val="F7C87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13</a:t>
            </a:r>
            <a:pPr algn="l" indent="0" marL="0">
              <a:lnSpc>
                <a:spcPct val="100000"/>
              </a:lnSpc>
              <a:buNone/>
            </a:pPr>
            <a:r>
              <a:rPr lang="en-US" sz="1050" dirty="0">
                <a:solidFill>
                  <a:srgbClr val="BDBDB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, </a:t>
            </a:r>
            <a:pPr algn="l" indent="0" marL="0">
              <a:lnSpc>
                <a:spcPct val="100000"/>
              </a:lnSpc>
              <a:buNone/>
            </a:pPr>
            <a:r>
              <a:rPr lang="en-US" sz="1050" dirty="0">
                <a:solidFill>
                  <a:srgbClr val="F7C87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OUTPUT</a:t>
            </a:r>
            <a:pPr algn="l" indent="0" marL="0">
              <a:lnSpc>
                <a:spcPct val="100000"/>
              </a:lnSpc>
              <a:buNone/>
            </a:pPr>
            <a:r>
              <a:rPr lang="en-US" sz="1050" dirty="0">
                <a:solidFill>
                  <a:srgbClr val="BDBDB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);</a:t>
            </a:r>
            <a:endParaRPr lang="en-US" sz="1050" dirty="0"/>
          </a:p>
        </p:txBody>
      </p:sp>
      <p:sp>
        <p:nvSpPr>
          <p:cNvPr id="16" name="Text 11"/>
          <p:cNvSpPr txBox="1"/>
          <p:nvPr/>
        </p:nvSpPr>
        <p:spPr>
          <a:xfrm>
            <a:off x="557784" y="2423160"/>
            <a:ext cx="229819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1200" dirty="0">
                <a:solidFill>
                  <a:srgbClr val="2D2D2D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漏了分号是最常见的错误</a:t>
            </a:r>
            <a:endParaRPr lang="en-US" sz="1200" dirty="0"/>
          </a:p>
        </p:txBody>
      </p:sp>
      <p:sp>
        <p:nvSpPr>
          <p:cNvPr id="17" name="Shape 12"/>
          <p:cNvSpPr/>
          <p:nvPr/>
        </p:nvSpPr>
        <p:spPr>
          <a:xfrm>
            <a:off x="3276600" y="1234440"/>
            <a:ext cx="2590800" cy="1531620"/>
          </a:xfrm>
          <a:prstGeom prst="roundRect">
            <a:avLst>
              <a:gd name="adj" fmla="val 7164"/>
            </a:avLst>
          </a:prstGeom>
          <a:solidFill>
            <a:srgbClr val="FFFFFF"/>
          </a:solidFill>
          <a:ln w="12700">
            <a:solidFill>
              <a:srgbClr val="E5484D"/>
            </a:solidFill>
            <a:prstDash val="solid"/>
          </a:ln>
        </p:spPr>
      </p:sp>
      <p:sp>
        <p:nvSpPr>
          <p:cNvPr id="18" name="Text 13"/>
          <p:cNvSpPr txBox="1"/>
          <p:nvPr/>
        </p:nvSpPr>
        <p:spPr>
          <a:xfrm>
            <a:off x="3422904" y="1344168"/>
            <a:ext cx="2298192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1400" b="1" dirty="0">
                <a:solidFill>
                  <a:srgbClr val="E5484D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02　</a:t>
            </a:r>
            <a:pPr algn="l" indent="0" marL="0">
              <a:lnSpc>
                <a:spcPct val="115000"/>
              </a:lnSpc>
              <a:buNone/>
            </a:pPr>
            <a:r>
              <a:rPr lang="en-US" sz="1400" b="1" dirty="0">
                <a:solidFill>
                  <a:srgbClr val="2D2D2D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只用英文标点</a:t>
            </a:r>
            <a:endParaRPr lang="en-US" sz="1400" dirty="0"/>
          </a:p>
        </p:txBody>
      </p:sp>
      <p:sp>
        <p:nvSpPr>
          <p:cNvPr id="19" name="Shape 14"/>
          <p:cNvSpPr/>
          <p:nvPr/>
        </p:nvSpPr>
        <p:spPr>
          <a:xfrm>
            <a:off x="3422904" y="1746504"/>
            <a:ext cx="219456" cy="219456"/>
          </a:xfrm>
          <a:prstGeom prst="ellipse">
            <a:avLst/>
          </a:prstGeom>
          <a:solidFill>
            <a:srgbClr val="E5484D"/>
          </a:solidFill>
          <a:ln w="12700">
            <a:solidFill>
              <a:srgbClr val="E5484D"/>
            </a:solidFill>
            <a:prstDash val="solid"/>
          </a:ln>
        </p:spPr>
      </p:sp>
      <p:pic>
        <p:nvPicPr>
          <p:cNvPr id="20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477768" y="1801368"/>
            <a:ext cx="109728" cy="109728"/>
          </a:xfrm>
          <a:prstGeom prst="rect">
            <a:avLst/>
          </a:prstGeom>
        </p:spPr>
      </p:pic>
      <p:sp>
        <p:nvSpPr>
          <p:cNvPr id="21" name="Shape 15"/>
          <p:cNvSpPr/>
          <p:nvPr/>
        </p:nvSpPr>
        <p:spPr>
          <a:xfrm>
            <a:off x="3733800" y="1709928"/>
            <a:ext cx="1987296" cy="292608"/>
          </a:xfrm>
          <a:prstGeom prst="roundRect">
            <a:avLst>
              <a:gd name="adj" fmla="val 25000"/>
            </a:avLst>
          </a:prstGeom>
          <a:solidFill>
            <a:srgbClr val="2D2D2D"/>
          </a:solidFill>
          <a:ln w="12700">
            <a:solidFill>
              <a:srgbClr val="2D2D2D"/>
            </a:solidFill>
            <a:prstDash val="solid"/>
          </a:ln>
        </p:spPr>
      </p:sp>
      <p:sp>
        <p:nvSpPr>
          <p:cNvPr id="22" name="Text 16"/>
          <p:cNvSpPr txBox="1"/>
          <p:nvPr/>
        </p:nvSpPr>
        <p:spPr>
          <a:xfrm>
            <a:off x="3825240" y="1709928"/>
            <a:ext cx="1804416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050" b="1" dirty="0">
                <a:solidFill>
                  <a:srgbClr val="40E0D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int </a:t>
            </a:r>
            <a:pPr algn="l" indent="0" marL="0">
              <a:lnSpc>
                <a:spcPct val="100000"/>
              </a:lnSpc>
              <a:buNone/>
            </a:pPr>
            <a:r>
              <a:rPr lang="en-US" sz="1050" dirty="0">
                <a:solidFill>
                  <a:srgbClr val="D9D9D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ledPin </a:t>
            </a:r>
            <a:pPr algn="l" indent="0" marL="0">
              <a:lnSpc>
                <a:spcPct val="100000"/>
              </a:lnSpc>
              <a:buNone/>
            </a:pPr>
            <a:r>
              <a:rPr lang="en-US" sz="1050" dirty="0">
                <a:solidFill>
                  <a:srgbClr val="BDBDB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= </a:t>
            </a:r>
            <a:pPr algn="l" indent="0" marL="0">
              <a:lnSpc>
                <a:spcPct val="100000"/>
              </a:lnSpc>
              <a:buNone/>
            </a:pPr>
            <a:r>
              <a:rPr lang="en-US" sz="1050" dirty="0">
                <a:solidFill>
                  <a:srgbClr val="F7C87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13</a:t>
            </a:r>
            <a:pPr algn="l" indent="0" marL="0">
              <a:lnSpc>
                <a:spcPct val="100000"/>
              </a:lnSpc>
              <a:buNone/>
            </a:pPr>
            <a:r>
              <a:rPr lang="en-US" sz="1050" dirty="0">
                <a:solidFill>
                  <a:srgbClr val="BDBDB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；</a:t>
            </a:r>
            <a:endParaRPr lang="en-US" sz="1050" dirty="0"/>
          </a:p>
        </p:txBody>
      </p:sp>
      <p:sp>
        <p:nvSpPr>
          <p:cNvPr id="23" name="Shape 17"/>
          <p:cNvSpPr/>
          <p:nvPr/>
        </p:nvSpPr>
        <p:spPr>
          <a:xfrm>
            <a:off x="3422904" y="2093976"/>
            <a:ext cx="219456" cy="219456"/>
          </a:xfrm>
          <a:prstGeom prst="ellipse">
            <a:avLst/>
          </a:prstGeom>
          <a:solidFill>
            <a:srgbClr val="40E0D0"/>
          </a:solidFill>
          <a:ln w="12700">
            <a:solidFill>
              <a:srgbClr val="40E0D0"/>
            </a:solidFill>
            <a:prstDash val="solid"/>
          </a:ln>
        </p:spPr>
      </p:sp>
      <p:pic>
        <p:nvPicPr>
          <p:cNvPr id="24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477768" y="2148840"/>
            <a:ext cx="109728" cy="109728"/>
          </a:xfrm>
          <a:prstGeom prst="rect">
            <a:avLst/>
          </a:prstGeom>
        </p:spPr>
      </p:pic>
      <p:sp>
        <p:nvSpPr>
          <p:cNvPr id="25" name="Shape 18"/>
          <p:cNvSpPr/>
          <p:nvPr/>
        </p:nvSpPr>
        <p:spPr>
          <a:xfrm>
            <a:off x="3733800" y="2057400"/>
            <a:ext cx="1987296" cy="292608"/>
          </a:xfrm>
          <a:prstGeom prst="roundRect">
            <a:avLst>
              <a:gd name="adj" fmla="val 25000"/>
            </a:avLst>
          </a:prstGeom>
          <a:solidFill>
            <a:srgbClr val="2D2D2D"/>
          </a:solidFill>
          <a:ln w="12700">
            <a:solidFill>
              <a:srgbClr val="2D2D2D"/>
            </a:solidFill>
            <a:prstDash val="solid"/>
          </a:ln>
        </p:spPr>
      </p:sp>
      <p:sp>
        <p:nvSpPr>
          <p:cNvPr id="26" name="Text 19"/>
          <p:cNvSpPr txBox="1"/>
          <p:nvPr/>
        </p:nvSpPr>
        <p:spPr>
          <a:xfrm>
            <a:off x="3825240" y="2057400"/>
            <a:ext cx="1804416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050" b="1" dirty="0">
                <a:solidFill>
                  <a:srgbClr val="40E0D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int </a:t>
            </a:r>
            <a:pPr algn="l" indent="0" marL="0">
              <a:lnSpc>
                <a:spcPct val="100000"/>
              </a:lnSpc>
              <a:buNone/>
            </a:pPr>
            <a:r>
              <a:rPr lang="en-US" sz="1050" dirty="0">
                <a:solidFill>
                  <a:srgbClr val="D9D9D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ledPin </a:t>
            </a:r>
            <a:pPr algn="l" indent="0" marL="0">
              <a:lnSpc>
                <a:spcPct val="100000"/>
              </a:lnSpc>
              <a:buNone/>
            </a:pPr>
            <a:r>
              <a:rPr lang="en-US" sz="1050" dirty="0">
                <a:solidFill>
                  <a:srgbClr val="BDBDB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= </a:t>
            </a:r>
            <a:pPr algn="l" indent="0" marL="0">
              <a:lnSpc>
                <a:spcPct val="100000"/>
              </a:lnSpc>
              <a:buNone/>
            </a:pPr>
            <a:r>
              <a:rPr lang="en-US" sz="1050" dirty="0">
                <a:solidFill>
                  <a:srgbClr val="F7C87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13</a:t>
            </a:r>
            <a:pPr algn="l" indent="0" marL="0">
              <a:lnSpc>
                <a:spcPct val="100000"/>
              </a:lnSpc>
              <a:buNone/>
            </a:pPr>
            <a:r>
              <a:rPr lang="en-US" sz="1050" dirty="0">
                <a:solidFill>
                  <a:srgbClr val="BDBDB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;</a:t>
            </a:r>
            <a:endParaRPr lang="en-US" sz="1050" dirty="0"/>
          </a:p>
        </p:txBody>
      </p:sp>
      <p:sp>
        <p:nvSpPr>
          <p:cNvPr id="27" name="Text 20"/>
          <p:cNvSpPr txBox="1"/>
          <p:nvPr/>
        </p:nvSpPr>
        <p:spPr>
          <a:xfrm>
            <a:off x="3422904" y="2423160"/>
            <a:ext cx="229819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1200" dirty="0">
                <a:solidFill>
                  <a:srgbClr val="2D2D2D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写代码前切换到英文输入法</a:t>
            </a:r>
            <a:endParaRPr lang="en-US" sz="1200" dirty="0"/>
          </a:p>
        </p:txBody>
      </p:sp>
      <p:sp>
        <p:nvSpPr>
          <p:cNvPr id="28" name="Shape 21"/>
          <p:cNvSpPr/>
          <p:nvPr/>
        </p:nvSpPr>
        <p:spPr>
          <a:xfrm>
            <a:off x="6141720" y="1234440"/>
            <a:ext cx="2590800" cy="1531620"/>
          </a:xfrm>
          <a:prstGeom prst="roundRect">
            <a:avLst>
              <a:gd name="adj" fmla="val 7164"/>
            </a:avLst>
          </a:prstGeom>
          <a:solidFill>
            <a:srgbClr val="FFFFFF"/>
          </a:solidFill>
          <a:ln w="12700">
            <a:solidFill>
              <a:srgbClr val="E5484D"/>
            </a:solidFill>
            <a:prstDash val="solid"/>
          </a:ln>
        </p:spPr>
      </p:sp>
      <p:sp>
        <p:nvSpPr>
          <p:cNvPr id="29" name="Text 22"/>
          <p:cNvSpPr txBox="1"/>
          <p:nvPr/>
        </p:nvSpPr>
        <p:spPr>
          <a:xfrm>
            <a:off x="6288024" y="1344168"/>
            <a:ext cx="2298192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1400" b="1" dirty="0">
                <a:solidFill>
                  <a:srgbClr val="E5484D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03　</a:t>
            </a:r>
            <a:pPr algn="l" indent="0" marL="0">
              <a:lnSpc>
                <a:spcPct val="115000"/>
              </a:lnSpc>
              <a:buNone/>
            </a:pPr>
            <a:r>
              <a:rPr lang="en-US" sz="1400" b="1" dirty="0">
                <a:solidFill>
                  <a:srgbClr val="2D2D2D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严格区分大小写</a:t>
            </a:r>
            <a:endParaRPr lang="en-US" sz="1400" dirty="0"/>
          </a:p>
        </p:txBody>
      </p:sp>
      <p:sp>
        <p:nvSpPr>
          <p:cNvPr id="30" name="Shape 23"/>
          <p:cNvSpPr/>
          <p:nvPr/>
        </p:nvSpPr>
        <p:spPr>
          <a:xfrm>
            <a:off x="6288024" y="1746504"/>
            <a:ext cx="219456" cy="219456"/>
          </a:xfrm>
          <a:prstGeom prst="ellipse">
            <a:avLst/>
          </a:prstGeom>
          <a:solidFill>
            <a:srgbClr val="E5484D"/>
          </a:solidFill>
          <a:ln w="12700">
            <a:solidFill>
              <a:srgbClr val="E5484D"/>
            </a:solidFill>
            <a:prstDash val="solid"/>
          </a:ln>
        </p:spPr>
      </p:sp>
      <p:pic>
        <p:nvPicPr>
          <p:cNvPr id="31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342888" y="1801368"/>
            <a:ext cx="109728" cy="109728"/>
          </a:xfrm>
          <a:prstGeom prst="rect">
            <a:avLst/>
          </a:prstGeom>
        </p:spPr>
      </p:pic>
      <p:sp>
        <p:nvSpPr>
          <p:cNvPr id="32" name="Shape 24"/>
          <p:cNvSpPr/>
          <p:nvPr/>
        </p:nvSpPr>
        <p:spPr>
          <a:xfrm>
            <a:off x="6598920" y="1709928"/>
            <a:ext cx="1987296" cy="292608"/>
          </a:xfrm>
          <a:prstGeom prst="roundRect">
            <a:avLst>
              <a:gd name="adj" fmla="val 25000"/>
            </a:avLst>
          </a:prstGeom>
          <a:solidFill>
            <a:srgbClr val="2D2D2D"/>
          </a:solidFill>
          <a:ln w="12700">
            <a:solidFill>
              <a:srgbClr val="2D2D2D"/>
            </a:solidFill>
            <a:prstDash val="solid"/>
          </a:ln>
        </p:spPr>
      </p:sp>
      <p:sp>
        <p:nvSpPr>
          <p:cNvPr id="33" name="Text 25"/>
          <p:cNvSpPr txBox="1"/>
          <p:nvPr/>
        </p:nvSpPr>
        <p:spPr>
          <a:xfrm>
            <a:off x="6690360" y="1709928"/>
            <a:ext cx="1804416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050" dirty="0">
                <a:solidFill>
                  <a:srgbClr val="D9D9D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pinmode</a:t>
            </a:r>
            <a:pPr algn="l" indent="0" marL="0">
              <a:lnSpc>
                <a:spcPct val="100000"/>
              </a:lnSpc>
              <a:buNone/>
            </a:pPr>
            <a:r>
              <a:rPr lang="en-US" sz="1050" dirty="0">
                <a:solidFill>
                  <a:srgbClr val="BDBDB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(</a:t>
            </a:r>
            <a:pPr algn="l" indent="0" marL="0">
              <a:lnSpc>
                <a:spcPct val="100000"/>
              </a:lnSpc>
              <a:buNone/>
            </a:pPr>
            <a:r>
              <a:rPr lang="en-US" sz="1050" dirty="0">
                <a:solidFill>
                  <a:srgbClr val="F7C87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13</a:t>
            </a:r>
            <a:pPr algn="l" indent="0" marL="0">
              <a:lnSpc>
                <a:spcPct val="100000"/>
              </a:lnSpc>
              <a:buNone/>
            </a:pPr>
            <a:r>
              <a:rPr lang="en-US" sz="1050" dirty="0">
                <a:solidFill>
                  <a:srgbClr val="BDBDB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, </a:t>
            </a:r>
            <a:pPr algn="l" indent="0" marL="0">
              <a:lnSpc>
                <a:spcPct val="100000"/>
              </a:lnSpc>
              <a:buNone/>
            </a:pPr>
            <a:r>
              <a:rPr lang="en-US" sz="1050" dirty="0">
                <a:solidFill>
                  <a:srgbClr val="D9D9D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output</a:t>
            </a:r>
            <a:pPr algn="l" indent="0" marL="0">
              <a:lnSpc>
                <a:spcPct val="100000"/>
              </a:lnSpc>
              <a:buNone/>
            </a:pPr>
            <a:r>
              <a:rPr lang="en-US" sz="1050" dirty="0">
                <a:solidFill>
                  <a:srgbClr val="BDBDB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);</a:t>
            </a:r>
            <a:endParaRPr lang="en-US" sz="1050" dirty="0"/>
          </a:p>
        </p:txBody>
      </p:sp>
      <p:sp>
        <p:nvSpPr>
          <p:cNvPr id="34" name="Shape 26"/>
          <p:cNvSpPr/>
          <p:nvPr/>
        </p:nvSpPr>
        <p:spPr>
          <a:xfrm>
            <a:off x="6288024" y="2093976"/>
            <a:ext cx="219456" cy="219456"/>
          </a:xfrm>
          <a:prstGeom prst="ellipse">
            <a:avLst/>
          </a:prstGeom>
          <a:solidFill>
            <a:srgbClr val="40E0D0"/>
          </a:solidFill>
          <a:ln w="12700">
            <a:solidFill>
              <a:srgbClr val="40E0D0"/>
            </a:solidFill>
            <a:prstDash val="solid"/>
          </a:ln>
        </p:spPr>
      </p:sp>
      <p:pic>
        <p:nvPicPr>
          <p:cNvPr id="35" name="Image 5" descr="preencoded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342888" y="2148840"/>
            <a:ext cx="109728" cy="109728"/>
          </a:xfrm>
          <a:prstGeom prst="rect">
            <a:avLst/>
          </a:prstGeom>
        </p:spPr>
      </p:pic>
      <p:sp>
        <p:nvSpPr>
          <p:cNvPr id="36" name="Shape 27"/>
          <p:cNvSpPr/>
          <p:nvPr/>
        </p:nvSpPr>
        <p:spPr>
          <a:xfrm>
            <a:off x="6598920" y="2057400"/>
            <a:ext cx="1987296" cy="292608"/>
          </a:xfrm>
          <a:prstGeom prst="roundRect">
            <a:avLst>
              <a:gd name="adj" fmla="val 25000"/>
            </a:avLst>
          </a:prstGeom>
          <a:solidFill>
            <a:srgbClr val="2D2D2D"/>
          </a:solidFill>
          <a:ln w="12700">
            <a:solidFill>
              <a:srgbClr val="2D2D2D"/>
            </a:solidFill>
            <a:prstDash val="solid"/>
          </a:ln>
        </p:spPr>
      </p:sp>
      <p:sp>
        <p:nvSpPr>
          <p:cNvPr id="37" name="Text 28"/>
          <p:cNvSpPr txBox="1"/>
          <p:nvPr/>
        </p:nvSpPr>
        <p:spPr>
          <a:xfrm>
            <a:off x="6690360" y="2057400"/>
            <a:ext cx="1804416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050" b="1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pinMode</a:t>
            </a:r>
            <a:pPr algn="l" indent="0" marL="0">
              <a:lnSpc>
                <a:spcPct val="100000"/>
              </a:lnSpc>
              <a:buNone/>
            </a:pPr>
            <a:r>
              <a:rPr lang="en-US" sz="1050" dirty="0">
                <a:solidFill>
                  <a:srgbClr val="BDBDB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(</a:t>
            </a:r>
            <a:pPr algn="l" indent="0" marL="0">
              <a:lnSpc>
                <a:spcPct val="100000"/>
              </a:lnSpc>
              <a:buNone/>
            </a:pPr>
            <a:r>
              <a:rPr lang="en-US" sz="1050" dirty="0">
                <a:solidFill>
                  <a:srgbClr val="F7C87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13</a:t>
            </a:r>
            <a:pPr algn="l" indent="0" marL="0">
              <a:lnSpc>
                <a:spcPct val="100000"/>
              </a:lnSpc>
              <a:buNone/>
            </a:pPr>
            <a:r>
              <a:rPr lang="en-US" sz="1050" dirty="0">
                <a:solidFill>
                  <a:srgbClr val="BDBDB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, </a:t>
            </a:r>
            <a:pPr algn="l" indent="0" marL="0">
              <a:lnSpc>
                <a:spcPct val="100000"/>
              </a:lnSpc>
              <a:buNone/>
            </a:pPr>
            <a:r>
              <a:rPr lang="en-US" sz="1050" dirty="0">
                <a:solidFill>
                  <a:srgbClr val="F7C87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OUTPUT</a:t>
            </a:r>
            <a:pPr algn="l" indent="0" marL="0">
              <a:lnSpc>
                <a:spcPct val="100000"/>
              </a:lnSpc>
              <a:buNone/>
            </a:pPr>
            <a:r>
              <a:rPr lang="en-US" sz="1050" dirty="0">
                <a:solidFill>
                  <a:srgbClr val="BDBDB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);</a:t>
            </a:r>
            <a:endParaRPr lang="en-US" sz="1050" dirty="0"/>
          </a:p>
        </p:txBody>
      </p:sp>
      <p:sp>
        <p:nvSpPr>
          <p:cNvPr id="38" name="Text 29"/>
          <p:cNvSpPr txBox="1"/>
          <p:nvPr/>
        </p:nvSpPr>
        <p:spPr>
          <a:xfrm>
            <a:off x="6288024" y="2423160"/>
            <a:ext cx="229819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1200" dirty="0">
                <a:solidFill>
                  <a:srgbClr val="2D2D2D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OUTPUT、HIGH 都要大写</a:t>
            </a:r>
            <a:endParaRPr lang="en-US" sz="1200" dirty="0"/>
          </a:p>
        </p:txBody>
      </p:sp>
      <p:sp>
        <p:nvSpPr>
          <p:cNvPr id="39" name="Shape 30"/>
          <p:cNvSpPr/>
          <p:nvPr/>
        </p:nvSpPr>
        <p:spPr>
          <a:xfrm>
            <a:off x="411480" y="3040380"/>
            <a:ext cx="2590800" cy="1531620"/>
          </a:xfrm>
          <a:prstGeom prst="roundRect">
            <a:avLst>
              <a:gd name="adj" fmla="val 7164"/>
            </a:avLst>
          </a:prstGeom>
          <a:solidFill>
            <a:srgbClr val="F5F5F5"/>
          </a:solidFill>
          <a:ln w="12700">
            <a:solidFill>
              <a:srgbClr val="F5F5F5"/>
            </a:solidFill>
            <a:prstDash val="solid"/>
          </a:ln>
        </p:spPr>
      </p:sp>
      <p:sp>
        <p:nvSpPr>
          <p:cNvPr id="40" name="Text 31"/>
          <p:cNvSpPr txBox="1"/>
          <p:nvPr/>
        </p:nvSpPr>
        <p:spPr>
          <a:xfrm>
            <a:off x="557784" y="3150108"/>
            <a:ext cx="2298192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1400" b="1" dirty="0">
                <a:solidFill>
                  <a:srgbClr val="1A9E92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04　</a:t>
            </a:r>
            <a:pPr algn="l" indent="0" marL="0">
              <a:lnSpc>
                <a:spcPct val="115000"/>
              </a:lnSpc>
              <a:buNone/>
            </a:pPr>
            <a:r>
              <a:rPr lang="en-US" sz="1400" b="1" dirty="0">
                <a:solidFill>
                  <a:srgbClr val="2D2D2D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大括号成对出现</a:t>
            </a:r>
            <a:endParaRPr lang="en-US" sz="1400" dirty="0"/>
          </a:p>
        </p:txBody>
      </p:sp>
      <p:sp>
        <p:nvSpPr>
          <p:cNvPr id="41" name="Shape 32"/>
          <p:cNvSpPr/>
          <p:nvPr/>
        </p:nvSpPr>
        <p:spPr>
          <a:xfrm>
            <a:off x="557784" y="3515868"/>
            <a:ext cx="2298192" cy="292608"/>
          </a:xfrm>
          <a:prstGeom prst="roundRect">
            <a:avLst>
              <a:gd name="adj" fmla="val 25000"/>
            </a:avLst>
          </a:prstGeom>
          <a:solidFill>
            <a:srgbClr val="2D2D2D"/>
          </a:solidFill>
          <a:ln w="12700">
            <a:solidFill>
              <a:srgbClr val="2D2D2D"/>
            </a:solidFill>
            <a:prstDash val="solid"/>
          </a:ln>
        </p:spPr>
      </p:sp>
      <p:sp>
        <p:nvSpPr>
          <p:cNvPr id="42" name="Text 33"/>
          <p:cNvSpPr txBox="1"/>
          <p:nvPr/>
        </p:nvSpPr>
        <p:spPr>
          <a:xfrm>
            <a:off x="649224" y="3515868"/>
            <a:ext cx="2115312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050" b="1" dirty="0">
                <a:solidFill>
                  <a:srgbClr val="40E0D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void </a:t>
            </a:r>
            <a:pPr algn="l" indent="0" marL="0">
              <a:lnSpc>
                <a:spcPct val="100000"/>
              </a:lnSpc>
              <a:buNone/>
            </a:pPr>
            <a:r>
              <a:rPr lang="en-US" sz="1050" b="1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loop</a:t>
            </a:r>
            <a:pPr algn="l" indent="0" marL="0">
              <a:lnSpc>
                <a:spcPct val="100000"/>
              </a:lnSpc>
              <a:buNone/>
            </a:pPr>
            <a:r>
              <a:rPr lang="en-US" sz="1050" dirty="0">
                <a:solidFill>
                  <a:srgbClr val="BDBDB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() { … }</a:t>
            </a:r>
            <a:endParaRPr lang="en-US" sz="1050" dirty="0"/>
          </a:p>
        </p:txBody>
      </p:sp>
      <p:sp>
        <p:nvSpPr>
          <p:cNvPr id="43" name="Text 34"/>
          <p:cNvSpPr txBox="1"/>
          <p:nvPr/>
        </p:nvSpPr>
        <p:spPr>
          <a:xfrm>
            <a:off x="557784" y="3918204"/>
            <a:ext cx="2298192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1200" dirty="0">
                <a:solidFill>
                  <a:srgbClr val="2D2D2D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函数、if、for 的内容</a:t>
            </a:r>
            <a:endParaRPr lang="en-US" sz="1200" dirty="0"/>
          </a:p>
          <a:p>
            <a:pPr algn="l" indent="0" marL="0">
              <a:lnSpc>
                <a:spcPct val="115000"/>
              </a:lnSpc>
              <a:buNone/>
            </a:pPr>
            <a:r>
              <a:rPr lang="en-US" sz="1200" dirty="0">
                <a:solidFill>
                  <a:srgbClr val="2D2D2D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都写在 { } 里</a:t>
            </a:r>
            <a:endParaRPr lang="en-US" sz="1200" dirty="0"/>
          </a:p>
        </p:txBody>
      </p:sp>
      <p:sp>
        <p:nvSpPr>
          <p:cNvPr id="44" name="Shape 35"/>
          <p:cNvSpPr/>
          <p:nvPr/>
        </p:nvSpPr>
        <p:spPr>
          <a:xfrm>
            <a:off x="3276600" y="3040380"/>
            <a:ext cx="2590800" cy="1531620"/>
          </a:xfrm>
          <a:prstGeom prst="roundRect">
            <a:avLst>
              <a:gd name="adj" fmla="val 7164"/>
            </a:avLst>
          </a:prstGeom>
          <a:solidFill>
            <a:srgbClr val="F5F5F5"/>
          </a:solidFill>
          <a:ln w="12700">
            <a:solidFill>
              <a:srgbClr val="F5F5F5"/>
            </a:solidFill>
            <a:prstDash val="solid"/>
          </a:ln>
        </p:spPr>
      </p:sp>
      <p:sp>
        <p:nvSpPr>
          <p:cNvPr id="45" name="Text 36"/>
          <p:cNvSpPr txBox="1"/>
          <p:nvPr/>
        </p:nvSpPr>
        <p:spPr>
          <a:xfrm>
            <a:off x="3422904" y="3150108"/>
            <a:ext cx="2298192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1400" b="1" dirty="0">
                <a:solidFill>
                  <a:srgbClr val="1A9E92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05　</a:t>
            </a:r>
            <a:pPr algn="l" indent="0" marL="0">
              <a:lnSpc>
                <a:spcPct val="115000"/>
              </a:lnSpc>
              <a:buNone/>
            </a:pPr>
            <a:r>
              <a:rPr lang="en-US" sz="1400" b="1" dirty="0">
                <a:solidFill>
                  <a:srgbClr val="2D2D2D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注释不会被执行</a:t>
            </a:r>
            <a:endParaRPr lang="en-US" sz="1400" dirty="0"/>
          </a:p>
        </p:txBody>
      </p:sp>
      <p:sp>
        <p:nvSpPr>
          <p:cNvPr id="46" name="Shape 37"/>
          <p:cNvSpPr/>
          <p:nvPr/>
        </p:nvSpPr>
        <p:spPr>
          <a:xfrm>
            <a:off x="3422904" y="3515868"/>
            <a:ext cx="2298192" cy="292608"/>
          </a:xfrm>
          <a:prstGeom prst="roundRect">
            <a:avLst>
              <a:gd name="adj" fmla="val 25000"/>
            </a:avLst>
          </a:prstGeom>
          <a:solidFill>
            <a:srgbClr val="2D2D2D"/>
          </a:solidFill>
          <a:ln w="12700">
            <a:solidFill>
              <a:srgbClr val="2D2D2D"/>
            </a:solidFill>
            <a:prstDash val="solid"/>
          </a:ln>
        </p:spPr>
      </p:sp>
      <p:sp>
        <p:nvSpPr>
          <p:cNvPr id="47" name="Text 38"/>
          <p:cNvSpPr txBox="1"/>
          <p:nvPr/>
        </p:nvSpPr>
        <p:spPr>
          <a:xfrm>
            <a:off x="3514344" y="3515868"/>
            <a:ext cx="2115312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050" i="1" dirty="0">
                <a:solidFill>
                  <a:srgbClr val="8E8E8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// 单行  /* 多行 */</a:t>
            </a:r>
            <a:endParaRPr lang="en-US" sz="1050" dirty="0"/>
          </a:p>
        </p:txBody>
      </p:sp>
      <p:sp>
        <p:nvSpPr>
          <p:cNvPr id="48" name="Text 39"/>
          <p:cNvSpPr txBox="1"/>
          <p:nvPr/>
        </p:nvSpPr>
        <p:spPr>
          <a:xfrm>
            <a:off x="3422904" y="3918204"/>
            <a:ext cx="2298192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1200" dirty="0">
                <a:solidFill>
                  <a:srgbClr val="2D2D2D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注释是写给人看的说明，</a:t>
            </a:r>
            <a:endParaRPr lang="en-US" sz="1200" dirty="0"/>
          </a:p>
          <a:p>
            <a:pPr algn="l" indent="0" marL="0">
              <a:lnSpc>
                <a:spcPct val="115000"/>
              </a:lnSpc>
              <a:buNone/>
            </a:pPr>
            <a:r>
              <a:rPr lang="en-US" sz="1200" dirty="0">
                <a:solidFill>
                  <a:srgbClr val="2D2D2D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Arduino 会跳过它</a:t>
            </a:r>
            <a:endParaRPr lang="en-US" sz="1200" dirty="0"/>
          </a:p>
        </p:txBody>
      </p:sp>
      <p:sp>
        <p:nvSpPr>
          <p:cNvPr id="49" name="Shape 40"/>
          <p:cNvSpPr/>
          <p:nvPr/>
        </p:nvSpPr>
        <p:spPr>
          <a:xfrm>
            <a:off x="6141720" y="3040380"/>
            <a:ext cx="2590800" cy="1531620"/>
          </a:xfrm>
          <a:prstGeom prst="roundRect">
            <a:avLst>
              <a:gd name="adj" fmla="val 7164"/>
            </a:avLst>
          </a:prstGeom>
          <a:solidFill>
            <a:srgbClr val="F5F5F5"/>
          </a:solidFill>
          <a:ln w="12700">
            <a:solidFill>
              <a:srgbClr val="F5F5F5"/>
            </a:solidFill>
            <a:prstDash val="solid"/>
          </a:ln>
        </p:spPr>
      </p:sp>
      <p:sp>
        <p:nvSpPr>
          <p:cNvPr id="50" name="Text 41"/>
          <p:cNvSpPr txBox="1"/>
          <p:nvPr/>
        </p:nvSpPr>
        <p:spPr>
          <a:xfrm>
            <a:off x="6288024" y="3150108"/>
            <a:ext cx="2298192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1400" b="1" dirty="0">
                <a:solidFill>
                  <a:srgbClr val="1A9E92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06　</a:t>
            </a:r>
            <a:pPr algn="l" indent="0" marL="0">
              <a:lnSpc>
                <a:spcPct val="115000"/>
              </a:lnSpc>
              <a:buNone/>
            </a:pPr>
            <a:r>
              <a:rPr lang="en-US" sz="1400" b="1" dirty="0">
                <a:solidFill>
                  <a:srgbClr val="2D2D2D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名字用英文字母</a:t>
            </a:r>
            <a:endParaRPr lang="en-US" sz="1400" dirty="0"/>
          </a:p>
        </p:txBody>
      </p:sp>
      <p:sp>
        <p:nvSpPr>
          <p:cNvPr id="51" name="Shape 42"/>
          <p:cNvSpPr/>
          <p:nvPr/>
        </p:nvSpPr>
        <p:spPr>
          <a:xfrm>
            <a:off x="6288024" y="3515868"/>
            <a:ext cx="2298192" cy="292608"/>
          </a:xfrm>
          <a:prstGeom prst="roundRect">
            <a:avLst>
              <a:gd name="adj" fmla="val 25000"/>
            </a:avLst>
          </a:prstGeom>
          <a:solidFill>
            <a:srgbClr val="2D2D2D"/>
          </a:solidFill>
          <a:ln w="12700">
            <a:solidFill>
              <a:srgbClr val="2D2D2D"/>
            </a:solidFill>
            <a:prstDash val="solid"/>
          </a:ln>
        </p:spPr>
      </p:sp>
      <p:sp>
        <p:nvSpPr>
          <p:cNvPr id="52" name="Text 43"/>
          <p:cNvSpPr txBox="1"/>
          <p:nvPr/>
        </p:nvSpPr>
        <p:spPr>
          <a:xfrm>
            <a:off x="6379464" y="3515868"/>
            <a:ext cx="2115312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050" b="1" dirty="0">
                <a:solidFill>
                  <a:srgbClr val="40E0D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int </a:t>
            </a:r>
            <a:pPr algn="l" indent="0" marL="0">
              <a:lnSpc>
                <a:spcPct val="100000"/>
              </a:lnSpc>
              <a:buNone/>
            </a:pPr>
            <a:r>
              <a:rPr lang="en-US" sz="1050" dirty="0">
                <a:solidFill>
                  <a:srgbClr val="D9D9D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ledPin </a:t>
            </a:r>
            <a:pPr algn="l" indent="0" marL="0">
              <a:lnSpc>
                <a:spcPct val="100000"/>
              </a:lnSpc>
              <a:buNone/>
            </a:pPr>
            <a:r>
              <a:rPr lang="en-US" sz="1050" dirty="0">
                <a:solidFill>
                  <a:srgbClr val="BDBDB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= </a:t>
            </a:r>
            <a:pPr algn="l" indent="0" marL="0">
              <a:lnSpc>
                <a:spcPct val="100000"/>
              </a:lnSpc>
              <a:buNone/>
            </a:pPr>
            <a:r>
              <a:rPr lang="en-US" sz="1050" dirty="0">
                <a:solidFill>
                  <a:srgbClr val="F7C87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13</a:t>
            </a:r>
            <a:pPr algn="l" indent="0" marL="0">
              <a:lnSpc>
                <a:spcPct val="100000"/>
              </a:lnSpc>
              <a:buNone/>
            </a:pPr>
            <a:r>
              <a:rPr lang="en-US" sz="1050" dirty="0">
                <a:solidFill>
                  <a:srgbClr val="BDBDB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;</a:t>
            </a:r>
            <a:endParaRPr lang="en-US" sz="1050" dirty="0"/>
          </a:p>
        </p:txBody>
      </p:sp>
      <p:sp>
        <p:nvSpPr>
          <p:cNvPr id="53" name="Text 44"/>
          <p:cNvSpPr txBox="1"/>
          <p:nvPr/>
        </p:nvSpPr>
        <p:spPr>
          <a:xfrm>
            <a:off x="6288024" y="3918204"/>
            <a:ext cx="2298192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1200" dirty="0">
                <a:solidFill>
                  <a:srgbClr val="2D2D2D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可以用字母、数字、下划线；</a:t>
            </a:r>
            <a:endParaRPr lang="en-US" sz="1200" dirty="0"/>
          </a:p>
          <a:p>
            <a:pPr algn="l" indent="0" marL="0">
              <a:lnSpc>
                <a:spcPct val="115000"/>
              </a:lnSpc>
              <a:buNone/>
            </a:pPr>
            <a:r>
              <a:rPr lang="en-US" sz="1200" dirty="0">
                <a:solidFill>
                  <a:srgbClr val="2D2D2D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不能数字开头，不能用中文</a:t>
            </a:r>
            <a:endParaRPr lang="en-US" sz="12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339328" y="4736592"/>
            <a:ext cx="393192" cy="219456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 lIns="0" tIns="0" rIns="0" bIns="0" anchor="ctr"/>
          <a:lstStyle>
            <a:lvl1pPr>
              <a:defRPr sz="800">
                <a:solidFill>
                  <a:srgbClr val="6B6B6B"/>
                </a:solidFill>
                <a:latin typeface="微软雅黑"/>
                <a:ea typeface="微软雅黑"/>
                <a:cs typeface="微软雅黑"/>
              </a:defRPr>
            </a:lvl1pPr>
          </a:lstStyle>
          <a:p>
            <a:pPr algn="r"/>
            <a:fld id="{F7021451-1387-4CA6-816F-3879F97B5CBC}" type="slidenum">
              <a:rPr b="0" lang="en-US"/>
              <a:t>6</a:t>
            </a:fld>
            <a:endParaRPr lang="en-US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1"/>
          <p:cNvSpPr/>
          <p:nvPr>
            <p:ph idx="102" type="body" hasCustomPrompt="1"/>
          </p:nvPr>
        </p:nvSpPr>
        <p:spPr>
          <a:xfrm>
            <a:off x="4572000" y="4736592"/>
            <a:ext cx="370332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2D2D2D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变量与数据</a:t>
            </a:r>
            <a:endParaRPr lang="en-US" sz="800" dirty="0"/>
          </a:p>
        </p:txBody>
      </p:sp>
      <p:sp>
        <p:nvSpPr>
          <p:cNvPr id="3" name="Text 1"/>
          <p:cNvSpPr/>
          <p:nvPr>
            <p:ph idx="103" type="body" hasCustomPrompt="1"/>
          </p:nvPr>
        </p:nvSpPr>
        <p:spPr>
          <a:xfrm>
            <a:off x="411480" y="384048"/>
            <a:ext cx="3383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B6B6B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第 2 站</a:t>
            </a:r>
            <a:endParaRPr lang="en-US" sz="1100" dirty="0"/>
          </a:p>
        </p:txBody>
      </p:sp>
      <p:sp>
        <p:nvSpPr>
          <p:cNvPr id="4" name="Text 1"/>
          <p:cNvSpPr/>
          <p:nvPr>
            <p:ph idx="104" type="title" hasCustomPrompt="1"/>
          </p:nvPr>
        </p:nvSpPr>
        <p:spPr>
          <a:xfrm>
            <a:off x="411480" y="713232"/>
            <a:ext cx="338328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800" dirty="0">
                <a:solidFill>
                  <a:srgbClr val="2D2D2D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变量与数据</a:t>
            </a:r>
            <a:endParaRPr lang="en-US" sz="2800" dirty="0"/>
          </a:p>
        </p:txBody>
      </p:sp>
      <p:sp>
        <p:nvSpPr>
          <p:cNvPr id="5" name="Text 1"/>
          <p:cNvSpPr/>
          <p:nvPr>
            <p:ph idx="105" type="body" hasCustomPrompt="1"/>
          </p:nvPr>
        </p:nvSpPr>
        <p:spPr>
          <a:xfrm>
            <a:off x="411480" y="1874520"/>
            <a:ext cx="3246120" cy="23774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30000"/>
              </a:lnSpc>
              <a:buNone/>
            </a:pPr>
            <a:r>
              <a:rPr lang="en-US" sz="1200" dirty="0">
                <a:solidFill>
                  <a:srgbClr val="2D2D2D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程序要“记住”东西：传感器的读数、</a:t>
            </a:r>
            <a:endParaRPr lang="en-US" sz="1200" dirty="0"/>
          </a:p>
          <a:p>
            <a:pPr indent="0" marL="0">
              <a:lnSpc>
                <a:spcPct val="130000"/>
              </a:lnSpc>
              <a:buNone/>
            </a:pPr>
            <a:r>
              <a:rPr lang="en-US" sz="1200" dirty="0">
                <a:solidFill>
                  <a:srgbClr val="2D2D2D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计数器、开关状态……都放在变量里。</a:t>
            </a:r>
            <a:endParaRPr lang="en-US" sz="1200" dirty="0"/>
          </a:p>
          <a:p>
            <a:pPr indent="0" marL="0">
              <a:lnSpc>
                <a:spcPct val="130000"/>
              </a:lnSpc>
              <a:buNone/>
            </a:pPr>
            <a:r>
              <a:rPr lang="en-US" sz="1200" dirty="0">
                <a:solidFill>
                  <a:srgbClr val="2D2D2D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这一站认识变量、数据类型、常量和数组，</a:t>
            </a:r>
            <a:endParaRPr lang="en-US" sz="1200" dirty="0"/>
          </a:p>
          <a:p>
            <a:pPr indent="0" marL="0">
              <a:lnSpc>
                <a:spcPct val="130000"/>
              </a:lnSpc>
              <a:buNone/>
            </a:pPr>
            <a:r>
              <a:rPr lang="en-US" sz="1200" dirty="0">
                <a:solidFill>
                  <a:srgbClr val="2D2D2D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以及用来计算、比较的运算符。</a:t>
            </a:r>
            <a:endParaRPr lang="en-US" sz="1200" dirty="0"/>
          </a:p>
        </p:txBody>
      </p:sp>
      <p:sp>
        <p:nvSpPr>
          <p:cNvPr id="6" name="Shape 4"/>
          <p:cNvSpPr/>
          <p:nvPr/>
        </p:nvSpPr>
        <p:spPr>
          <a:xfrm>
            <a:off x="4160520" y="347472"/>
            <a:ext cx="2286000" cy="2112264"/>
          </a:xfrm>
          <a:prstGeom prst="rect">
            <a:avLst/>
          </a:prstGeom>
          <a:solidFill>
            <a:srgbClr val="40E0D0"/>
          </a:solidFill>
          <a:ln w="9525">
            <a:solidFill>
              <a:srgbClr val="E2E2E2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4361688" y="512064"/>
            <a:ext cx="1883664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3000" b="1" dirty="0">
                <a:solidFill>
                  <a:srgbClr val="2D2D2D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01</a:t>
            </a:r>
            <a:endParaRPr lang="en-US" sz="3000" dirty="0"/>
          </a:p>
        </p:txBody>
      </p:sp>
      <p:sp>
        <p:nvSpPr>
          <p:cNvPr id="8" name="Text 6"/>
          <p:cNvSpPr txBox="1"/>
          <p:nvPr/>
        </p:nvSpPr>
        <p:spPr>
          <a:xfrm>
            <a:off x="4361688" y="1389888"/>
            <a:ext cx="1883664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1600" b="1" dirty="0">
                <a:solidFill>
                  <a:srgbClr val="2D2D2D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变量</a:t>
            </a:r>
            <a:endParaRPr lang="en-US" sz="1600" dirty="0"/>
          </a:p>
        </p:txBody>
      </p:sp>
      <p:sp>
        <p:nvSpPr>
          <p:cNvPr id="9" name="Text 7"/>
          <p:cNvSpPr txBox="1"/>
          <p:nvPr/>
        </p:nvSpPr>
        <p:spPr>
          <a:xfrm>
            <a:off x="4361688" y="1801368"/>
            <a:ext cx="1883664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1200" dirty="0">
                <a:solidFill>
                  <a:srgbClr val="2D2D2D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贴了标签的盒子</a:t>
            </a:r>
            <a:endParaRPr lang="en-US" sz="1200" dirty="0"/>
          </a:p>
        </p:txBody>
      </p:sp>
      <p:sp>
        <p:nvSpPr>
          <p:cNvPr id="10" name="Shape 8"/>
          <p:cNvSpPr/>
          <p:nvPr/>
        </p:nvSpPr>
        <p:spPr>
          <a:xfrm>
            <a:off x="6446520" y="347472"/>
            <a:ext cx="2286000" cy="2112264"/>
          </a:xfrm>
          <a:prstGeom prst="rect">
            <a:avLst/>
          </a:prstGeom>
          <a:solidFill>
            <a:srgbClr val="EBEBEB"/>
          </a:solidFill>
          <a:ln w="9525">
            <a:solidFill>
              <a:srgbClr val="E2E2E2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6647688" y="512064"/>
            <a:ext cx="1883664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3000" b="1" dirty="0">
                <a:solidFill>
                  <a:srgbClr val="2D2D2D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02</a:t>
            </a:r>
            <a:endParaRPr lang="en-US" sz="3000" dirty="0"/>
          </a:p>
        </p:txBody>
      </p:sp>
      <p:sp>
        <p:nvSpPr>
          <p:cNvPr id="12" name="Text 10"/>
          <p:cNvSpPr txBox="1"/>
          <p:nvPr/>
        </p:nvSpPr>
        <p:spPr>
          <a:xfrm>
            <a:off x="6647688" y="1389888"/>
            <a:ext cx="1883664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1600" b="1" dirty="0">
                <a:solidFill>
                  <a:srgbClr val="2D2D2D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数据类型</a:t>
            </a:r>
            <a:endParaRPr lang="en-US" sz="1600" dirty="0"/>
          </a:p>
        </p:txBody>
      </p:sp>
      <p:sp>
        <p:nvSpPr>
          <p:cNvPr id="13" name="Text 11"/>
          <p:cNvSpPr txBox="1"/>
          <p:nvPr/>
        </p:nvSpPr>
        <p:spPr>
          <a:xfrm>
            <a:off x="6647688" y="1801368"/>
            <a:ext cx="1883664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1200" dirty="0">
                <a:solidFill>
                  <a:srgbClr val="6B6B6B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盒子能装什么</a:t>
            </a:r>
            <a:endParaRPr lang="en-US" sz="1200" dirty="0"/>
          </a:p>
        </p:txBody>
      </p:sp>
      <p:sp>
        <p:nvSpPr>
          <p:cNvPr id="14" name="Shape 12"/>
          <p:cNvSpPr/>
          <p:nvPr/>
        </p:nvSpPr>
        <p:spPr>
          <a:xfrm>
            <a:off x="4160520" y="2459736"/>
            <a:ext cx="2286000" cy="2112264"/>
          </a:xfrm>
          <a:prstGeom prst="rect">
            <a:avLst/>
          </a:prstGeom>
          <a:solidFill>
            <a:srgbClr val="2D2D2D"/>
          </a:solidFill>
          <a:ln w="9525">
            <a:solidFill>
              <a:srgbClr val="E2E2E2"/>
            </a:solidFill>
            <a:prstDash val="solid"/>
          </a:ln>
        </p:spPr>
      </p:sp>
      <p:sp>
        <p:nvSpPr>
          <p:cNvPr id="15" name="Text 13"/>
          <p:cNvSpPr txBox="1"/>
          <p:nvPr/>
        </p:nvSpPr>
        <p:spPr>
          <a:xfrm>
            <a:off x="4361688" y="2624328"/>
            <a:ext cx="1883664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3000" b="1" dirty="0">
                <a:solidFill>
                  <a:srgbClr val="40E0D0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03</a:t>
            </a:r>
            <a:endParaRPr lang="en-US" sz="3000" dirty="0"/>
          </a:p>
        </p:txBody>
      </p:sp>
      <p:sp>
        <p:nvSpPr>
          <p:cNvPr id="16" name="Text 14"/>
          <p:cNvSpPr txBox="1"/>
          <p:nvPr/>
        </p:nvSpPr>
        <p:spPr>
          <a:xfrm>
            <a:off x="4361688" y="3502152"/>
            <a:ext cx="1883664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1600" b="1" dirty="0">
                <a:solidFill>
                  <a:srgbClr val="FFFFFF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常量与数组</a:t>
            </a:r>
            <a:endParaRPr lang="en-US" sz="1600" dirty="0"/>
          </a:p>
        </p:txBody>
      </p:sp>
      <p:sp>
        <p:nvSpPr>
          <p:cNvPr id="17" name="Text 15"/>
          <p:cNvSpPr txBox="1"/>
          <p:nvPr/>
        </p:nvSpPr>
        <p:spPr>
          <a:xfrm>
            <a:off x="4361688" y="3913632"/>
            <a:ext cx="1883664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1200" dirty="0">
                <a:solidFill>
                  <a:srgbClr val="CFCFCF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不变的数、一排盒子</a:t>
            </a:r>
            <a:endParaRPr lang="en-US" sz="1200" dirty="0"/>
          </a:p>
        </p:txBody>
      </p:sp>
      <p:sp>
        <p:nvSpPr>
          <p:cNvPr id="18" name="Shape 16"/>
          <p:cNvSpPr/>
          <p:nvPr/>
        </p:nvSpPr>
        <p:spPr>
          <a:xfrm>
            <a:off x="6446520" y="2459736"/>
            <a:ext cx="2286000" cy="2112264"/>
          </a:xfrm>
          <a:prstGeom prst="rect">
            <a:avLst/>
          </a:prstGeom>
          <a:solidFill>
            <a:srgbClr val="FFFFFF"/>
          </a:solidFill>
          <a:ln w="9525">
            <a:solidFill>
              <a:srgbClr val="E2E2E2"/>
            </a:solidFill>
            <a:prstDash val="solid"/>
          </a:ln>
        </p:spPr>
      </p:sp>
      <p:sp>
        <p:nvSpPr>
          <p:cNvPr id="19" name="Text 17"/>
          <p:cNvSpPr txBox="1"/>
          <p:nvPr/>
        </p:nvSpPr>
        <p:spPr>
          <a:xfrm>
            <a:off x="6647688" y="2624328"/>
            <a:ext cx="1883664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3000" b="1" dirty="0">
                <a:solidFill>
                  <a:srgbClr val="2D2D2D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04</a:t>
            </a:r>
            <a:endParaRPr lang="en-US" sz="3000" dirty="0"/>
          </a:p>
        </p:txBody>
      </p:sp>
      <p:sp>
        <p:nvSpPr>
          <p:cNvPr id="20" name="Text 18"/>
          <p:cNvSpPr txBox="1"/>
          <p:nvPr/>
        </p:nvSpPr>
        <p:spPr>
          <a:xfrm>
            <a:off x="6647688" y="3502152"/>
            <a:ext cx="1883664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1600" b="1" dirty="0">
                <a:solidFill>
                  <a:srgbClr val="2D2D2D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运算符</a:t>
            </a:r>
            <a:endParaRPr lang="en-US" sz="1600" dirty="0"/>
          </a:p>
        </p:txBody>
      </p:sp>
      <p:sp>
        <p:nvSpPr>
          <p:cNvPr id="21" name="Text 19"/>
          <p:cNvSpPr txBox="1"/>
          <p:nvPr/>
        </p:nvSpPr>
        <p:spPr>
          <a:xfrm>
            <a:off x="6647688" y="3913632"/>
            <a:ext cx="1883664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1200" dirty="0">
                <a:solidFill>
                  <a:srgbClr val="6B6B6B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算一算、比一比</a:t>
            </a:r>
            <a:endParaRPr lang="en-US" sz="12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339328" y="4736592"/>
            <a:ext cx="393192" cy="219456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 lIns="0" tIns="0" rIns="0" bIns="0" anchor="ctr"/>
          <a:lstStyle>
            <a:lvl1pPr>
              <a:defRPr sz="800">
                <a:solidFill>
                  <a:srgbClr val="6B6B6B"/>
                </a:solidFill>
                <a:latin typeface="微软雅黑"/>
                <a:ea typeface="微软雅黑"/>
                <a:cs typeface="微软雅黑"/>
              </a:defRPr>
            </a:lvl1pPr>
          </a:lstStyle>
          <a:p>
            <a:pPr algn="r"/>
            <a:fld id="{F7021451-1387-4CA6-816F-3879F97B5CBC}" type="slidenum">
              <a:rPr b="0" lang="en-US"/>
              <a:t>7</a:t>
            </a:fld>
            <a:endParaRPr lang="en-US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1"/>
          <p:cNvSpPr/>
          <p:nvPr>
            <p:ph idx="102" type="body" hasCustomPrompt="1"/>
          </p:nvPr>
        </p:nvSpPr>
        <p:spPr>
          <a:xfrm>
            <a:off x="4572000" y="4736592"/>
            <a:ext cx="370332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2D2D2D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变量与数据</a:t>
            </a:r>
            <a:endParaRPr lang="en-US" sz="800" dirty="0"/>
          </a:p>
        </p:txBody>
      </p:sp>
      <p:sp>
        <p:nvSpPr>
          <p:cNvPr id="3" name="Text 1"/>
          <p:cNvSpPr/>
          <p:nvPr>
            <p:ph idx="103" type="title" hasCustomPrompt="1"/>
          </p:nvPr>
        </p:nvSpPr>
        <p:spPr>
          <a:xfrm>
            <a:off x="411480" y="274320"/>
            <a:ext cx="83210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400" dirty="0">
                <a:solidFill>
                  <a:srgbClr val="2D2D2D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变量：贴了标签的盒子</a:t>
            </a:r>
            <a:endParaRPr lang="en-US" sz="2400" dirty="0"/>
          </a:p>
        </p:txBody>
      </p:sp>
      <p:sp>
        <p:nvSpPr>
          <p:cNvPr id="4" name="Text 1"/>
          <p:cNvSpPr/>
          <p:nvPr>
            <p:ph idx="104" type="body" hasCustomPrompt="1"/>
          </p:nvPr>
        </p:nvSpPr>
        <p:spPr>
          <a:xfrm>
            <a:off x="411480" y="786384"/>
            <a:ext cx="83210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6B6B6B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变量就是一个有名字的“盒子”：先说清楚装什么、叫什么，再往里放东西。</a:t>
            </a:r>
            <a:endParaRPr lang="en-US" sz="1200" dirty="0"/>
          </a:p>
        </p:txBody>
      </p:sp>
      <p:sp>
        <p:nvSpPr>
          <p:cNvPr id="6" name="Shape 3"/>
          <p:cNvSpPr/>
          <p:nvPr/>
        </p:nvSpPr>
        <p:spPr>
          <a:xfrm>
            <a:off x="411480" y="1234440"/>
            <a:ext cx="8321040" cy="548640"/>
          </a:xfrm>
          <a:prstGeom prst="roundRect">
            <a:avLst>
              <a:gd name="adj" fmla="val 13333"/>
            </a:avLst>
          </a:prstGeom>
          <a:solidFill>
            <a:srgbClr val="2D2D2D"/>
          </a:solidFill>
          <a:ln w="12700">
            <a:solidFill>
              <a:srgbClr val="2D2D2D"/>
            </a:solidFill>
            <a:prstDash val="solid"/>
          </a:ln>
        </p:spPr>
      </p:sp>
      <p:sp>
        <p:nvSpPr>
          <p:cNvPr id="7" name="Text 4"/>
          <p:cNvSpPr txBox="1"/>
          <p:nvPr/>
        </p:nvSpPr>
        <p:spPr>
          <a:xfrm>
            <a:off x="685800" y="1234440"/>
            <a:ext cx="77724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600" b="1" dirty="0">
                <a:solidFill>
                  <a:srgbClr val="40E0D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int </a:t>
            </a:r>
            <a:pPr algn="l" indent="0" marL="0">
              <a:lnSpc>
                <a:spcPct val="100000"/>
              </a:lnSpc>
              <a:buNone/>
            </a:pPr>
            <a:r>
              <a:rPr lang="en-US" sz="1600" dirty="0">
                <a:solidFill>
                  <a:srgbClr val="D9D9D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count </a:t>
            </a:r>
            <a:pPr algn="l" indent="0" marL="0">
              <a:lnSpc>
                <a:spcPct val="100000"/>
              </a:lnSpc>
              <a:buNone/>
            </a:pPr>
            <a:r>
              <a:rPr lang="en-US" sz="1600" dirty="0">
                <a:solidFill>
                  <a:srgbClr val="BDBDB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= </a:t>
            </a:r>
            <a:pPr algn="l" indent="0" marL="0">
              <a:lnSpc>
                <a:spcPct val="100000"/>
              </a:lnSpc>
              <a:buNone/>
            </a:pPr>
            <a:r>
              <a:rPr lang="en-US" sz="1600" dirty="0">
                <a:solidFill>
                  <a:srgbClr val="F7C87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</a:t>
            </a:r>
            <a:pPr algn="l" indent="0" marL="0">
              <a:lnSpc>
                <a:spcPct val="100000"/>
              </a:lnSpc>
              <a:buNone/>
            </a:pPr>
            <a:r>
              <a:rPr lang="en-US" sz="1600" dirty="0">
                <a:solidFill>
                  <a:srgbClr val="BDBDB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;     </a:t>
            </a:r>
            <a:pPr algn="l" indent="0" marL="0">
              <a:lnSpc>
                <a:spcPct val="100000"/>
              </a:lnSpc>
              <a:buNone/>
            </a:pPr>
            <a:r>
              <a:rPr lang="en-US" sz="1600" i="1" dirty="0">
                <a:solidFill>
                  <a:srgbClr val="8E8E8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// 准备一个叫 count 的盒子，先放进 0</a:t>
            </a:r>
            <a:endParaRPr lang="en-US" sz="1600" dirty="0"/>
          </a:p>
        </p:txBody>
      </p:sp>
      <p:sp>
        <p:nvSpPr>
          <p:cNvPr id="8" name="Shape 5"/>
          <p:cNvSpPr/>
          <p:nvPr/>
        </p:nvSpPr>
        <p:spPr>
          <a:xfrm>
            <a:off x="411480" y="2057400"/>
            <a:ext cx="1874520" cy="1069848"/>
          </a:xfrm>
          <a:prstGeom prst="roundRect">
            <a:avLst>
              <a:gd name="adj" fmla="val 10256"/>
            </a:avLst>
          </a:prstGeom>
          <a:solidFill>
            <a:srgbClr val="F5F5F5"/>
          </a:solidFill>
          <a:ln w="12700">
            <a:solidFill>
              <a:srgbClr val="F5F5F5"/>
            </a:solidFill>
            <a:prstDash val="solid"/>
          </a:ln>
        </p:spPr>
      </p:sp>
      <p:sp>
        <p:nvSpPr>
          <p:cNvPr id="9" name="Shape 6"/>
          <p:cNvSpPr/>
          <p:nvPr/>
        </p:nvSpPr>
        <p:spPr>
          <a:xfrm>
            <a:off x="557784" y="2185416"/>
            <a:ext cx="544068" cy="347472"/>
          </a:xfrm>
          <a:prstGeom prst="roundRect">
            <a:avLst>
              <a:gd name="adj" fmla="val 50000"/>
            </a:avLst>
          </a:prstGeom>
          <a:solidFill>
            <a:srgbClr val="40E0D0"/>
          </a:solidFill>
          <a:ln w="12700">
            <a:solidFill>
              <a:srgbClr val="40E0D0"/>
            </a:solidFill>
            <a:prstDash val="solid"/>
          </a:ln>
        </p:spPr>
      </p:sp>
      <p:sp>
        <p:nvSpPr>
          <p:cNvPr id="10" name="Text 7"/>
          <p:cNvSpPr txBox="1"/>
          <p:nvPr/>
        </p:nvSpPr>
        <p:spPr>
          <a:xfrm>
            <a:off x="557784" y="2185416"/>
            <a:ext cx="544068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15000"/>
              </a:lnSpc>
              <a:buNone/>
            </a:pPr>
            <a:r>
              <a:rPr lang="en-US" sz="1500" b="1" dirty="0">
                <a:solidFill>
                  <a:srgbClr val="2D2D2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int</a:t>
            </a:r>
            <a:endParaRPr lang="en-US" sz="1500" dirty="0"/>
          </a:p>
        </p:txBody>
      </p:sp>
      <p:sp>
        <p:nvSpPr>
          <p:cNvPr id="11" name="Text 8"/>
          <p:cNvSpPr txBox="1"/>
          <p:nvPr/>
        </p:nvSpPr>
        <p:spPr>
          <a:xfrm>
            <a:off x="1211580" y="2185416"/>
            <a:ext cx="928116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1400" b="1" dirty="0">
                <a:solidFill>
                  <a:srgbClr val="2D2D2D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类型</a:t>
            </a:r>
            <a:endParaRPr lang="en-US" sz="1400" dirty="0"/>
          </a:p>
        </p:txBody>
      </p:sp>
      <p:sp>
        <p:nvSpPr>
          <p:cNvPr id="12" name="Text 9"/>
          <p:cNvSpPr txBox="1"/>
          <p:nvPr/>
        </p:nvSpPr>
        <p:spPr>
          <a:xfrm>
            <a:off x="557784" y="2606040"/>
            <a:ext cx="1581912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1200" dirty="0">
                <a:solidFill>
                  <a:srgbClr val="2D2D2D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装整数的盒子</a:t>
            </a:r>
            <a:endParaRPr lang="en-US" sz="1200" dirty="0"/>
          </a:p>
        </p:txBody>
      </p:sp>
      <p:sp>
        <p:nvSpPr>
          <p:cNvPr id="13" name="Shape 10"/>
          <p:cNvSpPr/>
          <p:nvPr/>
        </p:nvSpPr>
        <p:spPr>
          <a:xfrm>
            <a:off x="2560320" y="2057400"/>
            <a:ext cx="1874520" cy="1069848"/>
          </a:xfrm>
          <a:prstGeom prst="roundRect">
            <a:avLst>
              <a:gd name="adj" fmla="val 10256"/>
            </a:avLst>
          </a:prstGeom>
          <a:solidFill>
            <a:srgbClr val="F5F5F5"/>
          </a:solidFill>
          <a:ln w="12700">
            <a:solidFill>
              <a:srgbClr val="F5F5F5"/>
            </a:solidFill>
            <a:prstDash val="solid"/>
          </a:ln>
        </p:spPr>
      </p:sp>
      <p:sp>
        <p:nvSpPr>
          <p:cNvPr id="14" name="Shape 11"/>
          <p:cNvSpPr/>
          <p:nvPr/>
        </p:nvSpPr>
        <p:spPr>
          <a:xfrm>
            <a:off x="2706624" y="2185416"/>
            <a:ext cx="772668" cy="347472"/>
          </a:xfrm>
          <a:prstGeom prst="roundRect">
            <a:avLst>
              <a:gd name="adj" fmla="val 50000"/>
            </a:avLst>
          </a:prstGeom>
          <a:solidFill>
            <a:srgbClr val="40E0D0"/>
          </a:solidFill>
          <a:ln w="12700">
            <a:solidFill>
              <a:srgbClr val="40E0D0"/>
            </a:solidFill>
            <a:prstDash val="solid"/>
          </a:ln>
        </p:spPr>
      </p:sp>
      <p:sp>
        <p:nvSpPr>
          <p:cNvPr id="15" name="Text 12"/>
          <p:cNvSpPr txBox="1"/>
          <p:nvPr/>
        </p:nvSpPr>
        <p:spPr>
          <a:xfrm>
            <a:off x="2706624" y="2185416"/>
            <a:ext cx="772668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15000"/>
              </a:lnSpc>
              <a:buNone/>
            </a:pPr>
            <a:r>
              <a:rPr lang="en-US" sz="1500" b="1" dirty="0">
                <a:solidFill>
                  <a:srgbClr val="2D2D2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count</a:t>
            </a:r>
            <a:endParaRPr lang="en-US" sz="1500" dirty="0"/>
          </a:p>
        </p:txBody>
      </p:sp>
      <p:sp>
        <p:nvSpPr>
          <p:cNvPr id="16" name="Text 13"/>
          <p:cNvSpPr txBox="1"/>
          <p:nvPr/>
        </p:nvSpPr>
        <p:spPr>
          <a:xfrm>
            <a:off x="3589020" y="2185416"/>
            <a:ext cx="699516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1400" b="1" dirty="0">
                <a:solidFill>
                  <a:srgbClr val="2D2D2D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名字</a:t>
            </a:r>
            <a:endParaRPr lang="en-US" sz="1400" dirty="0"/>
          </a:p>
        </p:txBody>
      </p:sp>
      <p:sp>
        <p:nvSpPr>
          <p:cNvPr id="17" name="Text 14"/>
          <p:cNvSpPr txBox="1"/>
          <p:nvPr/>
        </p:nvSpPr>
        <p:spPr>
          <a:xfrm>
            <a:off x="2706624" y="2606040"/>
            <a:ext cx="1581912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1200" dirty="0">
                <a:solidFill>
                  <a:srgbClr val="2D2D2D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贴在盒子上的标签</a:t>
            </a:r>
            <a:endParaRPr lang="en-US" sz="1200" dirty="0"/>
          </a:p>
        </p:txBody>
      </p:sp>
      <p:sp>
        <p:nvSpPr>
          <p:cNvPr id="18" name="Shape 15"/>
          <p:cNvSpPr/>
          <p:nvPr/>
        </p:nvSpPr>
        <p:spPr>
          <a:xfrm>
            <a:off x="4709160" y="2057400"/>
            <a:ext cx="1874520" cy="1069848"/>
          </a:xfrm>
          <a:prstGeom prst="roundRect">
            <a:avLst>
              <a:gd name="adj" fmla="val 10256"/>
            </a:avLst>
          </a:prstGeom>
          <a:solidFill>
            <a:srgbClr val="F5F5F5"/>
          </a:solidFill>
          <a:ln w="12700">
            <a:solidFill>
              <a:srgbClr val="F5F5F5"/>
            </a:solidFill>
            <a:prstDash val="solid"/>
          </a:ln>
        </p:spPr>
      </p:sp>
      <p:sp>
        <p:nvSpPr>
          <p:cNvPr id="19" name="Shape 16"/>
          <p:cNvSpPr/>
          <p:nvPr/>
        </p:nvSpPr>
        <p:spPr>
          <a:xfrm>
            <a:off x="4855464" y="2185416"/>
            <a:ext cx="544068" cy="347472"/>
          </a:xfrm>
          <a:prstGeom prst="roundRect">
            <a:avLst>
              <a:gd name="adj" fmla="val 50000"/>
            </a:avLst>
          </a:prstGeom>
          <a:solidFill>
            <a:srgbClr val="40E0D0"/>
          </a:solidFill>
          <a:ln w="12700">
            <a:solidFill>
              <a:srgbClr val="40E0D0"/>
            </a:solidFill>
            <a:prstDash val="solid"/>
          </a:ln>
        </p:spPr>
      </p:sp>
      <p:sp>
        <p:nvSpPr>
          <p:cNvPr id="20" name="Text 17"/>
          <p:cNvSpPr txBox="1"/>
          <p:nvPr/>
        </p:nvSpPr>
        <p:spPr>
          <a:xfrm>
            <a:off x="4855464" y="2185416"/>
            <a:ext cx="544068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15000"/>
              </a:lnSpc>
              <a:buNone/>
            </a:pPr>
            <a:r>
              <a:rPr lang="en-US" sz="1500" b="1" dirty="0">
                <a:solidFill>
                  <a:srgbClr val="2D2D2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= 0</a:t>
            </a:r>
            <a:endParaRPr lang="en-US" sz="1500" dirty="0"/>
          </a:p>
        </p:txBody>
      </p:sp>
      <p:sp>
        <p:nvSpPr>
          <p:cNvPr id="21" name="Text 18"/>
          <p:cNvSpPr txBox="1"/>
          <p:nvPr/>
        </p:nvSpPr>
        <p:spPr>
          <a:xfrm>
            <a:off x="5509260" y="2185416"/>
            <a:ext cx="928116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1400" b="1" dirty="0">
                <a:solidFill>
                  <a:srgbClr val="2D2D2D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放进去</a:t>
            </a:r>
            <a:endParaRPr lang="en-US" sz="1400" dirty="0"/>
          </a:p>
        </p:txBody>
      </p:sp>
      <p:sp>
        <p:nvSpPr>
          <p:cNvPr id="22" name="Text 19"/>
          <p:cNvSpPr txBox="1"/>
          <p:nvPr/>
        </p:nvSpPr>
        <p:spPr>
          <a:xfrm>
            <a:off x="4855464" y="2606040"/>
            <a:ext cx="1581912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1200" dirty="0">
                <a:solidFill>
                  <a:srgbClr val="2D2D2D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把 0 放进盒子，</a:t>
            </a:r>
            <a:endParaRPr lang="en-US" sz="1200" dirty="0"/>
          </a:p>
          <a:p>
            <a:pPr algn="l" indent="0" marL="0">
              <a:lnSpc>
                <a:spcPct val="115000"/>
              </a:lnSpc>
              <a:buNone/>
            </a:pPr>
            <a:r>
              <a:rPr lang="en-US" sz="1200" dirty="0">
                <a:solidFill>
                  <a:srgbClr val="2D2D2D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这叫“初始值”</a:t>
            </a:r>
            <a:endParaRPr lang="en-US" sz="1200" dirty="0"/>
          </a:p>
        </p:txBody>
      </p:sp>
      <p:sp>
        <p:nvSpPr>
          <p:cNvPr id="23" name="Shape 20"/>
          <p:cNvSpPr/>
          <p:nvPr/>
        </p:nvSpPr>
        <p:spPr>
          <a:xfrm>
            <a:off x="6858000" y="2057400"/>
            <a:ext cx="1874520" cy="1069848"/>
          </a:xfrm>
          <a:prstGeom prst="roundRect">
            <a:avLst>
              <a:gd name="adj" fmla="val 10256"/>
            </a:avLst>
          </a:prstGeom>
          <a:solidFill>
            <a:srgbClr val="F5F5F5"/>
          </a:solidFill>
          <a:ln w="12700">
            <a:solidFill>
              <a:srgbClr val="F5F5F5"/>
            </a:solidFill>
            <a:prstDash val="solid"/>
          </a:ln>
        </p:spPr>
      </p:sp>
      <p:sp>
        <p:nvSpPr>
          <p:cNvPr id="24" name="Shape 21"/>
          <p:cNvSpPr/>
          <p:nvPr/>
        </p:nvSpPr>
        <p:spPr>
          <a:xfrm>
            <a:off x="7004304" y="2185416"/>
            <a:ext cx="315468" cy="347472"/>
          </a:xfrm>
          <a:prstGeom prst="roundRect">
            <a:avLst>
              <a:gd name="adj" fmla="val 55072"/>
            </a:avLst>
          </a:prstGeom>
          <a:solidFill>
            <a:srgbClr val="40E0D0"/>
          </a:solidFill>
          <a:ln w="12700">
            <a:solidFill>
              <a:srgbClr val="40E0D0"/>
            </a:solidFill>
            <a:prstDash val="solid"/>
          </a:ln>
        </p:spPr>
      </p:sp>
      <p:sp>
        <p:nvSpPr>
          <p:cNvPr id="25" name="Text 22"/>
          <p:cNvSpPr txBox="1"/>
          <p:nvPr/>
        </p:nvSpPr>
        <p:spPr>
          <a:xfrm>
            <a:off x="7004304" y="2185416"/>
            <a:ext cx="315468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15000"/>
              </a:lnSpc>
              <a:buNone/>
            </a:pPr>
            <a:r>
              <a:rPr lang="en-US" sz="1500" b="1" dirty="0">
                <a:solidFill>
                  <a:srgbClr val="2D2D2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;</a:t>
            </a:r>
            <a:endParaRPr lang="en-US" sz="1500" dirty="0"/>
          </a:p>
        </p:txBody>
      </p:sp>
      <p:sp>
        <p:nvSpPr>
          <p:cNvPr id="26" name="Text 23"/>
          <p:cNvSpPr txBox="1"/>
          <p:nvPr/>
        </p:nvSpPr>
        <p:spPr>
          <a:xfrm>
            <a:off x="7429500" y="2185416"/>
            <a:ext cx="1156716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1400" b="1" dirty="0">
                <a:solidFill>
                  <a:srgbClr val="2D2D2D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结束</a:t>
            </a:r>
            <a:endParaRPr lang="en-US" sz="1400" dirty="0"/>
          </a:p>
        </p:txBody>
      </p:sp>
      <p:sp>
        <p:nvSpPr>
          <p:cNvPr id="27" name="Text 24"/>
          <p:cNvSpPr txBox="1"/>
          <p:nvPr/>
        </p:nvSpPr>
        <p:spPr>
          <a:xfrm>
            <a:off x="7004304" y="2606040"/>
            <a:ext cx="1581912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1200" dirty="0">
                <a:solidFill>
                  <a:srgbClr val="2D2D2D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这句话说完了</a:t>
            </a:r>
            <a:endParaRPr lang="en-US" sz="1200" dirty="0"/>
          </a:p>
        </p:txBody>
      </p:sp>
      <p:sp>
        <p:nvSpPr>
          <p:cNvPr id="28" name="Shape 25"/>
          <p:cNvSpPr/>
          <p:nvPr/>
        </p:nvSpPr>
        <p:spPr>
          <a:xfrm>
            <a:off x="411480" y="3401568"/>
            <a:ext cx="4846320" cy="1170432"/>
          </a:xfrm>
          <a:prstGeom prst="roundRect">
            <a:avLst>
              <a:gd name="adj" fmla="val 9375"/>
            </a:avLst>
          </a:prstGeom>
          <a:solidFill>
            <a:srgbClr val="F5F5F5"/>
          </a:solidFill>
          <a:ln w="12700">
            <a:solidFill>
              <a:srgbClr val="F5F5F5"/>
            </a:solidFill>
            <a:prstDash val="solid"/>
          </a:ln>
        </p:spPr>
      </p:sp>
      <p:sp>
        <p:nvSpPr>
          <p:cNvPr id="29" name="Text 26"/>
          <p:cNvSpPr txBox="1"/>
          <p:nvPr/>
        </p:nvSpPr>
        <p:spPr>
          <a:xfrm>
            <a:off x="594360" y="3493008"/>
            <a:ext cx="2743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1400" b="1" dirty="0">
                <a:solidFill>
                  <a:srgbClr val="2D2D2D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盒子里的东西可以换</a:t>
            </a:r>
            <a:endParaRPr lang="en-US" sz="1400" dirty="0"/>
          </a:p>
        </p:txBody>
      </p:sp>
      <p:sp>
        <p:nvSpPr>
          <p:cNvPr id="30" name="Shape 27"/>
          <p:cNvSpPr/>
          <p:nvPr/>
        </p:nvSpPr>
        <p:spPr>
          <a:xfrm>
            <a:off x="685800" y="3904488"/>
            <a:ext cx="868680" cy="548640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 w="12700">
            <a:solidFill>
              <a:srgbClr val="2D2D2D"/>
            </a:solidFill>
            <a:prstDash val="solid"/>
          </a:ln>
        </p:spPr>
      </p:sp>
      <p:sp>
        <p:nvSpPr>
          <p:cNvPr id="31" name="Text 28"/>
          <p:cNvSpPr txBox="1"/>
          <p:nvPr/>
        </p:nvSpPr>
        <p:spPr>
          <a:xfrm>
            <a:off x="685800" y="3904488"/>
            <a:ext cx="8686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15000"/>
              </a:lnSpc>
              <a:buNone/>
            </a:pPr>
            <a:r>
              <a:rPr lang="en-US" sz="2000" b="1" dirty="0">
                <a:solidFill>
                  <a:srgbClr val="2D2D2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</a:t>
            </a:r>
            <a:endParaRPr lang="en-US" sz="2000" dirty="0"/>
          </a:p>
        </p:txBody>
      </p:sp>
      <p:sp>
        <p:nvSpPr>
          <p:cNvPr id="32" name="Shape 29"/>
          <p:cNvSpPr/>
          <p:nvPr/>
        </p:nvSpPr>
        <p:spPr>
          <a:xfrm>
            <a:off x="777240" y="3794760"/>
            <a:ext cx="563118" cy="219456"/>
          </a:xfrm>
          <a:prstGeom prst="roundRect">
            <a:avLst>
              <a:gd name="adj" fmla="val 50000"/>
            </a:avLst>
          </a:prstGeom>
          <a:solidFill>
            <a:srgbClr val="40E0D0"/>
          </a:solidFill>
          <a:ln w="12700">
            <a:solidFill>
              <a:srgbClr val="40E0D0"/>
            </a:solidFill>
            <a:prstDash val="solid"/>
          </a:ln>
        </p:spPr>
      </p:sp>
      <p:sp>
        <p:nvSpPr>
          <p:cNvPr id="33" name="Text 30"/>
          <p:cNvSpPr txBox="1"/>
          <p:nvPr/>
        </p:nvSpPr>
        <p:spPr>
          <a:xfrm>
            <a:off x="777240" y="3794760"/>
            <a:ext cx="563118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15000"/>
              </a:lnSpc>
              <a:buNone/>
            </a:pPr>
            <a:r>
              <a:rPr lang="en-US" sz="950" b="1" dirty="0">
                <a:solidFill>
                  <a:srgbClr val="2D2D2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count</a:t>
            </a:r>
            <a:endParaRPr lang="en-US" sz="950" dirty="0"/>
          </a:p>
        </p:txBody>
      </p:sp>
      <p:sp>
        <p:nvSpPr>
          <p:cNvPr id="34" name="Shape 31"/>
          <p:cNvSpPr/>
          <p:nvPr/>
        </p:nvSpPr>
        <p:spPr>
          <a:xfrm>
            <a:off x="1783080" y="3831336"/>
            <a:ext cx="2103120" cy="292608"/>
          </a:xfrm>
          <a:prstGeom prst="roundRect">
            <a:avLst>
              <a:gd name="adj" fmla="val 25000"/>
            </a:avLst>
          </a:prstGeom>
          <a:solidFill>
            <a:srgbClr val="2D2D2D"/>
          </a:solidFill>
          <a:ln w="12700">
            <a:solidFill>
              <a:srgbClr val="2D2D2D"/>
            </a:solidFill>
            <a:prstDash val="solid"/>
          </a:ln>
        </p:spPr>
      </p:sp>
      <p:sp>
        <p:nvSpPr>
          <p:cNvPr id="35" name="Text 32"/>
          <p:cNvSpPr txBox="1"/>
          <p:nvPr/>
        </p:nvSpPr>
        <p:spPr>
          <a:xfrm>
            <a:off x="1892808" y="3831336"/>
            <a:ext cx="1883664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050" dirty="0">
                <a:solidFill>
                  <a:srgbClr val="D9D9D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count </a:t>
            </a:r>
            <a:pPr algn="l" indent="0" marL="0">
              <a:lnSpc>
                <a:spcPct val="100000"/>
              </a:lnSpc>
              <a:buNone/>
            </a:pPr>
            <a:r>
              <a:rPr lang="en-US" sz="1050" dirty="0">
                <a:solidFill>
                  <a:srgbClr val="BDBDB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= </a:t>
            </a:r>
            <a:pPr algn="l" indent="0" marL="0">
              <a:lnSpc>
                <a:spcPct val="100000"/>
              </a:lnSpc>
              <a:buNone/>
            </a:pPr>
            <a:r>
              <a:rPr lang="en-US" sz="1050" dirty="0">
                <a:solidFill>
                  <a:srgbClr val="D9D9D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count </a:t>
            </a:r>
            <a:pPr algn="l" indent="0" marL="0">
              <a:lnSpc>
                <a:spcPct val="100000"/>
              </a:lnSpc>
              <a:buNone/>
            </a:pPr>
            <a:r>
              <a:rPr lang="en-US" sz="1050" dirty="0">
                <a:solidFill>
                  <a:srgbClr val="BDBDB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+ </a:t>
            </a:r>
            <a:pPr algn="l" indent="0" marL="0">
              <a:lnSpc>
                <a:spcPct val="100000"/>
              </a:lnSpc>
              <a:buNone/>
            </a:pPr>
            <a:r>
              <a:rPr lang="en-US" sz="1050" dirty="0">
                <a:solidFill>
                  <a:srgbClr val="F7C87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1</a:t>
            </a:r>
            <a:pPr algn="l" indent="0" marL="0">
              <a:lnSpc>
                <a:spcPct val="100000"/>
              </a:lnSpc>
              <a:buNone/>
            </a:pPr>
            <a:r>
              <a:rPr lang="en-US" sz="1050" dirty="0">
                <a:solidFill>
                  <a:srgbClr val="BDBDB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;</a:t>
            </a:r>
            <a:endParaRPr lang="en-US" sz="1050" dirty="0"/>
          </a:p>
        </p:txBody>
      </p:sp>
      <p:sp>
        <p:nvSpPr>
          <p:cNvPr id="36" name="Shape 33"/>
          <p:cNvSpPr/>
          <p:nvPr/>
        </p:nvSpPr>
        <p:spPr>
          <a:xfrm>
            <a:off x="1783080" y="4215384"/>
            <a:ext cx="2103120" cy="91"/>
          </a:xfrm>
          <a:prstGeom prst="line">
            <a:avLst/>
          </a:prstGeom>
          <a:noFill/>
          <a:ln w="15875">
            <a:solidFill>
              <a:srgbClr val="2D2D2D"/>
            </a:solidFill>
            <a:prstDash val="solid"/>
            <a:tailEnd type="triangle"/>
          </a:ln>
        </p:spPr>
      </p:sp>
      <p:sp>
        <p:nvSpPr>
          <p:cNvPr id="37" name="Text 34"/>
          <p:cNvSpPr txBox="1"/>
          <p:nvPr/>
        </p:nvSpPr>
        <p:spPr>
          <a:xfrm>
            <a:off x="1783080" y="4251960"/>
            <a:ext cx="210312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15000"/>
              </a:lnSpc>
              <a:buNone/>
            </a:pPr>
            <a:r>
              <a:rPr lang="en-US" sz="1000" dirty="0">
                <a:solidFill>
                  <a:srgbClr val="6B6B6B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执行一次：0 变成 1</a:t>
            </a:r>
            <a:endParaRPr lang="en-US" sz="1000" dirty="0"/>
          </a:p>
        </p:txBody>
      </p:sp>
      <p:sp>
        <p:nvSpPr>
          <p:cNvPr id="38" name="Shape 35"/>
          <p:cNvSpPr/>
          <p:nvPr/>
        </p:nvSpPr>
        <p:spPr>
          <a:xfrm>
            <a:off x="4069080" y="3904488"/>
            <a:ext cx="868680" cy="548640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 w="12700">
            <a:solidFill>
              <a:srgbClr val="2D2D2D"/>
            </a:solidFill>
            <a:prstDash val="solid"/>
          </a:ln>
        </p:spPr>
      </p:sp>
      <p:sp>
        <p:nvSpPr>
          <p:cNvPr id="39" name="Text 36"/>
          <p:cNvSpPr txBox="1"/>
          <p:nvPr/>
        </p:nvSpPr>
        <p:spPr>
          <a:xfrm>
            <a:off x="4069080" y="3904488"/>
            <a:ext cx="8686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15000"/>
              </a:lnSpc>
              <a:buNone/>
            </a:pPr>
            <a:r>
              <a:rPr lang="en-US" sz="2000" b="1" dirty="0">
                <a:solidFill>
                  <a:srgbClr val="2D2D2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1</a:t>
            </a:r>
            <a:endParaRPr lang="en-US" sz="2000" dirty="0"/>
          </a:p>
        </p:txBody>
      </p:sp>
      <p:sp>
        <p:nvSpPr>
          <p:cNvPr id="40" name="Shape 37"/>
          <p:cNvSpPr/>
          <p:nvPr/>
        </p:nvSpPr>
        <p:spPr>
          <a:xfrm>
            <a:off x="4160520" y="3794760"/>
            <a:ext cx="563118" cy="219456"/>
          </a:xfrm>
          <a:prstGeom prst="roundRect">
            <a:avLst>
              <a:gd name="adj" fmla="val 50000"/>
            </a:avLst>
          </a:prstGeom>
          <a:solidFill>
            <a:srgbClr val="40E0D0"/>
          </a:solidFill>
          <a:ln w="12700">
            <a:solidFill>
              <a:srgbClr val="40E0D0"/>
            </a:solidFill>
            <a:prstDash val="solid"/>
          </a:ln>
        </p:spPr>
      </p:sp>
      <p:sp>
        <p:nvSpPr>
          <p:cNvPr id="41" name="Text 38"/>
          <p:cNvSpPr txBox="1"/>
          <p:nvPr/>
        </p:nvSpPr>
        <p:spPr>
          <a:xfrm>
            <a:off x="4160520" y="3794760"/>
            <a:ext cx="563118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15000"/>
              </a:lnSpc>
              <a:buNone/>
            </a:pPr>
            <a:r>
              <a:rPr lang="en-US" sz="950" b="1" dirty="0">
                <a:solidFill>
                  <a:srgbClr val="2D2D2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count</a:t>
            </a:r>
            <a:endParaRPr lang="en-US" sz="950" dirty="0"/>
          </a:p>
        </p:txBody>
      </p:sp>
      <p:sp>
        <p:nvSpPr>
          <p:cNvPr id="42" name="Shape 39"/>
          <p:cNvSpPr/>
          <p:nvPr/>
        </p:nvSpPr>
        <p:spPr>
          <a:xfrm>
            <a:off x="5532120" y="3401568"/>
            <a:ext cx="3200400" cy="1170432"/>
          </a:xfrm>
          <a:prstGeom prst="roundRect">
            <a:avLst>
              <a:gd name="adj" fmla="val 9375"/>
            </a:avLst>
          </a:prstGeom>
          <a:solidFill>
            <a:srgbClr val="FFFFFF"/>
          </a:solidFill>
          <a:ln w="12700">
            <a:solidFill>
              <a:srgbClr val="E5484D"/>
            </a:solidFill>
            <a:prstDash val="solid"/>
          </a:ln>
        </p:spPr>
      </p:sp>
      <p:sp>
        <p:nvSpPr>
          <p:cNvPr id="43" name="Shape 40"/>
          <p:cNvSpPr/>
          <p:nvPr/>
        </p:nvSpPr>
        <p:spPr>
          <a:xfrm>
            <a:off x="5678424" y="3547872"/>
            <a:ext cx="329184" cy="329184"/>
          </a:xfrm>
          <a:prstGeom prst="ellipse">
            <a:avLst/>
          </a:prstGeom>
          <a:solidFill>
            <a:srgbClr val="E5484D"/>
          </a:solidFill>
          <a:ln w="12700">
            <a:solidFill>
              <a:srgbClr val="E5484D"/>
            </a:solidFill>
            <a:prstDash val="solid"/>
          </a:ln>
        </p:spPr>
      </p:sp>
      <p:pic>
        <p:nvPicPr>
          <p:cNvPr id="44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757428" y="3626876"/>
            <a:ext cx="171176" cy="171176"/>
          </a:xfrm>
          <a:prstGeom prst="rect">
            <a:avLst/>
          </a:prstGeom>
        </p:spPr>
      </p:pic>
      <p:sp>
        <p:nvSpPr>
          <p:cNvPr id="45" name="Text 41"/>
          <p:cNvSpPr txBox="1"/>
          <p:nvPr/>
        </p:nvSpPr>
        <p:spPr>
          <a:xfrm>
            <a:off x="6135624" y="3538728"/>
            <a:ext cx="245059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1300" b="1" dirty="0">
                <a:solidFill>
                  <a:srgbClr val="E5484D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先声明，再使用</a:t>
            </a:r>
            <a:endParaRPr lang="en-US" sz="1300" dirty="0"/>
          </a:p>
        </p:txBody>
      </p:sp>
      <p:sp>
        <p:nvSpPr>
          <p:cNvPr id="46" name="Text 42"/>
          <p:cNvSpPr txBox="1"/>
          <p:nvPr/>
        </p:nvSpPr>
        <p:spPr>
          <a:xfrm>
            <a:off x="6135624" y="3849624"/>
            <a:ext cx="2450592" cy="5760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1200" dirty="0">
                <a:solidFill>
                  <a:srgbClr val="2D2D2D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没写 int count; 就直接用 count，编译时会报错。</a:t>
            </a:r>
            <a:endParaRPr lang="en-US" sz="12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339328" y="4736592"/>
            <a:ext cx="393192" cy="219456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 lIns="0" tIns="0" rIns="0" bIns="0" anchor="ctr"/>
          <a:lstStyle>
            <a:lvl1pPr>
              <a:defRPr sz="800">
                <a:solidFill>
                  <a:srgbClr val="6B6B6B"/>
                </a:solidFill>
                <a:latin typeface="微软雅黑"/>
                <a:ea typeface="微软雅黑"/>
                <a:cs typeface="微软雅黑"/>
              </a:defRPr>
            </a:lvl1pPr>
          </a:lstStyle>
          <a:p>
            <a:pPr algn="r"/>
            <a:fld id="{F7021451-1387-4CA6-816F-3879F97B5CBC}" type="slidenum">
              <a:rPr b="0" lang="en-US"/>
              <a:t>8</a:t>
            </a:fld>
            <a:endParaRPr lang="en-US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1"/>
          <p:cNvSpPr/>
          <p:nvPr>
            <p:ph idx="102" type="body" hasCustomPrompt="1"/>
          </p:nvPr>
        </p:nvSpPr>
        <p:spPr>
          <a:xfrm>
            <a:off x="4572000" y="4736592"/>
            <a:ext cx="370332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2D2D2D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变量与数据</a:t>
            </a:r>
            <a:endParaRPr lang="en-US" sz="800" dirty="0"/>
          </a:p>
        </p:txBody>
      </p:sp>
      <p:sp>
        <p:nvSpPr>
          <p:cNvPr id="3" name="Text 1"/>
          <p:cNvSpPr/>
          <p:nvPr>
            <p:ph idx="103" type="title" hasCustomPrompt="1"/>
          </p:nvPr>
        </p:nvSpPr>
        <p:spPr>
          <a:xfrm>
            <a:off x="411480" y="274320"/>
            <a:ext cx="83210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400" dirty="0">
                <a:solidFill>
                  <a:srgbClr val="2D2D2D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数据类型：盒子能装什么</a:t>
            </a:r>
            <a:endParaRPr lang="en-US" sz="2400" dirty="0"/>
          </a:p>
        </p:txBody>
      </p:sp>
      <p:sp>
        <p:nvSpPr>
          <p:cNvPr id="4" name="Text 1"/>
          <p:cNvSpPr/>
          <p:nvPr>
            <p:ph idx="104" type="body" hasCustomPrompt="1"/>
          </p:nvPr>
        </p:nvSpPr>
        <p:spPr>
          <a:xfrm>
            <a:off x="411480" y="786384"/>
            <a:ext cx="83210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6B6B6B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盒子的类型决定能放什么：整数用 int，小数用 float，文字用 String。</a:t>
            </a:r>
            <a:endParaRPr lang="en-US" sz="1200" dirty="0"/>
          </a:p>
        </p:txBody>
      </p:sp>
      <p:graphicFrame>
        <p:nvGraphicFramePr>
          <p:cNvPr id="10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11480" y="1234440"/>
          <a:ext cx="8321040" cy="914400"/>
        </p:xfrm>
        <a:graphic>
          <a:graphicData uri="http://schemas.openxmlformats.org/drawingml/2006/table">
            <a:tbl>
              <a:tblPr/>
              <a:tblGrid>
                <a:gridCol w="822960"/>
                <a:gridCol w="1463040"/>
                <a:gridCol w="1737360"/>
                <a:gridCol w="2103120"/>
                <a:gridCol w="2194560"/>
              </a:tblGrid>
              <a:tr h="32004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类型</a:t>
                      </a:r>
                      <a:endParaRPr lang="en-US" sz="1100" dirty="0">
                        <a:latin typeface="微软雅黑" charset="0"/>
                        <a:ea typeface="微软雅黑" charset="0"/>
                        <a:cs typeface="微软雅黑" charset="0"/>
                      </a:endParaRPr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E2E2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2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2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2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D2D2D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存什么</a:t>
                      </a:r>
                      <a:endParaRPr lang="en-US" sz="1100" dirty="0">
                        <a:latin typeface="微软雅黑" charset="0"/>
                        <a:ea typeface="微软雅黑" charset="0"/>
                        <a:cs typeface="微软雅黑" charset="0"/>
                      </a:endParaRPr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E2E2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2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2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2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D2D2D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范围 / 说明</a:t>
                      </a:r>
                      <a:endParaRPr lang="en-US" sz="1100" dirty="0">
                        <a:latin typeface="微软雅黑" charset="0"/>
                        <a:ea typeface="微软雅黑" charset="0"/>
                        <a:cs typeface="微软雅黑" charset="0"/>
                      </a:endParaRPr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E2E2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2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2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2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D2D2D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写法示例</a:t>
                      </a:r>
                      <a:endParaRPr lang="en-US" sz="1100" dirty="0">
                        <a:latin typeface="微软雅黑" charset="0"/>
                        <a:ea typeface="微软雅黑" charset="0"/>
                        <a:cs typeface="微软雅黑" charset="0"/>
                      </a:endParaRPr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E2E2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2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2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2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D2D2D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生活里的例子</a:t>
                      </a:r>
                      <a:endParaRPr lang="en-US" sz="1100" dirty="0">
                        <a:latin typeface="微软雅黑" charset="0"/>
                        <a:ea typeface="微软雅黑" charset="0"/>
                        <a:cs typeface="微软雅黑" charset="0"/>
                      </a:endParaRPr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E2E2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2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2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2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D2D2D"/>
                    </a:solidFill>
                  </a:tcPr>
                </a:tc>
              </a:tr>
              <a:tr h="32004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b="1" dirty="0">
                          <a:solidFill>
                            <a:srgbClr val="2D2D2D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int</a:t>
                      </a:r>
                      <a:endParaRPr lang="en-US" sz="120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E2E2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2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2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2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2D2D2D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整数</a:t>
                      </a:r>
                      <a:endParaRPr lang="en-US" sz="1200" dirty="0">
                        <a:latin typeface="微软雅黑" charset="0"/>
                        <a:ea typeface="微软雅黑" charset="0"/>
                        <a:cs typeface="微软雅黑" charset="0"/>
                      </a:endParaRPr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E2E2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2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2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2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2D2D2D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-32768 ～ 32767</a:t>
                      </a:r>
                      <a:endParaRPr lang="en-US" sz="1200" dirty="0">
                        <a:latin typeface="微软雅黑" charset="0"/>
                        <a:ea typeface="微软雅黑" charset="0"/>
                        <a:cs typeface="微软雅黑" charset="0"/>
                      </a:endParaRPr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E2E2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2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2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2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2D2D2D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int value = 0;</a:t>
                      </a:r>
                      <a:endParaRPr lang="en-US" sz="120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E2E2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2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2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2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2D2D2D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人数、楼层、传感器读数</a:t>
                      </a:r>
                      <a:endParaRPr lang="en-US" sz="1200" dirty="0">
                        <a:latin typeface="微软雅黑" charset="0"/>
                        <a:ea typeface="微软雅黑" charset="0"/>
                        <a:cs typeface="微软雅黑" charset="0"/>
                      </a:endParaRPr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E2E2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2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2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2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2004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b="1" dirty="0">
                          <a:solidFill>
                            <a:srgbClr val="2D2D2D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long</a:t>
                      </a:r>
                      <a:endParaRPr lang="en-US" sz="120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E2E2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2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2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2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2D2D2D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大整数</a:t>
                      </a:r>
                      <a:endParaRPr lang="en-US" sz="1200" dirty="0">
                        <a:latin typeface="微软雅黑" charset="0"/>
                        <a:ea typeface="微软雅黑" charset="0"/>
                        <a:cs typeface="微软雅黑" charset="0"/>
                      </a:endParaRPr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E2E2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2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2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2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2D2D2D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约 ±21 亿</a:t>
                      </a:r>
                      <a:endParaRPr lang="en-US" sz="1200" dirty="0">
                        <a:latin typeface="微软雅黑" charset="0"/>
                        <a:ea typeface="微软雅黑" charset="0"/>
                        <a:cs typeface="微软雅黑" charset="0"/>
                      </a:endParaRPr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E2E2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2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2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2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2D2D2D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long t = 100000;</a:t>
                      </a:r>
                      <a:endParaRPr lang="en-US" sz="120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E2E2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2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2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2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2D2D2D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很大的计数，比如毫秒数</a:t>
                      </a:r>
                      <a:endParaRPr lang="en-US" sz="1200" dirty="0">
                        <a:latin typeface="微软雅黑" charset="0"/>
                        <a:ea typeface="微软雅黑" charset="0"/>
                        <a:cs typeface="微软雅黑" charset="0"/>
                      </a:endParaRPr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E2E2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2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2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2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5F5"/>
                    </a:solidFill>
                  </a:tcPr>
                </a:tc>
              </a:tr>
              <a:tr h="32004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b="1" dirty="0">
                          <a:solidFill>
                            <a:srgbClr val="2D2D2D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float</a:t>
                      </a:r>
                      <a:endParaRPr lang="en-US" sz="120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E2E2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2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2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2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2D2D2D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小数</a:t>
                      </a:r>
                      <a:endParaRPr lang="en-US" sz="1200" dirty="0">
                        <a:latin typeface="微软雅黑" charset="0"/>
                        <a:ea typeface="微软雅黑" charset="0"/>
                        <a:cs typeface="微软雅黑" charset="0"/>
                      </a:endParaRPr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E2E2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2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2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2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2D2D2D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约 6～7 位有效数字</a:t>
                      </a:r>
                      <a:endParaRPr lang="en-US" sz="1200" dirty="0">
                        <a:latin typeface="微软雅黑" charset="0"/>
                        <a:ea typeface="微软雅黑" charset="0"/>
                        <a:cs typeface="微软雅黑" charset="0"/>
                      </a:endParaRPr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E2E2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2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2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2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2D2D2D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float voltage = 0.0;</a:t>
                      </a:r>
                      <a:endParaRPr lang="en-US" sz="120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E2E2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2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2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2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2D2D2D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体温 36.5、电压 3.3</a:t>
                      </a:r>
                      <a:endParaRPr lang="en-US" sz="1200" dirty="0">
                        <a:latin typeface="微软雅黑" charset="0"/>
                        <a:ea typeface="微软雅黑" charset="0"/>
                        <a:cs typeface="微软雅黑" charset="0"/>
                      </a:endParaRPr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E2E2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2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2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2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2004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b="1" dirty="0">
                          <a:solidFill>
                            <a:srgbClr val="2D2D2D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char</a:t>
                      </a:r>
                      <a:endParaRPr lang="en-US" sz="120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E2E2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2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2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2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2D2D2D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一个字符</a:t>
                      </a:r>
                      <a:endParaRPr lang="en-US" sz="1200" dirty="0">
                        <a:latin typeface="微软雅黑" charset="0"/>
                        <a:ea typeface="微软雅黑" charset="0"/>
                        <a:cs typeface="微软雅黑" charset="0"/>
                      </a:endParaRPr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E2E2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2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2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2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2D2D2D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'A'、'9'</a:t>
                      </a:r>
                      <a:endParaRPr lang="en-US" sz="1200" dirty="0">
                        <a:latin typeface="微软雅黑" charset="0"/>
                        <a:ea typeface="微软雅黑" charset="0"/>
                        <a:cs typeface="微软雅黑" charset="0"/>
                      </a:endParaRPr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E2E2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2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2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2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2D2D2D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char inByte = 0;</a:t>
                      </a:r>
                      <a:endParaRPr lang="en-US" sz="120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E2E2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2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2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2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2D2D2D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键盘上的一个键，比如 Y</a:t>
                      </a:r>
                      <a:endParaRPr lang="en-US" sz="1200" dirty="0">
                        <a:latin typeface="微软雅黑" charset="0"/>
                        <a:ea typeface="微软雅黑" charset="0"/>
                        <a:cs typeface="微软雅黑" charset="0"/>
                      </a:endParaRPr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E2E2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2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2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2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5F5"/>
                    </a:solidFill>
                  </a:tcPr>
                </a:tc>
              </a:tr>
              <a:tr h="32004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b="1" dirty="0">
                          <a:solidFill>
                            <a:srgbClr val="2D2D2D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String</a:t>
                      </a:r>
                      <a:endParaRPr lang="en-US" sz="120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E2E2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2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2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2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2D2D2D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一串文字</a:t>
                      </a:r>
                      <a:endParaRPr lang="en-US" sz="1200" dirty="0">
                        <a:latin typeface="微软雅黑" charset="0"/>
                        <a:ea typeface="微软雅黑" charset="0"/>
                        <a:cs typeface="微软雅黑" charset="0"/>
                      </a:endParaRPr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E2E2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2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2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2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2D2D2D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可以拼接、比较</a:t>
                      </a:r>
                      <a:endParaRPr lang="en-US" sz="1200" dirty="0">
                        <a:latin typeface="微软雅黑" charset="0"/>
                        <a:ea typeface="微软雅黑" charset="0"/>
                        <a:cs typeface="微软雅黑" charset="0"/>
                      </a:endParaRPr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E2E2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2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2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2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2D2D2D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String temp = "";</a:t>
                      </a:r>
                      <a:endParaRPr lang="en-US" sz="120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E2E2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2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2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2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2D2D2D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一句话、一个名字</a:t>
                      </a:r>
                      <a:endParaRPr lang="en-US" sz="1200" dirty="0">
                        <a:latin typeface="微软雅黑" charset="0"/>
                        <a:ea typeface="微软雅黑" charset="0"/>
                        <a:cs typeface="微软雅黑" charset="0"/>
                      </a:endParaRPr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E2E2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2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2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2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2004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b="1" dirty="0">
                          <a:solidFill>
                            <a:srgbClr val="2D2D2D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bool</a:t>
                      </a:r>
                      <a:endParaRPr lang="en-US" sz="120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E2E2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2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2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2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2D2D2D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真 / 假</a:t>
                      </a:r>
                      <a:endParaRPr lang="en-US" sz="1200" dirty="0">
                        <a:latin typeface="微软雅黑" charset="0"/>
                        <a:ea typeface="微软雅黑" charset="0"/>
                        <a:cs typeface="微软雅黑" charset="0"/>
                      </a:endParaRPr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E2E2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2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2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2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2D2D2D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true、false</a:t>
                      </a:r>
                      <a:endParaRPr lang="en-US" sz="1200" dirty="0">
                        <a:latin typeface="微软雅黑" charset="0"/>
                        <a:ea typeface="微软雅黑" charset="0"/>
                        <a:cs typeface="微软雅黑" charset="0"/>
                      </a:endParaRPr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E2E2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2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2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2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2D2D2D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bool on = true;</a:t>
                      </a:r>
                      <a:endParaRPr lang="en-US" sz="120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E2E2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2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2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2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2D2D2D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灯开着吗？是 / 否</a:t>
                      </a:r>
                      <a:endParaRPr lang="en-US" sz="1200" dirty="0">
                        <a:latin typeface="微软雅黑" charset="0"/>
                        <a:ea typeface="微软雅黑" charset="0"/>
                        <a:cs typeface="微软雅黑" charset="0"/>
                      </a:endParaRPr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E2E2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2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2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2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5F5"/>
                    </a:solidFill>
                  </a:tcPr>
                </a:tc>
              </a:tr>
              <a:tr h="32004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b="1" dirty="0">
                          <a:solidFill>
                            <a:srgbClr val="2D2D2D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byte</a:t>
                      </a:r>
                      <a:endParaRPr lang="en-US" sz="120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E2E2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2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2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2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2D2D2D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0～255 的整数</a:t>
                      </a:r>
                      <a:endParaRPr lang="en-US" sz="1200" dirty="0">
                        <a:latin typeface="微软雅黑" charset="0"/>
                        <a:ea typeface="微软雅黑" charset="0"/>
                        <a:cs typeface="微软雅黑" charset="0"/>
                      </a:endParaRPr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E2E2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2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2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2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2D2D2D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占 1 个字节</a:t>
                      </a:r>
                      <a:endParaRPr lang="en-US" sz="1200" dirty="0">
                        <a:latin typeface="微软雅黑" charset="0"/>
                        <a:ea typeface="微软雅黑" charset="0"/>
                        <a:cs typeface="微软雅黑" charset="0"/>
                      </a:endParaRPr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E2E2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2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2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2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2D2D2D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byte count = 0;</a:t>
                      </a:r>
                      <a:endParaRPr lang="en-US" sz="120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E2E2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2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2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2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2D2D2D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亮度值、小计数</a:t>
                      </a:r>
                      <a:endParaRPr lang="en-US" sz="1200" dirty="0">
                        <a:latin typeface="微软雅黑" charset="0"/>
                        <a:ea typeface="微软雅黑" charset="0"/>
                        <a:cs typeface="微软雅黑" charset="0"/>
                      </a:endParaRPr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E2E2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2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2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2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7" name="Shape 3"/>
          <p:cNvSpPr/>
          <p:nvPr/>
        </p:nvSpPr>
        <p:spPr>
          <a:xfrm>
            <a:off x="411480" y="4069080"/>
            <a:ext cx="8321040" cy="502920"/>
          </a:xfrm>
          <a:prstGeom prst="roundRect">
            <a:avLst>
              <a:gd name="adj" fmla="val 21818"/>
            </a:avLst>
          </a:prstGeom>
          <a:solidFill>
            <a:srgbClr val="E3FAF7"/>
          </a:solidFill>
          <a:ln w="12700">
            <a:solidFill>
              <a:srgbClr val="E3FAF7"/>
            </a:solidFill>
            <a:prstDash val="solid"/>
          </a:ln>
        </p:spPr>
      </p:sp>
      <p:sp>
        <p:nvSpPr>
          <p:cNvPr id="8" name="Shape 4"/>
          <p:cNvSpPr/>
          <p:nvPr/>
        </p:nvSpPr>
        <p:spPr>
          <a:xfrm>
            <a:off x="539496" y="4165092"/>
            <a:ext cx="310896" cy="310896"/>
          </a:xfrm>
          <a:prstGeom prst="ellipse">
            <a:avLst/>
          </a:prstGeom>
          <a:solidFill>
            <a:srgbClr val="40E0D0"/>
          </a:solidFill>
          <a:ln w="12700">
            <a:solidFill>
              <a:srgbClr val="40E0D0"/>
            </a:solidFill>
            <a:prstDash val="solid"/>
          </a:ln>
        </p:spPr>
      </p:sp>
      <p:pic>
        <p:nvPicPr>
          <p:cNvPr id="9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14111" y="4239707"/>
            <a:ext cx="161666" cy="161666"/>
          </a:xfrm>
          <a:prstGeom prst="rect">
            <a:avLst/>
          </a:prstGeom>
        </p:spPr>
      </p:pic>
      <p:sp>
        <p:nvSpPr>
          <p:cNvPr id="10" name="Text 5"/>
          <p:cNvSpPr txBox="1"/>
          <p:nvPr/>
        </p:nvSpPr>
        <p:spPr>
          <a:xfrm>
            <a:off x="978408" y="4069080"/>
            <a:ext cx="7626096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1300" b="1" dirty="0">
                <a:solidFill>
                  <a:srgbClr val="2D2D2D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选盒子口诀：</a:t>
            </a:r>
            <a:pPr algn="l" indent="0" marL="0">
              <a:lnSpc>
                <a:spcPct val="115000"/>
              </a:lnSpc>
              <a:buNone/>
            </a:pPr>
            <a:r>
              <a:rPr lang="en-US" sz="1300" dirty="0">
                <a:solidFill>
                  <a:srgbClr val="2D2D2D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整数用 int，小数用 float，文字用 String，真假用 bool；数太大就换 long。</a:t>
            </a:r>
            <a:endParaRPr lang="en-US" sz="13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339328" y="4736592"/>
            <a:ext cx="393192" cy="219456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 lIns="0" tIns="0" rIns="0" bIns="0" anchor="ctr"/>
          <a:lstStyle>
            <a:lvl1pPr>
              <a:defRPr sz="800">
                <a:solidFill>
                  <a:srgbClr val="6B6B6B"/>
                </a:solidFill>
                <a:latin typeface="微软雅黑"/>
                <a:ea typeface="微软雅黑"/>
                <a:cs typeface="微软雅黑"/>
              </a:defRPr>
            </a:lvl1pPr>
          </a:lstStyle>
          <a:p>
            <a:pPr algn="r"/>
            <a:fld id="{F7021451-1387-4CA6-816F-3879F97B5CBC}" type="slidenum">
              <a:rPr b="0" lang="en-US"/>
              <a:t>9</a:t>
            </a:fld>
            <a:endParaRPr lang="en-US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1"/>
          <p:cNvSpPr/>
          <p:nvPr>
            <p:ph idx="102" type="body" hasCustomPrompt="1"/>
          </p:nvPr>
        </p:nvSpPr>
        <p:spPr>
          <a:xfrm>
            <a:off x="4572000" y="4736592"/>
            <a:ext cx="370332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2D2D2D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变量与数据</a:t>
            </a:r>
            <a:endParaRPr lang="en-US" sz="800" dirty="0"/>
          </a:p>
        </p:txBody>
      </p:sp>
      <p:sp>
        <p:nvSpPr>
          <p:cNvPr id="3" name="Text 1"/>
          <p:cNvSpPr/>
          <p:nvPr>
            <p:ph idx="103" type="title" hasCustomPrompt="1"/>
          </p:nvPr>
        </p:nvSpPr>
        <p:spPr>
          <a:xfrm>
            <a:off x="411480" y="274320"/>
            <a:ext cx="83210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400" dirty="0">
                <a:solidFill>
                  <a:srgbClr val="2D2D2D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常量与数组</a:t>
            </a:r>
            <a:endParaRPr lang="en-US" sz="2400" dirty="0"/>
          </a:p>
        </p:txBody>
      </p:sp>
      <p:sp>
        <p:nvSpPr>
          <p:cNvPr id="4" name="Text 1"/>
          <p:cNvSpPr/>
          <p:nvPr>
            <p:ph idx="104" type="body" hasCustomPrompt="1"/>
          </p:nvPr>
        </p:nvSpPr>
        <p:spPr>
          <a:xfrm>
            <a:off x="411480" y="786384"/>
            <a:ext cx="83210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6B6B6B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常量：起了名字、不会再变的数；数组：一个名字管一排编了号的盒子。</a:t>
            </a:r>
            <a:endParaRPr lang="en-US" sz="1200" dirty="0"/>
          </a:p>
        </p:txBody>
      </p:sp>
      <p:sp>
        <p:nvSpPr>
          <p:cNvPr id="6" name="Shape 3"/>
          <p:cNvSpPr/>
          <p:nvPr/>
        </p:nvSpPr>
        <p:spPr>
          <a:xfrm>
            <a:off x="411480" y="1234440"/>
            <a:ext cx="4023360" cy="3337560"/>
          </a:xfrm>
          <a:prstGeom prst="roundRect">
            <a:avLst>
              <a:gd name="adj" fmla="val 3288"/>
            </a:avLst>
          </a:prstGeom>
          <a:solidFill>
            <a:srgbClr val="F5F5F5"/>
          </a:solidFill>
          <a:ln w="12700">
            <a:solidFill>
              <a:srgbClr val="F5F5F5"/>
            </a:solidFill>
            <a:prstDash val="solid"/>
          </a:ln>
        </p:spPr>
      </p:sp>
      <p:sp>
        <p:nvSpPr>
          <p:cNvPr id="7" name="Shape 4"/>
          <p:cNvSpPr/>
          <p:nvPr/>
        </p:nvSpPr>
        <p:spPr>
          <a:xfrm>
            <a:off x="594360" y="1399032"/>
            <a:ext cx="384048" cy="384048"/>
          </a:xfrm>
          <a:prstGeom prst="ellipse">
            <a:avLst/>
          </a:prstGeom>
          <a:solidFill>
            <a:srgbClr val="40E0D0"/>
          </a:solidFill>
          <a:ln w="12700">
            <a:solidFill>
              <a:srgbClr val="40E0D0"/>
            </a:solidFill>
            <a:prstDash val="solid"/>
          </a:ln>
        </p:spPr>
      </p:sp>
      <p:pic>
        <p:nvPicPr>
          <p:cNvPr id="8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86532" y="1491204"/>
            <a:ext cx="199705" cy="199705"/>
          </a:xfrm>
          <a:prstGeom prst="rect">
            <a:avLst/>
          </a:prstGeom>
        </p:spPr>
      </p:pic>
      <p:sp>
        <p:nvSpPr>
          <p:cNvPr id="9" name="Text 5"/>
          <p:cNvSpPr txBox="1"/>
          <p:nvPr/>
        </p:nvSpPr>
        <p:spPr>
          <a:xfrm>
            <a:off x="1106424" y="1380744"/>
            <a:ext cx="3145536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1500" b="1" dirty="0">
                <a:solidFill>
                  <a:srgbClr val="2D2D2D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常量：不会变的数</a:t>
            </a:r>
            <a:endParaRPr lang="en-US" sz="1500" dirty="0"/>
          </a:p>
        </p:txBody>
      </p:sp>
      <p:sp>
        <p:nvSpPr>
          <p:cNvPr id="10" name="Text 6"/>
          <p:cNvSpPr txBox="1"/>
          <p:nvPr/>
        </p:nvSpPr>
        <p:spPr>
          <a:xfrm>
            <a:off x="594360" y="1892808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1200" dirty="0">
                <a:solidFill>
                  <a:srgbClr val="6B6B6B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像门牌号：起好名字、定下来，运行时不再改。</a:t>
            </a:r>
            <a:endParaRPr lang="en-US" sz="1200" dirty="0"/>
          </a:p>
        </p:txBody>
      </p:sp>
      <p:sp>
        <p:nvSpPr>
          <p:cNvPr id="11" name="Shape 7"/>
          <p:cNvSpPr/>
          <p:nvPr/>
        </p:nvSpPr>
        <p:spPr>
          <a:xfrm>
            <a:off x="594360" y="2258568"/>
            <a:ext cx="3657600" cy="310896"/>
          </a:xfrm>
          <a:prstGeom prst="roundRect">
            <a:avLst>
              <a:gd name="adj" fmla="val 23529"/>
            </a:avLst>
          </a:prstGeom>
          <a:solidFill>
            <a:srgbClr val="2D2D2D"/>
          </a:solidFill>
          <a:ln w="12700">
            <a:solidFill>
              <a:srgbClr val="2D2D2D"/>
            </a:solidFill>
            <a:prstDash val="solid"/>
          </a:ln>
        </p:spPr>
      </p:sp>
      <p:sp>
        <p:nvSpPr>
          <p:cNvPr id="12" name="Text 8"/>
          <p:cNvSpPr txBox="1"/>
          <p:nvPr/>
        </p:nvSpPr>
        <p:spPr>
          <a:xfrm>
            <a:off x="704088" y="2258568"/>
            <a:ext cx="3438144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050" b="1" dirty="0">
                <a:solidFill>
                  <a:srgbClr val="40E0D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const int </a:t>
            </a:r>
            <a:pPr algn="l" indent="0" marL="0">
              <a:lnSpc>
                <a:spcPct val="100000"/>
              </a:lnSpc>
              <a:buNone/>
            </a:pPr>
            <a:r>
              <a:rPr lang="en-US" sz="1050" dirty="0">
                <a:solidFill>
                  <a:srgbClr val="D9D9D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TrigPin </a:t>
            </a:r>
            <a:pPr algn="l" indent="0" marL="0">
              <a:lnSpc>
                <a:spcPct val="100000"/>
              </a:lnSpc>
              <a:buNone/>
            </a:pPr>
            <a:r>
              <a:rPr lang="en-US" sz="1050" dirty="0">
                <a:solidFill>
                  <a:srgbClr val="BDBDB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= </a:t>
            </a:r>
            <a:pPr algn="l" indent="0" marL="0">
              <a:lnSpc>
                <a:spcPct val="100000"/>
              </a:lnSpc>
              <a:buNone/>
            </a:pPr>
            <a:r>
              <a:rPr lang="en-US" sz="1050" dirty="0">
                <a:solidFill>
                  <a:srgbClr val="F7C87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2</a:t>
            </a:r>
            <a:pPr algn="l" indent="0" marL="0">
              <a:lnSpc>
                <a:spcPct val="100000"/>
              </a:lnSpc>
              <a:buNone/>
            </a:pPr>
            <a:r>
              <a:rPr lang="en-US" sz="1050" dirty="0">
                <a:solidFill>
                  <a:srgbClr val="BDBDB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;</a:t>
            </a:r>
            <a:endParaRPr lang="en-US" sz="1050" dirty="0"/>
          </a:p>
        </p:txBody>
      </p:sp>
      <p:sp>
        <p:nvSpPr>
          <p:cNvPr id="13" name="Text 9"/>
          <p:cNvSpPr txBox="1"/>
          <p:nvPr/>
        </p:nvSpPr>
        <p:spPr>
          <a:xfrm>
            <a:off x="594360" y="2624328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1200" b="1" dirty="0">
                <a:solidFill>
                  <a:srgbClr val="2D2D2D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const</a:t>
            </a:r>
            <a:pPr algn="l" indent="0" marL="0">
              <a:lnSpc>
                <a:spcPct val="115000"/>
              </a:lnSpc>
              <a:buNone/>
            </a:pPr>
            <a:r>
              <a:rPr lang="en-US" sz="1200" dirty="0">
                <a:solidFill>
                  <a:srgbClr val="2D2D2D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：有类型的常量，程序运行时不能再改</a:t>
            </a:r>
            <a:endParaRPr lang="en-US" sz="1200" dirty="0"/>
          </a:p>
        </p:txBody>
      </p:sp>
      <p:sp>
        <p:nvSpPr>
          <p:cNvPr id="14" name="Shape 10"/>
          <p:cNvSpPr/>
          <p:nvPr/>
        </p:nvSpPr>
        <p:spPr>
          <a:xfrm>
            <a:off x="594360" y="3008376"/>
            <a:ext cx="3657600" cy="310896"/>
          </a:xfrm>
          <a:prstGeom prst="roundRect">
            <a:avLst>
              <a:gd name="adj" fmla="val 23529"/>
            </a:avLst>
          </a:prstGeom>
          <a:solidFill>
            <a:srgbClr val="2D2D2D"/>
          </a:solidFill>
          <a:ln w="12700">
            <a:solidFill>
              <a:srgbClr val="2D2D2D"/>
            </a:solidFill>
            <a:prstDash val="solid"/>
          </a:ln>
        </p:spPr>
      </p:sp>
      <p:sp>
        <p:nvSpPr>
          <p:cNvPr id="15" name="Text 11"/>
          <p:cNvSpPr txBox="1"/>
          <p:nvPr/>
        </p:nvSpPr>
        <p:spPr>
          <a:xfrm>
            <a:off x="704088" y="3008376"/>
            <a:ext cx="3438144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050" dirty="0">
                <a:solidFill>
                  <a:srgbClr val="40E0D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#define </a:t>
            </a:r>
            <a:pPr algn="l" indent="0" marL="0">
              <a:lnSpc>
                <a:spcPct val="100000"/>
              </a:lnSpc>
              <a:buNone/>
            </a:pPr>
            <a:r>
              <a:rPr lang="en-US" sz="1050" dirty="0">
                <a:solidFill>
                  <a:srgbClr val="D9D9D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RGB_RED </a:t>
            </a:r>
            <a:pPr algn="l" indent="0" marL="0">
              <a:lnSpc>
                <a:spcPct val="100000"/>
              </a:lnSpc>
              <a:buNone/>
            </a:pPr>
            <a:r>
              <a:rPr lang="en-US" sz="1050" dirty="0">
                <a:solidFill>
                  <a:srgbClr val="F7C87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11</a:t>
            </a:r>
            <a:endParaRPr lang="en-US" sz="1050" dirty="0"/>
          </a:p>
        </p:txBody>
      </p:sp>
      <p:sp>
        <p:nvSpPr>
          <p:cNvPr id="16" name="Text 12"/>
          <p:cNvSpPr txBox="1"/>
          <p:nvPr/>
        </p:nvSpPr>
        <p:spPr>
          <a:xfrm>
            <a:off x="594360" y="3374136"/>
            <a:ext cx="3657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1200" b="1" dirty="0">
                <a:solidFill>
                  <a:srgbClr val="2D2D2D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#define</a:t>
            </a:r>
            <a:pPr algn="l" indent="0" marL="0">
              <a:lnSpc>
                <a:spcPct val="115000"/>
              </a:lnSpc>
              <a:buNone/>
            </a:pPr>
            <a:r>
              <a:rPr lang="en-US" sz="1200" dirty="0">
                <a:solidFill>
                  <a:srgbClr val="2D2D2D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：编译前把名字直接替换成数字；</a:t>
            </a:r>
            <a:endParaRPr lang="en-US" sz="1200" dirty="0"/>
          </a:p>
          <a:p>
            <a:pPr algn="l" indent="0" marL="0">
              <a:lnSpc>
                <a:spcPct val="115000"/>
              </a:lnSpc>
              <a:buNone/>
            </a:pPr>
            <a:r>
              <a:rPr lang="en-US" sz="1200" dirty="0">
                <a:solidFill>
                  <a:srgbClr val="2D2D2D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末尾不加分号，也不写等号</a:t>
            </a:r>
            <a:endParaRPr lang="en-US" sz="1200" dirty="0"/>
          </a:p>
        </p:txBody>
      </p:sp>
      <p:sp>
        <p:nvSpPr>
          <p:cNvPr id="17" name="Shape 13"/>
          <p:cNvSpPr/>
          <p:nvPr/>
        </p:nvSpPr>
        <p:spPr>
          <a:xfrm>
            <a:off x="594360" y="4087368"/>
            <a:ext cx="237744" cy="237744"/>
          </a:xfrm>
          <a:prstGeom prst="ellipse">
            <a:avLst/>
          </a:prstGeom>
          <a:solidFill>
            <a:srgbClr val="40E0D0"/>
          </a:solidFill>
          <a:ln w="12700">
            <a:solidFill>
              <a:srgbClr val="40E0D0"/>
            </a:solidFill>
            <a:prstDash val="solid"/>
          </a:ln>
        </p:spPr>
      </p:sp>
      <p:pic>
        <p:nvPicPr>
          <p:cNvPr id="18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53796" y="4146804"/>
            <a:ext cx="118872" cy="118872"/>
          </a:xfrm>
          <a:prstGeom prst="rect">
            <a:avLst/>
          </a:prstGeom>
        </p:spPr>
      </p:pic>
      <p:sp>
        <p:nvSpPr>
          <p:cNvPr id="19" name="Text 14"/>
          <p:cNvSpPr txBox="1"/>
          <p:nvPr/>
        </p:nvSpPr>
        <p:spPr>
          <a:xfrm>
            <a:off x="923544" y="4050792"/>
            <a:ext cx="332841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1200" b="1" dirty="0">
                <a:solidFill>
                  <a:srgbClr val="2D2D2D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好处：名字比数字好懂；改接线只改一行</a:t>
            </a:r>
            <a:endParaRPr lang="en-US" sz="1200" dirty="0"/>
          </a:p>
        </p:txBody>
      </p:sp>
      <p:sp>
        <p:nvSpPr>
          <p:cNvPr id="20" name="Shape 15"/>
          <p:cNvSpPr/>
          <p:nvPr/>
        </p:nvSpPr>
        <p:spPr>
          <a:xfrm>
            <a:off x="4709160" y="1234440"/>
            <a:ext cx="4023360" cy="3337560"/>
          </a:xfrm>
          <a:prstGeom prst="roundRect">
            <a:avLst>
              <a:gd name="adj" fmla="val 3288"/>
            </a:avLst>
          </a:prstGeom>
          <a:solidFill>
            <a:srgbClr val="F5F5F5"/>
          </a:solidFill>
          <a:ln w="12700">
            <a:solidFill>
              <a:srgbClr val="F5F5F5"/>
            </a:solidFill>
            <a:prstDash val="solid"/>
          </a:ln>
        </p:spPr>
      </p:sp>
      <p:sp>
        <p:nvSpPr>
          <p:cNvPr id="21" name="Shape 16"/>
          <p:cNvSpPr/>
          <p:nvPr/>
        </p:nvSpPr>
        <p:spPr>
          <a:xfrm>
            <a:off x="4892040" y="1399032"/>
            <a:ext cx="384048" cy="384048"/>
          </a:xfrm>
          <a:prstGeom prst="ellipse">
            <a:avLst/>
          </a:prstGeom>
          <a:solidFill>
            <a:srgbClr val="40E0D0"/>
          </a:solidFill>
          <a:ln w="12700">
            <a:solidFill>
              <a:srgbClr val="40E0D0"/>
            </a:solidFill>
            <a:prstDash val="solid"/>
          </a:ln>
        </p:spPr>
      </p:sp>
      <p:pic>
        <p:nvPicPr>
          <p:cNvPr id="22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984212" y="1491204"/>
            <a:ext cx="199705" cy="199705"/>
          </a:xfrm>
          <a:prstGeom prst="rect">
            <a:avLst/>
          </a:prstGeom>
        </p:spPr>
      </p:pic>
      <p:sp>
        <p:nvSpPr>
          <p:cNvPr id="23" name="Text 17"/>
          <p:cNvSpPr txBox="1"/>
          <p:nvPr/>
        </p:nvSpPr>
        <p:spPr>
          <a:xfrm>
            <a:off x="5404104" y="1380744"/>
            <a:ext cx="3145536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1500" b="1" dirty="0">
                <a:solidFill>
                  <a:srgbClr val="2D2D2D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数组：一排编了号的储物柜</a:t>
            </a:r>
            <a:endParaRPr lang="en-US" sz="1500" dirty="0"/>
          </a:p>
        </p:txBody>
      </p:sp>
      <p:sp>
        <p:nvSpPr>
          <p:cNvPr id="24" name="Shape 18"/>
          <p:cNvSpPr/>
          <p:nvPr/>
        </p:nvSpPr>
        <p:spPr>
          <a:xfrm>
            <a:off x="4892040" y="1929384"/>
            <a:ext cx="3657600" cy="310896"/>
          </a:xfrm>
          <a:prstGeom prst="roundRect">
            <a:avLst>
              <a:gd name="adj" fmla="val 23529"/>
            </a:avLst>
          </a:prstGeom>
          <a:solidFill>
            <a:srgbClr val="2D2D2D"/>
          </a:solidFill>
          <a:ln w="12700">
            <a:solidFill>
              <a:srgbClr val="2D2D2D"/>
            </a:solidFill>
            <a:prstDash val="solid"/>
          </a:ln>
        </p:spPr>
      </p:sp>
      <p:sp>
        <p:nvSpPr>
          <p:cNvPr id="25" name="Text 19"/>
          <p:cNvSpPr txBox="1"/>
          <p:nvPr/>
        </p:nvSpPr>
        <p:spPr>
          <a:xfrm>
            <a:off x="5001768" y="1929384"/>
            <a:ext cx="3438144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050" b="1" dirty="0">
                <a:solidFill>
                  <a:srgbClr val="40E0D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int </a:t>
            </a:r>
            <a:pPr algn="l" indent="0" marL="0">
              <a:lnSpc>
                <a:spcPct val="100000"/>
              </a:lnSpc>
              <a:buNone/>
            </a:pPr>
            <a:r>
              <a:rPr lang="en-US" sz="1050" dirty="0">
                <a:solidFill>
                  <a:srgbClr val="D9D9D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led_array</a:t>
            </a:r>
            <a:pPr algn="l" indent="0" marL="0">
              <a:lnSpc>
                <a:spcPct val="100000"/>
              </a:lnSpc>
              <a:buNone/>
            </a:pPr>
            <a:r>
              <a:rPr lang="en-US" sz="1050" dirty="0">
                <a:solidFill>
                  <a:srgbClr val="BDBDB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[</a:t>
            </a:r>
            <a:pPr algn="l" indent="0" marL="0">
              <a:lnSpc>
                <a:spcPct val="100000"/>
              </a:lnSpc>
              <a:buNone/>
            </a:pPr>
            <a:r>
              <a:rPr lang="en-US" sz="1050" dirty="0">
                <a:solidFill>
                  <a:srgbClr val="F7C87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8</a:t>
            </a:r>
            <a:pPr algn="l" indent="0" marL="0">
              <a:lnSpc>
                <a:spcPct val="100000"/>
              </a:lnSpc>
              <a:buNone/>
            </a:pPr>
            <a:r>
              <a:rPr lang="en-US" sz="1050" dirty="0">
                <a:solidFill>
                  <a:srgbClr val="BDBDB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] = {</a:t>
            </a:r>
            <a:pPr algn="l" indent="0" marL="0">
              <a:lnSpc>
                <a:spcPct val="100000"/>
              </a:lnSpc>
              <a:buNone/>
            </a:pPr>
            <a:r>
              <a:rPr lang="en-US" sz="1050" dirty="0">
                <a:solidFill>
                  <a:srgbClr val="F7C87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2</a:t>
            </a:r>
            <a:pPr algn="l" indent="0" marL="0">
              <a:lnSpc>
                <a:spcPct val="100000"/>
              </a:lnSpc>
              <a:buNone/>
            </a:pPr>
            <a:r>
              <a:rPr lang="en-US" sz="1050" dirty="0">
                <a:solidFill>
                  <a:srgbClr val="BDBDB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,</a:t>
            </a:r>
            <a:pPr algn="l" indent="0" marL="0">
              <a:lnSpc>
                <a:spcPct val="100000"/>
              </a:lnSpc>
              <a:buNone/>
            </a:pPr>
            <a:r>
              <a:rPr lang="en-US" sz="1050" dirty="0">
                <a:solidFill>
                  <a:srgbClr val="F7C87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3</a:t>
            </a:r>
            <a:pPr algn="l" indent="0" marL="0">
              <a:lnSpc>
                <a:spcPct val="100000"/>
              </a:lnSpc>
              <a:buNone/>
            </a:pPr>
            <a:r>
              <a:rPr lang="en-US" sz="1050" dirty="0">
                <a:solidFill>
                  <a:srgbClr val="BDBDB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,</a:t>
            </a:r>
            <a:pPr algn="l" indent="0" marL="0">
              <a:lnSpc>
                <a:spcPct val="100000"/>
              </a:lnSpc>
              <a:buNone/>
            </a:pPr>
            <a:r>
              <a:rPr lang="en-US" sz="1050" dirty="0">
                <a:solidFill>
                  <a:srgbClr val="F7C87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4</a:t>
            </a:r>
            <a:pPr algn="l" indent="0" marL="0">
              <a:lnSpc>
                <a:spcPct val="100000"/>
              </a:lnSpc>
              <a:buNone/>
            </a:pPr>
            <a:r>
              <a:rPr lang="en-US" sz="1050" dirty="0">
                <a:solidFill>
                  <a:srgbClr val="BDBDB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,</a:t>
            </a:r>
            <a:pPr algn="l" indent="0" marL="0">
              <a:lnSpc>
                <a:spcPct val="100000"/>
              </a:lnSpc>
              <a:buNone/>
            </a:pPr>
            <a:r>
              <a:rPr lang="en-US" sz="1050" dirty="0">
                <a:solidFill>
                  <a:srgbClr val="F7C87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5</a:t>
            </a:r>
            <a:pPr algn="l" indent="0" marL="0">
              <a:lnSpc>
                <a:spcPct val="100000"/>
              </a:lnSpc>
              <a:buNone/>
            </a:pPr>
            <a:r>
              <a:rPr lang="en-US" sz="1050" dirty="0">
                <a:solidFill>
                  <a:srgbClr val="BDBDB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,</a:t>
            </a:r>
            <a:pPr algn="l" indent="0" marL="0">
              <a:lnSpc>
                <a:spcPct val="100000"/>
              </a:lnSpc>
              <a:buNone/>
            </a:pPr>
            <a:r>
              <a:rPr lang="en-US" sz="1050" dirty="0">
                <a:solidFill>
                  <a:srgbClr val="F7C87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6</a:t>
            </a:r>
            <a:pPr algn="l" indent="0" marL="0">
              <a:lnSpc>
                <a:spcPct val="100000"/>
              </a:lnSpc>
              <a:buNone/>
            </a:pPr>
            <a:r>
              <a:rPr lang="en-US" sz="1050" dirty="0">
                <a:solidFill>
                  <a:srgbClr val="BDBDB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,</a:t>
            </a:r>
            <a:pPr algn="l" indent="0" marL="0">
              <a:lnSpc>
                <a:spcPct val="100000"/>
              </a:lnSpc>
              <a:buNone/>
            </a:pPr>
            <a:r>
              <a:rPr lang="en-US" sz="1050" dirty="0">
                <a:solidFill>
                  <a:srgbClr val="F7C87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7</a:t>
            </a:r>
            <a:pPr algn="l" indent="0" marL="0">
              <a:lnSpc>
                <a:spcPct val="100000"/>
              </a:lnSpc>
              <a:buNone/>
            </a:pPr>
            <a:r>
              <a:rPr lang="en-US" sz="1050" dirty="0">
                <a:solidFill>
                  <a:srgbClr val="BDBDB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,</a:t>
            </a:r>
            <a:pPr algn="l" indent="0" marL="0">
              <a:lnSpc>
                <a:spcPct val="100000"/>
              </a:lnSpc>
              <a:buNone/>
            </a:pPr>
            <a:r>
              <a:rPr lang="en-US" sz="1050" dirty="0">
                <a:solidFill>
                  <a:srgbClr val="F7C87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8</a:t>
            </a:r>
            <a:pPr algn="l" indent="0" marL="0">
              <a:lnSpc>
                <a:spcPct val="100000"/>
              </a:lnSpc>
              <a:buNone/>
            </a:pPr>
            <a:r>
              <a:rPr lang="en-US" sz="1050" dirty="0">
                <a:solidFill>
                  <a:srgbClr val="BDBDB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,</a:t>
            </a:r>
            <a:pPr algn="l" indent="0" marL="0">
              <a:lnSpc>
                <a:spcPct val="100000"/>
              </a:lnSpc>
              <a:buNone/>
            </a:pPr>
            <a:r>
              <a:rPr lang="en-US" sz="1050" dirty="0">
                <a:solidFill>
                  <a:srgbClr val="F7C87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9</a:t>
            </a:r>
            <a:pPr algn="l" indent="0" marL="0">
              <a:lnSpc>
                <a:spcPct val="100000"/>
              </a:lnSpc>
              <a:buNone/>
            </a:pPr>
            <a:r>
              <a:rPr lang="en-US" sz="1050" dirty="0">
                <a:solidFill>
                  <a:srgbClr val="BDBDB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};</a:t>
            </a:r>
            <a:endParaRPr lang="en-US" sz="1050" dirty="0"/>
          </a:p>
        </p:txBody>
      </p:sp>
      <p:sp>
        <p:nvSpPr>
          <p:cNvPr id="26" name="Shape 20"/>
          <p:cNvSpPr/>
          <p:nvPr/>
        </p:nvSpPr>
        <p:spPr>
          <a:xfrm>
            <a:off x="4892040" y="2423160"/>
            <a:ext cx="402336" cy="457200"/>
          </a:xfrm>
          <a:prstGeom prst="roundRect">
            <a:avLst>
              <a:gd name="adj" fmla="val 11364"/>
            </a:avLst>
          </a:prstGeom>
          <a:solidFill>
            <a:srgbClr val="40E0D0"/>
          </a:solidFill>
          <a:ln w="9525">
            <a:solidFill>
              <a:srgbClr val="40E0D0"/>
            </a:solidFill>
            <a:prstDash val="solid"/>
          </a:ln>
        </p:spPr>
      </p:sp>
      <p:sp>
        <p:nvSpPr>
          <p:cNvPr id="27" name="Text 21"/>
          <p:cNvSpPr txBox="1"/>
          <p:nvPr/>
        </p:nvSpPr>
        <p:spPr>
          <a:xfrm>
            <a:off x="4892040" y="2423160"/>
            <a:ext cx="402336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15000"/>
              </a:lnSpc>
              <a:buNone/>
            </a:pPr>
            <a:r>
              <a:rPr lang="en-US" sz="1500" b="1" dirty="0">
                <a:solidFill>
                  <a:srgbClr val="2D2D2D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2</a:t>
            </a:r>
            <a:endParaRPr lang="en-US" sz="1500" dirty="0"/>
          </a:p>
        </p:txBody>
      </p:sp>
      <p:sp>
        <p:nvSpPr>
          <p:cNvPr id="28" name="Text 22"/>
          <p:cNvSpPr txBox="1"/>
          <p:nvPr/>
        </p:nvSpPr>
        <p:spPr>
          <a:xfrm>
            <a:off x="4846320" y="2916936"/>
            <a:ext cx="49377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15000"/>
              </a:lnSpc>
              <a:buNone/>
            </a:pPr>
            <a:r>
              <a:rPr lang="en-US" sz="1000" b="1" dirty="0">
                <a:solidFill>
                  <a:srgbClr val="2D2D2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[0]</a:t>
            </a:r>
            <a:endParaRPr lang="en-US" sz="1000" dirty="0"/>
          </a:p>
        </p:txBody>
      </p:sp>
      <p:sp>
        <p:nvSpPr>
          <p:cNvPr id="29" name="Shape 23"/>
          <p:cNvSpPr/>
          <p:nvPr/>
        </p:nvSpPr>
        <p:spPr>
          <a:xfrm>
            <a:off x="5357078" y="2423160"/>
            <a:ext cx="402336" cy="457200"/>
          </a:xfrm>
          <a:prstGeom prst="roundRect">
            <a:avLst>
              <a:gd name="adj" fmla="val 11364"/>
            </a:avLst>
          </a:prstGeom>
          <a:solidFill>
            <a:srgbClr val="FFFFFF"/>
          </a:solidFill>
          <a:ln w="9525">
            <a:solidFill>
              <a:srgbClr val="E2E2E2"/>
            </a:solidFill>
            <a:prstDash val="solid"/>
          </a:ln>
        </p:spPr>
      </p:sp>
      <p:sp>
        <p:nvSpPr>
          <p:cNvPr id="30" name="Text 24"/>
          <p:cNvSpPr txBox="1"/>
          <p:nvPr/>
        </p:nvSpPr>
        <p:spPr>
          <a:xfrm>
            <a:off x="5357078" y="2423160"/>
            <a:ext cx="402336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15000"/>
              </a:lnSpc>
              <a:buNone/>
            </a:pPr>
            <a:r>
              <a:rPr lang="en-US" sz="1500" b="1" dirty="0">
                <a:solidFill>
                  <a:srgbClr val="2D2D2D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3</a:t>
            </a:r>
            <a:endParaRPr lang="en-US" sz="1500" dirty="0"/>
          </a:p>
        </p:txBody>
      </p:sp>
      <p:sp>
        <p:nvSpPr>
          <p:cNvPr id="31" name="Text 25"/>
          <p:cNvSpPr txBox="1"/>
          <p:nvPr/>
        </p:nvSpPr>
        <p:spPr>
          <a:xfrm>
            <a:off x="5311358" y="2916936"/>
            <a:ext cx="49377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15000"/>
              </a:lnSpc>
              <a:buNone/>
            </a:pPr>
            <a:r>
              <a:rPr lang="en-US" sz="1000" dirty="0">
                <a:solidFill>
                  <a:srgbClr val="6B6B6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[1]</a:t>
            </a:r>
            <a:endParaRPr lang="en-US" sz="1000" dirty="0"/>
          </a:p>
        </p:txBody>
      </p:sp>
      <p:sp>
        <p:nvSpPr>
          <p:cNvPr id="32" name="Shape 26"/>
          <p:cNvSpPr/>
          <p:nvPr/>
        </p:nvSpPr>
        <p:spPr>
          <a:xfrm>
            <a:off x="5822115" y="2423160"/>
            <a:ext cx="402336" cy="457200"/>
          </a:xfrm>
          <a:prstGeom prst="roundRect">
            <a:avLst>
              <a:gd name="adj" fmla="val 11364"/>
            </a:avLst>
          </a:prstGeom>
          <a:solidFill>
            <a:srgbClr val="FFFFFF"/>
          </a:solidFill>
          <a:ln w="9525">
            <a:solidFill>
              <a:srgbClr val="E2E2E2"/>
            </a:solidFill>
            <a:prstDash val="solid"/>
          </a:ln>
        </p:spPr>
      </p:sp>
      <p:sp>
        <p:nvSpPr>
          <p:cNvPr id="33" name="Text 27"/>
          <p:cNvSpPr txBox="1"/>
          <p:nvPr/>
        </p:nvSpPr>
        <p:spPr>
          <a:xfrm>
            <a:off x="5822115" y="2423160"/>
            <a:ext cx="402336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15000"/>
              </a:lnSpc>
              <a:buNone/>
            </a:pPr>
            <a:r>
              <a:rPr lang="en-US" sz="1500" b="1" dirty="0">
                <a:solidFill>
                  <a:srgbClr val="2D2D2D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4</a:t>
            </a:r>
            <a:endParaRPr lang="en-US" sz="1500" dirty="0"/>
          </a:p>
        </p:txBody>
      </p:sp>
      <p:sp>
        <p:nvSpPr>
          <p:cNvPr id="34" name="Text 28"/>
          <p:cNvSpPr txBox="1"/>
          <p:nvPr/>
        </p:nvSpPr>
        <p:spPr>
          <a:xfrm>
            <a:off x="5776395" y="2916936"/>
            <a:ext cx="49377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15000"/>
              </a:lnSpc>
              <a:buNone/>
            </a:pPr>
            <a:r>
              <a:rPr lang="en-US" sz="1000" dirty="0">
                <a:solidFill>
                  <a:srgbClr val="6B6B6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[2]</a:t>
            </a:r>
            <a:endParaRPr lang="en-US" sz="1000" dirty="0"/>
          </a:p>
        </p:txBody>
      </p:sp>
      <p:sp>
        <p:nvSpPr>
          <p:cNvPr id="35" name="Shape 29"/>
          <p:cNvSpPr/>
          <p:nvPr/>
        </p:nvSpPr>
        <p:spPr>
          <a:xfrm>
            <a:off x="6287153" y="2423160"/>
            <a:ext cx="402336" cy="457200"/>
          </a:xfrm>
          <a:prstGeom prst="roundRect">
            <a:avLst>
              <a:gd name="adj" fmla="val 11364"/>
            </a:avLst>
          </a:prstGeom>
          <a:solidFill>
            <a:srgbClr val="FFFFFF"/>
          </a:solidFill>
          <a:ln w="9525">
            <a:solidFill>
              <a:srgbClr val="E2E2E2"/>
            </a:solidFill>
            <a:prstDash val="solid"/>
          </a:ln>
        </p:spPr>
      </p:sp>
      <p:sp>
        <p:nvSpPr>
          <p:cNvPr id="36" name="Text 30"/>
          <p:cNvSpPr txBox="1"/>
          <p:nvPr/>
        </p:nvSpPr>
        <p:spPr>
          <a:xfrm>
            <a:off x="6287153" y="2423160"/>
            <a:ext cx="402336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15000"/>
              </a:lnSpc>
              <a:buNone/>
            </a:pPr>
            <a:r>
              <a:rPr lang="en-US" sz="1500" b="1" dirty="0">
                <a:solidFill>
                  <a:srgbClr val="2D2D2D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5</a:t>
            </a:r>
            <a:endParaRPr lang="en-US" sz="1500" dirty="0"/>
          </a:p>
        </p:txBody>
      </p:sp>
      <p:sp>
        <p:nvSpPr>
          <p:cNvPr id="37" name="Text 31"/>
          <p:cNvSpPr txBox="1"/>
          <p:nvPr/>
        </p:nvSpPr>
        <p:spPr>
          <a:xfrm>
            <a:off x="6241433" y="2916936"/>
            <a:ext cx="49377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15000"/>
              </a:lnSpc>
              <a:buNone/>
            </a:pPr>
            <a:r>
              <a:rPr lang="en-US" sz="1000" dirty="0">
                <a:solidFill>
                  <a:srgbClr val="6B6B6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[3]</a:t>
            </a:r>
            <a:endParaRPr lang="en-US" sz="1000" dirty="0"/>
          </a:p>
        </p:txBody>
      </p:sp>
      <p:sp>
        <p:nvSpPr>
          <p:cNvPr id="38" name="Shape 32"/>
          <p:cNvSpPr/>
          <p:nvPr/>
        </p:nvSpPr>
        <p:spPr>
          <a:xfrm>
            <a:off x="6752191" y="2423160"/>
            <a:ext cx="402336" cy="457200"/>
          </a:xfrm>
          <a:prstGeom prst="roundRect">
            <a:avLst>
              <a:gd name="adj" fmla="val 11364"/>
            </a:avLst>
          </a:prstGeom>
          <a:solidFill>
            <a:srgbClr val="FFFFFF"/>
          </a:solidFill>
          <a:ln w="9525">
            <a:solidFill>
              <a:srgbClr val="E2E2E2"/>
            </a:solidFill>
            <a:prstDash val="solid"/>
          </a:ln>
        </p:spPr>
      </p:sp>
      <p:sp>
        <p:nvSpPr>
          <p:cNvPr id="39" name="Text 33"/>
          <p:cNvSpPr txBox="1"/>
          <p:nvPr/>
        </p:nvSpPr>
        <p:spPr>
          <a:xfrm>
            <a:off x="6752191" y="2423160"/>
            <a:ext cx="402336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15000"/>
              </a:lnSpc>
              <a:buNone/>
            </a:pPr>
            <a:r>
              <a:rPr lang="en-US" sz="1500" b="1" dirty="0">
                <a:solidFill>
                  <a:srgbClr val="2D2D2D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6</a:t>
            </a:r>
            <a:endParaRPr lang="en-US" sz="1500" dirty="0"/>
          </a:p>
        </p:txBody>
      </p:sp>
      <p:sp>
        <p:nvSpPr>
          <p:cNvPr id="40" name="Text 34"/>
          <p:cNvSpPr txBox="1"/>
          <p:nvPr/>
        </p:nvSpPr>
        <p:spPr>
          <a:xfrm>
            <a:off x="6706471" y="2916936"/>
            <a:ext cx="49377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15000"/>
              </a:lnSpc>
              <a:buNone/>
            </a:pPr>
            <a:r>
              <a:rPr lang="en-US" sz="1000" dirty="0">
                <a:solidFill>
                  <a:srgbClr val="6B6B6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[4]</a:t>
            </a:r>
            <a:endParaRPr lang="en-US" sz="1000" dirty="0"/>
          </a:p>
        </p:txBody>
      </p:sp>
      <p:sp>
        <p:nvSpPr>
          <p:cNvPr id="41" name="Shape 35"/>
          <p:cNvSpPr/>
          <p:nvPr/>
        </p:nvSpPr>
        <p:spPr>
          <a:xfrm>
            <a:off x="7217229" y="2423160"/>
            <a:ext cx="402336" cy="457200"/>
          </a:xfrm>
          <a:prstGeom prst="roundRect">
            <a:avLst>
              <a:gd name="adj" fmla="val 11364"/>
            </a:avLst>
          </a:prstGeom>
          <a:solidFill>
            <a:srgbClr val="FFFFFF"/>
          </a:solidFill>
          <a:ln w="9525">
            <a:solidFill>
              <a:srgbClr val="E2E2E2"/>
            </a:solidFill>
            <a:prstDash val="solid"/>
          </a:ln>
        </p:spPr>
      </p:sp>
      <p:sp>
        <p:nvSpPr>
          <p:cNvPr id="42" name="Text 36"/>
          <p:cNvSpPr txBox="1"/>
          <p:nvPr/>
        </p:nvSpPr>
        <p:spPr>
          <a:xfrm>
            <a:off x="7217229" y="2423160"/>
            <a:ext cx="402336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15000"/>
              </a:lnSpc>
              <a:buNone/>
            </a:pPr>
            <a:r>
              <a:rPr lang="en-US" sz="1500" b="1" dirty="0">
                <a:solidFill>
                  <a:srgbClr val="2D2D2D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7</a:t>
            </a:r>
            <a:endParaRPr lang="en-US" sz="1500" dirty="0"/>
          </a:p>
        </p:txBody>
      </p:sp>
      <p:sp>
        <p:nvSpPr>
          <p:cNvPr id="43" name="Text 37"/>
          <p:cNvSpPr txBox="1"/>
          <p:nvPr/>
        </p:nvSpPr>
        <p:spPr>
          <a:xfrm>
            <a:off x="7171509" y="2916936"/>
            <a:ext cx="49377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15000"/>
              </a:lnSpc>
              <a:buNone/>
            </a:pPr>
            <a:r>
              <a:rPr lang="en-US" sz="1000" dirty="0">
                <a:solidFill>
                  <a:srgbClr val="6B6B6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[5]</a:t>
            </a:r>
            <a:endParaRPr lang="en-US" sz="1000" dirty="0"/>
          </a:p>
        </p:txBody>
      </p:sp>
      <p:sp>
        <p:nvSpPr>
          <p:cNvPr id="44" name="Shape 38"/>
          <p:cNvSpPr/>
          <p:nvPr/>
        </p:nvSpPr>
        <p:spPr>
          <a:xfrm>
            <a:off x="7682266" y="2423160"/>
            <a:ext cx="402336" cy="457200"/>
          </a:xfrm>
          <a:prstGeom prst="roundRect">
            <a:avLst>
              <a:gd name="adj" fmla="val 11364"/>
            </a:avLst>
          </a:prstGeom>
          <a:solidFill>
            <a:srgbClr val="FFFFFF"/>
          </a:solidFill>
          <a:ln w="9525">
            <a:solidFill>
              <a:srgbClr val="E2E2E2"/>
            </a:solidFill>
            <a:prstDash val="solid"/>
          </a:ln>
        </p:spPr>
      </p:sp>
      <p:sp>
        <p:nvSpPr>
          <p:cNvPr id="45" name="Text 39"/>
          <p:cNvSpPr txBox="1"/>
          <p:nvPr/>
        </p:nvSpPr>
        <p:spPr>
          <a:xfrm>
            <a:off x="7682266" y="2423160"/>
            <a:ext cx="402336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15000"/>
              </a:lnSpc>
              <a:buNone/>
            </a:pPr>
            <a:r>
              <a:rPr lang="en-US" sz="1500" b="1" dirty="0">
                <a:solidFill>
                  <a:srgbClr val="2D2D2D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8</a:t>
            </a:r>
            <a:endParaRPr lang="en-US" sz="1500" dirty="0"/>
          </a:p>
        </p:txBody>
      </p:sp>
      <p:sp>
        <p:nvSpPr>
          <p:cNvPr id="46" name="Text 40"/>
          <p:cNvSpPr txBox="1"/>
          <p:nvPr/>
        </p:nvSpPr>
        <p:spPr>
          <a:xfrm>
            <a:off x="7636546" y="2916936"/>
            <a:ext cx="49377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15000"/>
              </a:lnSpc>
              <a:buNone/>
            </a:pPr>
            <a:r>
              <a:rPr lang="en-US" sz="1000" dirty="0">
                <a:solidFill>
                  <a:srgbClr val="6B6B6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[6]</a:t>
            </a:r>
            <a:endParaRPr lang="en-US" sz="1000" dirty="0"/>
          </a:p>
        </p:txBody>
      </p:sp>
      <p:sp>
        <p:nvSpPr>
          <p:cNvPr id="47" name="Shape 41"/>
          <p:cNvSpPr/>
          <p:nvPr/>
        </p:nvSpPr>
        <p:spPr>
          <a:xfrm>
            <a:off x="8147304" y="2423160"/>
            <a:ext cx="402336" cy="457200"/>
          </a:xfrm>
          <a:prstGeom prst="roundRect">
            <a:avLst>
              <a:gd name="adj" fmla="val 11364"/>
            </a:avLst>
          </a:prstGeom>
          <a:solidFill>
            <a:srgbClr val="40E0D0"/>
          </a:solidFill>
          <a:ln w="9525">
            <a:solidFill>
              <a:srgbClr val="40E0D0"/>
            </a:solidFill>
            <a:prstDash val="solid"/>
          </a:ln>
        </p:spPr>
      </p:sp>
      <p:sp>
        <p:nvSpPr>
          <p:cNvPr id="48" name="Text 42"/>
          <p:cNvSpPr txBox="1"/>
          <p:nvPr/>
        </p:nvSpPr>
        <p:spPr>
          <a:xfrm>
            <a:off x="8147304" y="2423160"/>
            <a:ext cx="402336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15000"/>
              </a:lnSpc>
              <a:buNone/>
            </a:pPr>
            <a:r>
              <a:rPr lang="en-US" sz="1500" b="1" dirty="0">
                <a:solidFill>
                  <a:srgbClr val="2D2D2D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9</a:t>
            </a:r>
            <a:endParaRPr lang="en-US" sz="1500" dirty="0"/>
          </a:p>
        </p:txBody>
      </p:sp>
      <p:sp>
        <p:nvSpPr>
          <p:cNvPr id="49" name="Text 43"/>
          <p:cNvSpPr txBox="1"/>
          <p:nvPr/>
        </p:nvSpPr>
        <p:spPr>
          <a:xfrm>
            <a:off x="8101584" y="2916936"/>
            <a:ext cx="49377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15000"/>
              </a:lnSpc>
              <a:buNone/>
            </a:pPr>
            <a:r>
              <a:rPr lang="en-US" sz="1000" b="1" dirty="0">
                <a:solidFill>
                  <a:srgbClr val="2D2D2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[7]</a:t>
            </a:r>
            <a:endParaRPr lang="en-US" sz="1000" dirty="0"/>
          </a:p>
        </p:txBody>
      </p:sp>
      <p:sp>
        <p:nvSpPr>
          <p:cNvPr id="50" name="Text 44"/>
          <p:cNvSpPr txBox="1"/>
          <p:nvPr/>
        </p:nvSpPr>
        <p:spPr>
          <a:xfrm>
            <a:off x="4892040" y="3246120"/>
            <a:ext cx="3657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1200" dirty="0">
                <a:solidFill>
                  <a:srgbClr val="2D2D2D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编号（下标）从 0 开始：</a:t>
            </a:r>
            <a:endParaRPr lang="en-US" sz="1200" dirty="0"/>
          </a:p>
          <a:p>
            <a:pPr algn="l" indent="0" marL="0">
              <a:lnSpc>
                <a:spcPct val="115000"/>
              </a:lnSpc>
              <a:buNone/>
            </a:pPr>
            <a:r>
              <a:rPr lang="en-US" sz="1200" dirty="0">
                <a:solidFill>
                  <a:srgbClr val="2D2D2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led_array[0]</a:t>
            </a:r>
            <a:pPr algn="l" indent="0" marL="0">
              <a:lnSpc>
                <a:spcPct val="115000"/>
              </a:lnSpc>
              <a:buNone/>
            </a:pPr>
            <a:r>
              <a:rPr lang="en-US" sz="1200" dirty="0">
                <a:solidFill>
                  <a:srgbClr val="2D2D2D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 是 2，</a:t>
            </a:r>
            <a:pPr algn="l" indent="0" marL="0">
              <a:lnSpc>
                <a:spcPct val="115000"/>
              </a:lnSpc>
              <a:buNone/>
            </a:pPr>
            <a:r>
              <a:rPr lang="en-US" sz="1200" dirty="0">
                <a:solidFill>
                  <a:srgbClr val="2D2D2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led_array[7]</a:t>
            </a:r>
            <a:pPr algn="l" indent="0" marL="0">
              <a:lnSpc>
                <a:spcPct val="115000"/>
              </a:lnSpc>
              <a:buNone/>
            </a:pPr>
            <a:r>
              <a:rPr lang="en-US" sz="1200" dirty="0">
                <a:solidFill>
                  <a:srgbClr val="2D2D2D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 是 9。</a:t>
            </a:r>
            <a:endParaRPr lang="en-US" sz="1200" dirty="0"/>
          </a:p>
        </p:txBody>
      </p:sp>
      <p:sp>
        <p:nvSpPr>
          <p:cNvPr id="51" name="Shape 45"/>
          <p:cNvSpPr/>
          <p:nvPr/>
        </p:nvSpPr>
        <p:spPr>
          <a:xfrm>
            <a:off x="4892040" y="3813048"/>
            <a:ext cx="237744" cy="237744"/>
          </a:xfrm>
          <a:prstGeom prst="ellipse">
            <a:avLst/>
          </a:prstGeom>
          <a:solidFill>
            <a:srgbClr val="E5484D"/>
          </a:solidFill>
          <a:ln w="12700">
            <a:solidFill>
              <a:srgbClr val="E5484D"/>
            </a:solidFill>
            <a:prstDash val="solid"/>
          </a:ln>
        </p:spPr>
      </p:sp>
      <p:pic>
        <p:nvPicPr>
          <p:cNvPr id="52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951476" y="3872484"/>
            <a:ext cx="118872" cy="118872"/>
          </a:xfrm>
          <a:prstGeom prst="rect">
            <a:avLst/>
          </a:prstGeom>
        </p:spPr>
      </p:pic>
      <p:sp>
        <p:nvSpPr>
          <p:cNvPr id="53" name="Text 46"/>
          <p:cNvSpPr txBox="1"/>
          <p:nvPr/>
        </p:nvSpPr>
        <p:spPr>
          <a:xfrm>
            <a:off x="5221224" y="3776472"/>
            <a:ext cx="332841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1200" dirty="0">
                <a:solidFill>
                  <a:srgbClr val="2D2D2D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没有 </a:t>
            </a:r>
            <a:pPr algn="l" indent="0" marL="0">
              <a:lnSpc>
                <a:spcPct val="115000"/>
              </a:lnSpc>
              <a:buNone/>
            </a:pPr>
            <a:r>
              <a:rPr lang="en-US" sz="1200" dirty="0">
                <a:solidFill>
                  <a:srgbClr val="2D2D2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led_array[8]</a:t>
            </a:r>
            <a:pPr algn="l" indent="0" marL="0">
              <a:lnSpc>
                <a:spcPct val="115000"/>
              </a:lnSpc>
              <a:buNone/>
            </a:pPr>
            <a:r>
              <a:rPr lang="en-US" sz="1200" dirty="0">
                <a:solidFill>
                  <a:srgbClr val="2D2D2D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：编号最大只到 7</a:t>
            </a:r>
            <a:endParaRPr lang="en-US" sz="1200" dirty="0"/>
          </a:p>
        </p:txBody>
      </p:sp>
      <p:sp>
        <p:nvSpPr>
          <p:cNvPr id="54" name="Shape 47"/>
          <p:cNvSpPr/>
          <p:nvPr/>
        </p:nvSpPr>
        <p:spPr>
          <a:xfrm>
            <a:off x="4892040" y="4178808"/>
            <a:ext cx="237744" cy="237744"/>
          </a:xfrm>
          <a:prstGeom prst="ellipse">
            <a:avLst/>
          </a:prstGeom>
          <a:solidFill>
            <a:srgbClr val="40E0D0"/>
          </a:solidFill>
          <a:ln w="12700">
            <a:solidFill>
              <a:srgbClr val="40E0D0"/>
            </a:solidFill>
            <a:prstDash val="solid"/>
          </a:ln>
        </p:spPr>
      </p:sp>
      <p:pic>
        <p:nvPicPr>
          <p:cNvPr id="55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951476" y="4238244"/>
            <a:ext cx="118872" cy="118872"/>
          </a:xfrm>
          <a:prstGeom prst="rect">
            <a:avLst/>
          </a:prstGeom>
        </p:spPr>
      </p:pic>
      <p:sp>
        <p:nvSpPr>
          <p:cNvPr id="56" name="Text 48"/>
          <p:cNvSpPr txBox="1"/>
          <p:nvPr/>
        </p:nvSpPr>
        <p:spPr>
          <a:xfrm>
            <a:off x="5221224" y="4142232"/>
            <a:ext cx="332841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1200" dirty="0">
                <a:solidFill>
                  <a:srgbClr val="2D2D2D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配合 for 循环，几行代码就能控制 8 盏灯</a:t>
            </a:r>
            <a:endParaRPr lang="en-US" sz="12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339328" y="4736592"/>
            <a:ext cx="393192" cy="219456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 lIns="0" tIns="0" rIns="0" bIns="0" anchor="ctr"/>
          <a:lstStyle>
            <a:lvl1pPr>
              <a:defRPr sz="800">
                <a:solidFill>
                  <a:srgbClr val="6B6B6B"/>
                </a:solidFill>
                <a:latin typeface="微软雅黑"/>
                <a:ea typeface="微软雅黑"/>
                <a:cs typeface="微软雅黑"/>
              </a:defRPr>
            </a:lvl1pPr>
          </a:lstStyle>
          <a:p>
            <a:pPr algn="r"/>
            <a:fld id="{F7021451-1387-4CA6-816F-3879F97B5CBC}" type="slidenum">
              <a:rPr b="0" lang="en-US"/>
              <a:t>10</a:t>
            </a:fld>
            <a:endParaRPr lang="en-US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1"/>
          <p:cNvSpPr/>
          <p:nvPr>
            <p:ph idx="102" type="body" hasCustomPrompt="1"/>
          </p:nvPr>
        </p:nvSpPr>
        <p:spPr>
          <a:xfrm>
            <a:off x="4572000" y="4736592"/>
            <a:ext cx="370332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2D2D2D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变量与数据</a:t>
            </a:r>
            <a:endParaRPr lang="en-US" sz="800" dirty="0"/>
          </a:p>
        </p:txBody>
      </p:sp>
      <p:sp>
        <p:nvSpPr>
          <p:cNvPr id="3" name="Text 1"/>
          <p:cNvSpPr/>
          <p:nvPr>
            <p:ph idx="103" type="title" hasCustomPrompt="1"/>
          </p:nvPr>
        </p:nvSpPr>
        <p:spPr>
          <a:xfrm>
            <a:off x="411480" y="274320"/>
            <a:ext cx="83210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400" dirty="0">
                <a:solidFill>
                  <a:srgbClr val="2D2D2D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运算符：算一算、比一比</a:t>
            </a:r>
            <a:endParaRPr lang="en-US" sz="2400" dirty="0"/>
          </a:p>
        </p:txBody>
      </p:sp>
      <p:sp>
        <p:nvSpPr>
          <p:cNvPr id="4" name="Text 1"/>
          <p:cNvSpPr/>
          <p:nvPr>
            <p:ph idx="104" type="body" hasCustomPrompt="1"/>
          </p:nvPr>
        </p:nvSpPr>
        <p:spPr>
          <a:xfrm>
            <a:off x="411480" y="786384"/>
            <a:ext cx="83210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6B6B6B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四类运算符：算术、赋值、比较、逻辑。比较和逻辑的结果只有“真”或“假”。</a:t>
            </a:r>
            <a:endParaRPr lang="en-US" sz="1200" dirty="0"/>
          </a:p>
        </p:txBody>
      </p:sp>
      <p:sp>
        <p:nvSpPr>
          <p:cNvPr id="6" name="Shape 3"/>
          <p:cNvSpPr/>
          <p:nvPr/>
        </p:nvSpPr>
        <p:spPr>
          <a:xfrm>
            <a:off x="411480" y="1234440"/>
            <a:ext cx="4023360" cy="1531620"/>
          </a:xfrm>
          <a:prstGeom prst="roundRect">
            <a:avLst>
              <a:gd name="adj" fmla="val 7164"/>
            </a:avLst>
          </a:prstGeom>
          <a:solidFill>
            <a:srgbClr val="F5F5F5"/>
          </a:solidFill>
          <a:ln w="12700">
            <a:solidFill>
              <a:srgbClr val="F5F5F5"/>
            </a:solidFill>
            <a:prstDash val="solid"/>
          </a:ln>
        </p:spPr>
      </p:sp>
      <p:sp>
        <p:nvSpPr>
          <p:cNvPr id="7" name="Shape 4"/>
          <p:cNvSpPr/>
          <p:nvPr/>
        </p:nvSpPr>
        <p:spPr>
          <a:xfrm>
            <a:off x="576072" y="1371600"/>
            <a:ext cx="347472" cy="347472"/>
          </a:xfrm>
          <a:prstGeom prst="ellipse">
            <a:avLst/>
          </a:prstGeom>
          <a:solidFill>
            <a:srgbClr val="40E0D0"/>
          </a:solidFill>
          <a:ln w="12700">
            <a:solidFill>
              <a:srgbClr val="40E0D0"/>
            </a:solidFill>
            <a:prstDash val="solid"/>
          </a:ln>
        </p:spPr>
      </p:sp>
      <p:pic>
        <p:nvPicPr>
          <p:cNvPr id="8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59465" y="1454993"/>
            <a:ext cx="180685" cy="180685"/>
          </a:xfrm>
          <a:prstGeom prst="rect">
            <a:avLst/>
          </a:prstGeom>
        </p:spPr>
      </p:pic>
      <p:sp>
        <p:nvSpPr>
          <p:cNvPr id="9" name="Text 5"/>
          <p:cNvSpPr txBox="1"/>
          <p:nvPr/>
        </p:nvSpPr>
        <p:spPr>
          <a:xfrm>
            <a:off x="1014984" y="1353312"/>
            <a:ext cx="6400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1500" b="1" dirty="0">
                <a:solidFill>
                  <a:srgbClr val="2D2D2D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算术</a:t>
            </a:r>
            <a:endParaRPr lang="en-US" sz="1500" dirty="0"/>
          </a:p>
        </p:txBody>
      </p:sp>
      <p:sp>
        <p:nvSpPr>
          <p:cNvPr id="10" name="Text 6"/>
          <p:cNvSpPr txBox="1"/>
          <p:nvPr/>
        </p:nvSpPr>
        <p:spPr>
          <a:xfrm>
            <a:off x="1645920" y="1353312"/>
            <a:ext cx="262432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lnSpc>
                <a:spcPct val="115000"/>
              </a:lnSpc>
              <a:buNone/>
            </a:pPr>
            <a:r>
              <a:rPr lang="en-US" sz="1500" b="1" dirty="0">
                <a:solidFill>
                  <a:srgbClr val="2D2D2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+  -  *  /  %</a:t>
            </a:r>
            <a:endParaRPr lang="en-US" sz="1500" dirty="0"/>
          </a:p>
        </p:txBody>
      </p:sp>
      <p:sp>
        <p:nvSpPr>
          <p:cNvPr id="11" name="Text 7"/>
          <p:cNvSpPr txBox="1"/>
          <p:nvPr/>
        </p:nvSpPr>
        <p:spPr>
          <a:xfrm>
            <a:off x="612648" y="1856232"/>
            <a:ext cx="1600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1200" b="1" dirty="0">
                <a:solidFill>
                  <a:srgbClr val="2D2D2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7 + 2</a:t>
            </a:r>
            <a:endParaRPr lang="en-US" sz="1200" dirty="0"/>
          </a:p>
        </p:txBody>
      </p:sp>
      <p:sp>
        <p:nvSpPr>
          <p:cNvPr id="12" name="Text 8"/>
          <p:cNvSpPr txBox="1"/>
          <p:nvPr/>
        </p:nvSpPr>
        <p:spPr>
          <a:xfrm>
            <a:off x="2240280" y="1856232"/>
            <a:ext cx="202996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1200" dirty="0">
                <a:solidFill>
                  <a:srgbClr val="2D2D2D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→ 9，加减乘除</a:t>
            </a:r>
            <a:endParaRPr lang="en-US" sz="1200" dirty="0"/>
          </a:p>
        </p:txBody>
      </p:sp>
      <p:sp>
        <p:nvSpPr>
          <p:cNvPr id="13" name="Text 9"/>
          <p:cNvSpPr txBox="1"/>
          <p:nvPr/>
        </p:nvSpPr>
        <p:spPr>
          <a:xfrm>
            <a:off x="612648" y="2139696"/>
            <a:ext cx="1600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1200" b="1" dirty="0">
                <a:solidFill>
                  <a:srgbClr val="2D2D2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7 / 2</a:t>
            </a:r>
            <a:endParaRPr lang="en-US" sz="1200" dirty="0"/>
          </a:p>
        </p:txBody>
      </p:sp>
      <p:sp>
        <p:nvSpPr>
          <p:cNvPr id="14" name="Text 10"/>
          <p:cNvSpPr txBox="1"/>
          <p:nvPr/>
        </p:nvSpPr>
        <p:spPr>
          <a:xfrm>
            <a:off x="2240280" y="2139696"/>
            <a:ext cx="202996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1200" dirty="0">
                <a:solidFill>
                  <a:srgbClr val="2D2D2D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→ 3，整数相除舍去小数</a:t>
            </a:r>
            <a:endParaRPr lang="en-US" sz="1200" dirty="0"/>
          </a:p>
        </p:txBody>
      </p:sp>
      <p:sp>
        <p:nvSpPr>
          <p:cNvPr id="15" name="Text 11"/>
          <p:cNvSpPr txBox="1"/>
          <p:nvPr/>
        </p:nvSpPr>
        <p:spPr>
          <a:xfrm>
            <a:off x="612648" y="2423160"/>
            <a:ext cx="1600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1200" b="1" dirty="0">
                <a:solidFill>
                  <a:srgbClr val="2D2D2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7 % 2</a:t>
            </a:r>
            <a:endParaRPr lang="en-US" sz="1200" dirty="0"/>
          </a:p>
        </p:txBody>
      </p:sp>
      <p:sp>
        <p:nvSpPr>
          <p:cNvPr id="16" name="Text 12"/>
          <p:cNvSpPr txBox="1"/>
          <p:nvPr/>
        </p:nvSpPr>
        <p:spPr>
          <a:xfrm>
            <a:off x="2240280" y="2423160"/>
            <a:ext cx="202996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1200" dirty="0">
                <a:solidFill>
                  <a:srgbClr val="2D2D2D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→ 1，取余数</a:t>
            </a:r>
            <a:endParaRPr lang="en-US" sz="1200" dirty="0"/>
          </a:p>
        </p:txBody>
      </p:sp>
      <p:sp>
        <p:nvSpPr>
          <p:cNvPr id="17" name="Shape 13"/>
          <p:cNvSpPr/>
          <p:nvPr/>
        </p:nvSpPr>
        <p:spPr>
          <a:xfrm>
            <a:off x="4709160" y="1234440"/>
            <a:ext cx="4023360" cy="1531620"/>
          </a:xfrm>
          <a:prstGeom prst="roundRect">
            <a:avLst>
              <a:gd name="adj" fmla="val 7164"/>
            </a:avLst>
          </a:prstGeom>
          <a:solidFill>
            <a:srgbClr val="F5F5F5"/>
          </a:solidFill>
          <a:ln w="12700">
            <a:solidFill>
              <a:srgbClr val="F5F5F5"/>
            </a:solidFill>
            <a:prstDash val="solid"/>
          </a:ln>
        </p:spPr>
      </p:sp>
      <p:sp>
        <p:nvSpPr>
          <p:cNvPr id="18" name="Shape 14"/>
          <p:cNvSpPr/>
          <p:nvPr/>
        </p:nvSpPr>
        <p:spPr>
          <a:xfrm>
            <a:off x="4873752" y="1371600"/>
            <a:ext cx="347472" cy="347472"/>
          </a:xfrm>
          <a:prstGeom prst="ellipse">
            <a:avLst/>
          </a:prstGeom>
          <a:solidFill>
            <a:srgbClr val="40E0D0"/>
          </a:solidFill>
          <a:ln w="12700">
            <a:solidFill>
              <a:srgbClr val="40E0D0"/>
            </a:solidFill>
            <a:prstDash val="solid"/>
          </a:ln>
        </p:spPr>
      </p:sp>
      <p:pic>
        <p:nvPicPr>
          <p:cNvPr id="19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957145" y="1454993"/>
            <a:ext cx="180685" cy="180685"/>
          </a:xfrm>
          <a:prstGeom prst="rect">
            <a:avLst/>
          </a:prstGeom>
        </p:spPr>
      </p:pic>
      <p:sp>
        <p:nvSpPr>
          <p:cNvPr id="20" name="Text 15"/>
          <p:cNvSpPr txBox="1"/>
          <p:nvPr/>
        </p:nvSpPr>
        <p:spPr>
          <a:xfrm>
            <a:off x="5312664" y="1353312"/>
            <a:ext cx="6400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1500" b="1" dirty="0">
                <a:solidFill>
                  <a:srgbClr val="2D2D2D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赋值</a:t>
            </a:r>
            <a:endParaRPr lang="en-US" sz="1500" dirty="0"/>
          </a:p>
        </p:txBody>
      </p:sp>
      <p:sp>
        <p:nvSpPr>
          <p:cNvPr id="21" name="Text 16"/>
          <p:cNvSpPr txBox="1"/>
          <p:nvPr/>
        </p:nvSpPr>
        <p:spPr>
          <a:xfrm>
            <a:off x="5943600" y="1353312"/>
            <a:ext cx="262432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lnSpc>
                <a:spcPct val="115000"/>
              </a:lnSpc>
              <a:buNone/>
            </a:pPr>
            <a:r>
              <a:rPr lang="en-US" sz="1500" b="1" dirty="0">
                <a:solidFill>
                  <a:srgbClr val="2D2D2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=  +=  -=  ++  --</a:t>
            </a:r>
            <a:endParaRPr lang="en-US" sz="1500" dirty="0"/>
          </a:p>
        </p:txBody>
      </p:sp>
      <p:sp>
        <p:nvSpPr>
          <p:cNvPr id="22" name="Text 17"/>
          <p:cNvSpPr txBox="1"/>
          <p:nvPr/>
        </p:nvSpPr>
        <p:spPr>
          <a:xfrm>
            <a:off x="4910328" y="1856232"/>
            <a:ext cx="1600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1200" b="1" dirty="0">
                <a:solidFill>
                  <a:srgbClr val="2D2D2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x = 5;</a:t>
            </a:r>
            <a:endParaRPr lang="en-US" sz="1200" dirty="0"/>
          </a:p>
        </p:txBody>
      </p:sp>
      <p:sp>
        <p:nvSpPr>
          <p:cNvPr id="23" name="Text 18"/>
          <p:cNvSpPr txBox="1"/>
          <p:nvPr/>
        </p:nvSpPr>
        <p:spPr>
          <a:xfrm>
            <a:off x="6537960" y="1856232"/>
            <a:ext cx="202996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1200" dirty="0">
                <a:solidFill>
                  <a:srgbClr val="2D2D2D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把 5 放进 x</a:t>
            </a:r>
            <a:endParaRPr lang="en-US" sz="1200" dirty="0"/>
          </a:p>
        </p:txBody>
      </p:sp>
      <p:sp>
        <p:nvSpPr>
          <p:cNvPr id="24" name="Text 19"/>
          <p:cNvSpPr txBox="1"/>
          <p:nvPr/>
        </p:nvSpPr>
        <p:spPr>
          <a:xfrm>
            <a:off x="4910328" y="2139696"/>
            <a:ext cx="1600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1200" b="1" dirty="0">
                <a:solidFill>
                  <a:srgbClr val="2D2D2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x += 2;</a:t>
            </a:r>
            <a:endParaRPr lang="en-US" sz="1200" dirty="0"/>
          </a:p>
        </p:txBody>
      </p:sp>
      <p:sp>
        <p:nvSpPr>
          <p:cNvPr id="25" name="Text 20"/>
          <p:cNvSpPr txBox="1"/>
          <p:nvPr/>
        </p:nvSpPr>
        <p:spPr>
          <a:xfrm>
            <a:off x="6537960" y="2139696"/>
            <a:ext cx="202996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1200" dirty="0">
                <a:solidFill>
                  <a:srgbClr val="2D2D2D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等于 x = x + 2;</a:t>
            </a:r>
            <a:endParaRPr lang="en-US" sz="1200" dirty="0"/>
          </a:p>
        </p:txBody>
      </p:sp>
      <p:sp>
        <p:nvSpPr>
          <p:cNvPr id="26" name="Text 21"/>
          <p:cNvSpPr txBox="1"/>
          <p:nvPr/>
        </p:nvSpPr>
        <p:spPr>
          <a:xfrm>
            <a:off x="4910328" y="2423160"/>
            <a:ext cx="1600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1200" b="1" dirty="0">
                <a:solidFill>
                  <a:srgbClr val="2D2D2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i++;</a:t>
            </a:r>
            <a:endParaRPr lang="en-US" sz="1200" dirty="0"/>
          </a:p>
        </p:txBody>
      </p:sp>
      <p:sp>
        <p:nvSpPr>
          <p:cNvPr id="27" name="Text 22"/>
          <p:cNvSpPr txBox="1"/>
          <p:nvPr/>
        </p:nvSpPr>
        <p:spPr>
          <a:xfrm>
            <a:off x="6537960" y="2423160"/>
            <a:ext cx="202996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1200" dirty="0">
                <a:solidFill>
                  <a:srgbClr val="2D2D2D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等于 i = i + 1;</a:t>
            </a:r>
            <a:endParaRPr lang="en-US" sz="1200" dirty="0"/>
          </a:p>
        </p:txBody>
      </p:sp>
      <p:sp>
        <p:nvSpPr>
          <p:cNvPr id="28" name="Shape 23"/>
          <p:cNvSpPr/>
          <p:nvPr/>
        </p:nvSpPr>
        <p:spPr>
          <a:xfrm>
            <a:off x="411480" y="3040380"/>
            <a:ext cx="4023360" cy="1531620"/>
          </a:xfrm>
          <a:prstGeom prst="roundRect">
            <a:avLst>
              <a:gd name="adj" fmla="val 7164"/>
            </a:avLst>
          </a:prstGeom>
          <a:solidFill>
            <a:srgbClr val="F5F5F5"/>
          </a:solidFill>
          <a:ln w="12700">
            <a:solidFill>
              <a:srgbClr val="F5F5F5"/>
            </a:solidFill>
            <a:prstDash val="solid"/>
          </a:ln>
        </p:spPr>
      </p:sp>
      <p:sp>
        <p:nvSpPr>
          <p:cNvPr id="29" name="Shape 24"/>
          <p:cNvSpPr/>
          <p:nvPr/>
        </p:nvSpPr>
        <p:spPr>
          <a:xfrm>
            <a:off x="576072" y="3177540"/>
            <a:ext cx="347472" cy="347472"/>
          </a:xfrm>
          <a:prstGeom prst="ellipse">
            <a:avLst/>
          </a:prstGeom>
          <a:solidFill>
            <a:srgbClr val="40E0D0"/>
          </a:solidFill>
          <a:ln w="12700">
            <a:solidFill>
              <a:srgbClr val="40E0D0"/>
            </a:solidFill>
            <a:prstDash val="solid"/>
          </a:ln>
        </p:spPr>
      </p:sp>
      <p:pic>
        <p:nvPicPr>
          <p:cNvPr id="30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59465" y="3260933"/>
            <a:ext cx="180685" cy="180685"/>
          </a:xfrm>
          <a:prstGeom prst="rect">
            <a:avLst/>
          </a:prstGeom>
        </p:spPr>
      </p:pic>
      <p:sp>
        <p:nvSpPr>
          <p:cNvPr id="31" name="Text 25"/>
          <p:cNvSpPr txBox="1"/>
          <p:nvPr/>
        </p:nvSpPr>
        <p:spPr>
          <a:xfrm>
            <a:off x="1014984" y="3159252"/>
            <a:ext cx="6400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1500" b="1" dirty="0">
                <a:solidFill>
                  <a:srgbClr val="2D2D2D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比较</a:t>
            </a:r>
            <a:endParaRPr lang="en-US" sz="1500" dirty="0"/>
          </a:p>
        </p:txBody>
      </p:sp>
      <p:sp>
        <p:nvSpPr>
          <p:cNvPr id="32" name="Text 26"/>
          <p:cNvSpPr txBox="1"/>
          <p:nvPr/>
        </p:nvSpPr>
        <p:spPr>
          <a:xfrm>
            <a:off x="1645920" y="3159252"/>
            <a:ext cx="262432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lnSpc>
                <a:spcPct val="115000"/>
              </a:lnSpc>
              <a:buNone/>
            </a:pPr>
            <a:r>
              <a:rPr lang="en-US" sz="1500" b="1" dirty="0">
                <a:solidFill>
                  <a:srgbClr val="2D2D2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==  !=  &gt;  &lt;  &gt;=  &lt;=</a:t>
            </a:r>
            <a:endParaRPr lang="en-US" sz="1500" dirty="0"/>
          </a:p>
        </p:txBody>
      </p:sp>
      <p:sp>
        <p:nvSpPr>
          <p:cNvPr id="33" name="Text 27"/>
          <p:cNvSpPr txBox="1"/>
          <p:nvPr/>
        </p:nvSpPr>
        <p:spPr>
          <a:xfrm>
            <a:off x="612648" y="3662172"/>
            <a:ext cx="1600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1200" b="1" dirty="0">
                <a:solidFill>
                  <a:srgbClr val="2D2D2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value == LOW</a:t>
            </a:r>
            <a:endParaRPr lang="en-US" sz="1200" dirty="0"/>
          </a:p>
        </p:txBody>
      </p:sp>
      <p:sp>
        <p:nvSpPr>
          <p:cNvPr id="34" name="Text 28"/>
          <p:cNvSpPr txBox="1"/>
          <p:nvPr/>
        </p:nvSpPr>
        <p:spPr>
          <a:xfrm>
            <a:off x="2240280" y="3662172"/>
            <a:ext cx="202996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1200" dirty="0">
                <a:solidFill>
                  <a:srgbClr val="2D2D2D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判断是否相等</a:t>
            </a:r>
            <a:endParaRPr lang="en-US" sz="1200" dirty="0"/>
          </a:p>
        </p:txBody>
      </p:sp>
      <p:sp>
        <p:nvSpPr>
          <p:cNvPr id="35" name="Text 29"/>
          <p:cNvSpPr txBox="1"/>
          <p:nvPr/>
        </p:nvSpPr>
        <p:spPr>
          <a:xfrm>
            <a:off x="612648" y="3945636"/>
            <a:ext cx="1600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1200" b="1" dirty="0">
                <a:solidFill>
                  <a:srgbClr val="2D2D2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 != b</a:t>
            </a:r>
            <a:endParaRPr lang="en-US" sz="1200" dirty="0"/>
          </a:p>
        </p:txBody>
      </p:sp>
      <p:sp>
        <p:nvSpPr>
          <p:cNvPr id="36" name="Text 30"/>
          <p:cNvSpPr txBox="1"/>
          <p:nvPr/>
        </p:nvSpPr>
        <p:spPr>
          <a:xfrm>
            <a:off x="2240280" y="3945636"/>
            <a:ext cx="202996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1200" dirty="0">
                <a:solidFill>
                  <a:srgbClr val="2D2D2D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判断是否不相等</a:t>
            </a:r>
            <a:endParaRPr lang="en-US" sz="1200" dirty="0"/>
          </a:p>
        </p:txBody>
      </p:sp>
      <p:sp>
        <p:nvSpPr>
          <p:cNvPr id="37" name="Text 31"/>
          <p:cNvSpPr txBox="1"/>
          <p:nvPr/>
        </p:nvSpPr>
        <p:spPr>
          <a:xfrm>
            <a:off x="612648" y="4229100"/>
            <a:ext cx="1600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1200" b="1" dirty="0">
                <a:solidFill>
                  <a:srgbClr val="2D2D2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 &gt;= b</a:t>
            </a:r>
            <a:endParaRPr lang="en-US" sz="1200" dirty="0"/>
          </a:p>
        </p:txBody>
      </p:sp>
      <p:sp>
        <p:nvSpPr>
          <p:cNvPr id="38" name="Text 32"/>
          <p:cNvSpPr txBox="1"/>
          <p:nvPr/>
        </p:nvSpPr>
        <p:spPr>
          <a:xfrm>
            <a:off x="2240280" y="4229100"/>
            <a:ext cx="202996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1200" dirty="0">
                <a:solidFill>
                  <a:srgbClr val="2D2D2D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判断是否大于或等于</a:t>
            </a:r>
            <a:endParaRPr lang="en-US" sz="1200" dirty="0"/>
          </a:p>
        </p:txBody>
      </p:sp>
      <p:sp>
        <p:nvSpPr>
          <p:cNvPr id="39" name="Shape 33"/>
          <p:cNvSpPr/>
          <p:nvPr/>
        </p:nvSpPr>
        <p:spPr>
          <a:xfrm>
            <a:off x="4709160" y="3040380"/>
            <a:ext cx="4023360" cy="1531620"/>
          </a:xfrm>
          <a:prstGeom prst="roundRect">
            <a:avLst>
              <a:gd name="adj" fmla="val 7164"/>
            </a:avLst>
          </a:prstGeom>
          <a:solidFill>
            <a:srgbClr val="F5F5F5"/>
          </a:solidFill>
          <a:ln w="12700">
            <a:solidFill>
              <a:srgbClr val="F5F5F5"/>
            </a:solidFill>
            <a:prstDash val="solid"/>
          </a:ln>
        </p:spPr>
      </p:sp>
      <p:sp>
        <p:nvSpPr>
          <p:cNvPr id="40" name="Shape 34"/>
          <p:cNvSpPr/>
          <p:nvPr/>
        </p:nvSpPr>
        <p:spPr>
          <a:xfrm>
            <a:off x="4873752" y="3177540"/>
            <a:ext cx="347472" cy="347472"/>
          </a:xfrm>
          <a:prstGeom prst="ellipse">
            <a:avLst/>
          </a:prstGeom>
          <a:solidFill>
            <a:srgbClr val="40E0D0"/>
          </a:solidFill>
          <a:ln w="12700">
            <a:solidFill>
              <a:srgbClr val="40E0D0"/>
            </a:solidFill>
            <a:prstDash val="solid"/>
          </a:ln>
        </p:spPr>
      </p:sp>
      <p:pic>
        <p:nvPicPr>
          <p:cNvPr id="41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957145" y="3260933"/>
            <a:ext cx="180685" cy="180685"/>
          </a:xfrm>
          <a:prstGeom prst="rect">
            <a:avLst/>
          </a:prstGeom>
        </p:spPr>
      </p:pic>
      <p:sp>
        <p:nvSpPr>
          <p:cNvPr id="42" name="Text 35"/>
          <p:cNvSpPr txBox="1"/>
          <p:nvPr/>
        </p:nvSpPr>
        <p:spPr>
          <a:xfrm>
            <a:off x="5312664" y="3159252"/>
            <a:ext cx="6400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1500" b="1" dirty="0">
                <a:solidFill>
                  <a:srgbClr val="2D2D2D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逻辑</a:t>
            </a:r>
            <a:endParaRPr lang="en-US" sz="1500" dirty="0"/>
          </a:p>
        </p:txBody>
      </p:sp>
      <p:sp>
        <p:nvSpPr>
          <p:cNvPr id="43" name="Text 36"/>
          <p:cNvSpPr txBox="1"/>
          <p:nvPr/>
        </p:nvSpPr>
        <p:spPr>
          <a:xfrm>
            <a:off x="5943600" y="3159252"/>
            <a:ext cx="262432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lnSpc>
                <a:spcPct val="115000"/>
              </a:lnSpc>
              <a:buNone/>
            </a:pPr>
            <a:r>
              <a:rPr lang="en-US" sz="1500" b="1" dirty="0">
                <a:solidFill>
                  <a:srgbClr val="2D2D2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&amp;&amp;  ||  !</a:t>
            </a:r>
            <a:endParaRPr lang="en-US" sz="1500" dirty="0"/>
          </a:p>
        </p:txBody>
      </p:sp>
      <p:sp>
        <p:nvSpPr>
          <p:cNvPr id="44" name="Text 37"/>
          <p:cNvSpPr txBox="1"/>
          <p:nvPr/>
        </p:nvSpPr>
        <p:spPr>
          <a:xfrm>
            <a:off x="4910328" y="3662172"/>
            <a:ext cx="1600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1200" b="1" dirty="0">
                <a:solidFill>
                  <a:srgbClr val="2D2D2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 &amp;&amp; b</a:t>
            </a:r>
            <a:endParaRPr lang="en-US" sz="1200" dirty="0"/>
          </a:p>
        </p:txBody>
      </p:sp>
      <p:sp>
        <p:nvSpPr>
          <p:cNvPr id="45" name="Text 38"/>
          <p:cNvSpPr txBox="1"/>
          <p:nvPr/>
        </p:nvSpPr>
        <p:spPr>
          <a:xfrm>
            <a:off x="6537960" y="3662172"/>
            <a:ext cx="202996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1200" dirty="0">
                <a:solidFill>
                  <a:srgbClr val="2D2D2D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两个都成立（并且）</a:t>
            </a:r>
            <a:endParaRPr lang="en-US" sz="1200" dirty="0"/>
          </a:p>
        </p:txBody>
      </p:sp>
      <p:sp>
        <p:nvSpPr>
          <p:cNvPr id="46" name="Text 39"/>
          <p:cNvSpPr txBox="1"/>
          <p:nvPr/>
        </p:nvSpPr>
        <p:spPr>
          <a:xfrm>
            <a:off x="4910328" y="3945636"/>
            <a:ext cx="1600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1200" b="1" dirty="0">
                <a:solidFill>
                  <a:srgbClr val="2D2D2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 || b</a:t>
            </a:r>
            <a:endParaRPr lang="en-US" sz="1200" dirty="0"/>
          </a:p>
        </p:txBody>
      </p:sp>
      <p:sp>
        <p:nvSpPr>
          <p:cNvPr id="47" name="Text 40"/>
          <p:cNvSpPr txBox="1"/>
          <p:nvPr/>
        </p:nvSpPr>
        <p:spPr>
          <a:xfrm>
            <a:off x="6537960" y="3945636"/>
            <a:ext cx="202996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1200" dirty="0">
                <a:solidFill>
                  <a:srgbClr val="2D2D2D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至少一个成立（或者）</a:t>
            </a:r>
            <a:endParaRPr lang="en-US" sz="1200" dirty="0"/>
          </a:p>
        </p:txBody>
      </p:sp>
      <p:sp>
        <p:nvSpPr>
          <p:cNvPr id="48" name="Text 41"/>
          <p:cNvSpPr txBox="1"/>
          <p:nvPr/>
        </p:nvSpPr>
        <p:spPr>
          <a:xfrm>
            <a:off x="4910328" y="4229100"/>
            <a:ext cx="1600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1200" b="1" dirty="0">
                <a:solidFill>
                  <a:srgbClr val="2D2D2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!a</a:t>
            </a:r>
            <a:endParaRPr lang="en-US" sz="1200" dirty="0"/>
          </a:p>
        </p:txBody>
      </p:sp>
      <p:sp>
        <p:nvSpPr>
          <p:cNvPr id="49" name="Text 42"/>
          <p:cNvSpPr txBox="1"/>
          <p:nvPr/>
        </p:nvSpPr>
        <p:spPr>
          <a:xfrm>
            <a:off x="6537960" y="4229100"/>
            <a:ext cx="202996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1200" dirty="0">
                <a:solidFill>
                  <a:srgbClr val="2D2D2D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取反（不是）</a:t>
            </a:r>
            <a:endParaRPr lang="en-US" sz="12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339328" y="4736592"/>
            <a:ext cx="393192" cy="219456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 lIns="0" tIns="0" rIns="0" bIns="0" anchor="ctr"/>
          <a:lstStyle>
            <a:lvl1pPr>
              <a:defRPr sz="800">
                <a:solidFill>
                  <a:srgbClr val="6B6B6B"/>
                </a:solidFill>
                <a:latin typeface="微软雅黑"/>
                <a:ea typeface="微软雅黑"/>
                <a:cs typeface="微软雅黑"/>
              </a:defRPr>
            </a:lvl1pPr>
          </a:lstStyle>
          <a:p>
            <a:pPr algn="r"/>
            <a:fld id="{F7021451-1387-4CA6-816F-3879F97B5CBC}" type="slidenum">
              <a:rPr b="0" lang="en-US"/>
              <a:t>11</a:t>
            </a:fld>
            <a:endParaRPr lang="en-US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1"/>
          <p:cNvSpPr/>
          <p:nvPr>
            <p:ph idx="102" type="body" hasCustomPrompt="1"/>
          </p:nvPr>
        </p:nvSpPr>
        <p:spPr>
          <a:xfrm>
            <a:off x="4572000" y="4736592"/>
            <a:ext cx="370332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2D2D2D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变量与数据</a:t>
            </a:r>
            <a:endParaRPr lang="en-US" sz="800" dirty="0"/>
          </a:p>
        </p:txBody>
      </p:sp>
      <p:sp>
        <p:nvSpPr>
          <p:cNvPr id="3" name="Text 1"/>
          <p:cNvSpPr/>
          <p:nvPr>
            <p:ph idx="103" type="title" hasCustomPrompt="1"/>
          </p:nvPr>
        </p:nvSpPr>
        <p:spPr>
          <a:xfrm>
            <a:off x="411480" y="274320"/>
            <a:ext cx="83210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400" dirty="0">
                <a:solidFill>
                  <a:srgbClr val="2D2D2D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运算符的两个大坑</a:t>
            </a:r>
            <a:endParaRPr lang="en-US" sz="2400" dirty="0"/>
          </a:p>
        </p:txBody>
      </p:sp>
      <p:sp>
        <p:nvSpPr>
          <p:cNvPr id="4" name="Text 1"/>
          <p:cNvSpPr/>
          <p:nvPr>
            <p:ph idx="104" type="body" hasCustomPrompt="1"/>
          </p:nvPr>
        </p:nvSpPr>
        <p:spPr>
          <a:xfrm>
            <a:off x="411480" y="786384"/>
            <a:ext cx="83210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6B6B6B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整数相除会把小数直接扔掉；判断“相等”要写两个等号。</a:t>
            </a:r>
            <a:endParaRPr lang="en-US" sz="1200" dirty="0"/>
          </a:p>
        </p:txBody>
      </p:sp>
      <p:sp>
        <p:nvSpPr>
          <p:cNvPr id="6" name="Shape 3"/>
          <p:cNvSpPr/>
          <p:nvPr/>
        </p:nvSpPr>
        <p:spPr>
          <a:xfrm>
            <a:off x="411480" y="1234440"/>
            <a:ext cx="4023360" cy="3337560"/>
          </a:xfrm>
          <a:prstGeom prst="roundRect">
            <a:avLst>
              <a:gd name="adj" fmla="val 3288"/>
            </a:avLst>
          </a:prstGeom>
          <a:solidFill>
            <a:srgbClr val="FFFFFF"/>
          </a:solidFill>
          <a:ln w="12700">
            <a:solidFill>
              <a:srgbClr val="E5484D"/>
            </a:solidFill>
            <a:prstDash val="solid"/>
          </a:ln>
        </p:spPr>
      </p:sp>
      <p:sp>
        <p:nvSpPr>
          <p:cNvPr id="7" name="Shape 4"/>
          <p:cNvSpPr/>
          <p:nvPr/>
        </p:nvSpPr>
        <p:spPr>
          <a:xfrm>
            <a:off x="594360" y="1399032"/>
            <a:ext cx="384048" cy="384048"/>
          </a:xfrm>
          <a:prstGeom prst="ellipse">
            <a:avLst/>
          </a:prstGeom>
          <a:solidFill>
            <a:srgbClr val="E5484D"/>
          </a:solidFill>
          <a:ln w="12700">
            <a:solidFill>
              <a:srgbClr val="E5484D"/>
            </a:solidFill>
            <a:prstDash val="solid"/>
          </a:ln>
        </p:spPr>
      </p:sp>
      <p:pic>
        <p:nvPicPr>
          <p:cNvPr id="8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86532" y="1491204"/>
            <a:ext cx="199705" cy="199705"/>
          </a:xfrm>
          <a:prstGeom prst="rect">
            <a:avLst/>
          </a:prstGeom>
        </p:spPr>
      </p:pic>
      <p:sp>
        <p:nvSpPr>
          <p:cNvPr id="9" name="Text 5"/>
          <p:cNvSpPr txBox="1"/>
          <p:nvPr/>
        </p:nvSpPr>
        <p:spPr>
          <a:xfrm>
            <a:off x="1106424" y="1380744"/>
            <a:ext cx="3145536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1500" b="1" dirty="0">
                <a:solidFill>
                  <a:srgbClr val="2D2D2D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坑 1：整数相除，小数没了</a:t>
            </a:r>
            <a:endParaRPr lang="en-US" sz="1500" dirty="0"/>
          </a:p>
        </p:txBody>
      </p:sp>
      <p:sp>
        <p:nvSpPr>
          <p:cNvPr id="10" name="Shape 6"/>
          <p:cNvSpPr/>
          <p:nvPr/>
        </p:nvSpPr>
        <p:spPr>
          <a:xfrm>
            <a:off x="594360" y="2020824"/>
            <a:ext cx="274320" cy="274320"/>
          </a:xfrm>
          <a:prstGeom prst="ellipse">
            <a:avLst/>
          </a:prstGeom>
          <a:solidFill>
            <a:srgbClr val="E5484D"/>
          </a:solidFill>
          <a:ln w="12700">
            <a:solidFill>
              <a:srgbClr val="E5484D"/>
            </a:solidFill>
            <a:prstDash val="solid"/>
          </a:ln>
        </p:spPr>
      </p:sp>
      <p:pic>
        <p:nvPicPr>
          <p:cNvPr id="11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62940" y="2089404"/>
            <a:ext cx="137160" cy="137160"/>
          </a:xfrm>
          <a:prstGeom prst="rect">
            <a:avLst/>
          </a:prstGeom>
        </p:spPr>
      </p:pic>
      <p:sp>
        <p:nvSpPr>
          <p:cNvPr id="12" name="Text 7"/>
          <p:cNvSpPr txBox="1"/>
          <p:nvPr/>
        </p:nvSpPr>
        <p:spPr>
          <a:xfrm>
            <a:off x="978408" y="1929384"/>
            <a:ext cx="32918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2400" b="1" dirty="0">
                <a:solidFill>
                  <a:srgbClr val="2D2D2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7 / 2 = 3</a:t>
            </a:r>
            <a:endParaRPr lang="en-US" sz="2400" dirty="0"/>
          </a:p>
        </p:txBody>
      </p:sp>
      <p:sp>
        <p:nvSpPr>
          <p:cNvPr id="13" name="Text 8"/>
          <p:cNvSpPr txBox="1"/>
          <p:nvPr/>
        </p:nvSpPr>
        <p:spPr>
          <a:xfrm>
            <a:off x="978408" y="2386584"/>
            <a:ext cx="32918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1200" dirty="0">
                <a:solidFill>
                  <a:srgbClr val="E5484D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整数 ÷ 整数，小数部分被直接扔掉</a:t>
            </a:r>
            <a:endParaRPr lang="en-US" sz="1200" dirty="0"/>
          </a:p>
        </p:txBody>
      </p:sp>
      <p:sp>
        <p:nvSpPr>
          <p:cNvPr id="14" name="Shape 9"/>
          <p:cNvSpPr/>
          <p:nvPr/>
        </p:nvSpPr>
        <p:spPr>
          <a:xfrm>
            <a:off x="594360" y="2898648"/>
            <a:ext cx="274320" cy="274320"/>
          </a:xfrm>
          <a:prstGeom prst="ellipse">
            <a:avLst/>
          </a:prstGeom>
          <a:solidFill>
            <a:srgbClr val="40E0D0"/>
          </a:solidFill>
          <a:ln w="12700">
            <a:solidFill>
              <a:srgbClr val="40E0D0"/>
            </a:solidFill>
            <a:prstDash val="solid"/>
          </a:ln>
        </p:spPr>
      </p:sp>
      <p:pic>
        <p:nvPicPr>
          <p:cNvPr id="15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62940" y="2967228"/>
            <a:ext cx="137160" cy="137160"/>
          </a:xfrm>
          <a:prstGeom prst="rect">
            <a:avLst/>
          </a:prstGeom>
        </p:spPr>
      </p:pic>
      <p:sp>
        <p:nvSpPr>
          <p:cNvPr id="16" name="Text 10"/>
          <p:cNvSpPr txBox="1"/>
          <p:nvPr/>
        </p:nvSpPr>
        <p:spPr>
          <a:xfrm>
            <a:off x="978408" y="2807208"/>
            <a:ext cx="32918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2400" b="1" dirty="0">
                <a:solidFill>
                  <a:srgbClr val="2D2D2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7.0 / 2 = 3.5</a:t>
            </a:r>
            <a:endParaRPr lang="en-US" sz="2400" dirty="0"/>
          </a:p>
        </p:txBody>
      </p:sp>
      <p:sp>
        <p:nvSpPr>
          <p:cNvPr id="17" name="Text 11"/>
          <p:cNvSpPr txBox="1"/>
          <p:nvPr/>
        </p:nvSpPr>
        <p:spPr>
          <a:xfrm>
            <a:off x="978408" y="3264408"/>
            <a:ext cx="32918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1200" dirty="0">
                <a:solidFill>
                  <a:srgbClr val="2D2D2D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只要有一个是小数，结果就保留小数</a:t>
            </a:r>
            <a:endParaRPr lang="en-US" sz="1200" dirty="0"/>
          </a:p>
        </p:txBody>
      </p:sp>
      <p:sp>
        <p:nvSpPr>
          <p:cNvPr id="18" name="Shape 12"/>
          <p:cNvSpPr/>
          <p:nvPr/>
        </p:nvSpPr>
        <p:spPr>
          <a:xfrm>
            <a:off x="548640" y="3703320"/>
            <a:ext cx="3749040" cy="731520"/>
          </a:xfrm>
          <a:prstGeom prst="roundRect">
            <a:avLst>
              <a:gd name="adj" fmla="val 15000"/>
            </a:avLst>
          </a:prstGeom>
          <a:solidFill>
            <a:srgbClr val="E3FAF7"/>
          </a:solidFill>
          <a:ln w="12700">
            <a:solidFill>
              <a:srgbClr val="E3FAF7"/>
            </a:solidFill>
            <a:prstDash val="solid"/>
          </a:ln>
        </p:spPr>
      </p:sp>
      <p:sp>
        <p:nvSpPr>
          <p:cNvPr id="19" name="Shape 13"/>
          <p:cNvSpPr/>
          <p:nvPr/>
        </p:nvSpPr>
        <p:spPr>
          <a:xfrm>
            <a:off x="694944" y="3849624"/>
            <a:ext cx="329184" cy="329184"/>
          </a:xfrm>
          <a:prstGeom prst="ellipse">
            <a:avLst/>
          </a:prstGeom>
          <a:solidFill>
            <a:srgbClr val="40E0D0"/>
          </a:solidFill>
          <a:ln w="12700">
            <a:solidFill>
              <a:srgbClr val="40E0D0"/>
            </a:solidFill>
            <a:prstDash val="solid"/>
          </a:ln>
        </p:spPr>
      </p:sp>
      <p:pic>
        <p:nvPicPr>
          <p:cNvPr id="20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73948" y="3928628"/>
            <a:ext cx="171176" cy="171176"/>
          </a:xfrm>
          <a:prstGeom prst="rect">
            <a:avLst/>
          </a:prstGeom>
        </p:spPr>
      </p:pic>
      <p:sp>
        <p:nvSpPr>
          <p:cNvPr id="21" name="Text 14"/>
          <p:cNvSpPr txBox="1"/>
          <p:nvPr/>
        </p:nvSpPr>
        <p:spPr>
          <a:xfrm>
            <a:off x="1152144" y="3840480"/>
            <a:ext cx="2999232" cy="4480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1200" dirty="0">
                <a:solidFill>
                  <a:srgbClr val="2D2D2D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像分苹果：7 个分给 2 人，每人 3 个，</a:t>
            </a:r>
            <a:endParaRPr lang="en-US" sz="1200" dirty="0"/>
          </a:p>
          <a:p>
            <a:pPr algn="l" indent="0" marL="0">
              <a:lnSpc>
                <a:spcPct val="115000"/>
              </a:lnSpc>
              <a:buNone/>
            </a:pPr>
            <a:r>
              <a:rPr lang="en-US" sz="1200" dirty="0">
                <a:solidFill>
                  <a:srgbClr val="2D2D2D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剩下的 1 个就是余数：7 % 2 = 1。</a:t>
            </a:r>
            <a:endParaRPr lang="en-US" sz="1200" dirty="0"/>
          </a:p>
        </p:txBody>
      </p:sp>
      <p:sp>
        <p:nvSpPr>
          <p:cNvPr id="22" name="Shape 15"/>
          <p:cNvSpPr/>
          <p:nvPr/>
        </p:nvSpPr>
        <p:spPr>
          <a:xfrm>
            <a:off x="4709160" y="1234440"/>
            <a:ext cx="4023360" cy="3337560"/>
          </a:xfrm>
          <a:prstGeom prst="roundRect">
            <a:avLst>
              <a:gd name="adj" fmla="val 3288"/>
            </a:avLst>
          </a:prstGeom>
          <a:solidFill>
            <a:srgbClr val="FFFFFF"/>
          </a:solidFill>
          <a:ln w="12700">
            <a:solidFill>
              <a:srgbClr val="E5484D"/>
            </a:solidFill>
            <a:prstDash val="solid"/>
          </a:ln>
        </p:spPr>
      </p:sp>
      <p:sp>
        <p:nvSpPr>
          <p:cNvPr id="23" name="Shape 16"/>
          <p:cNvSpPr/>
          <p:nvPr/>
        </p:nvSpPr>
        <p:spPr>
          <a:xfrm>
            <a:off x="4892040" y="1399032"/>
            <a:ext cx="384048" cy="384048"/>
          </a:xfrm>
          <a:prstGeom prst="ellipse">
            <a:avLst/>
          </a:prstGeom>
          <a:solidFill>
            <a:srgbClr val="E5484D"/>
          </a:solidFill>
          <a:ln w="12700">
            <a:solidFill>
              <a:srgbClr val="E5484D"/>
            </a:solidFill>
            <a:prstDash val="solid"/>
          </a:ln>
        </p:spPr>
      </p:sp>
      <p:pic>
        <p:nvPicPr>
          <p:cNvPr id="24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984212" y="1491204"/>
            <a:ext cx="199705" cy="199705"/>
          </a:xfrm>
          <a:prstGeom prst="rect">
            <a:avLst/>
          </a:prstGeom>
        </p:spPr>
      </p:pic>
      <p:sp>
        <p:nvSpPr>
          <p:cNvPr id="25" name="Text 17"/>
          <p:cNvSpPr txBox="1"/>
          <p:nvPr/>
        </p:nvSpPr>
        <p:spPr>
          <a:xfrm>
            <a:off x="5404104" y="1380744"/>
            <a:ext cx="3145536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1500" b="1" dirty="0">
                <a:solidFill>
                  <a:srgbClr val="2D2D2D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坑 2：= 和 == 不是一回事</a:t>
            </a:r>
            <a:endParaRPr lang="en-US" sz="1500" dirty="0"/>
          </a:p>
        </p:txBody>
      </p:sp>
      <p:sp>
        <p:nvSpPr>
          <p:cNvPr id="26" name="Shape 18"/>
          <p:cNvSpPr/>
          <p:nvPr/>
        </p:nvSpPr>
        <p:spPr>
          <a:xfrm>
            <a:off x="4892040" y="2020824"/>
            <a:ext cx="274320" cy="274320"/>
          </a:xfrm>
          <a:prstGeom prst="ellipse">
            <a:avLst/>
          </a:prstGeom>
          <a:solidFill>
            <a:srgbClr val="E5484D"/>
          </a:solidFill>
          <a:ln w="12700">
            <a:solidFill>
              <a:srgbClr val="E5484D"/>
            </a:solidFill>
            <a:prstDash val="solid"/>
          </a:ln>
        </p:spPr>
      </p:sp>
      <p:pic>
        <p:nvPicPr>
          <p:cNvPr id="27" name="Image 5" descr="preencoded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4960620" y="2089404"/>
            <a:ext cx="137160" cy="137160"/>
          </a:xfrm>
          <a:prstGeom prst="rect">
            <a:avLst/>
          </a:prstGeom>
        </p:spPr>
      </p:pic>
      <p:sp>
        <p:nvSpPr>
          <p:cNvPr id="28" name="Text 19"/>
          <p:cNvSpPr txBox="1"/>
          <p:nvPr/>
        </p:nvSpPr>
        <p:spPr>
          <a:xfrm>
            <a:off x="5276088" y="1929384"/>
            <a:ext cx="32918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2000" b="1" dirty="0">
                <a:solidFill>
                  <a:srgbClr val="2D2D2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if (value = LOW)</a:t>
            </a:r>
            <a:endParaRPr lang="en-US" sz="2000" dirty="0"/>
          </a:p>
        </p:txBody>
      </p:sp>
      <p:sp>
        <p:nvSpPr>
          <p:cNvPr id="29" name="Text 20"/>
          <p:cNvSpPr txBox="1"/>
          <p:nvPr/>
        </p:nvSpPr>
        <p:spPr>
          <a:xfrm>
            <a:off x="5276088" y="2386584"/>
            <a:ext cx="32918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1200" dirty="0">
                <a:solidFill>
                  <a:srgbClr val="E5484D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一个等号是“放进去”，不是比较</a:t>
            </a:r>
            <a:endParaRPr lang="en-US" sz="1200" dirty="0"/>
          </a:p>
        </p:txBody>
      </p:sp>
      <p:sp>
        <p:nvSpPr>
          <p:cNvPr id="30" name="Shape 21"/>
          <p:cNvSpPr/>
          <p:nvPr/>
        </p:nvSpPr>
        <p:spPr>
          <a:xfrm>
            <a:off x="4892040" y="2898648"/>
            <a:ext cx="274320" cy="274320"/>
          </a:xfrm>
          <a:prstGeom prst="ellipse">
            <a:avLst/>
          </a:prstGeom>
          <a:solidFill>
            <a:srgbClr val="40E0D0"/>
          </a:solidFill>
          <a:ln w="12700">
            <a:solidFill>
              <a:srgbClr val="40E0D0"/>
            </a:solidFill>
            <a:prstDash val="solid"/>
          </a:ln>
        </p:spPr>
      </p:sp>
      <p:pic>
        <p:nvPicPr>
          <p:cNvPr id="31" name="Image 6" descr="preencoded.png">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4960620" y="2967228"/>
            <a:ext cx="137160" cy="137160"/>
          </a:xfrm>
          <a:prstGeom prst="rect">
            <a:avLst/>
          </a:prstGeom>
        </p:spPr>
      </p:pic>
      <p:sp>
        <p:nvSpPr>
          <p:cNvPr id="32" name="Text 22"/>
          <p:cNvSpPr txBox="1"/>
          <p:nvPr/>
        </p:nvSpPr>
        <p:spPr>
          <a:xfrm>
            <a:off x="5276088" y="2807208"/>
            <a:ext cx="32918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2000" b="1" dirty="0">
                <a:solidFill>
                  <a:srgbClr val="2D2D2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if (value == LOW)</a:t>
            </a:r>
            <a:endParaRPr lang="en-US" sz="2000" dirty="0"/>
          </a:p>
        </p:txBody>
      </p:sp>
      <p:sp>
        <p:nvSpPr>
          <p:cNvPr id="33" name="Text 23"/>
          <p:cNvSpPr txBox="1"/>
          <p:nvPr/>
        </p:nvSpPr>
        <p:spPr>
          <a:xfrm>
            <a:off x="5276088" y="3264408"/>
            <a:ext cx="32918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1200" dirty="0">
                <a:solidFill>
                  <a:srgbClr val="2D2D2D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两个等号才是“问一问：相等吗？”</a:t>
            </a:r>
            <a:endParaRPr lang="en-US" sz="1200" dirty="0"/>
          </a:p>
        </p:txBody>
      </p:sp>
      <p:sp>
        <p:nvSpPr>
          <p:cNvPr id="34" name="Shape 24"/>
          <p:cNvSpPr/>
          <p:nvPr/>
        </p:nvSpPr>
        <p:spPr>
          <a:xfrm>
            <a:off x="4846320" y="3703320"/>
            <a:ext cx="3749040" cy="731520"/>
          </a:xfrm>
          <a:prstGeom prst="roundRect">
            <a:avLst>
              <a:gd name="adj" fmla="val 15000"/>
            </a:avLst>
          </a:prstGeom>
          <a:solidFill>
            <a:srgbClr val="E3FAF7"/>
          </a:solidFill>
          <a:ln w="12700">
            <a:solidFill>
              <a:srgbClr val="E3FAF7"/>
            </a:solidFill>
            <a:prstDash val="solid"/>
          </a:ln>
        </p:spPr>
      </p:sp>
      <p:sp>
        <p:nvSpPr>
          <p:cNvPr id="35" name="Shape 25"/>
          <p:cNvSpPr/>
          <p:nvPr/>
        </p:nvSpPr>
        <p:spPr>
          <a:xfrm>
            <a:off x="4992624" y="3849624"/>
            <a:ext cx="329184" cy="329184"/>
          </a:xfrm>
          <a:prstGeom prst="ellipse">
            <a:avLst/>
          </a:prstGeom>
          <a:solidFill>
            <a:srgbClr val="40E0D0"/>
          </a:solidFill>
          <a:ln w="12700">
            <a:solidFill>
              <a:srgbClr val="40E0D0"/>
            </a:solidFill>
            <a:prstDash val="solid"/>
          </a:ln>
        </p:spPr>
      </p:sp>
      <p:pic>
        <p:nvPicPr>
          <p:cNvPr id="36" name="Image 7" descr="preencoded.png">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5071628" y="3928628"/>
            <a:ext cx="171176" cy="171176"/>
          </a:xfrm>
          <a:prstGeom prst="rect">
            <a:avLst/>
          </a:prstGeom>
        </p:spPr>
      </p:pic>
      <p:sp>
        <p:nvSpPr>
          <p:cNvPr id="37" name="Text 26"/>
          <p:cNvSpPr txBox="1"/>
          <p:nvPr/>
        </p:nvSpPr>
        <p:spPr>
          <a:xfrm>
            <a:off x="5449824" y="3840480"/>
            <a:ext cx="2999232" cy="4480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1200" dirty="0">
                <a:solidFill>
                  <a:srgbClr val="2D2D2D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记法：= 像把东西放进盒子；</a:t>
            </a:r>
            <a:endParaRPr lang="en-US" sz="1200" dirty="0"/>
          </a:p>
          <a:p>
            <a:pPr algn="l" indent="0" marL="0">
              <a:lnSpc>
                <a:spcPct val="115000"/>
              </a:lnSpc>
              <a:buNone/>
            </a:pPr>
            <a:r>
              <a:rPr lang="en-US" sz="1200" dirty="0">
                <a:solidFill>
                  <a:srgbClr val="2D2D2D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== 像拿两样东西比一比，看是不是一样。</a:t>
            </a:r>
            <a:endParaRPr lang="en-US" sz="12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339328" y="4736592"/>
            <a:ext cx="393192" cy="219456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 lIns="0" tIns="0" rIns="0" bIns="0" anchor="ctr"/>
          <a:lstStyle>
            <a:lvl1pPr>
              <a:defRPr sz="800">
                <a:solidFill>
                  <a:srgbClr val="6B6B6B"/>
                </a:solidFill>
                <a:latin typeface="微软雅黑"/>
                <a:ea typeface="微软雅黑"/>
                <a:cs typeface="微软雅黑"/>
              </a:defRPr>
            </a:lvl1pPr>
          </a:lstStyle>
          <a:p>
            <a:pPr algn="r"/>
            <a:fld id="{F7021451-1387-4CA6-816F-3879F97B5CBC}" type="slidenum">
              <a:rPr b="0" lang="en-US"/>
              <a:t>12</a:t>
            </a:fld>
            <a:endParaRPr lang="en-US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1"/>
          <p:cNvSpPr/>
          <p:nvPr>
            <p:ph idx="102" type="body" hasCustomPrompt="1"/>
          </p:nvPr>
        </p:nvSpPr>
        <p:spPr>
          <a:xfrm>
            <a:off x="4572000" y="4736592"/>
            <a:ext cx="370332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2D2D2D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和硬件对话</a:t>
            </a:r>
            <a:endParaRPr lang="en-US" sz="800" dirty="0"/>
          </a:p>
        </p:txBody>
      </p:sp>
      <p:sp>
        <p:nvSpPr>
          <p:cNvPr id="3" name="Text 1"/>
          <p:cNvSpPr/>
          <p:nvPr>
            <p:ph idx="103" type="body" hasCustomPrompt="1"/>
          </p:nvPr>
        </p:nvSpPr>
        <p:spPr>
          <a:xfrm>
            <a:off x="411480" y="384048"/>
            <a:ext cx="3383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B6B6B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第 3 站</a:t>
            </a:r>
            <a:endParaRPr lang="en-US" sz="1100" dirty="0"/>
          </a:p>
        </p:txBody>
      </p:sp>
      <p:sp>
        <p:nvSpPr>
          <p:cNvPr id="4" name="Text 1"/>
          <p:cNvSpPr/>
          <p:nvPr>
            <p:ph idx="104" type="title" hasCustomPrompt="1"/>
          </p:nvPr>
        </p:nvSpPr>
        <p:spPr>
          <a:xfrm>
            <a:off x="411480" y="713232"/>
            <a:ext cx="338328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800" dirty="0">
                <a:solidFill>
                  <a:srgbClr val="2D2D2D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和硬件对话</a:t>
            </a:r>
            <a:endParaRPr lang="en-US" sz="2800" dirty="0"/>
          </a:p>
        </p:txBody>
      </p:sp>
      <p:sp>
        <p:nvSpPr>
          <p:cNvPr id="5" name="Text 1"/>
          <p:cNvSpPr/>
          <p:nvPr>
            <p:ph idx="105" type="body" hasCustomPrompt="1"/>
          </p:nvPr>
        </p:nvSpPr>
        <p:spPr>
          <a:xfrm>
            <a:off x="411480" y="1874520"/>
            <a:ext cx="3246120" cy="23774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30000"/>
              </a:lnSpc>
              <a:buNone/>
            </a:pPr>
            <a:r>
              <a:rPr lang="en-US" sz="1200" dirty="0">
                <a:solidFill>
                  <a:srgbClr val="2D2D2D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Arduino 用引脚“听”传感器、指挥 LED，</a:t>
            </a:r>
            <a:endParaRPr lang="en-US" sz="1200" dirty="0"/>
          </a:p>
          <a:p>
            <a:pPr indent="0" marL="0">
              <a:lnSpc>
                <a:spcPct val="130000"/>
              </a:lnSpc>
              <a:buNone/>
            </a:pPr>
            <a:r>
              <a:rPr lang="en-US" sz="1200" dirty="0">
                <a:solidFill>
                  <a:srgbClr val="2D2D2D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还能通过串口和电脑聊天。</a:t>
            </a:r>
            <a:endParaRPr lang="en-US" sz="1200" dirty="0"/>
          </a:p>
          <a:p>
            <a:pPr indent="0" marL="0">
              <a:lnSpc>
                <a:spcPct val="130000"/>
              </a:lnSpc>
              <a:buNone/>
            </a:pPr>
            <a:r>
              <a:rPr lang="en-US" sz="1200" dirty="0">
                <a:solidFill>
                  <a:srgbClr val="2D2D2D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这一站认识数字 / 模拟输入输出、</a:t>
            </a:r>
            <a:endParaRPr lang="en-US" sz="1200" dirty="0"/>
          </a:p>
          <a:p>
            <a:pPr indent="0" marL="0">
              <a:lnSpc>
                <a:spcPct val="130000"/>
              </a:lnSpc>
              <a:buNone/>
            </a:pPr>
            <a:r>
              <a:rPr lang="en-US" sz="1200" dirty="0">
                <a:solidFill>
                  <a:srgbClr val="2D2D2D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时间函数和串口。</a:t>
            </a:r>
            <a:endParaRPr lang="en-US" sz="1200" dirty="0"/>
          </a:p>
        </p:txBody>
      </p:sp>
      <p:sp>
        <p:nvSpPr>
          <p:cNvPr id="6" name="Shape 4"/>
          <p:cNvSpPr/>
          <p:nvPr/>
        </p:nvSpPr>
        <p:spPr>
          <a:xfrm>
            <a:off x="4160520" y="347472"/>
            <a:ext cx="2286000" cy="2112264"/>
          </a:xfrm>
          <a:prstGeom prst="rect">
            <a:avLst/>
          </a:prstGeom>
          <a:solidFill>
            <a:srgbClr val="40E0D0"/>
          </a:solidFill>
          <a:ln w="9525">
            <a:solidFill>
              <a:srgbClr val="E2E2E2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4361688" y="512064"/>
            <a:ext cx="1883664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3000" b="1" dirty="0">
                <a:solidFill>
                  <a:srgbClr val="2D2D2D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01</a:t>
            </a:r>
            <a:endParaRPr lang="en-US" sz="3000" dirty="0"/>
          </a:p>
        </p:txBody>
      </p:sp>
      <p:sp>
        <p:nvSpPr>
          <p:cNvPr id="8" name="Text 6"/>
          <p:cNvSpPr txBox="1"/>
          <p:nvPr/>
        </p:nvSpPr>
        <p:spPr>
          <a:xfrm>
            <a:off x="4361688" y="1389888"/>
            <a:ext cx="1883664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1600" b="1" dirty="0">
                <a:solidFill>
                  <a:srgbClr val="2D2D2D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数字信号</a:t>
            </a:r>
            <a:endParaRPr lang="en-US" sz="1600" dirty="0"/>
          </a:p>
        </p:txBody>
      </p:sp>
      <p:sp>
        <p:nvSpPr>
          <p:cNvPr id="9" name="Text 7"/>
          <p:cNvSpPr txBox="1"/>
          <p:nvPr/>
        </p:nvSpPr>
        <p:spPr>
          <a:xfrm>
            <a:off x="4361688" y="1801368"/>
            <a:ext cx="1883664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1200" dirty="0">
                <a:solidFill>
                  <a:srgbClr val="2D2D2D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电灯开关：HIGH / LOW</a:t>
            </a:r>
            <a:endParaRPr lang="en-US" sz="1200" dirty="0"/>
          </a:p>
        </p:txBody>
      </p:sp>
      <p:sp>
        <p:nvSpPr>
          <p:cNvPr id="10" name="Shape 8"/>
          <p:cNvSpPr/>
          <p:nvPr/>
        </p:nvSpPr>
        <p:spPr>
          <a:xfrm>
            <a:off x="6446520" y="347472"/>
            <a:ext cx="2286000" cy="2112264"/>
          </a:xfrm>
          <a:prstGeom prst="rect">
            <a:avLst/>
          </a:prstGeom>
          <a:solidFill>
            <a:srgbClr val="EBEBEB"/>
          </a:solidFill>
          <a:ln w="9525">
            <a:solidFill>
              <a:srgbClr val="E2E2E2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6647688" y="512064"/>
            <a:ext cx="1883664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3000" b="1" dirty="0">
                <a:solidFill>
                  <a:srgbClr val="2D2D2D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02</a:t>
            </a:r>
            <a:endParaRPr lang="en-US" sz="3000" dirty="0"/>
          </a:p>
        </p:txBody>
      </p:sp>
      <p:sp>
        <p:nvSpPr>
          <p:cNvPr id="12" name="Text 10"/>
          <p:cNvSpPr txBox="1"/>
          <p:nvPr/>
        </p:nvSpPr>
        <p:spPr>
          <a:xfrm>
            <a:off x="6647688" y="1389888"/>
            <a:ext cx="1883664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1600" b="1" dirty="0">
                <a:solidFill>
                  <a:srgbClr val="2D2D2D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模拟信号</a:t>
            </a:r>
            <a:endParaRPr lang="en-US" sz="1600" dirty="0"/>
          </a:p>
        </p:txBody>
      </p:sp>
      <p:sp>
        <p:nvSpPr>
          <p:cNvPr id="13" name="Text 11"/>
          <p:cNvSpPr txBox="1"/>
          <p:nvPr/>
        </p:nvSpPr>
        <p:spPr>
          <a:xfrm>
            <a:off x="6647688" y="1801368"/>
            <a:ext cx="1883664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1200" dirty="0">
                <a:solidFill>
                  <a:srgbClr val="6B6B6B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调光旋钮：可以停在中间</a:t>
            </a:r>
            <a:endParaRPr lang="en-US" sz="1200" dirty="0"/>
          </a:p>
        </p:txBody>
      </p:sp>
      <p:sp>
        <p:nvSpPr>
          <p:cNvPr id="14" name="Shape 12"/>
          <p:cNvSpPr/>
          <p:nvPr/>
        </p:nvSpPr>
        <p:spPr>
          <a:xfrm>
            <a:off x="4160520" y="2459736"/>
            <a:ext cx="2286000" cy="2112264"/>
          </a:xfrm>
          <a:prstGeom prst="rect">
            <a:avLst/>
          </a:prstGeom>
          <a:solidFill>
            <a:srgbClr val="2D2D2D"/>
          </a:solidFill>
          <a:ln w="9525">
            <a:solidFill>
              <a:srgbClr val="E2E2E2"/>
            </a:solidFill>
            <a:prstDash val="solid"/>
          </a:ln>
        </p:spPr>
      </p:sp>
      <p:sp>
        <p:nvSpPr>
          <p:cNvPr id="15" name="Text 13"/>
          <p:cNvSpPr txBox="1"/>
          <p:nvPr/>
        </p:nvSpPr>
        <p:spPr>
          <a:xfrm>
            <a:off x="4361688" y="2624328"/>
            <a:ext cx="1883664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3000" b="1" dirty="0">
                <a:solidFill>
                  <a:srgbClr val="40E0D0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03</a:t>
            </a:r>
            <a:endParaRPr lang="en-US" sz="3000" dirty="0"/>
          </a:p>
        </p:txBody>
      </p:sp>
      <p:sp>
        <p:nvSpPr>
          <p:cNvPr id="16" name="Text 14"/>
          <p:cNvSpPr txBox="1"/>
          <p:nvPr/>
        </p:nvSpPr>
        <p:spPr>
          <a:xfrm>
            <a:off x="4361688" y="3502152"/>
            <a:ext cx="1883664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1600" b="1" dirty="0">
                <a:solidFill>
                  <a:srgbClr val="FFFFFF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时间</a:t>
            </a:r>
            <a:endParaRPr lang="en-US" sz="1600" dirty="0"/>
          </a:p>
        </p:txBody>
      </p:sp>
      <p:sp>
        <p:nvSpPr>
          <p:cNvPr id="17" name="Text 15"/>
          <p:cNvSpPr txBox="1"/>
          <p:nvPr/>
        </p:nvSpPr>
        <p:spPr>
          <a:xfrm>
            <a:off x="4361688" y="3913632"/>
            <a:ext cx="1883664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1200" dirty="0">
                <a:solidFill>
                  <a:srgbClr val="CFCFCF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delay() / millis()</a:t>
            </a:r>
            <a:endParaRPr lang="en-US" sz="1200" dirty="0"/>
          </a:p>
        </p:txBody>
      </p:sp>
      <p:sp>
        <p:nvSpPr>
          <p:cNvPr id="18" name="Shape 16"/>
          <p:cNvSpPr/>
          <p:nvPr/>
        </p:nvSpPr>
        <p:spPr>
          <a:xfrm>
            <a:off x="6446520" y="2459736"/>
            <a:ext cx="2286000" cy="2112264"/>
          </a:xfrm>
          <a:prstGeom prst="rect">
            <a:avLst/>
          </a:prstGeom>
          <a:solidFill>
            <a:srgbClr val="FFFFFF"/>
          </a:solidFill>
          <a:ln w="9525">
            <a:solidFill>
              <a:srgbClr val="E2E2E2"/>
            </a:solidFill>
            <a:prstDash val="solid"/>
          </a:ln>
        </p:spPr>
      </p:sp>
      <p:sp>
        <p:nvSpPr>
          <p:cNvPr id="19" name="Text 17"/>
          <p:cNvSpPr txBox="1"/>
          <p:nvPr/>
        </p:nvSpPr>
        <p:spPr>
          <a:xfrm>
            <a:off x="6647688" y="2624328"/>
            <a:ext cx="1883664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3000" b="1" dirty="0">
                <a:solidFill>
                  <a:srgbClr val="2D2D2D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04</a:t>
            </a:r>
            <a:endParaRPr lang="en-US" sz="3000" dirty="0"/>
          </a:p>
        </p:txBody>
      </p:sp>
      <p:sp>
        <p:nvSpPr>
          <p:cNvPr id="20" name="Text 18"/>
          <p:cNvSpPr txBox="1"/>
          <p:nvPr/>
        </p:nvSpPr>
        <p:spPr>
          <a:xfrm>
            <a:off x="6647688" y="3502152"/>
            <a:ext cx="1883664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1600" b="1" dirty="0">
                <a:solidFill>
                  <a:srgbClr val="2D2D2D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串口</a:t>
            </a:r>
            <a:endParaRPr lang="en-US" sz="1600" dirty="0"/>
          </a:p>
        </p:txBody>
      </p:sp>
      <p:sp>
        <p:nvSpPr>
          <p:cNvPr id="21" name="Text 19"/>
          <p:cNvSpPr txBox="1"/>
          <p:nvPr/>
        </p:nvSpPr>
        <p:spPr>
          <a:xfrm>
            <a:off x="6647688" y="3913632"/>
            <a:ext cx="1883664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1200" dirty="0">
                <a:solidFill>
                  <a:srgbClr val="6B6B6B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Serial：和电脑聊天</a:t>
            </a:r>
            <a:endParaRPr lang="en-US" sz="12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339328" y="4736592"/>
            <a:ext cx="393192" cy="219456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 lIns="0" tIns="0" rIns="0" bIns="0" anchor="ctr"/>
          <a:lstStyle>
            <a:lvl1pPr>
              <a:defRPr sz="800">
                <a:solidFill>
                  <a:srgbClr val="6B6B6B"/>
                </a:solidFill>
                <a:latin typeface="微软雅黑"/>
                <a:ea typeface="微软雅黑"/>
                <a:cs typeface="微软雅黑"/>
              </a:defRPr>
            </a:lvl1pPr>
          </a:lstStyle>
          <a:p>
            <a:pPr algn="r"/>
            <a:fld id="{F7021451-1387-4CA6-816F-3879F97B5CBC}" type="slidenum">
              <a:rPr b="0" lang="en-US"/>
              <a:t>13</a:t>
            </a:fld>
            <a:endParaRPr lang="en-US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1"/>
          <p:cNvSpPr/>
          <p:nvPr>
            <p:ph idx="102" type="body" hasCustomPrompt="1"/>
          </p:nvPr>
        </p:nvSpPr>
        <p:spPr>
          <a:xfrm>
            <a:off x="4572000" y="4736592"/>
            <a:ext cx="370332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2D2D2D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和硬件对话</a:t>
            </a:r>
            <a:endParaRPr lang="en-US" sz="800" dirty="0"/>
          </a:p>
        </p:txBody>
      </p:sp>
      <p:sp>
        <p:nvSpPr>
          <p:cNvPr id="3" name="Text 1"/>
          <p:cNvSpPr/>
          <p:nvPr>
            <p:ph idx="103" type="title" hasCustomPrompt="1"/>
          </p:nvPr>
        </p:nvSpPr>
        <p:spPr>
          <a:xfrm>
            <a:off x="411480" y="274320"/>
            <a:ext cx="83210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400" dirty="0">
                <a:solidFill>
                  <a:srgbClr val="2D2D2D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数字信号 vs 模拟信号</a:t>
            </a:r>
            <a:endParaRPr lang="en-US" sz="2400" dirty="0"/>
          </a:p>
        </p:txBody>
      </p:sp>
      <p:sp>
        <p:nvSpPr>
          <p:cNvPr id="4" name="Text 1"/>
          <p:cNvSpPr/>
          <p:nvPr>
            <p:ph idx="104" type="body" hasCustomPrompt="1"/>
          </p:nvPr>
        </p:nvSpPr>
        <p:spPr>
          <a:xfrm>
            <a:off x="411480" y="786384"/>
            <a:ext cx="83210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6B6B6B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数字信号像电灯开关，只有开和关；模拟信号像调光旋钮，可以停在中间任何位置。</a:t>
            </a:r>
            <a:endParaRPr lang="en-US" sz="1200" dirty="0"/>
          </a:p>
        </p:txBody>
      </p:sp>
      <p:sp>
        <p:nvSpPr>
          <p:cNvPr id="6" name="Shape 3"/>
          <p:cNvSpPr/>
          <p:nvPr/>
        </p:nvSpPr>
        <p:spPr>
          <a:xfrm>
            <a:off x="411480" y="1234440"/>
            <a:ext cx="4023360" cy="1737360"/>
          </a:xfrm>
          <a:prstGeom prst="roundRect">
            <a:avLst>
              <a:gd name="adj" fmla="val 6316"/>
            </a:avLst>
          </a:prstGeom>
          <a:solidFill>
            <a:srgbClr val="F5F5F5"/>
          </a:solidFill>
          <a:ln w="12700">
            <a:solidFill>
              <a:srgbClr val="F5F5F5"/>
            </a:solidFill>
            <a:prstDash val="solid"/>
          </a:ln>
        </p:spPr>
      </p:sp>
      <p:sp>
        <p:nvSpPr>
          <p:cNvPr id="7" name="Shape 4"/>
          <p:cNvSpPr/>
          <p:nvPr/>
        </p:nvSpPr>
        <p:spPr>
          <a:xfrm>
            <a:off x="594360" y="1399032"/>
            <a:ext cx="384048" cy="384048"/>
          </a:xfrm>
          <a:prstGeom prst="ellipse">
            <a:avLst/>
          </a:prstGeom>
          <a:solidFill>
            <a:srgbClr val="40E0D0"/>
          </a:solidFill>
          <a:ln w="12700">
            <a:solidFill>
              <a:srgbClr val="40E0D0"/>
            </a:solidFill>
            <a:prstDash val="solid"/>
          </a:ln>
        </p:spPr>
      </p:sp>
      <p:pic>
        <p:nvPicPr>
          <p:cNvPr id="8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86532" y="1491204"/>
            <a:ext cx="199705" cy="199705"/>
          </a:xfrm>
          <a:prstGeom prst="rect">
            <a:avLst/>
          </a:prstGeom>
        </p:spPr>
      </p:pic>
      <p:sp>
        <p:nvSpPr>
          <p:cNvPr id="9" name="Text 5"/>
          <p:cNvSpPr txBox="1"/>
          <p:nvPr/>
        </p:nvSpPr>
        <p:spPr>
          <a:xfrm>
            <a:off x="1106424" y="1380744"/>
            <a:ext cx="3145536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1500" b="1" dirty="0">
                <a:solidFill>
                  <a:srgbClr val="2D2D2D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数字信号＝电灯开关</a:t>
            </a:r>
            <a:endParaRPr lang="en-US" sz="1500" dirty="0"/>
          </a:p>
        </p:txBody>
      </p:sp>
      <p:sp>
        <p:nvSpPr>
          <p:cNvPr id="10" name="Shape 6"/>
          <p:cNvSpPr/>
          <p:nvPr/>
        </p:nvSpPr>
        <p:spPr>
          <a:xfrm>
            <a:off x="594360" y="1911096"/>
            <a:ext cx="1737360" cy="365760"/>
          </a:xfrm>
          <a:prstGeom prst="roundRect">
            <a:avLst>
              <a:gd name="adj" fmla="val 50000"/>
            </a:avLst>
          </a:prstGeom>
          <a:solidFill>
            <a:srgbClr val="40E0D0"/>
          </a:solidFill>
          <a:ln w="12700">
            <a:solidFill>
              <a:srgbClr val="40E0D0"/>
            </a:solidFill>
            <a:prstDash val="solid"/>
          </a:ln>
        </p:spPr>
      </p:sp>
      <p:sp>
        <p:nvSpPr>
          <p:cNvPr id="11" name="Text 7"/>
          <p:cNvSpPr txBox="1"/>
          <p:nvPr/>
        </p:nvSpPr>
        <p:spPr>
          <a:xfrm>
            <a:off x="594360" y="1911096"/>
            <a:ext cx="17373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15000"/>
              </a:lnSpc>
              <a:buNone/>
            </a:pPr>
            <a:r>
              <a:rPr lang="en-US" sz="1300" b="1" dirty="0">
                <a:solidFill>
                  <a:srgbClr val="2D2D2D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HIGH ≈ 5V　开</a:t>
            </a:r>
            <a:endParaRPr lang="en-US" sz="1300" dirty="0"/>
          </a:p>
        </p:txBody>
      </p:sp>
      <p:sp>
        <p:nvSpPr>
          <p:cNvPr id="12" name="Shape 8"/>
          <p:cNvSpPr/>
          <p:nvPr/>
        </p:nvSpPr>
        <p:spPr>
          <a:xfrm>
            <a:off x="2514600" y="1911096"/>
            <a:ext cx="1737360" cy="365760"/>
          </a:xfrm>
          <a:prstGeom prst="roundRect">
            <a:avLst>
              <a:gd name="adj" fmla="val 50000"/>
            </a:avLst>
          </a:prstGeom>
          <a:solidFill>
            <a:srgbClr val="2D2D2D"/>
          </a:solidFill>
          <a:ln w="12700">
            <a:solidFill>
              <a:srgbClr val="2D2D2D"/>
            </a:solidFill>
            <a:prstDash val="solid"/>
          </a:ln>
        </p:spPr>
      </p:sp>
      <p:sp>
        <p:nvSpPr>
          <p:cNvPr id="13" name="Text 9"/>
          <p:cNvSpPr txBox="1"/>
          <p:nvPr/>
        </p:nvSpPr>
        <p:spPr>
          <a:xfrm>
            <a:off x="2514600" y="1911096"/>
            <a:ext cx="17373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15000"/>
              </a:lnSpc>
              <a:buNone/>
            </a:pPr>
            <a:r>
              <a:rPr lang="en-US" sz="1300" b="1" dirty="0">
                <a:solidFill>
                  <a:srgbClr val="FFFFFF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LOW = 0V　关</a:t>
            </a:r>
            <a:endParaRPr lang="en-US" sz="1300" dirty="0"/>
          </a:p>
        </p:txBody>
      </p:sp>
      <p:sp>
        <p:nvSpPr>
          <p:cNvPr id="14" name="Text 10"/>
          <p:cNvSpPr txBox="1"/>
          <p:nvPr/>
        </p:nvSpPr>
        <p:spPr>
          <a:xfrm>
            <a:off x="594360" y="2423160"/>
            <a:ext cx="3657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1200" dirty="0">
                <a:solidFill>
                  <a:srgbClr val="2D2D2D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只有两种状态，没有中间值。</a:t>
            </a:r>
            <a:endParaRPr lang="en-US" sz="1200" dirty="0"/>
          </a:p>
          <a:p>
            <a:pPr algn="l" indent="0" marL="0">
              <a:lnSpc>
                <a:spcPct val="115000"/>
              </a:lnSpc>
              <a:buNone/>
            </a:pPr>
            <a:r>
              <a:rPr lang="en-US" sz="1200" dirty="0">
                <a:solidFill>
                  <a:srgbClr val="2D2D2D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例子：按键按没按、LED 亮不亮。</a:t>
            </a:r>
            <a:endParaRPr lang="en-US" sz="1200" dirty="0"/>
          </a:p>
        </p:txBody>
      </p:sp>
      <p:sp>
        <p:nvSpPr>
          <p:cNvPr id="15" name="Shape 11"/>
          <p:cNvSpPr/>
          <p:nvPr/>
        </p:nvSpPr>
        <p:spPr>
          <a:xfrm>
            <a:off x="4709160" y="1234440"/>
            <a:ext cx="4023360" cy="1737360"/>
          </a:xfrm>
          <a:prstGeom prst="roundRect">
            <a:avLst>
              <a:gd name="adj" fmla="val 6316"/>
            </a:avLst>
          </a:prstGeom>
          <a:solidFill>
            <a:srgbClr val="F5F5F5"/>
          </a:solidFill>
          <a:ln w="12700">
            <a:solidFill>
              <a:srgbClr val="F5F5F5"/>
            </a:solidFill>
            <a:prstDash val="solid"/>
          </a:ln>
        </p:spPr>
      </p:sp>
      <p:sp>
        <p:nvSpPr>
          <p:cNvPr id="16" name="Shape 12"/>
          <p:cNvSpPr/>
          <p:nvPr/>
        </p:nvSpPr>
        <p:spPr>
          <a:xfrm>
            <a:off x="4892040" y="1399032"/>
            <a:ext cx="384048" cy="384048"/>
          </a:xfrm>
          <a:prstGeom prst="ellipse">
            <a:avLst/>
          </a:prstGeom>
          <a:solidFill>
            <a:srgbClr val="40E0D0"/>
          </a:solidFill>
          <a:ln w="12700">
            <a:solidFill>
              <a:srgbClr val="40E0D0"/>
            </a:solidFill>
            <a:prstDash val="solid"/>
          </a:ln>
        </p:spPr>
      </p:sp>
      <p:pic>
        <p:nvPicPr>
          <p:cNvPr id="17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984212" y="1491204"/>
            <a:ext cx="199705" cy="199705"/>
          </a:xfrm>
          <a:prstGeom prst="rect">
            <a:avLst/>
          </a:prstGeom>
        </p:spPr>
      </p:pic>
      <p:sp>
        <p:nvSpPr>
          <p:cNvPr id="18" name="Text 13"/>
          <p:cNvSpPr txBox="1"/>
          <p:nvPr/>
        </p:nvSpPr>
        <p:spPr>
          <a:xfrm>
            <a:off x="5404104" y="1380744"/>
            <a:ext cx="3145536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1500" b="1" dirty="0">
                <a:solidFill>
                  <a:srgbClr val="2D2D2D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模拟信号＝调光旋钮</a:t>
            </a:r>
            <a:endParaRPr lang="en-US" sz="1500" dirty="0"/>
          </a:p>
        </p:txBody>
      </p:sp>
      <p:sp>
        <p:nvSpPr>
          <p:cNvPr id="19" name="Shape 14"/>
          <p:cNvSpPr/>
          <p:nvPr/>
        </p:nvSpPr>
        <p:spPr>
          <a:xfrm>
            <a:off x="4892040" y="1929384"/>
            <a:ext cx="205029" cy="237744"/>
          </a:xfrm>
          <a:prstGeom prst="rect">
            <a:avLst/>
          </a:prstGeom>
          <a:solidFill>
            <a:srgbClr val="F2FDFB"/>
          </a:solidFill>
          <a:ln w="12700">
            <a:solidFill>
              <a:srgbClr val="F2FDFB"/>
            </a:solidFill>
            <a:prstDash val="solid"/>
          </a:ln>
        </p:spPr>
      </p:sp>
      <p:sp>
        <p:nvSpPr>
          <p:cNvPr id="20" name="Shape 15"/>
          <p:cNvSpPr/>
          <p:nvPr/>
        </p:nvSpPr>
        <p:spPr>
          <a:xfrm>
            <a:off x="5095240" y="1929384"/>
            <a:ext cx="205029" cy="237744"/>
          </a:xfrm>
          <a:prstGeom prst="rect">
            <a:avLst/>
          </a:prstGeom>
          <a:solidFill>
            <a:srgbClr val="DDFAF6"/>
          </a:solidFill>
          <a:ln w="12700">
            <a:solidFill>
              <a:srgbClr val="DDFAF6"/>
            </a:solidFill>
            <a:prstDash val="solid"/>
          </a:ln>
        </p:spPr>
      </p:sp>
      <p:sp>
        <p:nvSpPr>
          <p:cNvPr id="21" name="Shape 16"/>
          <p:cNvSpPr/>
          <p:nvPr/>
        </p:nvSpPr>
        <p:spPr>
          <a:xfrm>
            <a:off x="5298440" y="1929384"/>
            <a:ext cx="205029" cy="237744"/>
          </a:xfrm>
          <a:prstGeom prst="rect">
            <a:avLst/>
          </a:prstGeom>
          <a:solidFill>
            <a:srgbClr val="C8F6F1"/>
          </a:solidFill>
          <a:ln w="12700">
            <a:solidFill>
              <a:srgbClr val="C8F6F1"/>
            </a:solidFill>
            <a:prstDash val="solid"/>
          </a:ln>
        </p:spPr>
      </p:sp>
      <p:sp>
        <p:nvSpPr>
          <p:cNvPr id="22" name="Shape 17"/>
          <p:cNvSpPr/>
          <p:nvPr/>
        </p:nvSpPr>
        <p:spPr>
          <a:xfrm>
            <a:off x="5501640" y="1929384"/>
            <a:ext cx="205029" cy="237744"/>
          </a:xfrm>
          <a:prstGeom prst="rect">
            <a:avLst/>
          </a:prstGeom>
          <a:solidFill>
            <a:srgbClr val="B3F3EC"/>
          </a:solidFill>
          <a:ln w="12700">
            <a:solidFill>
              <a:srgbClr val="B3F3EC"/>
            </a:solidFill>
            <a:prstDash val="solid"/>
          </a:ln>
        </p:spPr>
      </p:sp>
      <p:sp>
        <p:nvSpPr>
          <p:cNvPr id="23" name="Shape 18"/>
          <p:cNvSpPr/>
          <p:nvPr/>
        </p:nvSpPr>
        <p:spPr>
          <a:xfrm>
            <a:off x="5704840" y="1929384"/>
            <a:ext cx="205029" cy="237744"/>
          </a:xfrm>
          <a:prstGeom prst="rect">
            <a:avLst/>
          </a:prstGeom>
          <a:solidFill>
            <a:srgbClr val="9EEFE7"/>
          </a:solidFill>
          <a:ln w="12700">
            <a:solidFill>
              <a:srgbClr val="9EEFE7"/>
            </a:solidFill>
            <a:prstDash val="solid"/>
          </a:ln>
        </p:spPr>
      </p:sp>
      <p:sp>
        <p:nvSpPr>
          <p:cNvPr id="24" name="Shape 19"/>
          <p:cNvSpPr/>
          <p:nvPr/>
        </p:nvSpPr>
        <p:spPr>
          <a:xfrm>
            <a:off x="5908040" y="1929384"/>
            <a:ext cx="205029" cy="237744"/>
          </a:xfrm>
          <a:prstGeom prst="rect">
            <a:avLst/>
          </a:prstGeom>
          <a:solidFill>
            <a:srgbClr val="89ECE2"/>
          </a:solidFill>
          <a:ln w="12700">
            <a:solidFill>
              <a:srgbClr val="89ECE2"/>
            </a:solidFill>
            <a:prstDash val="solid"/>
          </a:ln>
        </p:spPr>
      </p:sp>
      <p:sp>
        <p:nvSpPr>
          <p:cNvPr id="25" name="Shape 20"/>
          <p:cNvSpPr/>
          <p:nvPr/>
        </p:nvSpPr>
        <p:spPr>
          <a:xfrm>
            <a:off x="6111240" y="1929384"/>
            <a:ext cx="205029" cy="237744"/>
          </a:xfrm>
          <a:prstGeom prst="rect">
            <a:avLst/>
          </a:prstGeom>
          <a:solidFill>
            <a:srgbClr val="74E9DD"/>
          </a:solidFill>
          <a:ln w="12700">
            <a:solidFill>
              <a:srgbClr val="74E9DD"/>
            </a:solidFill>
            <a:prstDash val="solid"/>
          </a:ln>
        </p:spPr>
      </p:sp>
      <p:sp>
        <p:nvSpPr>
          <p:cNvPr id="26" name="Shape 21"/>
          <p:cNvSpPr/>
          <p:nvPr/>
        </p:nvSpPr>
        <p:spPr>
          <a:xfrm>
            <a:off x="6314440" y="1929384"/>
            <a:ext cx="205029" cy="237744"/>
          </a:xfrm>
          <a:prstGeom prst="rect">
            <a:avLst/>
          </a:prstGeom>
          <a:solidFill>
            <a:srgbClr val="5FE5D8"/>
          </a:solidFill>
          <a:ln w="12700">
            <a:solidFill>
              <a:srgbClr val="5FE5D8"/>
            </a:solidFill>
            <a:prstDash val="solid"/>
          </a:ln>
        </p:spPr>
      </p:sp>
      <p:sp>
        <p:nvSpPr>
          <p:cNvPr id="27" name="Shape 22"/>
          <p:cNvSpPr/>
          <p:nvPr/>
        </p:nvSpPr>
        <p:spPr>
          <a:xfrm>
            <a:off x="6517640" y="1929384"/>
            <a:ext cx="205029" cy="237744"/>
          </a:xfrm>
          <a:prstGeom prst="rect">
            <a:avLst/>
          </a:prstGeom>
          <a:solidFill>
            <a:srgbClr val="4AE2D3"/>
          </a:solidFill>
          <a:ln w="12700">
            <a:solidFill>
              <a:srgbClr val="4AE2D3"/>
            </a:solidFill>
            <a:prstDash val="solid"/>
          </a:ln>
        </p:spPr>
      </p:sp>
      <p:sp>
        <p:nvSpPr>
          <p:cNvPr id="28" name="Shape 23"/>
          <p:cNvSpPr/>
          <p:nvPr/>
        </p:nvSpPr>
        <p:spPr>
          <a:xfrm>
            <a:off x="6720840" y="1929384"/>
            <a:ext cx="205029" cy="237744"/>
          </a:xfrm>
          <a:prstGeom prst="rect">
            <a:avLst/>
          </a:prstGeom>
          <a:solidFill>
            <a:srgbClr val="3DDACA"/>
          </a:solidFill>
          <a:ln w="12700">
            <a:solidFill>
              <a:srgbClr val="3DDACA"/>
            </a:solidFill>
            <a:prstDash val="solid"/>
          </a:ln>
        </p:spPr>
      </p:sp>
      <p:sp>
        <p:nvSpPr>
          <p:cNvPr id="29" name="Shape 24"/>
          <p:cNvSpPr/>
          <p:nvPr/>
        </p:nvSpPr>
        <p:spPr>
          <a:xfrm>
            <a:off x="6924040" y="1929384"/>
            <a:ext cx="205029" cy="237744"/>
          </a:xfrm>
          <a:prstGeom prst="rect">
            <a:avLst/>
          </a:prstGeom>
          <a:solidFill>
            <a:srgbClr val="38CDBE"/>
          </a:solidFill>
          <a:ln w="12700">
            <a:solidFill>
              <a:srgbClr val="38CDBE"/>
            </a:solidFill>
            <a:prstDash val="solid"/>
          </a:ln>
        </p:spPr>
      </p:sp>
      <p:sp>
        <p:nvSpPr>
          <p:cNvPr id="30" name="Shape 25"/>
          <p:cNvSpPr/>
          <p:nvPr/>
        </p:nvSpPr>
        <p:spPr>
          <a:xfrm>
            <a:off x="7127240" y="1929384"/>
            <a:ext cx="205029" cy="237744"/>
          </a:xfrm>
          <a:prstGeom prst="rect">
            <a:avLst/>
          </a:prstGeom>
          <a:solidFill>
            <a:srgbClr val="33C1B3"/>
          </a:solidFill>
          <a:ln w="12700">
            <a:solidFill>
              <a:srgbClr val="33C1B3"/>
            </a:solidFill>
            <a:prstDash val="solid"/>
          </a:ln>
        </p:spPr>
      </p:sp>
      <p:sp>
        <p:nvSpPr>
          <p:cNvPr id="31" name="Shape 26"/>
          <p:cNvSpPr/>
          <p:nvPr/>
        </p:nvSpPr>
        <p:spPr>
          <a:xfrm>
            <a:off x="7330440" y="1929384"/>
            <a:ext cx="205029" cy="237744"/>
          </a:xfrm>
          <a:prstGeom prst="rect">
            <a:avLst/>
          </a:prstGeom>
          <a:solidFill>
            <a:srgbClr val="2DB4A7"/>
          </a:solidFill>
          <a:ln w="12700">
            <a:solidFill>
              <a:srgbClr val="2DB4A7"/>
            </a:solidFill>
            <a:prstDash val="solid"/>
          </a:ln>
        </p:spPr>
      </p:sp>
      <p:sp>
        <p:nvSpPr>
          <p:cNvPr id="32" name="Shape 27"/>
          <p:cNvSpPr/>
          <p:nvPr/>
        </p:nvSpPr>
        <p:spPr>
          <a:xfrm>
            <a:off x="7533640" y="1929384"/>
            <a:ext cx="205029" cy="237744"/>
          </a:xfrm>
          <a:prstGeom prst="rect">
            <a:avLst/>
          </a:prstGeom>
          <a:solidFill>
            <a:srgbClr val="28A79B"/>
          </a:solidFill>
          <a:ln w="12700">
            <a:solidFill>
              <a:srgbClr val="28A79B"/>
            </a:solidFill>
            <a:prstDash val="solid"/>
          </a:ln>
        </p:spPr>
      </p:sp>
      <p:sp>
        <p:nvSpPr>
          <p:cNvPr id="33" name="Shape 28"/>
          <p:cNvSpPr/>
          <p:nvPr/>
        </p:nvSpPr>
        <p:spPr>
          <a:xfrm>
            <a:off x="7736840" y="1929384"/>
            <a:ext cx="205029" cy="237744"/>
          </a:xfrm>
          <a:prstGeom prst="rect">
            <a:avLst/>
          </a:prstGeom>
          <a:solidFill>
            <a:srgbClr val="239B8F"/>
          </a:solidFill>
          <a:ln w="12700">
            <a:solidFill>
              <a:srgbClr val="239B8F"/>
            </a:solidFill>
            <a:prstDash val="solid"/>
          </a:ln>
        </p:spPr>
      </p:sp>
      <p:sp>
        <p:nvSpPr>
          <p:cNvPr id="34" name="Shape 29"/>
          <p:cNvSpPr/>
          <p:nvPr/>
        </p:nvSpPr>
        <p:spPr>
          <a:xfrm>
            <a:off x="7940040" y="1929384"/>
            <a:ext cx="205029" cy="237744"/>
          </a:xfrm>
          <a:prstGeom prst="rect">
            <a:avLst/>
          </a:prstGeom>
          <a:solidFill>
            <a:srgbClr val="1E8E84"/>
          </a:solidFill>
          <a:ln w="12700">
            <a:solidFill>
              <a:srgbClr val="1E8E84"/>
            </a:solidFill>
            <a:prstDash val="solid"/>
          </a:ln>
        </p:spPr>
      </p:sp>
      <p:sp>
        <p:nvSpPr>
          <p:cNvPr id="35" name="Shape 30"/>
          <p:cNvSpPr/>
          <p:nvPr/>
        </p:nvSpPr>
        <p:spPr>
          <a:xfrm>
            <a:off x="8143240" y="1929384"/>
            <a:ext cx="205029" cy="237744"/>
          </a:xfrm>
          <a:prstGeom prst="rect">
            <a:avLst/>
          </a:prstGeom>
          <a:solidFill>
            <a:srgbClr val="188278"/>
          </a:solidFill>
          <a:ln w="12700">
            <a:solidFill>
              <a:srgbClr val="188278"/>
            </a:solidFill>
            <a:prstDash val="solid"/>
          </a:ln>
        </p:spPr>
      </p:sp>
      <p:sp>
        <p:nvSpPr>
          <p:cNvPr id="36" name="Shape 31"/>
          <p:cNvSpPr/>
          <p:nvPr/>
        </p:nvSpPr>
        <p:spPr>
          <a:xfrm>
            <a:off x="8346440" y="1929384"/>
            <a:ext cx="205029" cy="237744"/>
          </a:xfrm>
          <a:prstGeom prst="rect">
            <a:avLst/>
          </a:prstGeom>
          <a:solidFill>
            <a:srgbClr val="13756C"/>
          </a:solidFill>
          <a:ln w="12700">
            <a:solidFill>
              <a:srgbClr val="13756C"/>
            </a:solidFill>
            <a:prstDash val="solid"/>
          </a:ln>
        </p:spPr>
      </p:sp>
      <p:sp>
        <p:nvSpPr>
          <p:cNvPr id="37" name="Shape 32"/>
          <p:cNvSpPr/>
          <p:nvPr/>
        </p:nvSpPr>
        <p:spPr>
          <a:xfrm>
            <a:off x="4892040" y="1929384"/>
            <a:ext cx="3657600" cy="237744"/>
          </a:xfrm>
          <a:prstGeom prst="rect">
            <a:avLst/>
          </a:prstGeom>
          <a:solidFill>
            <a:srgbClr val="FFFFFF">
              <a:alpha val="0"/>
            </a:srgbClr>
          </a:solidFill>
          <a:ln w="9525">
            <a:solidFill>
              <a:srgbClr val="E2E2E2"/>
            </a:solidFill>
            <a:prstDash val="solid"/>
          </a:ln>
        </p:spPr>
      </p:sp>
      <p:sp>
        <p:nvSpPr>
          <p:cNvPr id="38" name="Text 33"/>
          <p:cNvSpPr txBox="1"/>
          <p:nvPr/>
        </p:nvSpPr>
        <p:spPr>
          <a:xfrm>
            <a:off x="4892040" y="2185416"/>
            <a:ext cx="5486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1000" dirty="0">
                <a:solidFill>
                  <a:srgbClr val="6B6B6B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0V</a:t>
            </a:r>
            <a:endParaRPr lang="en-US" sz="1000" dirty="0"/>
          </a:p>
        </p:txBody>
      </p:sp>
      <p:sp>
        <p:nvSpPr>
          <p:cNvPr id="39" name="Text 34"/>
          <p:cNvSpPr txBox="1"/>
          <p:nvPr/>
        </p:nvSpPr>
        <p:spPr>
          <a:xfrm>
            <a:off x="6355080" y="2185416"/>
            <a:ext cx="7315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ct val="115000"/>
              </a:lnSpc>
              <a:buNone/>
            </a:pPr>
            <a:r>
              <a:rPr lang="en-US" sz="1000" dirty="0">
                <a:solidFill>
                  <a:srgbClr val="6B6B6B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2.5V</a:t>
            </a:r>
            <a:endParaRPr lang="en-US" sz="1000" dirty="0"/>
          </a:p>
        </p:txBody>
      </p:sp>
      <p:sp>
        <p:nvSpPr>
          <p:cNvPr id="40" name="Text 35"/>
          <p:cNvSpPr txBox="1"/>
          <p:nvPr/>
        </p:nvSpPr>
        <p:spPr>
          <a:xfrm>
            <a:off x="8001000" y="2185416"/>
            <a:ext cx="5486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lnSpc>
                <a:spcPct val="115000"/>
              </a:lnSpc>
              <a:buNone/>
            </a:pPr>
            <a:r>
              <a:rPr lang="en-US" sz="1000" dirty="0">
                <a:solidFill>
                  <a:srgbClr val="6B6B6B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5V</a:t>
            </a:r>
            <a:endParaRPr lang="en-US" sz="1000" dirty="0"/>
          </a:p>
        </p:txBody>
      </p:sp>
      <p:sp>
        <p:nvSpPr>
          <p:cNvPr id="41" name="Text 36"/>
          <p:cNvSpPr txBox="1"/>
          <p:nvPr/>
        </p:nvSpPr>
        <p:spPr>
          <a:xfrm>
            <a:off x="4892040" y="2423160"/>
            <a:ext cx="3657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1200" dirty="0">
                <a:solidFill>
                  <a:srgbClr val="2D2D2D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连续变化，可以停在中间任何位置。</a:t>
            </a:r>
            <a:endParaRPr lang="en-US" sz="1200" dirty="0"/>
          </a:p>
          <a:p>
            <a:pPr algn="l" indent="0" marL="0">
              <a:lnSpc>
                <a:spcPct val="115000"/>
              </a:lnSpc>
              <a:buNone/>
            </a:pPr>
            <a:r>
              <a:rPr lang="en-US" sz="1200" dirty="0">
                <a:solidFill>
                  <a:srgbClr val="2D2D2D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例子：旋钮转到一半、光线有多亮。</a:t>
            </a:r>
            <a:endParaRPr lang="en-US" sz="1200" dirty="0"/>
          </a:p>
        </p:txBody>
      </p:sp>
      <p:sp>
        <p:nvSpPr>
          <p:cNvPr id="42" name="Shape 37"/>
          <p:cNvSpPr/>
          <p:nvPr/>
        </p:nvSpPr>
        <p:spPr>
          <a:xfrm>
            <a:off x="411480" y="3246120"/>
            <a:ext cx="8321040" cy="1325880"/>
          </a:xfrm>
          <a:prstGeom prst="roundRect">
            <a:avLst>
              <a:gd name="adj" fmla="val 8276"/>
            </a:avLst>
          </a:prstGeom>
          <a:solidFill>
            <a:srgbClr val="F5F5F5"/>
          </a:solidFill>
          <a:ln w="12700">
            <a:solidFill>
              <a:srgbClr val="F5F5F5"/>
            </a:solidFill>
            <a:prstDash val="solid"/>
          </a:ln>
        </p:spPr>
      </p:sp>
      <p:sp>
        <p:nvSpPr>
          <p:cNvPr id="43" name="Text 38"/>
          <p:cNvSpPr txBox="1"/>
          <p:nvPr/>
        </p:nvSpPr>
        <p:spPr>
          <a:xfrm>
            <a:off x="594360" y="3337560"/>
            <a:ext cx="3657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1200" b="1" dirty="0">
                <a:solidFill>
                  <a:srgbClr val="2D2D2D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Arduino UNO 板子上的引脚</a:t>
            </a:r>
            <a:endParaRPr lang="en-US" sz="1200" dirty="0"/>
          </a:p>
        </p:txBody>
      </p:sp>
      <p:sp>
        <p:nvSpPr>
          <p:cNvPr id="44" name="Text 39"/>
          <p:cNvSpPr txBox="1"/>
          <p:nvPr/>
        </p:nvSpPr>
        <p:spPr>
          <a:xfrm>
            <a:off x="594360" y="3666744"/>
            <a:ext cx="11887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1200" b="1" dirty="0">
                <a:solidFill>
                  <a:srgbClr val="2D2D2D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数字 0～13</a:t>
            </a:r>
            <a:endParaRPr lang="en-US" sz="1200" dirty="0"/>
          </a:p>
        </p:txBody>
      </p:sp>
      <p:sp>
        <p:nvSpPr>
          <p:cNvPr id="45" name="Shape 40"/>
          <p:cNvSpPr/>
          <p:nvPr/>
        </p:nvSpPr>
        <p:spPr>
          <a:xfrm>
            <a:off x="1828800" y="3666744"/>
            <a:ext cx="384048" cy="384048"/>
          </a:xfrm>
          <a:prstGeom prst="roundRect">
            <a:avLst>
              <a:gd name="adj" fmla="val 11905"/>
            </a:avLst>
          </a:prstGeom>
          <a:solidFill>
            <a:srgbClr val="FFFFFF"/>
          </a:solidFill>
          <a:ln w="9525">
            <a:solidFill>
              <a:srgbClr val="E2E2E2"/>
            </a:solidFill>
            <a:prstDash val="solid"/>
          </a:ln>
        </p:spPr>
      </p:sp>
      <p:sp>
        <p:nvSpPr>
          <p:cNvPr id="46" name="Text 41"/>
          <p:cNvSpPr txBox="1"/>
          <p:nvPr/>
        </p:nvSpPr>
        <p:spPr>
          <a:xfrm>
            <a:off x="1828800" y="3666744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15000"/>
              </a:lnSpc>
              <a:buNone/>
            </a:pPr>
            <a:r>
              <a:rPr lang="en-US" sz="1100" dirty="0">
                <a:solidFill>
                  <a:srgbClr val="2D2D2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</a:t>
            </a:r>
            <a:endParaRPr lang="en-US" sz="1100" dirty="0"/>
          </a:p>
        </p:txBody>
      </p:sp>
      <p:sp>
        <p:nvSpPr>
          <p:cNvPr id="47" name="Shape 42"/>
          <p:cNvSpPr/>
          <p:nvPr/>
        </p:nvSpPr>
        <p:spPr>
          <a:xfrm>
            <a:off x="2276856" y="3666744"/>
            <a:ext cx="384048" cy="384048"/>
          </a:xfrm>
          <a:prstGeom prst="roundRect">
            <a:avLst>
              <a:gd name="adj" fmla="val 11905"/>
            </a:avLst>
          </a:prstGeom>
          <a:solidFill>
            <a:srgbClr val="FFFFFF"/>
          </a:solidFill>
          <a:ln w="9525">
            <a:solidFill>
              <a:srgbClr val="E2E2E2"/>
            </a:solidFill>
            <a:prstDash val="solid"/>
          </a:ln>
        </p:spPr>
      </p:sp>
      <p:sp>
        <p:nvSpPr>
          <p:cNvPr id="48" name="Text 43"/>
          <p:cNvSpPr txBox="1"/>
          <p:nvPr/>
        </p:nvSpPr>
        <p:spPr>
          <a:xfrm>
            <a:off x="2276856" y="3666744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15000"/>
              </a:lnSpc>
              <a:buNone/>
            </a:pPr>
            <a:r>
              <a:rPr lang="en-US" sz="1100" dirty="0">
                <a:solidFill>
                  <a:srgbClr val="2D2D2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1</a:t>
            </a:r>
            <a:endParaRPr lang="en-US" sz="1100" dirty="0"/>
          </a:p>
        </p:txBody>
      </p:sp>
      <p:sp>
        <p:nvSpPr>
          <p:cNvPr id="49" name="Shape 44"/>
          <p:cNvSpPr/>
          <p:nvPr/>
        </p:nvSpPr>
        <p:spPr>
          <a:xfrm>
            <a:off x="2724912" y="3666744"/>
            <a:ext cx="384048" cy="384048"/>
          </a:xfrm>
          <a:prstGeom prst="roundRect">
            <a:avLst>
              <a:gd name="adj" fmla="val 11905"/>
            </a:avLst>
          </a:prstGeom>
          <a:solidFill>
            <a:srgbClr val="FFFFFF"/>
          </a:solidFill>
          <a:ln w="9525">
            <a:solidFill>
              <a:srgbClr val="E2E2E2"/>
            </a:solidFill>
            <a:prstDash val="solid"/>
          </a:ln>
        </p:spPr>
      </p:sp>
      <p:sp>
        <p:nvSpPr>
          <p:cNvPr id="50" name="Text 45"/>
          <p:cNvSpPr txBox="1"/>
          <p:nvPr/>
        </p:nvSpPr>
        <p:spPr>
          <a:xfrm>
            <a:off x="2724912" y="3666744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15000"/>
              </a:lnSpc>
              <a:buNone/>
            </a:pPr>
            <a:r>
              <a:rPr lang="en-US" sz="1100" dirty="0">
                <a:solidFill>
                  <a:srgbClr val="2D2D2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2</a:t>
            </a:r>
            <a:endParaRPr lang="en-US" sz="1100" dirty="0"/>
          </a:p>
        </p:txBody>
      </p:sp>
      <p:sp>
        <p:nvSpPr>
          <p:cNvPr id="51" name="Shape 46"/>
          <p:cNvSpPr/>
          <p:nvPr/>
        </p:nvSpPr>
        <p:spPr>
          <a:xfrm>
            <a:off x="3172968" y="3666744"/>
            <a:ext cx="384048" cy="384048"/>
          </a:xfrm>
          <a:prstGeom prst="roundRect">
            <a:avLst>
              <a:gd name="adj" fmla="val 11905"/>
            </a:avLst>
          </a:prstGeom>
          <a:solidFill>
            <a:srgbClr val="40E0D0"/>
          </a:solidFill>
          <a:ln w="9525">
            <a:solidFill>
              <a:srgbClr val="40E0D0"/>
            </a:solidFill>
            <a:prstDash val="solid"/>
          </a:ln>
        </p:spPr>
      </p:sp>
      <p:sp>
        <p:nvSpPr>
          <p:cNvPr id="52" name="Text 47"/>
          <p:cNvSpPr txBox="1"/>
          <p:nvPr/>
        </p:nvSpPr>
        <p:spPr>
          <a:xfrm>
            <a:off x="3172968" y="3666744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15000"/>
              </a:lnSpc>
              <a:buNone/>
            </a:pPr>
            <a:r>
              <a:rPr lang="en-US" sz="1100" b="1" dirty="0">
                <a:solidFill>
                  <a:srgbClr val="2D2D2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~3</a:t>
            </a:r>
            <a:endParaRPr lang="en-US" sz="1100" dirty="0"/>
          </a:p>
        </p:txBody>
      </p:sp>
      <p:sp>
        <p:nvSpPr>
          <p:cNvPr id="53" name="Shape 48"/>
          <p:cNvSpPr/>
          <p:nvPr/>
        </p:nvSpPr>
        <p:spPr>
          <a:xfrm>
            <a:off x="3621024" y="3666744"/>
            <a:ext cx="384048" cy="384048"/>
          </a:xfrm>
          <a:prstGeom prst="roundRect">
            <a:avLst>
              <a:gd name="adj" fmla="val 11905"/>
            </a:avLst>
          </a:prstGeom>
          <a:solidFill>
            <a:srgbClr val="FFFFFF"/>
          </a:solidFill>
          <a:ln w="9525">
            <a:solidFill>
              <a:srgbClr val="E2E2E2"/>
            </a:solidFill>
            <a:prstDash val="solid"/>
          </a:ln>
        </p:spPr>
      </p:sp>
      <p:sp>
        <p:nvSpPr>
          <p:cNvPr id="54" name="Text 49"/>
          <p:cNvSpPr txBox="1"/>
          <p:nvPr/>
        </p:nvSpPr>
        <p:spPr>
          <a:xfrm>
            <a:off x="3621024" y="3666744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15000"/>
              </a:lnSpc>
              <a:buNone/>
            </a:pPr>
            <a:r>
              <a:rPr lang="en-US" sz="1100" dirty="0">
                <a:solidFill>
                  <a:srgbClr val="2D2D2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4</a:t>
            </a:r>
            <a:endParaRPr lang="en-US" sz="1100" dirty="0"/>
          </a:p>
        </p:txBody>
      </p:sp>
      <p:sp>
        <p:nvSpPr>
          <p:cNvPr id="55" name="Shape 50"/>
          <p:cNvSpPr/>
          <p:nvPr/>
        </p:nvSpPr>
        <p:spPr>
          <a:xfrm>
            <a:off x="4069080" y="3666744"/>
            <a:ext cx="384048" cy="384048"/>
          </a:xfrm>
          <a:prstGeom prst="roundRect">
            <a:avLst>
              <a:gd name="adj" fmla="val 11905"/>
            </a:avLst>
          </a:prstGeom>
          <a:solidFill>
            <a:srgbClr val="40E0D0"/>
          </a:solidFill>
          <a:ln w="9525">
            <a:solidFill>
              <a:srgbClr val="40E0D0"/>
            </a:solidFill>
            <a:prstDash val="solid"/>
          </a:ln>
        </p:spPr>
      </p:sp>
      <p:sp>
        <p:nvSpPr>
          <p:cNvPr id="56" name="Text 51"/>
          <p:cNvSpPr txBox="1"/>
          <p:nvPr/>
        </p:nvSpPr>
        <p:spPr>
          <a:xfrm>
            <a:off x="4069080" y="3666744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15000"/>
              </a:lnSpc>
              <a:buNone/>
            </a:pPr>
            <a:r>
              <a:rPr lang="en-US" sz="1100" b="1" dirty="0">
                <a:solidFill>
                  <a:srgbClr val="2D2D2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~5</a:t>
            </a:r>
            <a:endParaRPr lang="en-US" sz="1100" dirty="0"/>
          </a:p>
        </p:txBody>
      </p:sp>
      <p:sp>
        <p:nvSpPr>
          <p:cNvPr id="57" name="Shape 52"/>
          <p:cNvSpPr/>
          <p:nvPr/>
        </p:nvSpPr>
        <p:spPr>
          <a:xfrm>
            <a:off x="4517136" y="3666744"/>
            <a:ext cx="384048" cy="384048"/>
          </a:xfrm>
          <a:prstGeom prst="roundRect">
            <a:avLst>
              <a:gd name="adj" fmla="val 11905"/>
            </a:avLst>
          </a:prstGeom>
          <a:solidFill>
            <a:srgbClr val="40E0D0"/>
          </a:solidFill>
          <a:ln w="9525">
            <a:solidFill>
              <a:srgbClr val="40E0D0"/>
            </a:solidFill>
            <a:prstDash val="solid"/>
          </a:ln>
        </p:spPr>
      </p:sp>
      <p:sp>
        <p:nvSpPr>
          <p:cNvPr id="58" name="Text 53"/>
          <p:cNvSpPr txBox="1"/>
          <p:nvPr/>
        </p:nvSpPr>
        <p:spPr>
          <a:xfrm>
            <a:off x="4517136" y="3666744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15000"/>
              </a:lnSpc>
              <a:buNone/>
            </a:pPr>
            <a:r>
              <a:rPr lang="en-US" sz="1100" b="1" dirty="0">
                <a:solidFill>
                  <a:srgbClr val="2D2D2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~6</a:t>
            </a:r>
            <a:endParaRPr lang="en-US" sz="1100" dirty="0"/>
          </a:p>
        </p:txBody>
      </p:sp>
      <p:sp>
        <p:nvSpPr>
          <p:cNvPr id="59" name="Shape 54"/>
          <p:cNvSpPr/>
          <p:nvPr/>
        </p:nvSpPr>
        <p:spPr>
          <a:xfrm>
            <a:off x="4965192" y="3666744"/>
            <a:ext cx="384048" cy="384048"/>
          </a:xfrm>
          <a:prstGeom prst="roundRect">
            <a:avLst>
              <a:gd name="adj" fmla="val 11905"/>
            </a:avLst>
          </a:prstGeom>
          <a:solidFill>
            <a:srgbClr val="FFFFFF"/>
          </a:solidFill>
          <a:ln w="9525">
            <a:solidFill>
              <a:srgbClr val="E2E2E2"/>
            </a:solidFill>
            <a:prstDash val="solid"/>
          </a:ln>
        </p:spPr>
      </p:sp>
      <p:sp>
        <p:nvSpPr>
          <p:cNvPr id="60" name="Text 55"/>
          <p:cNvSpPr txBox="1"/>
          <p:nvPr/>
        </p:nvSpPr>
        <p:spPr>
          <a:xfrm>
            <a:off x="4965192" y="3666744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15000"/>
              </a:lnSpc>
              <a:buNone/>
            </a:pPr>
            <a:r>
              <a:rPr lang="en-US" sz="1100" dirty="0">
                <a:solidFill>
                  <a:srgbClr val="2D2D2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7</a:t>
            </a:r>
            <a:endParaRPr lang="en-US" sz="1100" dirty="0"/>
          </a:p>
        </p:txBody>
      </p:sp>
      <p:sp>
        <p:nvSpPr>
          <p:cNvPr id="61" name="Shape 56"/>
          <p:cNvSpPr/>
          <p:nvPr/>
        </p:nvSpPr>
        <p:spPr>
          <a:xfrm>
            <a:off x="5413248" y="3666744"/>
            <a:ext cx="384048" cy="384048"/>
          </a:xfrm>
          <a:prstGeom prst="roundRect">
            <a:avLst>
              <a:gd name="adj" fmla="val 11905"/>
            </a:avLst>
          </a:prstGeom>
          <a:solidFill>
            <a:srgbClr val="FFFFFF"/>
          </a:solidFill>
          <a:ln w="9525">
            <a:solidFill>
              <a:srgbClr val="E2E2E2"/>
            </a:solidFill>
            <a:prstDash val="solid"/>
          </a:ln>
        </p:spPr>
      </p:sp>
      <p:sp>
        <p:nvSpPr>
          <p:cNvPr id="62" name="Text 57"/>
          <p:cNvSpPr txBox="1"/>
          <p:nvPr/>
        </p:nvSpPr>
        <p:spPr>
          <a:xfrm>
            <a:off x="5413248" y="3666744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15000"/>
              </a:lnSpc>
              <a:buNone/>
            </a:pPr>
            <a:r>
              <a:rPr lang="en-US" sz="1100" dirty="0">
                <a:solidFill>
                  <a:srgbClr val="2D2D2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8</a:t>
            </a:r>
            <a:endParaRPr lang="en-US" sz="1100" dirty="0"/>
          </a:p>
        </p:txBody>
      </p:sp>
      <p:sp>
        <p:nvSpPr>
          <p:cNvPr id="63" name="Shape 58"/>
          <p:cNvSpPr/>
          <p:nvPr/>
        </p:nvSpPr>
        <p:spPr>
          <a:xfrm>
            <a:off x="5861304" y="3666744"/>
            <a:ext cx="384048" cy="384048"/>
          </a:xfrm>
          <a:prstGeom prst="roundRect">
            <a:avLst>
              <a:gd name="adj" fmla="val 11905"/>
            </a:avLst>
          </a:prstGeom>
          <a:solidFill>
            <a:srgbClr val="40E0D0"/>
          </a:solidFill>
          <a:ln w="9525">
            <a:solidFill>
              <a:srgbClr val="40E0D0"/>
            </a:solidFill>
            <a:prstDash val="solid"/>
          </a:ln>
        </p:spPr>
      </p:sp>
      <p:sp>
        <p:nvSpPr>
          <p:cNvPr id="64" name="Text 59"/>
          <p:cNvSpPr txBox="1"/>
          <p:nvPr/>
        </p:nvSpPr>
        <p:spPr>
          <a:xfrm>
            <a:off x="5861304" y="3666744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15000"/>
              </a:lnSpc>
              <a:buNone/>
            </a:pPr>
            <a:r>
              <a:rPr lang="en-US" sz="1100" b="1" dirty="0">
                <a:solidFill>
                  <a:srgbClr val="2D2D2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~9</a:t>
            </a:r>
            <a:endParaRPr lang="en-US" sz="1100" dirty="0"/>
          </a:p>
        </p:txBody>
      </p:sp>
      <p:sp>
        <p:nvSpPr>
          <p:cNvPr id="65" name="Shape 60"/>
          <p:cNvSpPr/>
          <p:nvPr/>
        </p:nvSpPr>
        <p:spPr>
          <a:xfrm>
            <a:off x="6309360" y="3666744"/>
            <a:ext cx="384048" cy="384048"/>
          </a:xfrm>
          <a:prstGeom prst="roundRect">
            <a:avLst>
              <a:gd name="adj" fmla="val 11905"/>
            </a:avLst>
          </a:prstGeom>
          <a:solidFill>
            <a:srgbClr val="40E0D0"/>
          </a:solidFill>
          <a:ln w="9525">
            <a:solidFill>
              <a:srgbClr val="40E0D0"/>
            </a:solidFill>
            <a:prstDash val="solid"/>
          </a:ln>
        </p:spPr>
      </p:sp>
      <p:sp>
        <p:nvSpPr>
          <p:cNvPr id="66" name="Text 61"/>
          <p:cNvSpPr txBox="1"/>
          <p:nvPr/>
        </p:nvSpPr>
        <p:spPr>
          <a:xfrm>
            <a:off x="6309360" y="3666744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15000"/>
              </a:lnSpc>
              <a:buNone/>
            </a:pPr>
            <a:r>
              <a:rPr lang="en-US" sz="1100" b="1" dirty="0">
                <a:solidFill>
                  <a:srgbClr val="2D2D2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~10</a:t>
            </a:r>
            <a:endParaRPr lang="en-US" sz="1100" dirty="0"/>
          </a:p>
        </p:txBody>
      </p:sp>
      <p:sp>
        <p:nvSpPr>
          <p:cNvPr id="67" name="Shape 62"/>
          <p:cNvSpPr/>
          <p:nvPr/>
        </p:nvSpPr>
        <p:spPr>
          <a:xfrm>
            <a:off x="6757416" y="3666744"/>
            <a:ext cx="384048" cy="384048"/>
          </a:xfrm>
          <a:prstGeom prst="roundRect">
            <a:avLst>
              <a:gd name="adj" fmla="val 11905"/>
            </a:avLst>
          </a:prstGeom>
          <a:solidFill>
            <a:srgbClr val="40E0D0"/>
          </a:solidFill>
          <a:ln w="9525">
            <a:solidFill>
              <a:srgbClr val="40E0D0"/>
            </a:solidFill>
            <a:prstDash val="solid"/>
          </a:ln>
        </p:spPr>
      </p:sp>
      <p:sp>
        <p:nvSpPr>
          <p:cNvPr id="68" name="Text 63"/>
          <p:cNvSpPr txBox="1"/>
          <p:nvPr/>
        </p:nvSpPr>
        <p:spPr>
          <a:xfrm>
            <a:off x="6757416" y="3666744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15000"/>
              </a:lnSpc>
              <a:buNone/>
            </a:pPr>
            <a:r>
              <a:rPr lang="en-US" sz="1100" b="1" dirty="0">
                <a:solidFill>
                  <a:srgbClr val="2D2D2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~11</a:t>
            </a:r>
            <a:endParaRPr lang="en-US" sz="1100" dirty="0"/>
          </a:p>
        </p:txBody>
      </p:sp>
      <p:sp>
        <p:nvSpPr>
          <p:cNvPr id="69" name="Shape 64"/>
          <p:cNvSpPr/>
          <p:nvPr/>
        </p:nvSpPr>
        <p:spPr>
          <a:xfrm>
            <a:off x="7205472" y="3666744"/>
            <a:ext cx="384048" cy="384048"/>
          </a:xfrm>
          <a:prstGeom prst="roundRect">
            <a:avLst>
              <a:gd name="adj" fmla="val 11905"/>
            </a:avLst>
          </a:prstGeom>
          <a:solidFill>
            <a:srgbClr val="FFFFFF"/>
          </a:solidFill>
          <a:ln w="9525">
            <a:solidFill>
              <a:srgbClr val="E2E2E2"/>
            </a:solidFill>
            <a:prstDash val="solid"/>
          </a:ln>
        </p:spPr>
      </p:sp>
      <p:sp>
        <p:nvSpPr>
          <p:cNvPr id="70" name="Text 65"/>
          <p:cNvSpPr txBox="1"/>
          <p:nvPr/>
        </p:nvSpPr>
        <p:spPr>
          <a:xfrm>
            <a:off x="7205472" y="3666744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15000"/>
              </a:lnSpc>
              <a:buNone/>
            </a:pPr>
            <a:r>
              <a:rPr lang="en-US" sz="1100" dirty="0">
                <a:solidFill>
                  <a:srgbClr val="2D2D2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12</a:t>
            </a:r>
            <a:endParaRPr lang="en-US" sz="1100" dirty="0"/>
          </a:p>
        </p:txBody>
      </p:sp>
      <p:sp>
        <p:nvSpPr>
          <p:cNvPr id="71" name="Shape 66"/>
          <p:cNvSpPr/>
          <p:nvPr/>
        </p:nvSpPr>
        <p:spPr>
          <a:xfrm>
            <a:off x="7653528" y="3666744"/>
            <a:ext cx="384048" cy="384048"/>
          </a:xfrm>
          <a:prstGeom prst="roundRect">
            <a:avLst>
              <a:gd name="adj" fmla="val 11905"/>
            </a:avLst>
          </a:prstGeom>
          <a:solidFill>
            <a:srgbClr val="FFFFFF"/>
          </a:solidFill>
          <a:ln w="9525">
            <a:solidFill>
              <a:srgbClr val="E2E2E2"/>
            </a:solidFill>
            <a:prstDash val="solid"/>
          </a:ln>
        </p:spPr>
      </p:sp>
      <p:sp>
        <p:nvSpPr>
          <p:cNvPr id="72" name="Text 67"/>
          <p:cNvSpPr txBox="1"/>
          <p:nvPr/>
        </p:nvSpPr>
        <p:spPr>
          <a:xfrm>
            <a:off x="7653528" y="3666744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15000"/>
              </a:lnSpc>
              <a:buNone/>
            </a:pPr>
            <a:r>
              <a:rPr lang="en-US" sz="1100" dirty="0">
                <a:solidFill>
                  <a:srgbClr val="2D2D2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13</a:t>
            </a:r>
            <a:endParaRPr lang="en-US" sz="1100" dirty="0"/>
          </a:p>
        </p:txBody>
      </p:sp>
      <p:sp>
        <p:nvSpPr>
          <p:cNvPr id="73" name="Text 68"/>
          <p:cNvSpPr txBox="1"/>
          <p:nvPr/>
        </p:nvSpPr>
        <p:spPr>
          <a:xfrm>
            <a:off x="594360" y="4105656"/>
            <a:ext cx="11887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1200" b="1" dirty="0">
                <a:solidFill>
                  <a:srgbClr val="2D2D2D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模拟 A0～A5</a:t>
            </a:r>
            <a:endParaRPr lang="en-US" sz="1200" dirty="0"/>
          </a:p>
        </p:txBody>
      </p:sp>
      <p:sp>
        <p:nvSpPr>
          <p:cNvPr id="74" name="Shape 69"/>
          <p:cNvSpPr/>
          <p:nvPr/>
        </p:nvSpPr>
        <p:spPr>
          <a:xfrm>
            <a:off x="1828800" y="4105656"/>
            <a:ext cx="384048" cy="384048"/>
          </a:xfrm>
          <a:prstGeom prst="roundRect">
            <a:avLst>
              <a:gd name="adj" fmla="val 11905"/>
            </a:avLst>
          </a:prstGeom>
          <a:solidFill>
            <a:srgbClr val="2D2D2D"/>
          </a:solidFill>
          <a:ln w="12700">
            <a:solidFill>
              <a:srgbClr val="2D2D2D"/>
            </a:solidFill>
            <a:prstDash val="solid"/>
          </a:ln>
        </p:spPr>
      </p:sp>
      <p:sp>
        <p:nvSpPr>
          <p:cNvPr id="75" name="Text 70"/>
          <p:cNvSpPr txBox="1"/>
          <p:nvPr/>
        </p:nvSpPr>
        <p:spPr>
          <a:xfrm>
            <a:off x="1828800" y="4105656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15000"/>
              </a:lnSpc>
              <a:buNone/>
            </a:pPr>
            <a:r>
              <a:rPr lang="en-US" sz="1050" b="1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A0</a:t>
            </a:r>
            <a:endParaRPr lang="en-US" sz="1050" dirty="0"/>
          </a:p>
        </p:txBody>
      </p:sp>
      <p:sp>
        <p:nvSpPr>
          <p:cNvPr id="76" name="Shape 71"/>
          <p:cNvSpPr/>
          <p:nvPr/>
        </p:nvSpPr>
        <p:spPr>
          <a:xfrm>
            <a:off x="2276856" y="4105656"/>
            <a:ext cx="384048" cy="384048"/>
          </a:xfrm>
          <a:prstGeom prst="roundRect">
            <a:avLst>
              <a:gd name="adj" fmla="val 11905"/>
            </a:avLst>
          </a:prstGeom>
          <a:solidFill>
            <a:srgbClr val="2D2D2D"/>
          </a:solidFill>
          <a:ln w="12700">
            <a:solidFill>
              <a:srgbClr val="2D2D2D"/>
            </a:solidFill>
            <a:prstDash val="solid"/>
          </a:ln>
        </p:spPr>
      </p:sp>
      <p:sp>
        <p:nvSpPr>
          <p:cNvPr id="77" name="Text 72"/>
          <p:cNvSpPr txBox="1"/>
          <p:nvPr/>
        </p:nvSpPr>
        <p:spPr>
          <a:xfrm>
            <a:off x="2276856" y="4105656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15000"/>
              </a:lnSpc>
              <a:buNone/>
            </a:pPr>
            <a:r>
              <a:rPr lang="en-US" sz="1050" b="1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A1</a:t>
            </a:r>
            <a:endParaRPr lang="en-US" sz="1050" dirty="0"/>
          </a:p>
        </p:txBody>
      </p:sp>
      <p:sp>
        <p:nvSpPr>
          <p:cNvPr id="78" name="Shape 73"/>
          <p:cNvSpPr/>
          <p:nvPr/>
        </p:nvSpPr>
        <p:spPr>
          <a:xfrm>
            <a:off x="2724912" y="4105656"/>
            <a:ext cx="384048" cy="384048"/>
          </a:xfrm>
          <a:prstGeom prst="roundRect">
            <a:avLst>
              <a:gd name="adj" fmla="val 11905"/>
            </a:avLst>
          </a:prstGeom>
          <a:solidFill>
            <a:srgbClr val="2D2D2D"/>
          </a:solidFill>
          <a:ln w="12700">
            <a:solidFill>
              <a:srgbClr val="2D2D2D"/>
            </a:solidFill>
            <a:prstDash val="solid"/>
          </a:ln>
        </p:spPr>
      </p:sp>
      <p:sp>
        <p:nvSpPr>
          <p:cNvPr id="79" name="Text 74"/>
          <p:cNvSpPr txBox="1"/>
          <p:nvPr/>
        </p:nvSpPr>
        <p:spPr>
          <a:xfrm>
            <a:off x="2724912" y="4105656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15000"/>
              </a:lnSpc>
              <a:buNone/>
            </a:pPr>
            <a:r>
              <a:rPr lang="en-US" sz="1050" b="1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A2</a:t>
            </a:r>
            <a:endParaRPr lang="en-US" sz="1050" dirty="0"/>
          </a:p>
        </p:txBody>
      </p:sp>
      <p:sp>
        <p:nvSpPr>
          <p:cNvPr id="80" name="Shape 75"/>
          <p:cNvSpPr/>
          <p:nvPr/>
        </p:nvSpPr>
        <p:spPr>
          <a:xfrm>
            <a:off x="3172968" y="4105656"/>
            <a:ext cx="384048" cy="384048"/>
          </a:xfrm>
          <a:prstGeom prst="roundRect">
            <a:avLst>
              <a:gd name="adj" fmla="val 11905"/>
            </a:avLst>
          </a:prstGeom>
          <a:solidFill>
            <a:srgbClr val="2D2D2D"/>
          </a:solidFill>
          <a:ln w="12700">
            <a:solidFill>
              <a:srgbClr val="2D2D2D"/>
            </a:solidFill>
            <a:prstDash val="solid"/>
          </a:ln>
        </p:spPr>
      </p:sp>
      <p:sp>
        <p:nvSpPr>
          <p:cNvPr id="81" name="Text 76"/>
          <p:cNvSpPr txBox="1"/>
          <p:nvPr/>
        </p:nvSpPr>
        <p:spPr>
          <a:xfrm>
            <a:off x="3172968" y="4105656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15000"/>
              </a:lnSpc>
              <a:buNone/>
            </a:pPr>
            <a:r>
              <a:rPr lang="en-US" sz="1050" b="1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A3</a:t>
            </a:r>
            <a:endParaRPr lang="en-US" sz="1050" dirty="0"/>
          </a:p>
        </p:txBody>
      </p:sp>
      <p:sp>
        <p:nvSpPr>
          <p:cNvPr id="82" name="Shape 77"/>
          <p:cNvSpPr/>
          <p:nvPr/>
        </p:nvSpPr>
        <p:spPr>
          <a:xfrm>
            <a:off x="3621024" y="4105656"/>
            <a:ext cx="384048" cy="384048"/>
          </a:xfrm>
          <a:prstGeom prst="roundRect">
            <a:avLst>
              <a:gd name="adj" fmla="val 11905"/>
            </a:avLst>
          </a:prstGeom>
          <a:solidFill>
            <a:srgbClr val="2D2D2D"/>
          </a:solidFill>
          <a:ln w="12700">
            <a:solidFill>
              <a:srgbClr val="2D2D2D"/>
            </a:solidFill>
            <a:prstDash val="solid"/>
          </a:ln>
        </p:spPr>
      </p:sp>
      <p:sp>
        <p:nvSpPr>
          <p:cNvPr id="83" name="Text 78"/>
          <p:cNvSpPr txBox="1"/>
          <p:nvPr/>
        </p:nvSpPr>
        <p:spPr>
          <a:xfrm>
            <a:off x="3621024" y="4105656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15000"/>
              </a:lnSpc>
              <a:buNone/>
            </a:pPr>
            <a:r>
              <a:rPr lang="en-US" sz="1050" b="1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A4</a:t>
            </a:r>
            <a:endParaRPr lang="en-US" sz="1050" dirty="0"/>
          </a:p>
        </p:txBody>
      </p:sp>
      <p:sp>
        <p:nvSpPr>
          <p:cNvPr id="84" name="Shape 79"/>
          <p:cNvSpPr/>
          <p:nvPr/>
        </p:nvSpPr>
        <p:spPr>
          <a:xfrm>
            <a:off x="4069080" y="4105656"/>
            <a:ext cx="384048" cy="384048"/>
          </a:xfrm>
          <a:prstGeom prst="roundRect">
            <a:avLst>
              <a:gd name="adj" fmla="val 11905"/>
            </a:avLst>
          </a:prstGeom>
          <a:solidFill>
            <a:srgbClr val="2D2D2D"/>
          </a:solidFill>
          <a:ln w="12700">
            <a:solidFill>
              <a:srgbClr val="2D2D2D"/>
            </a:solidFill>
            <a:prstDash val="solid"/>
          </a:ln>
        </p:spPr>
      </p:sp>
      <p:sp>
        <p:nvSpPr>
          <p:cNvPr id="85" name="Text 80"/>
          <p:cNvSpPr txBox="1"/>
          <p:nvPr/>
        </p:nvSpPr>
        <p:spPr>
          <a:xfrm>
            <a:off x="4069080" y="4105656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15000"/>
              </a:lnSpc>
              <a:buNone/>
            </a:pPr>
            <a:r>
              <a:rPr lang="en-US" sz="1050" b="1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A5</a:t>
            </a:r>
            <a:endParaRPr lang="en-US" sz="1050" dirty="0"/>
          </a:p>
        </p:txBody>
      </p:sp>
      <p:sp>
        <p:nvSpPr>
          <p:cNvPr id="86" name="Shape 81"/>
          <p:cNvSpPr/>
          <p:nvPr/>
        </p:nvSpPr>
        <p:spPr>
          <a:xfrm>
            <a:off x="4745736" y="4206240"/>
            <a:ext cx="182880" cy="182880"/>
          </a:xfrm>
          <a:prstGeom prst="roundRect">
            <a:avLst>
              <a:gd name="adj" fmla="val 15000"/>
            </a:avLst>
          </a:prstGeom>
          <a:solidFill>
            <a:srgbClr val="40E0D0"/>
          </a:solidFill>
          <a:ln w="12700">
            <a:solidFill>
              <a:srgbClr val="40E0D0"/>
            </a:solidFill>
            <a:prstDash val="solid"/>
          </a:ln>
        </p:spPr>
      </p:sp>
      <p:sp>
        <p:nvSpPr>
          <p:cNvPr id="87" name="Text 82"/>
          <p:cNvSpPr txBox="1"/>
          <p:nvPr/>
        </p:nvSpPr>
        <p:spPr>
          <a:xfrm>
            <a:off x="5020056" y="4105656"/>
            <a:ext cx="3575304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1200" dirty="0">
                <a:solidFill>
                  <a:srgbClr val="2D2D2D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带 </a:t>
            </a:r>
            <a:pPr algn="l" indent="0" marL="0">
              <a:lnSpc>
                <a:spcPct val="115000"/>
              </a:lnSpc>
              <a:buNone/>
            </a:pPr>
            <a:r>
              <a:rPr lang="en-US" sz="1200" b="1" dirty="0">
                <a:solidFill>
                  <a:srgbClr val="2D2D2D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~</a:t>
            </a:r>
            <a:pPr algn="l" indent="0" marL="0">
              <a:lnSpc>
                <a:spcPct val="115000"/>
              </a:lnSpc>
              <a:buNone/>
            </a:pPr>
            <a:r>
              <a:rPr lang="en-US" sz="1200" dirty="0">
                <a:solidFill>
                  <a:srgbClr val="2D2D2D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 的引脚能输出 PWM（模拟输出）</a:t>
            </a:r>
            <a:endParaRPr lang="en-US" sz="12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339328" y="4736592"/>
            <a:ext cx="393192" cy="219456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 lIns="0" tIns="0" rIns="0" bIns="0" anchor="ctr"/>
          <a:lstStyle>
            <a:lvl1pPr>
              <a:defRPr sz="800">
                <a:solidFill>
                  <a:srgbClr val="6B6B6B"/>
                </a:solidFill>
                <a:latin typeface="微软雅黑"/>
                <a:ea typeface="微软雅黑"/>
                <a:cs typeface="微软雅黑"/>
              </a:defRPr>
            </a:lvl1pPr>
          </a:lstStyle>
          <a:p>
            <a:pPr algn="r"/>
            <a:fld id="{F7021451-1387-4CA6-816F-3879F97B5CBC}" type="slidenum">
              <a:rPr b="0" lang="en-US"/>
              <a:t>14</a:t>
            </a:fld>
            <a:endParaRPr lang="en-US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1"/>
          <p:cNvSpPr/>
          <p:nvPr>
            <p:ph idx="102" type="body" hasCustomPrompt="1"/>
          </p:nvPr>
        </p:nvSpPr>
        <p:spPr>
          <a:xfrm>
            <a:off x="4572000" y="4736592"/>
            <a:ext cx="370332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2D2D2D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和硬件对话</a:t>
            </a:r>
            <a:endParaRPr lang="en-US" sz="800" dirty="0"/>
          </a:p>
        </p:txBody>
      </p:sp>
      <p:sp>
        <p:nvSpPr>
          <p:cNvPr id="3" name="Text 1"/>
          <p:cNvSpPr/>
          <p:nvPr>
            <p:ph idx="103" type="title" hasCustomPrompt="1"/>
          </p:nvPr>
        </p:nvSpPr>
        <p:spPr>
          <a:xfrm>
            <a:off x="411480" y="274320"/>
            <a:ext cx="83210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400" dirty="0">
                <a:solidFill>
                  <a:srgbClr val="2D2D2D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数字输入输出</a:t>
            </a:r>
            <a:endParaRPr lang="en-US" sz="2400" dirty="0"/>
          </a:p>
        </p:txBody>
      </p:sp>
      <p:sp>
        <p:nvSpPr>
          <p:cNvPr id="4" name="Text 1"/>
          <p:cNvSpPr/>
          <p:nvPr>
            <p:ph idx="104" type="body" hasCustomPrompt="1"/>
          </p:nvPr>
        </p:nvSpPr>
        <p:spPr>
          <a:xfrm>
            <a:off x="411480" y="786384"/>
            <a:ext cx="83210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6B6B6B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先用 pinMode 说清楚“进”还是“出”，再用 digitalWrite 输出、digitalRead 读取。</a:t>
            </a:r>
            <a:endParaRPr lang="en-US" sz="1200" dirty="0"/>
          </a:p>
        </p:txBody>
      </p:sp>
      <p:sp>
        <p:nvSpPr>
          <p:cNvPr id="6" name="Shape 3"/>
          <p:cNvSpPr/>
          <p:nvPr/>
        </p:nvSpPr>
        <p:spPr>
          <a:xfrm>
            <a:off x="411480" y="1234440"/>
            <a:ext cx="4846320" cy="914400"/>
          </a:xfrm>
          <a:prstGeom prst="roundRect">
            <a:avLst>
              <a:gd name="adj" fmla="val 12000"/>
            </a:avLst>
          </a:prstGeom>
          <a:solidFill>
            <a:srgbClr val="F5F5F5"/>
          </a:solidFill>
          <a:ln w="12700">
            <a:solidFill>
              <a:srgbClr val="F5F5F5"/>
            </a:solidFill>
            <a:prstDash val="solid"/>
          </a:ln>
        </p:spPr>
      </p:sp>
      <p:sp>
        <p:nvSpPr>
          <p:cNvPr id="7" name="Text 4"/>
          <p:cNvSpPr txBox="1"/>
          <p:nvPr/>
        </p:nvSpPr>
        <p:spPr>
          <a:xfrm>
            <a:off x="576072" y="1307592"/>
            <a:ext cx="25146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1250" b="1" dirty="0">
                <a:solidFill>
                  <a:srgbClr val="2D2D2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pinMode(引脚, 模式);</a:t>
            </a:r>
            <a:endParaRPr lang="en-US" sz="1250" dirty="0"/>
          </a:p>
        </p:txBody>
      </p:sp>
      <p:sp>
        <p:nvSpPr>
          <p:cNvPr id="8" name="Shape 5"/>
          <p:cNvSpPr/>
          <p:nvPr/>
        </p:nvSpPr>
        <p:spPr>
          <a:xfrm>
            <a:off x="3127248" y="1307592"/>
            <a:ext cx="1965960" cy="310896"/>
          </a:xfrm>
          <a:prstGeom prst="roundRect">
            <a:avLst>
              <a:gd name="adj" fmla="val 23529"/>
            </a:avLst>
          </a:prstGeom>
          <a:solidFill>
            <a:srgbClr val="2D2D2D"/>
          </a:solidFill>
          <a:ln w="12700">
            <a:solidFill>
              <a:srgbClr val="2D2D2D"/>
            </a:solidFill>
            <a:prstDash val="solid"/>
          </a:ln>
        </p:spPr>
      </p:sp>
      <p:sp>
        <p:nvSpPr>
          <p:cNvPr id="9" name="Text 6"/>
          <p:cNvSpPr txBox="1"/>
          <p:nvPr/>
        </p:nvSpPr>
        <p:spPr>
          <a:xfrm>
            <a:off x="3218688" y="1307592"/>
            <a:ext cx="17830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000" b="1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pinMode</a:t>
            </a:r>
            <a:pPr algn="l" indent="0" marL="0">
              <a:lnSpc>
                <a:spcPct val="100000"/>
              </a:lnSpc>
              <a:buNone/>
            </a:pPr>
            <a:r>
              <a:rPr lang="en-US" sz="1000" dirty="0">
                <a:solidFill>
                  <a:srgbClr val="BDBDB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(</a:t>
            </a:r>
            <a:pPr algn="l" indent="0" marL="0">
              <a:lnSpc>
                <a:spcPct val="100000"/>
              </a:lnSpc>
              <a:buNone/>
            </a:pPr>
            <a:r>
              <a:rPr lang="en-US" sz="1000" dirty="0">
                <a:solidFill>
                  <a:srgbClr val="F7C87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13</a:t>
            </a:r>
            <a:pPr algn="l" indent="0" marL="0">
              <a:lnSpc>
                <a:spcPct val="100000"/>
              </a:lnSpc>
              <a:buNone/>
            </a:pPr>
            <a:r>
              <a:rPr lang="en-US" sz="1000" dirty="0">
                <a:solidFill>
                  <a:srgbClr val="BDBDB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, </a:t>
            </a:r>
            <a:pPr algn="l" indent="0" marL="0">
              <a:lnSpc>
                <a:spcPct val="100000"/>
              </a:lnSpc>
              <a:buNone/>
            </a:pPr>
            <a:r>
              <a:rPr lang="en-US" sz="1000" dirty="0">
                <a:solidFill>
                  <a:srgbClr val="F7C87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OUTPUT</a:t>
            </a:r>
            <a:pPr algn="l" indent="0" marL="0">
              <a:lnSpc>
                <a:spcPct val="100000"/>
              </a:lnSpc>
              <a:buNone/>
            </a:pPr>
            <a:r>
              <a:rPr lang="en-US" sz="1000" dirty="0">
                <a:solidFill>
                  <a:srgbClr val="BDBDB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);</a:t>
            </a:r>
            <a:endParaRPr lang="en-US" sz="1000" dirty="0"/>
          </a:p>
        </p:txBody>
      </p:sp>
      <p:sp>
        <p:nvSpPr>
          <p:cNvPr id="10" name="Text 7"/>
          <p:cNvSpPr txBox="1"/>
          <p:nvPr/>
        </p:nvSpPr>
        <p:spPr>
          <a:xfrm>
            <a:off x="576072" y="1664208"/>
            <a:ext cx="4517136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1200" dirty="0">
                <a:solidFill>
                  <a:srgbClr val="2D2D2D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设置引脚是输入还是输出。模式：OUTPUT 输出、INPUT 输入、</a:t>
            </a:r>
            <a:endParaRPr lang="en-US" sz="1200" dirty="0"/>
          </a:p>
          <a:p>
            <a:pPr algn="l" indent="0" marL="0">
              <a:lnSpc>
                <a:spcPct val="115000"/>
              </a:lnSpc>
              <a:buNone/>
            </a:pPr>
            <a:r>
              <a:rPr lang="en-US" sz="1200" dirty="0">
                <a:solidFill>
                  <a:srgbClr val="2D2D2D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INPUT_PULLUP 带上拉电阻的输入。</a:t>
            </a:r>
            <a:endParaRPr lang="en-US" sz="1200" dirty="0"/>
          </a:p>
        </p:txBody>
      </p:sp>
      <p:sp>
        <p:nvSpPr>
          <p:cNvPr id="11" name="Shape 8"/>
          <p:cNvSpPr/>
          <p:nvPr/>
        </p:nvSpPr>
        <p:spPr>
          <a:xfrm>
            <a:off x="411480" y="2423160"/>
            <a:ext cx="4846320" cy="914400"/>
          </a:xfrm>
          <a:prstGeom prst="roundRect">
            <a:avLst>
              <a:gd name="adj" fmla="val 12000"/>
            </a:avLst>
          </a:prstGeom>
          <a:solidFill>
            <a:srgbClr val="F5F5F5"/>
          </a:solidFill>
          <a:ln w="12700">
            <a:solidFill>
              <a:srgbClr val="F5F5F5"/>
            </a:solidFill>
            <a:prstDash val="solid"/>
          </a:ln>
        </p:spPr>
      </p:sp>
      <p:sp>
        <p:nvSpPr>
          <p:cNvPr id="12" name="Text 9"/>
          <p:cNvSpPr txBox="1"/>
          <p:nvPr/>
        </p:nvSpPr>
        <p:spPr>
          <a:xfrm>
            <a:off x="576072" y="2496312"/>
            <a:ext cx="25146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1250" b="1" dirty="0">
                <a:solidFill>
                  <a:srgbClr val="2D2D2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digitalWrite(引脚, 电平);</a:t>
            </a:r>
            <a:endParaRPr lang="en-US" sz="1250" dirty="0"/>
          </a:p>
        </p:txBody>
      </p:sp>
      <p:sp>
        <p:nvSpPr>
          <p:cNvPr id="13" name="Shape 10"/>
          <p:cNvSpPr/>
          <p:nvPr/>
        </p:nvSpPr>
        <p:spPr>
          <a:xfrm>
            <a:off x="3127248" y="2496312"/>
            <a:ext cx="1965960" cy="310896"/>
          </a:xfrm>
          <a:prstGeom prst="roundRect">
            <a:avLst>
              <a:gd name="adj" fmla="val 23529"/>
            </a:avLst>
          </a:prstGeom>
          <a:solidFill>
            <a:srgbClr val="2D2D2D"/>
          </a:solidFill>
          <a:ln w="12700">
            <a:solidFill>
              <a:srgbClr val="2D2D2D"/>
            </a:solidFill>
            <a:prstDash val="solid"/>
          </a:ln>
        </p:spPr>
      </p:sp>
      <p:sp>
        <p:nvSpPr>
          <p:cNvPr id="14" name="Text 11"/>
          <p:cNvSpPr txBox="1"/>
          <p:nvPr/>
        </p:nvSpPr>
        <p:spPr>
          <a:xfrm>
            <a:off x="3218688" y="2496312"/>
            <a:ext cx="17830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000" b="1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digitalWrite</a:t>
            </a:r>
            <a:pPr algn="l" indent="0" marL="0">
              <a:lnSpc>
                <a:spcPct val="100000"/>
              </a:lnSpc>
              <a:buNone/>
            </a:pPr>
            <a:r>
              <a:rPr lang="en-US" sz="1000" dirty="0">
                <a:solidFill>
                  <a:srgbClr val="BDBDB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(</a:t>
            </a:r>
            <a:pPr algn="l" indent="0" marL="0">
              <a:lnSpc>
                <a:spcPct val="100000"/>
              </a:lnSpc>
              <a:buNone/>
            </a:pPr>
            <a:r>
              <a:rPr lang="en-US" sz="1000" dirty="0">
                <a:solidFill>
                  <a:srgbClr val="F7C87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13</a:t>
            </a:r>
            <a:pPr algn="l" indent="0" marL="0">
              <a:lnSpc>
                <a:spcPct val="100000"/>
              </a:lnSpc>
              <a:buNone/>
            </a:pPr>
            <a:r>
              <a:rPr lang="en-US" sz="1000" dirty="0">
                <a:solidFill>
                  <a:srgbClr val="BDBDB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, </a:t>
            </a:r>
            <a:pPr algn="l" indent="0" marL="0">
              <a:lnSpc>
                <a:spcPct val="100000"/>
              </a:lnSpc>
              <a:buNone/>
            </a:pPr>
            <a:r>
              <a:rPr lang="en-US" sz="1000" dirty="0">
                <a:solidFill>
                  <a:srgbClr val="F7C87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HIGH</a:t>
            </a:r>
            <a:pPr algn="l" indent="0" marL="0">
              <a:lnSpc>
                <a:spcPct val="100000"/>
              </a:lnSpc>
              <a:buNone/>
            </a:pPr>
            <a:r>
              <a:rPr lang="en-US" sz="1000" dirty="0">
                <a:solidFill>
                  <a:srgbClr val="BDBDB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);</a:t>
            </a:r>
            <a:endParaRPr lang="en-US" sz="1000" dirty="0"/>
          </a:p>
        </p:txBody>
      </p:sp>
      <p:sp>
        <p:nvSpPr>
          <p:cNvPr id="15" name="Text 12"/>
          <p:cNvSpPr txBox="1"/>
          <p:nvPr/>
        </p:nvSpPr>
        <p:spPr>
          <a:xfrm>
            <a:off x="576072" y="2852928"/>
            <a:ext cx="4517136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1200" dirty="0">
                <a:solidFill>
                  <a:srgbClr val="2D2D2D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让输出引脚输出 HIGH 或 LOW，例如开关 LED、有源蜂鸣器。</a:t>
            </a:r>
            <a:endParaRPr lang="en-US" sz="1200" dirty="0"/>
          </a:p>
        </p:txBody>
      </p:sp>
      <p:sp>
        <p:nvSpPr>
          <p:cNvPr id="16" name="Shape 13"/>
          <p:cNvSpPr/>
          <p:nvPr/>
        </p:nvSpPr>
        <p:spPr>
          <a:xfrm>
            <a:off x="411480" y="3611880"/>
            <a:ext cx="4846320" cy="914400"/>
          </a:xfrm>
          <a:prstGeom prst="roundRect">
            <a:avLst>
              <a:gd name="adj" fmla="val 12000"/>
            </a:avLst>
          </a:prstGeom>
          <a:solidFill>
            <a:srgbClr val="F5F5F5"/>
          </a:solidFill>
          <a:ln w="12700">
            <a:solidFill>
              <a:srgbClr val="F5F5F5"/>
            </a:solidFill>
            <a:prstDash val="solid"/>
          </a:ln>
        </p:spPr>
      </p:sp>
      <p:sp>
        <p:nvSpPr>
          <p:cNvPr id="17" name="Text 14"/>
          <p:cNvSpPr txBox="1"/>
          <p:nvPr/>
        </p:nvSpPr>
        <p:spPr>
          <a:xfrm>
            <a:off x="576072" y="3685032"/>
            <a:ext cx="25146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1250" b="1" dirty="0">
                <a:solidFill>
                  <a:srgbClr val="2D2D2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digitalRead(引脚)</a:t>
            </a:r>
            <a:endParaRPr lang="en-US" sz="1250" dirty="0"/>
          </a:p>
        </p:txBody>
      </p:sp>
      <p:sp>
        <p:nvSpPr>
          <p:cNvPr id="18" name="Shape 15"/>
          <p:cNvSpPr/>
          <p:nvPr/>
        </p:nvSpPr>
        <p:spPr>
          <a:xfrm>
            <a:off x="3127248" y="3685032"/>
            <a:ext cx="1965960" cy="310896"/>
          </a:xfrm>
          <a:prstGeom prst="roundRect">
            <a:avLst>
              <a:gd name="adj" fmla="val 23529"/>
            </a:avLst>
          </a:prstGeom>
          <a:solidFill>
            <a:srgbClr val="2D2D2D"/>
          </a:solidFill>
          <a:ln w="12700">
            <a:solidFill>
              <a:srgbClr val="2D2D2D"/>
            </a:solidFill>
            <a:prstDash val="solid"/>
          </a:ln>
        </p:spPr>
      </p:sp>
      <p:sp>
        <p:nvSpPr>
          <p:cNvPr id="19" name="Text 16"/>
          <p:cNvSpPr txBox="1"/>
          <p:nvPr/>
        </p:nvSpPr>
        <p:spPr>
          <a:xfrm>
            <a:off x="3218688" y="3685032"/>
            <a:ext cx="17830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000" b="1" dirty="0">
                <a:solidFill>
                  <a:srgbClr val="40E0D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int </a:t>
            </a:r>
            <a:pPr algn="l" indent="0" marL="0">
              <a:lnSpc>
                <a:spcPct val="100000"/>
              </a:lnSpc>
              <a:buNone/>
            </a:pPr>
            <a:r>
              <a:rPr lang="en-US" sz="1000" dirty="0">
                <a:solidFill>
                  <a:srgbClr val="D9D9D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v </a:t>
            </a:r>
            <a:pPr algn="l" indent="0" marL="0">
              <a:lnSpc>
                <a:spcPct val="100000"/>
              </a:lnSpc>
              <a:buNone/>
            </a:pPr>
            <a:r>
              <a:rPr lang="en-US" sz="1000" dirty="0">
                <a:solidFill>
                  <a:srgbClr val="BDBDB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= </a:t>
            </a:r>
            <a:pPr algn="l" indent="0" marL="0">
              <a:lnSpc>
                <a:spcPct val="100000"/>
              </a:lnSpc>
              <a:buNone/>
            </a:pPr>
            <a:r>
              <a:rPr lang="en-US" sz="1000" b="1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digitalRead</a:t>
            </a:r>
            <a:pPr algn="l" indent="0" marL="0">
              <a:lnSpc>
                <a:spcPct val="100000"/>
              </a:lnSpc>
              <a:buNone/>
            </a:pPr>
            <a:r>
              <a:rPr lang="en-US" sz="1000" dirty="0">
                <a:solidFill>
                  <a:srgbClr val="BDBDB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(</a:t>
            </a:r>
            <a:pPr algn="l" indent="0" marL="0">
              <a:lnSpc>
                <a:spcPct val="100000"/>
              </a:lnSpc>
              <a:buNone/>
            </a:pPr>
            <a:r>
              <a:rPr lang="en-US" sz="1000" dirty="0">
                <a:solidFill>
                  <a:srgbClr val="F7C87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7</a:t>
            </a:r>
            <a:pPr algn="l" indent="0" marL="0">
              <a:lnSpc>
                <a:spcPct val="100000"/>
              </a:lnSpc>
              <a:buNone/>
            </a:pPr>
            <a:r>
              <a:rPr lang="en-US" sz="1000" dirty="0">
                <a:solidFill>
                  <a:srgbClr val="BDBDB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);</a:t>
            </a:r>
            <a:endParaRPr lang="en-US" sz="1000" dirty="0"/>
          </a:p>
        </p:txBody>
      </p:sp>
      <p:sp>
        <p:nvSpPr>
          <p:cNvPr id="20" name="Text 17"/>
          <p:cNvSpPr txBox="1"/>
          <p:nvPr/>
        </p:nvSpPr>
        <p:spPr>
          <a:xfrm>
            <a:off x="576072" y="4041648"/>
            <a:ext cx="4517136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1200" dirty="0">
                <a:solidFill>
                  <a:srgbClr val="2D2D2D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读取输入引脚的电平，结果是 HIGH(1) 或 LOW(0)，</a:t>
            </a:r>
            <a:endParaRPr lang="en-US" sz="1200" dirty="0"/>
          </a:p>
          <a:p>
            <a:pPr algn="l" indent="0" marL="0">
              <a:lnSpc>
                <a:spcPct val="115000"/>
              </a:lnSpc>
              <a:buNone/>
            </a:pPr>
            <a:r>
              <a:rPr lang="en-US" sz="1200" dirty="0">
                <a:solidFill>
                  <a:srgbClr val="2D2D2D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例如读按键、触摸、倾斜开关。</a:t>
            </a:r>
            <a:endParaRPr lang="en-US" sz="1200" dirty="0"/>
          </a:p>
        </p:txBody>
      </p:sp>
      <p:sp>
        <p:nvSpPr>
          <p:cNvPr id="21" name="Shape 18"/>
          <p:cNvSpPr/>
          <p:nvPr/>
        </p:nvSpPr>
        <p:spPr>
          <a:xfrm>
            <a:off x="5532120" y="1234440"/>
            <a:ext cx="3200400" cy="3337560"/>
          </a:xfrm>
          <a:prstGeom prst="roundRect">
            <a:avLst>
              <a:gd name="adj" fmla="val 3429"/>
            </a:avLst>
          </a:prstGeom>
          <a:solidFill>
            <a:srgbClr val="F5F5F5"/>
          </a:solidFill>
          <a:ln w="12700">
            <a:solidFill>
              <a:srgbClr val="F5F5F5"/>
            </a:solidFill>
            <a:prstDash val="solid"/>
          </a:ln>
        </p:spPr>
      </p:sp>
      <p:sp>
        <p:nvSpPr>
          <p:cNvPr id="22" name="Shape 19"/>
          <p:cNvSpPr/>
          <p:nvPr/>
        </p:nvSpPr>
        <p:spPr>
          <a:xfrm>
            <a:off x="5696712" y="1380744"/>
            <a:ext cx="347472" cy="347472"/>
          </a:xfrm>
          <a:prstGeom prst="ellipse">
            <a:avLst/>
          </a:prstGeom>
          <a:solidFill>
            <a:srgbClr val="40E0D0"/>
          </a:solidFill>
          <a:ln w="12700">
            <a:solidFill>
              <a:srgbClr val="40E0D0"/>
            </a:solidFill>
            <a:prstDash val="solid"/>
          </a:ln>
        </p:spPr>
      </p:sp>
      <p:pic>
        <p:nvPicPr>
          <p:cNvPr id="23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780105" y="1464137"/>
            <a:ext cx="180685" cy="180685"/>
          </a:xfrm>
          <a:prstGeom prst="rect">
            <a:avLst/>
          </a:prstGeom>
        </p:spPr>
      </p:pic>
      <p:sp>
        <p:nvSpPr>
          <p:cNvPr id="24" name="Text 20"/>
          <p:cNvSpPr txBox="1"/>
          <p:nvPr/>
        </p:nvSpPr>
        <p:spPr>
          <a:xfrm>
            <a:off x="6172200" y="1362456"/>
            <a:ext cx="239572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1400" b="1" dirty="0">
                <a:solidFill>
                  <a:srgbClr val="2D2D2D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为什么“按下 = LOW”？</a:t>
            </a:r>
            <a:endParaRPr lang="en-US" sz="1400" dirty="0"/>
          </a:p>
        </p:txBody>
      </p:sp>
      <p:sp>
        <p:nvSpPr>
          <p:cNvPr id="25" name="Text 21"/>
          <p:cNvSpPr txBox="1"/>
          <p:nvPr/>
        </p:nvSpPr>
        <p:spPr>
          <a:xfrm>
            <a:off x="5678424" y="1993392"/>
            <a:ext cx="365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1200" b="1" dirty="0">
                <a:solidFill>
                  <a:srgbClr val="2D2D2D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5V</a:t>
            </a:r>
            <a:endParaRPr lang="en-US" sz="1200" dirty="0"/>
          </a:p>
        </p:txBody>
      </p:sp>
      <p:sp>
        <p:nvSpPr>
          <p:cNvPr id="26" name="Shape 22"/>
          <p:cNvSpPr/>
          <p:nvPr/>
        </p:nvSpPr>
        <p:spPr>
          <a:xfrm>
            <a:off x="6007608" y="2130552"/>
            <a:ext cx="210312" cy="91"/>
          </a:xfrm>
          <a:prstGeom prst="line">
            <a:avLst/>
          </a:prstGeom>
          <a:noFill/>
          <a:ln w="15875">
            <a:solidFill>
              <a:srgbClr val="2D2D2D"/>
            </a:solidFill>
            <a:prstDash val="solid"/>
          </a:ln>
        </p:spPr>
      </p:sp>
      <p:sp>
        <p:nvSpPr>
          <p:cNvPr id="27" name="Shape 23"/>
          <p:cNvSpPr/>
          <p:nvPr/>
        </p:nvSpPr>
        <p:spPr>
          <a:xfrm>
            <a:off x="6217920" y="2039112"/>
            <a:ext cx="502920" cy="182880"/>
          </a:xfrm>
          <a:prstGeom prst="rect">
            <a:avLst/>
          </a:prstGeom>
          <a:solidFill>
            <a:srgbClr val="FFFFFF"/>
          </a:solidFill>
          <a:ln w="15875">
            <a:solidFill>
              <a:srgbClr val="2D2D2D"/>
            </a:solidFill>
            <a:prstDash val="solid"/>
          </a:ln>
        </p:spPr>
      </p:sp>
      <p:sp>
        <p:nvSpPr>
          <p:cNvPr id="28" name="Text 24"/>
          <p:cNvSpPr txBox="1"/>
          <p:nvPr/>
        </p:nvSpPr>
        <p:spPr>
          <a:xfrm>
            <a:off x="6172200" y="2249424"/>
            <a:ext cx="5943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ct val="115000"/>
              </a:lnSpc>
              <a:buNone/>
            </a:pPr>
            <a:r>
              <a:rPr lang="en-US" sz="1000" dirty="0">
                <a:solidFill>
                  <a:srgbClr val="6B6B6B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电阻</a:t>
            </a:r>
            <a:endParaRPr lang="en-US" sz="1000" dirty="0"/>
          </a:p>
        </p:txBody>
      </p:sp>
      <p:sp>
        <p:nvSpPr>
          <p:cNvPr id="29" name="Shape 25"/>
          <p:cNvSpPr/>
          <p:nvPr/>
        </p:nvSpPr>
        <p:spPr>
          <a:xfrm>
            <a:off x="6720840" y="2130552"/>
            <a:ext cx="868680" cy="91"/>
          </a:xfrm>
          <a:prstGeom prst="line">
            <a:avLst/>
          </a:prstGeom>
          <a:noFill/>
          <a:ln w="15875">
            <a:solidFill>
              <a:srgbClr val="2D2D2D"/>
            </a:solidFill>
            <a:prstDash val="solid"/>
          </a:ln>
        </p:spPr>
      </p:sp>
      <p:sp>
        <p:nvSpPr>
          <p:cNvPr id="30" name="Shape 26"/>
          <p:cNvSpPr/>
          <p:nvPr/>
        </p:nvSpPr>
        <p:spPr>
          <a:xfrm>
            <a:off x="7141464" y="2089404"/>
            <a:ext cx="82296" cy="82296"/>
          </a:xfrm>
          <a:prstGeom prst="ellipse">
            <a:avLst/>
          </a:prstGeom>
          <a:solidFill>
            <a:srgbClr val="2D2D2D"/>
          </a:solidFill>
          <a:ln w="12700">
            <a:solidFill>
              <a:srgbClr val="2D2D2D"/>
            </a:solidFill>
            <a:prstDash val="solid"/>
          </a:ln>
        </p:spPr>
      </p:sp>
      <p:sp>
        <p:nvSpPr>
          <p:cNvPr id="31" name="Shape 27"/>
          <p:cNvSpPr/>
          <p:nvPr/>
        </p:nvSpPr>
        <p:spPr>
          <a:xfrm>
            <a:off x="7562088" y="2093976"/>
            <a:ext cx="73152" cy="73152"/>
          </a:xfrm>
          <a:prstGeom prst="ellipse">
            <a:avLst/>
          </a:prstGeom>
          <a:solidFill>
            <a:srgbClr val="FFFFFF"/>
          </a:solidFill>
          <a:ln w="12700">
            <a:solidFill>
              <a:srgbClr val="2D2D2D"/>
            </a:solidFill>
            <a:prstDash val="solid"/>
          </a:ln>
        </p:spPr>
      </p:sp>
      <p:sp>
        <p:nvSpPr>
          <p:cNvPr id="32" name="Shape 28"/>
          <p:cNvSpPr/>
          <p:nvPr/>
        </p:nvSpPr>
        <p:spPr>
          <a:xfrm>
            <a:off x="7927848" y="2093976"/>
            <a:ext cx="73152" cy="73152"/>
          </a:xfrm>
          <a:prstGeom prst="ellipse">
            <a:avLst/>
          </a:prstGeom>
          <a:solidFill>
            <a:srgbClr val="FFFFFF"/>
          </a:solidFill>
          <a:ln w="12700">
            <a:solidFill>
              <a:srgbClr val="2D2D2D"/>
            </a:solidFill>
            <a:prstDash val="solid"/>
          </a:ln>
        </p:spPr>
      </p:sp>
      <p:sp>
        <p:nvSpPr>
          <p:cNvPr id="33" name="Shape 29"/>
          <p:cNvSpPr/>
          <p:nvPr/>
        </p:nvSpPr>
        <p:spPr>
          <a:xfrm flipV="1">
            <a:off x="7626096" y="1947672"/>
            <a:ext cx="320040" cy="164592"/>
          </a:xfrm>
          <a:prstGeom prst="line">
            <a:avLst/>
          </a:prstGeom>
          <a:noFill/>
          <a:ln w="15875">
            <a:solidFill>
              <a:srgbClr val="2D2D2D"/>
            </a:solidFill>
            <a:prstDash val="solid"/>
          </a:ln>
        </p:spPr>
      </p:sp>
      <p:sp>
        <p:nvSpPr>
          <p:cNvPr id="34" name="Text 30"/>
          <p:cNvSpPr txBox="1"/>
          <p:nvPr/>
        </p:nvSpPr>
        <p:spPr>
          <a:xfrm>
            <a:off x="7488936" y="2249424"/>
            <a:ext cx="5943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ct val="115000"/>
              </a:lnSpc>
              <a:buNone/>
            </a:pPr>
            <a:r>
              <a:rPr lang="en-US" sz="1000" dirty="0">
                <a:solidFill>
                  <a:srgbClr val="6B6B6B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按键</a:t>
            </a:r>
            <a:endParaRPr lang="en-US" sz="1000" dirty="0"/>
          </a:p>
        </p:txBody>
      </p:sp>
      <p:sp>
        <p:nvSpPr>
          <p:cNvPr id="35" name="Shape 31"/>
          <p:cNvSpPr/>
          <p:nvPr/>
        </p:nvSpPr>
        <p:spPr>
          <a:xfrm>
            <a:off x="8001000" y="2130552"/>
            <a:ext cx="146304" cy="91"/>
          </a:xfrm>
          <a:prstGeom prst="line">
            <a:avLst/>
          </a:prstGeom>
          <a:noFill/>
          <a:ln w="15875">
            <a:solidFill>
              <a:srgbClr val="2D2D2D"/>
            </a:solidFill>
            <a:prstDash val="solid"/>
          </a:ln>
        </p:spPr>
      </p:sp>
      <p:sp>
        <p:nvSpPr>
          <p:cNvPr id="36" name="Text 32"/>
          <p:cNvSpPr txBox="1"/>
          <p:nvPr/>
        </p:nvSpPr>
        <p:spPr>
          <a:xfrm>
            <a:off x="8165592" y="1993392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1200" b="1" dirty="0">
                <a:solidFill>
                  <a:srgbClr val="2D2D2D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GND</a:t>
            </a:r>
            <a:endParaRPr lang="en-US" sz="1200" dirty="0"/>
          </a:p>
        </p:txBody>
      </p:sp>
      <p:sp>
        <p:nvSpPr>
          <p:cNvPr id="37" name="Shape 33"/>
          <p:cNvSpPr/>
          <p:nvPr/>
        </p:nvSpPr>
        <p:spPr>
          <a:xfrm>
            <a:off x="7182612" y="2130552"/>
            <a:ext cx="91" cy="384048"/>
          </a:xfrm>
          <a:prstGeom prst="line">
            <a:avLst/>
          </a:prstGeom>
          <a:noFill/>
          <a:ln w="15875">
            <a:solidFill>
              <a:srgbClr val="2D2D2D"/>
            </a:solidFill>
            <a:prstDash val="solid"/>
          </a:ln>
        </p:spPr>
      </p:sp>
      <p:sp>
        <p:nvSpPr>
          <p:cNvPr id="38" name="Shape 34"/>
          <p:cNvSpPr/>
          <p:nvPr/>
        </p:nvSpPr>
        <p:spPr>
          <a:xfrm>
            <a:off x="6615684" y="2514600"/>
            <a:ext cx="1133856" cy="237744"/>
          </a:xfrm>
          <a:prstGeom prst="roundRect">
            <a:avLst>
              <a:gd name="adj" fmla="val 50000"/>
            </a:avLst>
          </a:prstGeom>
          <a:solidFill>
            <a:srgbClr val="2D2D2D"/>
          </a:solidFill>
          <a:ln w="12700">
            <a:solidFill>
              <a:srgbClr val="2D2D2D"/>
            </a:solidFill>
            <a:prstDash val="solid"/>
          </a:ln>
        </p:spPr>
      </p:sp>
      <p:sp>
        <p:nvSpPr>
          <p:cNvPr id="39" name="Text 35"/>
          <p:cNvSpPr txBox="1"/>
          <p:nvPr/>
        </p:nvSpPr>
        <p:spPr>
          <a:xfrm>
            <a:off x="6615684" y="2514600"/>
            <a:ext cx="1133856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15000"/>
              </a:lnSpc>
              <a:buNone/>
            </a:pPr>
            <a:r>
              <a:rPr lang="en-US" sz="1000" b="1" dirty="0">
                <a:solidFill>
                  <a:srgbClr val="FFFFFF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Arduino 引脚</a:t>
            </a:r>
            <a:endParaRPr lang="en-US" sz="1000" dirty="0"/>
          </a:p>
        </p:txBody>
      </p:sp>
      <p:sp>
        <p:nvSpPr>
          <p:cNvPr id="40" name="Shape 36"/>
          <p:cNvSpPr/>
          <p:nvPr/>
        </p:nvSpPr>
        <p:spPr>
          <a:xfrm>
            <a:off x="5696712" y="2971800"/>
            <a:ext cx="512064" cy="274320"/>
          </a:xfrm>
          <a:prstGeom prst="roundRect">
            <a:avLst>
              <a:gd name="adj" fmla="val 50000"/>
            </a:avLst>
          </a:prstGeom>
          <a:solidFill>
            <a:srgbClr val="E2E2E2"/>
          </a:solidFill>
          <a:ln w="12700">
            <a:solidFill>
              <a:srgbClr val="E2E2E2"/>
            </a:solidFill>
            <a:prstDash val="solid"/>
          </a:ln>
        </p:spPr>
      </p:sp>
      <p:sp>
        <p:nvSpPr>
          <p:cNvPr id="41" name="Text 37"/>
          <p:cNvSpPr txBox="1"/>
          <p:nvPr/>
        </p:nvSpPr>
        <p:spPr>
          <a:xfrm>
            <a:off x="5696712" y="2971800"/>
            <a:ext cx="51206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15000"/>
              </a:lnSpc>
              <a:buNone/>
            </a:pPr>
            <a:r>
              <a:rPr lang="en-US" sz="1100" b="1" dirty="0">
                <a:solidFill>
                  <a:srgbClr val="2D2D2D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没按</a:t>
            </a:r>
            <a:endParaRPr lang="en-US" sz="1100" dirty="0"/>
          </a:p>
        </p:txBody>
      </p:sp>
      <p:sp>
        <p:nvSpPr>
          <p:cNvPr id="42" name="Text 38"/>
          <p:cNvSpPr txBox="1"/>
          <p:nvPr/>
        </p:nvSpPr>
        <p:spPr>
          <a:xfrm>
            <a:off x="6300216" y="2971800"/>
            <a:ext cx="17830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1200" dirty="0">
                <a:solidFill>
                  <a:srgbClr val="2D2D2D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引脚被电阻拉到 5V</a:t>
            </a:r>
            <a:endParaRPr lang="en-US" sz="1200" dirty="0"/>
          </a:p>
        </p:txBody>
      </p:sp>
      <p:sp>
        <p:nvSpPr>
          <p:cNvPr id="43" name="Shape 39"/>
          <p:cNvSpPr/>
          <p:nvPr/>
        </p:nvSpPr>
        <p:spPr>
          <a:xfrm>
            <a:off x="8001000" y="2971800"/>
            <a:ext cx="566928" cy="274320"/>
          </a:xfrm>
          <a:prstGeom prst="roundRect">
            <a:avLst>
              <a:gd name="adj" fmla="val 50000"/>
            </a:avLst>
          </a:prstGeom>
          <a:solidFill>
            <a:srgbClr val="40E0D0"/>
          </a:solidFill>
          <a:ln w="12700">
            <a:solidFill>
              <a:srgbClr val="40E0D0"/>
            </a:solidFill>
            <a:prstDash val="solid"/>
          </a:ln>
        </p:spPr>
      </p:sp>
      <p:sp>
        <p:nvSpPr>
          <p:cNvPr id="44" name="Text 40"/>
          <p:cNvSpPr txBox="1"/>
          <p:nvPr/>
        </p:nvSpPr>
        <p:spPr>
          <a:xfrm>
            <a:off x="8001000" y="2971800"/>
            <a:ext cx="56692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15000"/>
              </a:lnSpc>
              <a:buNone/>
            </a:pPr>
            <a:r>
              <a:rPr lang="en-US" sz="1100" b="1" dirty="0">
                <a:solidFill>
                  <a:srgbClr val="2D2D2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HIGH</a:t>
            </a:r>
            <a:endParaRPr lang="en-US" sz="1100" dirty="0"/>
          </a:p>
        </p:txBody>
      </p:sp>
      <p:sp>
        <p:nvSpPr>
          <p:cNvPr id="45" name="Shape 41"/>
          <p:cNvSpPr/>
          <p:nvPr/>
        </p:nvSpPr>
        <p:spPr>
          <a:xfrm>
            <a:off x="5696712" y="3355848"/>
            <a:ext cx="512064" cy="274320"/>
          </a:xfrm>
          <a:prstGeom prst="roundRect">
            <a:avLst>
              <a:gd name="adj" fmla="val 50000"/>
            </a:avLst>
          </a:prstGeom>
          <a:solidFill>
            <a:srgbClr val="E2E2E2"/>
          </a:solidFill>
          <a:ln w="12700">
            <a:solidFill>
              <a:srgbClr val="E2E2E2"/>
            </a:solidFill>
            <a:prstDash val="solid"/>
          </a:ln>
        </p:spPr>
      </p:sp>
      <p:sp>
        <p:nvSpPr>
          <p:cNvPr id="46" name="Text 42"/>
          <p:cNvSpPr txBox="1"/>
          <p:nvPr/>
        </p:nvSpPr>
        <p:spPr>
          <a:xfrm>
            <a:off x="5696712" y="3355848"/>
            <a:ext cx="51206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15000"/>
              </a:lnSpc>
              <a:buNone/>
            </a:pPr>
            <a:r>
              <a:rPr lang="en-US" sz="1100" b="1" dirty="0">
                <a:solidFill>
                  <a:srgbClr val="2D2D2D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按下</a:t>
            </a:r>
            <a:endParaRPr lang="en-US" sz="1100" dirty="0"/>
          </a:p>
        </p:txBody>
      </p:sp>
      <p:sp>
        <p:nvSpPr>
          <p:cNvPr id="47" name="Text 43"/>
          <p:cNvSpPr txBox="1"/>
          <p:nvPr/>
        </p:nvSpPr>
        <p:spPr>
          <a:xfrm>
            <a:off x="6300216" y="3355848"/>
            <a:ext cx="17830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1200" dirty="0">
                <a:solidFill>
                  <a:srgbClr val="2D2D2D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引脚经按键接到 GND</a:t>
            </a:r>
            <a:endParaRPr lang="en-US" sz="1200" dirty="0"/>
          </a:p>
        </p:txBody>
      </p:sp>
      <p:sp>
        <p:nvSpPr>
          <p:cNvPr id="48" name="Shape 44"/>
          <p:cNvSpPr/>
          <p:nvPr/>
        </p:nvSpPr>
        <p:spPr>
          <a:xfrm>
            <a:off x="8001000" y="3355848"/>
            <a:ext cx="566928" cy="274320"/>
          </a:xfrm>
          <a:prstGeom prst="roundRect">
            <a:avLst>
              <a:gd name="adj" fmla="val 50000"/>
            </a:avLst>
          </a:prstGeom>
          <a:solidFill>
            <a:srgbClr val="2D2D2D"/>
          </a:solidFill>
          <a:ln w="12700">
            <a:solidFill>
              <a:srgbClr val="2D2D2D"/>
            </a:solidFill>
            <a:prstDash val="solid"/>
          </a:ln>
        </p:spPr>
      </p:sp>
      <p:sp>
        <p:nvSpPr>
          <p:cNvPr id="49" name="Text 45"/>
          <p:cNvSpPr txBox="1"/>
          <p:nvPr/>
        </p:nvSpPr>
        <p:spPr>
          <a:xfrm>
            <a:off x="8001000" y="3355848"/>
            <a:ext cx="56692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15000"/>
              </a:lnSpc>
              <a:buNone/>
            </a:pPr>
            <a:r>
              <a:rPr lang="en-US" sz="1100" b="1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LOW</a:t>
            </a:r>
            <a:endParaRPr lang="en-US" sz="1100" dirty="0"/>
          </a:p>
        </p:txBody>
      </p:sp>
      <p:sp>
        <p:nvSpPr>
          <p:cNvPr id="50" name="Shape 46"/>
          <p:cNvSpPr/>
          <p:nvPr/>
        </p:nvSpPr>
        <p:spPr>
          <a:xfrm>
            <a:off x="5696712" y="3840480"/>
            <a:ext cx="2871216" cy="310896"/>
          </a:xfrm>
          <a:prstGeom prst="roundRect">
            <a:avLst>
              <a:gd name="adj" fmla="val 23529"/>
            </a:avLst>
          </a:prstGeom>
          <a:solidFill>
            <a:srgbClr val="2D2D2D"/>
          </a:solidFill>
          <a:ln w="12700">
            <a:solidFill>
              <a:srgbClr val="2D2D2D"/>
            </a:solidFill>
            <a:prstDash val="solid"/>
          </a:ln>
        </p:spPr>
      </p:sp>
      <p:sp>
        <p:nvSpPr>
          <p:cNvPr id="51" name="Text 47"/>
          <p:cNvSpPr txBox="1"/>
          <p:nvPr/>
        </p:nvSpPr>
        <p:spPr>
          <a:xfrm>
            <a:off x="5806440" y="3840480"/>
            <a:ext cx="265176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000" b="1" dirty="0">
                <a:solidFill>
                  <a:srgbClr val="40E0D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if </a:t>
            </a:r>
            <a:pPr algn="l" indent="0" marL="0">
              <a:lnSpc>
                <a:spcPct val="100000"/>
              </a:lnSpc>
              <a:buNone/>
            </a:pPr>
            <a:r>
              <a:rPr lang="en-US" sz="1000" dirty="0">
                <a:solidFill>
                  <a:srgbClr val="BDBDB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(</a:t>
            </a:r>
            <a:pPr algn="l" indent="0" marL="0">
              <a:lnSpc>
                <a:spcPct val="100000"/>
              </a:lnSpc>
              <a:buNone/>
            </a:pPr>
            <a:r>
              <a:rPr lang="en-US" sz="1000" b="1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digitalRead</a:t>
            </a:r>
            <a:pPr algn="l" indent="0" marL="0">
              <a:lnSpc>
                <a:spcPct val="100000"/>
              </a:lnSpc>
              <a:buNone/>
            </a:pPr>
            <a:r>
              <a:rPr lang="en-US" sz="1000" dirty="0">
                <a:solidFill>
                  <a:srgbClr val="BDBDB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(</a:t>
            </a:r>
            <a:pPr algn="l" indent="0" marL="0">
              <a:lnSpc>
                <a:spcPct val="100000"/>
              </a:lnSpc>
              <a:buNone/>
            </a:pPr>
            <a:r>
              <a:rPr lang="en-US" sz="1000" dirty="0">
                <a:solidFill>
                  <a:srgbClr val="D9D9D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pin</a:t>
            </a:r>
            <a:pPr algn="l" indent="0" marL="0">
              <a:lnSpc>
                <a:spcPct val="100000"/>
              </a:lnSpc>
              <a:buNone/>
            </a:pPr>
            <a:r>
              <a:rPr lang="en-US" sz="1000" dirty="0">
                <a:solidFill>
                  <a:srgbClr val="BDBDB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) == </a:t>
            </a:r>
            <a:pPr algn="l" indent="0" marL="0">
              <a:lnSpc>
                <a:spcPct val="100000"/>
              </a:lnSpc>
              <a:buNone/>
            </a:pPr>
            <a:r>
              <a:rPr lang="en-US" sz="1000" dirty="0">
                <a:solidFill>
                  <a:srgbClr val="F7C87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LOW</a:t>
            </a:r>
            <a:pPr algn="l" indent="0" marL="0">
              <a:lnSpc>
                <a:spcPct val="100000"/>
              </a:lnSpc>
              <a:buNone/>
            </a:pPr>
            <a:r>
              <a:rPr lang="en-US" sz="1000" dirty="0">
                <a:solidFill>
                  <a:srgbClr val="BDBDB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)</a:t>
            </a:r>
            <a:endParaRPr lang="en-US" sz="1000" dirty="0"/>
          </a:p>
        </p:txBody>
      </p:sp>
      <p:sp>
        <p:nvSpPr>
          <p:cNvPr id="52" name="Text 48"/>
          <p:cNvSpPr txBox="1"/>
          <p:nvPr/>
        </p:nvSpPr>
        <p:spPr>
          <a:xfrm>
            <a:off x="5696712" y="4197096"/>
            <a:ext cx="287121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1200" dirty="0">
                <a:solidFill>
                  <a:srgbClr val="2D2D2D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代码里这样写，意思是“被按下了”</a:t>
            </a:r>
            <a:endParaRPr lang="en-US" sz="12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339328" y="4736592"/>
            <a:ext cx="393192" cy="219456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 lIns="0" tIns="0" rIns="0" bIns="0" anchor="ctr"/>
          <a:lstStyle>
            <a:lvl1pPr>
              <a:defRPr sz="800">
                <a:solidFill>
                  <a:srgbClr val="6B6B6B"/>
                </a:solidFill>
                <a:latin typeface="微软雅黑"/>
                <a:ea typeface="微软雅黑"/>
                <a:cs typeface="微软雅黑"/>
              </a:defRPr>
            </a:lvl1pPr>
          </a:lstStyle>
          <a:p>
            <a:pPr algn="r"/>
            <a:fld id="{F7021451-1387-4CA6-816F-3879F97B5CBC}" type="slidenum">
              <a:rPr b="0" lang="en-US"/>
              <a:t>15</a:t>
            </a:fld>
            <a:endParaRPr lang="en-US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1"/>
          <p:cNvSpPr/>
          <p:nvPr>
            <p:ph idx="102" type="body" hasCustomPrompt="1"/>
          </p:nvPr>
        </p:nvSpPr>
        <p:spPr>
          <a:xfrm>
            <a:off x="4572000" y="4736592"/>
            <a:ext cx="370332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2D2D2D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和硬件对话</a:t>
            </a:r>
            <a:endParaRPr lang="en-US" sz="800" dirty="0"/>
          </a:p>
        </p:txBody>
      </p:sp>
      <p:sp>
        <p:nvSpPr>
          <p:cNvPr id="3" name="Text 1"/>
          <p:cNvSpPr/>
          <p:nvPr>
            <p:ph idx="103" type="title" hasCustomPrompt="1"/>
          </p:nvPr>
        </p:nvSpPr>
        <p:spPr>
          <a:xfrm>
            <a:off x="411480" y="274320"/>
            <a:ext cx="83210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400" dirty="0">
                <a:solidFill>
                  <a:srgbClr val="2D2D2D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模拟输入输出</a:t>
            </a:r>
            <a:endParaRPr lang="en-US" sz="2400" dirty="0"/>
          </a:p>
        </p:txBody>
      </p:sp>
      <p:sp>
        <p:nvSpPr>
          <p:cNvPr id="4" name="Text 1"/>
          <p:cNvSpPr/>
          <p:nvPr>
            <p:ph idx="104" type="body" hasCustomPrompt="1"/>
          </p:nvPr>
        </p:nvSpPr>
        <p:spPr>
          <a:xfrm>
            <a:off x="411480" y="786384"/>
            <a:ext cx="83210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6B6B6B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读：把 0～5V 变成 0～1023；写：用 PWM 输出 0～255 的“中间亮度”。</a:t>
            </a:r>
            <a:endParaRPr lang="en-US" sz="1200" dirty="0"/>
          </a:p>
        </p:txBody>
      </p:sp>
      <p:sp>
        <p:nvSpPr>
          <p:cNvPr id="6" name="Shape 3"/>
          <p:cNvSpPr/>
          <p:nvPr/>
        </p:nvSpPr>
        <p:spPr>
          <a:xfrm>
            <a:off x="411480" y="1234440"/>
            <a:ext cx="4023360" cy="3337560"/>
          </a:xfrm>
          <a:prstGeom prst="roundRect">
            <a:avLst>
              <a:gd name="adj" fmla="val 3288"/>
            </a:avLst>
          </a:prstGeom>
          <a:solidFill>
            <a:srgbClr val="F5F5F5"/>
          </a:solidFill>
          <a:ln w="12700">
            <a:solidFill>
              <a:srgbClr val="F5F5F5"/>
            </a:solidFill>
            <a:prstDash val="solid"/>
          </a:ln>
        </p:spPr>
      </p:sp>
      <p:sp>
        <p:nvSpPr>
          <p:cNvPr id="7" name="Text 4"/>
          <p:cNvSpPr txBox="1"/>
          <p:nvPr/>
        </p:nvSpPr>
        <p:spPr>
          <a:xfrm>
            <a:off x="594360" y="1380744"/>
            <a:ext cx="23774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1400" b="1" dirty="0">
                <a:solidFill>
                  <a:srgbClr val="2D2D2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analogRead(引脚)</a:t>
            </a:r>
            <a:endParaRPr lang="en-US" sz="1400" dirty="0"/>
          </a:p>
        </p:txBody>
      </p:sp>
      <p:sp>
        <p:nvSpPr>
          <p:cNvPr id="8" name="Shape 5"/>
          <p:cNvSpPr/>
          <p:nvPr/>
        </p:nvSpPr>
        <p:spPr>
          <a:xfrm>
            <a:off x="3200400" y="1399032"/>
            <a:ext cx="1051560" cy="292608"/>
          </a:xfrm>
          <a:prstGeom prst="roundRect">
            <a:avLst>
              <a:gd name="adj" fmla="val 50000"/>
            </a:avLst>
          </a:prstGeom>
          <a:solidFill>
            <a:srgbClr val="40E0D0"/>
          </a:solidFill>
          <a:ln w="12700">
            <a:solidFill>
              <a:srgbClr val="40E0D0"/>
            </a:solidFill>
            <a:prstDash val="solid"/>
          </a:ln>
        </p:spPr>
      </p:sp>
      <p:sp>
        <p:nvSpPr>
          <p:cNvPr id="9" name="Text 6"/>
          <p:cNvSpPr txBox="1"/>
          <p:nvPr/>
        </p:nvSpPr>
        <p:spPr>
          <a:xfrm>
            <a:off x="3200400" y="1399032"/>
            <a:ext cx="10515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15000"/>
              </a:lnSpc>
              <a:buNone/>
            </a:pPr>
            <a:r>
              <a:rPr lang="en-US" sz="1200" b="1" dirty="0">
                <a:solidFill>
                  <a:srgbClr val="2D2D2D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0 ～ 1023</a:t>
            </a:r>
            <a:endParaRPr lang="en-US" sz="1200" dirty="0"/>
          </a:p>
        </p:txBody>
      </p:sp>
      <p:sp>
        <p:nvSpPr>
          <p:cNvPr id="10" name="Text 7"/>
          <p:cNvSpPr txBox="1"/>
          <p:nvPr/>
        </p:nvSpPr>
        <p:spPr>
          <a:xfrm>
            <a:off x="594360" y="1819656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1200" dirty="0">
                <a:solidFill>
                  <a:srgbClr val="2D2D2D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读取 A0～A5 上的电压：0V → 0，5V → 1023。</a:t>
            </a:r>
            <a:endParaRPr lang="en-US" sz="1200" dirty="0"/>
          </a:p>
        </p:txBody>
      </p:sp>
      <p:sp>
        <p:nvSpPr>
          <p:cNvPr id="11" name="Text 8"/>
          <p:cNvSpPr txBox="1"/>
          <p:nvPr/>
        </p:nvSpPr>
        <p:spPr>
          <a:xfrm>
            <a:off x="594360" y="2194560"/>
            <a:ext cx="5486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1000" dirty="0">
                <a:solidFill>
                  <a:srgbClr val="6B6B6B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0V</a:t>
            </a:r>
            <a:endParaRPr lang="en-US" sz="1000" dirty="0"/>
          </a:p>
        </p:txBody>
      </p:sp>
      <p:sp>
        <p:nvSpPr>
          <p:cNvPr id="12" name="Text 9"/>
          <p:cNvSpPr txBox="1"/>
          <p:nvPr/>
        </p:nvSpPr>
        <p:spPr>
          <a:xfrm>
            <a:off x="2057400" y="2194560"/>
            <a:ext cx="7315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ct val="115000"/>
              </a:lnSpc>
              <a:buNone/>
            </a:pPr>
            <a:r>
              <a:rPr lang="en-US" sz="1000" dirty="0">
                <a:solidFill>
                  <a:srgbClr val="6B6B6B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2.5V</a:t>
            </a:r>
            <a:endParaRPr lang="en-US" sz="1000" dirty="0"/>
          </a:p>
        </p:txBody>
      </p:sp>
      <p:sp>
        <p:nvSpPr>
          <p:cNvPr id="13" name="Text 10"/>
          <p:cNvSpPr txBox="1"/>
          <p:nvPr/>
        </p:nvSpPr>
        <p:spPr>
          <a:xfrm>
            <a:off x="3703320" y="2194560"/>
            <a:ext cx="5486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lnSpc>
                <a:spcPct val="115000"/>
              </a:lnSpc>
              <a:buNone/>
            </a:pPr>
            <a:r>
              <a:rPr lang="en-US" sz="1000" dirty="0">
                <a:solidFill>
                  <a:srgbClr val="6B6B6B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5V</a:t>
            </a:r>
            <a:endParaRPr lang="en-US" sz="1000" dirty="0"/>
          </a:p>
        </p:txBody>
      </p:sp>
      <p:sp>
        <p:nvSpPr>
          <p:cNvPr id="14" name="Shape 11"/>
          <p:cNvSpPr/>
          <p:nvPr/>
        </p:nvSpPr>
        <p:spPr>
          <a:xfrm>
            <a:off x="594360" y="2423160"/>
            <a:ext cx="205029" cy="237744"/>
          </a:xfrm>
          <a:prstGeom prst="rect">
            <a:avLst/>
          </a:prstGeom>
          <a:solidFill>
            <a:srgbClr val="F2FDFB"/>
          </a:solidFill>
          <a:ln w="12700">
            <a:solidFill>
              <a:srgbClr val="F2FDFB"/>
            </a:solidFill>
            <a:prstDash val="solid"/>
          </a:ln>
        </p:spPr>
      </p:sp>
      <p:sp>
        <p:nvSpPr>
          <p:cNvPr id="15" name="Shape 12"/>
          <p:cNvSpPr/>
          <p:nvPr/>
        </p:nvSpPr>
        <p:spPr>
          <a:xfrm>
            <a:off x="797560" y="2423160"/>
            <a:ext cx="205029" cy="237744"/>
          </a:xfrm>
          <a:prstGeom prst="rect">
            <a:avLst/>
          </a:prstGeom>
          <a:solidFill>
            <a:srgbClr val="DDFAF6"/>
          </a:solidFill>
          <a:ln w="12700">
            <a:solidFill>
              <a:srgbClr val="DDFAF6"/>
            </a:solidFill>
            <a:prstDash val="solid"/>
          </a:ln>
        </p:spPr>
      </p:sp>
      <p:sp>
        <p:nvSpPr>
          <p:cNvPr id="16" name="Shape 13"/>
          <p:cNvSpPr/>
          <p:nvPr/>
        </p:nvSpPr>
        <p:spPr>
          <a:xfrm>
            <a:off x="1000760" y="2423160"/>
            <a:ext cx="205029" cy="237744"/>
          </a:xfrm>
          <a:prstGeom prst="rect">
            <a:avLst/>
          </a:prstGeom>
          <a:solidFill>
            <a:srgbClr val="C8F6F1"/>
          </a:solidFill>
          <a:ln w="12700">
            <a:solidFill>
              <a:srgbClr val="C8F6F1"/>
            </a:solidFill>
            <a:prstDash val="solid"/>
          </a:ln>
        </p:spPr>
      </p:sp>
      <p:sp>
        <p:nvSpPr>
          <p:cNvPr id="17" name="Shape 14"/>
          <p:cNvSpPr/>
          <p:nvPr/>
        </p:nvSpPr>
        <p:spPr>
          <a:xfrm>
            <a:off x="1203960" y="2423160"/>
            <a:ext cx="205029" cy="237744"/>
          </a:xfrm>
          <a:prstGeom prst="rect">
            <a:avLst/>
          </a:prstGeom>
          <a:solidFill>
            <a:srgbClr val="B3F3EC"/>
          </a:solidFill>
          <a:ln w="12700">
            <a:solidFill>
              <a:srgbClr val="B3F3EC"/>
            </a:solidFill>
            <a:prstDash val="solid"/>
          </a:ln>
        </p:spPr>
      </p:sp>
      <p:sp>
        <p:nvSpPr>
          <p:cNvPr id="18" name="Shape 15"/>
          <p:cNvSpPr/>
          <p:nvPr/>
        </p:nvSpPr>
        <p:spPr>
          <a:xfrm>
            <a:off x="1407160" y="2423160"/>
            <a:ext cx="205029" cy="237744"/>
          </a:xfrm>
          <a:prstGeom prst="rect">
            <a:avLst/>
          </a:prstGeom>
          <a:solidFill>
            <a:srgbClr val="9EEFE7"/>
          </a:solidFill>
          <a:ln w="12700">
            <a:solidFill>
              <a:srgbClr val="9EEFE7"/>
            </a:solidFill>
            <a:prstDash val="solid"/>
          </a:ln>
        </p:spPr>
      </p:sp>
      <p:sp>
        <p:nvSpPr>
          <p:cNvPr id="19" name="Shape 16"/>
          <p:cNvSpPr/>
          <p:nvPr/>
        </p:nvSpPr>
        <p:spPr>
          <a:xfrm>
            <a:off x="1610360" y="2423160"/>
            <a:ext cx="205029" cy="237744"/>
          </a:xfrm>
          <a:prstGeom prst="rect">
            <a:avLst/>
          </a:prstGeom>
          <a:solidFill>
            <a:srgbClr val="89ECE2"/>
          </a:solidFill>
          <a:ln w="12700">
            <a:solidFill>
              <a:srgbClr val="89ECE2"/>
            </a:solidFill>
            <a:prstDash val="solid"/>
          </a:ln>
        </p:spPr>
      </p:sp>
      <p:sp>
        <p:nvSpPr>
          <p:cNvPr id="20" name="Shape 17"/>
          <p:cNvSpPr/>
          <p:nvPr/>
        </p:nvSpPr>
        <p:spPr>
          <a:xfrm>
            <a:off x="1813560" y="2423160"/>
            <a:ext cx="205029" cy="237744"/>
          </a:xfrm>
          <a:prstGeom prst="rect">
            <a:avLst/>
          </a:prstGeom>
          <a:solidFill>
            <a:srgbClr val="74E9DD"/>
          </a:solidFill>
          <a:ln w="12700">
            <a:solidFill>
              <a:srgbClr val="74E9DD"/>
            </a:solidFill>
            <a:prstDash val="solid"/>
          </a:ln>
        </p:spPr>
      </p:sp>
      <p:sp>
        <p:nvSpPr>
          <p:cNvPr id="21" name="Shape 18"/>
          <p:cNvSpPr/>
          <p:nvPr/>
        </p:nvSpPr>
        <p:spPr>
          <a:xfrm>
            <a:off x="2016760" y="2423160"/>
            <a:ext cx="205029" cy="237744"/>
          </a:xfrm>
          <a:prstGeom prst="rect">
            <a:avLst/>
          </a:prstGeom>
          <a:solidFill>
            <a:srgbClr val="5FE5D8"/>
          </a:solidFill>
          <a:ln w="12700">
            <a:solidFill>
              <a:srgbClr val="5FE5D8"/>
            </a:solidFill>
            <a:prstDash val="solid"/>
          </a:ln>
        </p:spPr>
      </p:sp>
      <p:sp>
        <p:nvSpPr>
          <p:cNvPr id="22" name="Shape 19"/>
          <p:cNvSpPr/>
          <p:nvPr/>
        </p:nvSpPr>
        <p:spPr>
          <a:xfrm>
            <a:off x="2219960" y="2423160"/>
            <a:ext cx="205029" cy="237744"/>
          </a:xfrm>
          <a:prstGeom prst="rect">
            <a:avLst/>
          </a:prstGeom>
          <a:solidFill>
            <a:srgbClr val="4AE2D3"/>
          </a:solidFill>
          <a:ln w="12700">
            <a:solidFill>
              <a:srgbClr val="4AE2D3"/>
            </a:solidFill>
            <a:prstDash val="solid"/>
          </a:ln>
        </p:spPr>
      </p:sp>
      <p:sp>
        <p:nvSpPr>
          <p:cNvPr id="23" name="Shape 20"/>
          <p:cNvSpPr/>
          <p:nvPr/>
        </p:nvSpPr>
        <p:spPr>
          <a:xfrm>
            <a:off x="2423160" y="2423160"/>
            <a:ext cx="205029" cy="237744"/>
          </a:xfrm>
          <a:prstGeom prst="rect">
            <a:avLst/>
          </a:prstGeom>
          <a:solidFill>
            <a:srgbClr val="3DDACA"/>
          </a:solidFill>
          <a:ln w="12700">
            <a:solidFill>
              <a:srgbClr val="3DDACA"/>
            </a:solidFill>
            <a:prstDash val="solid"/>
          </a:ln>
        </p:spPr>
      </p:sp>
      <p:sp>
        <p:nvSpPr>
          <p:cNvPr id="24" name="Shape 21"/>
          <p:cNvSpPr/>
          <p:nvPr/>
        </p:nvSpPr>
        <p:spPr>
          <a:xfrm>
            <a:off x="2626360" y="2423160"/>
            <a:ext cx="205029" cy="237744"/>
          </a:xfrm>
          <a:prstGeom prst="rect">
            <a:avLst/>
          </a:prstGeom>
          <a:solidFill>
            <a:srgbClr val="38CDBE"/>
          </a:solidFill>
          <a:ln w="12700">
            <a:solidFill>
              <a:srgbClr val="38CDBE"/>
            </a:solidFill>
            <a:prstDash val="solid"/>
          </a:ln>
        </p:spPr>
      </p:sp>
      <p:sp>
        <p:nvSpPr>
          <p:cNvPr id="25" name="Shape 22"/>
          <p:cNvSpPr/>
          <p:nvPr/>
        </p:nvSpPr>
        <p:spPr>
          <a:xfrm>
            <a:off x="2829560" y="2423160"/>
            <a:ext cx="205029" cy="237744"/>
          </a:xfrm>
          <a:prstGeom prst="rect">
            <a:avLst/>
          </a:prstGeom>
          <a:solidFill>
            <a:srgbClr val="33C1B3"/>
          </a:solidFill>
          <a:ln w="12700">
            <a:solidFill>
              <a:srgbClr val="33C1B3"/>
            </a:solidFill>
            <a:prstDash val="solid"/>
          </a:ln>
        </p:spPr>
      </p:sp>
      <p:sp>
        <p:nvSpPr>
          <p:cNvPr id="26" name="Shape 23"/>
          <p:cNvSpPr/>
          <p:nvPr/>
        </p:nvSpPr>
        <p:spPr>
          <a:xfrm>
            <a:off x="3032760" y="2423160"/>
            <a:ext cx="205029" cy="237744"/>
          </a:xfrm>
          <a:prstGeom prst="rect">
            <a:avLst/>
          </a:prstGeom>
          <a:solidFill>
            <a:srgbClr val="2DB4A7"/>
          </a:solidFill>
          <a:ln w="12700">
            <a:solidFill>
              <a:srgbClr val="2DB4A7"/>
            </a:solidFill>
            <a:prstDash val="solid"/>
          </a:ln>
        </p:spPr>
      </p:sp>
      <p:sp>
        <p:nvSpPr>
          <p:cNvPr id="27" name="Shape 24"/>
          <p:cNvSpPr/>
          <p:nvPr/>
        </p:nvSpPr>
        <p:spPr>
          <a:xfrm>
            <a:off x="3235960" y="2423160"/>
            <a:ext cx="205029" cy="237744"/>
          </a:xfrm>
          <a:prstGeom prst="rect">
            <a:avLst/>
          </a:prstGeom>
          <a:solidFill>
            <a:srgbClr val="28A79B"/>
          </a:solidFill>
          <a:ln w="12700">
            <a:solidFill>
              <a:srgbClr val="28A79B"/>
            </a:solidFill>
            <a:prstDash val="solid"/>
          </a:ln>
        </p:spPr>
      </p:sp>
      <p:sp>
        <p:nvSpPr>
          <p:cNvPr id="28" name="Shape 25"/>
          <p:cNvSpPr/>
          <p:nvPr/>
        </p:nvSpPr>
        <p:spPr>
          <a:xfrm>
            <a:off x="3439160" y="2423160"/>
            <a:ext cx="205029" cy="237744"/>
          </a:xfrm>
          <a:prstGeom prst="rect">
            <a:avLst/>
          </a:prstGeom>
          <a:solidFill>
            <a:srgbClr val="239B8F"/>
          </a:solidFill>
          <a:ln w="12700">
            <a:solidFill>
              <a:srgbClr val="239B8F"/>
            </a:solidFill>
            <a:prstDash val="solid"/>
          </a:ln>
        </p:spPr>
      </p:sp>
      <p:sp>
        <p:nvSpPr>
          <p:cNvPr id="29" name="Shape 26"/>
          <p:cNvSpPr/>
          <p:nvPr/>
        </p:nvSpPr>
        <p:spPr>
          <a:xfrm>
            <a:off x="3642360" y="2423160"/>
            <a:ext cx="205029" cy="237744"/>
          </a:xfrm>
          <a:prstGeom prst="rect">
            <a:avLst/>
          </a:prstGeom>
          <a:solidFill>
            <a:srgbClr val="1E8E84"/>
          </a:solidFill>
          <a:ln w="12700">
            <a:solidFill>
              <a:srgbClr val="1E8E84"/>
            </a:solidFill>
            <a:prstDash val="solid"/>
          </a:ln>
        </p:spPr>
      </p:sp>
      <p:sp>
        <p:nvSpPr>
          <p:cNvPr id="30" name="Shape 27"/>
          <p:cNvSpPr/>
          <p:nvPr/>
        </p:nvSpPr>
        <p:spPr>
          <a:xfrm>
            <a:off x="3845560" y="2423160"/>
            <a:ext cx="205029" cy="237744"/>
          </a:xfrm>
          <a:prstGeom prst="rect">
            <a:avLst/>
          </a:prstGeom>
          <a:solidFill>
            <a:srgbClr val="188278"/>
          </a:solidFill>
          <a:ln w="12700">
            <a:solidFill>
              <a:srgbClr val="188278"/>
            </a:solidFill>
            <a:prstDash val="solid"/>
          </a:ln>
        </p:spPr>
      </p:sp>
      <p:sp>
        <p:nvSpPr>
          <p:cNvPr id="31" name="Shape 28"/>
          <p:cNvSpPr/>
          <p:nvPr/>
        </p:nvSpPr>
        <p:spPr>
          <a:xfrm>
            <a:off x="4048760" y="2423160"/>
            <a:ext cx="205029" cy="237744"/>
          </a:xfrm>
          <a:prstGeom prst="rect">
            <a:avLst/>
          </a:prstGeom>
          <a:solidFill>
            <a:srgbClr val="13756C"/>
          </a:solidFill>
          <a:ln w="12700">
            <a:solidFill>
              <a:srgbClr val="13756C"/>
            </a:solidFill>
            <a:prstDash val="solid"/>
          </a:ln>
        </p:spPr>
      </p:sp>
      <p:sp>
        <p:nvSpPr>
          <p:cNvPr id="32" name="Shape 29"/>
          <p:cNvSpPr/>
          <p:nvPr/>
        </p:nvSpPr>
        <p:spPr>
          <a:xfrm>
            <a:off x="594360" y="2423160"/>
            <a:ext cx="3657600" cy="237744"/>
          </a:xfrm>
          <a:prstGeom prst="rect">
            <a:avLst/>
          </a:prstGeom>
          <a:solidFill>
            <a:srgbClr val="FFFFFF">
              <a:alpha val="0"/>
            </a:srgbClr>
          </a:solidFill>
          <a:ln w="9525">
            <a:solidFill>
              <a:srgbClr val="E2E2E2"/>
            </a:solidFill>
            <a:prstDash val="solid"/>
          </a:ln>
        </p:spPr>
      </p:sp>
      <p:sp>
        <p:nvSpPr>
          <p:cNvPr id="33" name="Text 30"/>
          <p:cNvSpPr txBox="1"/>
          <p:nvPr/>
        </p:nvSpPr>
        <p:spPr>
          <a:xfrm>
            <a:off x="594360" y="2697480"/>
            <a:ext cx="54864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1100" b="1" dirty="0">
                <a:solidFill>
                  <a:srgbClr val="2D2D2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</a:t>
            </a:r>
            <a:endParaRPr lang="en-US" sz="1100" dirty="0"/>
          </a:p>
        </p:txBody>
      </p:sp>
      <p:sp>
        <p:nvSpPr>
          <p:cNvPr id="34" name="Text 31"/>
          <p:cNvSpPr txBox="1"/>
          <p:nvPr/>
        </p:nvSpPr>
        <p:spPr>
          <a:xfrm>
            <a:off x="2057400" y="2697480"/>
            <a:ext cx="73152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15000"/>
              </a:lnSpc>
              <a:buNone/>
            </a:pPr>
            <a:r>
              <a:rPr lang="en-US" sz="1100" b="1" dirty="0">
                <a:solidFill>
                  <a:srgbClr val="2D2D2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≈512</a:t>
            </a:r>
            <a:endParaRPr lang="en-US" sz="1100" dirty="0"/>
          </a:p>
        </p:txBody>
      </p:sp>
      <p:sp>
        <p:nvSpPr>
          <p:cNvPr id="35" name="Text 32"/>
          <p:cNvSpPr txBox="1"/>
          <p:nvPr/>
        </p:nvSpPr>
        <p:spPr>
          <a:xfrm>
            <a:off x="3611880" y="2697480"/>
            <a:ext cx="6400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lnSpc>
                <a:spcPct val="115000"/>
              </a:lnSpc>
              <a:buNone/>
            </a:pPr>
            <a:r>
              <a:rPr lang="en-US" sz="1100" b="1" dirty="0">
                <a:solidFill>
                  <a:srgbClr val="2D2D2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1023</a:t>
            </a:r>
            <a:endParaRPr lang="en-US" sz="1100" dirty="0"/>
          </a:p>
        </p:txBody>
      </p:sp>
      <p:sp>
        <p:nvSpPr>
          <p:cNvPr id="36" name="Text 33"/>
          <p:cNvSpPr txBox="1"/>
          <p:nvPr/>
        </p:nvSpPr>
        <p:spPr>
          <a:xfrm>
            <a:off x="594360" y="3136392"/>
            <a:ext cx="12801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1200" b="1" dirty="0">
                <a:solidFill>
                  <a:srgbClr val="2D2D2D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换算回电压：</a:t>
            </a:r>
            <a:endParaRPr lang="en-US" sz="1200" dirty="0"/>
          </a:p>
        </p:txBody>
      </p:sp>
      <p:sp>
        <p:nvSpPr>
          <p:cNvPr id="37" name="Text 34"/>
          <p:cNvSpPr txBox="1"/>
          <p:nvPr/>
        </p:nvSpPr>
        <p:spPr>
          <a:xfrm>
            <a:off x="685800" y="3522663"/>
            <a:ext cx="713232" cy="26987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15000"/>
              </a:lnSpc>
              <a:buNone/>
            </a:pPr>
            <a:r>
              <a:rPr lang="en-US" sz="1700" dirty="0">
                <a:solidFill>
                  <a:srgbClr val="2D2D2D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电压 =</a:t>
            </a:r>
            <a:endParaRPr lang="en-US" sz="1700" dirty="0"/>
          </a:p>
        </p:txBody>
      </p:sp>
      <p:sp>
        <p:nvSpPr>
          <p:cNvPr id="38" name="Text 35"/>
          <p:cNvSpPr txBox="1"/>
          <p:nvPr/>
        </p:nvSpPr>
        <p:spPr>
          <a:xfrm>
            <a:off x="1453896" y="3360293"/>
            <a:ext cx="735584" cy="26987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15000"/>
              </a:lnSpc>
              <a:buNone/>
            </a:pPr>
            <a:r>
              <a:rPr lang="en-US" sz="1700" dirty="0">
                <a:solidFill>
                  <a:srgbClr val="2D2D2D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读数</a:t>
            </a:r>
            <a:endParaRPr lang="en-US" sz="1700" dirty="0"/>
          </a:p>
        </p:txBody>
      </p:sp>
      <p:sp>
        <p:nvSpPr>
          <p:cNvPr id="39" name="Shape 36"/>
          <p:cNvSpPr/>
          <p:nvPr/>
        </p:nvSpPr>
        <p:spPr>
          <a:xfrm>
            <a:off x="1453896" y="3657600"/>
            <a:ext cx="735584" cy="0"/>
          </a:xfrm>
          <a:prstGeom prst="line">
            <a:avLst/>
          </a:prstGeom>
          <a:noFill/>
          <a:ln w="15875">
            <a:solidFill>
              <a:srgbClr val="2D2D2D"/>
            </a:solidFill>
            <a:prstDash val="solid"/>
          </a:ln>
        </p:spPr>
      </p:sp>
      <p:sp>
        <p:nvSpPr>
          <p:cNvPr id="40" name="Text 37"/>
          <p:cNvSpPr txBox="1"/>
          <p:nvPr/>
        </p:nvSpPr>
        <p:spPr>
          <a:xfrm>
            <a:off x="1453896" y="3685032"/>
            <a:ext cx="735584" cy="26987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15000"/>
              </a:lnSpc>
              <a:buNone/>
            </a:pPr>
            <a:r>
              <a:rPr lang="en-US" sz="1700" dirty="0">
                <a:solidFill>
                  <a:srgbClr val="2D2D2D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1023</a:t>
            </a:r>
            <a:endParaRPr lang="en-US" sz="1700" dirty="0"/>
          </a:p>
        </p:txBody>
      </p:sp>
      <p:sp>
        <p:nvSpPr>
          <p:cNvPr id="41" name="Text 38"/>
          <p:cNvSpPr txBox="1"/>
          <p:nvPr/>
        </p:nvSpPr>
        <p:spPr>
          <a:xfrm>
            <a:off x="2244344" y="3522663"/>
            <a:ext cx="557784" cy="26987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15000"/>
              </a:lnSpc>
              <a:buNone/>
            </a:pPr>
            <a:r>
              <a:rPr lang="en-US" sz="1700" dirty="0">
                <a:solidFill>
                  <a:srgbClr val="2D2D2D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× 5V</a:t>
            </a:r>
            <a:endParaRPr lang="en-US" sz="1700" dirty="0"/>
          </a:p>
        </p:txBody>
      </p:sp>
      <p:sp>
        <p:nvSpPr>
          <p:cNvPr id="42" name="Shape 39"/>
          <p:cNvSpPr/>
          <p:nvPr/>
        </p:nvSpPr>
        <p:spPr>
          <a:xfrm>
            <a:off x="594360" y="4087368"/>
            <a:ext cx="3657600" cy="310896"/>
          </a:xfrm>
          <a:prstGeom prst="roundRect">
            <a:avLst>
              <a:gd name="adj" fmla="val 23529"/>
            </a:avLst>
          </a:prstGeom>
          <a:solidFill>
            <a:srgbClr val="2D2D2D"/>
          </a:solidFill>
          <a:ln w="12700">
            <a:solidFill>
              <a:srgbClr val="2D2D2D"/>
            </a:solidFill>
            <a:prstDash val="solid"/>
          </a:ln>
        </p:spPr>
      </p:sp>
      <p:sp>
        <p:nvSpPr>
          <p:cNvPr id="43" name="Text 40"/>
          <p:cNvSpPr txBox="1"/>
          <p:nvPr/>
        </p:nvSpPr>
        <p:spPr>
          <a:xfrm>
            <a:off x="704088" y="4087368"/>
            <a:ext cx="3438144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050" b="1" dirty="0">
                <a:solidFill>
                  <a:srgbClr val="40E0D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int </a:t>
            </a:r>
            <a:pPr algn="l" indent="0" marL="0">
              <a:lnSpc>
                <a:spcPct val="100000"/>
              </a:lnSpc>
              <a:buNone/>
            </a:pPr>
            <a:r>
              <a:rPr lang="en-US" sz="1050" dirty="0">
                <a:solidFill>
                  <a:srgbClr val="D9D9D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v </a:t>
            </a:r>
            <a:pPr algn="l" indent="0" marL="0">
              <a:lnSpc>
                <a:spcPct val="100000"/>
              </a:lnSpc>
              <a:buNone/>
            </a:pPr>
            <a:r>
              <a:rPr lang="en-US" sz="1050" dirty="0">
                <a:solidFill>
                  <a:srgbClr val="BDBDB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= </a:t>
            </a:r>
            <a:pPr algn="l" indent="0" marL="0">
              <a:lnSpc>
                <a:spcPct val="100000"/>
              </a:lnSpc>
              <a:buNone/>
            </a:pPr>
            <a:r>
              <a:rPr lang="en-US" sz="1050" b="1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analogRead</a:t>
            </a:r>
            <a:pPr algn="l" indent="0" marL="0">
              <a:lnSpc>
                <a:spcPct val="100000"/>
              </a:lnSpc>
              <a:buNone/>
            </a:pPr>
            <a:r>
              <a:rPr lang="en-US" sz="1050" dirty="0">
                <a:solidFill>
                  <a:srgbClr val="BDBDB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(</a:t>
            </a:r>
            <a:pPr algn="l" indent="0" marL="0">
              <a:lnSpc>
                <a:spcPct val="100000"/>
              </a:lnSpc>
              <a:buNone/>
            </a:pPr>
            <a:r>
              <a:rPr lang="en-US" sz="1050" dirty="0">
                <a:solidFill>
                  <a:srgbClr val="F7C87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A0</a:t>
            </a:r>
            <a:pPr algn="l" indent="0" marL="0">
              <a:lnSpc>
                <a:spcPct val="100000"/>
              </a:lnSpc>
              <a:buNone/>
            </a:pPr>
            <a:r>
              <a:rPr lang="en-US" sz="1050" dirty="0">
                <a:solidFill>
                  <a:srgbClr val="BDBDB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);</a:t>
            </a:r>
            <a:endParaRPr lang="en-US" sz="1050" dirty="0"/>
          </a:p>
        </p:txBody>
      </p:sp>
      <p:sp>
        <p:nvSpPr>
          <p:cNvPr id="44" name="Shape 41"/>
          <p:cNvSpPr/>
          <p:nvPr/>
        </p:nvSpPr>
        <p:spPr>
          <a:xfrm>
            <a:off x="4709160" y="1234440"/>
            <a:ext cx="4023360" cy="3337560"/>
          </a:xfrm>
          <a:prstGeom prst="roundRect">
            <a:avLst>
              <a:gd name="adj" fmla="val 3288"/>
            </a:avLst>
          </a:prstGeom>
          <a:solidFill>
            <a:srgbClr val="F5F5F5"/>
          </a:solidFill>
          <a:ln w="12700">
            <a:solidFill>
              <a:srgbClr val="F5F5F5"/>
            </a:solidFill>
            <a:prstDash val="solid"/>
          </a:ln>
        </p:spPr>
      </p:sp>
      <p:sp>
        <p:nvSpPr>
          <p:cNvPr id="45" name="Text 42"/>
          <p:cNvSpPr txBox="1"/>
          <p:nvPr/>
        </p:nvSpPr>
        <p:spPr>
          <a:xfrm>
            <a:off x="4892040" y="1380744"/>
            <a:ext cx="246888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1400" b="1" dirty="0">
                <a:solidFill>
                  <a:srgbClr val="2D2D2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analogWrite(引脚, 值)</a:t>
            </a:r>
            <a:endParaRPr lang="en-US" sz="1400" dirty="0"/>
          </a:p>
        </p:txBody>
      </p:sp>
      <p:sp>
        <p:nvSpPr>
          <p:cNvPr id="46" name="Shape 43"/>
          <p:cNvSpPr/>
          <p:nvPr/>
        </p:nvSpPr>
        <p:spPr>
          <a:xfrm>
            <a:off x="7635240" y="1399032"/>
            <a:ext cx="914400" cy="292608"/>
          </a:xfrm>
          <a:prstGeom prst="roundRect">
            <a:avLst>
              <a:gd name="adj" fmla="val 50000"/>
            </a:avLst>
          </a:prstGeom>
          <a:solidFill>
            <a:srgbClr val="40E0D0"/>
          </a:solidFill>
          <a:ln w="12700">
            <a:solidFill>
              <a:srgbClr val="40E0D0"/>
            </a:solidFill>
            <a:prstDash val="solid"/>
          </a:ln>
        </p:spPr>
      </p:sp>
      <p:sp>
        <p:nvSpPr>
          <p:cNvPr id="47" name="Text 44"/>
          <p:cNvSpPr txBox="1"/>
          <p:nvPr/>
        </p:nvSpPr>
        <p:spPr>
          <a:xfrm>
            <a:off x="7635240" y="1399032"/>
            <a:ext cx="9144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15000"/>
              </a:lnSpc>
              <a:buNone/>
            </a:pPr>
            <a:r>
              <a:rPr lang="en-US" sz="1200" b="1" dirty="0">
                <a:solidFill>
                  <a:srgbClr val="2D2D2D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0 ～ 255</a:t>
            </a:r>
            <a:endParaRPr lang="en-US" sz="1200" dirty="0"/>
          </a:p>
        </p:txBody>
      </p:sp>
      <p:sp>
        <p:nvSpPr>
          <p:cNvPr id="48" name="Text 45"/>
          <p:cNvSpPr txBox="1"/>
          <p:nvPr/>
        </p:nvSpPr>
        <p:spPr>
          <a:xfrm>
            <a:off x="4892040" y="1819656"/>
            <a:ext cx="3657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1200" dirty="0">
                <a:solidFill>
                  <a:srgbClr val="2D2D2D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用 PWM 输出“中间亮度”：0 全灭，255 全亮。</a:t>
            </a:r>
            <a:endParaRPr lang="en-US" sz="1200" dirty="0"/>
          </a:p>
          <a:p>
            <a:pPr algn="l" indent="0" marL="0">
              <a:lnSpc>
                <a:spcPct val="115000"/>
              </a:lnSpc>
              <a:buNone/>
            </a:pPr>
            <a:r>
              <a:rPr lang="en-US" sz="1200" dirty="0">
                <a:solidFill>
                  <a:srgbClr val="2D2D2D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只有带 ~ 的 3、5、6、9、10、11 号脚能用。</a:t>
            </a:r>
            <a:endParaRPr lang="en-US" sz="1200" dirty="0"/>
          </a:p>
        </p:txBody>
      </p:sp>
      <p:sp>
        <p:nvSpPr>
          <p:cNvPr id="49" name="Text 46"/>
          <p:cNvSpPr txBox="1"/>
          <p:nvPr/>
        </p:nvSpPr>
        <p:spPr>
          <a:xfrm>
            <a:off x="4892040" y="2423160"/>
            <a:ext cx="1554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1000" dirty="0">
                <a:solidFill>
                  <a:srgbClr val="2D2D2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analogWrite(9, 0)</a:t>
            </a:r>
            <a:endParaRPr lang="en-US" sz="1000" dirty="0"/>
          </a:p>
        </p:txBody>
      </p:sp>
      <p:sp>
        <p:nvSpPr>
          <p:cNvPr id="50" name="Shape 47"/>
          <p:cNvSpPr/>
          <p:nvPr/>
        </p:nvSpPr>
        <p:spPr>
          <a:xfrm>
            <a:off x="6492240" y="2660904"/>
            <a:ext cx="1234440" cy="91"/>
          </a:xfrm>
          <a:prstGeom prst="line">
            <a:avLst/>
          </a:prstGeom>
          <a:noFill/>
          <a:ln w="12700">
            <a:solidFill>
              <a:srgbClr val="2D2D2D"/>
            </a:solidFill>
            <a:prstDash val="solid"/>
          </a:ln>
        </p:spPr>
      </p:sp>
      <p:sp>
        <p:nvSpPr>
          <p:cNvPr id="51" name="Text 48"/>
          <p:cNvSpPr txBox="1"/>
          <p:nvPr/>
        </p:nvSpPr>
        <p:spPr>
          <a:xfrm>
            <a:off x="7836408" y="2423160"/>
            <a:ext cx="731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1200" b="1" dirty="0">
                <a:solidFill>
                  <a:srgbClr val="2D2D2D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全灭</a:t>
            </a:r>
            <a:endParaRPr lang="en-US" sz="1200" dirty="0"/>
          </a:p>
        </p:txBody>
      </p:sp>
      <p:sp>
        <p:nvSpPr>
          <p:cNvPr id="52" name="Text 49"/>
          <p:cNvSpPr txBox="1"/>
          <p:nvPr/>
        </p:nvSpPr>
        <p:spPr>
          <a:xfrm>
            <a:off x="4892040" y="2807208"/>
            <a:ext cx="1554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1000" dirty="0">
                <a:solidFill>
                  <a:srgbClr val="2D2D2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analogWrite(9, 128)</a:t>
            </a:r>
            <a:endParaRPr lang="en-US" sz="1000" dirty="0"/>
          </a:p>
        </p:txBody>
      </p:sp>
      <p:sp>
        <p:nvSpPr>
          <p:cNvPr id="53" name="Shape 50"/>
          <p:cNvSpPr/>
          <p:nvPr/>
        </p:nvSpPr>
        <p:spPr>
          <a:xfrm>
            <a:off x="6492240" y="2843784"/>
            <a:ext cx="123444" cy="201168"/>
          </a:xfrm>
          <a:prstGeom prst="rect">
            <a:avLst/>
          </a:prstGeom>
          <a:solidFill>
            <a:srgbClr val="40E0D0"/>
          </a:solidFill>
          <a:ln w="12700">
            <a:solidFill>
              <a:srgbClr val="40E0D0"/>
            </a:solidFill>
            <a:prstDash val="solid"/>
          </a:ln>
        </p:spPr>
      </p:sp>
      <p:sp>
        <p:nvSpPr>
          <p:cNvPr id="54" name="Shape 51"/>
          <p:cNvSpPr/>
          <p:nvPr/>
        </p:nvSpPr>
        <p:spPr>
          <a:xfrm>
            <a:off x="6739128" y="2843784"/>
            <a:ext cx="123444" cy="201168"/>
          </a:xfrm>
          <a:prstGeom prst="rect">
            <a:avLst/>
          </a:prstGeom>
          <a:solidFill>
            <a:srgbClr val="40E0D0"/>
          </a:solidFill>
          <a:ln w="12700">
            <a:solidFill>
              <a:srgbClr val="40E0D0"/>
            </a:solidFill>
            <a:prstDash val="solid"/>
          </a:ln>
        </p:spPr>
      </p:sp>
      <p:sp>
        <p:nvSpPr>
          <p:cNvPr id="55" name="Shape 52"/>
          <p:cNvSpPr/>
          <p:nvPr/>
        </p:nvSpPr>
        <p:spPr>
          <a:xfrm>
            <a:off x="6986016" y="2843784"/>
            <a:ext cx="123444" cy="201168"/>
          </a:xfrm>
          <a:prstGeom prst="rect">
            <a:avLst/>
          </a:prstGeom>
          <a:solidFill>
            <a:srgbClr val="40E0D0"/>
          </a:solidFill>
          <a:ln w="12700">
            <a:solidFill>
              <a:srgbClr val="40E0D0"/>
            </a:solidFill>
            <a:prstDash val="solid"/>
          </a:ln>
        </p:spPr>
      </p:sp>
      <p:sp>
        <p:nvSpPr>
          <p:cNvPr id="56" name="Shape 53"/>
          <p:cNvSpPr/>
          <p:nvPr/>
        </p:nvSpPr>
        <p:spPr>
          <a:xfrm>
            <a:off x="7232904" y="2843784"/>
            <a:ext cx="123444" cy="201168"/>
          </a:xfrm>
          <a:prstGeom prst="rect">
            <a:avLst/>
          </a:prstGeom>
          <a:solidFill>
            <a:srgbClr val="40E0D0"/>
          </a:solidFill>
          <a:ln w="12700">
            <a:solidFill>
              <a:srgbClr val="40E0D0"/>
            </a:solidFill>
            <a:prstDash val="solid"/>
          </a:ln>
        </p:spPr>
      </p:sp>
      <p:sp>
        <p:nvSpPr>
          <p:cNvPr id="57" name="Shape 54"/>
          <p:cNvSpPr/>
          <p:nvPr/>
        </p:nvSpPr>
        <p:spPr>
          <a:xfrm>
            <a:off x="7479792" y="2843784"/>
            <a:ext cx="123444" cy="201168"/>
          </a:xfrm>
          <a:prstGeom prst="rect">
            <a:avLst/>
          </a:prstGeom>
          <a:solidFill>
            <a:srgbClr val="40E0D0"/>
          </a:solidFill>
          <a:ln w="12700">
            <a:solidFill>
              <a:srgbClr val="40E0D0"/>
            </a:solidFill>
            <a:prstDash val="solid"/>
          </a:ln>
        </p:spPr>
      </p:sp>
      <p:sp>
        <p:nvSpPr>
          <p:cNvPr id="58" name="Shape 55"/>
          <p:cNvSpPr/>
          <p:nvPr/>
        </p:nvSpPr>
        <p:spPr>
          <a:xfrm>
            <a:off x="6492240" y="3044952"/>
            <a:ext cx="1234440" cy="91"/>
          </a:xfrm>
          <a:prstGeom prst="line">
            <a:avLst/>
          </a:prstGeom>
          <a:noFill/>
          <a:ln w="12700">
            <a:solidFill>
              <a:srgbClr val="2D2D2D"/>
            </a:solidFill>
            <a:prstDash val="solid"/>
          </a:ln>
        </p:spPr>
      </p:sp>
      <p:sp>
        <p:nvSpPr>
          <p:cNvPr id="59" name="Text 56"/>
          <p:cNvSpPr txBox="1"/>
          <p:nvPr/>
        </p:nvSpPr>
        <p:spPr>
          <a:xfrm>
            <a:off x="7836408" y="2807208"/>
            <a:ext cx="731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1200" b="1" dirty="0">
                <a:solidFill>
                  <a:srgbClr val="2D2D2D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约一半亮</a:t>
            </a:r>
            <a:endParaRPr lang="en-US" sz="1200" dirty="0"/>
          </a:p>
        </p:txBody>
      </p:sp>
      <p:sp>
        <p:nvSpPr>
          <p:cNvPr id="60" name="Text 57"/>
          <p:cNvSpPr txBox="1"/>
          <p:nvPr/>
        </p:nvSpPr>
        <p:spPr>
          <a:xfrm>
            <a:off x="4892040" y="3191256"/>
            <a:ext cx="1554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1000" dirty="0">
                <a:solidFill>
                  <a:srgbClr val="2D2D2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analogWrite(9, 255)</a:t>
            </a:r>
            <a:endParaRPr lang="en-US" sz="1000" dirty="0"/>
          </a:p>
        </p:txBody>
      </p:sp>
      <p:sp>
        <p:nvSpPr>
          <p:cNvPr id="61" name="Shape 58"/>
          <p:cNvSpPr/>
          <p:nvPr/>
        </p:nvSpPr>
        <p:spPr>
          <a:xfrm>
            <a:off x="6492240" y="3227832"/>
            <a:ext cx="1234440" cy="201168"/>
          </a:xfrm>
          <a:prstGeom prst="rect">
            <a:avLst/>
          </a:prstGeom>
          <a:solidFill>
            <a:srgbClr val="40E0D0"/>
          </a:solidFill>
          <a:ln w="12700">
            <a:solidFill>
              <a:srgbClr val="40E0D0"/>
            </a:solidFill>
            <a:prstDash val="solid"/>
          </a:ln>
        </p:spPr>
      </p:sp>
      <p:sp>
        <p:nvSpPr>
          <p:cNvPr id="62" name="Shape 59"/>
          <p:cNvSpPr/>
          <p:nvPr/>
        </p:nvSpPr>
        <p:spPr>
          <a:xfrm>
            <a:off x="6492240" y="3429000"/>
            <a:ext cx="1234440" cy="91"/>
          </a:xfrm>
          <a:prstGeom prst="line">
            <a:avLst/>
          </a:prstGeom>
          <a:noFill/>
          <a:ln w="12700">
            <a:solidFill>
              <a:srgbClr val="2D2D2D"/>
            </a:solidFill>
            <a:prstDash val="solid"/>
          </a:ln>
        </p:spPr>
      </p:sp>
      <p:sp>
        <p:nvSpPr>
          <p:cNvPr id="63" name="Text 60"/>
          <p:cNvSpPr txBox="1"/>
          <p:nvPr/>
        </p:nvSpPr>
        <p:spPr>
          <a:xfrm>
            <a:off x="7836408" y="3191256"/>
            <a:ext cx="731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1200" b="1" dirty="0">
                <a:solidFill>
                  <a:srgbClr val="2D2D2D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全亮</a:t>
            </a:r>
            <a:endParaRPr lang="en-US" sz="1200" dirty="0"/>
          </a:p>
        </p:txBody>
      </p:sp>
      <p:sp>
        <p:nvSpPr>
          <p:cNvPr id="64" name="Text 61"/>
          <p:cNvSpPr txBox="1"/>
          <p:nvPr/>
        </p:nvSpPr>
        <p:spPr>
          <a:xfrm>
            <a:off x="4892040" y="3611880"/>
            <a:ext cx="3657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1200" b="1" dirty="0">
                <a:solidFill>
                  <a:srgbClr val="2D2D2D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PWM＝快速开关：</a:t>
            </a:r>
            <a:pPr algn="l" indent="0" marL="0">
              <a:lnSpc>
                <a:spcPct val="115000"/>
              </a:lnSpc>
              <a:buNone/>
            </a:pPr>
            <a:r>
              <a:rPr lang="en-US" sz="1200" dirty="0">
                <a:solidFill>
                  <a:srgbClr val="2D2D2D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一秒开关约 500 次，</a:t>
            </a:r>
            <a:endParaRPr lang="en-US" sz="1200" dirty="0"/>
          </a:p>
          <a:p>
            <a:pPr algn="l" indent="0" marL="0">
              <a:lnSpc>
                <a:spcPct val="115000"/>
              </a:lnSpc>
              <a:buNone/>
            </a:pPr>
            <a:r>
              <a:rPr lang="en-US" sz="1200" dirty="0">
                <a:solidFill>
                  <a:srgbClr val="2D2D2D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每次“开”得越久，看起来越亮。</a:t>
            </a:r>
            <a:endParaRPr lang="en-US" sz="1200" dirty="0"/>
          </a:p>
        </p:txBody>
      </p:sp>
      <p:sp>
        <p:nvSpPr>
          <p:cNvPr id="65" name="Shape 62"/>
          <p:cNvSpPr/>
          <p:nvPr/>
        </p:nvSpPr>
        <p:spPr>
          <a:xfrm>
            <a:off x="4892040" y="4087368"/>
            <a:ext cx="3657600" cy="310896"/>
          </a:xfrm>
          <a:prstGeom prst="roundRect">
            <a:avLst>
              <a:gd name="adj" fmla="val 23529"/>
            </a:avLst>
          </a:prstGeom>
          <a:solidFill>
            <a:srgbClr val="2D2D2D"/>
          </a:solidFill>
          <a:ln w="12700">
            <a:solidFill>
              <a:srgbClr val="2D2D2D"/>
            </a:solidFill>
            <a:prstDash val="solid"/>
          </a:ln>
        </p:spPr>
      </p:sp>
      <p:sp>
        <p:nvSpPr>
          <p:cNvPr id="66" name="Text 63"/>
          <p:cNvSpPr txBox="1"/>
          <p:nvPr/>
        </p:nvSpPr>
        <p:spPr>
          <a:xfrm>
            <a:off x="5001768" y="4087368"/>
            <a:ext cx="3438144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050" b="1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analogWrite</a:t>
            </a:r>
            <a:pPr algn="l" indent="0" marL="0">
              <a:lnSpc>
                <a:spcPct val="100000"/>
              </a:lnSpc>
              <a:buNone/>
            </a:pPr>
            <a:r>
              <a:rPr lang="en-US" sz="1050" dirty="0">
                <a:solidFill>
                  <a:srgbClr val="BDBDB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(</a:t>
            </a:r>
            <a:pPr algn="l" indent="0" marL="0">
              <a:lnSpc>
                <a:spcPct val="100000"/>
              </a:lnSpc>
              <a:buNone/>
            </a:pPr>
            <a:r>
              <a:rPr lang="en-US" sz="1050" dirty="0">
                <a:solidFill>
                  <a:srgbClr val="F7C87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11</a:t>
            </a:r>
            <a:pPr algn="l" indent="0" marL="0">
              <a:lnSpc>
                <a:spcPct val="100000"/>
              </a:lnSpc>
              <a:buNone/>
            </a:pPr>
            <a:r>
              <a:rPr lang="en-US" sz="1050" dirty="0">
                <a:solidFill>
                  <a:srgbClr val="BDBDB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, </a:t>
            </a:r>
            <a:pPr algn="l" indent="0" marL="0">
              <a:lnSpc>
                <a:spcPct val="100000"/>
              </a:lnSpc>
              <a:buNone/>
            </a:pPr>
            <a:r>
              <a:rPr lang="en-US" sz="1050" dirty="0">
                <a:solidFill>
                  <a:srgbClr val="F7C87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128</a:t>
            </a:r>
            <a:pPr algn="l" indent="0" marL="0">
              <a:lnSpc>
                <a:spcPct val="100000"/>
              </a:lnSpc>
              <a:buNone/>
            </a:pPr>
            <a:r>
              <a:rPr lang="en-US" sz="1050" dirty="0">
                <a:solidFill>
                  <a:srgbClr val="BDBDB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);</a:t>
            </a:r>
            <a:endParaRPr lang="en-US" sz="105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339328" y="4736592"/>
            <a:ext cx="393192" cy="219456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 lIns="0" tIns="0" rIns="0" bIns="0" anchor="ctr"/>
          <a:lstStyle>
            <a:lvl1pPr>
              <a:defRPr sz="800">
                <a:solidFill>
                  <a:srgbClr val="6B6B6B"/>
                </a:solidFill>
                <a:latin typeface="微软雅黑"/>
                <a:ea typeface="微软雅黑"/>
                <a:cs typeface="微软雅黑"/>
              </a:defRPr>
            </a:lvl1pPr>
          </a:lstStyle>
          <a:p>
            <a:pPr algn="r"/>
            <a:fld id="{F7021451-1387-4CA6-816F-3879F97B5CBC}" type="slidenum">
              <a:rPr b="0" lang="en-US"/>
              <a:t>16</a:t>
            </a:fld>
            <a:endParaRPr lang="en-US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1"/>
          <p:cNvSpPr/>
          <p:nvPr>
            <p:ph idx="102" type="body" hasCustomPrompt="1"/>
          </p:nvPr>
        </p:nvSpPr>
        <p:spPr>
          <a:xfrm>
            <a:off x="4572000" y="4736592"/>
            <a:ext cx="370332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2D2D2D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和硬件对话</a:t>
            </a:r>
            <a:endParaRPr lang="en-US" sz="800" dirty="0"/>
          </a:p>
        </p:txBody>
      </p:sp>
      <p:sp>
        <p:nvSpPr>
          <p:cNvPr id="3" name="Text 1"/>
          <p:cNvSpPr/>
          <p:nvPr>
            <p:ph idx="103" type="title" hasCustomPrompt="1"/>
          </p:nvPr>
        </p:nvSpPr>
        <p:spPr>
          <a:xfrm>
            <a:off x="411480" y="274320"/>
            <a:ext cx="83210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400" dirty="0">
                <a:solidFill>
                  <a:srgbClr val="2D2D2D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时间：delay() 和 millis()</a:t>
            </a:r>
            <a:endParaRPr lang="en-US" sz="2400" dirty="0"/>
          </a:p>
        </p:txBody>
      </p:sp>
      <p:sp>
        <p:nvSpPr>
          <p:cNvPr id="4" name="Text 1"/>
          <p:cNvSpPr/>
          <p:nvPr>
            <p:ph idx="104" type="body" hasCustomPrompt="1"/>
          </p:nvPr>
        </p:nvSpPr>
        <p:spPr>
          <a:xfrm>
            <a:off x="411480" y="786384"/>
            <a:ext cx="83210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6B6B6B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Arduino 一秒能执行几十万条语句；要让动作“慢下来”，就得等一等，或者看看表。</a:t>
            </a:r>
            <a:endParaRPr lang="en-US" sz="1200" dirty="0"/>
          </a:p>
        </p:txBody>
      </p:sp>
      <p:sp>
        <p:nvSpPr>
          <p:cNvPr id="6" name="Shape 3"/>
          <p:cNvSpPr/>
          <p:nvPr/>
        </p:nvSpPr>
        <p:spPr>
          <a:xfrm>
            <a:off x="411480" y="1234440"/>
            <a:ext cx="2590800" cy="2240280"/>
          </a:xfrm>
          <a:prstGeom prst="roundRect">
            <a:avLst>
              <a:gd name="adj" fmla="val 4898"/>
            </a:avLst>
          </a:prstGeom>
          <a:solidFill>
            <a:srgbClr val="F5F5F5"/>
          </a:solidFill>
          <a:ln w="12700">
            <a:solidFill>
              <a:srgbClr val="F5F5F5"/>
            </a:solidFill>
            <a:prstDash val="solid"/>
          </a:ln>
        </p:spPr>
      </p:sp>
      <p:sp>
        <p:nvSpPr>
          <p:cNvPr id="7" name="Shape 4"/>
          <p:cNvSpPr/>
          <p:nvPr/>
        </p:nvSpPr>
        <p:spPr>
          <a:xfrm>
            <a:off x="576072" y="1399032"/>
            <a:ext cx="384048" cy="384048"/>
          </a:xfrm>
          <a:prstGeom prst="ellipse">
            <a:avLst/>
          </a:prstGeom>
          <a:solidFill>
            <a:srgbClr val="40E0D0"/>
          </a:solidFill>
          <a:ln w="12700">
            <a:solidFill>
              <a:srgbClr val="40E0D0"/>
            </a:solidFill>
            <a:prstDash val="solid"/>
          </a:ln>
        </p:spPr>
      </p:sp>
      <p:pic>
        <p:nvPicPr>
          <p:cNvPr id="8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68244" y="1491204"/>
            <a:ext cx="199705" cy="199705"/>
          </a:xfrm>
          <a:prstGeom prst="rect">
            <a:avLst/>
          </a:prstGeom>
        </p:spPr>
      </p:pic>
      <p:sp>
        <p:nvSpPr>
          <p:cNvPr id="9" name="Text 5"/>
          <p:cNvSpPr txBox="1"/>
          <p:nvPr/>
        </p:nvSpPr>
        <p:spPr>
          <a:xfrm>
            <a:off x="1088136" y="1380744"/>
            <a:ext cx="1749552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1400" b="1" dirty="0">
                <a:solidFill>
                  <a:srgbClr val="2D2D2D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闭上眼睛等</a:t>
            </a:r>
            <a:endParaRPr lang="en-US" sz="1400" dirty="0"/>
          </a:p>
        </p:txBody>
      </p:sp>
      <p:sp>
        <p:nvSpPr>
          <p:cNvPr id="10" name="Text 6"/>
          <p:cNvSpPr txBox="1"/>
          <p:nvPr/>
        </p:nvSpPr>
        <p:spPr>
          <a:xfrm>
            <a:off x="576072" y="1892808"/>
            <a:ext cx="226161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1200" b="1" dirty="0">
                <a:solidFill>
                  <a:srgbClr val="2D2D2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delay(毫秒)</a:t>
            </a:r>
            <a:endParaRPr lang="en-US" sz="1200" dirty="0"/>
          </a:p>
        </p:txBody>
      </p:sp>
      <p:sp>
        <p:nvSpPr>
          <p:cNvPr id="11" name="Shape 7"/>
          <p:cNvSpPr/>
          <p:nvPr/>
        </p:nvSpPr>
        <p:spPr>
          <a:xfrm>
            <a:off x="576072" y="2221992"/>
            <a:ext cx="2261616" cy="310896"/>
          </a:xfrm>
          <a:prstGeom prst="roundRect">
            <a:avLst>
              <a:gd name="adj" fmla="val 23529"/>
            </a:avLst>
          </a:prstGeom>
          <a:solidFill>
            <a:srgbClr val="2D2D2D"/>
          </a:solidFill>
          <a:ln w="12700">
            <a:solidFill>
              <a:srgbClr val="2D2D2D"/>
            </a:solidFill>
            <a:prstDash val="solid"/>
          </a:ln>
        </p:spPr>
      </p:sp>
      <p:sp>
        <p:nvSpPr>
          <p:cNvPr id="12" name="Text 8"/>
          <p:cNvSpPr txBox="1"/>
          <p:nvPr/>
        </p:nvSpPr>
        <p:spPr>
          <a:xfrm>
            <a:off x="667512" y="2221992"/>
            <a:ext cx="207873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000" b="1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delay</a:t>
            </a:r>
            <a:pPr algn="l" indent="0" marL="0">
              <a:lnSpc>
                <a:spcPct val="100000"/>
              </a:lnSpc>
              <a:buNone/>
            </a:pPr>
            <a:r>
              <a:rPr lang="en-US" sz="1000" dirty="0">
                <a:solidFill>
                  <a:srgbClr val="BDBDB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(</a:t>
            </a:r>
            <a:pPr algn="l" indent="0" marL="0">
              <a:lnSpc>
                <a:spcPct val="100000"/>
              </a:lnSpc>
              <a:buNone/>
            </a:pPr>
            <a:r>
              <a:rPr lang="en-US" sz="1000" dirty="0">
                <a:solidFill>
                  <a:srgbClr val="F7C87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1000</a:t>
            </a:r>
            <a:pPr algn="l" indent="0" marL="0">
              <a:lnSpc>
                <a:spcPct val="100000"/>
              </a:lnSpc>
              <a:buNone/>
            </a:pPr>
            <a:r>
              <a:rPr lang="en-US" sz="1000" dirty="0">
                <a:solidFill>
                  <a:srgbClr val="BDBDB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);  </a:t>
            </a:r>
            <a:pPr algn="l" indent="0" marL="0">
              <a:lnSpc>
                <a:spcPct val="100000"/>
              </a:lnSpc>
              <a:buNone/>
            </a:pPr>
            <a:r>
              <a:rPr lang="en-US" sz="1000" i="1" dirty="0">
                <a:solidFill>
                  <a:srgbClr val="8E8E8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// 等 1 秒</a:t>
            </a:r>
            <a:endParaRPr lang="en-US" sz="1000" dirty="0"/>
          </a:p>
        </p:txBody>
      </p:sp>
      <p:sp>
        <p:nvSpPr>
          <p:cNvPr id="13" name="Text 9"/>
          <p:cNvSpPr txBox="1"/>
          <p:nvPr/>
        </p:nvSpPr>
        <p:spPr>
          <a:xfrm>
            <a:off x="576072" y="2624328"/>
            <a:ext cx="2261616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1200" dirty="0">
                <a:solidFill>
                  <a:srgbClr val="2D2D2D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暂停一段时间。</a:t>
            </a:r>
            <a:endParaRPr lang="en-US" sz="1200" dirty="0"/>
          </a:p>
          <a:p>
            <a:pPr algn="l" indent="0" marL="0">
              <a:lnSpc>
                <a:spcPct val="115000"/>
              </a:lnSpc>
              <a:buNone/>
            </a:pPr>
            <a:r>
              <a:rPr lang="en-US" sz="1200" dirty="0">
                <a:solidFill>
                  <a:srgbClr val="2D2D2D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1000 毫秒 = 1 秒。</a:t>
            </a:r>
            <a:endParaRPr lang="en-US" sz="1200" dirty="0"/>
          </a:p>
          <a:p>
            <a:pPr algn="l" indent="0" marL="0">
              <a:lnSpc>
                <a:spcPct val="115000"/>
              </a:lnSpc>
              <a:buNone/>
            </a:pPr>
            <a:r>
              <a:rPr lang="en-US" sz="1200" dirty="0">
                <a:solidFill>
                  <a:srgbClr val="2D2D2D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等的时候什么也做不了。</a:t>
            </a:r>
            <a:endParaRPr lang="en-US" sz="1200" dirty="0"/>
          </a:p>
        </p:txBody>
      </p:sp>
      <p:sp>
        <p:nvSpPr>
          <p:cNvPr id="14" name="Shape 10"/>
          <p:cNvSpPr/>
          <p:nvPr/>
        </p:nvSpPr>
        <p:spPr>
          <a:xfrm>
            <a:off x="3276600" y="1234440"/>
            <a:ext cx="2590800" cy="2240280"/>
          </a:xfrm>
          <a:prstGeom prst="roundRect">
            <a:avLst>
              <a:gd name="adj" fmla="val 4898"/>
            </a:avLst>
          </a:prstGeom>
          <a:solidFill>
            <a:srgbClr val="F5F5F5"/>
          </a:solidFill>
          <a:ln w="12700">
            <a:solidFill>
              <a:srgbClr val="F5F5F5"/>
            </a:solidFill>
            <a:prstDash val="solid"/>
          </a:ln>
        </p:spPr>
      </p:sp>
      <p:sp>
        <p:nvSpPr>
          <p:cNvPr id="15" name="Shape 11"/>
          <p:cNvSpPr/>
          <p:nvPr/>
        </p:nvSpPr>
        <p:spPr>
          <a:xfrm>
            <a:off x="3441192" y="1399032"/>
            <a:ext cx="384048" cy="384048"/>
          </a:xfrm>
          <a:prstGeom prst="ellipse">
            <a:avLst/>
          </a:prstGeom>
          <a:solidFill>
            <a:srgbClr val="40E0D0"/>
          </a:solidFill>
          <a:ln w="12700">
            <a:solidFill>
              <a:srgbClr val="40E0D0"/>
            </a:solidFill>
            <a:prstDash val="solid"/>
          </a:ln>
        </p:spPr>
      </p:sp>
      <p:pic>
        <p:nvPicPr>
          <p:cNvPr id="16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533364" y="1491204"/>
            <a:ext cx="199705" cy="199705"/>
          </a:xfrm>
          <a:prstGeom prst="rect">
            <a:avLst/>
          </a:prstGeom>
        </p:spPr>
      </p:pic>
      <p:sp>
        <p:nvSpPr>
          <p:cNvPr id="17" name="Text 12"/>
          <p:cNvSpPr txBox="1"/>
          <p:nvPr/>
        </p:nvSpPr>
        <p:spPr>
          <a:xfrm>
            <a:off x="3953256" y="1380744"/>
            <a:ext cx="1749552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1400" b="1" dirty="0">
                <a:solidFill>
                  <a:srgbClr val="2D2D2D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更短的一眨眼</a:t>
            </a:r>
            <a:endParaRPr lang="en-US" sz="1400" dirty="0"/>
          </a:p>
        </p:txBody>
      </p:sp>
      <p:sp>
        <p:nvSpPr>
          <p:cNvPr id="18" name="Text 13"/>
          <p:cNvSpPr txBox="1"/>
          <p:nvPr/>
        </p:nvSpPr>
        <p:spPr>
          <a:xfrm>
            <a:off x="3441192" y="1892808"/>
            <a:ext cx="226161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1200" b="1" dirty="0">
                <a:solidFill>
                  <a:srgbClr val="2D2D2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delayMicroseconds(微秒)</a:t>
            </a:r>
            <a:endParaRPr lang="en-US" sz="1200" dirty="0"/>
          </a:p>
        </p:txBody>
      </p:sp>
      <p:sp>
        <p:nvSpPr>
          <p:cNvPr id="19" name="Shape 14"/>
          <p:cNvSpPr/>
          <p:nvPr/>
        </p:nvSpPr>
        <p:spPr>
          <a:xfrm>
            <a:off x="3441192" y="2221992"/>
            <a:ext cx="2261616" cy="310896"/>
          </a:xfrm>
          <a:prstGeom prst="roundRect">
            <a:avLst>
              <a:gd name="adj" fmla="val 23529"/>
            </a:avLst>
          </a:prstGeom>
          <a:solidFill>
            <a:srgbClr val="2D2D2D"/>
          </a:solidFill>
          <a:ln w="12700">
            <a:solidFill>
              <a:srgbClr val="2D2D2D"/>
            </a:solidFill>
            <a:prstDash val="solid"/>
          </a:ln>
        </p:spPr>
      </p:sp>
      <p:sp>
        <p:nvSpPr>
          <p:cNvPr id="20" name="Text 15"/>
          <p:cNvSpPr txBox="1"/>
          <p:nvPr/>
        </p:nvSpPr>
        <p:spPr>
          <a:xfrm>
            <a:off x="3532632" y="2221992"/>
            <a:ext cx="207873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000" b="1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delayMicroseconds</a:t>
            </a:r>
            <a:pPr algn="l" indent="0" marL="0">
              <a:lnSpc>
                <a:spcPct val="100000"/>
              </a:lnSpc>
              <a:buNone/>
            </a:pPr>
            <a:r>
              <a:rPr lang="en-US" sz="1000" dirty="0">
                <a:solidFill>
                  <a:srgbClr val="BDBDB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(</a:t>
            </a:r>
            <a:pPr algn="l" indent="0" marL="0">
              <a:lnSpc>
                <a:spcPct val="100000"/>
              </a:lnSpc>
              <a:buNone/>
            </a:pPr>
            <a:r>
              <a:rPr lang="en-US" sz="1000" dirty="0">
                <a:solidFill>
                  <a:srgbClr val="F7C87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10</a:t>
            </a:r>
            <a:pPr algn="l" indent="0" marL="0">
              <a:lnSpc>
                <a:spcPct val="100000"/>
              </a:lnSpc>
              <a:buNone/>
            </a:pPr>
            <a:r>
              <a:rPr lang="en-US" sz="1000" dirty="0">
                <a:solidFill>
                  <a:srgbClr val="BDBDB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);</a:t>
            </a:r>
            <a:endParaRPr lang="en-US" sz="1000" dirty="0"/>
          </a:p>
        </p:txBody>
      </p:sp>
      <p:sp>
        <p:nvSpPr>
          <p:cNvPr id="21" name="Text 16"/>
          <p:cNvSpPr txBox="1"/>
          <p:nvPr/>
        </p:nvSpPr>
        <p:spPr>
          <a:xfrm>
            <a:off x="3441192" y="2624328"/>
            <a:ext cx="2261616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1200" dirty="0">
                <a:solidFill>
                  <a:srgbClr val="2D2D2D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更短的等待。</a:t>
            </a:r>
            <a:endParaRPr lang="en-US" sz="1200" dirty="0"/>
          </a:p>
          <a:p>
            <a:pPr algn="l" indent="0" marL="0">
              <a:lnSpc>
                <a:spcPct val="115000"/>
              </a:lnSpc>
              <a:buNone/>
            </a:pPr>
            <a:r>
              <a:rPr lang="en-US" sz="1200" dirty="0">
                <a:solidFill>
                  <a:srgbClr val="2D2D2D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1 毫秒 = 1000 微秒。</a:t>
            </a:r>
            <a:endParaRPr lang="en-US" sz="1200" dirty="0"/>
          </a:p>
          <a:p>
            <a:pPr algn="l" indent="0" marL="0">
              <a:lnSpc>
                <a:spcPct val="115000"/>
              </a:lnSpc>
              <a:buNone/>
            </a:pPr>
            <a:r>
              <a:rPr lang="en-US" sz="1200" dirty="0">
                <a:solidFill>
                  <a:srgbClr val="2D2D2D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超声波测距要用到。</a:t>
            </a:r>
            <a:endParaRPr lang="en-US" sz="1200" dirty="0"/>
          </a:p>
        </p:txBody>
      </p:sp>
      <p:sp>
        <p:nvSpPr>
          <p:cNvPr id="22" name="Shape 17"/>
          <p:cNvSpPr/>
          <p:nvPr/>
        </p:nvSpPr>
        <p:spPr>
          <a:xfrm>
            <a:off x="6141720" y="1234440"/>
            <a:ext cx="2590800" cy="2240280"/>
          </a:xfrm>
          <a:prstGeom prst="roundRect">
            <a:avLst>
              <a:gd name="adj" fmla="val 4898"/>
            </a:avLst>
          </a:prstGeom>
          <a:solidFill>
            <a:srgbClr val="F5F5F5"/>
          </a:solidFill>
          <a:ln w="12700">
            <a:solidFill>
              <a:srgbClr val="F5F5F5"/>
            </a:solidFill>
            <a:prstDash val="solid"/>
          </a:ln>
        </p:spPr>
      </p:sp>
      <p:sp>
        <p:nvSpPr>
          <p:cNvPr id="23" name="Shape 18"/>
          <p:cNvSpPr/>
          <p:nvPr/>
        </p:nvSpPr>
        <p:spPr>
          <a:xfrm>
            <a:off x="6306312" y="1399032"/>
            <a:ext cx="384048" cy="384048"/>
          </a:xfrm>
          <a:prstGeom prst="ellipse">
            <a:avLst/>
          </a:prstGeom>
          <a:solidFill>
            <a:srgbClr val="40E0D0"/>
          </a:solidFill>
          <a:ln w="12700">
            <a:solidFill>
              <a:srgbClr val="40E0D0"/>
            </a:solidFill>
            <a:prstDash val="solid"/>
          </a:ln>
        </p:spPr>
      </p:sp>
      <p:pic>
        <p:nvPicPr>
          <p:cNvPr id="24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398484" y="1491204"/>
            <a:ext cx="199705" cy="199705"/>
          </a:xfrm>
          <a:prstGeom prst="rect">
            <a:avLst/>
          </a:prstGeom>
        </p:spPr>
      </p:pic>
      <p:sp>
        <p:nvSpPr>
          <p:cNvPr id="25" name="Text 19"/>
          <p:cNvSpPr txBox="1"/>
          <p:nvPr/>
        </p:nvSpPr>
        <p:spPr>
          <a:xfrm>
            <a:off x="6818376" y="1380744"/>
            <a:ext cx="1749552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1400" b="1" dirty="0">
                <a:solidFill>
                  <a:srgbClr val="2D2D2D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抬头看一眼表</a:t>
            </a:r>
            <a:endParaRPr lang="en-US" sz="1400" dirty="0"/>
          </a:p>
        </p:txBody>
      </p:sp>
      <p:sp>
        <p:nvSpPr>
          <p:cNvPr id="26" name="Text 20"/>
          <p:cNvSpPr txBox="1"/>
          <p:nvPr/>
        </p:nvSpPr>
        <p:spPr>
          <a:xfrm>
            <a:off x="6306312" y="1892808"/>
            <a:ext cx="226161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1200" b="1" dirty="0">
                <a:solidFill>
                  <a:srgbClr val="2D2D2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millis()</a:t>
            </a:r>
            <a:endParaRPr lang="en-US" sz="1200" dirty="0"/>
          </a:p>
        </p:txBody>
      </p:sp>
      <p:sp>
        <p:nvSpPr>
          <p:cNvPr id="27" name="Shape 21"/>
          <p:cNvSpPr/>
          <p:nvPr/>
        </p:nvSpPr>
        <p:spPr>
          <a:xfrm>
            <a:off x="6306312" y="2221992"/>
            <a:ext cx="2261616" cy="310896"/>
          </a:xfrm>
          <a:prstGeom prst="roundRect">
            <a:avLst>
              <a:gd name="adj" fmla="val 23529"/>
            </a:avLst>
          </a:prstGeom>
          <a:solidFill>
            <a:srgbClr val="2D2D2D"/>
          </a:solidFill>
          <a:ln w="12700">
            <a:solidFill>
              <a:srgbClr val="2D2D2D"/>
            </a:solidFill>
            <a:prstDash val="solid"/>
          </a:ln>
        </p:spPr>
      </p:sp>
      <p:sp>
        <p:nvSpPr>
          <p:cNvPr id="28" name="Text 22"/>
          <p:cNvSpPr txBox="1"/>
          <p:nvPr/>
        </p:nvSpPr>
        <p:spPr>
          <a:xfrm>
            <a:off x="6397752" y="2221992"/>
            <a:ext cx="207873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000" b="1" dirty="0">
                <a:solidFill>
                  <a:srgbClr val="40E0D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unsigned long </a:t>
            </a:r>
            <a:pPr algn="l" indent="0" marL="0">
              <a:lnSpc>
                <a:spcPct val="100000"/>
              </a:lnSpc>
              <a:buNone/>
            </a:pPr>
            <a:r>
              <a:rPr lang="en-US" sz="1000" dirty="0">
                <a:solidFill>
                  <a:srgbClr val="D9D9D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t </a:t>
            </a:r>
            <a:pPr algn="l" indent="0" marL="0">
              <a:lnSpc>
                <a:spcPct val="100000"/>
              </a:lnSpc>
              <a:buNone/>
            </a:pPr>
            <a:r>
              <a:rPr lang="en-US" sz="1000" dirty="0">
                <a:solidFill>
                  <a:srgbClr val="BDBDB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= </a:t>
            </a:r>
            <a:pPr algn="l" indent="0" marL="0">
              <a:lnSpc>
                <a:spcPct val="100000"/>
              </a:lnSpc>
              <a:buNone/>
            </a:pPr>
            <a:r>
              <a:rPr lang="en-US" sz="1000" b="1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millis</a:t>
            </a:r>
            <a:pPr algn="l" indent="0" marL="0">
              <a:lnSpc>
                <a:spcPct val="100000"/>
              </a:lnSpc>
              <a:buNone/>
            </a:pPr>
            <a:r>
              <a:rPr lang="en-US" sz="1000" dirty="0">
                <a:solidFill>
                  <a:srgbClr val="BDBDB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();</a:t>
            </a:r>
            <a:endParaRPr lang="en-US" sz="1000" dirty="0"/>
          </a:p>
        </p:txBody>
      </p:sp>
      <p:sp>
        <p:nvSpPr>
          <p:cNvPr id="29" name="Text 23"/>
          <p:cNvSpPr txBox="1"/>
          <p:nvPr/>
        </p:nvSpPr>
        <p:spPr>
          <a:xfrm>
            <a:off x="6306312" y="2624328"/>
            <a:ext cx="2261616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1200" dirty="0">
                <a:solidFill>
                  <a:srgbClr val="2D2D2D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开机到现在过了多少毫秒。</a:t>
            </a:r>
            <a:endParaRPr lang="en-US" sz="1200" dirty="0"/>
          </a:p>
          <a:p>
            <a:pPr algn="l" indent="0" marL="0">
              <a:lnSpc>
                <a:spcPct val="115000"/>
              </a:lnSpc>
              <a:buNone/>
            </a:pPr>
            <a:r>
              <a:rPr lang="en-US" sz="1200" dirty="0">
                <a:solidFill>
                  <a:srgbClr val="2D2D2D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不用 delay 也能计时，</a:t>
            </a:r>
            <a:endParaRPr lang="en-US" sz="1200" dirty="0"/>
          </a:p>
          <a:p>
            <a:pPr algn="l" indent="0" marL="0">
              <a:lnSpc>
                <a:spcPct val="115000"/>
              </a:lnSpc>
              <a:buNone/>
            </a:pPr>
            <a:r>
              <a:rPr lang="en-US" sz="1200" dirty="0">
                <a:solidFill>
                  <a:srgbClr val="2D2D2D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属于进阶写法。</a:t>
            </a:r>
            <a:endParaRPr lang="en-US" sz="1200" dirty="0"/>
          </a:p>
        </p:txBody>
      </p:sp>
      <p:sp>
        <p:nvSpPr>
          <p:cNvPr id="30" name="Shape 24"/>
          <p:cNvSpPr/>
          <p:nvPr/>
        </p:nvSpPr>
        <p:spPr>
          <a:xfrm>
            <a:off x="411480" y="3749040"/>
            <a:ext cx="3017520" cy="822960"/>
          </a:xfrm>
          <a:prstGeom prst="roundRect">
            <a:avLst>
              <a:gd name="adj" fmla="val 13333"/>
            </a:avLst>
          </a:prstGeom>
          <a:solidFill>
            <a:srgbClr val="EBEBEB"/>
          </a:solidFill>
          <a:ln w="12700">
            <a:solidFill>
              <a:srgbClr val="EBEBEB"/>
            </a:solidFill>
            <a:prstDash val="solid"/>
          </a:ln>
        </p:spPr>
      </p:sp>
      <p:sp>
        <p:nvSpPr>
          <p:cNvPr id="31" name="Text 25"/>
          <p:cNvSpPr txBox="1"/>
          <p:nvPr/>
        </p:nvSpPr>
        <p:spPr>
          <a:xfrm>
            <a:off x="612648" y="3749040"/>
            <a:ext cx="26517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35000"/>
              </a:lnSpc>
              <a:buNone/>
            </a:pPr>
            <a:r>
              <a:rPr lang="en-US" sz="1300" b="1" dirty="0">
                <a:solidFill>
                  <a:srgbClr val="2D2D2D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1 秒 = 1000 毫秒（ms）</a:t>
            </a:r>
            <a:endParaRPr lang="en-US" sz="1300" dirty="0"/>
          </a:p>
          <a:p>
            <a:pPr algn="l" indent="0" marL="0">
              <a:lnSpc>
                <a:spcPct val="135000"/>
              </a:lnSpc>
              <a:buNone/>
            </a:pPr>
            <a:r>
              <a:rPr lang="en-US" sz="1300" b="1" dirty="0">
                <a:solidFill>
                  <a:srgbClr val="2D2D2D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1 毫秒 = 1000 微秒（µs）</a:t>
            </a:r>
            <a:endParaRPr lang="en-US" sz="1300" dirty="0"/>
          </a:p>
        </p:txBody>
      </p:sp>
      <p:sp>
        <p:nvSpPr>
          <p:cNvPr id="32" name="Shape 26"/>
          <p:cNvSpPr/>
          <p:nvPr/>
        </p:nvSpPr>
        <p:spPr>
          <a:xfrm>
            <a:off x="3703320" y="3749040"/>
            <a:ext cx="5029200" cy="822960"/>
          </a:xfrm>
          <a:prstGeom prst="roundRect">
            <a:avLst>
              <a:gd name="adj" fmla="val 13333"/>
            </a:avLst>
          </a:prstGeom>
          <a:solidFill>
            <a:srgbClr val="E3FAF7"/>
          </a:solidFill>
          <a:ln w="12700">
            <a:solidFill>
              <a:srgbClr val="E3FAF7"/>
            </a:solidFill>
            <a:prstDash val="solid"/>
          </a:ln>
        </p:spPr>
      </p:sp>
      <p:sp>
        <p:nvSpPr>
          <p:cNvPr id="33" name="Shape 27"/>
          <p:cNvSpPr/>
          <p:nvPr/>
        </p:nvSpPr>
        <p:spPr>
          <a:xfrm>
            <a:off x="3849624" y="3895344"/>
            <a:ext cx="329184" cy="329184"/>
          </a:xfrm>
          <a:prstGeom prst="ellipse">
            <a:avLst/>
          </a:prstGeom>
          <a:solidFill>
            <a:srgbClr val="40E0D0"/>
          </a:solidFill>
          <a:ln w="12700">
            <a:solidFill>
              <a:srgbClr val="40E0D0"/>
            </a:solidFill>
            <a:prstDash val="solid"/>
          </a:ln>
        </p:spPr>
      </p:sp>
      <p:pic>
        <p:nvPicPr>
          <p:cNvPr id="34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928628" y="3974348"/>
            <a:ext cx="171176" cy="171176"/>
          </a:xfrm>
          <a:prstGeom prst="rect">
            <a:avLst/>
          </a:prstGeom>
        </p:spPr>
      </p:pic>
      <p:sp>
        <p:nvSpPr>
          <p:cNvPr id="35" name="Text 28"/>
          <p:cNvSpPr txBox="1"/>
          <p:nvPr/>
        </p:nvSpPr>
        <p:spPr>
          <a:xfrm>
            <a:off x="4306824" y="3886200"/>
            <a:ext cx="4279392" cy="5394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1200" dirty="0">
                <a:solidFill>
                  <a:srgbClr val="2D2D2D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delay 像闭眼等：这 1 秒里按键按了也不知道。</a:t>
            </a:r>
            <a:endParaRPr lang="en-US" sz="1200" dirty="0"/>
          </a:p>
          <a:p>
            <a:pPr algn="l" indent="0" marL="0">
              <a:lnSpc>
                <a:spcPct val="115000"/>
              </a:lnSpc>
              <a:buNone/>
            </a:pPr>
            <a:r>
              <a:rPr lang="en-US" sz="1200" dirty="0">
                <a:solidFill>
                  <a:srgbClr val="2D2D2D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millis 像看表：到点了再做，中间还能干别的事。</a:t>
            </a:r>
            <a:endParaRPr lang="en-US" sz="12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339328" y="4736592"/>
            <a:ext cx="393192" cy="219456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 lIns="0" tIns="0" rIns="0" bIns="0" anchor="ctr"/>
          <a:lstStyle>
            <a:lvl1pPr>
              <a:defRPr sz="800">
                <a:solidFill>
                  <a:srgbClr val="6B6B6B"/>
                </a:solidFill>
                <a:latin typeface="微软雅黑"/>
                <a:ea typeface="微软雅黑"/>
                <a:cs typeface="微软雅黑"/>
              </a:defRPr>
            </a:lvl1pPr>
          </a:lstStyle>
          <a:p>
            <a:pPr algn="r"/>
            <a:fld id="{F7021451-1387-4CA6-816F-3879F97B5CBC}" type="slidenum">
              <a:rPr b="0" lang="en-US"/>
              <a:t>17</a:t>
            </a:fld>
            <a:endParaRPr lang="en-US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1"/>
          <p:cNvSpPr/>
          <p:nvPr>
            <p:ph idx="102" type="body" hasCustomPrompt="1"/>
          </p:nvPr>
        </p:nvSpPr>
        <p:spPr>
          <a:xfrm>
            <a:off x="4572000" y="4736592"/>
            <a:ext cx="370332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2D2D2D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和硬件对话</a:t>
            </a:r>
            <a:endParaRPr lang="en-US" sz="800" dirty="0"/>
          </a:p>
        </p:txBody>
      </p:sp>
      <p:sp>
        <p:nvSpPr>
          <p:cNvPr id="3" name="Text 1"/>
          <p:cNvSpPr/>
          <p:nvPr>
            <p:ph idx="103" type="title" hasCustomPrompt="1"/>
          </p:nvPr>
        </p:nvSpPr>
        <p:spPr>
          <a:xfrm>
            <a:off x="411480" y="274320"/>
            <a:ext cx="83210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400" dirty="0">
                <a:solidFill>
                  <a:srgbClr val="2D2D2D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串口 Serial：和电脑聊天的窗口</a:t>
            </a:r>
            <a:endParaRPr lang="en-US" sz="2400" dirty="0"/>
          </a:p>
        </p:txBody>
      </p:sp>
      <p:sp>
        <p:nvSpPr>
          <p:cNvPr id="4" name="Text 1"/>
          <p:cNvSpPr/>
          <p:nvPr>
            <p:ph idx="104" type="body" hasCustomPrompt="1"/>
          </p:nvPr>
        </p:nvSpPr>
        <p:spPr>
          <a:xfrm>
            <a:off x="411480" y="786384"/>
            <a:ext cx="83210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6B6B6B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串口是 Arduino 和电脑“聊天”的通道，最常用来打印数值、检查程序是否正常。</a:t>
            </a:r>
            <a:endParaRPr lang="en-US" sz="1200" dirty="0"/>
          </a:p>
        </p:txBody>
      </p:sp>
      <p:sp>
        <p:nvSpPr>
          <p:cNvPr id="6" name="Shape 3"/>
          <p:cNvSpPr/>
          <p:nvPr/>
        </p:nvSpPr>
        <p:spPr>
          <a:xfrm>
            <a:off x="411480" y="1234440"/>
            <a:ext cx="3383280" cy="1828800"/>
          </a:xfrm>
          <a:prstGeom prst="roundRect">
            <a:avLst>
              <a:gd name="adj" fmla="val 6000"/>
            </a:avLst>
          </a:prstGeom>
          <a:solidFill>
            <a:srgbClr val="F5F5F5"/>
          </a:solidFill>
          <a:ln w="12700">
            <a:solidFill>
              <a:srgbClr val="F5F5F5"/>
            </a:solidFill>
            <a:prstDash val="solid"/>
          </a:ln>
        </p:spPr>
      </p:sp>
      <p:sp>
        <p:nvSpPr>
          <p:cNvPr id="7" name="Shape 4"/>
          <p:cNvSpPr/>
          <p:nvPr/>
        </p:nvSpPr>
        <p:spPr>
          <a:xfrm>
            <a:off x="685800" y="1508760"/>
            <a:ext cx="566928" cy="566928"/>
          </a:xfrm>
          <a:prstGeom prst="ellipse">
            <a:avLst/>
          </a:prstGeom>
          <a:solidFill>
            <a:srgbClr val="40E0D0"/>
          </a:solidFill>
          <a:ln w="12700">
            <a:solidFill>
              <a:srgbClr val="40E0D0"/>
            </a:solidFill>
            <a:prstDash val="solid"/>
          </a:ln>
        </p:spPr>
      </p:sp>
      <p:pic>
        <p:nvPicPr>
          <p:cNvPr id="8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21863" y="1644823"/>
            <a:ext cx="294803" cy="294803"/>
          </a:xfrm>
          <a:prstGeom prst="rect">
            <a:avLst/>
          </a:prstGeom>
        </p:spPr>
      </p:pic>
      <p:sp>
        <p:nvSpPr>
          <p:cNvPr id="9" name="Shape 5"/>
          <p:cNvSpPr/>
          <p:nvPr/>
        </p:nvSpPr>
        <p:spPr>
          <a:xfrm>
            <a:off x="2953512" y="1508760"/>
            <a:ext cx="566928" cy="566928"/>
          </a:xfrm>
          <a:prstGeom prst="ellipse">
            <a:avLst/>
          </a:prstGeom>
          <a:solidFill>
            <a:srgbClr val="40E0D0"/>
          </a:solidFill>
          <a:ln w="12700">
            <a:solidFill>
              <a:srgbClr val="40E0D0"/>
            </a:solidFill>
            <a:prstDash val="solid"/>
          </a:ln>
        </p:spPr>
      </p:sp>
      <p:pic>
        <p:nvPicPr>
          <p:cNvPr id="10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089575" y="1644823"/>
            <a:ext cx="294803" cy="294803"/>
          </a:xfrm>
          <a:prstGeom prst="rect">
            <a:avLst/>
          </a:prstGeom>
        </p:spPr>
      </p:pic>
      <p:sp>
        <p:nvSpPr>
          <p:cNvPr id="11" name="Text 6"/>
          <p:cNvSpPr txBox="1"/>
          <p:nvPr/>
        </p:nvSpPr>
        <p:spPr>
          <a:xfrm>
            <a:off x="512064" y="2130552"/>
            <a:ext cx="9144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15000"/>
              </a:lnSpc>
              <a:buNone/>
            </a:pPr>
            <a:r>
              <a:rPr lang="en-US" sz="1200" b="1" dirty="0">
                <a:solidFill>
                  <a:srgbClr val="2D2D2D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Arduino</a:t>
            </a:r>
            <a:endParaRPr lang="en-US" sz="1200" dirty="0"/>
          </a:p>
        </p:txBody>
      </p:sp>
      <p:sp>
        <p:nvSpPr>
          <p:cNvPr id="12" name="Text 7"/>
          <p:cNvSpPr txBox="1"/>
          <p:nvPr/>
        </p:nvSpPr>
        <p:spPr>
          <a:xfrm>
            <a:off x="2779776" y="2130552"/>
            <a:ext cx="9144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15000"/>
              </a:lnSpc>
              <a:buNone/>
            </a:pPr>
            <a:r>
              <a:rPr lang="en-US" sz="1200" b="1" dirty="0">
                <a:solidFill>
                  <a:srgbClr val="2D2D2D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电脑</a:t>
            </a:r>
            <a:endParaRPr lang="en-US" sz="1200" dirty="0"/>
          </a:p>
        </p:txBody>
      </p:sp>
      <p:sp>
        <p:nvSpPr>
          <p:cNvPr id="13" name="Shape 8"/>
          <p:cNvSpPr/>
          <p:nvPr/>
        </p:nvSpPr>
        <p:spPr>
          <a:xfrm>
            <a:off x="1344168" y="1691640"/>
            <a:ext cx="1517904" cy="91"/>
          </a:xfrm>
          <a:prstGeom prst="line">
            <a:avLst/>
          </a:prstGeom>
          <a:noFill/>
          <a:ln w="19050">
            <a:solidFill>
              <a:srgbClr val="2D2D2D"/>
            </a:solidFill>
            <a:prstDash val="solid"/>
            <a:tailEnd type="triangle"/>
          </a:ln>
        </p:spPr>
      </p:sp>
      <p:sp>
        <p:nvSpPr>
          <p:cNvPr id="14" name="Shape 9"/>
          <p:cNvSpPr/>
          <p:nvPr/>
        </p:nvSpPr>
        <p:spPr>
          <a:xfrm flipH="1">
            <a:off x="1344168" y="1947672"/>
            <a:ext cx="1517904" cy="91"/>
          </a:xfrm>
          <a:prstGeom prst="line">
            <a:avLst/>
          </a:prstGeom>
          <a:noFill/>
          <a:ln w="19050">
            <a:solidFill>
              <a:srgbClr val="2D2D2D"/>
            </a:solidFill>
            <a:prstDash val="solid"/>
            <a:tailEnd type="triangle"/>
          </a:ln>
        </p:spPr>
      </p:sp>
      <p:sp>
        <p:nvSpPr>
          <p:cNvPr id="15" name="Text 10"/>
          <p:cNvSpPr txBox="1"/>
          <p:nvPr/>
        </p:nvSpPr>
        <p:spPr>
          <a:xfrm>
            <a:off x="1344168" y="1453896"/>
            <a:ext cx="1517904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15000"/>
              </a:lnSpc>
              <a:buNone/>
            </a:pPr>
            <a:r>
              <a:rPr lang="en-US" sz="1000" dirty="0">
                <a:solidFill>
                  <a:srgbClr val="6B6B6B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print 发消息</a:t>
            </a:r>
            <a:endParaRPr lang="en-US" sz="1000" dirty="0"/>
          </a:p>
        </p:txBody>
      </p:sp>
      <p:sp>
        <p:nvSpPr>
          <p:cNvPr id="16" name="Text 11"/>
          <p:cNvSpPr txBox="1"/>
          <p:nvPr/>
        </p:nvSpPr>
        <p:spPr>
          <a:xfrm>
            <a:off x="1344168" y="1984248"/>
            <a:ext cx="1517904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15000"/>
              </a:lnSpc>
              <a:buNone/>
            </a:pPr>
            <a:r>
              <a:rPr lang="en-US" sz="1000" dirty="0">
                <a:solidFill>
                  <a:srgbClr val="6B6B6B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read 收消息</a:t>
            </a:r>
            <a:endParaRPr lang="en-US" sz="1000" dirty="0"/>
          </a:p>
        </p:txBody>
      </p:sp>
      <p:sp>
        <p:nvSpPr>
          <p:cNvPr id="17" name="Text 12"/>
          <p:cNvSpPr txBox="1"/>
          <p:nvPr/>
        </p:nvSpPr>
        <p:spPr>
          <a:xfrm>
            <a:off x="1344168" y="2185416"/>
            <a:ext cx="1517904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15000"/>
              </a:lnSpc>
              <a:buNone/>
            </a:pPr>
            <a:r>
              <a:rPr lang="en-US" sz="1000" b="1" dirty="0">
                <a:solidFill>
                  <a:srgbClr val="2D2D2D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USB 线</a:t>
            </a:r>
            <a:endParaRPr lang="en-US" sz="1000" dirty="0"/>
          </a:p>
        </p:txBody>
      </p:sp>
      <p:sp>
        <p:nvSpPr>
          <p:cNvPr id="18" name="Text 13"/>
          <p:cNvSpPr txBox="1"/>
          <p:nvPr/>
        </p:nvSpPr>
        <p:spPr>
          <a:xfrm>
            <a:off x="594360" y="2496312"/>
            <a:ext cx="30175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1200" dirty="0">
                <a:solidFill>
                  <a:srgbClr val="2D2D2D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电脑上打开“串口监视器”，就能看到 Arduino 发来的消息。</a:t>
            </a:r>
            <a:endParaRPr lang="en-US" sz="1200" dirty="0"/>
          </a:p>
        </p:txBody>
      </p:sp>
      <p:sp>
        <p:nvSpPr>
          <p:cNvPr id="19" name="Shape 14"/>
          <p:cNvSpPr/>
          <p:nvPr/>
        </p:nvSpPr>
        <p:spPr>
          <a:xfrm>
            <a:off x="411480" y="3337560"/>
            <a:ext cx="3383280" cy="1234440"/>
          </a:xfrm>
          <a:prstGeom prst="roundRect">
            <a:avLst>
              <a:gd name="adj" fmla="val 8889"/>
            </a:avLst>
          </a:prstGeom>
          <a:solidFill>
            <a:srgbClr val="F5F5F5"/>
          </a:solidFill>
          <a:ln w="12700">
            <a:solidFill>
              <a:srgbClr val="F5F5F5"/>
            </a:solidFill>
            <a:prstDash val="solid"/>
          </a:ln>
        </p:spPr>
      </p:sp>
      <p:sp>
        <p:nvSpPr>
          <p:cNvPr id="20" name="Shape 15"/>
          <p:cNvSpPr/>
          <p:nvPr/>
        </p:nvSpPr>
        <p:spPr>
          <a:xfrm>
            <a:off x="557784" y="3483864"/>
            <a:ext cx="329184" cy="329184"/>
          </a:xfrm>
          <a:prstGeom prst="ellipse">
            <a:avLst/>
          </a:prstGeom>
          <a:solidFill>
            <a:srgbClr val="40E0D0"/>
          </a:solidFill>
          <a:ln w="12700">
            <a:solidFill>
              <a:srgbClr val="40E0D0"/>
            </a:solidFill>
            <a:prstDash val="solid"/>
          </a:ln>
        </p:spPr>
      </p:sp>
      <p:pic>
        <p:nvPicPr>
          <p:cNvPr id="21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36788" y="3562868"/>
            <a:ext cx="171176" cy="171176"/>
          </a:xfrm>
          <a:prstGeom prst="rect">
            <a:avLst/>
          </a:prstGeom>
        </p:spPr>
      </p:pic>
      <p:sp>
        <p:nvSpPr>
          <p:cNvPr id="22" name="Text 16"/>
          <p:cNvSpPr txBox="1"/>
          <p:nvPr/>
        </p:nvSpPr>
        <p:spPr>
          <a:xfrm>
            <a:off x="1014984" y="3474720"/>
            <a:ext cx="263347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1300" b="1" dirty="0">
                <a:solidFill>
                  <a:srgbClr val="2D2D2D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怎样打开串口监视器</a:t>
            </a:r>
            <a:endParaRPr lang="en-US" sz="1300" dirty="0"/>
          </a:p>
        </p:txBody>
      </p:sp>
      <p:sp>
        <p:nvSpPr>
          <p:cNvPr id="23" name="Text 17"/>
          <p:cNvSpPr txBox="1"/>
          <p:nvPr/>
        </p:nvSpPr>
        <p:spPr>
          <a:xfrm>
            <a:off x="1014984" y="3785616"/>
            <a:ext cx="2633472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1200" dirty="0">
                <a:solidFill>
                  <a:srgbClr val="2D2D2D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IDE 右上角的放大镜图标，</a:t>
            </a:r>
            <a:endParaRPr lang="en-US" sz="1200" dirty="0"/>
          </a:p>
          <a:p>
            <a:pPr algn="l" indent="0" marL="0">
              <a:lnSpc>
                <a:spcPct val="115000"/>
              </a:lnSpc>
              <a:buNone/>
            </a:pPr>
            <a:r>
              <a:rPr lang="en-US" sz="1200" dirty="0">
                <a:solidFill>
                  <a:srgbClr val="2D2D2D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或菜单 工具 → 串口监视器。</a:t>
            </a:r>
            <a:endParaRPr lang="en-US" sz="1200" dirty="0"/>
          </a:p>
        </p:txBody>
      </p:sp>
      <p:graphicFrame>
        <p:nvGraphicFramePr>
          <p:cNvPr id="19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069080" y="1234440"/>
          <a:ext cx="4663440" cy="914400"/>
        </p:xfrm>
        <a:graphic>
          <a:graphicData uri="http://schemas.openxmlformats.org/drawingml/2006/table">
            <a:tbl>
              <a:tblPr/>
              <a:tblGrid>
                <a:gridCol w="2148840"/>
                <a:gridCol w="2514600"/>
              </a:tblGrid>
              <a:tr h="36576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函数</a:t>
                      </a:r>
                      <a:endParaRPr lang="en-US" sz="1100" dirty="0">
                        <a:latin typeface="微软雅黑" charset="0"/>
                        <a:ea typeface="微软雅黑" charset="0"/>
                        <a:cs typeface="微软雅黑" charset="0"/>
                      </a:endParaRPr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E2E2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2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2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2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D2D2D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作用</a:t>
                      </a:r>
                      <a:endParaRPr lang="en-US" sz="1100" dirty="0">
                        <a:latin typeface="微软雅黑" charset="0"/>
                        <a:ea typeface="微软雅黑" charset="0"/>
                        <a:cs typeface="微软雅黑" charset="0"/>
                      </a:endParaRPr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E2E2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2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2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2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D2D2D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b="1" dirty="0">
                          <a:solidFill>
                            <a:srgbClr val="2D2D2D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Serial.begin(9600);</a:t>
                      </a:r>
                      <a:endParaRPr lang="en-US" sz="120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E2E2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2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2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2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2D2D2D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打开串口</a:t>
                      </a:r>
                      <a:endParaRPr lang="en-US" sz="1200" dirty="0">
                        <a:latin typeface="微软雅黑" charset="0"/>
                        <a:ea typeface="微软雅黑" charset="0"/>
                        <a:cs typeface="微软雅黑" charset="0"/>
                      </a:endParaRPr>
                    </a:p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2D2D2D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9600 是波特率（通信速度）</a:t>
                      </a:r>
                      <a:endParaRPr lang="en-US" sz="1200" dirty="0">
                        <a:latin typeface="微软雅黑" charset="0"/>
                        <a:ea typeface="微软雅黑" charset="0"/>
                        <a:cs typeface="微软雅黑" charset="0"/>
                      </a:endParaRPr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E2E2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2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2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2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b="1" dirty="0">
                          <a:solidFill>
                            <a:srgbClr val="2D2D2D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Serial.print(内容);</a:t>
                      </a:r>
                      <a:endParaRPr lang="en-US" sz="120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E2E2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2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2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2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2D2D2D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发送文字或数值，不换行</a:t>
                      </a:r>
                      <a:endParaRPr lang="en-US" sz="1200" dirty="0">
                        <a:latin typeface="微软雅黑" charset="0"/>
                        <a:ea typeface="微软雅黑" charset="0"/>
                        <a:cs typeface="微软雅黑" charset="0"/>
                      </a:endParaRPr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E2E2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2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2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2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5F5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b="1" dirty="0">
                          <a:solidFill>
                            <a:srgbClr val="2D2D2D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Serial.println(内容);</a:t>
                      </a:r>
                      <a:endParaRPr lang="en-US" sz="120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E2E2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2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2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2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2D2D2D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发送后换行</a:t>
                      </a:r>
                      <a:endParaRPr lang="en-US" sz="1200" dirty="0">
                        <a:latin typeface="微软雅黑" charset="0"/>
                        <a:ea typeface="微软雅黑" charset="0"/>
                        <a:cs typeface="微软雅黑" charset="0"/>
                      </a:endParaRPr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E2E2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2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2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2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b="1" dirty="0">
                          <a:solidFill>
                            <a:srgbClr val="2D2D2D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Serial.available()</a:t>
                      </a:r>
                      <a:endParaRPr lang="en-US" sz="120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E2E2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2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2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2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2D2D2D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电脑发来了几个字符还没读</a:t>
                      </a:r>
                      <a:endParaRPr lang="en-US" sz="1200" dirty="0">
                        <a:latin typeface="微软雅黑" charset="0"/>
                        <a:ea typeface="微软雅黑" charset="0"/>
                        <a:cs typeface="微软雅黑" charset="0"/>
                      </a:endParaRPr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E2E2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2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2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2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5F5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b="1" dirty="0">
                          <a:solidFill>
                            <a:srgbClr val="2D2D2D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Serial.read()</a:t>
                      </a:r>
                      <a:endParaRPr lang="en-US" sz="120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E2E2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2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2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2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2D2D2D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读出 1 个字符</a:t>
                      </a:r>
                      <a:endParaRPr lang="en-US" sz="1200" dirty="0">
                        <a:latin typeface="微软雅黑" charset="0"/>
                        <a:ea typeface="微软雅黑" charset="0"/>
                        <a:cs typeface="微软雅黑" charset="0"/>
                      </a:endParaRPr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E2E2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2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2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2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25" name="Shape 18"/>
          <p:cNvSpPr/>
          <p:nvPr/>
        </p:nvSpPr>
        <p:spPr>
          <a:xfrm>
            <a:off x="4069080" y="3794760"/>
            <a:ext cx="4663440" cy="777240"/>
          </a:xfrm>
          <a:prstGeom prst="roundRect">
            <a:avLst>
              <a:gd name="adj" fmla="val 14118"/>
            </a:avLst>
          </a:prstGeom>
          <a:solidFill>
            <a:srgbClr val="FFFFFF"/>
          </a:solidFill>
          <a:ln w="12700">
            <a:solidFill>
              <a:srgbClr val="E5484D"/>
            </a:solidFill>
            <a:prstDash val="solid"/>
          </a:ln>
        </p:spPr>
      </p:sp>
      <p:sp>
        <p:nvSpPr>
          <p:cNvPr id="26" name="Shape 19"/>
          <p:cNvSpPr/>
          <p:nvPr/>
        </p:nvSpPr>
        <p:spPr>
          <a:xfrm>
            <a:off x="4215384" y="3941064"/>
            <a:ext cx="329184" cy="329184"/>
          </a:xfrm>
          <a:prstGeom prst="ellipse">
            <a:avLst/>
          </a:prstGeom>
          <a:solidFill>
            <a:srgbClr val="E5484D"/>
          </a:solidFill>
          <a:ln w="12700">
            <a:solidFill>
              <a:srgbClr val="E5484D"/>
            </a:solidFill>
            <a:prstDash val="solid"/>
          </a:ln>
        </p:spPr>
      </p:sp>
      <p:pic>
        <p:nvPicPr>
          <p:cNvPr id="27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294388" y="4020068"/>
            <a:ext cx="171176" cy="171176"/>
          </a:xfrm>
          <a:prstGeom prst="rect">
            <a:avLst/>
          </a:prstGeom>
        </p:spPr>
      </p:pic>
      <p:sp>
        <p:nvSpPr>
          <p:cNvPr id="28" name="Text 20"/>
          <p:cNvSpPr txBox="1"/>
          <p:nvPr/>
        </p:nvSpPr>
        <p:spPr>
          <a:xfrm>
            <a:off x="4672584" y="3931920"/>
            <a:ext cx="3913632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1200" b="1" dirty="0">
                <a:solidFill>
                  <a:srgbClr val="E5484D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波特率要一致：</a:t>
            </a:r>
            <a:pPr algn="l" indent="0" marL="0">
              <a:lnSpc>
                <a:spcPct val="115000"/>
              </a:lnSpc>
              <a:buNone/>
            </a:pPr>
            <a:r>
              <a:rPr lang="en-US" sz="1200" dirty="0">
                <a:solidFill>
                  <a:srgbClr val="2D2D2D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串口监视器右下角选的波特率，要和 Serial.begin() 里的一样，否则显示乱码。</a:t>
            </a:r>
            <a:endParaRPr lang="en-US" sz="12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339328" y="4736592"/>
            <a:ext cx="393192" cy="219456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 lIns="0" tIns="0" rIns="0" bIns="0" anchor="ctr"/>
          <a:lstStyle>
            <a:lvl1pPr>
              <a:defRPr sz="800">
                <a:solidFill>
                  <a:srgbClr val="6B6B6B"/>
                </a:solidFill>
                <a:latin typeface="微软雅黑"/>
                <a:ea typeface="微软雅黑"/>
                <a:cs typeface="微软雅黑"/>
              </a:defRPr>
            </a:lvl1pPr>
          </a:lstStyle>
          <a:p>
            <a:pPr algn="r"/>
            <a:fld id="{F7021451-1387-4CA6-816F-3879F97B5CBC}" type="slidenum">
              <a:rPr b="0" lang="en-US"/>
              <a:t>18</a:t>
            </a:fld>
            <a:endParaRPr lang="en-US"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1"/>
          <p:cNvSpPr/>
          <p:nvPr>
            <p:ph idx="102" type="body" hasCustomPrompt="1"/>
          </p:nvPr>
        </p:nvSpPr>
        <p:spPr>
          <a:xfrm>
            <a:off x="4572000" y="4736592"/>
            <a:ext cx="370332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2D2D2D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和硬件对话</a:t>
            </a:r>
            <a:endParaRPr lang="en-US" sz="800" dirty="0"/>
          </a:p>
        </p:txBody>
      </p:sp>
      <p:sp>
        <p:nvSpPr>
          <p:cNvPr id="3" name="Text 1"/>
          <p:cNvSpPr/>
          <p:nvPr>
            <p:ph idx="103" type="title" hasCustomPrompt="1"/>
          </p:nvPr>
        </p:nvSpPr>
        <p:spPr>
          <a:xfrm>
            <a:off x="411480" y="274320"/>
            <a:ext cx="83210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400" dirty="0">
                <a:solidFill>
                  <a:srgbClr val="2D2D2D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示例：每秒打印一次计数</a:t>
            </a:r>
            <a:endParaRPr lang="en-US" sz="2400" dirty="0"/>
          </a:p>
        </p:txBody>
      </p:sp>
      <p:sp>
        <p:nvSpPr>
          <p:cNvPr id="4" name="Text 1"/>
          <p:cNvSpPr/>
          <p:nvPr>
            <p:ph idx="104" type="body" hasCustomPrompt="1"/>
          </p:nvPr>
        </p:nvSpPr>
        <p:spPr>
          <a:xfrm>
            <a:off x="411480" y="786384"/>
            <a:ext cx="83210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6B6B6B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开机先打个招呼，然后每过 1 秒报一次数——注意 print 和 println 的区别。</a:t>
            </a:r>
            <a:endParaRPr lang="en-US" sz="1200" dirty="0"/>
          </a:p>
        </p:txBody>
      </p:sp>
      <p:sp>
        <p:nvSpPr>
          <p:cNvPr id="6" name="Shape 3"/>
          <p:cNvSpPr/>
          <p:nvPr/>
        </p:nvSpPr>
        <p:spPr>
          <a:xfrm>
            <a:off x="411480" y="1234440"/>
            <a:ext cx="5349240" cy="3337560"/>
          </a:xfrm>
          <a:prstGeom prst="roundRect">
            <a:avLst>
              <a:gd name="adj" fmla="val 2740"/>
            </a:avLst>
          </a:prstGeom>
          <a:solidFill>
            <a:srgbClr val="2D2D2D"/>
          </a:solidFill>
          <a:ln w="12700">
            <a:solidFill>
              <a:srgbClr val="2D2D2D"/>
            </a:solidFill>
            <a:prstDash val="solid"/>
          </a:ln>
        </p:spPr>
      </p:sp>
      <p:sp>
        <p:nvSpPr>
          <p:cNvPr id="7" name="Text 4"/>
          <p:cNvSpPr txBox="1"/>
          <p:nvPr/>
        </p:nvSpPr>
        <p:spPr>
          <a:xfrm>
            <a:off x="539496" y="1298448"/>
            <a:ext cx="3209544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1000" dirty="0">
                <a:solidFill>
                  <a:srgbClr val="9A9A9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serial_demo.ino</a:t>
            </a:r>
            <a:endParaRPr lang="en-US" sz="1000" dirty="0"/>
          </a:p>
        </p:txBody>
      </p:sp>
      <p:sp>
        <p:nvSpPr>
          <p:cNvPr id="8" name="Text 5"/>
          <p:cNvSpPr txBox="1"/>
          <p:nvPr/>
        </p:nvSpPr>
        <p:spPr>
          <a:xfrm>
            <a:off x="502920" y="1545336"/>
            <a:ext cx="218658" cy="1899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lnSpc>
                <a:spcPct val="115000"/>
              </a:lnSpc>
              <a:buNone/>
            </a:pPr>
            <a:r>
              <a:rPr lang="en-US" sz="1000" dirty="0">
                <a:solidFill>
                  <a:srgbClr val="7A7A7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1</a:t>
            </a:r>
            <a:endParaRPr lang="en-US" sz="1000" dirty="0"/>
          </a:p>
        </p:txBody>
      </p:sp>
      <p:sp>
        <p:nvSpPr>
          <p:cNvPr id="9" name="Text 6"/>
          <p:cNvSpPr txBox="1"/>
          <p:nvPr/>
        </p:nvSpPr>
        <p:spPr>
          <a:xfrm>
            <a:off x="842254" y="1545336"/>
            <a:ext cx="4790450" cy="1899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40E0D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int </a:t>
            </a:r>
            <a:pPr indent="0" marL="0">
              <a:buNone/>
            </a:pPr>
            <a:r>
              <a:rPr lang="en-US" sz="1100" dirty="0">
                <a:solidFill>
                  <a:srgbClr val="D9D9D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count </a:t>
            </a:r>
            <a:pPr indent="0" marL="0">
              <a:buNone/>
            </a:pPr>
            <a:r>
              <a:rPr lang="en-US" sz="1100" dirty="0">
                <a:solidFill>
                  <a:srgbClr val="BDBDB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= </a:t>
            </a:r>
            <a:pPr indent="0" marL="0">
              <a:buNone/>
            </a:pPr>
            <a:r>
              <a:rPr lang="en-US" sz="1100" dirty="0">
                <a:solidFill>
                  <a:srgbClr val="F7C87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</a:t>
            </a:r>
            <a:pPr indent="0" marL="0">
              <a:buNone/>
            </a:pPr>
            <a:r>
              <a:rPr lang="en-US" sz="1100" dirty="0">
                <a:solidFill>
                  <a:srgbClr val="BDBDB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;</a:t>
            </a:r>
            <a:endParaRPr lang="en-US" sz="1100" dirty="0"/>
          </a:p>
        </p:txBody>
      </p:sp>
      <p:sp>
        <p:nvSpPr>
          <p:cNvPr id="10" name="Text 7"/>
          <p:cNvSpPr txBox="1"/>
          <p:nvPr/>
        </p:nvSpPr>
        <p:spPr>
          <a:xfrm>
            <a:off x="502920" y="1735328"/>
            <a:ext cx="218658" cy="1899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lnSpc>
                <a:spcPct val="115000"/>
              </a:lnSpc>
              <a:buNone/>
            </a:pPr>
            <a:r>
              <a:rPr lang="en-US" sz="1000" dirty="0">
                <a:solidFill>
                  <a:srgbClr val="7A7A7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2</a:t>
            </a:r>
            <a:endParaRPr lang="en-US" sz="1000" dirty="0"/>
          </a:p>
        </p:txBody>
      </p:sp>
      <p:sp>
        <p:nvSpPr>
          <p:cNvPr id="11" name="Text 8"/>
          <p:cNvSpPr txBox="1"/>
          <p:nvPr/>
        </p:nvSpPr>
        <p:spPr>
          <a:xfrm>
            <a:off x="842254" y="1735328"/>
            <a:ext cx="4790450" cy="1899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9D9D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endParaRPr lang="en-US" sz="1100" dirty="0"/>
          </a:p>
        </p:txBody>
      </p:sp>
      <p:sp>
        <p:nvSpPr>
          <p:cNvPr id="12" name="Text 9"/>
          <p:cNvSpPr txBox="1"/>
          <p:nvPr/>
        </p:nvSpPr>
        <p:spPr>
          <a:xfrm>
            <a:off x="502920" y="1925320"/>
            <a:ext cx="218658" cy="1899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lnSpc>
                <a:spcPct val="115000"/>
              </a:lnSpc>
              <a:buNone/>
            </a:pPr>
            <a:r>
              <a:rPr lang="en-US" sz="1000" dirty="0">
                <a:solidFill>
                  <a:srgbClr val="7A7A7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3</a:t>
            </a:r>
            <a:endParaRPr lang="en-US" sz="1000" dirty="0"/>
          </a:p>
        </p:txBody>
      </p:sp>
      <p:sp>
        <p:nvSpPr>
          <p:cNvPr id="13" name="Text 10"/>
          <p:cNvSpPr txBox="1"/>
          <p:nvPr/>
        </p:nvSpPr>
        <p:spPr>
          <a:xfrm>
            <a:off x="842254" y="1925320"/>
            <a:ext cx="4790450" cy="1899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40E0D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void </a:t>
            </a:r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setup</a:t>
            </a:r>
            <a:pPr indent="0" marL="0">
              <a:buNone/>
            </a:pPr>
            <a:r>
              <a:rPr lang="en-US" sz="1100" dirty="0">
                <a:solidFill>
                  <a:srgbClr val="BDBDB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() {</a:t>
            </a:r>
            <a:endParaRPr lang="en-US" sz="1100" dirty="0"/>
          </a:p>
        </p:txBody>
      </p:sp>
      <p:sp>
        <p:nvSpPr>
          <p:cNvPr id="14" name="Shape 11"/>
          <p:cNvSpPr/>
          <p:nvPr/>
        </p:nvSpPr>
        <p:spPr>
          <a:xfrm>
            <a:off x="457200" y="2115312"/>
            <a:ext cx="5257800" cy="189992"/>
          </a:xfrm>
          <a:prstGeom prst="rect">
            <a:avLst/>
          </a:prstGeom>
          <a:solidFill>
            <a:srgbClr val="3E5250"/>
          </a:solidFill>
          <a:ln w="12700">
            <a:solidFill>
              <a:srgbClr val="3E5250"/>
            </a:solidFill>
            <a:prstDash val="solid"/>
          </a:ln>
        </p:spPr>
      </p:sp>
      <p:sp>
        <p:nvSpPr>
          <p:cNvPr id="15" name="Text 12"/>
          <p:cNvSpPr txBox="1"/>
          <p:nvPr/>
        </p:nvSpPr>
        <p:spPr>
          <a:xfrm>
            <a:off x="502920" y="2115312"/>
            <a:ext cx="218658" cy="1899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lnSpc>
                <a:spcPct val="115000"/>
              </a:lnSpc>
              <a:buNone/>
            </a:pPr>
            <a:r>
              <a:rPr lang="en-US" sz="1000" b="1" dirty="0">
                <a:solidFill>
                  <a:srgbClr val="40E0D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4</a:t>
            </a:r>
            <a:endParaRPr lang="en-US" sz="1000" dirty="0"/>
          </a:p>
        </p:txBody>
      </p:sp>
      <p:sp>
        <p:nvSpPr>
          <p:cNvPr id="16" name="Text 13"/>
          <p:cNvSpPr txBox="1"/>
          <p:nvPr/>
        </p:nvSpPr>
        <p:spPr>
          <a:xfrm>
            <a:off x="842254" y="2115312"/>
            <a:ext cx="4790450" cy="1899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9D9D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</a:t>
            </a:r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Serial</a:t>
            </a:r>
            <a:pPr indent="0" marL="0">
              <a:buNone/>
            </a:pPr>
            <a:r>
              <a:rPr lang="en-US" sz="1100" dirty="0">
                <a:solidFill>
                  <a:srgbClr val="BDBDB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.</a:t>
            </a:r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begin</a:t>
            </a:r>
            <a:pPr indent="0" marL="0">
              <a:buNone/>
            </a:pPr>
            <a:r>
              <a:rPr lang="en-US" sz="1100" dirty="0">
                <a:solidFill>
                  <a:srgbClr val="BDBDB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(</a:t>
            </a:r>
            <a:pPr indent="0" marL="0">
              <a:buNone/>
            </a:pPr>
            <a:r>
              <a:rPr lang="en-US" sz="1100" dirty="0">
                <a:solidFill>
                  <a:srgbClr val="F7C87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9600</a:t>
            </a:r>
            <a:pPr indent="0" marL="0">
              <a:buNone/>
            </a:pPr>
            <a:r>
              <a:rPr lang="en-US" sz="1100" dirty="0">
                <a:solidFill>
                  <a:srgbClr val="BDBDB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);          </a:t>
            </a:r>
            <a:pPr indent="0" marL="0">
              <a:buNone/>
            </a:pPr>
            <a:r>
              <a:rPr lang="en-US" sz="1100" i="1" dirty="0">
                <a:solidFill>
                  <a:srgbClr val="8E8E8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// 打开串口，波特率 9600</a:t>
            </a:r>
            <a:endParaRPr lang="en-US" sz="1100" dirty="0"/>
          </a:p>
        </p:txBody>
      </p:sp>
      <p:sp>
        <p:nvSpPr>
          <p:cNvPr id="17" name="Shape 14"/>
          <p:cNvSpPr/>
          <p:nvPr/>
        </p:nvSpPr>
        <p:spPr>
          <a:xfrm>
            <a:off x="457200" y="2305304"/>
            <a:ext cx="5257800" cy="189992"/>
          </a:xfrm>
          <a:prstGeom prst="rect">
            <a:avLst/>
          </a:prstGeom>
          <a:solidFill>
            <a:srgbClr val="3E5250"/>
          </a:solidFill>
          <a:ln w="12700">
            <a:solidFill>
              <a:srgbClr val="3E5250"/>
            </a:solidFill>
            <a:prstDash val="solid"/>
          </a:ln>
        </p:spPr>
      </p:sp>
      <p:sp>
        <p:nvSpPr>
          <p:cNvPr id="18" name="Text 15"/>
          <p:cNvSpPr txBox="1"/>
          <p:nvPr/>
        </p:nvSpPr>
        <p:spPr>
          <a:xfrm>
            <a:off x="502920" y="2305304"/>
            <a:ext cx="218658" cy="1899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lnSpc>
                <a:spcPct val="115000"/>
              </a:lnSpc>
              <a:buNone/>
            </a:pPr>
            <a:r>
              <a:rPr lang="en-US" sz="1000" b="1" dirty="0">
                <a:solidFill>
                  <a:srgbClr val="40E0D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5</a:t>
            </a:r>
            <a:endParaRPr lang="en-US" sz="1000" dirty="0"/>
          </a:p>
        </p:txBody>
      </p:sp>
      <p:sp>
        <p:nvSpPr>
          <p:cNvPr id="19" name="Text 16"/>
          <p:cNvSpPr txBox="1"/>
          <p:nvPr/>
        </p:nvSpPr>
        <p:spPr>
          <a:xfrm>
            <a:off x="842254" y="2305304"/>
            <a:ext cx="4790450" cy="1899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9D9D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</a:t>
            </a:r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Serial</a:t>
            </a:r>
            <a:pPr indent="0" marL="0">
              <a:buNone/>
            </a:pPr>
            <a:r>
              <a:rPr lang="en-US" sz="1100" dirty="0">
                <a:solidFill>
                  <a:srgbClr val="BDBDB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.</a:t>
            </a:r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println</a:t>
            </a:r>
            <a:pPr indent="0" marL="0">
              <a:buNone/>
            </a:pPr>
            <a:r>
              <a:rPr lang="en-US" sz="1100" dirty="0">
                <a:solidFill>
                  <a:srgbClr val="BDBDB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(</a:t>
            </a:r>
            <a:pPr indent="0" marL="0">
              <a:buNone/>
            </a:pPr>
            <a:r>
              <a:rPr lang="en-US" sz="1100" dirty="0">
                <a:solidFill>
                  <a:srgbClr val="F7C87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"Hello!"</a:t>
            </a:r>
            <a:pPr indent="0" marL="0">
              <a:buNone/>
            </a:pPr>
            <a:r>
              <a:rPr lang="en-US" sz="1100" dirty="0">
                <a:solidFill>
                  <a:srgbClr val="BDBDB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);    </a:t>
            </a:r>
            <a:pPr indent="0" marL="0">
              <a:buNone/>
            </a:pPr>
            <a:r>
              <a:rPr lang="en-US" sz="1100" i="1" dirty="0">
                <a:solidFill>
                  <a:srgbClr val="8E8E8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// 发送一行文字</a:t>
            </a:r>
            <a:endParaRPr lang="en-US" sz="1100" dirty="0"/>
          </a:p>
        </p:txBody>
      </p:sp>
      <p:sp>
        <p:nvSpPr>
          <p:cNvPr id="20" name="Text 17"/>
          <p:cNvSpPr txBox="1"/>
          <p:nvPr/>
        </p:nvSpPr>
        <p:spPr>
          <a:xfrm>
            <a:off x="502920" y="2495296"/>
            <a:ext cx="218658" cy="1899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lnSpc>
                <a:spcPct val="115000"/>
              </a:lnSpc>
              <a:buNone/>
            </a:pPr>
            <a:r>
              <a:rPr lang="en-US" sz="1000" dirty="0">
                <a:solidFill>
                  <a:srgbClr val="7A7A7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6</a:t>
            </a:r>
            <a:endParaRPr lang="en-US" sz="1000" dirty="0"/>
          </a:p>
        </p:txBody>
      </p:sp>
      <p:sp>
        <p:nvSpPr>
          <p:cNvPr id="21" name="Text 18"/>
          <p:cNvSpPr txBox="1"/>
          <p:nvPr/>
        </p:nvSpPr>
        <p:spPr>
          <a:xfrm>
            <a:off x="842254" y="2495296"/>
            <a:ext cx="4790450" cy="1899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BDBDB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}</a:t>
            </a:r>
            <a:endParaRPr lang="en-US" sz="1100" dirty="0"/>
          </a:p>
        </p:txBody>
      </p:sp>
      <p:sp>
        <p:nvSpPr>
          <p:cNvPr id="22" name="Text 19"/>
          <p:cNvSpPr txBox="1"/>
          <p:nvPr/>
        </p:nvSpPr>
        <p:spPr>
          <a:xfrm>
            <a:off x="502920" y="2685288"/>
            <a:ext cx="218658" cy="1899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lnSpc>
                <a:spcPct val="115000"/>
              </a:lnSpc>
              <a:buNone/>
            </a:pPr>
            <a:r>
              <a:rPr lang="en-US" sz="1000" dirty="0">
                <a:solidFill>
                  <a:srgbClr val="7A7A7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7</a:t>
            </a:r>
            <a:endParaRPr lang="en-US" sz="1000" dirty="0"/>
          </a:p>
        </p:txBody>
      </p:sp>
      <p:sp>
        <p:nvSpPr>
          <p:cNvPr id="23" name="Text 20"/>
          <p:cNvSpPr txBox="1"/>
          <p:nvPr/>
        </p:nvSpPr>
        <p:spPr>
          <a:xfrm>
            <a:off x="842254" y="2685288"/>
            <a:ext cx="4790450" cy="1899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9D9D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endParaRPr lang="en-US" sz="1100" dirty="0"/>
          </a:p>
        </p:txBody>
      </p:sp>
      <p:sp>
        <p:nvSpPr>
          <p:cNvPr id="24" name="Text 21"/>
          <p:cNvSpPr txBox="1"/>
          <p:nvPr/>
        </p:nvSpPr>
        <p:spPr>
          <a:xfrm>
            <a:off x="502920" y="2875280"/>
            <a:ext cx="218658" cy="1899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lnSpc>
                <a:spcPct val="115000"/>
              </a:lnSpc>
              <a:buNone/>
            </a:pPr>
            <a:r>
              <a:rPr lang="en-US" sz="1000" dirty="0">
                <a:solidFill>
                  <a:srgbClr val="7A7A7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8</a:t>
            </a:r>
            <a:endParaRPr lang="en-US" sz="1000" dirty="0"/>
          </a:p>
        </p:txBody>
      </p:sp>
      <p:sp>
        <p:nvSpPr>
          <p:cNvPr id="25" name="Text 22"/>
          <p:cNvSpPr txBox="1"/>
          <p:nvPr/>
        </p:nvSpPr>
        <p:spPr>
          <a:xfrm>
            <a:off x="842254" y="2875280"/>
            <a:ext cx="4790450" cy="1899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40E0D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void </a:t>
            </a:r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loop</a:t>
            </a:r>
            <a:pPr indent="0" marL="0">
              <a:buNone/>
            </a:pPr>
            <a:r>
              <a:rPr lang="en-US" sz="1100" dirty="0">
                <a:solidFill>
                  <a:srgbClr val="BDBDB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() {</a:t>
            </a:r>
            <a:endParaRPr lang="en-US" sz="1100" dirty="0"/>
          </a:p>
        </p:txBody>
      </p:sp>
      <p:sp>
        <p:nvSpPr>
          <p:cNvPr id="26" name="Shape 23"/>
          <p:cNvSpPr/>
          <p:nvPr/>
        </p:nvSpPr>
        <p:spPr>
          <a:xfrm>
            <a:off x="457200" y="3065272"/>
            <a:ext cx="5257800" cy="189992"/>
          </a:xfrm>
          <a:prstGeom prst="rect">
            <a:avLst/>
          </a:prstGeom>
          <a:solidFill>
            <a:srgbClr val="3E5250"/>
          </a:solidFill>
          <a:ln w="12700">
            <a:solidFill>
              <a:srgbClr val="3E5250"/>
            </a:solidFill>
            <a:prstDash val="solid"/>
          </a:ln>
        </p:spPr>
      </p:sp>
      <p:sp>
        <p:nvSpPr>
          <p:cNvPr id="27" name="Text 24"/>
          <p:cNvSpPr txBox="1"/>
          <p:nvPr/>
        </p:nvSpPr>
        <p:spPr>
          <a:xfrm>
            <a:off x="502920" y="3065272"/>
            <a:ext cx="218658" cy="1899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lnSpc>
                <a:spcPct val="115000"/>
              </a:lnSpc>
              <a:buNone/>
            </a:pPr>
            <a:r>
              <a:rPr lang="en-US" sz="1000" b="1" dirty="0">
                <a:solidFill>
                  <a:srgbClr val="40E0D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9</a:t>
            </a:r>
            <a:endParaRPr lang="en-US" sz="1000" dirty="0"/>
          </a:p>
        </p:txBody>
      </p:sp>
      <p:sp>
        <p:nvSpPr>
          <p:cNvPr id="28" name="Text 25"/>
          <p:cNvSpPr txBox="1"/>
          <p:nvPr/>
        </p:nvSpPr>
        <p:spPr>
          <a:xfrm>
            <a:off x="842254" y="3065272"/>
            <a:ext cx="4790450" cy="1899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9D9D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count </a:t>
            </a:r>
            <a:pPr indent="0" marL="0">
              <a:buNone/>
            </a:pPr>
            <a:r>
              <a:rPr lang="en-US" sz="1100" dirty="0">
                <a:solidFill>
                  <a:srgbClr val="BDBDB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= </a:t>
            </a:r>
            <a:pPr indent="0" marL="0">
              <a:buNone/>
            </a:pPr>
            <a:r>
              <a:rPr lang="en-US" sz="1100" dirty="0">
                <a:solidFill>
                  <a:srgbClr val="D9D9D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count </a:t>
            </a:r>
            <a:pPr indent="0" marL="0">
              <a:buNone/>
            </a:pPr>
            <a:r>
              <a:rPr lang="en-US" sz="1100" dirty="0">
                <a:solidFill>
                  <a:srgbClr val="BDBDB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+ </a:t>
            </a:r>
            <a:pPr indent="0" marL="0">
              <a:buNone/>
            </a:pPr>
            <a:r>
              <a:rPr lang="en-US" sz="1100" dirty="0">
                <a:solidFill>
                  <a:srgbClr val="F7C87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1</a:t>
            </a:r>
            <a:pPr indent="0" marL="0">
              <a:buNone/>
            </a:pPr>
            <a:r>
              <a:rPr lang="en-US" sz="1100" dirty="0">
                <a:solidFill>
                  <a:srgbClr val="BDBDB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;           </a:t>
            </a:r>
            <a:pPr indent="0" marL="0">
              <a:buNone/>
            </a:pPr>
            <a:r>
              <a:rPr lang="en-US" sz="1100" i="1" dirty="0">
                <a:solidFill>
                  <a:srgbClr val="8E8E8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// 计数加 1</a:t>
            </a:r>
            <a:endParaRPr lang="en-US" sz="1100" dirty="0"/>
          </a:p>
        </p:txBody>
      </p:sp>
      <p:sp>
        <p:nvSpPr>
          <p:cNvPr id="29" name="Text 26"/>
          <p:cNvSpPr txBox="1"/>
          <p:nvPr/>
        </p:nvSpPr>
        <p:spPr>
          <a:xfrm>
            <a:off x="502920" y="3255264"/>
            <a:ext cx="218658" cy="1899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lnSpc>
                <a:spcPct val="115000"/>
              </a:lnSpc>
              <a:buNone/>
            </a:pPr>
            <a:r>
              <a:rPr lang="en-US" sz="1000" dirty="0">
                <a:solidFill>
                  <a:srgbClr val="7A7A7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10</a:t>
            </a:r>
            <a:endParaRPr lang="en-US" sz="1000" dirty="0"/>
          </a:p>
        </p:txBody>
      </p:sp>
      <p:sp>
        <p:nvSpPr>
          <p:cNvPr id="30" name="Text 27"/>
          <p:cNvSpPr txBox="1"/>
          <p:nvPr/>
        </p:nvSpPr>
        <p:spPr>
          <a:xfrm>
            <a:off x="842254" y="3255264"/>
            <a:ext cx="4790450" cy="1899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9D9D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</a:t>
            </a:r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Serial</a:t>
            </a:r>
            <a:pPr indent="0" marL="0">
              <a:buNone/>
            </a:pPr>
            <a:r>
              <a:rPr lang="en-US" sz="1100" dirty="0">
                <a:solidFill>
                  <a:srgbClr val="BDBDB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.</a:t>
            </a:r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print</a:t>
            </a:r>
            <a:pPr indent="0" marL="0">
              <a:buNone/>
            </a:pPr>
            <a:r>
              <a:rPr lang="en-US" sz="1100" dirty="0">
                <a:solidFill>
                  <a:srgbClr val="BDBDB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(</a:t>
            </a:r>
            <a:pPr indent="0" marL="0">
              <a:buNone/>
            </a:pPr>
            <a:r>
              <a:rPr lang="en-US" sz="1100" dirty="0">
                <a:solidFill>
                  <a:srgbClr val="F7C87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"第 "</a:t>
            </a:r>
            <a:pPr indent="0" marL="0">
              <a:buNone/>
            </a:pPr>
            <a:r>
              <a:rPr lang="en-US" sz="1100" dirty="0">
                <a:solidFill>
                  <a:srgbClr val="BDBDB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);</a:t>
            </a:r>
            <a:endParaRPr lang="en-US" sz="1100" dirty="0"/>
          </a:p>
        </p:txBody>
      </p:sp>
      <p:sp>
        <p:nvSpPr>
          <p:cNvPr id="31" name="Shape 28"/>
          <p:cNvSpPr/>
          <p:nvPr/>
        </p:nvSpPr>
        <p:spPr>
          <a:xfrm>
            <a:off x="457200" y="3445256"/>
            <a:ext cx="5257800" cy="189992"/>
          </a:xfrm>
          <a:prstGeom prst="rect">
            <a:avLst/>
          </a:prstGeom>
          <a:solidFill>
            <a:srgbClr val="3E5250"/>
          </a:solidFill>
          <a:ln w="12700">
            <a:solidFill>
              <a:srgbClr val="3E5250"/>
            </a:solidFill>
            <a:prstDash val="solid"/>
          </a:ln>
        </p:spPr>
      </p:sp>
      <p:sp>
        <p:nvSpPr>
          <p:cNvPr id="32" name="Text 29"/>
          <p:cNvSpPr txBox="1"/>
          <p:nvPr/>
        </p:nvSpPr>
        <p:spPr>
          <a:xfrm>
            <a:off x="502920" y="3445256"/>
            <a:ext cx="218658" cy="1899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lnSpc>
                <a:spcPct val="115000"/>
              </a:lnSpc>
              <a:buNone/>
            </a:pPr>
            <a:r>
              <a:rPr lang="en-US" sz="1000" b="1" dirty="0">
                <a:solidFill>
                  <a:srgbClr val="40E0D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11</a:t>
            </a:r>
            <a:endParaRPr lang="en-US" sz="1000" dirty="0"/>
          </a:p>
        </p:txBody>
      </p:sp>
      <p:sp>
        <p:nvSpPr>
          <p:cNvPr id="33" name="Text 30"/>
          <p:cNvSpPr txBox="1"/>
          <p:nvPr/>
        </p:nvSpPr>
        <p:spPr>
          <a:xfrm>
            <a:off x="842254" y="3445256"/>
            <a:ext cx="4790450" cy="1899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9D9D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</a:t>
            </a:r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Serial</a:t>
            </a:r>
            <a:pPr indent="0" marL="0">
              <a:buNone/>
            </a:pPr>
            <a:r>
              <a:rPr lang="en-US" sz="1100" dirty="0">
                <a:solidFill>
                  <a:srgbClr val="BDBDB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.</a:t>
            </a:r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print</a:t>
            </a:r>
            <a:pPr indent="0" marL="0">
              <a:buNone/>
            </a:pPr>
            <a:r>
              <a:rPr lang="en-US" sz="1100" dirty="0">
                <a:solidFill>
                  <a:srgbClr val="BDBDB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(</a:t>
            </a:r>
            <a:pPr indent="0" marL="0">
              <a:buNone/>
            </a:pPr>
            <a:r>
              <a:rPr lang="en-US" sz="1100" dirty="0">
                <a:solidFill>
                  <a:srgbClr val="D9D9D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count</a:t>
            </a:r>
            <a:pPr indent="0" marL="0">
              <a:buNone/>
            </a:pPr>
            <a:r>
              <a:rPr lang="en-US" sz="1100" dirty="0">
                <a:solidFill>
                  <a:srgbClr val="BDBDB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);         </a:t>
            </a:r>
            <a:pPr indent="0" marL="0">
              <a:buNone/>
            </a:pPr>
            <a:r>
              <a:rPr lang="en-US" sz="1100" i="1" dirty="0">
                <a:solidFill>
                  <a:srgbClr val="8E8E8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// 打印变量的值</a:t>
            </a:r>
            <a:endParaRPr lang="en-US" sz="1100" dirty="0"/>
          </a:p>
        </p:txBody>
      </p:sp>
      <p:sp>
        <p:nvSpPr>
          <p:cNvPr id="34" name="Shape 31"/>
          <p:cNvSpPr/>
          <p:nvPr/>
        </p:nvSpPr>
        <p:spPr>
          <a:xfrm>
            <a:off x="457200" y="3635248"/>
            <a:ext cx="5257800" cy="189992"/>
          </a:xfrm>
          <a:prstGeom prst="rect">
            <a:avLst/>
          </a:prstGeom>
          <a:solidFill>
            <a:srgbClr val="3E5250"/>
          </a:solidFill>
          <a:ln w="12700">
            <a:solidFill>
              <a:srgbClr val="3E5250"/>
            </a:solidFill>
            <a:prstDash val="solid"/>
          </a:ln>
        </p:spPr>
      </p:sp>
      <p:sp>
        <p:nvSpPr>
          <p:cNvPr id="35" name="Text 32"/>
          <p:cNvSpPr txBox="1"/>
          <p:nvPr/>
        </p:nvSpPr>
        <p:spPr>
          <a:xfrm>
            <a:off x="502920" y="3635248"/>
            <a:ext cx="218658" cy="1899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lnSpc>
                <a:spcPct val="115000"/>
              </a:lnSpc>
              <a:buNone/>
            </a:pPr>
            <a:r>
              <a:rPr lang="en-US" sz="1000" b="1" dirty="0">
                <a:solidFill>
                  <a:srgbClr val="40E0D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12</a:t>
            </a:r>
            <a:endParaRPr lang="en-US" sz="1000" dirty="0"/>
          </a:p>
        </p:txBody>
      </p:sp>
      <p:sp>
        <p:nvSpPr>
          <p:cNvPr id="36" name="Text 33"/>
          <p:cNvSpPr txBox="1"/>
          <p:nvPr/>
        </p:nvSpPr>
        <p:spPr>
          <a:xfrm>
            <a:off x="842254" y="3635248"/>
            <a:ext cx="4790450" cy="1899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9D9D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</a:t>
            </a:r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Serial</a:t>
            </a:r>
            <a:pPr indent="0" marL="0">
              <a:buNone/>
            </a:pPr>
            <a:r>
              <a:rPr lang="en-US" sz="1100" dirty="0">
                <a:solidFill>
                  <a:srgbClr val="BDBDB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.</a:t>
            </a:r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println</a:t>
            </a:r>
            <a:pPr indent="0" marL="0">
              <a:buNone/>
            </a:pPr>
            <a:r>
              <a:rPr lang="en-US" sz="1100" dirty="0">
                <a:solidFill>
                  <a:srgbClr val="BDBDB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(</a:t>
            </a:r>
            <a:pPr indent="0" marL="0">
              <a:buNone/>
            </a:pPr>
            <a:r>
              <a:rPr lang="en-US" sz="1100" dirty="0">
                <a:solidFill>
                  <a:srgbClr val="F7C87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" 次循环"</a:t>
            </a:r>
            <a:pPr indent="0" marL="0">
              <a:buNone/>
            </a:pPr>
            <a:r>
              <a:rPr lang="en-US" sz="1100" dirty="0">
                <a:solidFill>
                  <a:srgbClr val="BDBDB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);</a:t>
            </a:r>
            <a:endParaRPr lang="en-US" sz="1100" dirty="0"/>
          </a:p>
        </p:txBody>
      </p:sp>
      <p:sp>
        <p:nvSpPr>
          <p:cNvPr id="37" name="Text 34"/>
          <p:cNvSpPr txBox="1"/>
          <p:nvPr/>
        </p:nvSpPr>
        <p:spPr>
          <a:xfrm>
            <a:off x="502920" y="3825240"/>
            <a:ext cx="218658" cy="1899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lnSpc>
                <a:spcPct val="115000"/>
              </a:lnSpc>
              <a:buNone/>
            </a:pPr>
            <a:r>
              <a:rPr lang="en-US" sz="1000" dirty="0">
                <a:solidFill>
                  <a:srgbClr val="7A7A7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13</a:t>
            </a:r>
            <a:endParaRPr lang="en-US" sz="1000" dirty="0"/>
          </a:p>
        </p:txBody>
      </p:sp>
      <p:sp>
        <p:nvSpPr>
          <p:cNvPr id="38" name="Text 35"/>
          <p:cNvSpPr txBox="1"/>
          <p:nvPr/>
        </p:nvSpPr>
        <p:spPr>
          <a:xfrm>
            <a:off x="842254" y="3825240"/>
            <a:ext cx="4790450" cy="1899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9D9D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</a:t>
            </a:r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delay</a:t>
            </a:r>
            <a:pPr indent="0" marL="0">
              <a:buNone/>
            </a:pPr>
            <a:r>
              <a:rPr lang="en-US" sz="1100" dirty="0">
                <a:solidFill>
                  <a:srgbClr val="BDBDB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(</a:t>
            </a:r>
            <a:pPr indent="0" marL="0">
              <a:buNone/>
            </a:pPr>
            <a:r>
              <a:rPr lang="en-US" sz="1100" dirty="0">
                <a:solidFill>
                  <a:srgbClr val="F7C87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1000</a:t>
            </a:r>
            <a:pPr indent="0" marL="0">
              <a:buNone/>
            </a:pPr>
            <a:r>
              <a:rPr lang="en-US" sz="1100" dirty="0">
                <a:solidFill>
                  <a:srgbClr val="BDBDB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);                 </a:t>
            </a:r>
            <a:pPr indent="0" marL="0">
              <a:buNone/>
            </a:pPr>
            <a:r>
              <a:rPr lang="en-US" sz="1100" i="1" dirty="0">
                <a:solidFill>
                  <a:srgbClr val="8E8E8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// 等 1 秒</a:t>
            </a:r>
            <a:endParaRPr lang="en-US" sz="1100" dirty="0"/>
          </a:p>
        </p:txBody>
      </p:sp>
      <p:sp>
        <p:nvSpPr>
          <p:cNvPr id="39" name="Text 36"/>
          <p:cNvSpPr txBox="1"/>
          <p:nvPr/>
        </p:nvSpPr>
        <p:spPr>
          <a:xfrm>
            <a:off x="502920" y="4015232"/>
            <a:ext cx="218658" cy="1899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lnSpc>
                <a:spcPct val="115000"/>
              </a:lnSpc>
              <a:buNone/>
            </a:pPr>
            <a:r>
              <a:rPr lang="en-US" sz="1000" dirty="0">
                <a:solidFill>
                  <a:srgbClr val="7A7A7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14</a:t>
            </a:r>
            <a:endParaRPr lang="en-US" sz="1000" dirty="0"/>
          </a:p>
        </p:txBody>
      </p:sp>
      <p:sp>
        <p:nvSpPr>
          <p:cNvPr id="40" name="Text 37"/>
          <p:cNvSpPr txBox="1"/>
          <p:nvPr/>
        </p:nvSpPr>
        <p:spPr>
          <a:xfrm>
            <a:off x="842254" y="4015232"/>
            <a:ext cx="4790450" cy="1899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BDBDB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}</a:t>
            </a:r>
            <a:endParaRPr lang="en-US" sz="1100" dirty="0"/>
          </a:p>
        </p:txBody>
      </p:sp>
      <p:sp>
        <p:nvSpPr>
          <p:cNvPr id="41" name="Text 38"/>
          <p:cNvSpPr txBox="1"/>
          <p:nvPr/>
        </p:nvSpPr>
        <p:spPr>
          <a:xfrm>
            <a:off x="6035040" y="1234440"/>
            <a:ext cx="2697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1300" b="1" dirty="0">
                <a:solidFill>
                  <a:srgbClr val="2D2D2D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逐行看懂</a:t>
            </a:r>
            <a:endParaRPr lang="en-US" sz="1300" dirty="0"/>
          </a:p>
        </p:txBody>
      </p:sp>
      <p:sp>
        <p:nvSpPr>
          <p:cNvPr id="42" name="Shape 39"/>
          <p:cNvSpPr/>
          <p:nvPr/>
        </p:nvSpPr>
        <p:spPr>
          <a:xfrm>
            <a:off x="6035040" y="2100580"/>
            <a:ext cx="578612" cy="219456"/>
          </a:xfrm>
          <a:prstGeom prst="roundRect">
            <a:avLst>
              <a:gd name="adj" fmla="val 50000"/>
            </a:avLst>
          </a:prstGeom>
          <a:solidFill>
            <a:srgbClr val="40E0D0"/>
          </a:solidFill>
          <a:ln w="12700">
            <a:solidFill>
              <a:srgbClr val="40E0D0"/>
            </a:solidFill>
            <a:prstDash val="solid"/>
          </a:ln>
        </p:spPr>
      </p:sp>
      <p:sp>
        <p:nvSpPr>
          <p:cNvPr id="43" name="Text 40"/>
          <p:cNvSpPr txBox="1"/>
          <p:nvPr/>
        </p:nvSpPr>
        <p:spPr>
          <a:xfrm>
            <a:off x="6035040" y="2100580"/>
            <a:ext cx="578612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15000"/>
              </a:lnSpc>
              <a:buNone/>
            </a:pPr>
            <a:r>
              <a:rPr lang="en-US" sz="950" b="1" dirty="0">
                <a:solidFill>
                  <a:srgbClr val="2D2D2D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第 4 行</a:t>
            </a:r>
            <a:endParaRPr lang="en-US" sz="950" dirty="0"/>
          </a:p>
        </p:txBody>
      </p:sp>
      <p:sp>
        <p:nvSpPr>
          <p:cNvPr id="44" name="Text 41"/>
          <p:cNvSpPr txBox="1"/>
          <p:nvPr/>
        </p:nvSpPr>
        <p:spPr>
          <a:xfrm>
            <a:off x="6705092" y="2091436"/>
            <a:ext cx="202742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0000"/>
              </a:lnSpc>
              <a:buNone/>
            </a:pPr>
            <a:r>
              <a:rPr lang="en-US" sz="1200" dirty="0">
                <a:solidFill>
                  <a:srgbClr val="2D2D2D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在 setup() 里打开串口</a:t>
            </a:r>
            <a:endParaRPr lang="en-US" sz="1200" dirty="0"/>
          </a:p>
        </p:txBody>
      </p:sp>
      <p:sp>
        <p:nvSpPr>
          <p:cNvPr id="45" name="Shape 42"/>
          <p:cNvSpPr/>
          <p:nvPr/>
        </p:nvSpPr>
        <p:spPr>
          <a:xfrm>
            <a:off x="6035040" y="2448052"/>
            <a:ext cx="578612" cy="219456"/>
          </a:xfrm>
          <a:prstGeom prst="roundRect">
            <a:avLst>
              <a:gd name="adj" fmla="val 50000"/>
            </a:avLst>
          </a:prstGeom>
          <a:solidFill>
            <a:srgbClr val="40E0D0"/>
          </a:solidFill>
          <a:ln w="12700">
            <a:solidFill>
              <a:srgbClr val="40E0D0"/>
            </a:solidFill>
            <a:prstDash val="solid"/>
          </a:ln>
        </p:spPr>
      </p:sp>
      <p:sp>
        <p:nvSpPr>
          <p:cNvPr id="46" name="Text 43"/>
          <p:cNvSpPr txBox="1"/>
          <p:nvPr/>
        </p:nvSpPr>
        <p:spPr>
          <a:xfrm>
            <a:off x="6035040" y="2448052"/>
            <a:ext cx="578612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15000"/>
              </a:lnSpc>
              <a:buNone/>
            </a:pPr>
            <a:r>
              <a:rPr lang="en-US" sz="950" b="1" dirty="0">
                <a:solidFill>
                  <a:srgbClr val="2D2D2D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第 5 行</a:t>
            </a:r>
            <a:endParaRPr lang="en-US" sz="950" dirty="0"/>
          </a:p>
        </p:txBody>
      </p:sp>
      <p:sp>
        <p:nvSpPr>
          <p:cNvPr id="47" name="Text 44"/>
          <p:cNvSpPr txBox="1"/>
          <p:nvPr/>
        </p:nvSpPr>
        <p:spPr>
          <a:xfrm>
            <a:off x="6705092" y="2438908"/>
            <a:ext cx="202742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0000"/>
              </a:lnSpc>
              <a:buNone/>
            </a:pPr>
            <a:r>
              <a:rPr lang="en-US" sz="1200" dirty="0">
                <a:solidFill>
                  <a:srgbClr val="2D2D2D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开机先打印一行 Hello!</a:t>
            </a:r>
            <a:endParaRPr lang="en-US" sz="1200" dirty="0"/>
          </a:p>
        </p:txBody>
      </p:sp>
      <p:sp>
        <p:nvSpPr>
          <p:cNvPr id="48" name="Shape 45"/>
          <p:cNvSpPr/>
          <p:nvPr/>
        </p:nvSpPr>
        <p:spPr>
          <a:xfrm>
            <a:off x="6035040" y="3050540"/>
            <a:ext cx="578612" cy="219456"/>
          </a:xfrm>
          <a:prstGeom prst="roundRect">
            <a:avLst>
              <a:gd name="adj" fmla="val 50000"/>
            </a:avLst>
          </a:prstGeom>
          <a:solidFill>
            <a:srgbClr val="40E0D0"/>
          </a:solidFill>
          <a:ln w="12700">
            <a:solidFill>
              <a:srgbClr val="40E0D0"/>
            </a:solidFill>
            <a:prstDash val="solid"/>
          </a:ln>
        </p:spPr>
      </p:sp>
      <p:sp>
        <p:nvSpPr>
          <p:cNvPr id="49" name="Text 46"/>
          <p:cNvSpPr txBox="1"/>
          <p:nvPr/>
        </p:nvSpPr>
        <p:spPr>
          <a:xfrm>
            <a:off x="6035040" y="3050540"/>
            <a:ext cx="578612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15000"/>
              </a:lnSpc>
              <a:buNone/>
            </a:pPr>
            <a:r>
              <a:rPr lang="en-US" sz="950" b="1" dirty="0">
                <a:solidFill>
                  <a:srgbClr val="2D2D2D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第 9 行</a:t>
            </a:r>
            <a:endParaRPr lang="en-US" sz="950" dirty="0"/>
          </a:p>
        </p:txBody>
      </p:sp>
      <p:sp>
        <p:nvSpPr>
          <p:cNvPr id="50" name="Text 47"/>
          <p:cNvSpPr txBox="1"/>
          <p:nvPr/>
        </p:nvSpPr>
        <p:spPr>
          <a:xfrm>
            <a:off x="6705092" y="3041396"/>
            <a:ext cx="202742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0000"/>
              </a:lnSpc>
              <a:buNone/>
            </a:pPr>
            <a:r>
              <a:rPr lang="en-US" sz="1200" dirty="0">
                <a:solidFill>
                  <a:srgbClr val="2D2D2D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每循环一次，count 加 1</a:t>
            </a:r>
            <a:endParaRPr lang="en-US" sz="1200" dirty="0"/>
          </a:p>
        </p:txBody>
      </p:sp>
      <p:sp>
        <p:nvSpPr>
          <p:cNvPr id="51" name="Shape 48"/>
          <p:cNvSpPr/>
          <p:nvPr/>
        </p:nvSpPr>
        <p:spPr>
          <a:xfrm>
            <a:off x="6035040" y="3430524"/>
            <a:ext cx="655828" cy="219456"/>
          </a:xfrm>
          <a:prstGeom prst="roundRect">
            <a:avLst>
              <a:gd name="adj" fmla="val 50000"/>
            </a:avLst>
          </a:prstGeom>
          <a:solidFill>
            <a:srgbClr val="40E0D0"/>
          </a:solidFill>
          <a:ln w="12700">
            <a:solidFill>
              <a:srgbClr val="40E0D0"/>
            </a:solidFill>
            <a:prstDash val="solid"/>
          </a:ln>
        </p:spPr>
      </p:sp>
      <p:sp>
        <p:nvSpPr>
          <p:cNvPr id="52" name="Text 49"/>
          <p:cNvSpPr txBox="1"/>
          <p:nvPr/>
        </p:nvSpPr>
        <p:spPr>
          <a:xfrm>
            <a:off x="6035040" y="3430524"/>
            <a:ext cx="655828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15000"/>
              </a:lnSpc>
              <a:buNone/>
            </a:pPr>
            <a:r>
              <a:rPr lang="en-US" sz="950" b="1" dirty="0">
                <a:solidFill>
                  <a:srgbClr val="2D2D2D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第 11 行</a:t>
            </a:r>
            <a:endParaRPr lang="en-US" sz="950" dirty="0"/>
          </a:p>
        </p:txBody>
      </p:sp>
      <p:sp>
        <p:nvSpPr>
          <p:cNvPr id="53" name="Text 50"/>
          <p:cNvSpPr txBox="1"/>
          <p:nvPr/>
        </p:nvSpPr>
        <p:spPr>
          <a:xfrm>
            <a:off x="6782308" y="3421380"/>
            <a:ext cx="195021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0000"/>
              </a:lnSpc>
              <a:buNone/>
            </a:pPr>
            <a:r>
              <a:rPr lang="en-US" sz="1200" dirty="0">
                <a:solidFill>
                  <a:srgbClr val="2D2D2D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打印变量的值（数字）</a:t>
            </a:r>
            <a:endParaRPr lang="en-US" sz="1200" dirty="0"/>
          </a:p>
        </p:txBody>
      </p:sp>
      <p:sp>
        <p:nvSpPr>
          <p:cNvPr id="54" name="Shape 51"/>
          <p:cNvSpPr/>
          <p:nvPr/>
        </p:nvSpPr>
        <p:spPr>
          <a:xfrm>
            <a:off x="6035040" y="3777996"/>
            <a:ext cx="655828" cy="219456"/>
          </a:xfrm>
          <a:prstGeom prst="roundRect">
            <a:avLst>
              <a:gd name="adj" fmla="val 50000"/>
            </a:avLst>
          </a:prstGeom>
          <a:solidFill>
            <a:srgbClr val="40E0D0"/>
          </a:solidFill>
          <a:ln w="12700">
            <a:solidFill>
              <a:srgbClr val="40E0D0"/>
            </a:solidFill>
            <a:prstDash val="solid"/>
          </a:ln>
        </p:spPr>
      </p:sp>
      <p:sp>
        <p:nvSpPr>
          <p:cNvPr id="55" name="Text 52"/>
          <p:cNvSpPr txBox="1"/>
          <p:nvPr/>
        </p:nvSpPr>
        <p:spPr>
          <a:xfrm>
            <a:off x="6035040" y="3777996"/>
            <a:ext cx="655828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15000"/>
              </a:lnSpc>
              <a:buNone/>
            </a:pPr>
            <a:r>
              <a:rPr lang="en-US" sz="950" b="1" dirty="0">
                <a:solidFill>
                  <a:srgbClr val="2D2D2D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第 12 行</a:t>
            </a:r>
            <a:endParaRPr lang="en-US" sz="950" dirty="0"/>
          </a:p>
        </p:txBody>
      </p:sp>
      <p:sp>
        <p:nvSpPr>
          <p:cNvPr id="56" name="Text 53"/>
          <p:cNvSpPr txBox="1"/>
          <p:nvPr/>
        </p:nvSpPr>
        <p:spPr>
          <a:xfrm>
            <a:off x="6782308" y="3768852"/>
            <a:ext cx="195021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0000"/>
              </a:lnSpc>
              <a:buNone/>
            </a:pPr>
            <a:r>
              <a:rPr lang="en-US" sz="1200" dirty="0">
                <a:solidFill>
                  <a:srgbClr val="2D2D2D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println 打完才换行</a:t>
            </a:r>
            <a:endParaRPr lang="en-US" sz="12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339328" y="4736592"/>
            <a:ext cx="393192" cy="219456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 lIns="0" tIns="0" rIns="0" bIns="0" anchor="ctr"/>
          <a:lstStyle>
            <a:lvl1pPr>
              <a:defRPr sz="800">
                <a:solidFill>
                  <a:srgbClr val="6B6B6B"/>
                </a:solidFill>
                <a:latin typeface="微软雅黑"/>
                <a:ea typeface="微软雅黑"/>
                <a:cs typeface="微软雅黑"/>
              </a:defRPr>
            </a:lvl1pPr>
          </a:lstStyle>
          <a:p>
            <a:pPr algn="r"/>
            <a:fld id="{F7021451-1387-4CA6-816F-3879F97B5CBC}" type="slidenum">
              <a:rPr b="0" lang="en-US"/>
              <a:t>19</a:t>
            </a:fld>
            <a:endParaRPr lang="en-US"/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1"/>
          <p:cNvSpPr/>
          <p:nvPr>
            <p:ph idx="102" type="body" hasCustomPrompt="1"/>
          </p:nvPr>
        </p:nvSpPr>
        <p:spPr>
          <a:xfrm>
            <a:off x="4572000" y="4736592"/>
            <a:ext cx="370332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2D2D2D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和硬件对话</a:t>
            </a:r>
            <a:endParaRPr lang="en-US" sz="800" dirty="0"/>
          </a:p>
        </p:txBody>
      </p:sp>
      <p:sp>
        <p:nvSpPr>
          <p:cNvPr id="3" name="Text 1"/>
          <p:cNvSpPr/>
          <p:nvPr>
            <p:ph idx="103" type="title" hasCustomPrompt="1"/>
          </p:nvPr>
        </p:nvSpPr>
        <p:spPr>
          <a:xfrm>
            <a:off x="411480" y="274320"/>
            <a:ext cx="83210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400" dirty="0">
                <a:solidFill>
                  <a:srgbClr val="2D2D2D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运行结果：串口监视器里会看到什么</a:t>
            </a:r>
            <a:endParaRPr lang="en-US" sz="2400" dirty="0"/>
          </a:p>
        </p:txBody>
      </p:sp>
      <p:sp>
        <p:nvSpPr>
          <p:cNvPr id="4" name="Text 1"/>
          <p:cNvSpPr/>
          <p:nvPr>
            <p:ph idx="104" type="body" hasCustomPrompt="1"/>
          </p:nvPr>
        </p:nvSpPr>
        <p:spPr>
          <a:xfrm>
            <a:off x="411480" y="786384"/>
            <a:ext cx="83210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6B6B6B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print 不换行、println 打完才换行，所以三句话拼成了一行“第 1 次循环”。</a:t>
            </a:r>
            <a:endParaRPr lang="en-US" sz="1200" dirty="0"/>
          </a:p>
        </p:txBody>
      </p:sp>
      <p:sp>
        <p:nvSpPr>
          <p:cNvPr id="6" name="Shape 3"/>
          <p:cNvSpPr/>
          <p:nvPr/>
        </p:nvSpPr>
        <p:spPr>
          <a:xfrm>
            <a:off x="411480" y="1234440"/>
            <a:ext cx="3108960" cy="3337560"/>
          </a:xfrm>
          <a:prstGeom prst="roundRect">
            <a:avLst>
              <a:gd name="adj" fmla="val 2941"/>
            </a:avLst>
          </a:prstGeom>
          <a:solidFill>
            <a:srgbClr val="FFFFFF"/>
          </a:solidFill>
          <a:ln w="9525">
            <a:solidFill>
              <a:srgbClr val="E2E2E2"/>
            </a:solidFill>
            <a:prstDash val="solid"/>
          </a:ln>
        </p:spPr>
      </p:sp>
      <p:sp>
        <p:nvSpPr>
          <p:cNvPr id="7" name="Shape 4"/>
          <p:cNvSpPr/>
          <p:nvPr/>
        </p:nvSpPr>
        <p:spPr>
          <a:xfrm>
            <a:off x="420624" y="1243584"/>
            <a:ext cx="3090672" cy="292608"/>
          </a:xfrm>
          <a:prstGeom prst="rect">
            <a:avLst/>
          </a:prstGeom>
          <a:solidFill>
            <a:srgbClr val="F5F5F5"/>
          </a:solidFill>
          <a:ln w="12700">
            <a:solidFill>
              <a:srgbClr val="F5F5F5"/>
            </a:solidFill>
            <a:prstDash val="solid"/>
          </a:ln>
        </p:spPr>
      </p:sp>
      <p:sp>
        <p:nvSpPr>
          <p:cNvPr id="8" name="Text 5"/>
          <p:cNvSpPr txBox="1"/>
          <p:nvPr/>
        </p:nvSpPr>
        <p:spPr>
          <a:xfrm>
            <a:off x="539496" y="1261872"/>
            <a:ext cx="15544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1000" b="1" dirty="0">
                <a:solidFill>
                  <a:srgbClr val="2D2D2D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串口监视器</a:t>
            </a:r>
            <a:endParaRPr lang="en-US" sz="1000" dirty="0"/>
          </a:p>
        </p:txBody>
      </p:sp>
      <p:sp>
        <p:nvSpPr>
          <p:cNvPr id="9" name="Text 6"/>
          <p:cNvSpPr txBox="1"/>
          <p:nvPr/>
        </p:nvSpPr>
        <p:spPr>
          <a:xfrm>
            <a:off x="1965960" y="1261872"/>
            <a:ext cx="1426464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lnSpc>
                <a:spcPct val="115000"/>
              </a:lnSpc>
              <a:buNone/>
            </a:pPr>
            <a:r>
              <a:rPr lang="en-US" sz="1000" dirty="0">
                <a:solidFill>
                  <a:srgbClr val="6B6B6B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9600 波特率</a:t>
            </a:r>
            <a:endParaRPr lang="en-US" sz="1000" dirty="0"/>
          </a:p>
        </p:txBody>
      </p:sp>
      <p:sp>
        <p:nvSpPr>
          <p:cNvPr id="10" name="Text 7"/>
          <p:cNvSpPr txBox="1"/>
          <p:nvPr/>
        </p:nvSpPr>
        <p:spPr>
          <a:xfrm>
            <a:off x="557784" y="1618488"/>
            <a:ext cx="2834640" cy="2880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100" dirty="0">
                <a:solidFill>
                  <a:srgbClr val="2D2D2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Hello!</a:t>
            </a:r>
            <a:endParaRPr lang="en-US" sz="1100" dirty="0"/>
          </a:p>
          <a:p>
            <a:pPr algn="l" indent="0" marL="0">
              <a:lnSpc>
                <a:spcPct val="100000"/>
              </a:lnSpc>
              <a:buNone/>
            </a:pPr>
            <a:r>
              <a:rPr lang="en-US" sz="1100" dirty="0">
                <a:solidFill>
                  <a:srgbClr val="2D2D2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第 1 次循环</a:t>
            </a:r>
            <a:endParaRPr lang="en-US" sz="1100" dirty="0"/>
          </a:p>
          <a:p>
            <a:pPr algn="l" indent="0" marL="0">
              <a:lnSpc>
                <a:spcPct val="100000"/>
              </a:lnSpc>
              <a:buNone/>
            </a:pPr>
            <a:r>
              <a:rPr lang="en-US" sz="1100" dirty="0">
                <a:solidFill>
                  <a:srgbClr val="2D2D2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第 2 次循环</a:t>
            </a:r>
            <a:endParaRPr lang="en-US" sz="1100" dirty="0"/>
          </a:p>
          <a:p>
            <a:pPr algn="l" indent="0" marL="0">
              <a:lnSpc>
                <a:spcPct val="100000"/>
              </a:lnSpc>
              <a:buNone/>
            </a:pPr>
            <a:r>
              <a:rPr lang="en-US" sz="1100" dirty="0">
                <a:solidFill>
                  <a:srgbClr val="2D2D2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第 3 次循环</a:t>
            </a:r>
            <a:endParaRPr lang="en-US" sz="1100" dirty="0"/>
          </a:p>
          <a:p>
            <a:pPr algn="l" indent="0" marL="0">
              <a:lnSpc>
                <a:spcPct val="100000"/>
              </a:lnSpc>
              <a:buNone/>
            </a:pPr>
            <a:r>
              <a:rPr lang="en-US" sz="1100" dirty="0">
                <a:solidFill>
                  <a:srgbClr val="2D2D2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第 4 次循环</a:t>
            </a:r>
            <a:endParaRPr lang="en-US" sz="1100" dirty="0"/>
          </a:p>
          <a:p>
            <a:pPr algn="l" indent="0" marL="0">
              <a:lnSpc>
                <a:spcPct val="100000"/>
              </a:lnSpc>
              <a:buNone/>
            </a:pPr>
            <a:r>
              <a:rPr lang="en-US" sz="1100" dirty="0">
                <a:solidFill>
                  <a:srgbClr val="2D2D2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第 5 次循环</a:t>
            </a:r>
            <a:endParaRPr lang="en-US" sz="1100" dirty="0"/>
          </a:p>
          <a:p>
            <a:pPr algn="l" indent="0" marL="0">
              <a:lnSpc>
                <a:spcPct val="100000"/>
              </a:lnSpc>
              <a:buNone/>
            </a:pPr>
            <a:r>
              <a:rPr lang="en-US" sz="1100" dirty="0">
                <a:solidFill>
                  <a:srgbClr val="2D2D2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第 6 次循环</a:t>
            </a:r>
            <a:endParaRPr lang="en-US" sz="1100" dirty="0"/>
          </a:p>
          <a:p>
            <a:pPr algn="l" indent="0" marL="0">
              <a:lnSpc>
                <a:spcPct val="100000"/>
              </a:lnSpc>
              <a:buNone/>
            </a:pPr>
            <a:r>
              <a:rPr lang="en-US" sz="1100" dirty="0">
                <a:solidFill>
                  <a:srgbClr val="2D2D2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第 7 次循环</a:t>
            </a:r>
            <a:endParaRPr lang="en-US" sz="1100" dirty="0"/>
          </a:p>
          <a:p>
            <a:pPr algn="l" indent="0" marL="0">
              <a:lnSpc>
                <a:spcPct val="100000"/>
              </a:lnSpc>
              <a:buNone/>
            </a:pPr>
            <a:r>
              <a:rPr lang="en-US" sz="1100" dirty="0">
                <a:solidFill>
                  <a:srgbClr val="2D2D2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第 8 次循环</a:t>
            </a:r>
            <a:endParaRPr lang="en-US" sz="1100" dirty="0"/>
          </a:p>
          <a:p>
            <a:pPr algn="l" indent="0" marL="0">
              <a:lnSpc>
                <a:spcPct val="100000"/>
              </a:lnSpc>
              <a:buNone/>
            </a:pPr>
            <a:r>
              <a:rPr lang="en-US" sz="1100" dirty="0">
                <a:solidFill>
                  <a:srgbClr val="2D2D2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第 9 次循环</a:t>
            </a:r>
            <a:endParaRPr lang="en-US" sz="1100" dirty="0"/>
          </a:p>
          <a:p>
            <a:pPr algn="l" indent="0" marL="0">
              <a:lnSpc>
                <a:spcPct val="100000"/>
              </a:lnSpc>
              <a:buNone/>
            </a:pPr>
            <a:r>
              <a:rPr lang="en-US" sz="1100" dirty="0">
                <a:solidFill>
                  <a:srgbClr val="2D2D2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第 10 次循环</a:t>
            </a:r>
            <a:endParaRPr lang="en-US" sz="1100" dirty="0"/>
          </a:p>
        </p:txBody>
      </p:sp>
      <p:sp>
        <p:nvSpPr>
          <p:cNvPr id="11" name="Shape 8"/>
          <p:cNvSpPr/>
          <p:nvPr/>
        </p:nvSpPr>
        <p:spPr>
          <a:xfrm>
            <a:off x="3794760" y="1234440"/>
            <a:ext cx="4937760" cy="1783080"/>
          </a:xfrm>
          <a:prstGeom prst="roundRect">
            <a:avLst>
              <a:gd name="adj" fmla="val 6154"/>
            </a:avLst>
          </a:prstGeom>
          <a:solidFill>
            <a:srgbClr val="F5F5F5"/>
          </a:solidFill>
          <a:ln w="12700">
            <a:solidFill>
              <a:srgbClr val="F5F5F5"/>
            </a:solidFill>
            <a:prstDash val="solid"/>
          </a:ln>
        </p:spPr>
      </p:sp>
      <p:sp>
        <p:nvSpPr>
          <p:cNvPr id="12" name="Text 9"/>
          <p:cNvSpPr txBox="1"/>
          <p:nvPr/>
        </p:nvSpPr>
        <p:spPr>
          <a:xfrm>
            <a:off x="3977640" y="1344168"/>
            <a:ext cx="27432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1400" b="1" dirty="0">
                <a:solidFill>
                  <a:srgbClr val="2D2D2D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三句 print，拼成一行</a:t>
            </a:r>
            <a:endParaRPr lang="en-US" sz="1400" dirty="0"/>
          </a:p>
        </p:txBody>
      </p:sp>
      <p:sp>
        <p:nvSpPr>
          <p:cNvPr id="13" name="Shape 10"/>
          <p:cNvSpPr/>
          <p:nvPr/>
        </p:nvSpPr>
        <p:spPr>
          <a:xfrm>
            <a:off x="3977640" y="1709928"/>
            <a:ext cx="2423160" cy="274320"/>
          </a:xfrm>
          <a:prstGeom prst="roundRect">
            <a:avLst>
              <a:gd name="adj" fmla="val 26667"/>
            </a:avLst>
          </a:prstGeom>
          <a:solidFill>
            <a:srgbClr val="2D2D2D"/>
          </a:solidFill>
          <a:ln w="12700">
            <a:solidFill>
              <a:srgbClr val="2D2D2D"/>
            </a:solidFill>
            <a:prstDash val="solid"/>
          </a:ln>
        </p:spPr>
      </p:sp>
      <p:sp>
        <p:nvSpPr>
          <p:cNvPr id="14" name="Text 11"/>
          <p:cNvSpPr txBox="1"/>
          <p:nvPr/>
        </p:nvSpPr>
        <p:spPr>
          <a:xfrm>
            <a:off x="4069080" y="1709928"/>
            <a:ext cx="2240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000" b="1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Serial</a:t>
            </a:r>
            <a:pPr algn="l" indent="0" marL="0">
              <a:lnSpc>
                <a:spcPct val="100000"/>
              </a:lnSpc>
              <a:buNone/>
            </a:pPr>
            <a:r>
              <a:rPr lang="en-US" sz="1000" dirty="0">
                <a:solidFill>
                  <a:srgbClr val="BDBDB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.</a:t>
            </a:r>
            <a:pPr algn="l" indent="0" marL="0">
              <a:lnSpc>
                <a:spcPct val="100000"/>
              </a:lnSpc>
              <a:buNone/>
            </a:pPr>
            <a:r>
              <a:rPr lang="en-US" sz="1000" b="1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print</a:t>
            </a:r>
            <a:pPr algn="l" indent="0" marL="0">
              <a:lnSpc>
                <a:spcPct val="100000"/>
              </a:lnSpc>
              <a:buNone/>
            </a:pPr>
            <a:r>
              <a:rPr lang="en-US" sz="1000" dirty="0">
                <a:solidFill>
                  <a:srgbClr val="BDBDB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(</a:t>
            </a:r>
            <a:pPr algn="l" indent="0" marL="0">
              <a:lnSpc>
                <a:spcPct val="100000"/>
              </a:lnSpc>
              <a:buNone/>
            </a:pPr>
            <a:r>
              <a:rPr lang="en-US" sz="1000" dirty="0">
                <a:solidFill>
                  <a:srgbClr val="F7C87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"第 "</a:t>
            </a:r>
            <a:pPr algn="l" indent="0" marL="0">
              <a:lnSpc>
                <a:spcPct val="100000"/>
              </a:lnSpc>
              <a:buNone/>
            </a:pPr>
            <a:r>
              <a:rPr lang="en-US" sz="1000" dirty="0">
                <a:solidFill>
                  <a:srgbClr val="BDBDB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);</a:t>
            </a:r>
            <a:endParaRPr lang="en-US" sz="1000" dirty="0"/>
          </a:p>
        </p:txBody>
      </p:sp>
      <p:sp>
        <p:nvSpPr>
          <p:cNvPr id="15" name="Shape 12"/>
          <p:cNvSpPr/>
          <p:nvPr/>
        </p:nvSpPr>
        <p:spPr>
          <a:xfrm>
            <a:off x="6464808" y="1847088"/>
            <a:ext cx="292608" cy="201168"/>
          </a:xfrm>
          <a:prstGeom prst="line">
            <a:avLst/>
          </a:prstGeom>
          <a:noFill/>
          <a:ln w="15875">
            <a:solidFill>
              <a:srgbClr val="6B6B6B"/>
            </a:solidFill>
            <a:prstDash val="solid"/>
            <a:tailEnd type="triangle"/>
          </a:ln>
        </p:spPr>
      </p:sp>
      <p:sp>
        <p:nvSpPr>
          <p:cNvPr id="16" name="Shape 13"/>
          <p:cNvSpPr/>
          <p:nvPr/>
        </p:nvSpPr>
        <p:spPr>
          <a:xfrm>
            <a:off x="3977640" y="2039112"/>
            <a:ext cx="2423160" cy="274320"/>
          </a:xfrm>
          <a:prstGeom prst="roundRect">
            <a:avLst>
              <a:gd name="adj" fmla="val 26667"/>
            </a:avLst>
          </a:prstGeom>
          <a:solidFill>
            <a:srgbClr val="2D2D2D"/>
          </a:solidFill>
          <a:ln w="12700">
            <a:solidFill>
              <a:srgbClr val="2D2D2D"/>
            </a:solidFill>
            <a:prstDash val="solid"/>
          </a:ln>
        </p:spPr>
      </p:sp>
      <p:sp>
        <p:nvSpPr>
          <p:cNvPr id="17" name="Text 14"/>
          <p:cNvSpPr txBox="1"/>
          <p:nvPr/>
        </p:nvSpPr>
        <p:spPr>
          <a:xfrm>
            <a:off x="4069080" y="2039112"/>
            <a:ext cx="2240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000" b="1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Serial</a:t>
            </a:r>
            <a:pPr algn="l" indent="0" marL="0">
              <a:lnSpc>
                <a:spcPct val="100000"/>
              </a:lnSpc>
              <a:buNone/>
            </a:pPr>
            <a:r>
              <a:rPr lang="en-US" sz="1000" dirty="0">
                <a:solidFill>
                  <a:srgbClr val="BDBDB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.</a:t>
            </a:r>
            <a:pPr algn="l" indent="0" marL="0">
              <a:lnSpc>
                <a:spcPct val="100000"/>
              </a:lnSpc>
              <a:buNone/>
            </a:pPr>
            <a:r>
              <a:rPr lang="en-US" sz="1000" b="1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print</a:t>
            </a:r>
            <a:pPr algn="l" indent="0" marL="0">
              <a:lnSpc>
                <a:spcPct val="100000"/>
              </a:lnSpc>
              <a:buNone/>
            </a:pPr>
            <a:r>
              <a:rPr lang="en-US" sz="1000" dirty="0">
                <a:solidFill>
                  <a:srgbClr val="BDBDB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(</a:t>
            </a:r>
            <a:pPr algn="l" indent="0" marL="0">
              <a:lnSpc>
                <a:spcPct val="100000"/>
              </a:lnSpc>
              <a:buNone/>
            </a:pPr>
            <a:r>
              <a:rPr lang="en-US" sz="1000" dirty="0">
                <a:solidFill>
                  <a:srgbClr val="D9D9D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count</a:t>
            </a:r>
            <a:pPr algn="l" indent="0" marL="0">
              <a:lnSpc>
                <a:spcPct val="100000"/>
              </a:lnSpc>
              <a:buNone/>
            </a:pPr>
            <a:r>
              <a:rPr lang="en-US" sz="1000" dirty="0">
                <a:solidFill>
                  <a:srgbClr val="BDBDB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);</a:t>
            </a:r>
            <a:endParaRPr lang="en-US" sz="1000" dirty="0"/>
          </a:p>
        </p:txBody>
      </p:sp>
      <p:sp>
        <p:nvSpPr>
          <p:cNvPr id="18" name="Shape 15"/>
          <p:cNvSpPr/>
          <p:nvPr/>
        </p:nvSpPr>
        <p:spPr>
          <a:xfrm flipV="1">
            <a:off x="6464808" y="2048256"/>
            <a:ext cx="292608" cy="128016"/>
          </a:xfrm>
          <a:prstGeom prst="line">
            <a:avLst/>
          </a:prstGeom>
          <a:noFill/>
          <a:ln w="15875">
            <a:solidFill>
              <a:srgbClr val="6B6B6B"/>
            </a:solidFill>
            <a:prstDash val="solid"/>
            <a:tailEnd type="triangle"/>
          </a:ln>
        </p:spPr>
      </p:sp>
      <p:sp>
        <p:nvSpPr>
          <p:cNvPr id="19" name="Shape 16"/>
          <p:cNvSpPr/>
          <p:nvPr/>
        </p:nvSpPr>
        <p:spPr>
          <a:xfrm>
            <a:off x="3977640" y="2368296"/>
            <a:ext cx="2423160" cy="274320"/>
          </a:xfrm>
          <a:prstGeom prst="roundRect">
            <a:avLst>
              <a:gd name="adj" fmla="val 26667"/>
            </a:avLst>
          </a:prstGeom>
          <a:solidFill>
            <a:srgbClr val="2D2D2D"/>
          </a:solidFill>
          <a:ln w="12700">
            <a:solidFill>
              <a:srgbClr val="2D2D2D"/>
            </a:solidFill>
            <a:prstDash val="solid"/>
          </a:ln>
        </p:spPr>
      </p:sp>
      <p:sp>
        <p:nvSpPr>
          <p:cNvPr id="20" name="Text 17"/>
          <p:cNvSpPr txBox="1"/>
          <p:nvPr/>
        </p:nvSpPr>
        <p:spPr>
          <a:xfrm>
            <a:off x="4069080" y="2368296"/>
            <a:ext cx="2240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000" b="1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Serial</a:t>
            </a:r>
            <a:pPr algn="l" indent="0" marL="0">
              <a:lnSpc>
                <a:spcPct val="100000"/>
              </a:lnSpc>
              <a:buNone/>
            </a:pPr>
            <a:r>
              <a:rPr lang="en-US" sz="1000" dirty="0">
                <a:solidFill>
                  <a:srgbClr val="BDBDB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.</a:t>
            </a:r>
            <a:pPr algn="l" indent="0" marL="0">
              <a:lnSpc>
                <a:spcPct val="100000"/>
              </a:lnSpc>
              <a:buNone/>
            </a:pPr>
            <a:r>
              <a:rPr lang="en-US" sz="1000" b="1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println</a:t>
            </a:r>
            <a:pPr algn="l" indent="0" marL="0">
              <a:lnSpc>
                <a:spcPct val="100000"/>
              </a:lnSpc>
              <a:buNone/>
            </a:pPr>
            <a:r>
              <a:rPr lang="en-US" sz="1000" dirty="0">
                <a:solidFill>
                  <a:srgbClr val="BDBDB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(</a:t>
            </a:r>
            <a:pPr algn="l" indent="0" marL="0">
              <a:lnSpc>
                <a:spcPct val="100000"/>
              </a:lnSpc>
              <a:buNone/>
            </a:pPr>
            <a:r>
              <a:rPr lang="en-US" sz="1000" dirty="0">
                <a:solidFill>
                  <a:srgbClr val="F7C87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" 次循环"</a:t>
            </a:r>
            <a:pPr algn="l" indent="0" marL="0">
              <a:lnSpc>
                <a:spcPct val="100000"/>
              </a:lnSpc>
              <a:buNone/>
            </a:pPr>
            <a:r>
              <a:rPr lang="en-US" sz="1000" dirty="0">
                <a:solidFill>
                  <a:srgbClr val="BDBDB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);</a:t>
            </a:r>
            <a:endParaRPr lang="en-US" sz="1000" dirty="0"/>
          </a:p>
        </p:txBody>
      </p:sp>
      <p:sp>
        <p:nvSpPr>
          <p:cNvPr id="21" name="Shape 18"/>
          <p:cNvSpPr/>
          <p:nvPr/>
        </p:nvSpPr>
        <p:spPr>
          <a:xfrm flipV="1">
            <a:off x="6464808" y="2048256"/>
            <a:ext cx="292608" cy="457200"/>
          </a:xfrm>
          <a:prstGeom prst="line">
            <a:avLst/>
          </a:prstGeom>
          <a:noFill/>
          <a:ln w="15875">
            <a:solidFill>
              <a:srgbClr val="6B6B6B"/>
            </a:solidFill>
            <a:prstDash val="solid"/>
            <a:tailEnd type="triangle"/>
          </a:ln>
        </p:spPr>
      </p:sp>
      <p:sp>
        <p:nvSpPr>
          <p:cNvPr id="22" name="Shape 19"/>
          <p:cNvSpPr/>
          <p:nvPr/>
        </p:nvSpPr>
        <p:spPr>
          <a:xfrm>
            <a:off x="6812280" y="1719072"/>
            <a:ext cx="1737360" cy="658368"/>
          </a:xfrm>
          <a:prstGeom prst="roundRect">
            <a:avLst>
              <a:gd name="adj" fmla="val 16667"/>
            </a:avLst>
          </a:prstGeom>
          <a:solidFill>
            <a:srgbClr val="FFFFFF"/>
          </a:solidFill>
          <a:ln w="9525">
            <a:solidFill>
              <a:srgbClr val="E2E2E2"/>
            </a:solidFill>
            <a:prstDash val="solid"/>
          </a:ln>
        </p:spPr>
      </p:sp>
      <p:sp>
        <p:nvSpPr>
          <p:cNvPr id="23" name="Text 20"/>
          <p:cNvSpPr txBox="1"/>
          <p:nvPr/>
        </p:nvSpPr>
        <p:spPr>
          <a:xfrm>
            <a:off x="6922008" y="1755648"/>
            <a:ext cx="151790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1400" b="1" dirty="0">
                <a:solidFill>
                  <a:srgbClr val="2D2D2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第 1 次循环</a:t>
            </a:r>
            <a:endParaRPr lang="en-US" sz="1400" dirty="0"/>
          </a:p>
        </p:txBody>
      </p:sp>
      <p:sp>
        <p:nvSpPr>
          <p:cNvPr id="24" name="Text 21"/>
          <p:cNvSpPr txBox="1"/>
          <p:nvPr/>
        </p:nvSpPr>
        <p:spPr>
          <a:xfrm>
            <a:off x="6922008" y="2103120"/>
            <a:ext cx="1517904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1000" b="1" dirty="0">
                <a:solidFill>
                  <a:srgbClr val="1A9E92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↵ 最后一句换行</a:t>
            </a:r>
            <a:endParaRPr lang="en-US" sz="1000" dirty="0"/>
          </a:p>
        </p:txBody>
      </p:sp>
      <p:sp>
        <p:nvSpPr>
          <p:cNvPr id="25" name="Text 22"/>
          <p:cNvSpPr txBox="1"/>
          <p:nvPr/>
        </p:nvSpPr>
        <p:spPr>
          <a:xfrm>
            <a:off x="3977640" y="2715768"/>
            <a:ext cx="45720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1200" dirty="0">
                <a:solidFill>
                  <a:srgbClr val="6B6B6B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Hello! 只在 setup() 里打印一次，所以只出现一行</a:t>
            </a:r>
            <a:endParaRPr lang="en-US" sz="1200" dirty="0"/>
          </a:p>
        </p:txBody>
      </p:sp>
      <p:sp>
        <p:nvSpPr>
          <p:cNvPr id="26" name="Shape 23"/>
          <p:cNvSpPr/>
          <p:nvPr/>
        </p:nvSpPr>
        <p:spPr>
          <a:xfrm>
            <a:off x="3794760" y="3291840"/>
            <a:ext cx="4937760" cy="1280160"/>
          </a:xfrm>
          <a:prstGeom prst="roundRect">
            <a:avLst>
              <a:gd name="adj" fmla="val 8571"/>
            </a:avLst>
          </a:prstGeom>
          <a:solidFill>
            <a:srgbClr val="E3FAF7"/>
          </a:solidFill>
          <a:ln w="12700">
            <a:solidFill>
              <a:srgbClr val="E3FAF7"/>
            </a:solidFill>
            <a:prstDash val="solid"/>
          </a:ln>
        </p:spPr>
      </p:sp>
      <p:sp>
        <p:nvSpPr>
          <p:cNvPr id="27" name="Shape 24"/>
          <p:cNvSpPr/>
          <p:nvPr/>
        </p:nvSpPr>
        <p:spPr>
          <a:xfrm>
            <a:off x="3941064" y="3438144"/>
            <a:ext cx="329184" cy="329184"/>
          </a:xfrm>
          <a:prstGeom prst="ellipse">
            <a:avLst/>
          </a:prstGeom>
          <a:solidFill>
            <a:srgbClr val="40E0D0"/>
          </a:solidFill>
          <a:ln w="12700">
            <a:solidFill>
              <a:srgbClr val="40E0D0"/>
            </a:solidFill>
            <a:prstDash val="solid"/>
          </a:ln>
        </p:spPr>
      </p:sp>
      <p:pic>
        <p:nvPicPr>
          <p:cNvPr id="28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020068" y="3517148"/>
            <a:ext cx="171176" cy="171176"/>
          </a:xfrm>
          <a:prstGeom prst="rect">
            <a:avLst/>
          </a:prstGeom>
        </p:spPr>
      </p:pic>
      <p:sp>
        <p:nvSpPr>
          <p:cNvPr id="29" name="Text 25"/>
          <p:cNvSpPr txBox="1"/>
          <p:nvPr/>
        </p:nvSpPr>
        <p:spPr>
          <a:xfrm>
            <a:off x="4398264" y="3429000"/>
            <a:ext cx="418795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1300" b="1" dirty="0">
                <a:solidFill>
                  <a:srgbClr val="2D2D2D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动手试一试</a:t>
            </a:r>
            <a:endParaRPr lang="en-US" sz="1300" dirty="0"/>
          </a:p>
        </p:txBody>
      </p:sp>
      <p:sp>
        <p:nvSpPr>
          <p:cNvPr id="30" name="Text 26"/>
          <p:cNvSpPr txBox="1"/>
          <p:nvPr/>
        </p:nvSpPr>
        <p:spPr>
          <a:xfrm>
            <a:off x="4398264" y="3739896"/>
            <a:ext cx="4187952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1200" dirty="0">
                <a:solidFill>
                  <a:srgbClr val="2D2D2D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① 把 delay(1000) 改成 delay(200)：计数变快了</a:t>
            </a:r>
            <a:endParaRPr lang="en-US" sz="1200" dirty="0"/>
          </a:p>
          <a:p>
            <a:pPr algn="l" indent="0" marL="0">
              <a:lnSpc>
                <a:spcPct val="115000"/>
              </a:lnSpc>
              <a:buNone/>
            </a:pPr>
            <a:r>
              <a:rPr lang="en-US" sz="1200" dirty="0">
                <a:solidFill>
                  <a:srgbClr val="2D2D2D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② 把第 12 行的 println 改成 print：计数全挤在一行</a:t>
            </a:r>
            <a:endParaRPr lang="en-US" sz="1200" dirty="0"/>
          </a:p>
          <a:p>
            <a:pPr algn="l" indent="0" marL="0">
              <a:lnSpc>
                <a:spcPct val="115000"/>
              </a:lnSpc>
              <a:buNone/>
            </a:pPr>
            <a:r>
              <a:rPr lang="en-US" sz="1200" dirty="0">
                <a:solidFill>
                  <a:srgbClr val="2D2D2D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③ 把 9600 改成 115200，监视器不改：出现乱码</a:t>
            </a:r>
            <a:endParaRPr lang="en-US" sz="12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339328" y="4736592"/>
            <a:ext cx="393192" cy="219456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 lIns="0" tIns="0" rIns="0" bIns="0" anchor="ctr"/>
          <a:lstStyle>
            <a:lvl1pPr>
              <a:defRPr sz="800">
                <a:solidFill>
                  <a:srgbClr val="6B6B6B"/>
                </a:solidFill>
                <a:latin typeface="微软雅黑"/>
                <a:ea typeface="微软雅黑"/>
                <a:cs typeface="微软雅黑"/>
              </a:defRPr>
            </a:lvl1pPr>
          </a:lstStyle>
          <a:p>
            <a:pPr algn="r"/>
            <a:fld id="{F7021451-1387-4CA6-816F-3879F97B5CBC}" type="slidenum">
              <a:rPr b="0" lang="en-US"/>
              <a:t>20</a:t>
            </a:fld>
            <a:endParaRPr lang="en-US"/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1"/>
          <p:cNvSpPr/>
          <p:nvPr>
            <p:ph idx="102" type="body" hasCustomPrompt="1"/>
          </p:nvPr>
        </p:nvSpPr>
        <p:spPr>
          <a:xfrm>
            <a:off x="4572000" y="4736592"/>
            <a:ext cx="370332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2D2D2D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让程序会做决定</a:t>
            </a:r>
            <a:endParaRPr lang="en-US" sz="800" dirty="0"/>
          </a:p>
        </p:txBody>
      </p:sp>
      <p:sp>
        <p:nvSpPr>
          <p:cNvPr id="3" name="Text 1"/>
          <p:cNvSpPr/>
          <p:nvPr>
            <p:ph idx="103" type="body" hasCustomPrompt="1"/>
          </p:nvPr>
        </p:nvSpPr>
        <p:spPr>
          <a:xfrm>
            <a:off x="411480" y="384048"/>
            <a:ext cx="3383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B6B6B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第 4 站</a:t>
            </a:r>
            <a:endParaRPr lang="en-US" sz="1100" dirty="0"/>
          </a:p>
        </p:txBody>
      </p:sp>
      <p:sp>
        <p:nvSpPr>
          <p:cNvPr id="4" name="Text 1"/>
          <p:cNvSpPr/>
          <p:nvPr>
            <p:ph idx="104" type="title" hasCustomPrompt="1"/>
          </p:nvPr>
        </p:nvSpPr>
        <p:spPr>
          <a:xfrm>
            <a:off x="411480" y="713232"/>
            <a:ext cx="338328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800" dirty="0">
                <a:solidFill>
                  <a:srgbClr val="2D2D2D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让程序会做决定</a:t>
            </a:r>
            <a:endParaRPr lang="en-US" sz="2800" dirty="0"/>
          </a:p>
        </p:txBody>
      </p:sp>
      <p:sp>
        <p:nvSpPr>
          <p:cNvPr id="5" name="Text 1"/>
          <p:cNvSpPr/>
          <p:nvPr>
            <p:ph idx="105" type="body" hasCustomPrompt="1"/>
          </p:nvPr>
        </p:nvSpPr>
        <p:spPr>
          <a:xfrm>
            <a:off x="411480" y="1874520"/>
            <a:ext cx="3246120" cy="23774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30000"/>
              </a:lnSpc>
              <a:buNone/>
            </a:pPr>
            <a:r>
              <a:rPr lang="en-US" sz="1200" dirty="0">
                <a:solidFill>
                  <a:srgbClr val="2D2D2D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到这里，程序还只会从头到尾照做。</a:t>
            </a:r>
            <a:endParaRPr lang="en-US" sz="1200" dirty="0"/>
          </a:p>
          <a:p>
            <a:pPr indent="0" marL="0">
              <a:lnSpc>
                <a:spcPct val="130000"/>
              </a:lnSpc>
              <a:buNone/>
            </a:pPr>
            <a:r>
              <a:rPr lang="en-US" sz="1200" dirty="0">
                <a:solidFill>
                  <a:srgbClr val="2D2D2D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这一站教它“看情况做事”（if / else）</a:t>
            </a:r>
            <a:endParaRPr lang="en-US" sz="1200" dirty="0"/>
          </a:p>
          <a:p>
            <a:pPr indent="0" marL="0">
              <a:lnSpc>
                <a:spcPct val="130000"/>
              </a:lnSpc>
              <a:buNone/>
            </a:pPr>
            <a:r>
              <a:rPr lang="en-US" sz="1200" dirty="0">
                <a:solidFill>
                  <a:srgbClr val="2D2D2D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和“重复做事”（for / while）。</a:t>
            </a:r>
            <a:endParaRPr lang="en-US" sz="1200" dirty="0"/>
          </a:p>
          <a:p>
            <a:pPr indent="0" marL="0">
              <a:lnSpc>
                <a:spcPct val="130000"/>
              </a:lnSpc>
              <a:buNone/>
            </a:pPr>
            <a:r>
              <a:rPr lang="en-US" sz="1200" dirty="0">
                <a:solidFill>
                  <a:srgbClr val="2D2D2D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几乎所有交互作品都离不开这两样。</a:t>
            </a:r>
            <a:endParaRPr lang="en-US" sz="1200" dirty="0"/>
          </a:p>
        </p:txBody>
      </p:sp>
      <p:sp>
        <p:nvSpPr>
          <p:cNvPr id="6" name="Shape 4"/>
          <p:cNvSpPr/>
          <p:nvPr/>
        </p:nvSpPr>
        <p:spPr>
          <a:xfrm>
            <a:off x="4160520" y="347472"/>
            <a:ext cx="2286000" cy="2112264"/>
          </a:xfrm>
          <a:prstGeom prst="rect">
            <a:avLst/>
          </a:prstGeom>
          <a:solidFill>
            <a:srgbClr val="40E0D0"/>
          </a:solidFill>
          <a:ln w="9525">
            <a:solidFill>
              <a:srgbClr val="E2E2E2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4361688" y="512064"/>
            <a:ext cx="1883664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3000" b="1" dirty="0">
                <a:solidFill>
                  <a:srgbClr val="2D2D2D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01</a:t>
            </a:r>
            <a:endParaRPr lang="en-US" sz="3000" dirty="0"/>
          </a:p>
        </p:txBody>
      </p:sp>
      <p:sp>
        <p:nvSpPr>
          <p:cNvPr id="8" name="Text 6"/>
          <p:cNvSpPr txBox="1"/>
          <p:nvPr/>
        </p:nvSpPr>
        <p:spPr>
          <a:xfrm>
            <a:off x="4361688" y="1389888"/>
            <a:ext cx="1883664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1600" b="1" dirty="0">
                <a:solidFill>
                  <a:srgbClr val="2D2D2D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if / else</a:t>
            </a:r>
            <a:endParaRPr lang="en-US" sz="1600" dirty="0"/>
          </a:p>
        </p:txBody>
      </p:sp>
      <p:sp>
        <p:nvSpPr>
          <p:cNvPr id="9" name="Text 7"/>
          <p:cNvSpPr txBox="1"/>
          <p:nvPr/>
        </p:nvSpPr>
        <p:spPr>
          <a:xfrm>
            <a:off x="4361688" y="1801368"/>
            <a:ext cx="1883664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1200" dirty="0">
                <a:solidFill>
                  <a:srgbClr val="2D2D2D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岔路口：成立走这边</a:t>
            </a:r>
            <a:endParaRPr lang="en-US" sz="1200" dirty="0"/>
          </a:p>
        </p:txBody>
      </p:sp>
      <p:sp>
        <p:nvSpPr>
          <p:cNvPr id="10" name="Shape 8"/>
          <p:cNvSpPr/>
          <p:nvPr/>
        </p:nvSpPr>
        <p:spPr>
          <a:xfrm>
            <a:off x="6446520" y="347472"/>
            <a:ext cx="2286000" cy="2112264"/>
          </a:xfrm>
          <a:prstGeom prst="rect">
            <a:avLst/>
          </a:prstGeom>
          <a:solidFill>
            <a:srgbClr val="EBEBEB"/>
          </a:solidFill>
          <a:ln w="9525">
            <a:solidFill>
              <a:srgbClr val="E2E2E2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6647688" y="512064"/>
            <a:ext cx="1883664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3000" b="1" dirty="0">
                <a:solidFill>
                  <a:srgbClr val="2D2D2D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02</a:t>
            </a:r>
            <a:endParaRPr lang="en-US" sz="3000" dirty="0"/>
          </a:p>
        </p:txBody>
      </p:sp>
      <p:sp>
        <p:nvSpPr>
          <p:cNvPr id="12" name="Text 10"/>
          <p:cNvSpPr txBox="1"/>
          <p:nvPr/>
        </p:nvSpPr>
        <p:spPr>
          <a:xfrm>
            <a:off x="6647688" y="1389888"/>
            <a:ext cx="1883664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1600" b="1" dirty="0">
                <a:solidFill>
                  <a:srgbClr val="2D2D2D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按键点灯</a:t>
            </a:r>
            <a:endParaRPr lang="en-US" sz="1600" dirty="0"/>
          </a:p>
        </p:txBody>
      </p:sp>
      <p:sp>
        <p:nvSpPr>
          <p:cNvPr id="13" name="Text 11"/>
          <p:cNvSpPr txBox="1"/>
          <p:nvPr/>
        </p:nvSpPr>
        <p:spPr>
          <a:xfrm>
            <a:off x="6647688" y="1801368"/>
            <a:ext cx="1883664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1200" dirty="0">
                <a:solidFill>
                  <a:srgbClr val="6B6B6B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读按键 + if 判断</a:t>
            </a:r>
            <a:endParaRPr lang="en-US" sz="1200" dirty="0"/>
          </a:p>
        </p:txBody>
      </p:sp>
      <p:sp>
        <p:nvSpPr>
          <p:cNvPr id="14" name="Shape 12"/>
          <p:cNvSpPr/>
          <p:nvPr/>
        </p:nvSpPr>
        <p:spPr>
          <a:xfrm>
            <a:off x="4160520" y="2459736"/>
            <a:ext cx="2286000" cy="2112264"/>
          </a:xfrm>
          <a:prstGeom prst="rect">
            <a:avLst/>
          </a:prstGeom>
          <a:solidFill>
            <a:srgbClr val="2D2D2D"/>
          </a:solidFill>
          <a:ln w="9525">
            <a:solidFill>
              <a:srgbClr val="E2E2E2"/>
            </a:solidFill>
            <a:prstDash val="solid"/>
          </a:ln>
        </p:spPr>
      </p:sp>
      <p:sp>
        <p:nvSpPr>
          <p:cNvPr id="15" name="Text 13"/>
          <p:cNvSpPr txBox="1"/>
          <p:nvPr/>
        </p:nvSpPr>
        <p:spPr>
          <a:xfrm>
            <a:off x="4361688" y="2624328"/>
            <a:ext cx="1883664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3000" b="1" dirty="0">
                <a:solidFill>
                  <a:srgbClr val="40E0D0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03</a:t>
            </a:r>
            <a:endParaRPr lang="en-US" sz="3000" dirty="0"/>
          </a:p>
        </p:txBody>
      </p:sp>
      <p:sp>
        <p:nvSpPr>
          <p:cNvPr id="16" name="Text 14"/>
          <p:cNvSpPr txBox="1"/>
          <p:nvPr/>
        </p:nvSpPr>
        <p:spPr>
          <a:xfrm>
            <a:off x="4361688" y="3502152"/>
            <a:ext cx="1883664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1600" b="1" dirty="0">
                <a:solidFill>
                  <a:srgbClr val="FFFFFF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for / while</a:t>
            </a:r>
            <a:endParaRPr lang="en-US" sz="1600" dirty="0"/>
          </a:p>
        </p:txBody>
      </p:sp>
      <p:sp>
        <p:nvSpPr>
          <p:cNvPr id="17" name="Text 15"/>
          <p:cNvSpPr txBox="1"/>
          <p:nvPr/>
        </p:nvSpPr>
        <p:spPr>
          <a:xfrm>
            <a:off x="4361688" y="3913632"/>
            <a:ext cx="1883664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1200" dirty="0">
                <a:solidFill>
                  <a:srgbClr val="CFCFCF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数着圈跑步</a:t>
            </a:r>
            <a:endParaRPr lang="en-US" sz="1200" dirty="0"/>
          </a:p>
        </p:txBody>
      </p:sp>
      <p:sp>
        <p:nvSpPr>
          <p:cNvPr id="18" name="Shape 16"/>
          <p:cNvSpPr/>
          <p:nvPr/>
        </p:nvSpPr>
        <p:spPr>
          <a:xfrm>
            <a:off x="6446520" y="2459736"/>
            <a:ext cx="2286000" cy="2112264"/>
          </a:xfrm>
          <a:prstGeom prst="rect">
            <a:avLst/>
          </a:prstGeom>
          <a:solidFill>
            <a:srgbClr val="FFFFFF"/>
          </a:solidFill>
          <a:ln w="9525">
            <a:solidFill>
              <a:srgbClr val="E2E2E2"/>
            </a:solidFill>
            <a:prstDash val="solid"/>
          </a:ln>
        </p:spPr>
      </p:sp>
      <p:sp>
        <p:nvSpPr>
          <p:cNvPr id="19" name="Text 17"/>
          <p:cNvSpPr txBox="1"/>
          <p:nvPr/>
        </p:nvSpPr>
        <p:spPr>
          <a:xfrm>
            <a:off x="6647688" y="2624328"/>
            <a:ext cx="1883664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3000" b="1" dirty="0">
                <a:solidFill>
                  <a:srgbClr val="2D2D2D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04</a:t>
            </a:r>
            <a:endParaRPr lang="en-US" sz="3000" dirty="0"/>
          </a:p>
        </p:txBody>
      </p:sp>
      <p:sp>
        <p:nvSpPr>
          <p:cNvPr id="20" name="Text 18"/>
          <p:cNvSpPr txBox="1"/>
          <p:nvPr/>
        </p:nvSpPr>
        <p:spPr>
          <a:xfrm>
            <a:off x="6647688" y="3502152"/>
            <a:ext cx="1883664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1600" b="1" dirty="0">
                <a:solidFill>
                  <a:srgbClr val="2D2D2D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呼吸灯</a:t>
            </a:r>
            <a:endParaRPr lang="en-US" sz="1600" dirty="0"/>
          </a:p>
        </p:txBody>
      </p:sp>
      <p:sp>
        <p:nvSpPr>
          <p:cNvPr id="21" name="Text 19"/>
          <p:cNvSpPr txBox="1"/>
          <p:nvPr/>
        </p:nvSpPr>
        <p:spPr>
          <a:xfrm>
            <a:off x="6647688" y="3913632"/>
            <a:ext cx="1883664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1200" dirty="0">
                <a:solidFill>
                  <a:srgbClr val="6B6B6B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for 循环 + PWM</a:t>
            </a:r>
            <a:endParaRPr lang="en-US" sz="12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339328" y="4736592"/>
            <a:ext cx="393192" cy="219456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 lIns="0" tIns="0" rIns="0" bIns="0" anchor="ctr"/>
          <a:lstStyle>
            <a:lvl1pPr>
              <a:defRPr sz="800">
                <a:solidFill>
                  <a:srgbClr val="6B6B6B"/>
                </a:solidFill>
                <a:latin typeface="微软雅黑"/>
                <a:ea typeface="微软雅黑"/>
                <a:cs typeface="微软雅黑"/>
              </a:defRPr>
            </a:lvl1pPr>
          </a:lstStyle>
          <a:p>
            <a:pPr algn="r"/>
            <a:fld id="{F7021451-1387-4CA6-816F-3879F97B5CBC}" type="slidenum">
              <a:rPr b="0" lang="en-US"/>
              <a:t>21</a:t>
            </a:fld>
            <a:endParaRPr lang="en-US"/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1"/>
          <p:cNvSpPr/>
          <p:nvPr>
            <p:ph idx="102" type="body" hasCustomPrompt="1"/>
          </p:nvPr>
        </p:nvSpPr>
        <p:spPr>
          <a:xfrm>
            <a:off x="4572000" y="4736592"/>
            <a:ext cx="370332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2D2D2D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让程序会做决定</a:t>
            </a:r>
            <a:endParaRPr lang="en-US" sz="800" dirty="0"/>
          </a:p>
        </p:txBody>
      </p:sp>
      <p:sp>
        <p:nvSpPr>
          <p:cNvPr id="3" name="Text 1"/>
          <p:cNvSpPr/>
          <p:nvPr>
            <p:ph idx="103" type="title" hasCustomPrompt="1"/>
          </p:nvPr>
        </p:nvSpPr>
        <p:spPr>
          <a:xfrm>
            <a:off x="411480" y="274320"/>
            <a:ext cx="83210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400" dirty="0">
                <a:solidFill>
                  <a:srgbClr val="2D2D2D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条件判断 if / else：程序的岔路口</a:t>
            </a:r>
            <a:endParaRPr lang="en-US" sz="2400" dirty="0"/>
          </a:p>
        </p:txBody>
      </p:sp>
      <p:sp>
        <p:nvSpPr>
          <p:cNvPr id="4" name="Text 1"/>
          <p:cNvSpPr/>
          <p:nvPr>
            <p:ph idx="104" type="body" hasCustomPrompt="1"/>
          </p:nvPr>
        </p:nvSpPr>
        <p:spPr>
          <a:xfrm>
            <a:off x="411480" y="786384"/>
            <a:ext cx="83210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6B6B6B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让程序“看情况做事”：条件成立走这条路，不成立走另一条。</a:t>
            </a:r>
            <a:endParaRPr lang="en-US" sz="1200" dirty="0"/>
          </a:p>
        </p:txBody>
      </p:sp>
      <p:sp>
        <p:nvSpPr>
          <p:cNvPr id="6" name="Shape 3"/>
          <p:cNvSpPr/>
          <p:nvPr/>
        </p:nvSpPr>
        <p:spPr>
          <a:xfrm>
            <a:off x="411480" y="1234440"/>
            <a:ext cx="3749040" cy="3337560"/>
          </a:xfrm>
          <a:prstGeom prst="roundRect">
            <a:avLst>
              <a:gd name="adj" fmla="val 3288"/>
            </a:avLst>
          </a:prstGeom>
          <a:solidFill>
            <a:srgbClr val="F5F5F5"/>
          </a:solidFill>
          <a:ln w="12700">
            <a:solidFill>
              <a:srgbClr val="F5F5F5"/>
            </a:solidFill>
            <a:prstDash val="solid"/>
          </a:ln>
        </p:spPr>
      </p:sp>
      <p:sp>
        <p:nvSpPr>
          <p:cNvPr id="7" name="Shape 4"/>
          <p:cNvSpPr/>
          <p:nvPr/>
        </p:nvSpPr>
        <p:spPr>
          <a:xfrm>
            <a:off x="594360" y="1380744"/>
            <a:ext cx="347472" cy="347472"/>
          </a:xfrm>
          <a:prstGeom prst="ellipse">
            <a:avLst/>
          </a:prstGeom>
          <a:solidFill>
            <a:srgbClr val="40E0D0"/>
          </a:solidFill>
          <a:ln w="12700">
            <a:solidFill>
              <a:srgbClr val="40E0D0"/>
            </a:solidFill>
            <a:prstDash val="solid"/>
          </a:ln>
        </p:spPr>
      </p:sp>
      <p:pic>
        <p:nvPicPr>
          <p:cNvPr id="8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77753" y="1464137"/>
            <a:ext cx="180685" cy="180685"/>
          </a:xfrm>
          <a:prstGeom prst="rect">
            <a:avLst/>
          </a:prstGeom>
        </p:spPr>
      </p:pic>
      <p:sp>
        <p:nvSpPr>
          <p:cNvPr id="9" name="Text 5"/>
          <p:cNvSpPr txBox="1"/>
          <p:nvPr/>
        </p:nvSpPr>
        <p:spPr>
          <a:xfrm>
            <a:off x="1069848" y="1362456"/>
            <a:ext cx="2907792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1400" b="1" dirty="0">
                <a:solidFill>
                  <a:srgbClr val="2D2D2D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像出门前看一眼天气</a:t>
            </a:r>
            <a:endParaRPr lang="en-US" sz="1400" dirty="0"/>
          </a:p>
        </p:txBody>
      </p:sp>
      <p:sp>
        <p:nvSpPr>
          <p:cNvPr id="10" name="Shape 6"/>
          <p:cNvSpPr/>
          <p:nvPr/>
        </p:nvSpPr>
        <p:spPr>
          <a:xfrm>
            <a:off x="1371600" y="1892808"/>
            <a:ext cx="1828800" cy="786384"/>
          </a:xfrm>
          <a:prstGeom prst="diamond">
            <a:avLst/>
          </a:prstGeom>
          <a:solidFill>
            <a:srgbClr val="FFFFFF"/>
          </a:solidFill>
          <a:ln w="15875">
            <a:solidFill>
              <a:srgbClr val="2D2D2D"/>
            </a:solidFill>
            <a:prstDash val="solid"/>
          </a:ln>
        </p:spPr>
      </p:sp>
      <p:sp>
        <p:nvSpPr>
          <p:cNvPr id="11" name="Text 7"/>
          <p:cNvSpPr txBox="1"/>
          <p:nvPr/>
        </p:nvSpPr>
        <p:spPr>
          <a:xfrm>
            <a:off x="1463040" y="1892808"/>
            <a:ext cx="1645920" cy="7863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15000"/>
              </a:lnSpc>
              <a:buNone/>
            </a:pPr>
            <a:r>
              <a:rPr lang="en-US" sz="1300" b="1" dirty="0">
                <a:solidFill>
                  <a:srgbClr val="2D2D2D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下雨了吗？</a:t>
            </a:r>
            <a:endParaRPr lang="en-US" sz="1300" dirty="0"/>
          </a:p>
        </p:txBody>
      </p:sp>
      <p:sp>
        <p:nvSpPr>
          <p:cNvPr id="12" name="Shape 8"/>
          <p:cNvSpPr/>
          <p:nvPr/>
        </p:nvSpPr>
        <p:spPr>
          <a:xfrm flipH="1">
            <a:off x="1371600" y="2487168"/>
            <a:ext cx="411480" cy="603504"/>
          </a:xfrm>
          <a:prstGeom prst="line">
            <a:avLst/>
          </a:prstGeom>
          <a:noFill/>
          <a:ln w="15875">
            <a:solidFill>
              <a:srgbClr val="2D2D2D"/>
            </a:solidFill>
            <a:prstDash val="solid"/>
            <a:tailEnd type="triangle"/>
          </a:ln>
        </p:spPr>
      </p:sp>
      <p:sp>
        <p:nvSpPr>
          <p:cNvPr id="13" name="Shape 9"/>
          <p:cNvSpPr/>
          <p:nvPr/>
        </p:nvSpPr>
        <p:spPr>
          <a:xfrm>
            <a:off x="2788920" y="2487168"/>
            <a:ext cx="411480" cy="603504"/>
          </a:xfrm>
          <a:prstGeom prst="line">
            <a:avLst/>
          </a:prstGeom>
          <a:noFill/>
          <a:ln w="15875">
            <a:solidFill>
              <a:srgbClr val="2D2D2D"/>
            </a:solidFill>
            <a:prstDash val="solid"/>
            <a:tailEnd type="triangle"/>
          </a:ln>
        </p:spPr>
      </p:sp>
      <p:sp>
        <p:nvSpPr>
          <p:cNvPr id="14" name="Text 10"/>
          <p:cNvSpPr txBox="1"/>
          <p:nvPr/>
        </p:nvSpPr>
        <p:spPr>
          <a:xfrm>
            <a:off x="1097280" y="2606040"/>
            <a:ext cx="36576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lnSpc>
                <a:spcPct val="115000"/>
              </a:lnSpc>
              <a:buNone/>
            </a:pPr>
            <a:r>
              <a:rPr lang="en-US" sz="1200" b="1" dirty="0">
                <a:solidFill>
                  <a:srgbClr val="1A9E92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是</a:t>
            </a:r>
            <a:endParaRPr lang="en-US" sz="1200" dirty="0"/>
          </a:p>
        </p:txBody>
      </p:sp>
      <p:sp>
        <p:nvSpPr>
          <p:cNvPr id="15" name="Text 11"/>
          <p:cNvSpPr txBox="1"/>
          <p:nvPr/>
        </p:nvSpPr>
        <p:spPr>
          <a:xfrm>
            <a:off x="3108960" y="2606040"/>
            <a:ext cx="36576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1200" b="1" dirty="0">
                <a:solidFill>
                  <a:srgbClr val="2D2D2D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否</a:t>
            </a:r>
            <a:endParaRPr lang="en-US" sz="1200" dirty="0"/>
          </a:p>
        </p:txBody>
      </p:sp>
      <p:sp>
        <p:nvSpPr>
          <p:cNvPr id="16" name="Shape 12"/>
          <p:cNvSpPr/>
          <p:nvPr/>
        </p:nvSpPr>
        <p:spPr>
          <a:xfrm>
            <a:off x="685800" y="3108960"/>
            <a:ext cx="1371600" cy="566928"/>
          </a:xfrm>
          <a:prstGeom prst="roundRect">
            <a:avLst>
              <a:gd name="adj" fmla="val 19355"/>
            </a:avLst>
          </a:prstGeom>
          <a:solidFill>
            <a:srgbClr val="40E0D0"/>
          </a:solidFill>
          <a:ln w="12700">
            <a:solidFill>
              <a:srgbClr val="40E0D0"/>
            </a:solidFill>
            <a:prstDash val="solid"/>
          </a:ln>
        </p:spPr>
      </p:sp>
      <p:sp>
        <p:nvSpPr>
          <p:cNvPr id="17" name="Text 13"/>
          <p:cNvSpPr txBox="1"/>
          <p:nvPr/>
        </p:nvSpPr>
        <p:spPr>
          <a:xfrm>
            <a:off x="685800" y="3108960"/>
            <a:ext cx="13716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1300" b="1" dirty="0">
                <a:solidFill>
                  <a:srgbClr val="2D2D2D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带上伞</a:t>
            </a:r>
            <a:endParaRPr lang="en-US" sz="1300" dirty="0"/>
          </a:p>
          <a:p>
            <a:pPr algn="ctr" indent="0" marL="0">
              <a:lnSpc>
                <a:spcPct val="100000"/>
              </a:lnSpc>
              <a:buNone/>
            </a:pPr>
            <a:r>
              <a:rPr lang="en-US" sz="1000" dirty="0">
                <a:solidFill>
                  <a:srgbClr val="2D2D2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if { … }</a:t>
            </a:r>
            <a:endParaRPr lang="en-US" sz="1300" dirty="0"/>
          </a:p>
        </p:txBody>
      </p:sp>
      <p:sp>
        <p:nvSpPr>
          <p:cNvPr id="18" name="Shape 14"/>
          <p:cNvSpPr/>
          <p:nvPr/>
        </p:nvSpPr>
        <p:spPr>
          <a:xfrm>
            <a:off x="2514600" y="3108960"/>
            <a:ext cx="1371600" cy="566928"/>
          </a:xfrm>
          <a:prstGeom prst="roundRect">
            <a:avLst>
              <a:gd name="adj" fmla="val 19355"/>
            </a:avLst>
          </a:prstGeom>
          <a:solidFill>
            <a:srgbClr val="2D2D2D"/>
          </a:solidFill>
          <a:ln w="12700">
            <a:solidFill>
              <a:srgbClr val="2D2D2D"/>
            </a:solidFill>
            <a:prstDash val="solid"/>
          </a:ln>
        </p:spPr>
      </p:sp>
      <p:sp>
        <p:nvSpPr>
          <p:cNvPr id="19" name="Text 15"/>
          <p:cNvSpPr txBox="1"/>
          <p:nvPr/>
        </p:nvSpPr>
        <p:spPr>
          <a:xfrm>
            <a:off x="2514600" y="3108960"/>
            <a:ext cx="13716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1300" b="1" dirty="0">
                <a:solidFill>
                  <a:srgbClr val="FFFFFF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戴上墨镜</a:t>
            </a:r>
            <a:endParaRPr lang="en-US" sz="1300" dirty="0"/>
          </a:p>
          <a:p>
            <a:pPr algn="ctr" indent="0" marL="0">
              <a:lnSpc>
                <a:spcPct val="100000"/>
              </a:lnSpc>
              <a:buNone/>
            </a:pPr>
            <a:r>
              <a:rPr lang="en-US" sz="1000" dirty="0">
                <a:solidFill>
                  <a:srgbClr val="40E0D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else { … }</a:t>
            </a:r>
            <a:endParaRPr lang="en-US" sz="1300" dirty="0"/>
          </a:p>
        </p:txBody>
      </p:sp>
      <p:sp>
        <p:nvSpPr>
          <p:cNvPr id="20" name="Shape 16"/>
          <p:cNvSpPr/>
          <p:nvPr/>
        </p:nvSpPr>
        <p:spPr>
          <a:xfrm>
            <a:off x="1371600" y="3694176"/>
            <a:ext cx="685800" cy="310896"/>
          </a:xfrm>
          <a:prstGeom prst="line">
            <a:avLst/>
          </a:prstGeom>
          <a:noFill/>
          <a:ln w="15875">
            <a:solidFill>
              <a:srgbClr val="2D2D2D"/>
            </a:solidFill>
            <a:prstDash val="solid"/>
            <a:tailEnd type="triangle"/>
          </a:ln>
        </p:spPr>
      </p:sp>
      <p:sp>
        <p:nvSpPr>
          <p:cNvPr id="21" name="Shape 17"/>
          <p:cNvSpPr/>
          <p:nvPr/>
        </p:nvSpPr>
        <p:spPr>
          <a:xfrm flipH="1">
            <a:off x="2514600" y="3694176"/>
            <a:ext cx="685800" cy="310896"/>
          </a:xfrm>
          <a:prstGeom prst="line">
            <a:avLst/>
          </a:prstGeom>
          <a:noFill/>
          <a:ln w="15875">
            <a:solidFill>
              <a:srgbClr val="2D2D2D"/>
            </a:solidFill>
            <a:prstDash val="solid"/>
            <a:tailEnd type="triangle"/>
          </a:ln>
        </p:spPr>
      </p:sp>
      <p:sp>
        <p:nvSpPr>
          <p:cNvPr id="22" name="Shape 18"/>
          <p:cNvSpPr/>
          <p:nvPr/>
        </p:nvSpPr>
        <p:spPr>
          <a:xfrm>
            <a:off x="1645920" y="4023360"/>
            <a:ext cx="1280160" cy="365760"/>
          </a:xfrm>
          <a:prstGeom prst="roundRect">
            <a:avLst>
              <a:gd name="adj" fmla="val 30000"/>
            </a:avLst>
          </a:prstGeom>
          <a:solidFill>
            <a:srgbClr val="FFFFFF"/>
          </a:solidFill>
          <a:ln w="9525">
            <a:solidFill>
              <a:srgbClr val="E2E2E2"/>
            </a:solidFill>
            <a:prstDash val="solid"/>
          </a:ln>
        </p:spPr>
      </p:sp>
      <p:sp>
        <p:nvSpPr>
          <p:cNvPr id="23" name="Text 19"/>
          <p:cNvSpPr txBox="1"/>
          <p:nvPr/>
        </p:nvSpPr>
        <p:spPr>
          <a:xfrm>
            <a:off x="1645920" y="4023360"/>
            <a:ext cx="12801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15000"/>
              </a:lnSpc>
              <a:buNone/>
            </a:pPr>
            <a:r>
              <a:rPr lang="en-US" sz="1200" b="1" dirty="0">
                <a:solidFill>
                  <a:srgbClr val="2D2D2D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继续出门</a:t>
            </a:r>
            <a:endParaRPr lang="en-US" sz="1200" dirty="0"/>
          </a:p>
        </p:txBody>
      </p:sp>
      <p:sp>
        <p:nvSpPr>
          <p:cNvPr id="24" name="Shape 20"/>
          <p:cNvSpPr/>
          <p:nvPr/>
        </p:nvSpPr>
        <p:spPr>
          <a:xfrm>
            <a:off x="4434840" y="1234440"/>
            <a:ext cx="4297680" cy="1810512"/>
          </a:xfrm>
          <a:prstGeom prst="roundRect">
            <a:avLst>
              <a:gd name="adj" fmla="val 5051"/>
            </a:avLst>
          </a:prstGeom>
          <a:solidFill>
            <a:srgbClr val="2D2D2D"/>
          </a:solidFill>
          <a:ln w="12700">
            <a:solidFill>
              <a:srgbClr val="2D2D2D"/>
            </a:solidFill>
            <a:prstDash val="solid"/>
          </a:ln>
        </p:spPr>
      </p:sp>
      <p:sp>
        <p:nvSpPr>
          <p:cNvPr id="25" name="Text 21"/>
          <p:cNvSpPr txBox="1"/>
          <p:nvPr/>
        </p:nvSpPr>
        <p:spPr>
          <a:xfrm>
            <a:off x="4562856" y="1298448"/>
            <a:ext cx="257860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1000" dirty="0">
                <a:solidFill>
                  <a:srgbClr val="9A9A9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if / else 的写法</a:t>
            </a:r>
            <a:endParaRPr lang="en-US" sz="1000" dirty="0"/>
          </a:p>
        </p:txBody>
      </p:sp>
      <p:sp>
        <p:nvSpPr>
          <p:cNvPr id="26" name="Text 22"/>
          <p:cNvSpPr txBox="1"/>
          <p:nvPr/>
        </p:nvSpPr>
        <p:spPr>
          <a:xfrm>
            <a:off x="4526280" y="1545336"/>
            <a:ext cx="140675" cy="1986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lnSpc>
                <a:spcPct val="115000"/>
              </a:lnSpc>
              <a:buNone/>
            </a:pPr>
            <a:r>
              <a:rPr lang="en-US" sz="1050" dirty="0">
                <a:solidFill>
                  <a:srgbClr val="7A7A7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1</a:t>
            </a:r>
            <a:endParaRPr lang="en-US" sz="1050" dirty="0"/>
          </a:p>
        </p:txBody>
      </p:sp>
      <p:sp>
        <p:nvSpPr>
          <p:cNvPr id="27" name="Text 23"/>
          <p:cNvSpPr txBox="1"/>
          <p:nvPr/>
        </p:nvSpPr>
        <p:spPr>
          <a:xfrm>
            <a:off x="4791453" y="1545336"/>
            <a:ext cx="3813051" cy="1986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40E0D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if </a:t>
            </a:r>
            <a:pPr indent="0" marL="0">
              <a:buNone/>
            </a:pPr>
            <a:r>
              <a:rPr lang="en-US" sz="1150" dirty="0">
                <a:solidFill>
                  <a:srgbClr val="BDBDB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(条件) {</a:t>
            </a:r>
            <a:endParaRPr lang="en-US" sz="1150" dirty="0"/>
          </a:p>
        </p:txBody>
      </p:sp>
      <p:sp>
        <p:nvSpPr>
          <p:cNvPr id="28" name="Text 24"/>
          <p:cNvSpPr txBox="1"/>
          <p:nvPr/>
        </p:nvSpPr>
        <p:spPr>
          <a:xfrm>
            <a:off x="4526280" y="1743964"/>
            <a:ext cx="140675" cy="1986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lnSpc>
                <a:spcPct val="115000"/>
              </a:lnSpc>
              <a:buNone/>
            </a:pPr>
            <a:r>
              <a:rPr lang="en-US" sz="1050" dirty="0">
                <a:solidFill>
                  <a:srgbClr val="7A7A7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2</a:t>
            </a:r>
            <a:endParaRPr lang="en-US" sz="1050" dirty="0"/>
          </a:p>
        </p:txBody>
      </p:sp>
      <p:sp>
        <p:nvSpPr>
          <p:cNvPr id="29" name="Text 25"/>
          <p:cNvSpPr txBox="1"/>
          <p:nvPr/>
        </p:nvSpPr>
        <p:spPr>
          <a:xfrm>
            <a:off x="4791453" y="1743964"/>
            <a:ext cx="3813051" cy="1986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D9D9D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</a:t>
            </a:r>
            <a:pPr indent="0" marL="0">
              <a:buNone/>
            </a:pPr>
            <a:r>
              <a:rPr lang="en-US" sz="1150" i="1" dirty="0">
                <a:solidFill>
                  <a:srgbClr val="8E8E8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// 条件成立时执行</a:t>
            </a:r>
            <a:endParaRPr lang="en-US" sz="1150" dirty="0"/>
          </a:p>
        </p:txBody>
      </p:sp>
      <p:sp>
        <p:nvSpPr>
          <p:cNvPr id="30" name="Text 26"/>
          <p:cNvSpPr txBox="1"/>
          <p:nvPr/>
        </p:nvSpPr>
        <p:spPr>
          <a:xfrm>
            <a:off x="4526280" y="1942592"/>
            <a:ext cx="140675" cy="1986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lnSpc>
                <a:spcPct val="115000"/>
              </a:lnSpc>
              <a:buNone/>
            </a:pPr>
            <a:r>
              <a:rPr lang="en-US" sz="1050" dirty="0">
                <a:solidFill>
                  <a:srgbClr val="7A7A7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3</a:t>
            </a:r>
            <a:endParaRPr lang="en-US" sz="1050" dirty="0"/>
          </a:p>
        </p:txBody>
      </p:sp>
      <p:sp>
        <p:nvSpPr>
          <p:cNvPr id="31" name="Text 27"/>
          <p:cNvSpPr txBox="1"/>
          <p:nvPr/>
        </p:nvSpPr>
        <p:spPr>
          <a:xfrm>
            <a:off x="4791453" y="1942592"/>
            <a:ext cx="3813051" cy="1986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BDBDB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} </a:t>
            </a:r>
            <a:pPr indent="0" marL="0">
              <a:buNone/>
            </a:pPr>
            <a:r>
              <a:rPr lang="en-US" sz="1150" b="1" dirty="0">
                <a:solidFill>
                  <a:srgbClr val="40E0D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else if </a:t>
            </a:r>
            <a:pPr indent="0" marL="0">
              <a:buNone/>
            </a:pPr>
            <a:r>
              <a:rPr lang="en-US" sz="1150" dirty="0">
                <a:solidFill>
                  <a:srgbClr val="BDBDB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(条件</a:t>
            </a:r>
            <a:pPr indent="0" marL="0">
              <a:buNone/>
            </a:pPr>
            <a:r>
              <a:rPr lang="en-US" sz="1150" dirty="0">
                <a:solidFill>
                  <a:srgbClr val="F7C87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2</a:t>
            </a:r>
            <a:pPr indent="0" marL="0">
              <a:buNone/>
            </a:pPr>
            <a:r>
              <a:rPr lang="en-US" sz="1150" dirty="0">
                <a:solidFill>
                  <a:srgbClr val="BDBDB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) {</a:t>
            </a:r>
            <a:endParaRPr lang="en-US" sz="1150" dirty="0"/>
          </a:p>
        </p:txBody>
      </p:sp>
      <p:sp>
        <p:nvSpPr>
          <p:cNvPr id="32" name="Text 28"/>
          <p:cNvSpPr txBox="1"/>
          <p:nvPr/>
        </p:nvSpPr>
        <p:spPr>
          <a:xfrm>
            <a:off x="4526280" y="2141220"/>
            <a:ext cx="140675" cy="1986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lnSpc>
                <a:spcPct val="115000"/>
              </a:lnSpc>
              <a:buNone/>
            </a:pPr>
            <a:r>
              <a:rPr lang="en-US" sz="1050" dirty="0">
                <a:solidFill>
                  <a:srgbClr val="7A7A7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4</a:t>
            </a:r>
            <a:endParaRPr lang="en-US" sz="1050" dirty="0"/>
          </a:p>
        </p:txBody>
      </p:sp>
      <p:sp>
        <p:nvSpPr>
          <p:cNvPr id="33" name="Text 29"/>
          <p:cNvSpPr txBox="1"/>
          <p:nvPr/>
        </p:nvSpPr>
        <p:spPr>
          <a:xfrm>
            <a:off x="4791453" y="2141220"/>
            <a:ext cx="3813051" cy="1986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D9D9D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</a:t>
            </a:r>
            <a:pPr indent="0" marL="0">
              <a:buNone/>
            </a:pPr>
            <a:r>
              <a:rPr lang="en-US" sz="1150" i="1" dirty="0">
                <a:solidFill>
                  <a:srgbClr val="8E8E8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// 条件2 成立时执行</a:t>
            </a:r>
            <a:endParaRPr lang="en-US" sz="1150" dirty="0"/>
          </a:p>
        </p:txBody>
      </p:sp>
      <p:sp>
        <p:nvSpPr>
          <p:cNvPr id="34" name="Text 30"/>
          <p:cNvSpPr txBox="1"/>
          <p:nvPr/>
        </p:nvSpPr>
        <p:spPr>
          <a:xfrm>
            <a:off x="4526280" y="2339848"/>
            <a:ext cx="140675" cy="1986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lnSpc>
                <a:spcPct val="115000"/>
              </a:lnSpc>
              <a:buNone/>
            </a:pPr>
            <a:r>
              <a:rPr lang="en-US" sz="1050" dirty="0">
                <a:solidFill>
                  <a:srgbClr val="7A7A7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5</a:t>
            </a:r>
            <a:endParaRPr lang="en-US" sz="1050" dirty="0"/>
          </a:p>
        </p:txBody>
      </p:sp>
      <p:sp>
        <p:nvSpPr>
          <p:cNvPr id="35" name="Text 31"/>
          <p:cNvSpPr txBox="1"/>
          <p:nvPr/>
        </p:nvSpPr>
        <p:spPr>
          <a:xfrm>
            <a:off x="4791453" y="2339848"/>
            <a:ext cx="3813051" cy="1986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BDBDB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} </a:t>
            </a:r>
            <a:pPr indent="0" marL="0">
              <a:buNone/>
            </a:pPr>
            <a:r>
              <a:rPr lang="en-US" sz="1150" b="1" dirty="0">
                <a:solidFill>
                  <a:srgbClr val="40E0D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else </a:t>
            </a:r>
            <a:pPr indent="0" marL="0">
              <a:buNone/>
            </a:pPr>
            <a:r>
              <a:rPr lang="en-US" sz="1150" dirty="0">
                <a:solidFill>
                  <a:srgbClr val="BDBDB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{</a:t>
            </a:r>
            <a:endParaRPr lang="en-US" sz="1150" dirty="0"/>
          </a:p>
        </p:txBody>
      </p:sp>
      <p:sp>
        <p:nvSpPr>
          <p:cNvPr id="36" name="Text 32"/>
          <p:cNvSpPr txBox="1"/>
          <p:nvPr/>
        </p:nvSpPr>
        <p:spPr>
          <a:xfrm>
            <a:off x="4526280" y="2538476"/>
            <a:ext cx="140675" cy="1986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lnSpc>
                <a:spcPct val="115000"/>
              </a:lnSpc>
              <a:buNone/>
            </a:pPr>
            <a:r>
              <a:rPr lang="en-US" sz="1050" dirty="0">
                <a:solidFill>
                  <a:srgbClr val="7A7A7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6</a:t>
            </a:r>
            <a:endParaRPr lang="en-US" sz="1050" dirty="0"/>
          </a:p>
        </p:txBody>
      </p:sp>
      <p:sp>
        <p:nvSpPr>
          <p:cNvPr id="37" name="Text 33"/>
          <p:cNvSpPr txBox="1"/>
          <p:nvPr/>
        </p:nvSpPr>
        <p:spPr>
          <a:xfrm>
            <a:off x="4791453" y="2538476"/>
            <a:ext cx="3813051" cy="1986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D9D9D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</a:t>
            </a:r>
            <a:pPr indent="0" marL="0">
              <a:buNone/>
            </a:pPr>
            <a:r>
              <a:rPr lang="en-US" sz="1150" i="1" dirty="0">
                <a:solidFill>
                  <a:srgbClr val="8E8E8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// 都不成立时执行</a:t>
            </a:r>
            <a:endParaRPr lang="en-US" sz="1150" dirty="0"/>
          </a:p>
        </p:txBody>
      </p:sp>
      <p:sp>
        <p:nvSpPr>
          <p:cNvPr id="38" name="Text 34"/>
          <p:cNvSpPr txBox="1"/>
          <p:nvPr/>
        </p:nvSpPr>
        <p:spPr>
          <a:xfrm>
            <a:off x="4526280" y="2737104"/>
            <a:ext cx="140675" cy="1986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lnSpc>
                <a:spcPct val="115000"/>
              </a:lnSpc>
              <a:buNone/>
            </a:pPr>
            <a:r>
              <a:rPr lang="en-US" sz="1050" dirty="0">
                <a:solidFill>
                  <a:srgbClr val="7A7A7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7</a:t>
            </a:r>
            <a:endParaRPr lang="en-US" sz="1050" dirty="0"/>
          </a:p>
        </p:txBody>
      </p:sp>
      <p:sp>
        <p:nvSpPr>
          <p:cNvPr id="39" name="Text 35"/>
          <p:cNvSpPr txBox="1"/>
          <p:nvPr/>
        </p:nvSpPr>
        <p:spPr>
          <a:xfrm>
            <a:off x="4791453" y="2737104"/>
            <a:ext cx="3813051" cy="1986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BDBDB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}</a:t>
            </a:r>
            <a:endParaRPr lang="en-US" sz="1150" dirty="0"/>
          </a:p>
        </p:txBody>
      </p:sp>
      <p:sp>
        <p:nvSpPr>
          <p:cNvPr id="40" name="Shape 36"/>
          <p:cNvSpPr/>
          <p:nvPr/>
        </p:nvSpPr>
        <p:spPr>
          <a:xfrm>
            <a:off x="4453128" y="3396234"/>
            <a:ext cx="64008" cy="64008"/>
          </a:xfrm>
          <a:prstGeom prst="ellipse">
            <a:avLst/>
          </a:prstGeom>
          <a:solidFill>
            <a:srgbClr val="1A9E92"/>
          </a:solidFill>
          <a:ln w="12700">
            <a:solidFill>
              <a:srgbClr val="1A9E92"/>
            </a:solidFill>
            <a:prstDash val="solid"/>
          </a:ln>
        </p:spPr>
      </p:sp>
      <p:sp>
        <p:nvSpPr>
          <p:cNvPr id="41" name="Text 37"/>
          <p:cNvSpPr txBox="1"/>
          <p:nvPr/>
        </p:nvSpPr>
        <p:spPr>
          <a:xfrm>
            <a:off x="4617720" y="3319272"/>
            <a:ext cx="4114800" cy="24612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1300" dirty="0">
                <a:solidFill>
                  <a:srgbClr val="2D2D2D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条件写在 </a:t>
            </a:r>
            <a:pPr algn="l" indent="0" marL="0">
              <a:lnSpc>
                <a:spcPct val="115000"/>
              </a:lnSpc>
              <a:buNone/>
            </a:pPr>
            <a:r>
              <a:rPr lang="en-US" sz="1300" dirty="0">
                <a:solidFill>
                  <a:srgbClr val="2D2D2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( )</a:t>
            </a:r>
            <a:pPr algn="l" indent="0" marL="0">
              <a:lnSpc>
                <a:spcPct val="115000"/>
              </a:lnSpc>
              <a:buNone/>
            </a:pPr>
            <a:r>
              <a:rPr lang="en-US" sz="1300" dirty="0">
                <a:solidFill>
                  <a:srgbClr val="2D2D2D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 里，要做的事写在 </a:t>
            </a:r>
            <a:pPr algn="l" indent="0" marL="0">
              <a:lnSpc>
                <a:spcPct val="115000"/>
              </a:lnSpc>
              <a:buNone/>
            </a:pPr>
            <a:r>
              <a:rPr lang="en-US" sz="1300" dirty="0">
                <a:solidFill>
                  <a:srgbClr val="2D2D2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{ }</a:t>
            </a:r>
            <a:pPr algn="l" indent="0" marL="0">
              <a:lnSpc>
                <a:spcPct val="115000"/>
              </a:lnSpc>
              <a:buNone/>
            </a:pPr>
            <a:r>
              <a:rPr lang="en-US" sz="1300" dirty="0">
                <a:solidFill>
                  <a:srgbClr val="2D2D2D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 里</a:t>
            </a:r>
            <a:endParaRPr lang="en-US" sz="1300" dirty="0"/>
          </a:p>
        </p:txBody>
      </p:sp>
      <p:sp>
        <p:nvSpPr>
          <p:cNvPr id="42" name="Shape 38"/>
          <p:cNvSpPr/>
          <p:nvPr/>
        </p:nvSpPr>
        <p:spPr>
          <a:xfrm>
            <a:off x="4453128" y="3715512"/>
            <a:ext cx="64008" cy="64008"/>
          </a:xfrm>
          <a:prstGeom prst="ellipse">
            <a:avLst/>
          </a:prstGeom>
          <a:solidFill>
            <a:srgbClr val="1A9E92"/>
          </a:solidFill>
          <a:ln w="12700">
            <a:solidFill>
              <a:srgbClr val="1A9E92"/>
            </a:solidFill>
            <a:prstDash val="solid"/>
          </a:ln>
        </p:spPr>
      </p:sp>
      <p:sp>
        <p:nvSpPr>
          <p:cNvPr id="43" name="Text 39"/>
          <p:cNvSpPr txBox="1"/>
          <p:nvPr/>
        </p:nvSpPr>
        <p:spPr>
          <a:xfrm>
            <a:off x="4617720" y="3638550"/>
            <a:ext cx="4114800" cy="24612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1300" dirty="0">
                <a:solidFill>
                  <a:srgbClr val="2D2D2D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判断相等用 </a:t>
            </a:r>
            <a:pPr algn="l" indent="0" marL="0">
              <a:lnSpc>
                <a:spcPct val="115000"/>
              </a:lnSpc>
              <a:buNone/>
            </a:pPr>
            <a:r>
              <a:rPr lang="en-US" sz="1300" b="1" dirty="0">
                <a:solidFill>
                  <a:srgbClr val="2D2D2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==</a:t>
            </a:r>
            <a:pPr algn="l" indent="0" marL="0">
              <a:lnSpc>
                <a:spcPct val="115000"/>
              </a:lnSpc>
              <a:buNone/>
            </a:pPr>
            <a:r>
              <a:rPr lang="en-US" sz="1300" dirty="0">
                <a:solidFill>
                  <a:srgbClr val="2D2D2D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（两个等号）</a:t>
            </a:r>
            <a:endParaRPr lang="en-US" sz="1300" dirty="0"/>
          </a:p>
        </p:txBody>
      </p:sp>
      <p:sp>
        <p:nvSpPr>
          <p:cNvPr id="44" name="Shape 40"/>
          <p:cNvSpPr/>
          <p:nvPr/>
        </p:nvSpPr>
        <p:spPr>
          <a:xfrm>
            <a:off x="4453128" y="4034790"/>
            <a:ext cx="64008" cy="64008"/>
          </a:xfrm>
          <a:prstGeom prst="ellipse">
            <a:avLst/>
          </a:prstGeom>
          <a:solidFill>
            <a:srgbClr val="1A9E92"/>
          </a:solidFill>
          <a:ln w="12700">
            <a:solidFill>
              <a:srgbClr val="1A9E92"/>
            </a:solidFill>
            <a:prstDash val="solid"/>
          </a:ln>
        </p:spPr>
      </p:sp>
      <p:sp>
        <p:nvSpPr>
          <p:cNvPr id="45" name="Text 41"/>
          <p:cNvSpPr txBox="1"/>
          <p:nvPr/>
        </p:nvSpPr>
        <p:spPr>
          <a:xfrm>
            <a:off x="4617720" y="3957828"/>
            <a:ext cx="4114800" cy="24612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1300" dirty="0">
                <a:solidFill>
                  <a:srgbClr val="2D2D2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else if</a:t>
            </a:r>
            <a:pPr algn="l" indent="0" marL="0">
              <a:lnSpc>
                <a:spcPct val="115000"/>
              </a:lnSpc>
              <a:buNone/>
            </a:pPr>
            <a:r>
              <a:rPr lang="en-US" sz="1300" dirty="0">
                <a:solidFill>
                  <a:srgbClr val="2D2D2D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 和 </a:t>
            </a:r>
            <a:pPr algn="l" indent="0" marL="0">
              <a:lnSpc>
                <a:spcPct val="115000"/>
              </a:lnSpc>
              <a:buNone/>
            </a:pPr>
            <a:r>
              <a:rPr lang="en-US" sz="1300" dirty="0">
                <a:solidFill>
                  <a:srgbClr val="2D2D2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else</a:t>
            </a:r>
            <a:pPr algn="l" indent="0" marL="0">
              <a:lnSpc>
                <a:spcPct val="115000"/>
              </a:lnSpc>
              <a:buNone/>
            </a:pPr>
            <a:r>
              <a:rPr lang="en-US" sz="1300" dirty="0">
                <a:solidFill>
                  <a:srgbClr val="2D2D2D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 都可以省略</a:t>
            </a:r>
            <a:endParaRPr lang="en-US" sz="1300" dirty="0"/>
          </a:p>
        </p:txBody>
      </p:sp>
      <p:sp>
        <p:nvSpPr>
          <p:cNvPr id="46" name="Shape 42"/>
          <p:cNvSpPr/>
          <p:nvPr/>
        </p:nvSpPr>
        <p:spPr>
          <a:xfrm>
            <a:off x="4453128" y="4354068"/>
            <a:ext cx="64008" cy="64008"/>
          </a:xfrm>
          <a:prstGeom prst="ellipse">
            <a:avLst/>
          </a:prstGeom>
          <a:solidFill>
            <a:srgbClr val="1A9E92"/>
          </a:solidFill>
          <a:ln w="12700">
            <a:solidFill>
              <a:srgbClr val="1A9E92"/>
            </a:solidFill>
            <a:prstDash val="solid"/>
          </a:ln>
        </p:spPr>
      </p:sp>
      <p:sp>
        <p:nvSpPr>
          <p:cNvPr id="47" name="Text 43"/>
          <p:cNvSpPr txBox="1"/>
          <p:nvPr/>
        </p:nvSpPr>
        <p:spPr>
          <a:xfrm>
            <a:off x="4617720" y="4277106"/>
            <a:ext cx="4114800" cy="24612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1300" dirty="0">
                <a:solidFill>
                  <a:srgbClr val="2D2D2D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条件常用比较运算符：</a:t>
            </a:r>
            <a:pPr algn="l" indent="0" marL="0">
              <a:lnSpc>
                <a:spcPct val="115000"/>
              </a:lnSpc>
              <a:buNone/>
            </a:pPr>
            <a:r>
              <a:rPr lang="en-US" sz="1300" dirty="0">
                <a:solidFill>
                  <a:srgbClr val="2D2D2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==  !=  &gt;  &lt;</a:t>
            </a:r>
            <a:endParaRPr lang="en-US" sz="13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339328" y="4736592"/>
            <a:ext cx="393192" cy="219456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 lIns="0" tIns="0" rIns="0" bIns="0" anchor="ctr"/>
          <a:lstStyle>
            <a:lvl1pPr>
              <a:defRPr sz="800">
                <a:solidFill>
                  <a:srgbClr val="6B6B6B"/>
                </a:solidFill>
                <a:latin typeface="微软雅黑"/>
                <a:ea typeface="微软雅黑"/>
                <a:cs typeface="微软雅黑"/>
              </a:defRPr>
            </a:lvl1pPr>
          </a:lstStyle>
          <a:p>
            <a:pPr algn="r"/>
            <a:fld id="{F7021451-1387-4CA6-816F-3879F97B5CBC}" type="slidenum">
              <a:rPr b="0" lang="en-US"/>
              <a:t>22</a:t>
            </a:fld>
            <a:endParaRPr lang="en-US"/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1"/>
          <p:cNvSpPr/>
          <p:nvPr>
            <p:ph idx="102" type="body" hasCustomPrompt="1"/>
          </p:nvPr>
        </p:nvSpPr>
        <p:spPr>
          <a:xfrm>
            <a:off x="4572000" y="4736592"/>
            <a:ext cx="370332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2D2D2D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让程序会做决定</a:t>
            </a:r>
            <a:endParaRPr lang="en-US" sz="800" dirty="0"/>
          </a:p>
        </p:txBody>
      </p:sp>
      <p:sp>
        <p:nvSpPr>
          <p:cNvPr id="3" name="Text 1"/>
          <p:cNvSpPr/>
          <p:nvPr>
            <p:ph idx="103" type="title" hasCustomPrompt="1"/>
          </p:nvPr>
        </p:nvSpPr>
        <p:spPr>
          <a:xfrm>
            <a:off x="411480" y="274320"/>
            <a:ext cx="83210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400" dirty="0">
                <a:solidFill>
                  <a:srgbClr val="2D2D2D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示例：按下按键点亮 L 灯</a:t>
            </a:r>
            <a:endParaRPr lang="en-US" sz="2400" dirty="0"/>
          </a:p>
        </p:txBody>
      </p:sp>
      <p:sp>
        <p:nvSpPr>
          <p:cNvPr id="4" name="Text 1"/>
          <p:cNvSpPr/>
          <p:nvPr>
            <p:ph idx="104" type="body" hasCustomPrompt="1"/>
          </p:nvPr>
        </p:nvSpPr>
        <p:spPr>
          <a:xfrm>
            <a:off x="411480" y="786384"/>
            <a:ext cx="83210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6B6B6B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按键接 2 号脚，按下时读到 LOW——读到 LOW 就开灯，否则关灯。</a:t>
            </a:r>
            <a:endParaRPr lang="en-US" sz="1200" dirty="0"/>
          </a:p>
        </p:txBody>
      </p:sp>
      <p:sp>
        <p:nvSpPr>
          <p:cNvPr id="6" name="Shape 3"/>
          <p:cNvSpPr/>
          <p:nvPr/>
        </p:nvSpPr>
        <p:spPr>
          <a:xfrm>
            <a:off x="411480" y="1234440"/>
            <a:ext cx="5029200" cy="3337560"/>
          </a:xfrm>
          <a:prstGeom prst="roundRect">
            <a:avLst>
              <a:gd name="adj" fmla="val 2740"/>
            </a:avLst>
          </a:prstGeom>
          <a:solidFill>
            <a:srgbClr val="2D2D2D"/>
          </a:solidFill>
          <a:ln w="12700">
            <a:solidFill>
              <a:srgbClr val="2D2D2D"/>
            </a:solidFill>
            <a:prstDash val="solid"/>
          </a:ln>
        </p:spPr>
      </p:sp>
      <p:sp>
        <p:nvSpPr>
          <p:cNvPr id="7" name="Text 4"/>
          <p:cNvSpPr txBox="1"/>
          <p:nvPr/>
        </p:nvSpPr>
        <p:spPr>
          <a:xfrm>
            <a:off x="539496" y="1298448"/>
            <a:ext cx="30175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1000" dirty="0">
                <a:solidFill>
                  <a:srgbClr val="9A9A9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if_demo.ino</a:t>
            </a:r>
            <a:endParaRPr lang="en-US" sz="1000" dirty="0"/>
          </a:p>
        </p:txBody>
      </p:sp>
      <p:sp>
        <p:nvSpPr>
          <p:cNvPr id="8" name="Shape 5"/>
          <p:cNvSpPr/>
          <p:nvPr/>
        </p:nvSpPr>
        <p:spPr>
          <a:xfrm>
            <a:off x="457200" y="1545336"/>
            <a:ext cx="4937760" cy="181356"/>
          </a:xfrm>
          <a:prstGeom prst="rect">
            <a:avLst/>
          </a:prstGeom>
          <a:solidFill>
            <a:srgbClr val="3E5250"/>
          </a:solidFill>
          <a:ln w="12700">
            <a:solidFill>
              <a:srgbClr val="3E5250"/>
            </a:solidFill>
            <a:prstDash val="solid"/>
          </a:ln>
        </p:spPr>
      </p:sp>
      <p:sp>
        <p:nvSpPr>
          <p:cNvPr id="9" name="Text 6"/>
          <p:cNvSpPr txBox="1"/>
          <p:nvPr/>
        </p:nvSpPr>
        <p:spPr>
          <a:xfrm>
            <a:off x="502920" y="1545336"/>
            <a:ext cx="208719" cy="1813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lnSpc>
                <a:spcPct val="115000"/>
              </a:lnSpc>
              <a:buNone/>
            </a:pPr>
            <a:r>
              <a:rPr lang="en-US" sz="950" b="1" dirty="0">
                <a:solidFill>
                  <a:srgbClr val="40E0D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1</a:t>
            </a:r>
            <a:endParaRPr lang="en-US" sz="950" dirty="0"/>
          </a:p>
        </p:txBody>
      </p:sp>
      <p:sp>
        <p:nvSpPr>
          <p:cNvPr id="10" name="Text 7"/>
          <p:cNvSpPr txBox="1"/>
          <p:nvPr/>
        </p:nvSpPr>
        <p:spPr>
          <a:xfrm>
            <a:off x="828492" y="1545336"/>
            <a:ext cx="4484172" cy="1813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40E0D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int </a:t>
            </a:r>
            <a:pPr indent="0" marL="0">
              <a:buNone/>
            </a:pPr>
            <a:r>
              <a:rPr lang="en-US" sz="1050" dirty="0">
                <a:solidFill>
                  <a:srgbClr val="D9D9D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buttonPin </a:t>
            </a:r>
            <a:pPr indent="0" marL="0">
              <a:buNone/>
            </a:pPr>
            <a:r>
              <a:rPr lang="en-US" sz="1050" dirty="0">
                <a:solidFill>
                  <a:srgbClr val="BDBDB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= </a:t>
            </a:r>
            <a:pPr indent="0" marL="0">
              <a:buNone/>
            </a:pPr>
            <a:r>
              <a:rPr lang="en-US" sz="1050" dirty="0">
                <a:solidFill>
                  <a:srgbClr val="F7C87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2</a:t>
            </a:r>
            <a:pPr indent="0" marL="0">
              <a:buNone/>
            </a:pPr>
            <a:r>
              <a:rPr lang="en-US" sz="1050" dirty="0">
                <a:solidFill>
                  <a:srgbClr val="BDBDB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;   </a:t>
            </a:r>
            <a:pPr indent="0" marL="0">
              <a:buNone/>
            </a:pPr>
            <a:r>
              <a:rPr lang="en-US" sz="1050" i="1" dirty="0">
                <a:solidFill>
                  <a:srgbClr val="8E8E8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// 按键接 2 号引脚（按下读到 LOW）</a:t>
            </a:r>
            <a:endParaRPr lang="en-US" sz="1050" dirty="0"/>
          </a:p>
        </p:txBody>
      </p:sp>
      <p:sp>
        <p:nvSpPr>
          <p:cNvPr id="11" name="Text 8"/>
          <p:cNvSpPr txBox="1"/>
          <p:nvPr/>
        </p:nvSpPr>
        <p:spPr>
          <a:xfrm>
            <a:off x="502920" y="1726692"/>
            <a:ext cx="208719" cy="1813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lnSpc>
                <a:spcPct val="115000"/>
              </a:lnSpc>
              <a:buNone/>
            </a:pPr>
            <a:r>
              <a:rPr lang="en-US" sz="950" dirty="0">
                <a:solidFill>
                  <a:srgbClr val="7A7A7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2</a:t>
            </a:r>
            <a:endParaRPr lang="en-US" sz="950" dirty="0"/>
          </a:p>
        </p:txBody>
      </p:sp>
      <p:sp>
        <p:nvSpPr>
          <p:cNvPr id="12" name="Text 9"/>
          <p:cNvSpPr txBox="1"/>
          <p:nvPr/>
        </p:nvSpPr>
        <p:spPr>
          <a:xfrm>
            <a:off x="828492" y="1726692"/>
            <a:ext cx="4484172" cy="1813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40E0D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int </a:t>
            </a:r>
            <a:pPr indent="0" marL="0">
              <a:buNone/>
            </a:pPr>
            <a:r>
              <a:rPr lang="en-US" sz="1050" dirty="0">
                <a:solidFill>
                  <a:srgbClr val="D9D9D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ledPin </a:t>
            </a:r>
            <a:pPr indent="0" marL="0">
              <a:buNone/>
            </a:pPr>
            <a:r>
              <a:rPr lang="en-US" sz="1050" dirty="0">
                <a:solidFill>
                  <a:srgbClr val="BDBDB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= </a:t>
            </a:r>
            <a:pPr indent="0" marL="0">
              <a:buNone/>
            </a:pPr>
            <a:r>
              <a:rPr lang="en-US" sz="1050" dirty="0">
                <a:solidFill>
                  <a:srgbClr val="F7C87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13</a:t>
            </a:r>
            <a:pPr indent="0" marL="0">
              <a:buNone/>
            </a:pPr>
            <a:r>
              <a:rPr lang="en-US" sz="1050" dirty="0">
                <a:solidFill>
                  <a:srgbClr val="BDBDB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;     </a:t>
            </a:r>
            <a:pPr indent="0" marL="0">
              <a:buNone/>
            </a:pPr>
            <a:r>
              <a:rPr lang="en-US" sz="1050" i="1" dirty="0">
                <a:solidFill>
                  <a:srgbClr val="8E8E8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// 板载 L 灯</a:t>
            </a:r>
            <a:endParaRPr lang="en-US" sz="1050" dirty="0"/>
          </a:p>
        </p:txBody>
      </p:sp>
      <p:sp>
        <p:nvSpPr>
          <p:cNvPr id="13" name="Text 10"/>
          <p:cNvSpPr txBox="1"/>
          <p:nvPr/>
        </p:nvSpPr>
        <p:spPr>
          <a:xfrm>
            <a:off x="502920" y="1908048"/>
            <a:ext cx="208719" cy="1813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lnSpc>
                <a:spcPct val="115000"/>
              </a:lnSpc>
              <a:buNone/>
            </a:pPr>
            <a:r>
              <a:rPr lang="en-US" sz="950" dirty="0">
                <a:solidFill>
                  <a:srgbClr val="7A7A7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3</a:t>
            </a:r>
            <a:endParaRPr lang="en-US" sz="950" dirty="0"/>
          </a:p>
        </p:txBody>
      </p:sp>
      <p:sp>
        <p:nvSpPr>
          <p:cNvPr id="14" name="Text 11"/>
          <p:cNvSpPr txBox="1"/>
          <p:nvPr/>
        </p:nvSpPr>
        <p:spPr>
          <a:xfrm>
            <a:off x="828492" y="1908048"/>
            <a:ext cx="4484172" cy="1813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D9D9D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endParaRPr lang="en-US" sz="1050" dirty="0"/>
          </a:p>
        </p:txBody>
      </p:sp>
      <p:sp>
        <p:nvSpPr>
          <p:cNvPr id="15" name="Text 12"/>
          <p:cNvSpPr txBox="1"/>
          <p:nvPr/>
        </p:nvSpPr>
        <p:spPr>
          <a:xfrm>
            <a:off x="502920" y="2089404"/>
            <a:ext cx="208719" cy="1813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lnSpc>
                <a:spcPct val="115000"/>
              </a:lnSpc>
              <a:buNone/>
            </a:pPr>
            <a:r>
              <a:rPr lang="en-US" sz="950" dirty="0">
                <a:solidFill>
                  <a:srgbClr val="7A7A7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4</a:t>
            </a:r>
            <a:endParaRPr lang="en-US" sz="950" dirty="0"/>
          </a:p>
        </p:txBody>
      </p:sp>
      <p:sp>
        <p:nvSpPr>
          <p:cNvPr id="16" name="Text 13"/>
          <p:cNvSpPr txBox="1"/>
          <p:nvPr/>
        </p:nvSpPr>
        <p:spPr>
          <a:xfrm>
            <a:off x="828492" y="2089404"/>
            <a:ext cx="4484172" cy="1813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40E0D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void </a:t>
            </a:r>
            <a:pPr indent="0" marL="0">
              <a:buNone/>
            </a:pPr>
            <a:r>
              <a:rPr lang="en-US" sz="1050" b="1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setup</a:t>
            </a:r>
            <a:pPr indent="0" marL="0">
              <a:buNone/>
            </a:pPr>
            <a:r>
              <a:rPr lang="en-US" sz="1050" dirty="0">
                <a:solidFill>
                  <a:srgbClr val="BDBDB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() {</a:t>
            </a:r>
            <a:endParaRPr lang="en-US" sz="1050" dirty="0"/>
          </a:p>
        </p:txBody>
      </p:sp>
      <p:sp>
        <p:nvSpPr>
          <p:cNvPr id="17" name="Shape 14"/>
          <p:cNvSpPr/>
          <p:nvPr/>
        </p:nvSpPr>
        <p:spPr>
          <a:xfrm>
            <a:off x="457200" y="2270760"/>
            <a:ext cx="4937760" cy="181356"/>
          </a:xfrm>
          <a:prstGeom prst="rect">
            <a:avLst/>
          </a:prstGeom>
          <a:solidFill>
            <a:srgbClr val="3E5250"/>
          </a:solidFill>
          <a:ln w="12700">
            <a:solidFill>
              <a:srgbClr val="3E5250"/>
            </a:solidFill>
            <a:prstDash val="solid"/>
          </a:ln>
        </p:spPr>
      </p:sp>
      <p:sp>
        <p:nvSpPr>
          <p:cNvPr id="18" name="Text 15"/>
          <p:cNvSpPr txBox="1"/>
          <p:nvPr/>
        </p:nvSpPr>
        <p:spPr>
          <a:xfrm>
            <a:off x="502920" y="2270760"/>
            <a:ext cx="208719" cy="1813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lnSpc>
                <a:spcPct val="115000"/>
              </a:lnSpc>
              <a:buNone/>
            </a:pPr>
            <a:r>
              <a:rPr lang="en-US" sz="950" b="1" dirty="0">
                <a:solidFill>
                  <a:srgbClr val="40E0D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5</a:t>
            </a:r>
            <a:endParaRPr lang="en-US" sz="950" dirty="0"/>
          </a:p>
        </p:txBody>
      </p:sp>
      <p:sp>
        <p:nvSpPr>
          <p:cNvPr id="19" name="Text 16"/>
          <p:cNvSpPr txBox="1"/>
          <p:nvPr/>
        </p:nvSpPr>
        <p:spPr>
          <a:xfrm>
            <a:off x="828492" y="2270760"/>
            <a:ext cx="4484172" cy="1813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D9D9D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</a:t>
            </a:r>
            <a:pPr indent="0" marL="0">
              <a:buNone/>
            </a:pPr>
            <a:r>
              <a:rPr lang="en-US" sz="1050" b="1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pinMode</a:t>
            </a:r>
            <a:pPr indent="0" marL="0">
              <a:buNone/>
            </a:pPr>
            <a:r>
              <a:rPr lang="en-US" sz="1050" dirty="0">
                <a:solidFill>
                  <a:srgbClr val="BDBDB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(</a:t>
            </a:r>
            <a:pPr indent="0" marL="0">
              <a:buNone/>
            </a:pPr>
            <a:r>
              <a:rPr lang="en-US" sz="1050" dirty="0">
                <a:solidFill>
                  <a:srgbClr val="D9D9D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buttonPin</a:t>
            </a:r>
            <a:pPr indent="0" marL="0">
              <a:buNone/>
            </a:pPr>
            <a:r>
              <a:rPr lang="en-US" sz="1050" dirty="0">
                <a:solidFill>
                  <a:srgbClr val="BDBDB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, </a:t>
            </a:r>
            <a:pPr indent="0" marL="0">
              <a:buNone/>
            </a:pPr>
            <a:r>
              <a:rPr lang="en-US" sz="1050" dirty="0">
                <a:solidFill>
                  <a:srgbClr val="F7C87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INPUT</a:t>
            </a:r>
            <a:pPr indent="0" marL="0">
              <a:buNone/>
            </a:pPr>
            <a:r>
              <a:rPr lang="en-US" sz="1050" dirty="0">
                <a:solidFill>
                  <a:srgbClr val="BDBDB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);</a:t>
            </a:r>
            <a:endParaRPr lang="en-US" sz="1050" dirty="0"/>
          </a:p>
        </p:txBody>
      </p:sp>
      <p:sp>
        <p:nvSpPr>
          <p:cNvPr id="20" name="Text 17"/>
          <p:cNvSpPr txBox="1"/>
          <p:nvPr/>
        </p:nvSpPr>
        <p:spPr>
          <a:xfrm>
            <a:off x="502920" y="2452116"/>
            <a:ext cx="208719" cy="1813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lnSpc>
                <a:spcPct val="115000"/>
              </a:lnSpc>
              <a:buNone/>
            </a:pPr>
            <a:r>
              <a:rPr lang="en-US" sz="950" dirty="0">
                <a:solidFill>
                  <a:srgbClr val="7A7A7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6</a:t>
            </a:r>
            <a:endParaRPr lang="en-US" sz="950" dirty="0"/>
          </a:p>
        </p:txBody>
      </p:sp>
      <p:sp>
        <p:nvSpPr>
          <p:cNvPr id="21" name="Text 18"/>
          <p:cNvSpPr txBox="1"/>
          <p:nvPr/>
        </p:nvSpPr>
        <p:spPr>
          <a:xfrm>
            <a:off x="828492" y="2452116"/>
            <a:ext cx="4484172" cy="1813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D9D9D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</a:t>
            </a:r>
            <a:pPr indent="0" marL="0">
              <a:buNone/>
            </a:pPr>
            <a:r>
              <a:rPr lang="en-US" sz="1050" b="1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pinMode</a:t>
            </a:r>
            <a:pPr indent="0" marL="0">
              <a:buNone/>
            </a:pPr>
            <a:r>
              <a:rPr lang="en-US" sz="1050" dirty="0">
                <a:solidFill>
                  <a:srgbClr val="BDBDB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(</a:t>
            </a:r>
            <a:pPr indent="0" marL="0">
              <a:buNone/>
            </a:pPr>
            <a:r>
              <a:rPr lang="en-US" sz="1050" dirty="0">
                <a:solidFill>
                  <a:srgbClr val="D9D9D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ledPin</a:t>
            </a:r>
            <a:pPr indent="0" marL="0">
              <a:buNone/>
            </a:pPr>
            <a:r>
              <a:rPr lang="en-US" sz="1050" dirty="0">
                <a:solidFill>
                  <a:srgbClr val="BDBDB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, </a:t>
            </a:r>
            <a:pPr indent="0" marL="0">
              <a:buNone/>
            </a:pPr>
            <a:r>
              <a:rPr lang="en-US" sz="1050" dirty="0">
                <a:solidFill>
                  <a:srgbClr val="F7C87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OUTPUT</a:t>
            </a:r>
            <a:pPr indent="0" marL="0">
              <a:buNone/>
            </a:pPr>
            <a:r>
              <a:rPr lang="en-US" sz="1050" dirty="0">
                <a:solidFill>
                  <a:srgbClr val="BDBDB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);</a:t>
            </a:r>
            <a:endParaRPr lang="en-US" sz="1050" dirty="0"/>
          </a:p>
        </p:txBody>
      </p:sp>
      <p:sp>
        <p:nvSpPr>
          <p:cNvPr id="22" name="Text 19"/>
          <p:cNvSpPr txBox="1"/>
          <p:nvPr/>
        </p:nvSpPr>
        <p:spPr>
          <a:xfrm>
            <a:off x="502920" y="2633472"/>
            <a:ext cx="208719" cy="1813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lnSpc>
                <a:spcPct val="115000"/>
              </a:lnSpc>
              <a:buNone/>
            </a:pPr>
            <a:r>
              <a:rPr lang="en-US" sz="950" dirty="0">
                <a:solidFill>
                  <a:srgbClr val="7A7A7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7</a:t>
            </a:r>
            <a:endParaRPr lang="en-US" sz="950" dirty="0"/>
          </a:p>
        </p:txBody>
      </p:sp>
      <p:sp>
        <p:nvSpPr>
          <p:cNvPr id="23" name="Text 20"/>
          <p:cNvSpPr txBox="1"/>
          <p:nvPr/>
        </p:nvSpPr>
        <p:spPr>
          <a:xfrm>
            <a:off x="828492" y="2633472"/>
            <a:ext cx="4484172" cy="1813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BDBDB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}</a:t>
            </a:r>
            <a:endParaRPr lang="en-US" sz="1050" dirty="0"/>
          </a:p>
        </p:txBody>
      </p:sp>
      <p:sp>
        <p:nvSpPr>
          <p:cNvPr id="24" name="Text 21"/>
          <p:cNvSpPr txBox="1"/>
          <p:nvPr/>
        </p:nvSpPr>
        <p:spPr>
          <a:xfrm>
            <a:off x="502920" y="2814828"/>
            <a:ext cx="208719" cy="1813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lnSpc>
                <a:spcPct val="115000"/>
              </a:lnSpc>
              <a:buNone/>
            </a:pPr>
            <a:r>
              <a:rPr lang="en-US" sz="950" dirty="0">
                <a:solidFill>
                  <a:srgbClr val="7A7A7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8</a:t>
            </a:r>
            <a:endParaRPr lang="en-US" sz="950" dirty="0"/>
          </a:p>
        </p:txBody>
      </p:sp>
      <p:sp>
        <p:nvSpPr>
          <p:cNvPr id="25" name="Text 22"/>
          <p:cNvSpPr txBox="1"/>
          <p:nvPr/>
        </p:nvSpPr>
        <p:spPr>
          <a:xfrm>
            <a:off x="828492" y="2814828"/>
            <a:ext cx="4484172" cy="1813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D9D9D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endParaRPr lang="en-US" sz="1050" dirty="0"/>
          </a:p>
        </p:txBody>
      </p:sp>
      <p:sp>
        <p:nvSpPr>
          <p:cNvPr id="26" name="Text 23"/>
          <p:cNvSpPr txBox="1"/>
          <p:nvPr/>
        </p:nvSpPr>
        <p:spPr>
          <a:xfrm>
            <a:off x="502920" y="2996184"/>
            <a:ext cx="208719" cy="1813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lnSpc>
                <a:spcPct val="115000"/>
              </a:lnSpc>
              <a:buNone/>
            </a:pPr>
            <a:r>
              <a:rPr lang="en-US" sz="950" dirty="0">
                <a:solidFill>
                  <a:srgbClr val="7A7A7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9</a:t>
            </a:r>
            <a:endParaRPr lang="en-US" sz="950" dirty="0"/>
          </a:p>
        </p:txBody>
      </p:sp>
      <p:sp>
        <p:nvSpPr>
          <p:cNvPr id="27" name="Text 24"/>
          <p:cNvSpPr txBox="1"/>
          <p:nvPr/>
        </p:nvSpPr>
        <p:spPr>
          <a:xfrm>
            <a:off x="828492" y="2996184"/>
            <a:ext cx="4484172" cy="1813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40E0D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void </a:t>
            </a:r>
            <a:pPr indent="0" marL="0">
              <a:buNone/>
            </a:pPr>
            <a:r>
              <a:rPr lang="en-US" sz="1050" b="1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loop</a:t>
            </a:r>
            <a:pPr indent="0" marL="0">
              <a:buNone/>
            </a:pPr>
            <a:r>
              <a:rPr lang="en-US" sz="1050" dirty="0">
                <a:solidFill>
                  <a:srgbClr val="BDBDB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() {</a:t>
            </a:r>
            <a:endParaRPr lang="en-US" sz="1050" dirty="0"/>
          </a:p>
        </p:txBody>
      </p:sp>
      <p:sp>
        <p:nvSpPr>
          <p:cNvPr id="28" name="Shape 25"/>
          <p:cNvSpPr/>
          <p:nvPr/>
        </p:nvSpPr>
        <p:spPr>
          <a:xfrm>
            <a:off x="457200" y="3177540"/>
            <a:ext cx="4937760" cy="181356"/>
          </a:xfrm>
          <a:prstGeom prst="rect">
            <a:avLst/>
          </a:prstGeom>
          <a:solidFill>
            <a:srgbClr val="3E5250"/>
          </a:solidFill>
          <a:ln w="12700">
            <a:solidFill>
              <a:srgbClr val="3E5250"/>
            </a:solidFill>
            <a:prstDash val="solid"/>
          </a:ln>
        </p:spPr>
      </p:sp>
      <p:sp>
        <p:nvSpPr>
          <p:cNvPr id="29" name="Text 26"/>
          <p:cNvSpPr txBox="1"/>
          <p:nvPr/>
        </p:nvSpPr>
        <p:spPr>
          <a:xfrm>
            <a:off x="502920" y="3177540"/>
            <a:ext cx="208719" cy="1813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lnSpc>
                <a:spcPct val="115000"/>
              </a:lnSpc>
              <a:buNone/>
            </a:pPr>
            <a:r>
              <a:rPr lang="en-US" sz="950" b="1" dirty="0">
                <a:solidFill>
                  <a:srgbClr val="40E0D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10</a:t>
            </a:r>
            <a:endParaRPr lang="en-US" sz="950" dirty="0"/>
          </a:p>
        </p:txBody>
      </p:sp>
      <p:sp>
        <p:nvSpPr>
          <p:cNvPr id="30" name="Text 27"/>
          <p:cNvSpPr txBox="1"/>
          <p:nvPr/>
        </p:nvSpPr>
        <p:spPr>
          <a:xfrm>
            <a:off x="828492" y="3177540"/>
            <a:ext cx="4484172" cy="1813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D9D9D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</a:t>
            </a:r>
            <a:pPr indent="0" marL="0">
              <a:buNone/>
            </a:pPr>
            <a:r>
              <a:rPr lang="en-US" sz="1050" b="1" dirty="0">
                <a:solidFill>
                  <a:srgbClr val="40E0D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if </a:t>
            </a:r>
            <a:pPr indent="0" marL="0">
              <a:buNone/>
            </a:pPr>
            <a:r>
              <a:rPr lang="en-US" sz="1050" dirty="0">
                <a:solidFill>
                  <a:srgbClr val="BDBDB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(</a:t>
            </a:r>
            <a:pPr indent="0" marL="0">
              <a:buNone/>
            </a:pPr>
            <a:r>
              <a:rPr lang="en-US" sz="1050" b="1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digitalRead</a:t>
            </a:r>
            <a:pPr indent="0" marL="0">
              <a:buNone/>
            </a:pPr>
            <a:r>
              <a:rPr lang="en-US" sz="1050" dirty="0">
                <a:solidFill>
                  <a:srgbClr val="BDBDB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(</a:t>
            </a:r>
            <a:pPr indent="0" marL="0">
              <a:buNone/>
            </a:pPr>
            <a:r>
              <a:rPr lang="en-US" sz="1050" dirty="0">
                <a:solidFill>
                  <a:srgbClr val="D9D9D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buttonPin</a:t>
            </a:r>
            <a:pPr indent="0" marL="0">
              <a:buNone/>
            </a:pPr>
            <a:r>
              <a:rPr lang="en-US" sz="1050" dirty="0">
                <a:solidFill>
                  <a:srgbClr val="BDBDB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) == </a:t>
            </a:r>
            <a:pPr indent="0" marL="0">
              <a:buNone/>
            </a:pPr>
            <a:r>
              <a:rPr lang="en-US" sz="1050" dirty="0">
                <a:solidFill>
                  <a:srgbClr val="F7C87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LOW</a:t>
            </a:r>
            <a:pPr indent="0" marL="0">
              <a:buNone/>
            </a:pPr>
            <a:r>
              <a:rPr lang="en-US" sz="1050" dirty="0">
                <a:solidFill>
                  <a:srgbClr val="BDBDB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) {</a:t>
            </a:r>
            <a:endParaRPr lang="en-US" sz="1050" dirty="0"/>
          </a:p>
        </p:txBody>
      </p:sp>
      <p:sp>
        <p:nvSpPr>
          <p:cNvPr id="31" name="Shape 28"/>
          <p:cNvSpPr/>
          <p:nvPr/>
        </p:nvSpPr>
        <p:spPr>
          <a:xfrm>
            <a:off x="457200" y="3358896"/>
            <a:ext cx="4937760" cy="181356"/>
          </a:xfrm>
          <a:prstGeom prst="rect">
            <a:avLst/>
          </a:prstGeom>
          <a:solidFill>
            <a:srgbClr val="3E5250"/>
          </a:solidFill>
          <a:ln w="12700">
            <a:solidFill>
              <a:srgbClr val="3E5250"/>
            </a:solidFill>
            <a:prstDash val="solid"/>
          </a:ln>
        </p:spPr>
      </p:sp>
      <p:sp>
        <p:nvSpPr>
          <p:cNvPr id="32" name="Text 29"/>
          <p:cNvSpPr txBox="1"/>
          <p:nvPr/>
        </p:nvSpPr>
        <p:spPr>
          <a:xfrm>
            <a:off x="502920" y="3358896"/>
            <a:ext cx="208719" cy="1813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lnSpc>
                <a:spcPct val="115000"/>
              </a:lnSpc>
              <a:buNone/>
            </a:pPr>
            <a:r>
              <a:rPr lang="en-US" sz="950" b="1" dirty="0">
                <a:solidFill>
                  <a:srgbClr val="40E0D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11</a:t>
            </a:r>
            <a:endParaRPr lang="en-US" sz="950" dirty="0"/>
          </a:p>
        </p:txBody>
      </p:sp>
      <p:sp>
        <p:nvSpPr>
          <p:cNvPr id="33" name="Text 30"/>
          <p:cNvSpPr txBox="1"/>
          <p:nvPr/>
        </p:nvSpPr>
        <p:spPr>
          <a:xfrm>
            <a:off x="828492" y="3358896"/>
            <a:ext cx="4484172" cy="1813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D9D9D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</a:t>
            </a:r>
            <a:pPr indent="0" marL="0">
              <a:buNone/>
            </a:pPr>
            <a:r>
              <a:rPr lang="en-US" sz="1050" b="1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digitalWrite</a:t>
            </a:r>
            <a:pPr indent="0" marL="0">
              <a:buNone/>
            </a:pPr>
            <a:r>
              <a:rPr lang="en-US" sz="1050" dirty="0">
                <a:solidFill>
                  <a:srgbClr val="BDBDB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(</a:t>
            </a:r>
            <a:pPr indent="0" marL="0">
              <a:buNone/>
            </a:pPr>
            <a:r>
              <a:rPr lang="en-US" sz="1050" dirty="0">
                <a:solidFill>
                  <a:srgbClr val="D9D9D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ledPin</a:t>
            </a:r>
            <a:pPr indent="0" marL="0">
              <a:buNone/>
            </a:pPr>
            <a:r>
              <a:rPr lang="en-US" sz="1050" dirty="0">
                <a:solidFill>
                  <a:srgbClr val="BDBDB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, </a:t>
            </a:r>
            <a:pPr indent="0" marL="0">
              <a:buNone/>
            </a:pPr>
            <a:r>
              <a:rPr lang="en-US" sz="1050" dirty="0">
                <a:solidFill>
                  <a:srgbClr val="F7C87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HIGH</a:t>
            </a:r>
            <a:pPr indent="0" marL="0">
              <a:buNone/>
            </a:pPr>
            <a:r>
              <a:rPr lang="en-US" sz="1050" dirty="0">
                <a:solidFill>
                  <a:srgbClr val="BDBDB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);   </a:t>
            </a:r>
            <a:pPr indent="0" marL="0">
              <a:buNone/>
            </a:pPr>
            <a:r>
              <a:rPr lang="en-US" sz="1050" i="1" dirty="0">
                <a:solidFill>
                  <a:srgbClr val="8E8E8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// 按下：开灯</a:t>
            </a:r>
            <a:endParaRPr lang="en-US" sz="1050" dirty="0"/>
          </a:p>
        </p:txBody>
      </p:sp>
      <p:sp>
        <p:nvSpPr>
          <p:cNvPr id="34" name="Text 31"/>
          <p:cNvSpPr txBox="1"/>
          <p:nvPr/>
        </p:nvSpPr>
        <p:spPr>
          <a:xfrm>
            <a:off x="502920" y="3540252"/>
            <a:ext cx="208719" cy="1813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lnSpc>
                <a:spcPct val="115000"/>
              </a:lnSpc>
              <a:buNone/>
            </a:pPr>
            <a:r>
              <a:rPr lang="en-US" sz="950" dirty="0">
                <a:solidFill>
                  <a:srgbClr val="7A7A7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12</a:t>
            </a:r>
            <a:endParaRPr lang="en-US" sz="950" dirty="0"/>
          </a:p>
        </p:txBody>
      </p:sp>
      <p:sp>
        <p:nvSpPr>
          <p:cNvPr id="35" name="Text 32"/>
          <p:cNvSpPr txBox="1"/>
          <p:nvPr/>
        </p:nvSpPr>
        <p:spPr>
          <a:xfrm>
            <a:off x="828492" y="3540252"/>
            <a:ext cx="4484172" cy="1813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D9D9D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</a:t>
            </a:r>
            <a:pPr indent="0" marL="0">
              <a:buNone/>
            </a:pPr>
            <a:r>
              <a:rPr lang="en-US" sz="1050" dirty="0">
                <a:solidFill>
                  <a:srgbClr val="BDBDB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} </a:t>
            </a:r>
            <a:pPr indent="0" marL="0">
              <a:buNone/>
            </a:pPr>
            <a:r>
              <a:rPr lang="en-US" sz="1050" b="1" dirty="0">
                <a:solidFill>
                  <a:srgbClr val="40E0D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else </a:t>
            </a:r>
            <a:pPr indent="0" marL="0">
              <a:buNone/>
            </a:pPr>
            <a:r>
              <a:rPr lang="en-US" sz="1050" dirty="0">
                <a:solidFill>
                  <a:srgbClr val="BDBDB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{</a:t>
            </a:r>
            <a:endParaRPr lang="en-US" sz="1050" dirty="0"/>
          </a:p>
        </p:txBody>
      </p:sp>
      <p:sp>
        <p:nvSpPr>
          <p:cNvPr id="36" name="Shape 33"/>
          <p:cNvSpPr/>
          <p:nvPr/>
        </p:nvSpPr>
        <p:spPr>
          <a:xfrm>
            <a:off x="457200" y="3721608"/>
            <a:ext cx="4937760" cy="181356"/>
          </a:xfrm>
          <a:prstGeom prst="rect">
            <a:avLst/>
          </a:prstGeom>
          <a:solidFill>
            <a:srgbClr val="3E5250"/>
          </a:solidFill>
          <a:ln w="12700">
            <a:solidFill>
              <a:srgbClr val="3E5250"/>
            </a:solidFill>
            <a:prstDash val="solid"/>
          </a:ln>
        </p:spPr>
      </p:sp>
      <p:sp>
        <p:nvSpPr>
          <p:cNvPr id="37" name="Text 34"/>
          <p:cNvSpPr txBox="1"/>
          <p:nvPr/>
        </p:nvSpPr>
        <p:spPr>
          <a:xfrm>
            <a:off x="502920" y="3721608"/>
            <a:ext cx="208719" cy="1813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lnSpc>
                <a:spcPct val="115000"/>
              </a:lnSpc>
              <a:buNone/>
            </a:pPr>
            <a:r>
              <a:rPr lang="en-US" sz="950" b="1" dirty="0">
                <a:solidFill>
                  <a:srgbClr val="40E0D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13</a:t>
            </a:r>
            <a:endParaRPr lang="en-US" sz="950" dirty="0"/>
          </a:p>
        </p:txBody>
      </p:sp>
      <p:sp>
        <p:nvSpPr>
          <p:cNvPr id="38" name="Text 35"/>
          <p:cNvSpPr txBox="1"/>
          <p:nvPr/>
        </p:nvSpPr>
        <p:spPr>
          <a:xfrm>
            <a:off x="828492" y="3721608"/>
            <a:ext cx="4484172" cy="1813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D9D9D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</a:t>
            </a:r>
            <a:pPr indent="0" marL="0">
              <a:buNone/>
            </a:pPr>
            <a:r>
              <a:rPr lang="en-US" sz="1050" b="1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digitalWrite</a:t>
            </a:r>
            <a:pPr indent="0" marL="0">
              <a:buNone/>
            </a:pPr>
            <a:r>
              <a:rPr lang="en-US" sz="1050" dirty="0">
                <a:solidFill>
                  <a:srgbClr val="BDBDB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(</a:t>
            </a:r>
            <a:pPr indent="0" marL="0">
              <a:buNone/>
            </a:pPr>
            <a:r>
              <a:rPr lang="en-US" sz="1050" dirty="0">
                <a:solidFill>
                  <a:srgbClr val="D9D9D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ledPin</a:t>
            </a:r>
            <a:pPr indent="0" marL="0">
              <a:buNone/>
            </a:pPr>
            <a:r>
              <a:rPr lang="en-US" sz="1050" dirty="0">
                <a:solidFill>
                  <a:srgbClr val="BDBDB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, </a:t>
            </a:r>
            <a:pPr indent="0" marL="0">
              <a:buNone/>
            </a:pPr>
            <a:r>
              <a:rPr lang="en-US" sz="1050" dirty="0">
                <a:solidFill>
                  <a:srgbClr val="F7C87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LOW</a:t>
            </a:r>
            <a:pPr indent="0" marL="0">
              <a:buNone/>
            </a:pPr>
            <a:r>
              <a:rPr lang="en-US" sz="1050" dirty="0">
                <a:solidFill>
                  <a:srgbClr val="BDBDB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);    </a:t>
            </a:r>
            <a:pPr indent="0" marL="0">
              <a:buNone/>
            </a:pPr>
            <a:r>
              <a:rPr lang="en-US" sz="1050" i="1" dirty="0">
                <a:solidFill>
                  <a:srgbClr val="8E8E8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// 松开：关灯</a:t>
            </a:r>
            <a:endParaRPr lang="en-US" sz="1050" dirty="0"/>
          </a:p>
        </p:txBody>
      </p:sp>
      <p:sp>
        <p:nvSpPr>
          <p:cNvPr id="39" name="Text 36"/>
          <p:cNvSpPr txBox="1"/>
          <p:nvPr/>
        </p:nvSpPr>
        <p:spPr>
          <a:xfrm>
            <a:off x="502920" y="3902964"/>
            <a:ext cx="208719" cy="1813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lnSpc>
                <a:spcPct val="115000"/>
              </a:lnSpc>
              <a:buNone/>
            </a:pPr>
            <a:r>
              <a:rPr lang="en-US" sz="950" dirty="0">
                <a:solidFill>
                  <a:srgbClr val="7A7A7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14</a:t>
            </a:r>
            <a:endParaRPr lang="en-US" sz="950" dirty="0"/>
          </a:p>
        </p:txBody>
      </p:sp>
      <p:sp>
        <p:nvSpPr>
          <p:cNvPr id="40" name="Text 37"/>
          <p:cNvSpPr txBox="1"/>
          <p:nvPr/>
        </p:nvSpPr>
        <p:spPr>
          <a:xfrm>
            <a:off x="828492" y="3902964"/>
            <a:ext cx="4484172" cy="1813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D9D9D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</a:t>
            </a:r>
            <a:pPr indent="0" marL="0">
              <a:buNone/>
            </a:pPr>
            <a:r>
              <a:rPr lang="en-US" sz="1050" dirty="0">
                <a:solidFill>
                  <a:srgbClr val="BDBDB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}</a:t>
            </a:r>
            <a:endParaRPr lang="en-US" sz="1050" dirty="0"/>
          </a:p>
        </p:txBody>
      </p:sp>
      <p:sp>
        <p:nvSpPr>
          <p:cNvPr id="41" name="Text 38"/>
          <p:cNvSpPr txBox="1"/>
          <p:nvPr/>
        </p:nvSpPr>
        <p:spPr>
          <a:xfrm>
            <a:off x="502920" y="4084320"/>
            <a:ext cx="208719" cy="1813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lnSpc>
                <a:spcPct val="115000"/>
              </a:lnSpc>
              <a:buNone/>
            </a:pPr>
            <a:r>
              <a:rPr lang="en-US" sz="950" dirty="0">
                <a:solidFill>
                  <a:srgbClr val="7A7A7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15</a:t>
            </a:r>
            <a:endParaRPr lang="en-US" sz="950" dirty="0"/>
          </a:p>
        </p:txBody>
      </p:sp>
      <p:sp>
        <p:nvSpPr>
          <p:cNvPr id="42" name="Text 39"/>
          <p:cNvSpPr txBox="1"/>
          <p:nvPr/>
        </p:nvSpPr>
        <p:spPr>
          <a:xfrm>
            <a:off x="828492" y="4084320"/>
            <a:ext cx="4484172" cy="1813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BDBDB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}</a:t>
            </a:r>
            <a:endParaRPr lang="en-US" sz="1050" dirty="0"/>
          </a:p>
        </p:txBody>
      </p:sp>
      <p:sp>
        <p:nvSpPr>
          <p:cNvPr id="43" name="Text 40"/>
          <p:cNvSpPr txBox="1"/>
          <p:nvPr/>
        </p:nvSpPr>
        <p:spPr>
          <a:xfrm>
            <a:off x="5715000" y="1234440"/>
            <a:ext cx="3017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1300" b="1" dirty="0">
                <a:solidFill>
                  <a:srgbClr val="2D2D2D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逐行看懂</a:t>
            </a:r>
            <a:endParaRPr lang="en-US" sz="1300" dirty="0"/>
          </a:p>
        </p:txBody>
      </p:sp>
      <p:sp>
        <p:nvSpPr>
          <p:cNvPr id="44" name="Shape 41"/>
          <p:cNvSpPr/>
          <p:nvPr/>
        </p:nvSpPr>
        <p:spPr>
          <a:xfrm>
            <a:off x="5715000" y="1600200"/>
            <a:ext cx="578612" cy="219456"/>
          </a:xfrm>
          <a:prstGeom prst="roundRect">
            <a:avLst>
              <a:gd name="adj" fmla="val 50000"/>
            </a:avLst>
          </a:prstGeom>
          <a:solidFill>
            <a:srgbClr val="40E0D0"/>
          </a:solidFill>
          <a:ln w="12700">
            <a:solidFill>
              <a:srgbClr val="40E0D0"/>
            </a:solidFill>
            <a:prstDash val="solid"/>
          </a:ln>
        </p:spPr>
      </p:sp>
      <p:sp>
        <p:nvSpPr>
          <p:cNvPr id="45" name="Text 42"/>
          <p:cNvSpPr txBox="1"/>
          <p:nvPr/>
        </p:nvSpPr>
        <p:spPr>
          <a:xfrm>
            <a:off x="5715000" y="1600200"/>
            <a:ext cx="578612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15000"/>
              </a:lnSpc>
              <a:buNone/>
            </a:pPr>
            <a:r>
              <a:rPr lang="en-US" sz="950" b="1" dirty="0">
                <a:solidFill>
                  <a:srgbClr val="2D2D2D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第 1 行</a:t>
            </a:r>
            <a:endParaRPr lang="en-US" sz="950" dirty="0"/>
          </a:p>
        </p:txBody>
      </p:sp>
      <p:sp>
        <p:nvSpPr>
          <p:cNvPr id="46" name="Text 43"/>
          <p:cNvSpPr txBox="1"/>
          <p:nvPr/>
        </p:nvSpPr>
        <p:spPr>
          <a:xfrm>
            <a:off x="6385052" y="1591056"/>
            <a:ext cx="234746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0000"/>
              </a:lnSpc>
              <a:buNone/>
            </a:pPr>
            <a:r>
              <a:rPr lang="en-US" sz="1200" dirty="0">
                <a:solidFill>
                  <a:srgbClr val="2D2D2D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按键接 2 号脚，按下读到 LOW</a:t>
            </a:r>
            <a:endParaRPr lang="en-US" sz="1200" dirty="0"/>
          </a:p>
        </p:txBody>
      </p:sp>
      <p:sp>
        <p:nvSpPr>
          <p:cNvPr id="47" name="Shape 44"/>
          <p:cNvSpPr/>
          <p:nvPr/>
        </p:nvSpPr>
        <p:spPr>
          <a:xfrm>
            <a:off x="5715000" y="1947672"/>
            <a:ext cx="578612" cy="219456"/>
          </a:xfrm>
          <a:prstGeom prst="roundRect">
            <a:avLst>
              <a:gd name="adj" fmla="val 50000"/>
            </a:avLst>
          </a:prstGeom>
          <a:solidFill>
            <a:srgbClr val="40E0D0"/>
          </a:solidFill>
          <a:ln w="12700">
            <a:solidFill>
              <a:srgbClr val="40E0D0"/>
            </a:solidFill>
            <a:prstDash val="solid"/>
          </a:ln>
        </p:spPr>
      </p:sp>
      <p:sp>
        <p:nvSpPr>
          <p:cNvPr id="48" name="Text 45"/>
          <p:cNvSpPr txBox="1"/>
          <p:nvPr/>
        </p:nvSpPr>
        <p:spPr>
          <a:xfrm>
            <a:off x="5715000" y="1947672"/>
            <a:ext cx="578612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15000"/>
              </a:lnSpc>
              <a:buNone/>
            </a:pPr>
            <a:r>
              <a:rPr lang="en-US" sz="950" b="1" dirty="0">
                <a:solidFill>
                  <a:srgbClr val="2D2D2D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第 5 行</a:t>
            </a:r>
            <a:endParaRPr lang="en-US" sz="950" dirty="0"/>
          </a:p>
        </p:txBody>
      </p:sp>
      <p:sp>
        <p:nvSpPr>
          <p:cNvPr id="49" name="Text 46"/>
          <p:cNvSpPr txBox="1"/>
          <p:nvPr/>
        </p:nvSpPr>
        <p:spPr>
          <a:xfrm>
            <a:off x="6385052" y="1938528"/>
            <a:ext cx="234746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0000"/>
              </a:lnSpc>
              <a:buNone/>
            </a:pPr>
            <a:r>
              <a:rPr lang="en-US" sz="1200" dirty="0">
                <a:solidFill>
                  <a:srgbClr val="2D2D2D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按键是输入：INPUT</a:t>
            </a:r>
            <a:endParaRPr lang="en-US" sz="1200" dirty="0"/>
          </a:p>
        </p:txBody>
      </p:sp>
      <p:sp>
        <p:nvSpPr>
          <p:cNvPr id="50" name="Shape 47"/>
          <p:cNvSpPr/>
          <p:nvPr/>
        </p:nvSpPr>
        <p:spPr>
          <a:xfrm>
            <a:off x="5715000" y="2295144"/>
            <a:ext cx="655828" cy="219456"/>
          </a:xfrm>
          <a:prstGeom prst="roundRect">
            <a:avLst>
              <a:gd name="adj" fmla="val 50000"/>
            </a:avLst>
          </a:prstGeom>
          <a:solidFill>
            <a:srgbClr val="40E0D0"/>
          </a:solidFill>
          <a:ln w="12700">
            <a:solidFill>
              <a:srgbClr val="40E0D0"/>
            </a:solidFill>
            <a:prstDash val="solid"/>
          </a:ln>
        </p:spPr>
      </p:sp>
      <p:sp>
        <p:nvSpPr>
          <p:cNvPr id="51" name="Text 48"/>
          <p:cNvSpPr txBox="1"/>
          <p:nvPr/>
        </p:nvSpPr>
        <p:spPr>
          <a:xfrm>
            <a:off x="5715000" y="2295144"/>
            <a:ext cx="655828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15000"/>
              </a:lnSpc>
              <a:buNone/>
            </a:pPr>
            <a:r>
              <a:rPr lang="en-US" sz="950" b="1" dirty="0">
                <a:solidFill>
                  <a:srgbClr val="2D2D2D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第 10 行</a:t>
            </a:r>
            <a:endParaRPr lang="en-US" sz="950" dirty="0"/>
          </a:p>
        </p:txBody>
      </p:sp>
      <p:sp>
        <p:nvSpPr>
          <p:cNvPr id="52" name="Text 49"/>
          <p:cNvSpPr txBox="1"/>
          <p:nvPr/>
        </p:nvSpPr>
        <p:spPr>
          <a:xfrm>
            <a:off x="6462268" y="2286000"/>
            <a:ext cx="227025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0000"/>
              </a:lnSpc>
              <a:buNone/>
            </a:pPr>
            <a:r>
              <a:rPr lang="en-US" sz="1200" dirty="0">
                <a:solidFill>
                  <a:srgbClr val="2D2D2D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读到 LOW＝按下了</a:t>
            </a:r>
            <a:endParaRPr lang="en-US" sz="1200" dirty="0"/>
          </a:p>
        </p:txBody>
      </p:sp>
      <p:sp>
        <p:nvSpPr>
          <p:cNvPr id="53" name="Shape 50"/>
          <p:cNvSpPr/>
          <p:nvPr/>
        </p:nvSpPr>
        <p:spPr>
          <a:xfrm>
            <a:off x="5715000" y="2642616"/>
            <a:ext cx="655828" cy="219456"/>
          </a:xfrm>
          <a:prstGeom prst="roundRect">
            <a:avLst>
              <a:gd name="adj" fmla="val 50000"/>
            </a:avLst>
          </a:prstGeom>
          <a:solidFill>
            <a:srgbClr val="40E0D0"/>
          </a:solidFill>
          <a:ln w="12700">
            <a:solidFill>
              <a:srgbClr val="40E0D0"/>
            </a:solidFill>
            <a:prstDash val="solid"/>
          </a:ln>
        </p:spPr>
      </p:sp>
      <p:sp>
        <p:nvSpPr>
          <p:cNvPr id="54" name="Text 51"/>
          <p:cNvSpPr txBox="1"/>
          <p:nvPr/>
        </p:nvSpPr>
        <p:spPr>
          <a:xfrm>
            <a:off x="5715000" y="2642616"/>
            <a:ext cx="655828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15000"/>
              </a:lnSpc>
              <a:buNone/>
            </a:pPr>
            <a:r>
              <a:rPr lang="en-US" sz="950" b="1" dirty="0">
                <a:solidFill>
                  <a:srgbClr val="2D2D2D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第 11 行</a:t>
            </a:r>
            <a:endParaRPr lang="en-US" sz="950" dirty="0"/>
          </a:p>
        </p:txBody>
      </p:sp>
      <p:sp>
        <p:nvSpPr>
          <p:cNvPr id="55" name="Text 52"/>
          <p:cNvSpPr txBox="1"/>
          <p:nvPr/>
        </p:nvSpPr>
        <p:spPr>
          <a:xfrm>
            <a:off x="6462268" y="2633472"/>
            <a:ext cx="227025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0000"/>
              </a:lnSpc>
              <a:buNone/>
            </a:pPr>
            <a:r>
              <a:rPr lang="en-US" sz="1200" dirty="0">
                <a:solidFill>
                  <a:srgbClr val="2D2D2D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条件成立：开灯</a:t>
            </a:r>
            <a:endParaRPr lang="en-US" sz="1200" dirty="0"/>
          </a:p>
        </p:txBody>
      </p:sp>
      <p:sp>
        <p:nvSpPr>
          <p:cNvPr id="56" name="Shape 53"/>
          <p:cNvSpPr/>
          <p:nvPr/>
        </p:nvSpPr>
        <p:spPr>
          <a:xfrm>
            <a:off x="5715000" y="2990088"/>
            <a:ext cx="655828" cy="219456"/>
          </a:xfrm>
          <a:prstGeom prst="roundRect">
            <a:avLst>
              <a:gd name="adj" fmla="val 50000"/>
            </a:avLst>
          </a:prstGeom>
          <a:solidFill>
            <a:srgbClr val="40E0D0"/>
          </a:solidFill>
          <a:ln w="12700">
            <a:solidFill>
              <a:srgbClr val="40E0D0"/>
            </a:solidFill>
            <a:prstDash val="solid"/>
          </a:ln>
        </p:spPr>
      </p:sp>
      <p:sp>
        <p:nvSpPr>
          <p:cNvPr id="57" name="Text 54"/>
          <p:cNvSpPr txBox="1"/>
          <p:nvPr/>
        </p:nvSpPr>
        <p:spPr>
          <a:xfrm>
            <a:off x="5715000" y="2990088"/>
            <a:ext cx="655828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15000"/>
              </a:lnSpc>
              <a:buNone/>
            </a:pPr>
            <a:r>
              <a:rPr lang="en-US" sz="950" b="1" dirty="0">
                <a:solidFill>
                  <a:srgbClr val="2D2D2D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第 13 行</a:t>
            </a:r>
            <a:endParaRPr lang="en-US" sz="950" dirty="0"/>
          </a:p>
        </p:txBody>
      </p:sp>
      <p:sp>
        <p:nvSpPr>
          <p:cNvPr id="58" name="Text 55"/>
          <p:cNvSpPr txBox="1"/>
          <p:nvPr/>
        </p:nvSpPr>
        <p:spPr>
          <a:xfrm>
            <a:off x="6462268" y="2980944"/>
            <a:ext cx="227025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0000"/>
              </a:lnSpc>
              <a:buNone/>
            </a:pPr>
            <a:r>
              <a:rPr lang="en-US" sz="1200" dirty="0">
                <a:solidFill>
                  <a:srgbClr val="2D2D2D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否则（松开）：关灯</a:t>
            </a:r>
            <a:endParaRPr lang="en-US" sz="1200" dirty="0"/>
          </a:p>
        </p:txBody>
      </p:sp>
      <p:sp>
        <p:nvSpPr>
          <p:cNvPr id="59" name="Shape 56"/>
          <p:cNvSpPr/>
          <p:nvPr/>
        </p:nvSpPr>
        <p:spPr>
          <a:xfrm>
            <a:off x="5715000" y="3483864"/>
            <a:ext cx="3017520" cy="1088136"/>
          </a:xfrm>
          <a:prstGeom prst="roundRect">
            <a:avLst>
              <a:gd name="adj" fmla="val 10084"/>
            </a:avLst>
          </a:prstGeom>
          <a:solidFill>
            <a:srgbClr val="E3FAF7"/>
          </a:solidFill>
          <a:ln w="12700">
            <a:solidFill>
              <a:srgbClr val="E3FAF7"/>
            </a:solidFill>
            <a:prstDash val="solid"/>
          </a:ln>
        </p:spPr>
      </p:sp>
      <p:sp>
        <p:nvSpPr>
          <p:cNvPr id="60" name="Shape 57"/>
          <p:cNvSpPr/>
          <p:nvPr/>
        </p:nvSpPr>
        <p:spPr>
          <a:xfrm>
            <a:off x="5861304" y="3630168"/>
            <a:ext cx="329184" cy="329184"/>
          </a:xfrm>
          <a:prstGeom prst="ellipse">
            <a:avLst/>
          </a:prstGeom>
          <a:solidFill>
            <a:srgbClr val="40E0D0"/>
          </a:solidFill>
          <a:ln w="12700">
            <a:solidFill>
              <a:srgbClr val="40E0D0"/>
            </a:solidFill>
            <a:prstDash val="solid"/>
          </a:ln>
        </p:spPr>
      </p:sp>
      <p:pic>
        <p:nvPicPr>
          <p:cNvPr id="61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940308" y="3709172"/>
            <a:ext cx="171176" cy="171176"/>
          </a:xfrm>
          <a:prstGeom prst="rect">
            <a:avLst/>
          </a:prstGeom>
        </p:spPr>
      </p:pic>
      <p:sp>
        <p:nvSpPr>
          <p:cNvPr id="62" name="Text 58"/>
          <p:cNvSpPr txBox="1"/>
          <p:nvPr/>
        </p:nvSpPr>
        <p:spPr>
          <a:xfrm>
            <a:off x="6318504" y="3621024"/>
            <a:ext cx="226771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1300" b="1" dirty="0">
                <a:solidFill>
                  <a:srgbClr val="2D2D2D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动手试一试</a:t>
            </a:r>
            <a:endParaRPr lang="en-US" sz="1300" dirty="0"/>
          </a:p>
        </p:txBody>
      </p:sp>
      <p:sp>
        <p:nvSpPr>
          <p:cNvPr id="63" name="Text 59"/>
          <p:cNvSpPr txBox="1"/>
          <p:nvPr/>
        </p:nvSpPr>
        <p:spPr>
          <a:xfrm>
            <a:off x="6318504" y="3931920"/>
            <a:ext cx="2267712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1200" dirty="0">
                <a:solidFill>
                  <a:srgbClr val="2D2D2D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把第 10 行的 LOW 改成 HIGH：灯的亮灭反过来了吗？</a:t>
            </a:r>
            <a:endParaRPr lang="en-US" sz="12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339328" y="4736592"/>
            <a:ext cx="393192" cy="219456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 lIns="0" tIns="0" rIns="0" bIns="0" anchor="ctr"/>
          <a:lstStyle>
            <a:lvl1pPr>
              <a:defRPr sz="800">
                <a:solidFill>
                  <a:srgbClr val="6B6B6B"/>
                </a:solidFill>
                <a:latin typeface="微软雅黑"/>
                <a:ea typeface="微软雅黑"/>
                <a:cs typeface="微软雅黑"/>
              </a:defRPr>
            </a:lvl1pPr>
          </a:lstStyle>
          <a:p>
            <a:pPr algn="r"/>
            <a:fld id="{F7021451-1387-4CA6-816F-3879F97B5CBC}" type="slidenum">
              <a:rPr b="0" lang="en-US"/>
              <a:t>23</a:t>
            </a:fld>
            <a:endParaRPr lang="en-US"/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1"/>
          <p:cNvSpPr/>
          <p:nvPr>
            <p:ph idx="102" type="body" hasCustomPrompt="1"/>
          </p:nvPr>
        </p:nvSpPr>
        <p:spPr>
          <a:xfrm>
            <a:off x="4572000" y="4736592"/>
            <a:ext cx="370332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2D2D2D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让程序会做决定</a:t>
            </a:r>
            <a:endParaRPr lang="en-US" sz="800" dirty="0"/>
          </a:p>
        </p:txBody>
      </p:sp>
      <p:sp>
        <p:nvSpPr>
          <p:cNvPr id="3" name="Text 1"/>
          <p:cNvSpPr/>
          <p:nvPr>
            <p:ph idx="103" type="title" hasCustomPrompt="1"/>
          </p:nvPr>
        </p:nvSpPr>
        <p:spPr>
          <a:xfrm>
            <a:off x="411480" y="274320"/>
            <a:ext cx="83210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400" dirty="0">
                <a:solidFill>
                  <a:srgbClr val="2D2D2D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循环 for / while：重复的事交给它</a:t>
            </a:r>
            <a:endParaRPr lang="en-US" sz="2400" dirty="0"/>
          </a:p>
        </p:txBody>
      </p:sp>
      <p:sp>
        <p:nvSpPr>
          <p:cNvPr id="4" name="Text 1"/>
          <p:cNvSpPr/>
          <p:nvPr>
            <p:ph idx="104" type="body" hasCustomPrompt="1"/>
          </p:nvPr>
        </p:nvSpPr>
        <p:spPr>
          <a:xfrm>
            <a:off x="411480" y="786384"/>
            <a:ext cx="83210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6B6B6B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for 像数着圈跑步：跑够圈数就停；while 像“只要……就一直……”。</a:t>
            </a:r>
            <a:endParaRPr lang="en-US" sz="1200" dirty="0"/>
          </a:p>
        </p:txBody>
      </p:sp>
      <p:sp>
        <p:nvSpPr>
          <p:cNvPr id="6" name="Shape 3"/>
          <p:cNvSpPr/>
          <p:nvPr/>
        </p:nvSpPr>
        <p:spPr>
          <a:xfrm>
            <a:off x="411480" y="1234440"/>
            <a:ext cx="8321040" cy="566928"/>
          </a:xfrm>
          <a:prstGeom prst="roundRect">
            <a:avLst>
              <a:gd name="adj" fmla="val 12903"/>
            </a:avLst>
          </a:prstGeom>
          <a:solidFill>
            <a:srgbClr val="2D2D2D"/>
          </a:solidFill>
          <a:ln w="12700">
            <a:solidFill>
              <a:srgbClr val="2D2D2D"/>
            </a:solidFill>
            <a:prstDash val="solid"/>
          </a:ln>
        </p:spPr>
      </p:sp>
      <p:sp>
        <p:nvSpPr>
          <p:cNvPr id="7" name="Text 4"/>
          <p:cNvSpPr txBox="1"/>
          <p:nvPr/>
        </p:nvSpPr>
        <p:spPr>
          <a:xfrm>
            <a:off x="685800" y="1234440"/>
            <a:ext cx="696011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1700" b="1" dirty="0">
                <a:solidFill>
                  <a:srgbClr val="40E0D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for </a:t>
            </a:r>
            <a:pPr algn="l" indent="0" marL="0">
              <a:lnSpc>
                <a:spcPct val="115000"/>
              </a:lnSpc>
              <a:buNone/>
            </a:pPr>
            <a:r>
              <a:rPr lang="en-US" sz="1700" dirty="0">
                <a:solidFill>
                  <a:srgbClr val="BDBDB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(</a:t>
            </a:r>
            <a:endParaRPr lang="en-US" sz="1700" dirty="0"/>
          </a:p>
        </p:txBody>
      </p:sp>
      <p:sp>
        <p:nvSpPr>
          <p:cNvPr id="8" name="Shape 5"/>
          <p:cNvSpPr/>
          <p:nvPr/>
        </p:nvSpPr>
        <p:spPr>
          <a:xfrm>
            <a:off x="1317803" y="1316736"/>
            <a:ext cx="1316827" cy="402336"/>
          </a:xfrm>
          <a:prstGeom prst="roundRect">
            <a:avLst>
              <a:gd name="adj" fmla="val 11364"/>
            </a:avLst>
          </a:prstGeom>
          <a:solidFill>
            <a:srgbClr val="3E5250"/>
          </a:solidFill>
          <a:ln w="12700">
            <a:solidFill>
              <a:srgbClr val="40E0D0"/>
            </a:solidFill>
            <a:prstDash val="solid"/>
          </a:ln>
        </p:spPr>
      </p:sp>
      <p:sp>
        <p:nvSpPr>
          <p:cNvPr id="9" name="Text 6"/>
          <p:cNvSpPr txBox="1"/>
          <p:nvPr/>
        </p:nvSpPr>
        <p:spPr>
          <a:xfrm>
            <a:off x="1390955" y="1234440"/>
            <a:ext cx="1216243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1700" b="1" dirty="0">
                <a:solidFill>
                  <a:srgbClr val="40E0D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int </a:t>
            </a:r>
            <a:pPr algn="l" indent="0" marL="0">
              <a:lnSpc>
                <a:spcPct val="115000"/>
              </a:lnSpc>
              <a:buNone/>
            </a:pPr>
            <a:r>
              <a:rPr lang="en-US" sz="1700" dirty="0">
                <a:solidFill>
                  <a:srgbClr val="D9D9D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 </a:t>
            </a:r>
            <a:pPr algn="l" indent="0" marL="0">
              <a:lnSpc>
                <a:spcPct val="115000"/>
              </a:lnSpc>
              <a:buNone/>
            </a:pPr>
            <a:r>
              <a:rPr lang="en-US" sz="1700" dirty="0">
                <a:solidFill>
                  <a:srgbClr val="BDBDB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= </a:t>
            </a:r>
            <a:pPr algn="l" indent="0" marL="0">
              <a:lnSpc>
                <a:spcPct val="115000"/>
              </a:lnSpc>
              <a:buNone/>
            </a:pPr>
            <a:r>
              <a:rPr lang="en-US" sz="1700" dirty="0">
                <a:solidFill>
                  <a:srgbClr val="F7C87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</a:t>
            </a:r>
            <a:endParaRPr lang="en-US" sz="1700" dirty="0"/>
          </a:p>
        </p:txBody>
      </p:sp>
      <p:sp>
        <p:nvSpPr>
          <p:cNvPr id="10" name="Text 7"/>
          <p:cNvSpPr txBox="1"/>
          <p:nvPr/>
        </p:nvSpPr>
        <p:spPr>
          <a:xfrm>
            <a:off x="2652918" y="1234440"/>
            <a:ext cx="305836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1700" dirty="0">
                <a:solidFill>
                  <a:srgbClr val="BDBDB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; </a:t>
            </a:r>
            <a:endParaRPr lang="en-US" sz="1700" dirty="0"/>
          </a:p>
        </p:txBody>
      </p:sp>
      <p:sp>
        <p:nvSpPr>
          <p:cNvPr id="11" name="Shape 8"/>
          <p:cNvSpPr/>
          <p:nvPr/>
        </p:nvSpPr>
        <p:spPr>
          <a:xfrm>
            <a:off x="2894747" y="1316736"/>
            <a:ext cx="796595" cy="402336"/>
          </a:xfrm>
          <a:prstGeom prst="roundRect">
            <a:avLst>
              <a:gd name="adj" fmla="val 11364"/>
            </a:avLst>
          </a:prstGeom>
          <a:solidFill>
            <a:srgbClr val="3E5250"/>
          </a:solidFill>
          <a:ln w="12700">
            <a:solidFill>
              <a:srgbClr val="40E0D0"/>
            </a:solidFill>
            <a:prstDash val="solid"/>
          </a:ln>
        </p:spPr>
      </p:sp>
      <p:sp>
        <p:nvSpPr>
          <p:cNvPr id="12" name="Text 9"/>
          <p:cNvSpPr txBox="1"/>
          <p:nvPr/>
        </p:nvSpPr>
        <p:spPr>
          <a:xfrm>
            <a:off x="2967899" y="1234440"/>
            <a:ext cx="696011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1700" dirty="0">
                <a:solidFill>
                  <a:srgbClr val="D9D9D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 </a:t>
            </a:r>
            <a:pPr algn="l" indent="0" marL="0">
              <a:lnSpc>
                <a:spcPct val="115000"/>
              </a:lnSpc>
              <a:buNone/>
            </a:pPr>
            <a:r>
              <a:rPr lang="en-US" sz="1700" dirty="0">
                <a:solidFill>
                  <a:srgbClr val="BDBDB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&lt; </a:t>
            </a:r>
            <a:pPr algn="l" indent="0" marL="0">
              <a:lnSpc>
                <a:spcPct val="115000"/>
              </a:lnSpc>
              <a:buNone/>
            </a:pPr>
            <a:r>
              <a:rPr lang="en-US" sz="1700" dirty="0">
                <a:solidFill>
                  <a:srgbClr val="F7C87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8</a:t>
            </a:r>
            <a:endParaRPr lang="en-US" sz="1700" dirty="0"/>
          </a:p>
        </p:txBody>
      </p:sp>
      <p:sp>
        <p:nvSpPr>
          <p:cNvPr id="13" name="Text 10"/>
          <p:cNvSpPr txBox="1"/>
          <p:nvPr/>
        </p:nvSpPr>
        <p:spPr>
          <a:xfrm>
            <a:off x="3709629" y="1234440"/>
            <a:ext cx="305836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1700" dirty="0">
                <a:solidFill>
                  <a:srgbClr val="BDBDB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; </a:t>
            </a:r>
            <a:endParaRPr lang="en-US" sz="1700" dirty="0"/>
          </a:p>
        </p:txBody>
      </p:sp>
      <p:sp>
        <p:nvSpPr>
          <p:cNvPr id="14" name="Shape 11"/>
          <p:cNvSpPr/>
          <p:nvPr/>
        </p:nvSpPr>
        <p:spPr>
          <a:xfrm>
            <a:off x="3951458" y="1316736"/>
            <a:ext cx="536478" cy="402336"/>
          </a:xfrm>
          <a:prstGeom prst="roundRect">
            <a:avLst>
              <a:gd name="adj" fmla="val 11364"/>
            </a:avLst>
          </a:prstGeom>
          <a:solidFill>
            <a:srgbClr val="3E5250"/>
          </a:solidFill>
          <a:ln w="12700">
            <a:solidFill>
              <a:srgbClr val="40E0D0"/>
            </a:solidFill>
            <a:prstDash val="solid"/>
          </a:ln>
        </p:spPr>
      </p:sp>
      <p:sp>
        <p:nvSpPr>
          <p:cNvPr id="15" name="Text 12"/>
          <p:cNvSpPr txBox="1"/>
          <p:nvPr/>
        </p:nvSpPr>
        <p:spPr>
          <a:xfrm>
            <a:off x="4024610" y="1234440"/>
            <a:ext cx="435894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1700" dirty="0">
                <a:solidFill>
                  <a:srgbClr val="D9D9D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</a:t>
            </a:r>
            <a:pPr algn="l" indent="0" marL="0">
              <a:lnSpc>
                <a:spcPct val="115000"/>
              </a:lnSpc>
              <a:buNone/>
            </a:pPr>
            <a:r>
              <a:rPr lang="en-US" sz="1700" dirty="0">
                <a:solidFill>
                  <a:srgbClr val="BDBDB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++</a:t>
            </a:r>
            <a:endParaRPr lang="en-US" sz="1700" dirty="0"/>
          </a:p>
        </p:txBody>
      </p:sp>
      <p:sp>
        <p:nvSpPr>
          <p:cNvPr id="16" name="Text 13"/>
          <p:cNvSpPr txBox="1"/>
          <p:nvPr/>
        </p:nvSpPr>
        <p:spPr>
          <a:xfrm>
            <a:off x="4506224" y="1234440"/>
            <a:ext cx="4180576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1700" dirty="0">
                <a:solidFill>
                  <a:srgbClr val="BDBDB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) {  </a:t>
            </a:r>
            <a:pPr algn="l" indent="0" marL="0">
              <a:lnSpc>
                <a:spcPct val="115000"/>
              </a:lnSpc>
              <a:buNone/>
            </a:pPr>
            <a:r>
              <a:rPr lang="en-US" sz="1700" i="1" dirty="0">
                <a:solidFill>
                  <a:srgbClr val="8E8E8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/* 要重复的事 */  </a:t>
            </a:r>
            <a:pPr algn="l" indent="0" marL="0">
              <a:lnSpc>
                <a:spcPct val="115000"/>
              </a:lnSpc>
              <a:buNone/>
            </a:pPr>
            <a:r>
              <a:rPr lang="en-US" sz="1700" dirty="0">
                <a:solidFill>
                  <a:srgbClr val="BDBDB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}</a:t>
            </a:r>
            <a:endParaRPr lang="en-US" sz="1700" dirty="0"/>
          </a:p>
        </p:txBody>
      </p:sp>
      <p:sp>
        <p:nvSpPr>
          <p:cNvPr id="17" name="Shape 14"/>
          <p:cNvSpPr/>
          <p:nvPr/>
        </p:nvSpPr>
        <p:spPr>
          <a:xfrm>
            <a:off x="1839057" y="1856232"/>
            <a:ext cx="274320" cy="274320"/>
          </a:xfrm>
          <a:prstGeom prst="ellipse">
            <a:avLst/>
          </a:prstGeom>
          <a:solidFill>
            <a:srgbClr val="40E0D0"/>
          </a:solidFill>
          <a:ln w="12700">
            <a:solidFill>
              <a:srgbClr val="40E0D0"/>
            </a:solidFill>
            <a:prstDash val="solid"/>
          </a:ln>
        </p:spPr>
      </p:sp>
      <p:sp>
        <p:nvSpPr>
          <p:cNvPr id="18" name="Text 15"/>
          <p:cNvSpPr txBox="1"/>
          <p:nvPr/>
        </p:nvSpPr>
        <p:spPr>
          <a:xfrm>
            <a:off x="1839057" y="1856232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15000"/>
              </a:lnSpc>
              <a:buNone/>
            </a:pPr>
            <a:r>
              <a:rPr lang="en-US" sz="1100" b="1" dirty="0">
                <a:solidFill>
                  <a:srgbClr val="2D2D2D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1</a:t>
            </a:r>
            <a:endParaRPr lang="en-US" sz="1100" dirty="0"/>
          </a:p>
        </p:txBody>
      </p:sp>
      <p:sp>
        <p:nvSpPr>
          <p:cNvPr id="19" name="Shape 16"/>
          <p:cNvSpPr/>
          <p:nvPr/>
        </p:nvSpPr>
        <p:spPr>
          <a:xfrm>
            <a:off x="3155884" y="1856232"/>
            <a:ext cx="274320" cy="274320"/>
          </a:xfrm>
          <a:prstGeom prst="ellipse">
            <a:avLst/>
          </a:prstGeom>
          <a:solidFill>
            <a:srgbClr val="40E0D0"/>
          </a:solidFill>
          <a:ln w="12700">
            <a:solidFill>
              <a:srgbClr val="40E0D0"/>
            </a:solidFill>
            <a:prstDash val="solid"/>
          </a:ln>
        </p:spPr>
      </p:sp>
      <p:sp>
        <p:nvSpPr>
          <p:cNvPr id="20" name="Text 17"/>
          <p:cNvSpPr txBox="1"/>
          <p:nvPr/>
        </p:nvSpPr>
        <p:spPr>
          <a:xfrm>
            <a:off x="3155884" y="1856232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15000"/>
              </a:lnSpc>
              <a:buNone/>
            </a:pPr>
            <a:r>
              <a:rPr lang="en-US" sz="1100" b="1" dirty="0">
                <a:solidFill>
                  <a:srgbClr val="2D2D2D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2</a:t>
            </a:r>
            <a:endParaRPr lang="en-US" sz="1100" dirty="0"/>
          </a:p>
        </p:txBody>
      </p:sp>
      <p:sp>
        <p:nvSpPr>
          <p:cNvPr id="21" name="Shape 18"/>
          <p:cNvSpPr/>
          <p:nvPr/>
        </p:nvSpPr>
        <p:spPr>
          <a:xfrm>
            <a:off x="4082537" y="1856232"/>
            <a:ext cx="274320" cy="274320"/>
          </a:xfrm>
          <a:prstGeom prst="ellipse">
            <a:avLst/>
          </a:prstGeom>
          <a:solidFill>
            <a:srgbClr val="40E0D0"/>
          </a:solidFill>
          <a:ln w="12700">
            <a:solidFill>
              <a:srgbClr val="40E0D0"/>
            </a:solidFill>
            <a:prstDash val="solid"/>
          </a:ln>
        </p:spPr>
      </p:sp>
      <p:sp>
        <p:nvSpPr>
          <p:cNvPr id="22" name="Text 19"/>
          <p:cNvSpPr txBox="1"/>
          <p:nvPr/>
        </p:nvSpPr>
        <p:spPr>
          <a:xfrm>
            <a:off x="4082537" y="1856232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15000"/>
              </a:lnSpc>
              <a:buNone/>
            </a:pPr>
            <a:r>
              <a:rPr lang="en-US" sz="1100" b="1" dirty="0">
                <a:solidFill>
                  <a:srgbClr val="2D2D2D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3</a:t>
            </a:r>
            <a:endParaRPr lang="en-US" sz="1100" dirty="0"/>
          </a:p>
        </p:txBody>
      </p:sp>
      <p:sp>
        <p:nvSpPr>
          <p:cNvPr id="23" name="Shape 20"/>
          <p:cNvSpPr/>
          <p:nvPr/>
        </p:nvSpPr>
        <p:spPr>
          <a:xfrm>
            <a:off x="411480" y="2240280"/>
            <a:ext cx="2590800" cy="777240"/>
          </a:xfrm>
          <a:prstGeom prst="roundRect">
            <a:avLst>
              <a:gd name="adj" fmla="val 14118"/>
            </a:avLst>
          </a:prstGeom>
          <a:solidFill>
            <a:srgbClr val="F5F5F5"/>
          </a:solidFill>
          <a:ln w="12700">
            <a:solidFill>
              <a:srgbClr val="F5F5F5"/>
            </a:solidFill>
            <a:prstDash val="solid"/>
          </a:ln>
        </p:spPr>
      </p:sp>
      <p:sp>
        <p:nvSpPr>
          <p:cNvPr id="24" name="Shape 21"/>
          <p:cNvSpPr/>
          <p:nvPr/>
        </p:nvSpPr>
        <p:spPr>
          <a:xfrm>
            <a:off x="557784" y="2359152"/>
            <a:ext cx="292608" cy="292608"/>
          </a:xfrm>
          <a:prstGeom prst="ellipse">
            <a:avLst/>
          </a:prstGeom>
          <a:solidFill>
            <a:srgbClr val="40E0D0"/>
          </a:solidFill>
          <a:ln w="12700">
            <a:solidFill>
              <a:srgbClr val="40E0D0"/>
            </a:solidFill>
            <a:prstDash val="solid"/>
          </a:ln>
        </p:spPr>
      </p:sp>
      <p:sp>
        <p:nvSpPr>
          <p:cNvPr id="25" name="Text 22"/>
          <p:cNvSpPr txBox="1"/>
          <p:nvPr/>
        </p:nvSpPr>
        <p:spPr>
          <a:xfrm>
            <a:off x="557784" y="2359152"/>
            <a:ext cx="2926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15000"/>
              </a:lnSpc>
              <a:buNone/>
            </a:pPr>
            <a:r>
              <a:rPr lang="en-US" sz="1100" b="1" dirty="0">
                <a:solidFill>
                  <a:srgbClr val="2D2D2D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1</a:t>
            </a:r>
            <a:endParaRPr lang="en-US" sz="1100" dirty="0"/>
          </a:p>
        </p:txBody>
      </p:sp>
      <p:sp>
        <p:nvSpPr>
          <p:cNvPr id="26" name="Text 23"/>
          <p:cNvSpPr txBox="1"/>
          <p:nvPr/>
        </p:nvSpPr>
        <p:spPr>
          <a:xfrm>
            <a:off x="960120" y="2340864"/>
            <a:ext cx="1895856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1400" b="1" dirty="0">
                <a:solidFill>
                  <a:srgbClr val="2D2D2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int i = 0</a:t>
            </a:r>
            <a:endParaRPr lang="en-US" sz="1400" dirty="0"/>
          </a:p>
        </p:txBody>
      </p:sp>
      <p:sp>
        <p:nvSpPr>
          <p:cNvPr id="27" name="Text 24"/>
          <p:cNvSpPr txBox="1"/>
          <p:nvPr/>
        </p:nvSpPr>
        <p:spPr>
          <a:xfrm>
            <a:off x="557784" y="2697480"/>
            <a:ext cx="229819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1200" dirty="0">
                <a:solidFill>
                  <a:srgbClr val="2D2D2D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开始：i 从 0 开始数</a:t>
            </a:r>
            <a:endParaRPr lang="en-US" sz="1200" dirty="0"/>
          </a:p>
        </p:txBody>
      </p:sp>
      <p:sp>
        <p:nvSpPr>
          <p:cNvPr id="28" name="Shape 25"/>
          <p:cNvSpPr/>
          <p:nvPr/>
        </p:nvSpPr>
        <p:spPr>
          <a:xfrm>
            <a:off x="3276600" y="2240280"/>
            <a:ext cx="2590800" cy="777240"/>
          </a:xfrm>
          <a:prstGeom prst="roundRect">
            <a:avLst>
              <a:gd name="adj" fmla="val 14118"/>
            </a:avLst>
          </a:prstGeom>
          <a:solidFill>
            <a:srgbClr val="F5F5F5"/>
          </a:solidFill>
          <a:ln w="12700">
            <a:solidFill>
              <a:srgbClr val="F5F5F5"/>
            </a:solidFill>
            <a:prstDash val="solid"/>
          </a:ln>
        </p:spPr>
      </p:sp>
      <p:sp>
        <p:nvSpPr>
          <p:cNvPr id="29" name="Shape 26"/>
          <p:cNvSpPr/>
          <p:nvPr/>
        </p:nvSpPr>
        <p:spPr>
          <a:xfrm>
            <a:off x="3422904" y="2359152"/>
            <a:ext cx="292608" cy="292608"/>
          </a:xfrm>
          <a:prstGeom prst="ellipse">
            <a:avLst/>
          </a:prstGeom>
          <a:solidFill>
            <a:srgbClr val="40E0D0"/>
          </a:solidFill>
          <a:ln w="12700">
            <a:solidFill>
              <a:srgbClr val="40E0D0"/>
            </a:solidFill>
            <a:prstDash val="solid"/>
          </a:ln>
        </p:spPr>
      </p:sp>
      <p:sp>
        <p:nvSpPr>
          <p:cNvPr id="30" name="Text 27"/>
          <p:cNvSpPr txBox="1"/>
          <p:nvPr/>
        </p:nvSpPr>
        <p:spPr>
          <a:xfrm>
            <a:off x="3422904" y="2359152"/>
            <a:ext cx="2926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15000"/>
              </a:lnSpc>
              <a:buNone/>
            </a:pPr>
            <a:r>
              <a:rPr lang="en-US" sz="1100" b="1" dirty="0">
                <a:solidFill>
                  <a:srgbClr val="2D2D2D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2</a:t>
            </a:r>
            <a:endParaRPr lang="en-US" sz="1100" dirty="0"/>
          </a:p>
        </p:txBody>
      </p:sp>
      <p:sp>
        <p:nvSpPr>
          <p:cNvPr id="31" name="Text 28"/>
          <p:cNvSpPr txBox="1"/>
          <p:nvPr/>
        </p:nvSpPr>
        <p:spPr>
          <a:xfrm>
            <a:off x="3825240" y="2340864"/>
            <a:ext cx="1895856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1400" b="1" dirty="0">
                <a:solidFill>
                  <a:srgbClr val="2D2D2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 &lt; 8</a:t>
            </a:r>
            <a:endParaRPr lang="en-US" sz="1400" dirty="0"/>
          </a:p>
        </p:txBody>
      </p:sp>
      <p:sp>
        <p:nvSpPr>
          <p:cNvPr id="32" name="Text 29"/>
          <p:cNvSpPr txBox="1"/>
          <p:nvPr/>
        </p:nvSpPr>
        <p:spPr>
          <a:xfrm>
            <a:off x="3422904" y="2697480"/>
            <a:ext cx="229819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1200" dirty="0">
                <a:solidFill>
                  <a:srgbClr val="2D2D2D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条件：成立就继续跑</a:t>
            </a:r>
            <a:endParaRPr lang="en-US" sz="1200" dirty="0"/>
          </a:p>
        </p:txBody>
      </p:sp>
      <p:sp>
        <p:nvSpPr>
          <p:cNvPr id="33" name="Shape 30"/>
          <p:cNvSpPr/>
          <p:nvPr/>
        </p:nvSpPr>
        <p:spPr>
          <a:xfrm>
            <a:off x="6141720" y="2240280"/>
            <a:ext cx="2590800" cy="777240"/>
          </a:xfrm>
          <a:prstGeom prst="roundRect">
            <a:avLst>
              <a:gd name="adj" fmla="val 14118"/>
            </a:avLst>
          </a:prstGeom>
          <a:solidFill>
            <a:srgbClr val="F5F5F5"/>
          </a:solidFill>
          <a:ln w="12700">
            <a:solidFill>
              <a:srgbClr val="F5F5F5"/>
            </a:solidFill>
            <a:prstDash val="solid"/>
          </a:ln>
        </p:spPr>
      </p:sp>
      <p:sp>
        <p:nvSpPr>
          <p:cNvPr id="34" name="Shape 31"/>
          <p:cNvSpPr/>
          <p:nvPr/>
        </p:nvSpPr>
        <p:spPr>
          <a:xfrm>
            <a:off x="6288024" y="2359152"/>
            <a:ext cx="292608" cy="292608"/>
          </a:xfrm>
          <a:prstGeom prst="ellipse">
            <a:avLst/>
          </a:prstGeom>
          <a:solidFill>
            <a:srgbClr val="40E0D0"/>
          </a:solidFill>
          <a:ln w="12700">
            <a:solidFill>
              <a:srgbClr val="40E0D0"/>
            </a:solidFill>
            <a:prstDash val="solid"/>
          </a:ln>
        </p:spPr>
      </p:sp>
      <p:sp>
        <p:nvSpPr>
          <p:cNvPr id="35" name="Text 32"/>
          <p:cNvSpPr txBox="1"/>
          <p:nvPr/>
        </p:nvSpPr>
        <p:spPr>
          <a:xfrm>
            <a:off x="6288024" y="2359152"/>
            <a:ext cx="2926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15000"/>
              </a:lnSpc>
              <a:buNone/>
            </a:pPr>
            <a:r>
              <a:rPr lang="en-US" sz="1100" b="1" dirty="0">
                <a:solidFill>
                  <a:srgbClr val="2D2D2D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3</a:t>
            </a:r>
            <a:endParaRPr lang="en-US" sz="1100" dirty="0"/>
          </a:p>
        </p:txBody>
      </p:sp>
      <p:sp>
        <p:nvSpPr>
          <p:cNvPr id="36" name="Text 33"/>
          <p:cNvSpPr txBox="1"/>
          <p:nvPr/>
        </p:nvSpPr>
        <p:spPr>
          <a:xfrm>
            <a:off x="6690360" y="2340864"/>
            <a:ext cx="1895856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1400" b="1" dirty="0">
                <a:solidFill>
                  <a:srgbClr val="2D2D2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i++</a:t>
            </a:r>
            <a:endParaRPr lang="en-US" sz="1400" dirty="0"/>
          </a:p>
        </p:txBody>
      </p:sp>
      <p:sp>
        <p:nvSpPr>
          <p:cNvPr id="37" name="Text 34"/>
          <p:cNvSpPr txBox="1"/>
          <p:nvPr/>
        </p:nvSpPr>
        <p:spPr>
          <a:xfrm>
            <a:off x="6288024" y="2697480"/>
            <a:ext cx="229819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1200" dirty="0">
                <a:solidFill>
                  <a:srgbClr val="2D2D2D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每跑完一圈，i 加 1</a:t>
            </a:r>
            <a:endParaRPr lang="en-US" sz="1200" dirty="0"/>
          </a:p>
        </p:txBody>
      </p:sp>
      <p:sp>
        <p:nvSpPr>
          <p:cNvPr id="38" name="Shape 35"/>
          <p:cNvSpPr/>
          <p:nvPr/>
        </p:nvSpPr>
        <p:spPr>
          <a:xfrm>
            <a:off x="411480" y="3291840"/>
            <a:ext cx="4023360" cy="1280160"/>
          </a:xfrm>
          <a:prstGeom prst="roundRect">
            <a:avLst>
              <a:gd name="adj" fmla="val 8571"/>
            </a:avLst>
          </a:prstGeom>
          <a:solidFill>
            <a:srgbClr val="F5F5F5"/>
          </a:solidFill>
          <a:ln w="12700">
            <a:solidFill>
              <a:srgbClr val="F5F5F5"/>
            </a:solidFill>
            <a:prstDash val="solid"/>
          </a:ln>
        </p:spPr>
      </p:sp>
      <p:sp>
        <p:nvSpPr>
          <p:cNvPr id="39" name="Text 36"/>
          <p:cNvSpPr txBox="1"/>
          <p:nvPr/>
        </p:nvSpPr>
        <p:spPr>
          <a:xfrm>
            <a:off x="594360" y="3401568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1300" b="1" dirty="0">
                <a:solidFill>
                  <a:srgbClr val="2D2D2D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一共跑 8 圈：</a:t>
            </a:r>
            <a:pPr algn="l" indent="0" marL="0">
              <a:lnSpc>
                <a:spcPct val="115000"/>
              </a:lnSpc>
              <a:buNone/>
            </a:pPr>
            <a:r>
              <a:rPr lang="en-US" sz="1300" dirty="0">
                <a:solidFill>
                  <a:srgbClr val="2D2D2D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i = 0、1、2……7</a:t>
            </a:r>
            <a:endParaRPr lang="en-US" sz="1300" dirty="0"/>
          </a:p>
        </p:txBody>
      </p:sp>
      <p:sp>
        <p:nvSpPr>
          <p:cNvPr id="40" name="Shape 37"/>
          <p:cNvSpPr/>
          <p:nvPr/>
        </p:nvSpPr>
        <p:spPr>
          <a:xfrm>
            <a:off x="594360" y="3767328"/>
            <a:ext cx="310896" cy="310896"/>
          </a:xfrm>
          <a:prstGeom prst="ellipse">
            <a:avLst/>
          </a:prstGeom>
          <a:solidFill>
            <a:srgbClr val="40E0D0"/>
          </a:solidFill>
          <a:ln w="12700">
            <a:solidFill>
              <a:srgbClr val="40E0D0"/>
            </a:solidFill>
            <a:prstDash val="solid"/>
          </a:ln>
        </p:spPr>
      </p:sp>
      <p:sp>
        <p:nvSpPr>
          <p:cNvPr id="41" name="Text 38"/>
          <p:cNvSpPr txBox="1"/>
          <p:nvPr/>
        </p:nvSpPr>
        <p:spPr>
          <a:xfrm>
            <a:off x="594360" y="3767328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15000"/>
              </a:lnSpc>
              <a:buNone/>
            </a:pPr>
            <a:r>
              <a:rPr lang="en-US" sz="1200" b="1" dirty="0">
                <a:solidFill>
                  <a:srgbClr val="2D2D2D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0</a:t>
            </a:r>
            <a:endParaRPr lang="en-US" sz="1200" dirty="0"/>
          </a:p>
        </p:txBody>
      </p:sp>
      <p:sp>
        <p:nvSpPr>
          <p:cNvPr id="42" name="Shape 39"/>
          <p:cNvSpPr/>
          <p:nvPr/>
        </p:nvSpPr>
        <p:spPr>
          <a:xfrm>
            <a:off x="1012698" y="3767328"/>
            <a:ext cx="310896" cy="310896"/>
          </a:xfrm>
          <a:prstGeom prst="ellipse">
            <a:avLst/>
          </a:prstGeom>
          <a:solidFill>
            <a:srgbClr val="40E0D0"/>
          </a:solidFill>
          <a:ln w="12700">
            <a:solidFill>
              <a:srgbClr val="40E0D0"/>
            </a:solidFill>
            <a:prstDash val="solid"/>
          </a:ln>
        </p:spPr>
      </p:sp>
      <p:sp>
        <p:nvSpPr>
          <p:cNvPr id="43" name="Text 40"/>
          <p:cNvSpPr txBox="1"/>
          <p:nvPr/>
        </p:nvSpPr>
        <p:spPr>
          <a:xfrm>
            <a:off x="1012698" y="3767328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15000"/>
              </a:lnSpc>
              <a:buNone/>
            </a:pPr>
            <a:r>
              <a:rPr lang="en-US" sz="1200" b="1" dirty="0">
                <a:solidFill>
                  <a:srgbClr val="2D2D2D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1</a:t>
            </a:r>
            <a:endParaRPr lang="en-US" sz="1200" dirty="0"/>
          </a:p>
        </p:txBody>
      </p:sp>
      <p:sp>
        <p:nvSpPr>
          <p:cNvPr id="44" name="Shape 41"/>
          <p:cNvSpPr/>
          <p:nvPr/>
        </p:nvSpPr>
        <p:spPr>
          <a:xfrm>
            <a:off x="1431036" y="3767328"/>
            <a:ext cx="310896" cy="310896"/>
          </a:xfrm>
          <a:prstGeom prst="ellipse">
            <a:avLst/>
          </a:prstGeom>
          <a:solidFill>
            <a:srgbClr val="40E0D0"/>
          </a:solidFill>
          <a:ln w="12700">
            <a:solidFill>
              <a:srgbClr val="40E0D0"/>
            </a:solidFill>
            <a:prstDash val="solid"/>
          </a:ln>
        </p:spPr>
      </p:sp>
      <p:sp>
        <p:nvSpPr>
          <p:cNvPr id="45" name="Text 42"/>
          <p:cNvSpPr txBox="1"/>
          <p:nvPr/>
        </p:nvSpPr>
        <p:spPr>
          <a:xfrm>
            <a:off x="1431036" y="3767328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15000"/>
              </a:lnSpc>
              <a:buNone/>
            </a:pPr>
            <a:r>
              <a:rPr lang="en-US" sz="1200" b="1" dirty="0">
                <a:solidFill>
                  <a:srgbClr val="2D2D2D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2</a:t>
            </a:r>
            <a:endParaRPr lang="en-US" sz="1200" dirty="0"/>
          </a:p>
        </p:txBody>
      </p:sp>
      <p:sp>
        <p:nvSpPr>
          <p:cNvPr id="46" name="Shape 43"/>
          <p:cNvSpPr/>
          <p:nvPr/>
        </p:nvSpPr>
        <p:spPr>
          <a:xfrm>
            <a:off x="1849374" y="3767328"/>
            <a:ext cx="310896" cy="310896"/>
          </a:xfrm>
          <a:prstGeom prst="ellipse">
            <a:avLst/>
          </a:prstGeom>
          <a:solidFill>
            <a:srgbClr val="40E0D0"/>
          </a:solidFill>
          <a:ln w="12700">
            <a:solidFill>
              <a:srgbClr val="40E0D0"/>
            </a:solidFill>
            <a:prstDash val="solid"/>
          </a:ln>
        </p:spPr>
      </p:sp>
      <p:sp>
        <p:nvSpPr>
          <p:cNvPr id="47" name="Text 44"/>
          <p:cNvSpPr txBox="1"/>
          <p:nvPr/>
        </p:nvSpPr>
        <p:spPr>
          <a:xfrm>
            <a:off x="1849374" y="3767328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15000"/>
              </a:lnSpc>
              <a:buNone/>
            </a:pPr>
            <a:r>
              <a:rPr lang="en-US" sz="1200" b="1" dirty="0">
                <a:solidFill>
                  <a:srgbClr val="2D2D2D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3</a:t>
            </a:r>
            <a:endParaRPr lang="en-US" sz="1200" dirty="0"/>
          </a:p>
        </p:txBody>
      </p:sp>
      <p:sp>
        <p:nvSpPr>
          <p:cNvPr id="48" name="Shape 45"/>
          <p:cNvSpPr/>
          <p:nvPr/>
        </p:nvSpPr>
        <p:spPr>
          <a:xfrm>
            <a:off x="2267712" y="3767328"/>
            <a:ext cx="310896" cy="310896"/>
          </a:xfrm>
          <a:prstGeom prst="ellipse">
            <a:avLst/>
          </a:prstGeom>
          <a:solidFill>
            <a:srgbClr val="40E0D0"/>
          </a:solidFill>
          <a:ln w="12700">
            <a:solidFill>
              <a:srgbClr val="40E0D0"/>
            </a:solidFill>
            <a:prstDash val="solid"/>
          </a:ln>
        </p:spPr>
      </p:sp>
      <p:sp>
        <p:nvSpPr>
          <p:cNvPr id="49" name="Text 46"/>
          <p:cNvSpPr txBox="1"/>
          <p:nvPr/>
        </p:nvSpPr>
        <p:spPr>
          <a:xfrm>
            <a:off x="2267712" y="3767328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15000"/>
              </a:lnSpc>
              <a:buNone/>
            </a:pPr>
            <a:r>
              <a:rPr lang="en-US" sz="1200" b="1" dirty="0">
                <a:solidFill>
                  <a:srgbClr val="2D2D2D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4</a:t>
            </a:r>
            <a:endParaRPr lang="en-US" sz="1200" dirty="0"/>
          </a:p>
        </p:txBody>
      </p:sp>
      <p:sp>
        <p:nvSpPr>
          <p:cNvPr id="50" name="Shape 47"/>
          <p:cNvSpPr/>
          <p:nvPr/>
        </p:nvSpPr>
        <p:spPr>
          <a:xfrm>
            <a:off x="2686050" y="3767328"/>
            <a:ext cx="310896" cy="310896"/>
          </a:xfrm>
          <a:prstGeom prst="ellipse">
            <a:avLst/>
          </a:prstGeom>
          <a:solidFill>
            <a:srgbClr val="40E0D0"/>
          </a:solidFill>
          <a:ln w="12700">
            <a:solidFill>
              <a:srgbClr val="40E0D0"/>
            </a:solidFill>
            <a:prstDash val="solid"/>
          </a:ln>
        </p:spPr>
      </p:sp>
      <p:sp>
        <p:nvSpPr>
          <p:cNvPr id="51" name="Text 48"/>
          <p:cNvSpPr txBox="1"/>
          <p:nvPr/>
        </p:nvSpPr>
        <p:spPr>
          <a:xfrm>
            <a:off x="2686050" y="3767328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15000"/>
              </a:lnSpc>
              <a:buNone/>
            </a:pPr>
            <a:r>
              <a:rPr lang="en-US" sz="1200" b="1" dirty="0">
                <a:solidFill>
                  <a:srgbClr val="2D2D2D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5</a:t>
            </a:r>
            <a:endParaRPr lang="en-US" sz="1200" dirty="0"/>
          </a:p>
        </p:txBody>
      </p:sp>
      <p:sp>
        <p:nvSpPr>
          <p:cNvPr id="52" name="Shape 49"/>
          <p:cNvSpPr/>
          <p:nvPr/>
        </p:nvSpPr>
        <p:spPr>
          <a:xfrm>
            <a:off x="3104388" y="3767328"/>
            <a:ext cx="310896" cy="310896"/>
          </a:xfrm>
          <a:prstGeom prst="ellipse">
            <a:avLst/>
          </a:prstGeom>
          <a:solidFill>
            <a:srgbClr val="40E0D0"/>
          </a:solidFill>
          <a:ln w="12700">
            <a:solidFill>
              <a:srgbClr val="40E0D0"/>
            </a:solidFill>
            <a:prstDash val="solid"/>
          </a:ln>
        </p:spPr>
      </p:sp>
      <p:sp>
        <p:nvSpPr>
          <p:cNvPr id="53" name="Text 50"/>
          <p:cNvSpPr txBox="1"/>
          <p:nvPr/>
        </p:nvSpPr>
        <p:spPr>
          <a:xfrm>
            <a:off x="3104388" y="3767328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15000"/>
              </a:lnSpc>
              <a:buNone/>
            </a:pPr>
            <a:r>
              <a:rPr lang="en-US" sz="1200" b="1" dirty="0">
                <a:solidFill>
                  <a:srgbClr val="2D2D2D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6</a:t>
            </a:r>
            <a:endParaRPr lang="en-US" sz="1200" dirty="0"/>
          </a:p>
        </p:txBody>
      </p:sp>
      <p:sp>
        <p:nvSpPr>
          <p:cNvPr id="54" name="Shape 51"/>
          <p:cNvSpPr/>
          <p:nvPr/>
        </p:nvSpPr>
        <p:spPr>
          <a:xfrm>
            <a:off x="3522726" y="3767328"/>
            <a:ext cx="310896" cy="310896"/>
          </a:xfrm>
          <a:prstGeom prst="ellipse">
            <a:avLst/>
          </a:prstGeom>
          <a:solidFill>
            <a:srgbClr val="40E0D0"/>
          </a:solidFill>
          <a:ln w="12700">
            <a:solidFill>
              <a:srgbClr val="40E0D0"/>
            </a:solidFill>
            <a:prstDash val="solid"/>
          </a:ln>
        </p:spPr>
      </p:sp>
      <p:sp>
        <p:nvSpPr>
          <p:cNvPr id="55" name="Text 52"/>
          <p:cNvSpPr txBox="1"/>
          <p:nvPr/>
        </p:nvSpPr>
        <p:spPr>
          <a:xfrm>
            <a:off x="3522726" y="3767328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15000"/>
              </a:lnSpc>
              <a:buNone/>
            </a:pPr>
            <a:r>
              <a:rPr lang="en-US" sz="1200" b="1" dirty="0">
                <a:solidFill>
                  <a:srgbClr val="2D2D2D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7</a:t>
            </a:r>
            <a:endParaRPr lang="en-US" sz="1200" dirty="0"/>
          </a:p>
        </p:txBody>
      </p:sp>
      <p:sp>
        <p:nvSpPr>
          <p:cNvPr id="56" name="Shape 53"/>
          <p:cNvSpPr/>
          <p:nvPr/>
        </p:nvSpPr>
        <p:spPr>
          <a:xfrm>
            <a:off x="3941064" y="3767328"/>
            <a:ext cx="310896" cy="310896"/>
          </a:xfrm>
          <a:prstGeom prst="ellipse">
            <a:avLst/>
          </a:prstGeom>
          <a:solidFill>
            <a:srgbClr val="FFFFFF"/>
          </a:solidFill>
          <a:ln w="15875">
            <a:solidFill>
              <a:srgbClr val="E5484D"/>
            </a:solidFill>
            <a:prstDash val="solid"/>
          </a:ln>
        </p:spPr>
      </p:sp>
      <p:sp>
        <p:nvSpPr>
          <p:cNvPr id="57" name="Text 54"/>
          <p:cNvSpPr txBox="1"/>
          <p:nvPr/>
        </p:nvSpPr>
        <p:spPr>
          <a:xfrm>
            <a:off x="3941064" y="3767328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15000"/>
              </a:lnSpc>
              <a:buNone/>
            </a:pPr>
            <a:r>
              <a:rPr lang="en-US" sz="1200" b="1" dirty="0">
                <a:solidFill>
                  <a:srgbClr val="E5484D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8</a:t>
            </a:r>
            <a:endParaRPr lang="en-US" sz="1200" dirty="0"/>
          </a:p>
        </p:txBody>
      </p:sp>
      <p:sp>
        <p:nvSpPr>
          <p:cNvPr id="58" name="Text 55"/>
          <p:cNvSpPr txBox="1"/>
          <p:nvPr/>
        </p:nvSpPr>
        <p:spPr>
          <a:xfrm>
            <a:off x="594360" y="4151376"/>
            <a:ext cx="3657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1200" dirty="0">
                <a:solidFill>
                  <a:srgbClr val="6B6B6B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i 变成 8 时，</a:t>
            </a:r>
            <a:pPr algn="l" indent="0" marL="0">
              <a:lnSpc>
                <a:spcPct val="115000"/>
              </a:lnSpc>
              <a:buNone/>
            </a:pPr>
            <a:r>
              <a:rPr lang="en-US" sz="1200" dirty="0">
                <a:solidFill>
                  <a:srgbClr val="6B6B6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 &lt; 8</a:t>
            </a:r>
            <a:pPr algn="l" indent="0" marL="0">
              <a:lnSpc>
                <a:spcPct val="115000"/>
              </a:lnSpc>
              <a:buNone/>
            </a:pPr>
            <a:r>
              <a:rPr lang="en-US" sz="1200" dirty="0">
                <a:solidFill>
                  <a:srgbClr val="6B6B6B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 不成立 → 停下</a:t>
            </a:r>
            <a:endParaRPr lang="en-US" sz="1200" dirty="0"/>
          </a:p>
        </p:txBody>
      </p:sp>
      <p:sp>
        <p:nvSpPr>
          <p:cNvPr id="59" name="Shape 56"/>
          <p:cNvSpPr/>
          <p:nvPr/>
        </p:nvSpPr>
        <p:spPr>
          <a:xfrm>
            <a:off x="4709160" y="3291840"/>
            <a:ext cx="4023360" cy="1280160"/>
          </a:xfrm>
          <a:prstGeom prst="roundRect">
            <a:avLst>
              <a:gd name="adj" fmla="val 8571"/>
            </a:avLst>
          </a:prstGeom>
          <a:solidFill>
            <a:srgbClr val="F5F5F5"/>
          </a:solidFill>
          <a:ln w="12700">
            <a:solidFill>
              <a:srgbClr val="F5F5F5"/>
            </a:solidFill>
            <a:prstDash val="solid"/>
          </a:ln>
        </p:spPr>
      </p:sp>
      <p:sp>
        <p:nvSpPr>
          <p:cNvPr id="60" name="Text 57"/>
          <p:cNvSpPr txBox="1"/>
          <p:nvPr/>
        </p:nvSpPr>
        <p:spPr>
          <a:xfrm>
            <a:off x="4892040" y="3401568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1300" b="1" dirty="0">
                <a:solidFill>
                  <a:srgbClr val="2D2D2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while</a:t>
            </a:r>
            <a:pPr algn="l" indent="0" marL="0">
              <a:lnSpc>
                <a:spcPct val="115000"/>
              </a:lnSpc>
              <a:buNone/>
            </a:pPr>
            <a:r>
              <a:rPr lang="en-US" sz="1300" b="1" dirty="0">
                <a:solidFill>
                  <a:srgbClr val="2D2D2D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：只要条件成立，就一直重复</a:t>
            </a:r>
            <a:endParaRPr lang="en-US" sz="1300" dirty="0"/>
          </a:p>
        </p:txBody>
      </p:sp>
      <p:sp>
        <p:nvSpPr>
          <p:cNvPr id="61" name="Shape 58"/>
          <p:cNvSpPr/>
          <p:nvPr/>
        </p:nvSpPr>
        <p:spPr>
          <a:xfrm>
            <a:off x="4892040" y="3749040"/>
            <a:ext cx="2606040" cy="603504"/>
          </a:xfrm>
          <a:prstGeom prst="roundRect">
            <a:avLst>
              <a:gd name="adj" fmla="val 12121"/>
            </a:avLst>
          </a:prstGeom>
          <a:solidFill>
            <a:srgbClr val="2D2D2D"/>
          </a:solidFill>
          <a:ln w="12700">
            <a:solidFill>
              <a:srgbClr val="2D2D2D"/>
            </a:solidFill>
            <a:prstDash val="solid"/>
          </a:ln>
        </p:spPr>
      </p:sp>
      <p:sp>
        <p:nvSpPr>
          <p:cNvPr id="62" name="Text 59"/>
          <p:cNvSpPr txBox="1"/>
          <p:nvPr/>
        </p:nvSpPr>
        <p:spPr>
          <a:xfrm>
            <a:off x="5001768" y="3749040"/>
            <a:ext cx="2386584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950" b="1" dirty="0">
                <a:solidFill>
                  <a:srgbClr val="40E0D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while </a:t>
            </a:r>
            <a:pPr algn="l" indent="0" marL="0">
              <a:lnSpc>
                <a:spcPct val="100000"/>
              </a:lnSpc>
              <a:buNone/>
            </a:pPr>
            <a:r>
              <a:rPr lang="en-US" sz="950" dirty="0">
                <a:solidFill>
                  <a:srgbClr val="BDBDB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(</a:t>
            </a:r>
            <a:pPr algn="l" indent="0" marL="0">
              <a:lnSpc>
                <a:spcPct val="100000"/>
              </a:lnSpc>
              <a:buNone/>
            </a:pPr>
            <a:r>
              <a:rPr lang="en-US" sz="950" b="1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Serial</a:t>
            </a:r>
            <a:pPr algn="l" indent="0" marL="0">
              <a:lnSpc>
                <a:spcPct val="100000"/>
              </a:lnSpc>
              <a:buNone/>
            </a:pPr>
            <a:r>
              <a:rPr lang="en-US" sz="950" dirty="0">
                <a:solidFill>
                  <a:srgbClr val="BDBDB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.</a:t>
            </a:r>
            <a:pPr algn="l" indent="0" marL="0">
              <a:lnSpc>
                <a:spcPct val="100000"/>
              </a:lnSpc>
              <a:buNone/>
            </a:pPr>
            <a:r>
              <a:rPr lang="en-US" sz="950" b="1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available</a:t>
            </a:r>
            <a:pPr algn="l" indent="0" marL="0">
              <a:lnSpc>
                <a:spcPct val="100000"/>
              </a:lnSpc>
              <a:buNone/>
            </a:pPr>
            <a:r>
              <a:rPr lang="en-US" sz="950" dirty="0">
                <a:solidFill>
                  <a:srgbClr val="BDBDB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() &gt; </a:t>
            </a:r>
            <a:pPr algn="l" indent="0" marL="0">
              <a:lnSpc>
                <a:spcPct val="100000"/>
              </a:lnSpc>
              <a:buNone/>
            </a:pPr>
            <a:r>
              <a:rPr lang="en-US" sz="950" dirty="0">
                <a:solidFill>
                  <a:srgbClr val="F7C87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</a:t>
            </a:r>
            <a:pPr algn="l" indent="0" marL="0">
              <a:lnSpc>
                <a:spcPct val="100000"/>
              </a:lnSpc>
              <a:buNone/>
            </a:pPr>
            <a:r>
              <a:rPr lang="en-US" sz="950" dirty="0">
                <a:solidFill>
                  <a:srgbClr val="BDBDB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) {</a:t>
            </a:r>
            <a:endParaRPr lang="en-US" sz="950" dirty="0"/>
          </a:p>
          <a:p>
            <a:pPr algn="l" indent="0" marL="0">
              <a:lnSpc>
                <a:spcPct val="100000"/>
              </a:lnSpc>
              <a:buNone/>
            </a:pPr>
            <a:r>
              <a:rPr lang="en-US" sz="950" dirty="0">
                <a:solidFill>
                  <a:srgbClr val="D9D9D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inByte </a:t>
            </a:r>
            <a:pPr algn="l" indent="0" marL="0">
              <a:lnSpc>
                <a:spcPct val="100000"/>
              </a:lnSpc>
              <a:buNone/>
            </a:pPr>
            <a:r>
              <a:rPr lang="en-US" sz="950" dirty="0">
                <a:solidFill>
                  <a:srgbClr val="BDBDB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= </a:t>
            </a:r>
            <a:pPr algn="l" indent="0" marL="0">
              <a:lnSpc>
                <a:spcPct val="100000"/>
              </a:lnSpc>
              <a:buNone/>
            </a:pPr>
            <a:r>
              <a:rPr lang="en-US" sz="950" b="1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Serial</a:t>
            </a:r>
            <a:pPr algn="l" indent="0" marL="0">
              <a:lnSpc>
                <a:spcPct val="100000"/>
              </a:lnSpc>
              <a:buNone/>
            </a:pPr>
            <a:r>
              <a:rPr lang="en-US" sz="950" dirty="0">
                <a:solidFill>
                  <a:srgbClr val="BDBDB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.</a:t>
            </a:r>
            <a:pPr algn="l" indent="0" marL="0">
              <a:lnSpc>
                <a:spcPct val="100000"/>
              </a:lnSpc>
              <a:buNone/>
            </a:pPr>
            <a:r>
              <a:rPr lang="en-US" sz="950" b="1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read</a:t>
            </a:r>
            <a:pPr algn="l" indent="0" marL="0">
              <a:lnSpc>
                <a:spcPct val="100000"/>
              </a:lnSpc>
              <a:buNone/>
            </a:pPr>
            <a:r>
              <a:rPr lang="en-US" sz="950" dirty="0">
                <a:solidFill>
                  <a:srgbClr val="BDBDB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();</a:t>
            </a:r>
            <a:endParaRPr lang="en-US" sz="950" dirty="0"/>
          </a:p>
          <a:p>
            <a:pPr algn="l" indent="0" marL="0">
              <a:lnSpc>
                <a:spcPct val="100000"/>
              </a:lnSpc>
              <a:buNone/>
            </a:pPr>
            <a:r>
              <a:rPr lang="en-US" sz="950" dirty="0">
                <a:solidFill>
                  <a:srgbClr val="BDBDB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}</a:t>
            </a:r>
            <a:endParaRPr lang="en-US" sz="950" dirty="0"/>
          </a:p>
        </p:txBody>
      </p:sp>
      <p:sp>
        <p:nvSpPr>
          <p:cNvPr id="63" name="Text 60"/>
          <p:cNvSpPr txBox="1"/>
          <p:nvPr/>
        </p:nvSpPr>
        <p:spPr>
          <a:xfrm>
            <a:off x="7607808" y="3749040"/>
            <a:ext cx="96012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1200" dirty="0">
                <a:solidFill>
                  <a:srgbClr val="2D2D2D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把串口里的</a:t>
            </a:r>
            <a:endParaRPr lang="en-US" sz="1200" dirty="0"/>
          </a:p>
          <a:p>
            <a:pPr algn="l" indent="0" marL="0">
              <a:lnSpc>
                <a:spcPct val="115000"/>
              </a:lnSpc>
              <a:buNone/>
            </a:pPr>
            <a:r>
              <a:rPr lang="en-US" sz="1200" dirty="0">
                <a:solidFill>
                  <a:srgbClr val="2D2D2D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字符全部读完</a:t>
            </a:r>
            <a:endParaRPr lang="en-US" sz="12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339328" y="4736592"/>
            <a:ext cx="393192" cy="219456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 lIns="0" tIns="0" rIns="0" bIns="0" anchor="ctr"/>
          <a:lstStyle>
            <a:lvl1pPr>
              <a:defRPr sz="800">
                <a:solidFill>
                  <a:srgbClr val="6B6B6B"/>
                </a:solidFill>
                <a:latin typeface="微软雅黑"/>
                <a:ea typeface="微软雅黑"/>
                <a:cs typeface="微软雅黑"/>
              </a:defRPr>
            </a:lvl1pPr>
          </a:lstStyle>
          <a:p>
            <a:pPr algn="r"/>
            <a:fld id="{F7021451-1387-4CA6-816F-3879F97B5CBC}" type="slidenum">
              <a:rPr b="0" lang="en-US"/>
              <a:t>24</a:t>
            </a:fld>
            <a:endParaRPr lang="en-US"/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1"/>
          <p:cNvSpPr/>
          <p:nvPr>
            <p:ph idx="102" type="body" hasCustomPrompt="1"/>
          </p:nvPr>
        </p:nvSpPr>
        <p:spPr>
          <a:xfrm>
            <a:off x="4572000" y="4736592"/>
            <a:ext cx="370332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2D2D2D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让程序会做决定</a:t>
            </a:r>
            <a:endParaRPr lang="en-US" sz="800" dirty="0"/>
          </a:p>
        </p:txBody>
      </p:sp>
      <p:sp>
        <p:nvSpPr>
          <p:cNvPr id="3" name="Text 1"/>
          <p:cNvSpPr/>
          <p:nvPr>
            <p:ph idx="103" type="title" hasCustomPrompt="1"/>
          </p:nvPr>
        </p:nvSpPr>
        <p:spPr>
          <a:xfrm>
            <a:off x="411480" y="274320"/>
            <a:ext cx="83210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400" dirty="0">
                <a:solidFill>
                  <a:srgbClr val="2D2D2D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示例：LED 呼吸灯</a:t>
            </a:r>
            <a:endParaRPr lang="en-US" sz="2400" dirty="0"/>
          </a:p>
        </p:txBody>
      </p:sp>
      <p:sp>
        <p:nvSpPr>
          <p:cNvPr id="4" name="Text 1"/>
          <p:cNvSpPr/>
          <p:nvPr>
            <p:ph idx="104" type="body" hasCustomPrompt="1"/>
          </p:nvPr>
        </p:nvSpPr>
        <p:spPr>
          <a:xfrm>
            <a:off x="411480" y="786384"/>
            <a:ext cx="83210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6B6B6B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两个 for 循环：亮度从 0 慢慢加到 255，再从 255 慢慢减回 0，像在呼吸。</a:t>
            </a:r>
            <a:endParaRPr lang="en-US" sz="1200" dirty="0"/>
          </a:p>
        </p:txBody>
      </p:sp>
      <p:sp>
        <p:nvSpPr>
          <p:cNvPr id="6" name="Shape 3"/>
          <p:cNvSpPr/>
          <p:nvPr/>
        </p:nvSpPr>
        <p:spPr>
          <a:xfrm>
            <a:off x="411480" y="1234440"/>
            <a:ext cx="4480560" cy="3337560"/>
          </a:xfrm>
          <a:prstGeom prst="roundRect">
            <a:avLst>
              <a:gd name="adj" fmla="val 2740"/>
            </a:avLst>
          </a:prstGeom>
          <a:solidFill>
            <a:srgbClr val="2D2D2D"/>
          </a:solidFill>
          <a:ln w="12700">
            <a:solidFill>
              <a:srgbClr val="2D2D2D"/>
            </a:solidFill>
            <a:prstDash val="solid"/>
          </a:ln>
        </p:spPr>
      </p:sp>
      <p:sp>
        <p:nvSpPr>
          <p:cNvPr id="7" name="Text 4"/>
          <p:cNvSpPr txBox="1"/>
          <p:nvPr/>
        </p:nvSpPr>
        <p:spPr>
          <a:xfrm>
            <a:off x="539496" y="1298448"/>
            <a:ext cx="268833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1000" dirty="0">
                <a:solidFill>
                  <a:srgbClr val="9A9A9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for_demo.ino</a:t>
            </a:r>
            <a:endParaRPr lang="en-US" sz="1000" dirty="0"/>
          </a:p>
        </p:txBody>
      </p:sp>
      <p:sp>
        <p:nvSpPr>
          <p:cNvPr id="8" name="Text 5"/>
          <p:cNvSpPr txBox="1"/>
          <p:nvPr/>
        </p:nvSpPr>
        <p:spPr>
          <a:xfrm>
            <a:off x="502920" y="1545336"/>
            <a:ext cx="228597" cy="1986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lnSpc>
                <a:spcPct val="115000"/>
              </a:lnSpc>
              <a:buNone/>
            </a:pPr>
            <a:r>
              <a:rPr lang="en-US" sz="1050" dirty="0">
                <a:solidFill>
                  <a:srgbClr val="7A7A7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1</a:t>
            </a:r>
            <a:endParaRPr lang="en-US" sz="1050" dirty="0"/>
          </a:p>
        </p:txBody>
      </p:sp>
      <p:sp>
        <p:nvSpPr>
          <p:cNvPr id="9" name="Text 6"/>
          <p:cNvSpPr txBox="1"/>
          <p:nvPr/>
        </p:nvSpPr>
        <p:spPr>
          <a:xfrm>
            <a:off x="856016" y="1545336"/>
            <a:ext cx="3908008" cy="1986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40E0D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void </a:t>
            </a:r>
            <a:pPr indent="0" marL="0">
              <a:buNone/>
            </a:pPr>
            <a:r>
              <a:rPr lang="en-US" sz="1150" b="1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setup</a:t>
            </a:r>
            <a:pPr indent="0" marL="0">
              <a:buNone/>
            </a:pPr>
            <a:r>
              <a:rPr lang="en-US" sz="1150" dirty="0">
                <a:solidFill>
                  <a:srgbClr val="BDBDB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() {</a:t>
            </a:r>
            <a:endParaRPr lang="en-US" sz="1150" dirty="0"/>
          </a:p>
        </p:txBody>
      </p:sp>
      <p:sp>
        <p:nvSpPr>
          <p:cNvPr id="10" name="Shape 7"/>
          <p:cNvSpPr/>
          <p:nvPr/>
        </p:nvSpPr>
        <p:spPr>
          <a:xfrm>
            <a:off x="457200" y="1743964"/>
            <a:ext cx="4389120" cy="198628"/>
          </a:xfrm>
          <a:prstGeom prst="rect">
            <a:avLst/>
          </a:prstGeom>
          <a:solidFill>
            <a:srgbClr val="3E5250"/>
          </a:solidFill>
          <a:ln w="12700">
            <a:solidFill>
              <a:srgbClr val="3E5250"/>
            </a:solidFill>
            <a:prstDash val="solid"/>
          </a:ln>
        </p:spPr>
      </p:sp>
      <p:sp>
        <p:nvSpPr>
          <p:cNvPr id="11" name="Text 8"/>
          <p:cNvSpPr txBox="1"/>
          <p:nvPr/>
        </p:nvSpPr>
        <p:spPr>
          <a:xfrm>
            <a:off x="502920" y="1743964"/>
            <a:ext cx="228597" cy="1986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lnSpc>
                <a:spcPct val="115000"/>
              </a:lnSpc>
              <a:buNone/>
            </a:pPr>
            <a:r>
              <a:rPr lang="en-US" sz="1050" b="1" dirty="0">
                <a:solidFill>
                  <a:srgbClr val="40E0D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2</a:t>
            </a:r>
            <a:endParaRPr lang="en-US" sz="1050" dirty="0"/>
          </a:p>
        </p:txBody>
      </p:sp>
      <p:sp>
        <p:nvSpPr>
          <p:cNvPr id="12" name="Text 9"/>
          <p:cNvSpPr txBox="1"/>
          <p:nvPr/>
        </p:nvSpPr>
        <p:spPr>
          <a:xfrm>
            <a:off x="856016" y="1743964"/>
            <a:ext cx="3908008" cy="1986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D9D9D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</a:t>
            </a:r>
            <a:pPr indent="0" marL="0">
              <a:buNone/>
            </a:pPr>
            <a:r>
              <a:rPr lang="en-US" sz="1150" b="1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pinMode</a:t>
            </a:r>
            <a:pPr indent="0" marL="0">
              <a:buNone/>
            </a:pPr>
            <a:r>
              <a:rPr lang="en-US" sz="1150" dirty="0">
                <a:solidFill>
                  <a:srgbClr val="BDBDB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(</a:t>
            </a:r>
            <a:pPr indent="0" marL="0">
              <a:buNone/>
            </a:pPr>
            <a:r>
              <a:rPr lang="en-US" sz="1150" dirty="0">
                <a:solidFill>
                  <a:srgbClr val="F7C87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9</a:t>
            </a:r>
            <a:pPr indent="0" marL="0">
              <a:buNone/>
            </a:pPr>
            <a:r>
              <a:rPr lang="en-US" sz="1150" dirty="0">
                <a:solidFill>
                  <a:srgbClr val="BDBDB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, </a:t>
            </a:r>
            <a:pPr indent="0" marL="0">
              <a:buNone/>
            </a:pPr>
            <a:r>
              <a:rPr lang="en-US" sz="1150" dirty="0">
                <a:solidFill>
                  <a:srgbClr val="F7C87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OUTPUT</a:t>
            </a:r>
            <a:pPr indent="0" marL="0">
              <a:buNone/>
            </a:pPr>
            <a:r>
              <a:rPr lang="en-US" sz="1150" dirty="0">
                <a:solidFill>
                  <a:srgbClr val="BDBDB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);</a:t>
            </a:r>
            <a:endParaRPr lang="en-US" sz="1150" dirty="0"/>
          </a:p>
        </p:txBody>
      </p:sp>
      <p:sp>
        <p:nvSpPr>
          <p:cNvPr id="13" name="Text 10"/>
          <p:cNvSpPr txBox="1"/>
          <p:nvPr/>
        </p:nvSpPr>
        <p:spPr>
          <a:xfrm>
            <a:off x="502920" y="1942592"/>
            <a:ext cx="228597" cy="1986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lnSpc>
                <a:spcPct val="115000"/>
              </a:lnSpc>
              <a:buNone/>
            </a:pPr>
            <a:r>
              <a:rPr lang="en-US" sz="1050" dirty="0">
                <a:solidFill>
                  <a:srgbClr val="7A7A7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3</a:t>
            </a:r>
            <a:endParaRPr lang="en-US" sz="1050" dirty="0"/>
          </a:p>
        </p:txBody>
      </p:sp>
      <p:sp>
        <p:nvSpPr>
          <p:cNvPr id="14" name="Text 11"/>
          <p:cNvSpPr txBox="1"/>
          <p:nvPr/>
        </p:nvSpPr>
        <p:spPr>
          <a:xfrm>
            <a:off x="856016" y="1942592"/>
            <a:ext cx="3908008" cy="1986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BDBDB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}</a:t>
            </a:r>
            <a:endParaRPr lang="en-US" sz="1150" dirty="0"/>
          </a:p>
        </p:txBody>
      </p:sp>
      <p:sp>
        <p:nvSpPr>
          <p:cNvPr id="15" name="Text 12"/>
          <p:cNvSpPr txBox="1"/>
          <p:nvPr/>
        </p:nvSpPr>
        <p:spPr>
          <a:xfrm>
            <a:off x="502920" y="2141220"/>
            <a:ext cx="228597" cy="1986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lnSpc>
                <a:spcPct val="115000"/>
              </a:lnSpc>
              <a:buNone/>
            </a:pPr>
            <a:r>
              <a:rPr lang="en-US" sz="1050" dirty="0">
                <a:solidFill>
                  <a:srgbClr val="7A7A7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4</a:t>
            </a:r>
            <a:endParaRPr lang="en-US" sz="1050" dirty="0"/>
          </a:p>
        </p:txBody>
      </p:sp>
      <p:sp>
        <p:nvSpPr>
          <p:cNvPr id="16" name="Text 13"/>
          <p:cNvSpPr txBox="1"/>
          <p:nvPr/>
        </p:nvSpPr>
        <p:spPr>
          <a:xfrm>
            <a:off x="856016" y="2141220"/>
            <a:ext cx="3908008" cy="1986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D9D9D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endParaRPr lang="en-US" sz="1150" dirty="0"/>
          </a:p>
        </p:txBody>
      </p:sp>
      <p:sp>
        <p:nvSpPr>
          <p:cNvPr id="17" name="Text 14"/>
          <p:cNvSpPr txBox="1"/>
          <p:nvPr/>
        </p:nvSpPr>
        <p:spPr>
          <a:xfrm>
            <a:off x="502920" y="2339848"/>
            <a:ext cx="228597" cy="1986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lnSpc>
                <a:spcPct val="115000"/>
              </a:lnSpc>
              <a:buNone/>
            </a:pPr>
            <a:r>
              <a:rPr lang="en-US" sz="1050" dirty="0">
                <a:solidFill>
                  <a:srgbClr val="7A7A7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5</a:t>
            </a:r>
            <a:endParaRPr lang="en-US" sz="1050" dirty="0"/>
          </a:p>
        </p:txBody>
      </p:sp>
      <p:sp>
        <p:nvSpPr>
          <p:cNvPr id="18" name="Text 15"/>
          <p:cNvSpPr txBox="1"/>
          <p:nvPr/>
        </p:nvSpPr>
        <p:spPr>
          <a:xfrm>
            <a:off x="856016" y="2339848"/>
            <a:ext cx="3908008" cy="1986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40E0D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void </a:t>
            </a:r>
            <a:pPr indent="0" marL="0">
              <a:buNone/>
            </a:pPr>
            <a:r>
              <a:rPr lang="en-US" sz="1150" b="1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loop</a:t>
            </a:r>
            <a:pPr indent="0" marL="0">
              <a:buNone/>
            </a:pPr>
            <a:r>
              <a:rPr lang="en-US" sz="1150" dirty="0">
                <a:solidFill>
                  <a:srgbClr val="BDBDB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() {</a:t>
            </a:r>
            <a:endParaRPr lang="en-US" sz="1150" dirty="0"/>
          </a:p>
        </p:txBody>
      </p:sp>
      <p:sp>
        <p:nvSpPr>
          <p:cNvPr id="19" name="Shape 16"/>
          <p:cNvSpPr/>
          <p:nvPr/>
        </p:nvSpPr>
        <p:spPr>
          <a:xfrm>
            <a:off x="457200" y="2538476"/>
            <a:ext cx="4389120" cy="198628"/>
          </a:xfrm>
          <a:prstGeom prst="rect">
            <a:avLst/>
          </a:prstGeom>
          <a:solidFill>
            <a:srgbClr val="3E5250"/>
          </a:solidFill>
          <a:ln w="12700">
            <a:solidFill>
              <a:srgbClr val="3E5250"/>
            </a:solidFill>
            <a:prstDash val="solid"/>
          </a:ln>
        </p:spPr>
      </p:sp>
      <p:sp>
        <p:nvSpPr>
          <p:cNvPr id="20" name="Text 17"/>
          <p:cNvSpPr txBox="1"/>
          <p:nvPr/>
        </p:nvSpPr>
        <p:spPr>
          <a:xfrm>
            <a:off x="502920" y="2538476"/>
            <a:ext cx="228597" cy="1986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lnSpc>
                <a:spcPct val="115000"/>
              </a:lnSpc>
              <a:buNone/>
            </a:pPr>
            <a:r>
              <a:rPr lang="en-US" sz="1050" b="1" dirty="0">
                <a:solidFill>
                  <a:srgbClr val="40E0D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6</a:t>
            </a:r>
            <a:endParaRPr lang="en-US" sz="1050" dirty="0"/>
          </a:p>
        </p:txBody>
      </p:sp>
      <p:sp>
        <p:nvSpPr>
          <p:cNvPr id="21" name="Text 18"/>
          <p:cNvSpPr txBox="1"/>
          <p:nvPr/>
        </p:nvSpPr>
        <p:spPr>
          <a:xfrm>
            <a:off x="856016" y="2538476"/>
            <a:ext cx="3908008" cy="1986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D9D9D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</a:t>
            </a:r>
            <a:pPr indent="0" marL="0">
              <a:buNone/>
            </a:pPr>
            <a:r>
              <a:rPr lang="en-US" sz="1150" b="1" dirty="0">
                <a:solidFill>
                  <a:srgbClr val="40E0D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for </a:t>
            </a:r>
            <a:pPr indent="0" marL="0">
              <a:buNone/>
            </a:pPr>
            <a:r>
              <a:rPr lang="en-US" sz="1150" dirty="0">
                <a:solidFill>
                  <a:srgbClr val="BDBDB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(</a:t>
            </a:r>
            <a:pPr indent="0" marL="0">
              <a:buNone/>
            </a:pPr>
            <a:r>
              <a:rPr lang="en-US" sz="1150" b="1" dirty="0">
                <a:solidFill>
                  <a:srgbClr val="40E0D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int </a:t>
            </a:r>
            <a:pPr indent="0" marL="0">
              <a:buNone/>
            </a:pPr>
            <a:r>
              <a:rPr lang="en-US" sz="1150" dirty="0">
                <a:solidFill>
                  <a:srgbClr val="D9D9D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 </a:t>
            </a:r>
            <a:pPr indent="0" marL="0">
              <a:buNone/>
            </a:pPr>
            <a:r>
              <a:rPr lang="en-US" sz="1150" dirty="0">
                <a:solidFill>
                  <a:srgbClr val="BDBDB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= </a:t>
            </a:r>
            <a:pPr indent="0" marL="0">
              <a:buNone/>
            </a:pPr>
            <a:r>
              <a:rPr lang="en-US" sz="1150" dirty="0">
                <a:solidFill>
                  <a:srgbClr val="F7C87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</a:t>
            </a:r>
            <a:pPr indent="0" marL="0">
              <a:buNone/>
            </a:pPr>
            <a:r>
              <a:rPr lang="en-US" sz="1150" dirty="0">
                <a:solidFill>
                  <a:srgbClr val="BDBDB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; </a:t>
            </a:r>
            <a:pPr indent="0" marL="0">
              <a:buNone/>
            </a:pPr>
            <a:r>
              <a:rPr lang="en-US" sz="1150" dirty="0">
                <a:solidFill>
                  <a:srgbClr val="D9D9D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 </a:t>
            </a:r>
            <a:pPr indent="0" marL="0">
              <a:buNone/>
            </a:pPr>
            <a:r>
              <a:rPr lang="en-US" sz="1150" dirty="0">
                <a:solidFill>
                  <a:srgbClr val="BDBDB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&lt;= </a:t>
            </a:r>
            <a:pPr indent="0" marL="0">
              <a:buNone/>
            </a:pPr>
            <a:r>
              <a:rPr lang="en-US" sz="1150" dirty="0">
                <a:solidFill>
                  <a:srgbClr val="F7C87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255</a:t>
            </a:r>
            <a:pPr indent="0" marL="0">
              <a:buNone/>
            </a:pPr>
            <a:r>
              <a:rPr lang="en-US" sz="1150" dirty="0">
                <a:solidFill>
                  <a:srgbClr val="BDBDB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; </a:t>
            </a:r>
            <a:pPr indent="0" marL="0">
              <a:buNone/>
            </a:pPr>
            <a:r>
              <a:rPr lang="en-US" sz="1150" dirty="0">
                <a:solidFill>
                  <a:srgbClr val="D9D9D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</a:t>
            </a:r>
            <a:pPr indent="0" marL="0">
              <a:buNone/>
            </a:pPr>
            <a:r>
              <a:rPr lang="en-US" sz="1150" dirty="0">
                <a:solidFill>
                  <a:srgbClr val="BDBDB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++) {</a:t>
            </a:r>
            <a:endParaRPr lang="en-US" sz="1150" dirty="0"/>
          </a:p>
        </p:txBody>
      </p:sp>
      <p:sp>
        <p:nvSpPr>
          <p:cNvPr id="22" name="Shape 19"/>
          <p:cNvSpPr/>
          <p:nvPr/>
        </p:nvSpPr>
        <p:spPr>
          <a:xfrm>
            <a:off x="457200" y="2737104"/>
            <a:ext cx="4389120" cy="198628"/>
          </a:xfrm>
          <a:prstGeom prst="rect">
            <a:avLst/>
          </a:prstGeom>
          <a:solidFill>
            <a:srgbClr val="3E5250"/>
          </a:solidFill>
          <a:ln w="12700">
            <a:solidFill>
              <a:srgbClr val="3E5250"/>
            </a:solidFill>
            <a:prstDash val="solid"/>
          </a:ln>
        </p:spPr>
      </p:sp>
      <p:sp>
        <p:nvSpPr>
          <p:cNvPr id="23" name="Text 20"/>
          <p:cNvSpPr txBox="1"/>
          <p:nvPr/>
        </p:nvSpPr>
        <p:spPr>
          <a:xfrm>
            <a:off x="502920" y="2737104"/>
            <a:ext cx="228597" cy="1986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lnSpc>
                <a:spcPct val="115000"/>
              </a:lnSpc>
              <a:buNone/>
            </a:pPr>
            <a:r>
              <a:rPr lang="en-US" sz="1050" b="1" dirty="0">
                <a:solidFill>
                  <a:srgbClr val="40E0D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7</a:t>
            </a:r>
            <a:endParaRPr lang="en-US" sz="1050" dirty="0"/>
          </a:p>
        </p:txBody>
      </p:sp>
      <p:sp>
        <p:nvSpPr>
          <p:cNvPr id="24" name="Text 21"/>
          <p:cNvSpPr txBox="1"/>
          <p:nvPr/>
        </p:nvSpPr>
        <p:spPr>
          <a:xfrm>
            <a:off x="856016" y="2737104"/>
            <a:ext cx="3908008" cy="1986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D9D9D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</a:t>
            </a:r>
            <a:pPr indent="0" marL="0">
              <a:buNone/>
            </a:pPr>
            <a:r>
              <a:rPr lang="en-US" sz="1150" b="1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analogWrite</a:t>
            </a:r>
            <a:pPr indent="0" marL="0">
              <a:buNone/>
            </a:pPr>
            <a:r>
              <a:rPr lang="en-US" sz="1150" dirty="0">
                <a:solidFill>
                  <a:srgbClr val="BDBDB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(</a:t>
            </a:r>
            <a:pPr indent="0" marL="0">
              <a:buNone/>
            </a:pPr>
            <a:r>
              <a:rPr lang="en-US" sz="1150" dirty="0">
                <a:solidFill>
                  <a:srgbClr val="F7C87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9</a:t>
            </a:r>
            <a:pPr indent="0" marL="0">
              <a:buNone/>
            </a:pPr>
            <a:r>
              <a:rPr lang="en-US" sz="1150" dirty="0">
                <a:solidFill>
                  <a:srgbClr val="BDBDB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, </a:t>
            </a:r>
            <a:pPr indent="0" marL="0">
              <a:buNone/>
            </a:pPr>
            <a:r>
              <a:rPr lang="en-US" sz="1150" dirty="0">
                <a:solidFill>
                  <a:srgbClr val="D9D9D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</a:t>
            </a:r>
            <a:pPr indent="0" marL="0">
              <a:buNone/>
            </a:pPr>
            <a:r>
              <a:rPr lang="en-US" sz="1150" dirty="0">
                <a:solidFill>
                  <a:srgbClr val="BDBDB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);   </a:t>
            </a:r>
            <a:pPr indent="0" marL="0">
              <a:buNone/>
            </a:pPr>
            <a:r>
              <a:rPr lang="en-US" sz="1150" i="1" dirty="0">
                <a:solidFill>
                  <a:srgbClr val="8E8E8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// 亮度逐渐增加</a:t>
            </a:r>
            <a:endParaRPr lang="en-US" sz="1150" dirty="0"/>
          </a:p>
        </p:txBody>
      </p:sp>
      <p:sp>
        <p:nvSpPr>
          <p:cNvPr id="25" name="Shape 22"/>
          <p:cNvSpPr/>
          <p:nvPr/>
        </p:nvSpPr>
        <p:spPr>
          <a:xfrm>
            <a:off x="457200" y="2935732"/>
            <a:ext cx="4389120" cy="198628"/>
          </a:xfrm>
          <a:prstGeom prst="rect">
            <a:avLst/>
          </a:prstGeom>
          <a:solidFill>
            <a:srgbClr val="3E5250"/>
          </a:solidFill>
          <a:ln w="12700">
            <a:solidFill>
              <a:srgbClr val="3E5250"/>
            </a:solidFill>
            <a:prstDash val="solid"/>
          </a:ln>
        </p:spPr>
      </p:sp>
      <p:sp>
        <p:nvSpPr>
          <p:cNvPr id="26" name="Text 23"/>
          <p:cNvSpPr txBox="1"/>
          <p:nvPr/>
        </p:nvSpPr>
        <p:spPr>
          <a:xfrm>
            <a:off x="502920" y="2935732"/>
            <a:ext cx="228597" cy="1986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lnSpc>
                <a:spcPct val="115000"/>
              </a:lnSpc>
              <a:buNone/>
            </a:pPr>
            <a:r>
              <a:rPr lang="en-US" sz="1050" b="1" dirty="0">
                <a:solidFill>
                  <a:srgbClr val="40E0D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8</a:t>
            </a:r>
            <a:endParaRPr lang="en-US" sz="1050" dirty="0"/>
          </a:p>
        </p:txBody>
      </p:sp>
      <p:sp>
        <p:nvSpPr>
          <p:cNvPr id="27" name="Text 24"/>
          <p:cNvSpPr txBox="1"/>
          <p:nvPr/>
        </p:nvSpPr>
        <p:spPr>
          <a:xfrm>
            <a:off x="856016" y="2935732"/>
            <a:ext cx="3908008" cy="1986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D9D9D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</a:t>
            </a:r>
            <a:pPr indent="0" marL="0">
              <a:buNone/>
            </a:pPr>
            <a:r>
              <a:rPr lang="en-US" sz="1150" b="1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delay</a:t>
            </a:r>
            <a:pPr indent="0" marL="0">
              <a:buNone/>
            </a:pPr>
            <a:r>
              <a:rPr lang="en-US" sz="1150" dirty="0">
                <a:solidFill>
                  <a:srgbClr val="BDBDB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(</a:t>
            </a:r>
            <a:pPr indent="0" marL="0">
              <a:buNone/>
            </a:pPr>
            <a:r>
              <a:rPr lang="en-US" sz="1150" dirty="0">
                <a:solidFill>
                  <a:srgbClr val="F7C87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10</a:t>
            </a:r>
            <a:pPr indent="0" marL="0">
              <a:buNone/>
            </a:pPr>
            <a:r>
              <a:rPr lang="en-US" sz="1150" dirty="0">
                <a:solidFill>
                  <a:srgbClr val="BDBDB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);           </a:t>
            </a:r>
            <a:pPr indent="0" marL="0">
              <a:buNone/>
            </a:pPr>
            <a:r>
              <a:rPr lang="en-US" sz="1150" i="1" dirty="0">
                <a:solidFill>
                  <a:srgbClr val="8E8E8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// 每级停留 10 毫秒</a:t>
            </a:r>
            <a:endParaRPr lang="en-US" sz="1150" dirty="0"/>
          </a:p>
        </p:txBody>
      </p:sp>
      <p:sp>
        <p:nvSpPr>
          <p:cNvPr id="28" name="Text 25"/>
          <p:cNvSpPr txBox="1"/>
          <p:nvPr/>
        </p:nvSpPr>
        <p:spPr>
          <a:xfrm>
            <a:off x="502920" y="3134360"/>
            <a:ext cx="228597" cy="1986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lnSpc>
                <a:spcPct val="115000"/>
              </a:lnSpc>
              <a:buNone/>
            </a:pPr>
            <a:r>
              <a:rPr lang="en-US" sz="1050" dirty="0">
                <a:solidFill>
                  <a:srgbClr val="7A7A7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9</a:t>
            </a:r>
            <a:endParaRPr lang="en-US" sz="1050" dirty="0"/>
          </a:p>
        </p:txBody>
      </p:sp>
      <p:sp>
        <p:nvSpPr>
          <p:cNvPr id="29" name="Text 26"/>
          <p:cNvSpPr txBox="1"/>
          <p:nvPr/>
        </p:nvSpPr>
        <p:spPr>
          <a:xfrm>
            <a:off x="856016" y="3134360"/>
            <a:ext cx="3908008" cy="1986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D9D9D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</a:t>
            </a:r>
            <a:pPr indent="0" marL="0">
              <a:buNone/>
            </a:pPr>
            <a:r>
              <a:rPr lang="en-US" sz="1150" dirty="0">
                <a:solidFill>
                  <a:srgbClr val="BDBDB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}</a:t>
            </a:r>
            <a:endParaRPr lang="en-US" sz="1150" dirty="0"/>
          </a:p>
        </p:txBody>
      </p:sp>
      <p:sp>
        <p:nvSpPr>
          <p:cNvPr id="30" name="Shape 27"/>
          <p:cNvSpPr/>
          <p:nvPr/>
        </p:nvSpPr>
        <p:spPr>
          <a:xfrm>
            <a:off x="457200" y="3332988"/>
            <a:ext cx="4389120" cy="198628"/>
          </a:xfrm>
          <a:prstGeom prst="rect">
            <a:avLst/>
          </a:prstGeom>
          <a:solidFill>
            <a:srgbClr val="3E5250"/>
          </a:solidFill>
          <a:ln w="12700">
            <a:solidFill>
              <a:srgbClr val="3E5250"/>
            </a:solidFill>
            <a:prstDash val="solid"/>
          </a:ln>
        </p:spPr>
      </p:sp>
      <p:sp>
        <p:nvSpPr>
          <p:cNvPr id="31" name="Text 28"/>
          <p:cNvSpPr txBox="1"/>
          <p:nvPr/>
        </p:nvSpPr>
        <p:spPr>
          <a:xfrm>
            <a:off x="502920" y="3332988"/>
            <a:ext cx="228597" cy="1986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lnSpc>
                <a:spcPct val="115000"/>
              </a:lnSpc>
              <a:buNone/>
            </a:pPr>
            <a:r>
              <a:rPr lang="en-US" sz="1050" b="1" dirty="0">
                <a:solidFill>
                  <a:srgbClr val="40E0D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10</a:t>
            </a:r>
            <a:endParaRPr lang="en-US" sz="1050" dirty="0"/>
          </a:p>
        </p:txBody>
      </p:sp>
      <p:sp>
        <p:nvSpPr>
          <p:cNvPr id="32" name="Text 29"/>
          <p:cNvSpPr txBox="1"/>
          <p:nvPr/>
        </p:nvSpPr>
        <p:spPr>
          <a:xfrm>
            <a:off x="856016" y="3332988"/>
            <a:ext cx="3908008" cy="1986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D9D9D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</a:t>
            </a:r>
            <a:pPr indent="0" marL="0">
              <a:buNone/>
            </a:pPr>
            <a:r>
              <a:rPr lang="en-US" sz="1150" b="1" dirty="0">
                <a:solidFill>
                  <a:srgbClr val="40E0D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for </a:t>
            </a:r>
            <a:pPr indent="0" marL="0">
              <a:buNone/>
            </a:pPr>
            <a:r>
              <a:rPr lang="en-US" sz="1150" dirty="0">
                <a:solidFill>
                  <a:srgbClr val="BDBDB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(</a:t>
            </a:r>
            <a:pPr indent="0" marL="0">
              <a:buNone/>
            </a:pPr>
            <a:r>
              <a:rPr lang="en-US" sz="1150" b="1" dirty="0">
                <a:solidFill>
                  <a:srgbClr val="40E0D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int </a:t>
            </a:r>
            <a:pPr indent="0" marL="0">
              <a:buNone/>
            </a:pPr>
            <a:r>
              <a:rPr lang="en-US" sz="1150" dirty="0">
                <a:solidFill>
                  <a:srgbClr val="D9D9D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 </a:t>
            </a:r>
            <a:pPr indent="0" marL="0">
              <a:buNone/>
            </a:pPr>
            <a:r>
              <a:rPr lang="en-US" sz="1150" dirty="0">
                <a:solidFill>
                  <a:srgbClr val="BDBDB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= </a:t>
            </a:r>
            <a:pPr indent="0" marL="0">
              <a:buNone/>
            </a:pPr>
            <a:r>
              <a:rPr lang="en-US" sz="1150" dirty="0">
                <a:solidFill>
                  <a:srgbClr val="F7C87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255</a:t>
            </a:r>
            <a:pPr indent="0" marL="0">
              <a:buNone/>
            </a:pPr>
            <a:r>
              <a:rPr lang="en-US" sz="1150" dirty="0">
                <a:solidFill>
                  <a:srgbClr val="BDBDB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; </a:t>
            </a:r>
            <a:pPr indent="0" marL="0">
              <a:buNone/>
            </a:pPr>
            <a:r>
              <a:rPr lang="en-US" sz="1150" dirty="0">
                <a:solidFill>
                  <a:srgbClr val="D9D9D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 </a:t>
            </a:r>
            <a:pPr indent="0" marL="0">
              <a:buNone/>
            </a:pPr>
            <a:r>
              <a:rPr lang="en-US" sz="1150" dirty="0">
                <a:solidFill>
                  <a:srgbClr val="BDBDB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&gt;= </a:t>
            </a:r>
            <a:pPr indent="0" marL="0">
              <a:buNone/>
            </a:pPr>
            <a:r>
              <a:rPr lang="en-US" sz="1150" dirty="0">
                <a:solidFill>
                  <a:srgbClr val="F7C87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</a:t>
            </a:r>
            <a:pPr indent="0" marL="0">
              <a:buNone/>
            </a:pPr>
            <a:r>
              <a:rPr lang="en-US" sz="1150" dirty="0">
                <a:solidFill>
                  <a:srgbClr val="BDBDB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; </a:t>
            </a:r>
            <a:pPr indent="0" marL="0">
              <a:buNone/>
            </a:pPr>
            <a:r>
              <a:rPr lang="en-US" sz="1150" dirty="0">
                <a:solidFill>
                  <a:srgbClr val="D9D9D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</a:t>
            </a:r>
            <a:pPr indent="0" marL="0">
              <a:buNone/>
            </a:pPr>
            <a:r>
              <a:rPr lang="en-US" sz="1150" dirty="0">
                <a:solidFill>
                  <a:srgbClr val="BDBDB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--) {</a:t>
            </a:r>
            <a:endParaRPr lang="en-US" sz="1150" dirty="0"/>
          </a:p>
        </p:txBody>
      </p:sp>
      <p:sp>
        <p:nvSpPr>
          <p:cNvPr id="33" name="Text 30"/>
          <p:cNvSpPr txBox="1"/>
          <p:nvPr/>
        </p:nvSpPr>
        <p:spPr>
          <a:xfrm>
            <a:off x="502920" y="3531616"/>
            <a:ext cx="228597" cy="1986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lnSpc>
                <a:spcPct val="115000"/>
              </a:lnSpc>
              <a:buNone/>
            </a:pPr>
            <a:r>
              <a:rPr lang="en-US" sz="1050" dirty="0">
                <a:solidFill>
                  <a:srgbClr val="7A7A7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11</a:t>
            </a:r>
            <a:endParaRPr lang="en-US" sz="1050" dirty="0"/>
          </a:p>
        </p:txBody>
      </p:sp>
      <p:sp>
        <p:nvSpPr>
          <p:cNvPr id="34" name="Text 31"/>
          <p:cNvSpPr txBox="1"/>
          <p:nvPr/>
        </p:nvSpPr>
        <p:spPr>
          <a:xfrm>
            <a:off x="856016" y="3531616"/>
            <a:ext cx="3908008" cy="1986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D9D9D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</a:t>
            </a:r>
            <a:pPr indent="0" marL="0">
              <a:buNone/>
            </a:pPr>
            <a:r>
              <a:rPr lang="en-US" sz="1150" b="1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analogWrite</a:t>
            </a:r>
            <a:pPr indent="0" marL="0">
              <a:buNone/>
            </a:pPr>
            <a:r>
              <a:rPr lang="en-US" sz="1150" dirty="0">
                <a:solidFill>
                  <a:srgbClr val="BDBDB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(</a:t>
            </a:r>
            <a:pPr indent="0" marL="0">
              <a:buNone/>
            </a:pPr>
            <a:r>
              <a:rPr lang="en-US" sz="1150" dirty="0">
                <a:solidFill>
                  <a:srgbClr val="F7C87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9</a:t>
            </a:r>
            <a:pPr indent="0" marL="0">
              <a:buNone/>
            </a:pPr>
            <a:r>
              <a:rPr lang="en-US" sz="1150" dirty="0">
                <a:solidFill>
                  <a:srgbClr val="BDBDB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, </a:t>
            </a:r>
            <a:pPr indent="0" marL="0">
              <a:buNone/>
            </a:pPr>
            <a:r>
              <a:rPr lang="en-US" sz="1150" dirty="0">
                <a:solidFill>
                  <a:srgbClr val="D9D9D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</a:t>
            </a:r>
            <a:pPr indent="0" marL="0">
              <a:buNone/>
            </a:pPr>
            <a:r>
              <a:rPr lang="en-US" sz="1150" dirty="0">
                <a:solidFill>
                  <a:srgbClr val="BDBDB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);   </a:t>
            </a:r>
            <a:pPr indent="0" marL="0">
              <a:buNone/>
            </a:pPr>
            <a:r>
              <a:rPr lang="en-US" sz="1150" i="1" dirty="0">
                <a:solidFill>
                  <a:srgbClr val="8E8E8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// 亮度逐渐减小</a:t>
            </a:r>
            <a:endParaRPr lang="en-US" sz="1150" dirty="0"/>
          </a:p>
        </p:txBody>
      </p:sp>
      <p:sp>
        <p:nvSpPr>
          <p:cNvPr id="35" name="Text 32"/>
          <p:cNvSpPr txBox="1"/>
          <p:nvPr/>
        </p:nvSpPr>
        <p:spPr>
          <a:xfrm>
            <a:off x="502920" y="3730244"/>
            <a:ext cx="228597" cy="1986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lnSpc>
                <a:spcPct val="115000"/>
              </a:lnSpc>
              <a:buNone/>
            </a:pPr>
            <a:r>
              <a:rPr lang="en-US" sz="1050" dirty="0">
                <a:solidFill>
                  <a:srgbClr val="7A7A7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12</a:t>
            </a:r>
            <a:endParaRPr lang="en-US" sz="1050" dirty="0"/>
          </a:p>
        </p:txBody>
      </p:sp>
      <p:sp>
        <p:nvSpPr>
          <p:cNvPr id="36" name="Text 33"/>
          <p:cNvSpPr txBox="1"/>
          <p:nvPr/>
        </p:nvSpPr>
        <p:spPr>
          <a:xfrm>
            <a:off x="856016" y="3730244"/>
            <a:ext cx="3908008" cy="1986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D9D9D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</a:t>
            </a:r>
            <a:pPr indent="0" marL="0">
              <a:buNone/>
            </a:pPr>
            <a:r>
              <a:rPr lang="en-US" sz="1150" b="1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delay</a:t>
            </a:r>
            <a:pPr indent="0" marL="0">
              <a:buNone/>
            </a:pPr>
            <a:r>
              <a:rPr lang="en-US" sz="1150" dirty="0">
                <a:solidFill>
                  <a:srgbClr val="BDBDB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(</a:t>
            </a:r>
            <a:pPr indent="0" marL="0">
              <a:buNone/>
            </a:pPr>
            <a:r>
              <a:rPr lang="en-US" sz="1150" dirty="0">
                <a:solidFill>
                  <a:srgbClr val="F7C87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10</a:t>
            </a:r>
            <a:pPr indent="0" marL="0">
              <a:buNone/>
            </a:pPr>
            <a:r>
              <a:rPr lang="en-US" sz="1150" dirty="0">
                <a:solidFill>
                  <a:srgbClr val="BDBDB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);</a:t>
            </a:r>
            <a:endParaRPr lang="en-US" sz="1150" dirty="0"/>
          </a:p>
        </p:txBody>
      </p:sp>
      <p:sp>
        <p:nvSpPr>
          <p:cNvPr id="37" name="Text 34"/>
          <p:cNvSpPr txBox="1"/>
          <p:nvPr/>
        </p:nvSpPr>
        <p:spPr>
          <a:xfrm>
            <a:off x="502920" y="3928872"/>
            <a:ext cx="228597" cy="1986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lnSpc>
                <a:spcPct val="115000"/>
              </a:lnSpc>
              <a:buNone/>
            </a:pPr>
            <a:r>
              <a:rPr lang="en-US" sz="1050" dirty="0">
                <a:solidFill>
                  <a:srgbClr val="7A7A7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13</a:t>
            </a:r>
            <a:endParaRPr lang="en-US" sz="1050" dirty="0"/>
          </a:p>
        </p:txBody>
      </p:sp>
      <p:sp>
        <p:nvSpPr>
          <p:cNvPr id="38" name="Text 35"/>
          <p:cNvSpPr txBox="1"/>
          <p:nvPr/>
        </p:nvSpPr>
        <p:spPr>
          <a:xfrm>
            <a:off x="856016" y="3928872"/>
            <a:ext cx="3908008" cy="1986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D9D9D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</a:t>
            </a:r>
            <a:pPr indent="0" marL="0">
              <a:buNone/>
            </a:pPr>
            <a:r>
              <a:rPr lang="en-US" sz="1150" dirty="0">
                <a:solidFill>
                  <a:srgbClr val="BDBDB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}</a:t>
            </a:r>
            <a:endParaRPr lang="en-US" sz="1150" dirty="0"/>
          </a:p>
        </p:txBody>
      </p:sp>
      <p:sp>
        <p:nvSpPr>
          <p:cNvPr id="39" name="Text 36"/>
          <p:cNvSpPr txBox="1"/>
          <p:nvPr/>
        </p:nvSpPr>
        <p:spPr>
          <a:xfrm>
            <a:off x="502920" y="4127500"/>
            <a:ext cx="228597" cy="1986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lnSpc>
                <a:spcPct val="115000"/>
              </a:lnSpc>
              <a:buNone/>
            </a:pPr>
            <a:r>
              <a:rPr lang="en-US" sz="1050" dirty="0">
                <a:solidFill>
                  <a:srgbClr val="7A7A7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14</a:t>
            </a:r>
            <a:endParaRPr lang="en-US" sz="1050" dirty="0"/>
          </a:p>
        </p:txBody>
      </p:sp>
      <p:sp>
        <p:nvSpPr>
          <p:cNvPr id="40" name="Text 37"/>
          <p:cNvSpPr txBox="1"/>
          <p:nvPr/>
        </p:nvSpPr>
        <p:spPr>
          <a:xfrm>
            <a:off x="856016" y="4127500"/>
            <a:ext cx="3908008" cy="1986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BDBDB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}</a:t>
            </a:r>
            <a:endParaRPr lang="en-US" sz="1150" dirty="0"/>
          </a:p>
        </p:txBody>
      </p:sp>
      <p:sp>
        <p:nvSpPr>
          <p:cNvPr id="41" name="Text 38"/>
          <p:cNvSpPr txBox="1"/>
          <p:nvPr/>
        </p:nvSpPr>
        <p:spPr>
          <a:xfrm>
            <a:off x="5166360" y="1234440"/>
            <a:ext cx="35661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1300" b="1" dirty="0">
                <a:solidFill>
                  <a:srgbClr val="2D2D2D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逐行看懂</a:t>
            </a:r>
            <a:endParaRPr lang="en-US" sz="1300" dirty="0"/>
          </a:p>
        </p:txBody>
      </p:sp>
      <p:sp>
        <p:nvSpPr>
          <p:cNvPr id="42" name="Shape 39"/>
          <p:cNvSpPr/>
          <p:nvPr/>
        </p:nvSpPr>
        <p:spPr>
          <a:xfrm>
            <a:off x="5166360" y="1600200"/>
            <a:ext cx="578612" cy="219456"/>
          </a:xfrm>
          <a:prstGeom prst="roundRect">
            <a:avLst>
              <a:gd name="adj" fmla="val 50000"/>
            </a:avLst>
          </a:prstGeom>
          <a:solidFill>
            <a:srgbClr val="40E0D0"/>
          </a:solidFill>
          <a:ln w="12700">
            <a:solidFill>
              <a:srgbClr val="40E0D0"/>
            </a:solidFill>
            <a:prstDash val="solid"/>
          </a:ln>
        </p:spPr>
      </p:sp>
      <p:sp>
        <p:nvSpPr>
          <p:cNvPr id="43" name="Text 40"/>
          <p:cNvSpPr txBox="1"/>
          <p:nvPr/>
        </p:nvSpPr>
        <p:spPr>
          <a:xfrm>
            <a:off x="5166360" y="1600200"/>
            <a:ext cx="578612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15000"/>
              </a:lnSpc>
              <a:buNone/>
            </a:pPr>
            <a:r>
              <a:rPr lang="en-US" sz="950" b="1" dirty="0">
                <a:solidFill>
                  <a:srgbClr val="2D2D2D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第 2 行</a:t>
            </a:r>
            <a:endParaRPr lang="en-US" sz="950" dirty="0"/>
          </a:p>
        </p:txBody>
      </p:sp>
      <p:sp>
        <p:nvSpPr>
          <p:cNvPr id="44" name="Text 41"/>
          <p:cNvSpPr txBox="1"/>
          <p:nvPr/>
        </p:nvSpPr>
        <p:spPr>
          <a:xfrm>
            <a:off x="5836412" y="1591056"/>
            <a:ext cx="289610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0000"/>
              </a:lnSpc>
              <a:buNone/>
            </a:pPr>
            <a:r>
              <a:rPr lang="en-US" sz="1200" dirty="0">
                <a:solidFill>
                  <a:srgbClr val="2D2D2D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9 号脚带 ~，可以用 analogWrite</a:t>
            </a:r>
            <a:endParaRPr lang="en-US" sz="1200" dirty="0"/>
          </a:p>
        </p:txBody>
      </p:sp>
      <p:sp>
        <p:nvSpPr>
          <p:cNvPr id="45" name="Shape 42"/>
          <p:cNvSpPr/>
          <p:nvPr/>
        </p:nvSpPr>
        <p:spPr>
          <a:xfrm>
            <a:off x="5166360" y="1947672"/>
            <a:ext cx="578612" cy="219456"/>
          </a:xfrm>
          <a:prstGeom prst="roundRect">
            <a:avLst>
              <a:gd name="adj" fmla="val 50000"/>
            </a:avLst>
          </a:prstGeom>
          <a:solidFill>
            <a:srgbClr val="40E0D0"/>
          </a:solidFill>
          <a:ln w="12700">
            <a:solidFill>
              <a:srgbClr val="40E0D0"/>
            </a:solidFill>
            <a:prstDash val="solid"/>
          </a:ln>
        </p:spPr>
      </p:sp>
      <p:sp>
        <p:nvSpPr>
          <p:cNvPr id="46" name="Text 43"/>
          <p:cNvSpPr txBox="1"/>
          <p:nvPr/>
        </p:nvSpPr>
        <p:spPr>
          <a:xfrm>
            <a:off x="5166360" y="1947672"/>
            <a:ext cx="578612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15000"/>
              </a:lnSpc>
              <a:buNone/>
            </a:pPr>
            <a:r>
              <a:rPr lang="en-US" sz="950" b="1" dirty="0">
                <a:solidFill>
                  <a:srgbClr val="2D2D2D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第 6 行</a:t>
            </a:r>
            <a:endParaRPr lang="en-US" sz="950" dirty="0"/>
          </a:p>
        </p:txBody>
      </p:sp>
      <p:sp>
        <p:nvSpPr>
          <p:cNvPr id="47" name="Text 44"/>
          <p:cNvSpPr txBox="1"/>
          <p:nvPr/>
        </p:nvSpPr>
        <p:spPr>
          <a:xfrm>
            <a:off x="5836412" y="1938528"/>
            <a:ext cx="289610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0000"/>
              </a:lnSpc>
              <a:buNone/>
            </a:pPr>
            <a:r>
              <a:rPr lang="en-US" sz="1200" dirty="0">
                <a:solidFill>
                  <a:srgbClr val="2D2D2D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i 从 0 增加到 255</a:t>
            </a:r>
            <a:endParaRPr lang="en-US" sz="1200" dirty="0"/>
          </a:p>
        </p:txBody>
      </p:sp>
      <p:sp>
        <p:nvSpPr>
          <p:cNvPr id="48" name="Shape 45"/>
          <p:cNvSpPr/>
          <p:nvPr/>
        </p:nvSpPr>
        <p:spPr>
          <a:xfrm>
            <a:off x="5166360" y="2295144"/>
            <a:ext cx="578612" cy="219456"/>
          </a:xfrm>
          <a:prstGeom prst="roundRect">
            <a:avLst>
              <a:gd name="adj" fmla="val 50000"/>
            </a:avLst>
          </a:prstGeom>
          <a:solidFill>
            <a:srgbClr val="40E0D0"/>
          </a:solidFill>
          <a:ln w="12700">
            <a:solidFill>
              <a:srgbClr val="40E0D0"/>
            </a:solidFill>
            <a:prstDash val="solid"/>
          </a:ln>
        </p:spPr>
      </p:sp>
      <p:sp>
        <p:nvSpPr>
          <p:cNvPr id="49" name="Text 46"/>
          <p:cNvSpPr txBox="1"/>
          <p:nvPr/>
        </p:nvSpPr>
        <p:spPr>
          <a:xfrm>
            <a:off x="5166360" y="2295144"/>
            <a:ext cx="578612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15000"/>
              </a:lnSpc>
              <a:buNone/>
            </a:pPr>
            <a:r>
              <a:rPr lang="en-US" sz="950" b="1" dirty="0">
                <a:solidFill>
                  <a:srgbClr val="2D2D2D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第 7 行</a:t>
            </a:r>
            <a:endParaRPr lang="en-US" sz="950" dirty="0"/>
          </a:p>
        </p:txBody>
      </p:sp>
      <p:sp>
        <p:nvSpPr>
          <p:cNvPr id="50" name="Text 47"/>
          <p:cNvSpPr txBox="1"/>
          <p:nvPr/>
        </p:nvSpPr>
        <p:spPr>
          <a:xfrm>
            <a:off x="5836412" y="2286000"/>
            <a:ext cx="289610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0000"/>
              </a:lnSpc>
              <a:buNone/>
            </a:pPr>
            <a:r>
              <a:rPr lang="en-US" sz="1200" dirty="0">
                <a:solidFill>
                  <a:srgbClr val="2D2D2D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亮度逐级增加</a:t>
            </a:r>
            <a:endParaRPr lang="en-US" sz="1200" dirty="0"/>
          </a:p>
        </p:txBody>
      </p:sp>
      <p:sp>
        <p:nvSpPr>
          <p:cNvPr id="51" name="Shape 48"/>
          <p:cNvSpPr/>
          <p:nvPr/>
        </p:nvSpPr>
        <p:spPr>
          <a:xfrm>
            <a:off x="5166360" y="2642616"/>
            <a:ext cx="578612" cy="219456"/>
          </a:xfrm>
          <a:prstGeom prst="roundRect">
            <a:avLst>
              <a:gd name="adj" fmla="val 50000"/>
            </a:avLst>
          </a:prstGeom>
          <a:solidFill>
            <a:srgbClr val="40E0D0"/>
          </a:solidFill>
          <a:ln w="12700">
            <a:solidFill>
              <a:srgbClr val="40E0D0"/>
            </a:solidFill>
            <a:prstDash val="solid"/>
          </a:ln>
        </p:spPr>
      </p:sp>
      <p:sp>
        <p:nvSpPr>
          <p:cNvPr id="52" name="Text 49"/>
          <p:cNvSpPr txBox="1"/>
          <p:nvPr/>
        </p:nvSpPr>
        <p:spPr>
          <a:xfrm>
            <a:off x="5166360" y="2642616"/>
            <a:ext cx="578612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15000"/>
              </a:lnSpc>
              <a:buNone/>
            </a:pPr>
            <a:r>
              <a:rPr lang="en-US" sz="950" b="1" dirty="0">
                <a:solidFill>
                  <a:srgbClr val="2D2D2D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第 8 行</a:t>
            </a:r>
            <a:endParaRPr lang="en-US" sz="950" dirty="0"/>
          </a:p>
        </p:txBody>
      </p:sp>
      <p:sp>
        <p:nvSpPr>
          <p:cNvPr id="53" name="Text 50"/>
          <p:cNvSpPr txBox="1"/>
          <p:nvPr/>
        </p:nvSpPr>
        <p:spPr>
          <a:xfrm>
            <a:off x="5836412" y="2633472"/>
            <a:ext cx="289610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0000"/>
              </a:lnSpc>
              <a:buNone/>
            </a:pPr>
            <a:r>
              <a:rPr lang="en-US" sz="1200" dirty="0">
                <a:solidFill>
                  <a:srgbClr val="2D2D2D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每级停 10 毫秒：256 级约 2.6 秒</a:t>
            </a:r>
            <a:endParaRPr lang="en-US" sz="1200" dirty="0"/>
          </a:p>
        </p:txBody>
      </p:sp>
      <p:sp>
        <p:nvSpPr>
          <p:cNvPr id="54" name="Shape 51"/>
          <p:cNvSpPr/>
          <p:nvPr/>
        </p:nvSpPr>
        <p:spPr>
          <a:xfrm>
            <a:off x="5166360" y="2990088"/>
            <a:ext cx="655828" cy="219456"/>
          </a:xfrm>
          <a:prstGeom prst="roundRect">
            <a:avLst>
              <a:gd name="adj" fmla="val 50000"/>
            </a:avLst>
          </a:prstGeom>
          <a:solidFill>
            <a:srgbClr val="40E0D0"/>
          </a:solidFill>
          <a:ln w="12700">
            <a:solidFill>
              <a:srgbClr val="40E0D0"/>
            </a:solidFill>
            <a:prstDash val="solid"/>
          </a:ln>
        </p:spPr>
      </p:sp>
      <p:sp>
        <p:nvSpPr>
          <p:cNvPr id="55" name="Text 52"/>
          <p:cNvSpPr txBox="1"/>
          <p:nvPr/>
        </p:nvSpPr>
        <p:spPr>
          <a:xfrm>
            <a:off x="5166360" y="2990088"/>
            <a:ext cx="655828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15000"/>
              </a:lnSpc>
              <a:buNone/>
            </a:pPr>
            <a:r>
              <a:rPr lang="en-US" sz="950" b="1" dirty="0">
                <a:solidFill>
                  <a:srgbClr val="2D2D2D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第 10 行</a:t>
            </a:r>
            <a:endParaRPr lang="en-US" sz="950" dirty="0"/>
          </a:p>
        </p:txBody>
      </p:sp>
      <p:sp>
        <p:nvSpPr>
          <p:cNvPr id="56" name="Text 53"/>
          <p:cNvSpPr txBox="1"/>
          <p:nvPr/>
        </p:nvSpPr>
        <p:spPr>
          <a:xfrm>
            <a:off x="5913628" y="2980944"/>
            <a:ext cx="281889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0000"/>
              </a:lnSpc>
              <a:buNone/>
            </a:pPr>
            <a:r>
              <a:rPr lang="en-US" sz="1200" dirty="0">
                <a:solidFill>
                  <a:srgbClr val="2D2D2D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i-- 每次减 1：亮度逐级减小</a:t>
            </a:r>
            <a:endParaRPr lang="en-US" sz="1200" dirty="0"/>
          </a:p>
        </p:txBody>
      </p:sp>
      <p:sp>
        <p:nvSpPr>
          <p:cNvPr id="57" name="Shape 54"/>
          <p:cNvSpPr/>
          <p:nvPr/>
        </p:nvSpPr>
        <p:spPr>
          <a:xfrm>
            <a:off x="5166360" y="3520440"/>
            <a:ext cx="3566160" cy="1051560"/>
          </a:xfrm>
          <a:prstGeom prst="roundRect">
            <a:avLst>
              <a:gd name="adj" fmla="val 10435"/>
            </a:avLst>
          </a:prstGeom>
          <a:solidFill>
            <a:srgbClr val="E3FAF7"/>
          </a:solidFill>
          <a:ln w="12700">
            <a:solidFill>
              <a:srgbClr val="E3FAF7"/>
            </a:solidFill>
            <a:prstDash val="solid"/>
          </a:ln>
        </p:spPr>
      </p:sp>
      <p:sp>
        <p:nvSpPr>
          <p:cNvPr id="58" name="Shape 55"/>
          <p:cNvSpPr/>
          <p:nvPr/>
        </p:nvSpPr>
        <p:spPr>
          <a:xfrm>
            <a:off x="5312664" y="3666744"/>
            <a:ext cx="329184" cy="329184"/>
          </a:xfrm>
          <a:prstGeom prst="ellipse">
            <a:avLst/>
          </a:prstGeom>
          <a:solidFill>
            <a:srgbClr val="40E0D0"/>
          </a:solidFill>
          <a:ln w="12700">
            <a:solidFill>
              <a:srgbClr val="40E0D0"/>
            </a:solidFill>
            <a:prstDash val="solid"/>
          </a:ln>
        </p:spPr>
      </p:sp>
      <p:pic>
        <p:nvPicPr>
          <p:cNvPr id="59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391668" y="3745748"/>
            <a:ext cx="171176" cy="171176"/>
          </a:xfrm>
          <a:prstGeom prst="rect">
            <a:avLst/>
          </a:prstGeom>
        </p:spPr>
      </p:pic>
      <p:sp>
        <p:nvSpPr>
          <p:cNvPr id="60" name="Text 56"/>
          <p:cNvSpPr txBox="1"/>
          <p:nvPr/>
        </p:nvSpPr>
        <p:spPr>
          <a:xfrm>
            <a:off x="5769864" y="3657600"/>
            <a:ext cx="281635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1300" b="1" dirty="0">
                <a:solidFill>
                  <a:srgbClr val="2D2D2D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动手试一试</a:t>
            </a:r>
            <a:endParaRPr lang="en-US" sz="1300" dirty="0"/>
          </a:p>
        </p:txBody>
      </p:sp>
      <p:sp>
        <p:nvSpPr>
          <p:cNvPr id="61" name="Text 57"/>
          <p:cNvSpPr txBox="1"/>
          <p:nvPr/>
        </p:nvSpPr>
        <p:spPr>
          <a:xfrm>
            <a:off x="5769864" y="3968496"/>
            <a:ext cx="281635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1200" dirty="0">
                <a:solidFill>
                  <a:srgbClr val="2D2D2D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把两处 delay(10) 改成 delay(3)，</a:t>
            </a:r>
            <a:endParaRPr lang="en-US" sz="1200" dirty="0"/>
          </a:p>
          <a:p>
            <a:pPr algn="l" indent="0" marL="0">
              <a:lnSpc>
                <a:spcPct val="115000"/>
              </a:lnSpc>
              <a:buNone/>
            </a:pPr>
            <a:r>
              <a:rPr lang="en-US" sz="1200" dirty="0">
                <a:solidFill>
                  <a:srgbClr val="2D2D2D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呼吸会变快吗？</a:t>
            </a:r>
            <a:endParaRPr lang="en-US" sz="12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339328" y="4736592"/>
            <a:ext cx="393192" cy="219456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 lIns="0" tIns="0" rIns="0" bIns="0" anchor="ctr"/>
          <a:lstStyle>
            <a:lvl1pPr>
              <a:defRPr sz="800">
                <a:solidFill>
                  <a:srgbClr val="6B6B6B"/>
                </a:solidFill>
                <a:latin typeface="微软雅黑"/>
                <a:ea typeface="微软雅黑"/>
                <a:cs typeface="微软雅黑"/>
              </a:defRPr>
            </a:lvl1pPr>
          </a:lstStyle>
          <a:p>
            <a:pPr algn="r"/>
            <a:fld id="{F7021451-1387-4CA6-816F-3879F97B5CBC}" type="slidenum">
              <a:rPr b="0" lang="en-US"/>
              <a:t>25</a:t>
            </a:fld>
            <a:endParaRPr lang="en-US"/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1"/>
          <p:cNvSpPr/>
          <p:nvPr>
            <p:ph idx="102" type="body" hasCustomPrompt="1"/>
          </p:nvPr>
        </p:nvSpPr>
        <p:spPr>
          <a:xfrm>
            <a:off x="4572000" y="4736592"/>
            <a:ext cx="370332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2D2D2D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把代码打包</a:t>
            </a:r>
            <a:endParaRPr lang="en-US" sz="800" dirty="0"/>
          </a:p>
        </p:txBody>
      </p:sp>
      <p:sp>
        <p:nvSpPr>
          <p:cNvPr id="3" name="Text 1"/>
          <p:cNvSpPr/>
          <p:nvPr>
            <p:ph idx="103" type="body" hasCustomPrompt="1"/>
          </p:nvPr>
        </p:nvSpPr>
        <p:spPr>
          <a:xfrm>
            <a:off x="411480" y="384048"/>
            <a:ext cx="3383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B6B6B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第 5 站</a:t>
            </a:r>
            <a:endParaRPr lang="en-US" sz="1100" dirty="0"/>
          </a:p>
        </p:txBody>
      </p:sp>
      <p:sp>
        <p:nvSpPr>
          <p:cNvPr id="4" name="Text 1"/>
          <p:cNvSpPr/>
          <p:nvPr>
            <p:ph idx="104" type="title" hasCustomPrompt="1"/>
          </p:nvPr>
        </p:nvSpPr>
        <p:spPr>
          <a:xfrm>
            <a:off x="411480" y="713232"/>
            <a:ext cx="338328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800" dirty="0">
                <a:solidFill>
                  <a:srgbClr val="2D2D2D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把代码打包</a:t>
            </a:r>
            <a:endParaRPr lang="en-US" sz="2800" dirty="0"/>
          </a:p>
        </p:txBody>
      </p:sp>
      <p:sp>
        <p:nvSpPr>
          <p:cNvPr id="5" name="Text 1"/>
          <p:cNvSpPr/>
          <p:nvPr>
            <p:ph idx="105" type="body" hasCustomPrompt="1"/>
          </p:nvPr>
        </p:nvSpPr>
        <p:spPr>
          <a:xfrm>
            <a:off x="411480" y="1874520"/>
            <a:ext cx="3246120" cy="23774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30000"/>
              </a:lnSpc>
              <a:buNone/>
            </a:pPr>
            <a:r>
              <a:rPr lang="en-US" sz="1200" dirty="0">
                <a:solidFill>
                  <a:srgbClr val="2D2D2D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代码越写越长时，就要学会“打包”：</a:t>
            </a:r>
            <a:endParaRPr lang="en-US" sz="1200" dirty="0"/>
          </a:p>
          <a:p>
            <a:pPr indent="0" marL="0">
              <a:lnSpc>
                <a:spcPct val="130000"/>
              </a:lnSpc>
              <a:buNone/>
            </a:pPr>
            <a:r>
              <a:rPr lang="en-US" sz="1200" dirty="0">
                <a:solidFill>
                  <a:srgbClr val="2D2D2D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把常用动作写成自己的函数，</a:t>
            </a:r>
            <a:endParaRPr lang="en-US" sz="1200" dirty="0"/>
          </a:p>
          <a:p>
            <a:pPr indent="0" marL="0">
              <a:lnSpc>
                <a:spcPct val="130000"/>
              </a:lnSpc>
              <a:buNone/>
            </a:pPr>
            <a:r>
              <a:rPr lang="en-US" sz="1200" dirty="0">
                <a:solidFill>
                  <a:srgbClr val="2D2D2D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用 map() 做换算，</a:t>
            </a:r>
            <a:endParaRPr lang="en-US" sz="1200" dirty="0"/>
          </a:p>
          <a:p>
            <a:pPr indent="0" marL="0">
              <a:lnSpc>
                <a:spcPct val="130000"/>
              </a:lnSpc>
              <a:buNone/>
            </a:pPr>
            <a:r>
              <a:rPr lang="en-US" sz="1200" dirty="0">
                <a:solidFill>
                  <a:srgbClr val="2D2D2D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再直接用别人写好的“库”。</a:t>
            </a:r>
            <a:endParaRPr lang="en-US" sz="1200" dirty="0"/>
          </a:p>
        </p:txBody>
      </p:sp>
      <p:sp>
        <p:nvSpPr>
          <p:cNvPr id="6" name="Shape 4"/>
          <p:cNvSpPr/>
          <p:nvPr/>
        </p:nvSpPr>
        <p:spPr>
          <a:xfrm>
            <a:off x="4160520" y="347472"/>
            <a:ext cx="2286000" cy="2112264"/>
          </a:xfrm>
          <a:prstGeom prst="rect">
            <a:avLst/>
          </a:prstGeom>
          <a:solidFill>
            <a:srgbClr val="40E0D0"/>
          </a:solidFill>
          <a:ln w="9525">
            <a:solidFill>
              <a:srgbClr val="E2E2E2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4361688" y="512064"/>
            <a:ext cx="1883664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3000" b="1" dirty="0">
                <a:solidFill>
                  <a:srgbClr val="2D2D2D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01</a:t>
            </a:r>
            <a:endParaRPr lang="en-US" sz="3000" dirty="0"/>
          </a:p>
        </p:txBody>
      </p:sp>
      <p:sp>
        <p:nvSpPr>
          <p:cNvPr id="8" name="Text 6"/>
          <p:cNvSpPr txBox="1"/>
          <p:nvPr/>
        </p:nvSpPr>
        <p:spPr>
          <a:xfrm>
            <a:off x="4361688" y="1389888"/>
            <a:ext cx="1883664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1600" b="1" dirty="0">
                <a:solidFill>
                  <a:srgbClr val="2D2D2D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自定义函数</a:t>
            </a:r>
            <a:endParaRPr lang="en-US" sz="1600" dirty="0"/>
          </a:p>
        </p:txBody>
      </p:sp>
      <p:sp>
        <p:nvSpPr>
          <p:cNvPr id="9" name="Text 7"/>
          <p:cNvSpPr txBox="1"/>
          <p:nvPr/>
        </p:nvSpPr>
        <p:spPr>
          <a:xfrm>
            <a:off x="4361688" y="1801368"/>
            <a:ext cx="1883664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1200" dirty="0">
                <a:solidFill>
                  <a:srgbClr val="2D2D2D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菜谱：写一次，随时用</a:t>
            </a:r>
            <a:endParaRPr lang="en-US" sz="1200" dirty="0"/>
          </a:p>
        </p:txBody>
      </p:sp>
      <p:sp>
        <p:nvSpPr>
          <p:cNvPr id="10" name="Shape 8"/>
          <p:cNvSpPr/>
          <p:nvPr/>
        </p:nvSpPr>
        <p:spPr>
          <a:xfrm>
            <a:off x="6446520" y="347472"/>
            <a:ext cx="2286000" cy="2112264"/>
          </a:xfrm>
          <a:prstGeom prst="rect">
            <a:avLst/>
          </a:prstGeom>
          <a:solidFill>
            <a:srgbClr val="EBEBEB"/>
          </a:solidFill>
          <a:ln w="9525">
            <a:solidFill>
              <a:srgbClr val="E2E2E2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6647688" y="512064"/>
            <a:ext cx="1883664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3000" b="1" dirty="0">
                <a:solidFill>
                  <a:srgbClr val="2D2D2D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02</a:t>
            </a:r>
            <a:endParaRPr lang="en-US" sz="3000" dirty="0"/>
          </a:p>
        </p:txBody>
      </p:sp>
      <p:sp>
        <p:nvSpPr>
          <p:cNvPr id="12" name="Text 10"/>
          <p:cNvSpPr txBox="1"/>
          <p:nvPr/>
        </p:nvSpPr>
        <p:spPr>
          <a:xfrm>
            <a:off x="6647688" y="1389888"/>
            <a:ext cx="1883664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1600" b="1" dirty="0">
                <a:solidFill>
                  <a:srgbClr val="2D2D2D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blink 函数</a:t>
            </a:r>
            <a:endParaRPr lang="en-US" sz="1600" dirty="0"/>
          </a:p>
        </p:txBody>
      </p:sp>
      <p:sp>
        <p:nvSpPr>
          <p:cNvPr id="13" name="Text 11"/>
          <p:cNvSpPr txBox="1"/>
          <p:nvPr/>
        </p:nvSpPr>
        <p:spPr>
          <a:xfrm>
            <a:off x="6647688" y="1801368"/>
            <a:ext cx="1883664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1200" dirty="0">
                <a:solidFill>
                  <a:srgbClr val="6B6B6B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参数不同，闪法不同</a:t>
            </a:r>
            <a:endParaRPr lang="en-US" sz="1200" dirty="0"/>
          </a:p>
        </p:txBody>
      </p:sp>
      <p:sp>
        <p:nvSpPr>
          <p:cNvPr id="14" name="Shape 12"/>
          <p:cNvSpPr/>
          <p:nvPr/>
        </p:nvSpPr>
        <p:spPr>
          <a:xfrm>
            <a:off x="4160520" y="2459736"/>
            <a:ext cx="2286000" cy="2112264"/>
          </a:xfrm>
          <a:prstGeom prst="rect">
            <a:avLst/>
          </a:prstGeom>
          <a:solidFill>
            <a:srgbClr val="2D2D2D"/>
          </a:solidFill>
          <a:ln w="9525">
            <a:solidFill>
              <a:srgbClr val="E2E2E2"/>
            </a:solidFill>
            <a:prstDash val="solid"/>
          </a:ln>
        </p:spPr>
      </p:sp>
      <p:sp>
        <p:nvSpPr>
          <p:cNvPr id="15" name="Text 13"/>
          <p:cNvSpPr txBox="1"/>
          <p:nvPr/>
        </p:nvSpPr>
        <p:spPr>
          <a:xfrm>
            <a:off x="4361688" y="2624328"/>
            <a:ext cx="1883664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3000" b="1" dirty="0">
                <a:solidFill>
                  <a:srgbClr val="40E0D0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03</a:t>
            </a:r>
            <a:endParaRPr lang="en-US" sz="3000" dirty="0"/>
          </a:p>
        </p:txBody>
      </p:sp>
      <p:sp>
        <p:nvSpPr>
          <p:cNvPr id="16" name="Text 14"/>
          <p:cNvSpPr txBox="1"/>
          <p:nvPr/>
        </p:nvSpPr>
        <p:spPr>
          <a:xfrm>
            <a:off x="4361688" y="3502152"/>
            <a:ext cx="1883664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1600" b="1" dirty="0">
                <a:solidFill>
                  <a:srgbClr val="FFFFFF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map()</a:t>
            </a:r>
            <a:endParaRPr lang="en-US" sz="1600" dirty="0"/>
          </a:p>
        </p:txBody>
      </p:sp>
      <p:sp>
        <p:nvSpPr>
          <p:cNvPr id="17" name="Text 15"/>
          <p:cNvSpPr txBox="1"/>
          <p:nvPr/>
        </p:nvSpPr>
        <p:spPr>
          <a:xfrm>
            <a:off x="4361688" y="3913632"/>
            <a:ext cx="1883664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1200" dirty="0">
                <a:solidFill>
                  <a:srgbClr val="CFCFCF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换算尺：按比例换算</a:t>
            </a:r>
            <a:endParaRPr lang="en-US" sz="1200" dirty="0"/>
          </a:p>
        </p:txBody>
      </p:sp>
      <p:sp>
        <p:nvSpPr>
          <p:cNvPr id="18" name="Shape 16"/>
          <p:cNvSpPr/>
          <p:nvPr/>
        </p:nvSpPr>
        <p:spPr>
          <a:xfrm>
            <a:off x="6446520" y="2459736"/>
            <a:ext cx="2286000" cy="2112264"/>
          </a:xfrm>
          <a:prstGeom prst="rect">
            <a:avLst/>
          </a:prstGeom>
          <a:solidFill>
            <a:srgbClr val="FFFFFF"/>
          </a:solidFill>
          <a:ln w="9525">
            <a:solidFill>
              <a:srgbClr val="E2E2E2"/>
            </a:solidFill>
            <a:prstDash val="solid"/>
          </a:ln>
        </p:spPr>
      </p:sp>
      <p:sp>
        <p:nvSpPr>
          <p:cNvPr id="19" name="Text 17"/>
          <p:cNvSpPr txBox="1"/>
          <p:nvPr/>
        </p:nvSpPr>
        <p:spPr>
          <a:xfrm>
            <a:off x="6647688" y="2624328"/>
            <a:ext cx="1883664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3000" b="1" dirty="0">
                <a:solidFill>
                  <a:srgbClr val="2D2D2D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04</a:t>
            </a:r>
            <a:endParaRPr lang="en-US" sz="3000" dirty="0"/>
          </a:p>
        </p:txBody>
      </p:sp>
      <p:sp>
        <p:nvSpPr>
          <p:cNvPr id="20" name="Text 18"/>
          <p:cNvSpPr txBox="1"/>
          <p:nvPr/>
        </p:nvSpPr>
        <p:spPr>
          <a:xfrm>
            <a:off x="6647688" y="3502152"/>
            <a:ext cx="1883664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1600" b="1" dirty="0">
                <a:solidFill>
                  <a:srgbClr val="2D2D2D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库 #include</a:t>
            </a:r>
            <a:endParaRPr lang="en-US" sz="1600" dirty="0"/>
          </a:p>
        </p:txBody>
      </p:sp>
      <p:sp>
        <p:nvSpPr>
          <p:cNvPr id="21" name="Text 19"/>
          <p:cNvSpPr txBox="1"/>
          <p:nvPr/>
        </p:nvSpPr>
        <p:spPr>
          <a:xfrm>
            <a:off x="6647688" y="3913632"/>
            <a:ext cx="1883664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1200" dirty="0">
                <a:solidFill>
                  <a:srgbClr val="6B6B6B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给 Arduino 装扩展包</a:t>
            </a:r>
            <a:endParaRPr lang="en-US" sz="12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339328" y="4736592"/>
            <a:ext cx="393192" cy="219456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 lIns="0" tIns="0" rIns="0" bIns="0" anchor="ctr"/>
          <a:lstStyle>
            <a:lvl1pPr>
              <a:defRPr sz="800">
                <a:solidFill>
                  <a:srgbClr val="6B6B6B"/>
                </a:solidFill>
                <a:latin typeface="微软雅黑"/>
                <a:ea typeface="微软雅黑"/>
                <a:cs typeface="微软雅黑"/>
              </a:defRPr>
            </a:lvl1pPr>
          </a:lstStyle>
          <a:p>
            <a:pPr algn="r"/>
            <a:fld id="{F7021451-1387-4CA6-816F-3879F97B5CBC}" type="slidenum">
              <a:rPr b="0" lang="en-US"/>
              <a:t>26</a:t>
            </a:fld>
            <a:endParaRPr lang="en-US"/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1"/>
          <p:cNvSpPr/>
          <p:nvPr>
            <p:ph idx="102" type="body" hasCustomPrompt="1"/>
          </p:nvPr>
        </p:nvSpPr>
        <p:spPr>
          <a:xfrm>
            <a:off x="4572000" y="4736592"/>
            <a:ext cx="370332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2D2D2D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把代码打包</a:t>
            </a:r>
            <a:endParaRPr lang="en-US" sz="800" dirty="0"/>
          </a:p>
        </p:txBody>
      </p:sp>
      <p:sp>
        <p:nvSpPr>
          <p:cNvPr id="3" name="Text 1"/>
          <p:cNvSpPr/>
          <p:nvPr>
            <p:ph idx="103" type="title" hasCustomPrompt="1"/>
          </p:nvPr>
        </p:nvSpPr>
        <p:spPr>
          <a:xfrm>
            <a:off x="411480" y="274320"/>
            <a:ext cx="83210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400" dirty="0">
                <a:solidFill>
                  <a:srgbClr val="2D2D2D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自定义函数：把常用动作打包</a:t>
            </a:r>
            <a:endParaRPr lang="en-US" sz="2400" dirty="0"/>
          </a:p>
        </p:txBody>
      </p:sp>
      <p:sp>
        <p:nvSpPr>
          <p:cNvPr id="4" name="Text 1"/>
          <p:cNvSpPr/>
          <p:nvPr>
            <p:ph idx="104" type="body" hasCustomPrompt="1"/>
          </p:nvPr>
        </p:nvSpPr>
        <p:spPr>
          <a:xfrm>
            <a:off x="411480" y="786384"/>
            <a:ext cx="83210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6B6B6B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把一段常用的代码打包、起个名字，以后一句话就能调用——就像一份菜谱。</a:t>
            </a:r>
            <a:endParaRPr lang="en-US" sz="1200" dirty="0"/>
          </a:p>
        </p:txBody>
      </p:sp>
      <p:sp>
        <p:nvSpPr>
          <p:cNvPr id="6" name="Shape 3"/>
          <p:cNvSpPr/>
          <p:nvPr/>
        </p:nvSpPr>
        <p:spPr>
          <a:xfrm>
            <a:off x="411480" y="1234440"/>
            <a:ext cx="3200400" cy="1417320"/>
          </a:xfrm>
          <a:prstGeom prst="roundRect">
            <a:avLst>
              <a:gd name="adj" fmla="val 7742"/>
            </a:avLst>
          </a:prstGeom>
          <a:solidFill>
            <a:srgbClr val="F5F5F5"/>
          </a:solidFill>
          <a:ln w="12700">
            <a:solidFill>
              <a:srgbClr val="F5F5F5"/>
            </a:solidFill>
            <a:prstDash val="solid"/>
          </a:ln>
        </p:spPr>
      </p:sp>
      <p:sp>
        <p:nvSpPr>
          <p:cNvPr id="7" name="Shape 4"/>
          <p:cNvSpPr/>
          <p:nvPr/>
        </p:nvSpPr>
        <p:spPr>
          <a:xfrm>
            <a:off x="576072" y="1380744"/>
            <a:ext cx="384048" cy="384048"/>
          </a:xfrm>
          <a:prstGeom prst="ellipse">
            <a:avLst/>
          </a:prstGeom>
          <a:solidFill>
            <a:srgbClr val="40E0D0"/>
          </a:solidFill>
          <a:ln w="12700">
            <a:solidFill>
              <a:srgbClr val="40E0D0"/>
            </a:solidFill>
            <a:prstDash val="solid"/>
          </a:ln>
        </p:spPr>
      </p:sp>
      <p:pic>
        <p:nvPicPr>
          <p:cNvPr id="8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68244" y="1472916"/>
            <a:ext cx="199705" cy="199705"/>
          </a:xfrm>
          <a:prstGeom prst="rect">
            <a:avLst/>
          </a:prstGeom>
        </p:spPr>
      </p:pic>
      <p:sp>
        <p:nvSpPr>
          <p:cNvPr id="9" name="Text 5"/>
          <p:cNvSpPr txBox="1"/>
          <p:nvPr/>
        </p:nvSpPr>
        <p:spPr>
          <a:xfrm>
            <a:off x="1088136" y="1362456"/>
            <a:ext cx="2359152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1500" b="1" dirty="0">
                <a:solidFill>
                  <a:srgbClr val="2D2D2D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函数＝一份菜谱</a:t>
            </a:r>
            <a:endParaRPr lang="en-US" sz="1500" dirty="0"/>
          </a:p>
        </p:txBody>
      </p:sp>
      <p:sp>
        <p:nvSpPr>
          <p:cNvPr id="10" name="Text 6"/>
          <p:cNvSpPr txBox="1"/>
          <p:nvPr/>
        </p:nvSpPr>
        <p:spPr>
          <a:xfrm>
            <a:off x="576072" y="1837944"/>
            <a:ext cx="2871216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1200" dirty="0">
                <a:solidFill>
                  <a:srgbClr val="2D2D2D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把做法写一次、起个名字，</a:t>
            </a:r>
            <a:endParaRPr lang="en-US" sz="1200" dirty="0"/>
          </a:p>
          <a:p>
            <a:pPr algn="l" indent="0" marL="0">
              <a:lnSpc>
                <a:spcPct val="115000"/>
              </a:lnSpc>
              <a:buNone/>
            </a:pPr>
            <a:r>
              <a:rPr lang="en-US" sz="1200" dirty="0">
                <a:solidFill>
                  <a:srgbClr val="2D2D2D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以后喊一声名字就照着做。</a:t>
            </a:r>
            <a:endParaRPr lang="en-US" sz="1200" dirty="0"/>
          </a:p>
          <a:p>
            <a:pPr algn="l" indent="0" marL="0">
              <a:lnSpc>
                <a:spcPct val="115000"/>
              </a:lnSpc>
              <a:buNone/>
            </a:pPr>
            <a:r>
              <a:rPr lang="en-US" sz="1200" dirty="0">
                <a:solidFill>
                  <a:srgbClr val="2D2D2D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参数就像“放几个鸡蛋”，每次可以不同。</a:t>
            </a:r>
            <a:endParaRPr lang="en-US" sz="1200" dirty="0"/>
          </a:p>
        </p:txBody>
      </p:sp>
      <p:sp>
        <p:nvSpPr>
          <p:cNvPr id="11" name="Shape 7"/>
          <p:cNvSpPr/>
          <p:nvPr/>
        </p:nvSpPr>
        <p:spPr>
          <a:xfrm>
            <a:off x="411480" y="2926080"/>
            <a:ext cx="3200400" cy="1645920"/>
          </a:xfrm>
          <a:prstGeom prst="roundRect">
            <a:avLst>
              <a:gd name="adj" fmla="val 6667"/>
            </a:avLst>
          </a:prstGeom>
          <a:solidFill>
            <a:srgbClr val="F5F5F5"/>
          </a:solidFill>
          <a:ln w="12700">
            <a:solidFill>
              <a:srgbClr val="F5F5F5"/>
            </a:solidFill>
            <a:prstDash val="solid"/>
          </a:ln>
        </p:spPr>
      </p:sp>
      <p:sp>
        <p:nvSpPr>
          <p:cNvPr id="12" name="Shape 8"/>
          <p:cNvSpPr/>
          <p:nvPr/>
        </p:nvSpPr>
        <p:spPr>
          <a:xfrm>
            <a:off x="576072" y="3104388"/>
            <a:ext cx="64008" cy="64008"/>
          </a:xfrm>
          <a:prstGeom prst="ellipse">
            <a:avLst/>
          </a:prstGeom>
          <a:solidFill>
            <a:srgbClr val="1A9E92"/>
          </a:solidFill>
          <a:ln w="12700">
            <a:solidFill>
              <a:srgbClr val="1A9E92"/>
            </a:solidFill>
            <a:prstDash val="solid"/>
          </a:ln>
        </p:spPr>
      </p:sp>
      <p:sp>
        <p:nvSpPr>
          <p:cNvPr id="13" name="Text 9"/>
          <p:cNvSpPr txBox="1"/>
          <p:nvPr/>
        </p:nvSpPr>
        <p:spPr>
          <a:xfrm>
            <a:off x="740664" y="3035808"/>
            <a:ext cx="274320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1200" dirty="0">
                <a:solidFill>
                  <a:srgbClr val="2D2D2D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好处：代码更短、更好读，</a:t>
            </a:r>
            <a:endParaRPr lang="en-US" sz="1200" dirty="0"/>
          </a:p>
          <a:p>
            <a:pPr algn="l" indent="0" marL="0">
              <a:lnSpc>
                <a:spcPct val="115000"/>
              </a:lnSpc>
              <a:buNone/>
            </a:pPr>
            <a:r>
              <a:rPr lang="en-US" sz="1200" dirty="0">
                <a:solidFill>
                  <a:srgbClr val="2D2D2D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改一处就改了所有地方</a:t>
            </a:r>
            <a:endParaRPr lang="en-US" sz="1200" dirty="0"/>
          </a:p>
        </p:txBody>
      </p:sp>
      <p:sp>
        <p:nvSpPr>
          <p:cNvPr id="14" name="Shape 10"/>
          <p:cNvSpPr/>
          <p:nvPr/>
        </p:nvSpPr>
        <p:spPr>
          <a:xfrm>
            <a:off x="576072" y="3616452"/>
            <a:ext cx="64008" cy="64008"/>
          </a:xfrm>
          <a:prstGeom prst="ellipse">
            <a:avLst/>
          </a:prstGeom>
          <a:solidFill>
            <a:srgbClr val="1A9E92"/>
          </a:solidFill>
          <a:ln w="12700">
            <a:solidFill>
              <a:srgbClr val="1A9E92"/>
            </a:solidFill>
            <a:prstDash val="solid"/>
          </a:ln>
        </p:spPr>
      </p:sp>
      <p:sp>
        <p:nvSpPr>
          <p:cNvPr id="15" name="Text 11"/>
          <p:cNvSpPr txBox="1"/>
          <p:nvPr/>
        </p:nvSpPr>
        <p:spPr>
          <a:xfrm>
            <a:off x="740664" y="3547872"/>
            <a:ext cx="274320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1200" dirty="0">
                <a:solidFill>
                  <a:srgbClr val="2D2D2D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函数可以写在 </a:t>
            </a:r>
            <a:pPr algn="l" indent="0" marL="0">
              <a:lnSpc>
                <a:spcPct val="115000"/>
              </a:lnSpc>
              <a:buNone/>
            </a:pPr>
            <a:r>
              <a:rPr lang="en-US" sz="1200" dirty="0">
                <a:solidFill>
                  <a:srgbClr val="2D2D2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setup()</a:t>
            </a:r>
            <a:pPr algn="l" indent="0" marL="0">
              <a:lnSpc>
                <a:spcPct val="115000"/>
              </a:lnSpc>
              <a:buNone/>
            </a:pPr>
            <a:r>
              <a:rPr lang="en-US" sz="1200" dirty="0">
                <a:solidFill>
                  <a:srgbClr val="2D2D2D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 / </a:t>
            </a:r>
            <a:pPr algn="l" indent="0" marL="0">
              <a:lnSpc>
                <a:spcPct val="115000"/>
              </a:lnSpc>
              <a:buNone/>
            </a:pPr>
            <a:r>
              <a:rPr lang="en-US" sz="1200" dirty="0">
                <a:solidFill>
                  <a:srgbClr val="2D2D2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loop()</a:t>
            </a:r>
            <a:endParaRPr lang="en-US" sz="1200" dirty="0"/>
          </a:p>
          <a:p>
            <a:pPr algn="l" indent="0" marL="0">
              <a:lnSpc>
                <a:spcPct val="115000"/>
              </a:lnSpc>
              <a:buNone/>
            </a:pPr>
            <a:r>
              <a:rPr lang="en-US" sz="1200" dirty="0">
                <a:solidFill>
                  <a:srgbClr val="2D2D2D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的前面，也可以写在后面</a:t>
            </a:r>
            <a:endParaRPr lang="en-US" sz="1200" dirty="0"/>
          </a:p>
        </p:txBody>
      </p:sp>
      <p:sp>
        <p:nvSpPr>
          <p:cNvPr id="16" name="Shape 12"/>
          <p:cNvSpPr/>
          <p:nvPr/>
        </p:nvSpPr>
        <p:spPr>
          <a:xfrm>
            <a:off x="576072" y="4128516"/>
            <a:ext cx="64008" cy="64008"/>
          </a:xfrm>
          <a:prstGeom prst="ellipse">
            <a:avLst/>
          </a:prstGeom>
          <a:solidFill>
            <a:srgbClr val="1A9E92"/>
          </a:solidFill>
          <a:ln w="12700">
            <a:solidFill>
              <a:srgbClr val="1A9E92"/>
            </a:solidFill>
            <a:prstDash val="solid"/>
          </a:ln>
        </p:spPr>
      </p:sp>
      <p:sp>
        <p:nvSpPr>
          <p:cNvPr id="17" name="Text 13"/>
          <p:cNvSpPr txBox="1"/>
          <p:nvPr/>
        </p:nvSpPr>
        <p:spPr>
          <a:xfrm>
            <a:off x="740664" y="4059936"/>
            <a:ext cx="274320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1200" dirty="0">
                <a:solidFill>
                  <a:srgbClr val="2D2D2D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没有参数时写 </a:t>
            </a:r>
            <a:pPr algn="l" indent="0" marL="0">
              <a:lnSpc>
                <a:spcPct val="115000"/>
              </a:lnSpc>
              <a:buNone/>
            </a:pPr>
            <a:r>
              <a:rPr lang="en-US" sz="1200" dirty="0">
                <a:solidFill>
                  <a:srgbClr val="2D2D2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( )</a:t>
            </a:r>
            <a:pPr algn="l" indent="0" marL="0">
              <a:lnSpc>
                <a:spcPct val="115000"/>
              </a:lnSpc>
              <a:buNone/>
            </a:pPr>
            <a:r>
              <a:rPr lang="en-US" sz="1200" dirty="0">
                <a:solidFill>
                  <a:srgbClr val="2D2D2D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 或 </a:t>
            </a:r>
            <a:pPr algn="l" indent="0" marL="0">
              <a:lnSpc>
                <a:spcPct val="115000"/>
              </a:lnSpc>
              <a:buNone/>
            </a:pPr>
            <a:r>
              <a:rPr lang="en-US" sz="1200" dirty="0">
                <a:solidFill>
                  <a:srgbClr val="2D2D2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(void)</a:t>
            </a:r>
            <a:pPr algn="l" indent="0" marL="0">
              <a:lnSpc>
                <a:spcPct val="115000"/>
              </a:lnSpc>
              <a:buNone/>
            </a:pPr>
            <a:r>
              <a:rPr lang="en-US" sz="1200" dirty="0">
                <a:solidFill>
                  <a:srgbClr val="2D2D2D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，</a:t>
            </a:r>
            <a:endParaRPr lang="en-US" sz="1200" dirty="0"/>
          </a:p>
          <a:p>
            <a:pPr algn="l" indent="0" marL="0">
              <a:lnSpc>
                <a:spcPct val="115000"/>
              </a:lnSpc>
              <a:buNone/>
            </a:pPr>
            <a:r>
              <a:rPr lang="en-US" sz="1200" dirty="0">
                <a:solidFill>
                  <a:srgbClr val="2D2D2D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例如 </a:t>
            </a:r>
            <a:pPr algn="l" indent="0" marL="0">
              <a:lnSpc>
                <a:spcPct val="115000"/>
              </a:lnSpc>
              <a:buNone/>
            </a:pPr>
            <a:r>
              <a:rPr lang="en-US" sz="1200" dirty="0">
                <a:solidFill>
                  <a:srgbClr val="2D2D2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void led_flash(void)</a:t>
            </a:r>
            <a:endParaRPr lang="en-US" sz="1200" dirty="0"/>
          </a:p>
        </p:txBody>
      </p:sp>
      <p:sp>
        <p:nvSpPr>
          <p:cNvPr id="18" name="Shape 14"/>
          <p:cNvSpPr/>
          <p:nvPr/>
        </p:nvSpPr>
        <p:spPr>
          <a:xfrm>
            <a:off x="3886200" y="1234440"/>
            <a:ext cx="4846320" cy="1417320"/>
          </a:xfrm>
          <a:prstGeom prst="roundRect">
            <a:avLst>
              <a:gd name="adj" fmla="val 6452"/>
            </a:avLst>
          </a:prstGeom>
          <a:solidFill>
            <a:srgbClr val="2D2D2D"/>
          </a:solidFill>
          <a:ln w="12700">
            <a:solidFill>
              <a:srgbClr val="2D2D2D"/>
            </a:solidFill>
            <a:prstDash val="solid"/>
          </a:ln>
        </p:spPr>
      </p:sp>
      <p:sp>
        <p:nvSpPr>
          <p:cNvPr id="19" name="Text 15"/>
          <p:cNvSpPr txBox="1"/>
          <p:nvPr/>
        </p:nvSpPr>
        <p:spPr>
          <a:xfrm>
            <a:off x="5824728" y="1298448"/>
            <a:ext cx="277977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lnSpc>
                <a:spcPct val="115000"/>
              </a:lnSpc>
              <a:buNone/>
            </a:pPr>
            <a:r>
              <a:rPr lang="en-US" sz="1000" dirty="0">
                <a:solidFill>
                  <a:srgbClr val="9A9A9A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定义一个函数</a:t>
            </a:r>
            <a:endParaRPr lang="en-US" sz="1000" dirty="0"/>
          </a:p>
        </p:txBody>
      </p:sp>
      <p:sp>
        <p:nvSpPr>
          <p:cNvPr id="20" name="Shape 16"/>
          <p:cNvSpPr/>
          <p:nvPr/>
        </p:nvSpPr>
        <p:spPr>
          <a:xfrm>
            <a:off x="3931920" y="1545336"/>
            <a:ext cx="4754880" cy="198628"/>
          </a:xfrm>
          <a:prstGeom prst="rect">
            <a:avLst/>
          </a:prstGeom>
          <a:solidFill>
            <a:srgbClr val="3E5250"/>
          </a:solidFill>
          <a:ln w="12700">
            <a:solidFill>
              <a:srgbClr val="3E5250"/>
            </a:solidFill>
            <a:prstDash val="solid"/>
          </a:ln>
        </p:spPr>
      </p:sp>
      <p:sp>
        <p:nvSpPr>
          <p:cNvPr id="21" name="Text 17"/>
          <p:cNvSpPr txBox="1"/>
          <p:nvPr/>
        </p:nvSpPr>
        <p:spPr>
          <a:xfrm>
            <a:off x="3977640" y="1545336"/>
            <a:ext cx="140675" cy="1986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lnSpc>
                <a:spcPct val="115000"/>
              </a:lnSpc>
              <a:buNone/>
            </a:pPr>
            <a:r>
              <a:rPr lang="en-US" sz="1050" b="1" dirty="0">
                <a:solidFill>
                  <a:srgbClr val="40E0D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1</a:t>
            </a:r>
            <a:endParaRPr lang="en-US" sz="1050" dirty="0"/>
          </a:p>
        </p:txBody>
      </p:sp>
      <p:sp>
        <p:nvSpPr>
          <p:cNvPr id="22" name="Text 18"/>
          <p:cNvSpPr txBox="1"/>
          <p:nvPr/>
        </p:nvSpPr>
        <p:spPr>
          <a:xfrm>
            <a:off x="4242813" y="1545336"/>
            <a:ext cx="4361691" cy="1986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40E0D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void </a:t>
            </a:r>
            <a:pPr indent="0" marL="0">
              <a:buNone/>
            </a:pPr>
            <a:r>
              <a:rPr lang="en-US" sz="1150" dirty="0">
                <a:solidFill>
                  <a:srgbClr val="D9D9D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setColor</a:t>
            </a:r>
            <a:pPr indent="0" marL="0">
              <a:buNone/>
            </a:pPr>
            <a:r>
              <a:rPr lang="en-US" sz="1150" dirty="0">
                <a:solidFill>
                  <a:srgbClr val="BDBDB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(</a:t>
            </a:r>
            <a:pPr indent="0" marL="0">
              <a:buNone/>
            </a:pPr>
            <a:r>
              <a:rPr lang="en-US" sz="1150" b="1" dirty="0">
                <a:solidFill>
                  <a:srgbClr val="40E0D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int </a:t>
            </a:r>
            <a:pPr indent="0" marL="0">
              <a:buNone/>
            </a:pPr>
            <a:r>
              <a:rPr lang="en-US" sz="1150" dirty="0">
                <a:solidFill>
                  <a:srgbClr val="D9D9D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red</a:t>
            </a:r>
            <a:pPr indent="0" marL="0">
              <a:buNone/>
            </a:pPr>
            <a:r>
              <a:rPr lang="en-US" sz="1150" dirty="0">
                <a:solidFill>
                  <a:srgbClr val="BDBDB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, </a:t>
            </a:r>
            <a:pPr indent="0" marL="0">
              <a:buNone/>
            </a:pPr>
            <a:r>
              <a:rPr lang="en-US" sz="1150" b="1" dirty="0">
                <a:solidFill>
                  <a:srgbClr val="40E0D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int </a:t>
            </a:r>
            <a:pPr indent="0" marL="0">
              <a:buNone/>
            </a:pPr>
            <a:r>
              <a:rPr lang="en-US" sz="1150" dirty="0">
                <a:solidFill>
                  <a:srgbClr val="D9D9D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green</a:t>
            </a:r>
            <a:pPr indent="0" marL="0">
              <a:buNone/>
            </a:pPr>
            <a:r>
              <a:rPr lang="en-US" sz="1150" dirty="0">
                <a:solidFill>
                  <a:srgbClr val="BDBDB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, </a:t>
            </a:r>
            <a:pPr indent="0" marL="0">
              <a:buNone/>
            </a:pPr>
            <a:r>
              <a:rPr lang="en-US" sz="1150" b="1" dirty="0">
                <a:solidFill>
                  <a:srgbClr val="40E0D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int </a:t>
            </a:r>
            <a:pPr indent="0" marL="0">
              <a:buNone/>
            </a:pPr>
            <a:r>
              <a:rPr lang="en-US" sz="1150" dirty="0">
                <a:solidFill>
                  <a:srgbClr val="D9D9D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blue</a:t>
            </a:r>
            <a:pPr indent="0" marL="0">
              <a:buNone/>
            </a:pPr>
            <a:r>
              <a:rPr lang="en-US" sz="1150" dirty="0">
                <a:solidFill>
                  <a:srgbClr val="BDBDB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) {</a:t>
            </a:r>
            <a:endParaRPr lang="en-US" sz="1150" dirty="0"/>
          </a:p>
        </p:txBody>
      </p:sp>
      <p:sp>
        <p:nvSpPr>
          <p:cNvPr id="23" name="Text 19"/>
          <p:cNvSpPr txBox="1"/>
          <p:nvPr/>
        </p:nvSpPr>
        <p:spPr>
          <a:xfrm>
            <a:off x="3977640" y="1743964"/>
            <a:ext cx="140675" cy="1986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lnSpc>
                <a:spcPct val="115000"/>
              </a:lnSpc>
              <a:buNone/>
            </a:pPr>
            <a:r>
              <a:rPr lang="en-US" sz="1050" dirty="0">
                <a:solidFill>
                  <a:srgbClr val="7A7A7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2</a:t>
            </a:r>
            <a:endParaRPr lang="en-US" sz="1050" dirty="0"/>
          </a:p>
        </p:txBody>
      </p:sp>
      <p:sp>
        <p:nvSpPr>
          <p:cNvPr id="24" name="Text 20"/>
          <p:cNvSpPr txBox="1"/>
          <p:nvPr/>
        </p:nvSpPr>
        <p:spPr>
          <a:xfrm>
            <a:off x="4242813" y="1743964"/>
            <a:ext cx="4361691" cy="1986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D9D9D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</a:t>
            </a:r>
            <a:pPr indent="0" marL="0">
              <a:buNone/>
            </a:pPr>
            <a:r>
              <a:rPr lang="en-US" sz="1150" b="1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analogWrite</a:t>
            </a:r>
            <a:pPr indent="0" marL="0">
              <a:buNone/>
            </a:pPr>
            <a:r>
              <a:rPr lang="en-US" sz="1150" dirty="0">
                <a:solidFill>
                  <a:srgbClr val="BDBDB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(</a:t>
            </a:r>
            <a:pPr indent="0" marL="0">
              <a:buNone/>
            </a:pPr>
            <a:r>
              <a:rPr lang="en-US" sz="1150" dirty="0">
                <a:solidFill>
                  <a:srgbClr val="F7C87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11</a:t>
            </a:r>
            <a:pPr indent="0" marL="0">
              <a:buNone/>
            </a:pPr>
            <a:r>
              <a:rPr lang="en-US" sz="1150" dirty="0">
                <a:solidFill>
                  <a:srgbClr val="BDBDB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, </a:t>
            </a:r>
            <a:pPr indent="0" marL="0">
              <a:buNone/>
            </a:pPr>
            <a:r>
              <a:rPr lang="en-US" sz="1150" dirty="0">
                <a:solidFill>
                  <a:srgbClr val="D9D9D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red</a:t>
            </a:r>
            <a:pPr indent="0" marL="0">
              <a:buNone/>
            </a:pPr>
            <a:r>
              <a:rPr lang="en-US" sz="1150" dirty="0">
                <a:solidFill>
                  <a:srgbClr val="BDBDB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);</a:t>
            </a:r>
            <a:endParaRPr lang="en-US" sz="1150" dirty="0"/>
          </a:p>
        </p:txBody>
      </p:sp>
      <p:sp>
        <p:nvSpPr>
          <p:cNvPr id="25" name="Text 21"/>
          <p:cNvSpPr txBox="1"/>
          <p:nvPr/>
        </p:nvSpPr>
        <p:spPr>
          <a:xfrm>
            <a:off x="3977640" y="1942592"/>
            <a:ext cx="140675" cy="1986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lnSpc>
                <a:spcPct val="115000"/>
              </a:lnSpc>
              <a:buNone/>
            </a:pPr>
            <a:r>
              <a:rPr lang="en-US" sz="1050" dirty="0">
                <a:solidFill>
                  <a:srgbClr val="7A7A7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3</a:t>
            </a:r>
            <a:endParaRPr lang="en-US" sz="1050" dirty="0"/>
          </a:p>
        </p:txBody>
      </p:sp>
      <p:sp>
        <p:nvSpPr>
          <p:cNvPr id="26" name="Text 22"/>
          <p:cNvSpPr txBox="1"/>
          <p:nvPr/>
        </p:nvSpPr>
        <p:spPr>
          <a:xfrm>
            <a:off x="4242813" y="1942592"/>
            <a:ext cx="4361691" cy="1986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D9D9D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</a:t>
            </a:r>
            <a:pPr indent="0" marL="0">
              <a:buNone/>
            </a:pPr>
            <a:r>
              <a:rPr lang="en-US" sz="1150" b="1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analogWrite</a:t>
            </a:r>
            <a:pPr indent="0" marL="0">
              <a:buNone/>
            </a:pPr>
            <a:r>
              <a:rPr lang="en-US" sz="1150" dirty="0">
                <a:solidFill>
                  <a:srgbClr val="BDBDB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(</a:t>
            </a:r>
            <a:pPr indent="0" marL="0">
              <a:buNone/>
            </a:pPr>
            <a:r>
              <a:rPr lang="en-US" sz="1150" dirty="0">
                <a:solidFill>
                  <a:srgbClr val="F7C87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10</a:t>
            </a:r>
            <a:pPr indent="0" marL="0">
              <a:buNone/>
            </a:pPr>
            <a:r>
              <a:rPr lang="en-US" sz="1150" dirty="0">
                <a:solidFill>
                  <a:srgbClr val="BDBDB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, </a:t>
            </a:r>
            <a:pPr indent="0" marL="0">
              <a:buNone/>
            </a:pPr>
            <a:r>
              <a:rPr lang="en-US" sz="1150" dirty="0">
                <a:solidFill>
                  <a:srgbClr val="D9D9D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green</a:t>
            </a:r>
            <a:pPr indent="0" marL="0">
              <a:buNone/>
            </a:pPr>
            <a:r>
              <a:rPr lang="en-US" sz="1150" dirty="0">
                <a:solidFill>
                  <a:srgbClr val="BDBDB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);</a:t>
            </a:r>
            <a:endParaRPr lang="en-US" sz="1150" dirty="0"/>
          </a:p>
        </p:txBody>
      </p:sp>
      <p:sp>
        <p:nvSpPr>
          <p:cNvPr id="27" name="Text 23"/>
          <p:cNvSpPr txBox="1"/>
          <p:nvPr/>
        </p:nvSpPr>
        <p:spPr>
          <a:xfrm>
            <a:off x="3977640" y="2141220"/>
            <a:ext cx="140675" cy="1986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lnSpc>
                <a:spcPct val="115000"/>
              </a:lnSpc>
              <a:buNone/>
            </a:pPr>
            <a:r>
              <a:rPr lang="en-US" sz="1050" dirty="0">
                <a:solidFill>
                  <a:srgbClr val="7A7A7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4</a:t>
            </a:r>
            <a:endParaRPr lang="en-US" sz="1050" dirty="0"/>
          </a:p>
        </p:txBody>
      </p:sp>
      <p:sp>
        <p:nvSpPr>
          <p:cNvPr id="28" name="Text 24"/>
          <p:cNvSpPr txBox="1"/>
          <p:nvPr/>
        </p:nvSpPr>
        <p:spPr>
          <a:xfrm>
            <a:off x="4242813" y="2141220"/>
            <a:ext cx="4361691" cy="1986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D9D9D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</a:t>
            </a:r>
            <a:pPr indent="0" marL="0">
              <a:buNone/>
            </a:pPr>
            <a:r>
              <a:rPr lang="en-US" sz="1150" b="1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analogWrite</a:t>
            </a:r>
            <a:pPr indent="0" marL="0">
              <a:buNone/>
            </a:pPr>
            <a:r>
              <a:rPr lang="en-US" sz="1150" dirty="0">
                <a:solidFill>
                  <a:srgbClr val="BDBDB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(</a:t>
            </a:r>
            <a:pPr indent="0" marL="0">
              <a:buNone/>
            </a:pPr>
            <a:r>
              <a:rPr lang="en-US" sz="1150" dirty="0">
                <a:solidFill>
                  <a:srgbClr val="F7C87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9</a:t>
            </a:r>
            <a:pPr indent="0" marL="0">
              <a:buNone/>
            </a:pPr>
            <a:r>
              <a:rPr lang="en-US" sz="1150" dirty="0">
                <a:solidFill>
                  <a:srgbClr val="BDBDB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, </a:t>
            </a:r>
            <a:pPr indent="0" marL="0">
              <a:buNone/>
            </a:pPr>
            <a:r>
              <a:rPr lang="en-US" sz="1150" dirty="0">
                <a:solidFill>
                  <a:srgbClr val="D9D9D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blue</a:t>
            </a:r>
            <a:pPr indent="0" marL="0">
              <a:buNone/>
            </a:pPr>
            <a:r>
              <a:rPr lang="en-US" sz="1150" dirty="0">
                <a:solidFill>
                  <a:srgbClr val="BDBDB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);</a:t>
            </a:r>
            <a:endParaRPr lang="en-US" sz="1150" dirty="0"/>
          </a:p>
        </p:txBody>
      </p:sp>
      <p:sp>
        <p:nvSpPr>
          <p:cNvPr id="29" name="Text 25"/>
          <p:cNvSpPr txBox="1"/>
          <p:nvPr/>
        </p:nvSpPr>
        <p:spPr>
          <a:xfrm>
            <a:off x="3977640" y="2339848"/>
            <a:ext cx="140675" cy="1986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lnSpc>
                <a:spcPct val="115000"/>
              </a:lnSpc>
              <a:buNone/>
            </a:pPr>
            <a:r>
              <a:rPr lang="en-US" sz="1050" dirty="0">
                <a:solidFill>
                  <a:srgbClr val="7A7A7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5</a:t>
            </a:r>
            <a:endParaRPr lang="en-US" sz="1050" dirty="0"/>
          </a:p>
        </p:txBody>
      </p:sp>
      <p:sp>
        <p:nvSpPr>
          <p:cNvPr id="30" name="Text 26"/>
          <p:cNvSpPr txBox="1"/>
          <p:nvPr/>
        </p:nvSpPr>
        <p:spPr>
          <a:xfrm>
            <a:off x="4242813" y="2339848"/>
            <a:ext cx="4361691" cy="1986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BDBDB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}</a:t>
            </a:r>
            <a:endParaRPr lang="en-US" sz="1150" dirty="0"/>
          </a:p>
        </p:txBody>
      </p:sp>
      <p:sp>
        <p:nvSpPr>
          <p:cNvPr id="31" name="Shape 27"/>
          <p:cNvSpPr/>
          <p:nvPr/>
        </p:nvSpPr>
        <p:spPr>
          <a:xfrm>
            <a:off x="4242813" y="1289304"/>
            <a:ext cx="201168" cy="201168"/>
          </a:xfrm>
          <a:prstGeom prst="ellipse">
            <a:avLst/>
          </a:prstGeom>
          <a:solidFill>
            <a:srgbClr val="40E0D0"/>
          </a:solidFill>
          <a:ln w="12700">
            <a:solidFill>
              <a:srgbClr val="40E0D0"/>
            </a:solidFill>
            <a:prstDash val="solid"/>
          </a:ln>
        </p:spPr>
      </p:sp>
      <p:sp>
        <p:nvSpPr>
          <p:cNvPr id="32" name="Text 28"/>
          <p:cNvSpPr txBox="1"/>
          <p:nvPr/>
        </p:nvSpPr>
        <p:spPr>
          <a:xfrm>
            <a:off x="4242813" y="1289304"/>
            <a:ext cx="20116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15000"/>
              </a:lnSpc>
              <a:buNone/>
            </a:pPr>
            <a:r>
              <a:rPr lang="en-US" sz="900" b="1" dirty="0">
                <a:solidFill>
                  <a:srgbClr val="2D2D2D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1</a:t>
            </a:r>
            <a:endParaRPr lang="en-US" sz="900" dirty="0"/>
          </a:p>
        </p:txBody>
      </p:sp>
      <p:sp>
        <p:nvSpPr>
          <p:cNvPr id="33" name="Shape 29"/>
          <p:cNvSpPr/>
          <p:nvPr/>
        </p:nvSpPr>
        <p:spPr>
          <a:xfrm>
            <a:off x="4682424" y="1289304"/>
            <a:ext cx="201168" cy="201168"/>
          </a:xfrm>
          <a:prstGeom prst="ellipse">
            <a:avLst/>
          </a:prstGeom>
          <a:solidFill>
            <a:srgbClr val="40E0D0"/>
          </a:solidFill>
          <a:ln w="12700">
            <a:solidFill>
              <a:srgbClr val="40E0D0"/>
            </a:solidFill>
            <a:prstDash val="solid"/>
          </a:ln>
        </p:spPr>
      </p:sp>
      <p:sp>
        <p:nvSpPr>
          <p:cNvPr id="34" name="Text 30"/>
          <p:cNvSpPr txBox="1"/>
          <p:nvPr/>
        </p:nvSpPr>
        <p:spPr>
          <a:xfrm>
            <a:off x="4682424" y="1289304"/>
            <a:ext cx="20116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15000"/>
              </a:lnSpc>
              <a:buNone/>
            </a:pPr>
            <a:r>
              <a:rPr lang="en-US" sz="900" b="1" dirty="0">
                <a:solidFill>
                  <a:srgbClr val="2D2D2D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2</a:t>
            </a:r>
            <a:endParaRPr lang="en-US" sz="900" dirty="0"/>
          </a:p>
        </p:txBody>
      </p:sp>
      <p:sp>
        <p:nvSpPr>
          <p:cNvPr id="35" name="Shape 31"/>
          <p:cNvSpPr/>
          <p:nvPr/>
        </p:nvSpPr>
        <p:spPr>
          <a:xfrm>
            <a:off x="5385801" y="1289304"/>
            <a:ext cx="201168" cy="201168"/>
          </a:xfrm>
          <a:prstGeom prst="ellipse">
            <a:avLst/>
          </a:prstGeom>
          <a:solidFill>
            <a:srgbClr val="40E0D0"/>
          </a:solidFill>
          <a:ln w="12700">
            <a:solidFill>
              <a:srgbClr val="40E0D0"/>
            </a:solidFill>
            <a:prstDash val="solid"/>
          </a:ln>
        </p:spPr>
      </p:sp>
      <p:sp>
        <p:nvSpPr>
          <p:cNvPr id="36" name="Text 32"/>
          <p:cNvSpPr txBox="1"/>
          <p:nvPr/>
        </p:nvSpPr>
        <p:spPr>
          <a:xfrm>
            <a:off x="5385801" y="1289304"/>
            <a:ext cx="20116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15000"/>
              </a:lnSpc>
              <a:buNone/>
            </a:pPr>
            <a:r>
              <a:rPr lang="en-US" sz="900" b="1" dirty="0">
                <a:solidFill>
                  <a:srgbClr val="2D2D2D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3</a:t>
            </a:r>
            <a:endParaRPr lang="en-US" sz="900" dirty="0"/>
          </a:p>
        </p:txBody>
      </p:sp>
      <p:sp>
        <p:nvSpPr>
          <p:cNvPr id="37" name="Shape 33"/>
          <p:cNvSpPr/>
          <p:nvPr/>
        </p:nvSpPr>
        <p:spPr>
          <a:xfrm>
            <a:off x="3886200" y="2926080"/>
            <a:ext cx="237744" cy="237744"/>
          </a:xfrm>
          <a:prstGeom prst="ellipse">
            <a:avLst/>
          </a:prstGeom>
          <a:solidFill>
            <a:srgbClr val="40E0D0"/>
          </a:solidFill>
          <a:ln w="12700">
            <a:solidFill>
              <a:srgbClr val="40E0D0"/>
            </a:solidFill>
            <a:prstDash val="solid"/>
          </a:ln>
        </p:spPr>
      </p:sp>
      <p:sp>
        <p:nvSpPr>
          <p:cNvPr id="38" name="Text 34"/>
          <p:cNvSpPr txBox="1"/>
          <p:nvPr/>
        </p:nvSpPr>
        <p:spPr>
          <a:xfrm>
            <a:off x="3886200" y="2926080"/>
            <a:ext cx="23774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15000"/>
              </a:lnSpc>
              <a:buNone/>
            </a:pPr>
            <a:r>
              <a:rPr lang="en-US" sz="1000" b="1" dirty="0">
                <a:solidFill>
                  <a:srgbClr val="2D2D2D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1</a:t>
            </a:r>
            <a:endParaRPr lang="en-US" sz="1000" dirty="0"/>
          </a:p>
        </p:txBody>
      </p:sp>
      <p:sp>
        <p:nvSpPr>
          <p:cNvPr id="39" name="Text 35"/>
          <p:cNvSpPr txBox="1"/>
          <p:nvPr/>
        </p:nvSpPr>
        <p:spPr>
          <a:xfrm>
            <a:off x="4197096" y="2907792"/>
            <a:ext cx="12496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1200" b="1" dirty="0">
                <a:solidFill>
                  <a:srgbClr val="2D2D2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void</a:t>
            </a:r>
            <a:endParaRPr lang="en-US" sz="1200" dirty="0"/>
          </a:p>
        </p:txBody>
      </p:sp>
      <p:sp>
        <p:nvSpPr>
          <p:cNvPr id="40" name="Text 36"/>
          <p:cNvSpPr txBox="1"/>
          <p:nvPr/>
        </p:nvSpPr>
        <p:spPr>
          <a:xfrm>
            <a:off x="3886200" y="3200400"/>
            <a:ext cx="15240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1200" dirty="0">
                <a:solidFill>
                  <a:srgbClr val="6B6B6B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不交回结果</a:t>
            </a:r>
            <a:endParaRPr lang="en-US" sz="1200" dirty="0"/>
          </a:p>
        </p:txBody>
      </p:sp>
      <p:sp>
        <p:nvSpPr>
          <p:cNvPr id="41" name="Shape 37"/>
          <p:cNvSpPr/>
          <p:nvPr/>
        </p:nvSpPr>
        <p:spPr>
          <a:xfrm>
            <a:off x="5501640" y="2926080"/>
            <a:ext cx="237744" cy="237744"/>
          </a:xfrm>
          <a:prstGeom prst="ellipse">
            <a:avLst/>
          </a:prstGeom>
          <a:solidFill>
            <a:srgbClr val="40E0D0"/>
          </a:solidFill>
          <a:ln w="12700">
            <a:solidFill>
              <a:srgbClr val="40E0D0"/>
            </a:solidFill>
            <a:prstDash val="solid"/>
          </a:ln>
        </p:spPr>
      </p:sp>
      <p:sp>
        <p:nvSpPr>
          <p:cNvPr id="42" name="Text 38"/>
          <p:cNvSpPr txBox="1"/>
          <p:nvPr/>
        </p:nvSpPr>
        <p:spPr>
          <a:xfrm>
            <a:off x="5501640" y="2926080"/>
            <a:ext cx="23774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15000"/>
              </a:lnSpc>
              <a:buNone/>
            </a:pPr>
            <a:r>
              <a:rPr lang="en-US" sz="1000" b="1" dirty="0">
                <a:solidFill>
                  <a:srgbClr val="2D2D2D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2</a:t>
            </a:r>
            <a:endParaRPr lang="en-US" sz="1000" dirty="0"/>
          </a:p>
        </p:txBody>
      </p:sp>
      <p:sp>
        <p:nvSpPr>
          <p:cNvPr id="43" name="Text 39"/>
          <p:cNvSpPr txBox="1"/>
          <p:nvPr/>
        </p:nvSpPr>
        <p:spPr>
          <a:xfrm>
            <a:off x="5812536" y="2907792"/>
            <a:ext cx="12496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1200" b="1" dirty="0">
                <a:solidFill>
                  <a:srgbClr val="2D2D2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setColor</a:t>
            </a:r>
            <a:endParaRPr lang="en-US" sz="1200" dirty="0"/>
          </a:p>
        </p:txBody>
      </p:sp>
      <p:sp>
        <p:nvSpPr>
          <p:cNvPr id="44" name="Text 40"/>
          <p:cNvSpPr txBox="1"/>
          <p:nvPr/>
        </p:nvSpPr>
        <p:spPr>
          <a:xfrm>
            <a:off x="5501640" y="3200400"/>
            <a:ext cx="15240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1200" dirty="0">
                <a:solidFill>
                  <a:srgbClr val="6B6B6B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函数的名字</a:t>
            </a:r>
            <a:endParaRPr lang="en-US" sz="1200" dirty="0"/>
          </a:p>
        </p:txBody>
      </p:sp>
      <p:sp>
        <p:nvSpPr>
          <p:cNvPr id="45" name="Shape 41"/>
          <p:cNvSpPr/>
          <p:nvPr/>
        </p:nvSpPr>
        <p:spPr>
          <a:xfrm>
            <a:off x="7117080" y="2926080"/>
            <a:ext cx="237744" cy="237744"/>
          </a:xfrm>
          <a:prstGeom prst="ellipse">
            <a:avLst/>
          </a:prstGeom>
          <a:solidFill>
            <a:srgbClr val="40E0D0"/>
          </a:solidFill>
          <a:ln w="12700">
            <a:solidFill>
              <a:srgbClr val="40E0D0"/>
            </a:solidFill>
            <a:prstDash val="solid"/>
          </a:ln>
        </p:spPr>
      </p:sp>
      <p:sp>
        <p:nvSpPr>
          <p:cNvPr id="46" name="Text 42"/>
          <p:cNvSpPr txBox="1"/>
          <p:nvPr/>
        </p:nvSpPr>
        <p:spPr>
          <a:xfrm>
            <a:off x="7117080" y="2926080"/>
            <a:ext cx="23774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15000"/>
              </a:lnSpc>
              <a:buNone/>
            </a:pPr>
            <a:r>
              <a:rPr lang="en-US" sz="1000" b="1" dirty="0">
                <a:solidFill>
                  <a:srgbClr val="2D2D2D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3</a:t>
            </a:r>
            <a:endParaRPr lang="en-US" sz="1000" dirty="0"/>
          </a:p>
        </p:txBody>
      </p:sp>
      <p:sp>
        <p:nvSpPr>
          <p:cNvPr id="47" name="Text 43"/>
          <p:cNvSpPr txBox="1"/>
          <p:nvPr/>
        </p:nvSpPr>
        <p:spPr>
          <a:xfrm>
            <a:off x="7427976" y="2907792"/>
            <a:ext cx="12496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1200" b="1" dirty="0">
                <a:solidFill>
                  <a:srgbClr val="2D2D2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(int red, …)</a:t>
            </a:r>
            <a:endParaRPr lang="en-US" sz="1200" dirty="0"/>
          </a:p>
        </p:txBody>
      </p:sp>
      <p:sp>
        <p:nvSpPr>
          <p:cNvPr id="48" name="Text 44"/>
          <p:cNvSpPr txBox="1"/>
          <p:nvPr/>
        </p:nvSpPr>
        <p:spPr>
          <a:xfrm>
            <a:off x="7117080" y="3200400"/>
            <a:ext cx="15240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1200" dirty="0">
                <a:solidFill>
                  <a:srgbClr val="6B6B6B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传进来的值（参数）</a:t>
            </a:r>
            <a:endParaRPr lang="en-US" sz="1200" dirty="0"/>
          </a:p>
        </p:txBody>
      </p:sp>
      <p:sp>
        <p:nvSpPr>
          <p:cNvPr id="49" name="Text 45"/>
          <p:cNvSpPr txBox="1"/>
          <p:nvPr/>
        </p:nvSpPr>
        <p:spPr>
          <a:xfrm>
            <a:off x="3886200" y="3712464"/>
            <a:ext cx="9144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1200" b="1" dirty="0">
                <a:solidFill>
                  <a:srgbClr val="2D2D2D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调用：</a:t>
            </a:r>
            <a:endParaRPr lang="en-US" sz="1200" dirty="0"/>
          </a:p>
        </p:txBody>
      </p:sp>
      <p:sp>
        <p:nvSpPr>
          <p:cNvPr id="50" name="Shape 46"/>
          <p:cNvSpPr/>
          <p:nvPr/>
        </p:nvSpPr>
        <p:spPr>
          <a:xfrm>
            <a:off x="4800600" y="3712464"/>
            <a:ext cx="3931920" cy="310896"/>
          </a:xfrm>
          <a:prstGeom prst="roundRect">
            <a:avLst>
              <a:gd name="adj" fmla="val 23529"/>
            </a:avLst>
          </a:prstGeom>
          <a:solidFill>
            <a:srgbClr val="2D2D2D"/>
          </a:solidFill>
          <a:ln w="12700">
            <a:solidFill>
              <a:srgbClr val="2D2D2D"/>
            </a:solidFill>
            <a:prstDash val="solid"/>
          </a:ln>
        </p:spPr>
      </p:sp>
      <p:sp>
        <p:nvSpPr>
          <p:cNvPr id="51" name="Text 47"/>
          <p:cNvSpPr txBox="1"/>
          <p:nvPr/>
        </p:nvSpPr>
        <p:spPr>
          <a:xfrm>
            <a:off x="4910328" y="3712464"/>
            <a:ext cx="3712464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050" dirty="0">
                <a:solidFill>
                  <a:srgbClr val="D9D9D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setColor</a:t>
            </a:r>
            <a:pPr algn="l" indent="0" marL="0">
              <a:lnSpc>
                <a:spcPct val="100000"/>
              </a:lnSpc>
              <a:buNone/>
            </a:pPr>
            <a:r>
              <a:rPr lang="en-US" sz="1050" dirty="0">
                <a:solidFill>
                  <a:srgbClr val="BDBDB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(</a:t>
            </a:r>
            <a:pPr algn="l" indent="0" marL="0">
              <a:lnSpc>
                <a:spcPct val="100000"/>
              </a:lnSpc>
              <a:buNone/>
            </a:pPr>
            <a:r>
              <a:rPr lang="en-US" sz="1050" dirty="0">
                <a:solidFill>
                  <a:srgbClr val="F7C87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255</a:t>
            </a:r>
            <a:pPr algn="l" indent="0" marL="0">
              <a:lnSpc>
                <a:spcPct val="100000"/>
              </a:lnSpc>
              <a:buNone/>
            </a:pPr>
            <a:r>
              <a:rPr lang="en-US" sz="1050" dirty="0">
                <a:solidFill>
                  <a:srgbClr val="BDBDB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, </a:t>
            </a:r>
            <a:pPr algn="l" indent="0" marL="0">
              <a:lnSpc>
                <a:spcPct val="100000"/>
              </a:lnSpc>
              <a:buNone/>
            </a:pPr>
            <a:r>
              <a:rPr lang="en-US" sz="1050" dirty="0">
                <a:solidFill>
                  <a:srgbClr val="F7C87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</a:t>
            </a:r>
            <a:pPr algn="l" indent="0" marL="0">
              <a:lnSpc>
                <a:spcPct val="100000"/>
              </a:lnSpc>
              <a:buNone/>
            </a:pPr>
            <a:r>
              <a:rPr lang="en-US" sz="1050" dirty="0">
                <a:solidFill>
                  <a:srgbClr val="BDBDB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, </a:t>
            </a:r>
            <a:pPr algn="l" indent="0" marL="0">
              <a:lnSpc>
                <a:spcPct val="100000"/>
              </a:lnSpc>
              <a:buNone/>
            </a:pPr>
            <a:r>
              <a:rPr lang="en-US" sz="1050" dirty="0">
                <a:solidFill>
                  <a:srgbClr val="F7C87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</a:t>
            </a:r>
            <a:pPr algn="l" indent="0" marL="0">
              <a:lnSpc>
                <a:spcPct val="100000"/>
              </a:lnSpc>
              <a:buNone/>
            </a:pPr>
            <a:r>
              <a:rPr lang="en-US" sz="1050" dirty="0">
                <a:solidFill>
                  <a:srgbClr val="BDBDB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);   </a:t>
            </a:r>
            <a:pPr algn="l" indent="0" marL="0">
              <a:lnSpc>
                <a:spcPct val="100000"/>
              </a:lnSpc>
              <a:buNone/>
            </a:pPr>
            <a:r>
              <a:rPr lang="en-US" sz="1050" i="1" dirty="0">
                <a:solidFill>
                  <a:srgbClr val="8E8E8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// 调用：红色</a:t>
            </a:r>
            <a:endParaRPr lang="en-US" sz="1050" dirty="0"/>
          </a:p>
        </p:txBody>
      </p:sp>
      <p:sp>
        <p:nvSpPr>
          <p:cNvPr id="52" name="Text 48"/>
          <p:cNvSpPr txBox="1"/>
          <p:nvPr/>
        </p:nvSpPr>
        <p:spPr>
          <a:xfrm>
            <a:off x="3886200" y="4114800"/>
            <a:ext cx="914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1200" b="1" dirty="0">
                <a:solidFill>
                  <a:srgbClr val="2D2D2D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带返回值：</a:t>
            </a:r>
            <a:endParaRPr lang="en-US" sz="1200" dirty="0"/>
          </a:p>
        </p:txBody>
      </p:sp>
      <p:sp>
        <p:nvSpPr>
          <p:cNvPr id="53" name="Shape 49"/>
          <p:cNvSpPr/>
          <p:nvPr/>
        </p:nvSpPr>
        <p:spPr>
          <a:xfrm>
            <a:off x="4800600" y="4114800"/>
            <a:ext cx="3931920" cy="457200"/>
          </a:xfrm>
          <a:prstGeom prst="roundRect">
            <a:avLst>
              <a:gd name="adj" fmla="val 16000"/>
            </a:avLst>
          </a:prstGeom>
          <a:solidFill>
            <a:srgbClr val="2D2D2D"/>
          </a:solidFill>
          <a:ln w="12700">
            <a:solidFill>
              <a:srgbClr val="2D2D2D"/>
            </a:solidFill>
            <a:prstDash val="solid"/>
          </a:ln>
        </p:spPr>
      </p:sp>
      <p:sp>
        <p:nvSpPr>
          <p:cNvPr id="54" name="Text 50"/>
          <p:cNvSpPr txBox="1"/>
          <p:nvPr/>
        </p:nvSpPr>
        <p:spPr>
          <a:xfrm>
            <a:off x="4910328" y="4114800"/>
            <a:ext cx="3712464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000" b="1" dirty="0">
                <a:solidFill>
                  <a:srgbClr val="40E0D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int </a:t>
            </a:r>
            <a:pPr algn="l" indent="0" marL="0">
              <a:lnSpc>
                <a:spcPct val="100000"/>
              </a:lnSpc>
              <a:buNone/>
            </a:pPr>
            <a:r>
              <a:rPr lang="en-US" sz="1000" dirty="0">
                <a:solidFill>
                  <a:srgbClr val="D9D9D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add</a:t>
            </a:r>
            <a:pPr algn="l" indent="0" marL="0">
              <a:lnSpc>
                <a:spcPct val="100000"/>
              </a:lnSpc>
              <a:buNone/>
            </a:pPr>
            <a:r>
              <a:rPr lang="en-US" sz="1000" dirty="0">
                <a:solidFill>
                  <a:srgbClr val="BDBDB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(</a:t>
            </a:r>
            <a:pPr algn="l" indent="0" marL="0">
              <a:lnSpc>
                <a:spcPct val="100000"/>
              </a:lnSpc>
              <a:buNone/>
            </a:pPr>
            <a:r>
              <a:rPr lang="en-US" sz="1000" b="1" dirty="0">
                <a:solidFill>
                  <a:srgbClr val="40E0D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int </a:t>
            </a:r>
            <a:pPr algn="l" indent="0" marL="0">
              <a:lnSpc>
                <a:spcPct val="100000"/>
              </a:lnSpc>
              <a:buNone/>
            </a:pPr>
            <a:r>
              <a:rPr lang="en-US" sz="1000" dirty="0">
                <a:solidFill>
                  <a:srgbClr val="D9D9D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</a:t>
            </a:r>
            <a:pPr algn="l" indent="0" marL="0">
              <a:lnSpc>
                <a:spcPct val="100000"/>
              </a:lnSpc>
              <a:buNone/>
            </a:pPr>
            <a:r>
              <a:rPr lang="en-US" sz="1000" dirty="0">
                <a:solidFill>
                  <a:srgbClr val="BDBDB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, </a:t>
            </a:r>
            <a:pPr algn="l" indent="0" marL="0">
              <a:lnSpc>
                <a:spcPct val="100000"/>
              </a:lnSpc>
              <a:buNone/>
            </a:pPr>
            <a:r>
              <a:rPr lang="en-US" sz="1000" b="1" dirty="0">
                <a:solidFill>
                  <a:srgbClr val="40E0D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int </a:t>
            </a:r>
            <a:pPr algn="l" indent="0" marL="0">
              <a:lnSpc>
                <a:spcPct val="100000"/>
              </a:lnSpc>
              <a:buNone/>
            </a:pPr>
            <a:r>
              <a:rPr lang="en-US" sz="1000" dirty="0">
                <a:solidFill>
                  <a:srgbClr val="D9D9D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b</a:t>
            </a:r>
            <a:pPr algn="l" indent="0" marL="0">
              <a:lnSpc>
                <a:spcPct val="100000"/>
              </a:lnSpc>
              <a:buNone/>
            </a:pPr>
            <a:r>
              <a:rPr lang="en-US" sz="1000" dirty="0">
                <a:solidFill>
                  <a:srgbClr val="BDBDB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) { </a:t>
            </a:r>
            <a:pPr algn="l" indent="0" marL="0">
              <a:lnSpc>
                <a:spcPct val="100000"/>
              </a:lnSpc>
              <a:buNone/>
            </a:pPr>
            <a:r>
              <a:rPr lang="en-US" sz="1000" b="1" dirty="0">
                <a:solidFill>
                  <a:srgbClr val="40E0D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return </a:t>
            </a:r>
            <a:pPr algn="l" indent="0" marL="0">
              <a:lnSpc>
                <a:spcPct val="100000"/>
              </a:lnSpc>
              <a:buNone/>
            </a:pPr>
            <a:r>
              <a:rPr lang="en-US" sz="1000" dirty="0">
                <a:solidFill>
                  <a:srgbClr val="D9D9D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 </a:t>
            </a:r>
            <a:pPr algn="l" indent="0" marL="0">
              <a:lnSpc>
                <a:spcPct val="100000"/>
              </a:lnSpc>
              <a:buNone/>
            </a:pPr>
            <a:r>
              <a:rPr lang="en-US" sz="1000" dirty="0">
                <a:solidFill>
                  <a:srgbClr val="BDBDB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+ </a:t>
            </a:r>
            <a:pPr algn="l" indent="0" marL="0">
              <a:lnSpc>
                <a:spcPct val="100000"/>
              </a:lnSpc>
              <a:buNone/>
            </a:pPr>
            <a:r>
              <a:rPr lang="en-US" sz="1000" dirty="0">
                <a:solidFill>
                  <a:srgbClr val="D9D9D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b</a:t>
            </a:r>
            <a:pPr algn="l" indent="0" marL="0">
              <a:lnSpc>
                <a:spcPct val="100000"/>
              </a:lnSpc>
              <a:buNone/>
            </a:pPr>
            <a:r>
              <a:rPr lang="en-US" sz="1000" dirty="0">
                <a:solidFill>
                  <a:srgbClr val="BDBDB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; }</a:t>
            </a:r>
            <a:endParaRPr lang="en-US" sz="1000" dirty="0"/>
          </a:p>
          <a:p>
            <a:pPr algn="l" indent="0" marL="0">
              <a:lnSpc>
                <a:spcPct val="100000"/>
              </a:lnSpc>
              <a:buNone/>
            </a:pPr>
            <a:r>
              <a:rPr lang="en-US" sz="1000" b="1" dirty="0">
                <a:solidFill>
                  <a:srgbClr val="40E0D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int </a:t>
            </a:r>
            <a:pPr algn="l" indent="0" marL="0">
              <a:lnSpc>
                <a:spcPct val="100000"/>
              </a:lnSpc>
              <a:buNone/>
            </a:pPr>
            <a:r>
              <a:rPr lang="en-US" sz="1000" dirty="0">
                <a:solidFill>
                  <a:srgbClr val="D9D9D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 </a:t>
            </a:r>
            <a:pPr algn="l" indent="0" marL="0">
              <a:lnSpc>
                <a:spcPct val="100000"/>
              </a:lnSpc>
              <a:buNone/>
            </a:pPr>
            <a:r>
              <a:rPr lang="en-US" sz="1000" dirty="0">
                <a:solidFill>
                  <a:srgbClr val="BDBDB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= </a:t>
            </a:r>
            <a:pPr algn="l" indent="0" marL="0">
              <a:lnSpc>
                <a:spcPct val="100000"/>
              </a:lnSpc>
              <a:buNone/>
            </a:pPr>
            <a:r>
              <a:rPr lang="en-US" sz="1000" dirty="0">
                <a:solidFill>
                  <a:srgbClr val="D9D9D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add</a:t>
            </a:r>
            <a:pPr algn="l" indent="0" marL="0">
              <a:lnSpc>
                <a:spcPct val="100000"/>
              </a:lnSpc>
              <a:buNone/>
            </a:pPr>
            <a:r>
              <a:rPr lang="en-US" sz="1000" dirty="0">
                <a:solidFill>
                  <a:srgbClr val="BDBDB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(</a:t>
            </a:r>
            <a:pPr algn="l" indent="0" marL="0">
              <a:lnSpc>
                <a:spcPct val="100000"/>
              </a:lnSpc>
              <a:buNone/>
            </a:pPr>
            <a:r>
              <a:rPr lang="en-US" sz="1000" dirty="0">
                <a:solidFill>
                  <a:srgbClr val="F7C87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2</a:t>
            </a:r>
            <a:pPr algn="l" indent="0" marL="0">
              <a:lnSpc>
                <a:spcPct val="100000"/>
              </a:lnSpc>
              <a:buNone/>
            </a:pPr>
            <a:r>
              <a:rPr lang="en-US" sz="1000" dirty="0">
                <a:solidFill>
                  <a:srgbClr val="BDBDB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, </a:t>
            </a:r>
            <a:pPr algn="l" indent="0" marL="0">
              <a:lnSpc>
                <a:spcPct val="100000"/>
              </a:lnSpc>
              <a:buNone/>
            </a:pPr>
            <a:r>
              <a:rPr lang="en-US" sz="1000" dirty="0">
                <a:solidFill>
                  <a:srgbClr val="F7C87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3</a:t>
            </a:r>
            <a:pPr algn="l" indent="0" marL="0">
              <a:lnSpc>
                <a:spcPct val="100000"/>
              </a:lnSpc>
              <a:buNone/>
            </a:pPr>
            <a:r>
              <a:rPr lang="en-US" sz="1000" dirty="0">
                <a:solidFill>
                  <a:srgbClr val="BDBDB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);   </a:t>
            </a:r>
            <a:pPr algn="l" indent="0" marL="0">
              <a:lnSpc>
                <a:spcPct val="100000"/>
              </a:lnSpc>
              <a:buNone/>
            </a:pPr>
            <a:r>
              <a:rPr lang="en-US" sz="1000" i="1" dirty="0">
                <a:solidFill>
                  <a:srgbClr val="8E8E8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// s 等于 5</a:t>
            </a:r>
            <a:endParaRPr lang="en-US" sz="10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339328" y="4736592"/>
            <a:ext cx="393192" cy="219456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 lIns="0" tIns="0" rIns="0" bIns="0" anchor="ctr"/>
          <a:lstStyle>
            <a:lvl1pPr>
              <a:defRPr sz="800">
                <a:solidFill>
                  <a:srgbClr val="6B6B6B"/>
                </a:solidFill>
                <a:latin typeface="微软雅黑"/>
                <a:ea typeface="微软雅黑"/>
                <a:cs typeface="微软雅黑"/>
              </a:defRPr>
            </a:lvl1pPr>
          </a:lstStyle>
          <a:p>
            <a:pPr algn="r"/>
            <a:fld id="{F7021451-1387-4CA6-816F-3879F97B5CBC}" type="slidenum">
              <a:rPr b="0" lang="en-US"/>
              <a:t>27</a:t>
            </a:fld>
            <a:endParaRPr lang="en-US"/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1"/>
          <p:cNvSpPr/>
          <p:nvPr>
            <p:ph idx="102" type="body" hasCustomPrompt="1"/>
          </p:nvPr>
        </p:nvSpPr>
        <p:spPr>
          <a:xfrm>
            <a:off x="4572000" y="4736592"/>
            <a:ext cx="370332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2D2D2D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把代码打包</a:t>
            </a:r>
            <a:endParaRPr lang="en-US" sz="800" dirty="0"/>
          </a:p>
        </p:txBody>
      </p:sp>
      <p:sp>
        <p:nvSpPr>
          <p:cNvPr id="3" name="Text 1"/>
          <p:cNvSpPr/>
          <p:nvPr>
            <p:ph idx="103" type="title" hasCustomPrompt="1"/>
          </p:nvPr>
        </p:nvSpPr>
        <p:spPr>
          <a:xfrm>
            <a:off x="411480" y="274320"/>
            <a:ext cx="83210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400" dirty="0">
                <a:solidFill>
                  <a:srgbClr val="2D2D2D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示例：自己写一个 blink 函数（1/2）</a:t>
            </a:r>
            <a:endParaRPr lang="en-US" sz="2400" dirty="0"/>
          </a:p>
        </p:txBody>
      </p:sp>
      <p:sp>
        <p:nvSpPr>
          <p:cNvPr id="4" name="Text 1"/>
          <p:cNvSpPr/>
          <p:nvPr>
            <p:ph idx="104" type="body" hasCustomPrompt="1"/>
          </p:nvPr>
        </p:nvSpPr>
        <p:spPr>
          <a:xfrm>
            <a:off x="411480" y="786384"/>
            <a:ext cx="83210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6B6B6B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先“定义”函数：说清楚闪几次、每次隔多久——这一步只是写好菜谱，还没开始做。</a:t>
            </a:r>
            <a:endParaRPr lang="en-US" sz="1200" dirty="0"/>
          </a:p>
        </p:txBody>
      </p:sp>
      <p:sp>
        <p:nvSpPr>
          <p:cNvPr id="6" name="Shape 3"/>
          <p:cNvSpPr/>
          <p:nvPr/>
        </p:nvSpPr>
        <p:spPr>
          <a:xfrm>
            <a:off x="411480" y="1234440"/>
            <a:ext cx="4846320" cy="2606040"/>
          </a:xfrm>
          <a:prstGeom prst="roundRect">
            <a:avLst>
              <a:gd name="adj" fmla="val 3509"/>
            </a:avLst>
          </a:prstGeom>
          <a:solidFill>
            <a:srgbClr val="2D2D2D"/>
          </a:solidFill>
          <a:ln w="12700">
            <a:solidFill>
              <a:srgbClr val="2D2D2D"/>
            </a:solidFill>
            <a:prstDash val="solid"/>
          </a:ln>
        </p:spPr>
      </p:sp>
      <p:sp>
        <p:nvSpPr>
          <p:cNvPr id="7" name="Text 4"/>
          <p:cNvSpPr txBox="1"/>
          <p:nvPr/>
        </p:nvSpPr>
        <p:spPr>
          <a:xfrm>
            <a:off x="539496" y="1298448"/>
            <a:ext cx="2907792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1000" dirty="0">
                <a:solidFill>
                  <a:srgbClr val="9A9A9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function_demo.ino</a:t>
            </a:r>
            <a:endParaRPr lang="en-US" sz="1000" dirty="0"/>
          </a:p>
        </p:txBody>
      </p:sp>
      <p:sp>
        <p:nvSpPr>
          <p:cNvPr id="8" name="Text 5"/>
          <p:cNvSpPr txBox="1"/>
          <p:nvPr/>
        </p:nvSpPr>
        <p:spPr>
          <a:xfrm>
            <a:off x="2350008" y="1298448"/>
            <a:ext cx="277977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lnSpc>
                <a:spcPct val="115000"/>
              </a:lnSpc>
              <a:buNone/>
            </a:pPr>
            <a:r>
              <a:rPr lang="en-US" sz="1000" dirty="0">
                <a:solidFill>
                  <a:srgbClr val="9A9A9A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第 1–11 行</a:t>
            </a:r>
            <a:endParaRPr lang="en-US" sz="1000" dirty="0"/>
          </a:p>
        </p:txBody>
      </p:sp>
      <p:sp>
        <p:nvSpPr>
          <p:cNvPr id="9" name="Text 6"/>
          <p:cNvSpPr txBox="1"/>
          <p:nvPr/>
        </p:nvSpPr>
        <p:spPr>
          <a:xfrm>
            <a:off x="502920" y="1545336"/>
            <a:ext cx="228597" cy="1986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lnSpc>
                <a:spcPct val="115000"/>
              </a:lnSpc>
              <a:buNone/>
            </a:pPr>
            <a:r>
              <a:rPr lang="en-US" sz="1050" dirty="0">
                <a:solidFill>
                  <a:srgbClr val="7A7A7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1</a:t>
            </a:r>
            <a:endParaRPr lang="en-US" sz="1050" dirty="0"/>
          </a:p>
        </p:txBody>
      </p:sp>
      <p:sp>
        <p:nvSpPr>
          <p:cNvPr id="10" name="Text 7"/>
          <p:cNvSpPr txBox="1"/>
          <p:nvPr/>
        </p:nvSpPr>
        <p:spPr>
          <a:xfrm>
            <a:off x="856016" y="1545336"/>
            <a:ext cx="4273768" cy="1986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40E0D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int </a:t>
            </a:r>
            <a:pPr indent="0" marL="0">
              <a:buNone/>
            </a:pPr>
            <a:r>
              <a:rPr lang="en-US" sz="1150" dirty="0">
                <a:solidFill>
                  <a:srgbClr val="D9D9D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ledPin </a:t>
            </a:r>
            <a:pPr indent="0" marL="0">
              <a:buNone/>
            </a:pPr>
            <a:r>
              <a:rPr lang="en-US" sz="1150" dirty="0">
                <a:solidFill>
                  <a:srgbClr val="BDBDB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= </a:t>
            </a:r>
            <a:pPr indent="0" marL="0">
              <a:buNone/>
            </a:pPr>
            <a:r>
              <a:rPr lang="en-US" sz="1150" dirty="0">
                <a:solidFill>
                  <a:srgbClr val="F7C87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13</a:t>
            </a:r>
            <a:pPr indent="0" marL="0">
              <a:buNone/>
            </a:pPr>
            <a:r>
              <a:rPr lang="en-US" sz="1150" dirty="0">
                <a:solidFill>
                  <a:srgbClr val="BDBDB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;</a:t>
            </a:r>
            <a:endParaRPr lang="en-US" sz="1150" dirty="0"/>
          </a:p>
        </p:txBody>
      </p:sp>
      <p:sp>
        <p:nvSpPr>
          <p:cNvPr id="11" name="Text 8"/>
          <p:cNvSpPr txBox="1"/>
          <p:nvPr/>
        </p:nvSpPr>
        <p:spPr>
          <a:xfrm>
            <a:off x="502920" y="1743964"/>
            <a:ext cx="228597" cy="1986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lnSpc>
                <a:spcPct val="115000"/>
              </a:lnSpc>
              <a:buNone/>
            </a:pPr>
            <a:r>
              <a:rPr lang="en-US" sz="1050" dirty="0">
                <a:solidFill>
                  <a:srgbClr val="7A7A7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2</a:t>
            </a:r>
            <a:endParaRPr lang="en-US" sz="1050" dirty="0"/>
          </a:p>
        </p:txBody>
      </p:sp>
      <p:sp>
        <p:nvSpPr>
          <p:cNvPr id="12" name="Text 9"/>
          <p:cNvSpPr txBox="1"/>
          <p:nvPr/>
        </p:nvSpPr>
        <p:spPr>
          <a:xfrm>
            <a:off x="856016" y="1743964"/>
            <a:ext cx="4273768" cy="1986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D9D9D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endParaRPr lang="en-US" sz="1150" dirty="0"/>
          </a:p>
        </p:txBody>
      </p:sp>
      <p:sp>
        <p:nvSpPr>
          <p:cNvPr id="13" name="Shape 10"/>
          <p:cNvSpPr/>
          <p:nvPr/>
        </p:nvSpPr>
        <p:spPr>
          <a:xfrm>
            <a:off x="457200" y="1942592"/>
            <a:ext cx="4754880" cy="198628"/>
          </a:xfrm>
          <a:prstGeom prst="rect">
            <a:avLst/>
          </a:prstGeom>
          <a:solidFill>
            <a:srgbClr val="3E5250"/>
          </a:solidFill>
          <a:ln w="12700">
            <a:solidFill>
              <a:srgbClr val="3E5250"/>
            </a:solidFill>
            <a:prstDash val="solid"/>
          </a:ln>
        </p:spPr>
      </p:sp>
      <p:sp>
        <p:nvSpPr>
          <p:cNvPr id="14" name="Text 11"/>
          <p:cNvSpPr txBox="1"/>
          <p:nvPr/>
        </p:nvSpPr>
        <p:spPr>
          <a:xfrm>
            <a:off x="502920" y="1942592"/>
            <a:ext cx="228597" cy="1986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lnSpc>
                <a:spcPct val="115000"/>
              </a:lnSpc>
              <a:buNone/>
            </a:pPr>
            <a:r>
              <a:rPr lang="en-US" sz="1050" b="1" dirty="0">
                <a:solidFill>
                  <a:srgbClr val="40E0D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3</a:t>
            </a:r>
            <a:endParaRPr lang="en-US" sz="1050" dirty="0"/>
          </a:p>
        </p:txBody>
      </p:sp>
      <p:sp>
        <p:nvSpPr>
          <p:cNvPr id="15" name="Text 12"/>
          <p:cNvSpPr txBox="1"/>
          <p:nvPr/>
        </p:nvSpPr>
        <p:spPr>
          <a:xfrm>
            <a:off x="856016" y="1942592"/>
            <a:ext cx="4273768" cy="1986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i="1" dirty="0">
                <a:solidFill>
                  <a:srgbClr val="8E8E8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// 自己写一个函数：闪 times 次，每次间隔 ms 毫秒</a:t>
            </a:r>
            <a:endParaRPr lang="en-US" sz="1150" dirty="0"/>
          </a:p>
        </p:txBody>
      </p:sp>
      <p:sp>
        <p:nvSpPr>
          <p:cNvPr id="16" name="Shape 13"/>
          <p:cNvSpPr/>
          <p:nvPr/>
        </p:nvSpPr>
        <p:spPr>
          <a:xfrm>
            <a:off x="457200" y="2141220"/>
            <a:ext cx="4754880" cy="198628"/>
          </a:xfrm>
          <a:prstGeom prst="rect">
            <a:avLst/>
          </a:prstGeom>
          <a:solidFill>
            <a:srgbClr val="3E5250"/>
          </a:solidFill>
          <a:ln w="12700">
            <a:solidFill>
              <a:srgbClr val="3E5250"/>
            </a:solidFill>
            <a:prstDash val="solid"/>
          </a:ln>
        </p:spPr>
      </p:sp>
      <p:sp>
        <p:nvSpPr>
          <p:cNvPr id="17" name="Text 14"/>
          <p:cNvSpPr txBox="1"/>
          <p:nvPr/>
        </p:nvSpPr>
        <p:spPr>
          <a:xfrm>
            <a:off x="502920" y="2141220"/>
            <a:ext cx="228597" cy="1986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lnSpc>
                <a:spcPct val="115000"/>
              </a:lnSpc>
              <a:buNone/>
            </a:pPr>
            <a:r>
              <a:rPr lang="en-US" sz="1050" b="1" dirty="0">
                <a:solidFill>
                  <a:srgbClr val="40E0D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4</a:t>
            </a:r>
            <a:endParaRPr lang="en-US" sz="1050" dirty="0"/>
          </a:p>
        </p:txBody>
      </p:sp>
      <p:sp>
        <p:nvSpPr>
          <p:cNvPr id="18" name="Text 15"/>
          <p:cNvSpPr txBox="1"/>
          <p:nvPr/>
        </p:nvSpPr>
        <p:spPr>
          <a:xfrm>
            <a:off x="856016" y="2141220"/>
            <a:ext cx="4273768" cy="1986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40E0D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void </a:t>
            </a:r>
            <a:pPr indent="0" marL="0">
              <a:buNone/>
            </a:pPr>
            <a:r>
              <a:rPr lang="en-US" sz="1150" dirty="0">
                <a:solidFill>
                  <a:srgbClr val="D9D9D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blink</a:t>
            </a:r>
            <a:pPr indent="0" marL="0">
              <a:buNone/>
            </a:pPr>
            <a:r>
              <a:rPr lang="en-US" sz="1150" dirty="0">
                <a:solidFill>
                  <a:srgbClr val="BDBDB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(</a:t>
            </a:r>
            <a:pPr indent="0" marL="0">
              <a:buNone/>
            </a:pPr>
            <a:r>
              <a:rPr lang="en-US" sz="1150" b="1" dirty="0">
                <a:solidFill>
                  <a:srgbClr val="40E0D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int </a:t>
            </a:r>
            <a:pPr indent="0" marL="0">
              <a:buNone/>
            </a:pPr>
            <a:r>
              <a:rPr lang="en-US" sz="1150" dirty="0">
                <a:solidFill>
                  <a:srgbClr val="D9D9D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times</a:t>
            </a:r>
            <a:pPr indent="0" marL="0">
              <a:buNone/>
            </a:pPr>
            <a:r>
              <a:rPr lang="en-US" sz="1150" dirty="0">
                <a:solidFill>
                  <a:srgbClr val="BDBDB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, </a:t>
            </a:r>
            <a:pPr indent="0" marL="0">
              <a:buNone/>
            </a:pPr>
            <a:r>
              <a:rPr lang="en-US" sz="1150" b="1" dirty="0">
                <a:solidFill>
                  <a:srgbClr val="40E0D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int </a:t>
            </a:r>
            <a:pPr indent="0" marL="0">
              <a:buNone/>
            </a:pPr>
            <a:r>
              <a:rPr lang="en-US" sz="1150" dirty="0">
                <a:solidFill>
                  <a:srgbClr val="D9D9D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ms</a:t>
            </a:r>
            <a:pPr indent="0" marL="0">
              <a:buNone/>
            </a:pPr>
            <a:r>
              <a:rPr lang="en-US" sz="1150" dirty="0">
                <a:solidFill>
                  <a:srgbClr val="BDBDB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) {</a:t>
            </a:r>
            <a:endParaRPr lang="en-US" sz="1150" dirty="0"/>
          </a:p>
        </p:txBody>
      </p:sp>
      <p:sp>
        <p:nvSpPr>
          <p:cNvPr id="19" name="Shape 16"/>
          <p:cNvSpPr/>
          <p:nvPr/>
        </p:nvSpPr>
        <p:spPr>
          <a:xfrm>
            <a:off x="457200" y="2339848"/>
            <a:ext cx="4754880" cy="198628"/>
          </a:xfrm>
          <a:prstGeom prst="rect">
            <a:avLst/>
          </a:prstGeom>
          <a:solidFill>
            <a:srgbClr val="3E5250"/>
          </a:solidFill>
          <a:ln w="12700">
            <a:solidFill>
              <a:srgbClr val="3E5250"/>
            </a:solidFill>
            <a:prstDash val="solid"/>
          </a:ln>
        </p:spPr>
      </p:sp>
      <p:sp>
        <p:nvSpPr>
          <p:cNvPr id="20" name="Text 17"/>
          <p:cNvSpPr txBox="1"/>
          <p:nvPr/>
        </p:nvSpPr>
        <p:spPr>
          <a:xfrm>
            <a:off x="502920" y="2339848"/>
            <a:ext cx="228597" cy="1986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lnSpc>
                <a:spcPct val="115000"/>
              </a:lnSpc>
              <a:buNone/>
            </a:pPr>
            <a:r>
              <a:rPr lang="en-US" sz="1050" b="1" dirty="0">
                <a:solidFill>
                  <a:srgbClr val="40E0D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5</a:t>
            </a:r>
            <a:endParaRPr lang="en-US" sz="1050" dirty="0"/>
          </a:p>
        </p:txBody>
      </p:sp>
      <p:sp>
        <p:nvSpPr>
          <p:cNvPr id="21" name="Text 18"/>
          <p:cNvSpPr txBox="1"/>
          <p:nvPr/>
        </p:nvSpPr>
        <p:spPr>
          <a:xfrm>
            <a:off x="856016" y="2339848"/>
            <a:ext cx="4273768" cy="1986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D9D9D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</a:t>
            </a:r>
            <a:pPr indent="0" marL="0">
              <a:buNone/>
            </a:pPr>
            <a:r>
              <a:rPr lang="en-US" sz="1150" b="1" dirty="0">
                <a:solidFill>
                  <a:srgbClr val="40E0D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for </a:t>
            </a:r>
            <a:pPr indent="0" marL="0">
              <a:buNone/>
            </a:pPr>
            <a:r>
              <a:rPr lang="en-US" sz="1150" dirty="0">
                <a:solidFill>
                  <a:srgbClr val="BDBDB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(</a:t>
            </a:r>
            <a:pPr indent="0" marL="0">
              <a:buNone/>
            </a:pPr>
            <a:r>
              <a:rPr lang="en-US" sz="1150" b="1" dirty="0">
                <a:solidFill>
                  <a:srgbClr val="40E0D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int </a:t>
            </a:r>
            <a:pPr indent="0" marL="0">
              <a:buNone/>
            </a:pPr>
            <a:r>
              <a:rPr lang="en-US" sz="1150" dirty="0">
                <a:solidFill>
                  <a:srgbClr val="D9D9D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 </a:t>
            </a:r>
            <a:pPr indent="0" marL="0">
              <a:buNone/>
            </a:pPr>
            <a:r>
              <a:rPr lang="en-US" sz="1150" dirty="0">
                <a:solidFill>
                  <a:srgbClr val="BDBDB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= </a:t>
            </a:r>
            <a:pPr indent="0" marL="0">
              <a:buNone/>
            </a:pPr>
            <a:r>
              <a:rPr lang="en-US" sz="1150" dirty="0">
                <a:solidFill>
                  <a:srgbClr val="F7C87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</a:t>
            </a:r>
            <a:pPr indent="0" marL="0">
              <a:buNone/>
            </a:pPr>
            <a:r>
              <a:rPr lang="en-US" sz="1150" dirty="0">
                <a:solidFill>
                  <a:srgbClr val="BDBDB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; </a:t>
            </a:r>
            <a:pPr indent="0" marL="0">
              <a:buNone/>
            </a:pPr>
            <a:r>
              <a:rPr lang="en-US" sz="1150" dirty="0">
                <a:solidFill>
                  <a:srgbClr val="D9D9D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 </a:t>
            </a:r>
            <a:pPr indent="0" marL="0">
              <a:buNone/>
            </a:pPr>
            <a:r>
              <a:rPr lang="en-US" sz="1150" dirty="0">
                <a:solidFill>
                  <a:srgbClr val="BDBDB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&lt; </a:t>
            </a:r>
            <a:pPr indent="0" marL="0">
              <a:buNone/>
            </a:pPr>
            <a:r>
              <a:rPr lang="en-US" sz="1150" dirty="0">
                <a:solidFill>
                  <a:srgbClr val="D9D9D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times</a:t>
            </a:r>
            <a:pPr indent="0" marL="0">
              <a:buNone/>
            </a:pPr>
            <a:r>
              <a:rPr lang="en-US" sz="1150" dirty="0">
                <a:solidFill>
                  <a:srgbClr val="BDBDB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; </a:t>
            </a:r>
            <a:pPr indent="0" marL="0">
              <a:buNone/>
            </a:pPr>
            <a:r>
              <a:rPr lang="en-US" sz="1150" dirty="0">
                <a:solidFill>
                  <a:srgbClr val="D9D9D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</a:t>
            </a:r>
            <a:pPr indent="0" marL="0">
              <a:buNone/>
            </a:pPr>
            <a:r>
              <a:rPr lang="en-US" sz="1150" dirty="0">
                <a:solidFill>
                  <a:srgbClr val="BDBDB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++) {</a:t>
            </a:r>
            <a:endParaRPr lang="en-US" sz="1150" dirty="0"/>
          </a:p>
        </p:txBody>
      </p:sp>
      <p:sp>
        <p:nvSpPr>
          <p:cNvPr id="22" name="Shape 19"/>
          <p:cNvSpPr/>
          <p:nvPr/>
        </p:nvSpPr>
        <p:spPr>
          <a:xfrm>
            <a:off x="457200" y="2538476"/>
            <a:ext cx="4754880" cy="198628"/>
          </a:xfrm>
          <a:prstGeom prst="rect">
            <a:avLst/>
          </a:prstGeom>
          <a:solidFill>
            <a:srgbClr val="3E5250"/>
          </a:solidFill>
          <a:ln w="12700">
            <a:solidFill>
              <a:srgbClr val="3E5250"/>
            </a:solidFill>
            <a:prstDash val="solid"/>
          </a:ln>
        </p:spPr>
      </p:sp>
      <p:sp>
        <p:nvSpPr>
          <p:cNvPr id="23" name="Text 20"/>
          <p:cNvSpPr txBox="1"/>
          <p:nvPr/>
        </p:nvSpPr>
        <p:spPr>
          <a:xfrm>
            <a:off x="502920" y="2538476"/>
            <a:ext cx="228597" cy="1986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lnSpc>
                <a:spcPct val="115000"/>
              </a:lnSpc>
              <a:buNone/>
            </a:pPr>
            <a:r>
              <a:rPr lang="en-US" sz="1050" b="1" dirty="0">
                <a:solidFill>
                  <a:srgbClr val="40E0D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6</a:t>
            </a:r>
            <a:endParaRPr lang="en-US" sz="1050" dirty="0"/>
          </a:p>
        </p:txBody>
      </p:sp>
      <p:sp>
        <p:nvSpPr>
          <p:cNvPr id="24" name="Text 21"/>
          <p:cNvSpPr txBox="1"/>
          <p:nvPr/>
        </p:nvSpPr>
        <p:spPr>
          <a:xfrm>
            <a:off x="856016" y="2538476"/>
            <a:ext cx="4273768" cy="1986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D9D9D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</a:t>
            </a:r>
            <a:pPr indent="0" marL="0">
              <a:buNone/>
            </a:pPr>
            <a:r>
              <a:rPr lang="en-US" sz="1150" b="1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digitalWrite</a:t>
            </a:r>
            <a:pPr indent="0" marL="0">
              <a:buNone/>
            </a:pPr>
            <a:r>
              <a:rPr lang="en-US" sz="1150" dirty="0">
                <a:solidFill>
                  <a:srgbClr val="BDBDB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(</a:t>
            </a:r>
            <a:pPr indent="0" marL="0">
              <a:buNone/>
            </a:pPr>
            <a:r>
              <a:rPr lang="en-US" sz="1150" dirty="0">
                <a:solidFill>
                  <a:srgbClr val="D9D9D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ledPin</a:t>
            </a:r>
            <a:pPr indent="0" marL="0">
              <a:buNone/>
            </a:pPr>
            <a:r>
              <a:rPr lang="en-US" sz="1150" dirty="0">
                <a:solidFill>
                  <a:srgbClr val="BDBDB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, </a:t>
            </a:r>
            <a:pPr indent="0" marL="0">
              <a:buNone/>
            </a:pPr>
            <a:r>
              <a:rPr lang="en-US" sz="1150" dirty="0">
                <a:solidFill>
                  <a:srgbClr val="F7C87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HIGH</a:t>
            </a:r>
            <a:pPr indent="0" marL="0">
              <a:buNone/>
            </a:pPr>
            <a:r>
              <a:rPr lang="en-US" sz="1150" dirty="0">
                <a:solidFill>
                  <a:srgbClr val="BDBDB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);</a:t>
            </a:r>
            <a:endParaRPr lang="en-US" sz="1150" dirty="0"/>
          </a:p>
        </p:txBody>
      </p:sp>
      <p:sp>
        <p:nvSpPr>
          <p:cNvPr id="25" name="Text 22"/>
          <p:cNvSpPr txBox="1"/>
          <p:nvPr/>
        </p:nvSpPr>
        <p:spPr>
          <a:xfrm>
            <a:off x="502920" y="2737104"/>
            <a:ext cx="228597" cy="1986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lnSpc>
                <a:spcPct val="115000"/>
              </a:lnSpc>
              <a:buNone/>
            </a:pPr>
            <a:r>
              <a:rPr lang="en-US" sz="1050" dirty="0">
                <a:solidFill>
                  <a:srgbClr val="7A7A7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7</a:t>
            </a:r>
            <a:endParaRPr lang="en-US" sz="1050" dirty="0"/>
          </a:p>
        </p:txBody>
      </p:sp>
      <p:sp>
        <p:nvSpPr>
          <p:cNvPr id="26" name="Text 23"/>
          <p:cNvSpPr txBox="1"/>
          <p:nvPr/>
        </p:nvSpPr>
        <p:spPr>
          <a:xfrm>
            <a:off x="856016" y="2737104"/>
            <a:ext cx="4273768" cy="1986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D9D9D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</a:t>
            </a:r>
            <a:pPr indent="0" marL="0">
              <a:buNone/>
            </a:pPr>
            <a:r>
              <a:rPr lang="en-US" sz="1150" b="1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delay</a:t>
            </a:r>
            <a:pPr indent="0" marL="0">
              <a:buNone/>
            </a:pPr>
            <a:r>
              <a:rPr lang="en-US" sz="1150" dirty="0">
                <a:solidFill>
                  <a:srgbClr val="BDBDB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(</a:t>
            </a:r>
            <a:pPr indent="0" marL="0">
              <a:buNone/>
            </a:pPr>
            <a:r>
              <a:rPr lang="en-US" sz="1150" dirty="0">
                <a:solidFill>
                  <a:srgbClr val="D9D9D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ms</a:t>
            </a:r>
            <a:pPr indent="0" marL="0">
              <a:buNone/>
            </a:pPr>
            <a:r>
              <a:rPr lang="en-US" sz="1150" dirty="0">
                <a:solidFill>
                  <a:srgbClr val="BDBDB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);</a:t>
            </a:r>
            <a:endParaRPr lang="en-US" sz="1150" dirty="0"/>
          </a:p>
        </p:txBody>
      </p:sp>
      <p:sp>
        <p:nvSpPr>
          <p:cNvPr id="27" name="Text 24"/>
          <p:cNvSpPr txBox="1"/>
          <p:nvPr/>
        </p:nvSpPr>
        <p:spPr>
          <a:xfrm>
            <a:off x="502920" y="2935732"/>
            <a:ext cx="228597" cy="1986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lnSpc>
                <a:spcPct val="115000"/>
              </a:lnSpc>
              <a:buNone/>
            </a:pPr>
            <a:r>
              <a:rPr lang="en-US" sz="1050" dirty="0">
                <a:solidFill>
                  <a:srgbClr val="7A7A7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8</a:t>
            </a:r>
            <a:endParaRPr lang="en-US" sz="1050" dirty="0"/>
          </a:p>
        </p:txBody>
      </p:sp>
      <p:sp>
        <p:nvSpPr>
          <p:cNvPr id="28" name="Text 25"/>
          <p:cNvSpPr txBox="1"/>
          <p:nvPr/>
        </p:nvSpPr>
        <p:spPr>
          <a:xfrm>
            <a:off x="856016" y="2935732"/>
            <a:ext cx="4273768" cy="1986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D9D9D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</a:t>
            </a:r>
            <a:pPr indent="0" marL="0">
              <a:buNone/>
            </a:pPr>
            <a:r>
              <a:rPr lang="en-US" sz="1150" b="1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digitalWrite</a:t>
            </a:r>
            <a:pPr indent="0" marL="0">
              <a:buNone/>
            </a:pPr>
            <a:r>
              <a:rPr lang="en-US" sz="1150" dirty="0">
                <a:solidFill>
                  <a:srgbClr val="BDBDB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(</a:t>
            </a:r>
            <a:pPr indent="0" marL="0">
              <a:buNone/>
            </a:pPr>
            <a:r>
              <a:rPr lang="en-US" sz="1150" dirty="0">
                <a:solidFill>
                  <a:srgbClr val="D9D9D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ledPin</a:t>
            </a:r>
            <a:pPr indent="0" marL="0">
              <a:buNone/>
            </a:pPr>
            <a:r>
              <a:rPr lang="en-US" sz="1150" dirty="0">
                <a:solidFill>
                  <a:srgbClr val="BDBDB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, </a:t>
            </a:r>
            <a:pPr indent="0" marL="0">
              <a:buNone/>
            </a:pPr>
            <a:r>
              <a:rPr lang="en-US" sz="1150" dirty="0">
                <a:solidFill>
                  <a:srgbClr val="F7C87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LOW</a:t>
            </a:r>
            <a:pPr indent="0" marL="0">
              <a:buNone/>
            </a:pPr>
            <a:r>
              <a:rPr lang="en-US" sz="1150" dirty="0">
                <a:solidFill>
                  <a:srgbClr val="BDBDB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);</a:t>
            </a:r>
            <a:endParaRPr lang="en-US" sz="1150" dirty="0"/>
          </a:p>
        </p:txBody>
      </p:sp>
      <p:sp>
        <p:nvSpPr>
          <p:cNvPr id="29" name="Text 26"/>
          <p:cNvSpPr txBox="1"/>
          <p:nvPr/>
        </p:nvSpPr>
        <p:spPr>
          <a:xfrm>
            <a:off x="502920" y="3134360"/>
            <a:ext cx="228597" cy="1986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lnSpc>
                <a:spcPct val="115000"/>
              </a:lnSpc>
              <a:buNone/>
            </a:pPr>
            <a:r>
              <a:rPr lang="en-US" sz="1050" dirty="0">
                <a:solidFill>
                  <a:srgbClr val="7A7A7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9</a:t>
            </a:r>
            <a:endParaRPr lang="en-US" sz="1050" dirty="0"/>
          </a:p>
        </p:txBody>
      </p:sp>
      <p:sp>
        <p:nvSpPr>
          <p:cNvPr id="30" name="Text 27"/>
          <p:cNvSpPr txBox="1"/>
          <p:nvPr/>
        </p:nvSpPr>
        <p:spPr>
          <a:xfrm>
            <a:off x="856016" y="3134360"/>
            <a:ext cx="4273768" cy="1986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D9D9D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</a:t>
            </a:r>
            <a:pPr indent="0" marL="0">
              <a:buNone/>
            </a:pPr>
            <a:r>
              <a:rPr lang="en-US" sz="1150" b="1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delay</a:t>
            </a:r>
            <a:pPr indent="0" marL="0">
              <a:buNone/>
            </a:pPr>
            <a:r>
              <a:rPr lang="en-US" sz="1150" dirty="0">
                <a:solidFill>
                  <a:srgbClr val="BDBDB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(</a:t>
            </a:r>
            <a:pPr indent="0" marL="0">
              <a:buNone/>
            </a:pPr>
            <a:r>
              <a:rPr lang="en-US" sz="1150" dirty="0">
                <a:solidFill>
                  <a:srgbClr val="D9D9D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ms</a:t>
            </a:r>
            <a:pPr indent="0" marL="0">
              <a:buNone/>
            </a:pPr>
            <a:r>
              <a:rPr lang="en-US" sz="1150" dirty="0">
                <a:solidFill>
                  <a:srgbClr val="BDBDB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);</a:t>
            </a:r>
            <a:endParaRPr lang="en-US" sz="1150" dirty="0"/>
          </a:p>
        </p:txBody>
      </p:sp>
      <p:sp>
        <p:nvSpPr>
          <p:cNvPr id="31" name="Text 28"/>
          <p:cNvSpPr txBox="1"/>
          <p:nvPr/>
        </p:nvSpPr>
        <p:spPr>
          <a:xfrm>
            <a:off x="502920" y="3332988"/>
            <a:ext cx="228597" cy="1986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lnSpc>
                <a:spcPct val="115000"/>
              </a:lnSpc>
              <a:buNone/>
            </a:pPr>
            <a:r>
              <a:rPr lang="en-US" sz="1050" dirty="0">
                <a:solidFill>
                  <a:srgbClr val="7A7A7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10</a:t>
            </a:r>
            <a:endParaRPr lang="en-US" sz="1050" dirty="0"/>
          </a:p>
        </p:txBody>
      </p:sp>
      <p:sp>
        <p:nvSpPr>
          <p:cNvPr id="32" name="Text 29"/>
          <p:cNvSpPr txBox="1"/>
          <p:nvPr/>
        </p:nvSpPr>
        <p:spPr>
          <a:xfrm>
            <a:off x="856016" y="3332988"/>
            <a:ext cx="4273768" cy="1986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D9D9D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</a:t>
            </a:r>
            <a:pPr indent="0" marL="0">
              <a:buNone/>
            </a:pPr>
            <a:r>
              <a:rPr lang="en-US" sz="1150" dirty="0">
                <a:solidFill>
                  <a:srgbClr val="BDBDB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}</a:t>
            </a:r>
            <a:endParaRPr lang="en-US" sz="1150" dirty="0"/>
          </a:p>
        </p:txBody>
      </p:sp>
      <p:sp>
        <p:nvSpPr>
          <p:cNvPr id="33" name="Text 30"/>
          <p:cNvSpPr txBox="1"/>
          <p:nvPr/>
        </p:nvSpPr>
        <p:spPr>
          <a:xfrm>
            <a:off x="502920" y="3531616"/>
            <a:ext cx="228597" cy="1986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lnSpc>
                <a:spcPct val="115000"/>
              </a:lnSpc>
              <a:buNone/>
            </a:pPr>
            <a:r>
              <a:rPr lang="en-US" sz="1050" dirty="0">
                <a:solidFill>
                  <a:srgbClr val="7A7A7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11</a:t>
            </a:r>
            <a:endParaRPr lang="en-US" sz="1050" dirty="0"/>
          </a:p>
        </p:txBody>
      </p:sp>
      <p:sp>
        <p:nvSpPr>
          <p:cNvPr id="34" name="Text 31"/>
          <p:cNvSpPr txBox="1"/>
          <p:nvPr/>
        </p:nvSpPr>
        <p:spPr>
          <a:xfrm>
            <a:off x="856016" y="3531616"/>
            <a:ext cx="4273768" cy="1986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BDBDB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}</a:t>
            </a:r>
            <a:endParaRPr lang="en-US" sz="1150" dirty="0"/>
          </a:p>
        </p:txBody>
      </p:sp>
      <p:sp>
        <p:nvSpPr>
          <p:cNvPr id="35" name="Text 32"/>
          <p:cNvSpPr txBox="1"/>
          <p:nvPr/>
        </p:nvSpPr>
        <p:spPr>
          <a:xfrm>
            <a:off x="5532120" y="1234440"/>
            <a:ext cx="3200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1300" b="1" dirty="0">
                <a:solidFill>
                  <a:srgbClr val="2D2D2D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逐行看懂</a:t>
            </a:r>
            <a:endParaRPr lang="en-US" sz="1300" dirty="0"/>
          </a:p>
        </p:txBody>
      </p:sp>
      <p:sp>
        <p:nvSpPr>
          <p:cNvPr id="36" name="Shape 33"/>
          <p:cNvSpPr/>
          <p:nvPr/>
        </p:nvSpPr>
        <p:spPr>
          <a:xfrm>
            <a:off x="5532120" y="1932178"/>
            <a:ext cx="578612" cy="219456"/>
          </a:xfrm>
          <a:prstGeom prst="roundRect">
            <a:avLst>
              <a:gd name="adj" fmla="val 50000"/>
            </a:avLst>
          </a:prstGeom>
          <a:solidFill>
            <a:srgbClr val="40E0D0"/>
          </a:solidFill>
          <a:ln w="12700">
            <a:solidFill>
              <a:srgbClr val="40E0D0"/>
            </a:solidFill>
            <a:prstDash val="solid"/>
          </a:ln>
        </p:spPr>
      </p:sp>
      <p:sp>
        <p:nvSpPr>
          <p:cNvPr id="37" name="Text 34"/>
          <p:cNvSpPr txBox="1"/>
          <p:nvPr/>
        </p:nvSpPr>
        <p:spPr>
          <a:xfrm>
            <a:off x="5532120" y="1932178"/>
            <a:ext cx="578612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15000"/>
              </a:lnSpc>
              <a:buNone/>
            </a:pPr>
            <a:r>
              <a:rPr lang="en-US" sz="950" b="1" dirty="0">
                <a:solidFill>
                  <a:srgbClr val="2D2D2D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第 3 行</a:t>
            </a:r>
            <a:endParaRPr lang="en-US" sz="950" dirty="0"/>
          </a:p>
        </p:txBody>
      </p:sp>
      <p:sp>
        <p:nvSpPr>
          <p:cNvPr id="38" name="Text 35"/>
          <p:cNvSpPr txBox="1"/>
          <p:nvPr/>
        </p:nvSpPr>
        <p:spPr>
          <a:xfrm>
            <a:off x="6202172" y="1923034"/>
            <a:ext cx="2530348" cy="41757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0000"/>
              </a:lnSpc>
              <a:buNone/>
            </a:pPr>
            <a:r>
              <a:rPr lang="en-US" sz="1200" dirty="0">
                <a:solidFill>
                  <a:srgbClr val="2D2D2D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// 开头是注释：说明这个函数做什么</a:t>
            </a:r>
            <a:endParaRPr lang="en-US" sz="1200" dirty="0"/>
          </a:p>
        </p:txBody>
      </p:sp>
      <p:sp>
        <p:nvSpPr>
          <p:cNvPr id="39" name="Shape 36"/>
          <p:cNvSpPr/>
          <p:nvPr/>
        </p:nvSpPr>
        <p:spPr>
          <a:xfrm>
            <a:off x="5532120" y="2441194"/>
            <a:ext cx="578612" cy="219456"/>
          </a:xfrm>
          <a:prstGeom prst="roundRect">
            <a:avLst>
              <a:gd name="adj" fmla="val 50000"/>
            </a:avLst>
          </a:prstGeom>
          <a:solidFill>
            <a:srgbClr val="40E0D0"/>
          </a:solidFill>
          <a:ln w="12700">
            <a:solidFill>
              <a:srgbClr val="40E0D0"/>
            </a:solidFill>
            <a:prstDash val="solid"/>
          </a:ln>
        </p:spPr>
      </p:sp>
      <p:sp>
        <p:nvSpPr>
          <p:cNvPr id="40" name="Text 37"/>
          <p:cNvSpPr txBox="1"/>
          <p:nvPr/>
        </p:nvSpPr>
        <p:spPr>
          <a:xfrm>
            <a:off x="5532120" y="2441194"/>
            <a:ext cx="578612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15000"/>
              </a:lnSpc>
              <a:buNone/>
            </a:pPr>
            <a:r>
              <a:rPr lang="en-US" sz="950" b="1" dirty="0">
                <a:solidFill>
                  <a:srgbClr val="2D2D2D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第 4 行</a:t>
            </a:r>
            <a:endParaRPr lang="en-US" sz="950" dirty="0"/>
          </a:p>
        </p:txBody>
      </p:sp>
      <p:sp>
        <p:nvSpPr>
          <p:cNvPr id="41" name="Text 38"/>
          <p:cNvSpPr txBox="1"/>
          <p:nvPr/>
        </p:nvSpPr>
        <p:spPr>
          <a:xfrm>
            <a:off x="6202172" y="2432050"/>
            <a:ext cx="253034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0000"/>
              </a:lnSpc>
              <a:buNone/>
            </a:pPr>
            <a:r>
              <a:rPr lang="en-US" sz="1200" dirty="0">
                <a:solidFill>
                  <a:srgbClr val="2D2D2D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两个参数：闪几次、间隔多久</a:t>
            </a:r>
            <a:endParaRPr lang="en-US" sz="1200" dirty="0"/>
          </a:p>
        </p:txBody>
      </p:sp>
      <p:sp>
        <p:nvSpPr>
          <p:cNvPr id="42" name="Shape 39"/>
          <p:cNvSpPr/>
          <p:nvPr/>
        </p:nvSpPr>
        <p:spPr>
          <a:xfrm>
            <a:off x="5532120" y="2788666"/>
            <a:ext cx="578612" cy="219456"/>
          </a:xfrm>
          <a:prstGeom prst="roundRect">
            <a:avLst>
              <a:gd name="adj" fmla="val 50000"/>
            </a:avLst>
          </a:prstGeom>
          <a:solidFill>
            <a:srgbClr val="40E0D0"/>
          </a:solidFill>
          <a:ln w="12700">
            <a:solidFill>
              <a:srgbClr val="40E0D0"/>
            </a:solidFill>
            <a:prstDash val="solid"/>
          </a:ln>
        </p:spPr>
      </p:sp>
      <p:sp>
        <p:nvSpPr>
          <p:cNvPr id="43" name="Text 40"/>
          <p:cNvSpPr txBox="1"/>
          <p:nvPr/>
        </p:nvSpPr>
        <p:spPr>
          <a:xfrm>
            <a:off x="5532120" y="2788666"/>
            <a:ext cx="578612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15000"/>
              </a:lnSpc>
              <a:buNone/>
            </a:pPr>
            <a:r>
              <a:rPr lang="en-US" sz="950" b="1" dirty="0">
                <a:solidFill>
                  <a:srgbClr val="2D2D2D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第 5 行</a:t>
            </a:r>
            <a:endParaRPr lang="en-US" sz="950" dirty="0"/>
          </a:p>
        </p:txBody>
      </p:sp>
      <p:sp>
        <p:nvSpPr>
          <p:cNvPr id="44" name="Text 41"/>
          <p:cNvSpPr txBox="1"/>
          <p:nvPr/>
        </p:nvSpPr>
        <p:spPr>
          <a:xfrm>
            <a:off x="6202172" y="2779522"/>
            <a:ext cx="253034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0000"/>
              </a:lnSpc>
              <a:buNone/>
            </a:pPr>
            <a:r>
              <a:rPr lang="en-US" sz="1200" dirty="0">
                <a:solidFill>
                  <a:srgbClr val="2D2D2D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参数当变量用：循环 times 圈</a:t>
            </a:r>
            <a:endParaRPr lang="en-US" sz="1200" dirty="0"/>
          </a:p>
        </p:txBody>
      </p:sp>
      <p:sp>
        <p:nvSpPr>
          <p:cNvPr id="45" name="Shape 42"/>
          <p:cNvSpPr/>
          <p:nvPr/>
        </p:nvSpPr>
        <p:spPr>
          <a:xfrm>
            <a:off x="5532120" y="3136138"/>
            <a:ext cx="723392" cy="219456"/>
          </a:xfrm>
          <a:prstGeom prst="roundRect">
            <a:avLst>
              <a:gd name="adj" fmla="val 50000"/>
            </a:avLst>
          </a:prstGeom>
          <a:solidFill>
            <a:srgbClr val="40E0D0"/>
          </a:solidFill>
          <a:ln w="12700">
            <a:solidFill>
              <a:srgbClr val="40E0D0"/>
            </a:solidFill>
            <a:prstDash val="solid"/>
          </a:ln>
        </p:spPr>
      </p:sp>
      <p:sp>
        <p:nvSpPr>
          <p:cNvPr id="46" name="Text 43"/>
          <p:cNvSpPr txBox="1"/>
          <p:nvPr/>
        </p:nvSpPr>
        <p:spPr>
          <a:xfrm>
            <a:off x="5532120" y="3136138"/>
            <a:ext cx="723392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15000"/>
              </a:lnSpc>
              <a:buNone/>
            </a:pPr>
            <a:r>
              <a:rPr lang="en-US" sz="950" b="1" dirty="0">
                <a:solidFill>
                  <a:srgbClr val="2D2D2D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第 6–9 行</a:t>
            </a:r>
            <a:endParaRPr lang="en-US" sz="950" dirty="0"/>
          </a:p>
        </p:txBody>
      </p:sp>
      <p:sp>
        <p:nvSpPr>
          <p:cNvPr id="47" name="Text 44"/>
          <p:cNvSpPr txBox="1"/>
          <p:nvPr/>
        </p:nvSpPr>
        <p:spPr>
          <a:xfrm>
            <a:off x="6346952" y="3126994"/>
            <a:ext cx="238556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0000"/>
              </a:lnSpc>
              <a:buNone/>
            </a:pPr>
            <a:r>
              <a:rPr lang="en-US" sz="1200" dirty="0">
                <a:solidFill>
                  <a:srgbClr val="2D2D2D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亮 → 等 → 灭 → 等，就是闪一下</a:t>
            </a:r>
            <a:endParaRPr lang="en-US" sz="1200" dirty="0"/>
          </a:p>
        </p:txBody>
      </p:sp>
      <p:sp>
        <p:nvSpPr>
          <p:cNvPr id="48" name="Shape 45"/>
          <p:cNvSpPr/>
          <p:nvPr/>
        </p:nvSpPr>
        <p:spPr>
          <a:xfrm>
            <a:off x="411480" y="4069080"/>
            <a:ext cx="4846320" cy="502920"/>
          </a:xfrm>
          <a:prstGeom prst="roundRect">
            <a:avLst>
              <a:gd name="adj" fmla="val 21818"/>
            </a:avLst>
          </a:prstGeom>
          <a:solidFill>
            <a:srgbClr val="E3FAF7"/>
          </a:solidFill>
          <a:ln w="12700">
            <a:solidFill>
              <a:srgbClr val="E3FAF7"/>
            </a:solidFill>
            <a:prstDash val="solid"/>
          </a:ln>
        </p:spPr>
      </p:sp>
      <p:sp>
        <p:nvSpPr>
          <p:cNvPr id="49" name="Shape 46"/>
          <p:cNvSpPr/>
          <p:nvPr/>
        </p:nvSpPr>
        <p:spPr>
          <a:xfrm>
            <a:off x="539496" y="4165092"/>
            <a:ext cx="310896" cy="310896"/>
          </a:xfrm>
          <a:prstGeom prst="ellipse">
            <a:avLst/>
          </a:prstGeom>
          <a:solidFill>
            <a:srgbClr val="40E0D0"/>
          </a:solidFill>
          <a:ln w="12700">
            <a:solidFill>
              <a:srgbClr val="40E0D0"/>
            </a:solidFill>
            <a:prstDash val="solid"/>
          </a:ln>
        </p:spPr>
      </p:sp>
      <p:pic>
        <p:nvPicPr>
          <p:cNvPr id="50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14111" y="4239707"/>
            <a:ext cx="161666" cy="161666"/>
          </a:xfrm>
          <a:prstGeom prst="rect">
            <a:avLst/>
          </a:prstGeom>
        </p:spPr>
      </p:pic>
      <p:sp>
        <p:nvSpPr>
          <p:cNvPr id="51" name="Text 47"/>
          <p:cNvSpPr txBox="1"/>
          <p:nvPr/>
        </p:nvSpPr>
        <p:spPr>
          <a:xfrm>
            <a:off x="960120" y="4069080"/>
            <a:ext cx="4169664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1200" b="1" dirty="0">
                <a:solidFill>
                  <a:srgbClr val="2D2D2D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定义 ≠ 执行：</a:t>
            </a:r>
            <a:pPr algn="l" indent="0" marL="0">
              <a:lnSpc>
                <a:spcPct val="115000"/>
              </a:lnSpc>
              <a:buNone/>
            </a:pPr>
            <a:r>
              <a:rPr lang="en-US" sz="1200" dirty="0">
                <a:solidFill>
                  <a:srgbClr val="2D2D2D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函数要在 loop() 里“调用”，</a:t>
            </a:r>
            <a:endParaRPr lang="en-US" sz="1200" dirty="0"/>
          </a:p>
          <a:p>
            <a:pPr algn="l" indent="0" marL="0">
              <a:lnSpc>
                <a:spcPct val="115000"/>
              </a:lnSpc>
              <a:buNone/>
            </a:pPr>
            <a:r>
              <a:rPr lang="en-US" sz="1200" dirty="0">
                <a:solidFill>
                  <a:srgbClr val="2D2D2D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才会真的闪起来（见下一页）。</a:t>
            </a:r>
            <a:endParaRPr lang="en-US" sz="12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339328" y="4736592"/>
            <a:ext cx="393192" cy="219456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 lIns="0" tIns="0" rIns="0" bIns="0" anchor="ctr"/>
          <a:lstStyle>
            <a:lvl1pPr>
              <a:defRPr sz="800">
                <a:solidFill>
                  <a:srgbClr val="6B6B6B"/>
                </a:solidFill>
                <a:latin typeface="微软雅黑"/>
                <a:ea typeface="微软雅黑"/>
                <a:cs typeface="微软雅黑"/>
              </a:defRPr>
            </a:lvl1pPr>
          </a:lstStyle>
          <a:p>
            <a:pPr algn="r"/>
            <a:fld id="{F7021451-1387-4CA6-816F-3879F97B5CBC}" type="slidenum">
              <a:rPr b="0" lang="en-US"/>
              <a:t>28</a:t>
            </a:fld>
            <a:endParaRPr lang="en-US"/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1"/>
          <p:cNvSpPr/>
          <p:nvPr>
            <p:ph idx="102" type="body" hasCustomPrompt="1"/>
          </p:nvPr>
        </p:nvSpPr>
        <p:spPr>
          <a:xfrm>
            <a:off x="4572000" y="4736592"/>
            <a:ext cx="370332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2D2D2D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把代码打包</a:t>
            </a:r>
            <a:endParaRPr lang="en-US" sz="800" dirty="0"/>
          </a:p>
        </p:txBody>
      </p:sp>
      <p:sp>
        <p:nvSpPr>
          <p:cNvPr id="3" name="Text 1"/>
          <p:cNvSpPr/>
          <p:nvPr>
            <p:ph idx="103" type="title" hasCustomPrompt="1"/>
          </p:nvPr>
        </p:nvSpPr>
        <p:spPr>
          <a:xfrm>
            <a:off x="411480" y="274320"/>
            <a:ext cx="83210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400" dirty="0">
                <a:solidFill>
                  <a:srgbClr val="2D2D2D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示例：自己写一个 blink 函数（2/2）</a:t>
            </a:r>
            <a:endParaRPr lang="en-US" sz="2400" dirty="0"/>
          </a:p>
        </p:txBody>
      </p:sp>
      <p:sp>
        <p:nvSpPr>
          <p:cNvPr id="4" name="Text 1"/>
          <p:cNvSpPr/>
          <p:nvPr>
            <p:ph idx="104" type="body" hasCustomPrompt="1"/>
          </p:nvPr>
        </p:nvSpPr>
        <p:spPr>
          <a:xfrm>
            <a:off x="411480" y="786384"/>
            <a:ext cx="83210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6B6B6B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在 loop() 里调用：同一个函数，传不同的参数，就能快闪 3 下、慢闪 1 下。</a:t>
            </a:r>
            <a:endParaRPr lang="en-US" sz="1200" dirty="0"/>
          </a:p>
        </p:txBody>
      </p:sp>
      <p:sp>
        <p:nvSpPr>
          <p:cNvPr id="6" name="Shape 3"/>
          <p:cNvSpPr/>
          <p:nvPr/>
        </p:nvSpPr>
        <p:spPr>
          <a:xfrm>
            <a:off x="411480" y="1234440"/>
            <a:ext cx="4846320" cy="2606040"/>
          </a:xfrm>
          <a:prstGeom prst="roundRect">
            <a:avLst>
              <a:gd name="adj" fmla="val 3509"/>
            </a:avLst>
          </a:prstGeom>
          <a:solidFill>
            <a:srgbClr val="2D2D2D"/>
          </a:solidFill>
          <a:ln w="12700">
            <a:solidFill>
              <a:srgbClr val="2D2D2D"/>
            </a:solidFill>
            <a:prstDash val="solid"/>
          </a:ln>
        </p:spPr>
      </p:sp>
      <p:sp>
        <p:nvSpPr>
          <p:cNvPr id="7" name="Text 4"/>
          <p:cNvSpPr txBox="1"/>
          <p:nvPr/>
        </p:nvSpPr>
        <p:spPr>
          <a:xfrm>
            <a:off x="539496" y="1298448"/>
            <a:ext cx="2907792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1000" dirty="0">
                <a:solidFill>
                  <a:srgbClr val="9A9A9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function_demo.ino</a:t>
            </a:r>
            <a:endParaRPr lang="en-US" sz="1000" dirty="0"/>
          </a:p>
        </p:txBody>
      </p:sp>
      <p:sp>
        <p:nvSpPr>
          <p:cNvPr id="8" name="Text 5"/>
          <p:cNvSpPr txBox="1"/>
          <p:nvPr/>
        </p:nvSpPr>
        <p:spPr>
          <a:xfrm>
            <a:off x="2350008" y="1298448"/>
            <a:ext cx="277977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lnSpc>
                <a:spcPct val="115000"/>
              </a:lnSpc>
              <a:buNone/>
            </a:pPr>
            <a:r>
              <a:rPr lang="en-US" sz="1000" dirty="0">
                <a:solidFill>
                  <a:srgbClr val="9A9A9A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第 12–22 行</a:t>
            </a:r>
            <a:endParaRPr lang="en-US" sz="1000" dirty="0"/>
          </a:p>
        </p:txBody>
      </p:sp>
      <p:sp>
        <p:nvSpPr>
          <p:cNvPr id="9" name="Text 6"/>
          <p:cNvSpPr txBox="1"/>
          <p:nvPr/>
        </p:nvSpPr>
        <p:spPr>
          <a:xfrm>
            <a:off x="502920" y="1545336"/>
            <a:ext cx="228597" cy="1986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lnSpc>
                <a:spcPct val="115000"/>
              </a:lnSpc>
              <a:buNone/>
            </a:pPr>
            <a:r>
              <a:rPr lang="en-US" sz="1050" dirty="0">
                <a:solidFill>
                  <a:srgbClr val="7A7A7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12</a:t>
            </a:r>
            <a:endParaRPr lang="en-US" sz="1050" dirty="0"/>
          </a:p>
        </p:txBody>
      </p:sp>
      <p:sp>
        <p:nvSpPr>
          <p:cNvPr id="10" name="Text 7"/>
          <p:cNvSpPr txBox="1"/>
          <p:nvPr/>
        </p:nvSpPr>
        <p:spPr>
          <a:xfrm>
            <a:off x="856016" y="1545336"/>
            <a:ext cx="4273768" cy="1986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D9D9D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endParaRPr lang="en-US" sz="1150" dirty="0"/>
          </a:p>
        </p:txBody>
      </p:sp>
      <p:sp>
        <p:nvSpPr>
          <p:cNvPr id="11" name="Text 8"/>
          <p:cNvSpPr txBox="1"/>
          <p:nvPr/>
        </p:nvSpPr>
        <p:spPr>
          <a:xfrm>
            <a:off x="502920" y="1743964"/>
            <a:ext cx="228597" cy="1986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lnSpc>
                <a:spcPct val="115000"/>
              </a:lnSpc>
              <a:buNone/>
            </a:pPr>
            <a:r>
              <a:rPr lang="en-US" sz="1050" dirty="0">
                <a:solidFill>
                  <a:srgbClr val="7A7A7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13</a:t>
            </a:r>
            <a:endParaRPr lang="en-US" sz="1050" dirty="0"/>
          </a:p>
        </p:txBody>
      </p:sp>
      <p:sp>
        <p:nvSpPr>
          <p:cNvPr id="12" name="Text 9"/>
          <p:cNvSpPr txBox="1"/>
          <p:nvPr/>
        </p:nvSpPr>
        <p:spPr>
          <a:xfrm>
            <a:off x="856016" y="1743964"/>
            <a:ext cx="4273768" cy="1986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40E0D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void </a:t>
            </a:r>
            <a:pPr indent="0" marL="0">
              <a:buNone/>
            </a:pPr>
            <a:r>
              <a:rPr lang="en-US" sz="1150" b="1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setup</a:t>
            </a:r>
            <a:pPr indent="0" marL="0">
              <a:buNone/>
            </a:pPr>
            <a:r>
              <a:rPr lang="en-US" sz="1150" dirty="0">
                <a:solidFill>
                  <a:srgbClr val="BDBDB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() {</a:t>
            </a:r>
            <a:endParaRPr lang="en-US" sz="1150" dirty="0"/>
          </a:p>
        </p:txBody>
      </p:sp>
      <p:sp>
        <p:nvSpPr>
          <p:cNvPr id="13" name="Shape 10"/>
          <p:cNvSpPr/>
          <p:nvPr/>
        </p:nvSpPr>
        <p:spPr>
          <a:xfrm>
            <a:off x="457200" y="1942592"/>
            <a:ext cx="4754880" cy="198628"/>
          </a:xfrm>
          <a:prstGeom prst="rect">
            <a:avLst/>
          </a:prstGeom>
          <a:solidFill>
            <a:srgbClr val="3E5250"/>
          </a:solidFill>
          <a:ln w="12700">
            <a:solidFill>
              <a:srgbClr val="3E5250"/>
            </a:solidFill>
            <a:prstDash val="solid"/>
          </a:ln>
        </p:spPr>
      </p:sp>
      <p:sp>
        <p:nvSpPr>
          <p:cNvPr id="14" name="Text 11"/>
          <p:cNvSpPr txBox="1"/>
          <p:nvPr/>
        </p:nvSpPr>
        <p:spPr>
          <a:xfrm>
            <a:off x="502920" y="1942592"/>
            <a:ext cx="228597" cy="1986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lnSpc>
                <a:spcPct val="115000"/>
              </a:lnSpc>
              <a:buNone/>
            </a:pPr>
            <a:r>
              <a:rPr lang="en-US" sz="1050" b="1" dirty="0">
                <a:solidFill>
                  <a:srgbClr val="40E0D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14</a:t>
            </a:r>
            <a:endParaRPr lang="en-US" sz="1050" dirty="0"/>
          </a:p>
        </p:txBody>
      </p:sp>
      <p:sp>
        <p:nvSpPr>
          <p:cNvPr id="15" name="Text 12"/>
          <p:cNvSpPr txBox="1"/>
          <p:nvPr/>
        </p:nvSpPr>
        <p:spPr>
          <a:xfrm>
            <a:off x="856016" y="1942592"/>
            <a:ext cx="4273768" cy="1986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D9D9D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</a:t>
            </a:r>
            <a:pPr indent="0" marL="0">
              <a:buNone/>
            </a:pPr>
            <a:r>
              <a:rPr lang="en-US" sz="1150" b="1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pinMode</a:t>
            </a:r>
            <a:pPr indent="0" marL="0">
              <a:buNone/>
            </a:pPr>
            <a:r>
              <a:rPr lang="en-US" sz="1150" dirty="0">
                <a:solidFill>
                  <a:srgbClr val="BDBDB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(</a:t>
            </a:r>
            <a:pPr indent="0" marL="0">
              <a:buNone/>
            </a:pPr>
            <a:r>
              <a:rPr lang="en-US" sz="1150" dirty="0">
                <a:solidFill>
                  <a:srgbClr val="D9D9D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ledPin</a:t>
            </a:r>
            <a:pPr indent="0" marL="0">
              <a:buNone/>
            </a:pPr>
            <a:r>
              <a:rPr lang="en-US" sz="1150" dirty="0">
                <a:solidFill>
                  <a:srgbClr val="BDBDB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, </a:t>
            </a:r>
            <a:pPr indent="0" marL="0">
              <a:buNone/>
            </a:pPr>
            <a:r>
              <a:rPr lang="en-US" sz="1150" dirty="0">
                <a:solidFill>
                  <a:srgbClr val="F7C87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OUTPUT</a:t>
            </a:r>
            <a:pPr indent="0" marL="0">
              <a:buNone/>
            </a:pPr>
            <a:r>
              <a:rPr lang="en-US" sz="1150" dirty="0">
                <a:solidFill>
                  <a:srgbClr val="BDBDB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);</a:t>
            </a:r>
            <a:endParaRPr lang="en-US" sz="1150" dirty="0"/>
          </a:p>
        </p:txBody>
      </p:sp>
      <p:sp>
        <p:nvSpPr>
          <p:cNvPr id="16" name="Text 13"/>
          <p:cNvSpPr txBox="1"/>
          <p:nvPr/>
        </p:nvSpPr>
        <p:spPr>
          <a:xfrm>
            <a:off x="502920" y="2141220"/>
            <a:ext cx="228597" cy="1986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lnSpc>
                <a:spcPct val="115000"/>
              </a:lnSpc>
              <a:buNone/>
            </a:pPr>
            <a:r>
              <a:rPr lang="en-US" sz="1050" dirty="0">
                <a:solidFill>
                  <a:srgbClr val="7A7A7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15</a:t>
            </a:r>
            <a:endParaRPr lang="en-US" sz="1050" dirty="0"/>
          </a:p>
        </p:txBody>
      </p:sp>
      <p:sp>
        <p:nvSpPr>
          <p:cNvPr id="17" name="Text 14"/>
          <p:cNvSpPr txBox="1"/>
          <p:nvPr/>
        </p:nvSpPr>
        <p:spPr>
          <a:xfrm>
            <a:off x="856016" y="2141220"/>
            <a:ext cx="4273768" cy="1986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BDBDB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}</a:t>
            </a:r>
            <a:endParaRPr lang="en-US" sz="1150" dirty="0"/>
          </a:p>
        </p:txBody>
      </p:sp>
      <p:sp>
        <p:nvSpPr>
          <p:cNvPr id="18" name="Text 15"/>
          <p:cNvSpPr txBox="1"/>
          <p:nvPr/>
        </p:nvSpPr>
        <p:spPr>
          <a:xfrm>
            <a:off x="502920" y="2339848"/>
            <a:ext cx="228597" cy="1986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lnSpc>
                <a:spcPct val="115000"/>
              </a:lnSpc>
              <a:buNone/>
            </a:pPr>
            <a:r>
              <a:rPr lang="en-US" sz="1050" dirty="0">
                <a:solidFill>
                  <a:srgbClr val="7A7A7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16</a:t>
            </a:r>
            <a:endParaRPr lang="en-US" sz="1050" dirty="0"/>
          </a:p>
        </p:txBody>
      </p:sp>
      <p:sp>
        <p:nvSpPr>
          <p:cNvPr id="19" name="Text 16"/>
          <p:cNvSpPr txBox="1"/>
          <p:nvPr/>
        </p:nvSpPr>
        <p:spPr>
          <a:xfrm>
            <a:off x="856016" y="2339848"/>
            <a:ext cx="4273768" cy="1986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D9D9D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endParaRPr lang="en-US" sz="1150" dirty="0"/>
          </a:p>
        </p:txBody>
      </p:sp>
      <p:sp>
        <p:nvSpPr>
          <p:cNvPr id="20" name="Text 17"/>
          <p:cNvSpPr txBox="1"/>
          <p:nvPr/>
        </p:nvSpPr>
        <p:spPr>
          <a:xfrm>
            <a:off x="502920" y="2538476"/>
            <a:ext cx="228597" cy="1986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lnSpc>
                <a:spcPct val="115000"/>
              </a:lnSpc>
              <a:buNone/>
            </a:pPr>
            <a:r>
              <a:rPr lang="en-US" sz="1050" dirty="0">
                <a:solidFill>
                  <a:srgbClr val="7A7A7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17</a:t>
            </a:r>
            <a:endParaRPr lang="en-US" sz="1050" dirty="0"/>
          </a:p>
        </p:txBody>
      </p:sp>
      <p:sp>
        <p:nvSpPr>
          <p:cNvPr id="21" name="Text 18"/>
          <p:cNvSpPr txBox="1"/>
          <p:nvPr/>
        </p:nvSpPr>
        <p:spPr>
          <a:xfrm>
            <a:off x="856016" y="2538476"/>
            <a:ext cx="4273768" cy="1986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40E0D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void </a:t>
            </a:r>
            <a:pPr indent="0" marL="0">
              <a:buNone/>
            </a:pPr>
            <a:r>
              <a:rPr lang="en-US" sz="1150" b="1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loop</a:t>
            </a:r>
            <a:pPr indent="0" marL="0">
              <a:buNone/>
            </a:pPr>
            <a:r>
              <a:rPr lang="en-US" sz="1150" dirty="0">
                <a:solidFill>
                  <a:srgbClr val="BDBDB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() {</a:t>
            </a:r>
            <a:endParaRPr lang="en-US" sz="1150" dirty="0"/>
          </a:p>
        </p:txBody>
      </p:sp>
      <p:sp>
        <p:nvSpPr>
          <p:cNvPr id="22" name="Shape 19"/>
          <p:cNvSpPr/>
          <p:nvPr/>
        </p:nvSpPr>
        <p:spPr>
          <a:xfrm>
            <a:off x="457200" y="2737104"/>
            <a:ext cx="4754880" cy="198628"/>
          </a:xfrm>
          <a:prstGeom prst="rect">
            <a:avLst/>
          </a:prstGeom>
          <a:solidFill>
            <a:srgbClr val="3E5250"/>
          </a:solidFill>
          <a:ln w="12700">
            <a:solidFill>
              <a:srgbClr val="3E5250"/>
            </a:solidFill>
            <a:prstDash val="solid"/>
          </a:ln>
        </p:spPr>
      </p:sp>
      <p:sp>
        <p:nvSpPr>
          <p:cNvPr id="23" name="Text 20"/>
          <p:cNvSpPr txBox="1"/>
          <p:nvPr/>
        </p:nvSpPr>
        <p:spPr>
          <a:xfrm>
            <a:off x="502920" y="2737104"/>
            <a:ext cx="228597" cy="1986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lnSpc>
                <a:spcPct val="115000"/>
              </a:lnSpc>
              <a:buNone/>
            </a:pPr>
            <a:r>
              <a:rPr lang="en-US" sz="1050" b="1" dirty="0">
                <a:solidFill>
                  <a:srgbClr val="40E0D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18</a:t>
            </a:r>
            <a:endParaRPr lang="en-US" sz="1050" dirty="0"/>
          </a:p>
        </p:txBody>
      </p:sp>
      <p:sp>
        <p:nvSpPr>
          <p:cNvPr id="24" name="Text 21"/>
          <p:cNvSpPr txBox="1"/>
          <p:nvPr/>
        </p:nvSpPr>
        <p:spPr>
          <a:xfrm>
            <a:off x="856016" y="2737104"/>
            <a:ext cx="4273768" cy="1986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D9D9D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blink</a:t>
            </a:r>
            <a:pPr indent="0" marL="0">
              <a:buNone/>
            </a:pPr>
            <a:r>
              <a:rPr lang="en-US" sz="1150" dirty="0">
                <a:solidFill>
                  <a:srgbClr val="BDBDB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(</a:t>
            </a:r>
            <a:pPr indent="0" marL="0">
              <a:buNone/>
            </a:pPr>
            <a:r>
              <a:rPr lang="en-US" sz="1150" dirty="0">
                <a:solidFill>
                  <a:srgbClr val="F7C87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3</a:t>
            </a:r>
            <a:pPr indent="0" marL="0">
              <a:buNone/>
            </a:pPr>
            <a:r>
              <a:rPr lang="en-US" sz="1150" dirty="0">
                <a:solidFill>
                  <a:srgbClr val="BDBDB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, </a:t>
            </a:r>
            <a:pPr indent="0" marL="0">
              <a:buNone/>
            </a:pPr>
            <a:r>
              <a:rPr lang="en-US" sz="1150" dirty="0">
                <a:solidFill>
                  <a:srgbClr val="F7C87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150</a:t>
            </a:r>
            <a:pPr indent="0" marL="0">
              <a:buNone/>
            </a:pPr>
            <a:r>
              <a:rPr lang="en-US" sz="1150" dirty="0">
                <a:solidFill>
                  <a:srgbClr val="BDBDB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);    </a:t>
            </a:r>
            <a:pPr indent="0" marL="0">
              <a:buNone/>
            </a:pPr>
            <a:r>
              <a:rPr lang="en-US" sz="1150" i="1" dirty="0">
                <a:solidFill>
                  <a:srgbClr val="8E8E8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// 快闪 3 下</a:t>
            </a:r>
            <a:endParaRPr lang="en-US" sz="1150" dirty="0"/>
          </a:p>
        </p:txBody>
      </p:sp>
      <p:sp>
        <p:nvSpPr>
          <p:cNvPr id="25" name="Text 22"/>
          <p:cNvSpPr txBox="1"/>
          <p:nvPr/>
        </p:nvSpPr>
        <p:spPr>
          <a:xfrm>
            <a:off x="502920" y="2935732"/>
            <a:ext cx="228597" cy="1986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lnSpc>
                <a:spcPct val="115000"/>
              </a:lnSpc>
              <a:buNone/>
            </a:pPr>
            <a:r>
              <a:rPr lang="en-US" sz="1050" dirty="0">
                <a:solidFill>
                  <a:srgbClr val="7A7A7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19</a:t>
            </a:r>
            <a:endParaRPr lang="en-US" sz="1050" dirty="0"/>
          </a:p>
        </p:txBody>
      </p:sp>
      <p:sp>
        <p:nvSpPr>
          <p:cNvPr id="26" name="Text 23"/>
          <p:cNvSpPr txBox="1"/>
          <p:nvPr/>
        </p:nvSpPr>
        <p:spPr>
          <a:xfrm>
            <a:off x="856016" y="2935732"/>
            <a:ext cx="4273768" cy="1986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D9D9D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</a:t>
            </a:r>
            <a:pPr indent="0" marL="0">
              <a:buNone/>
            </a:pPr>
            <a:r>
              <a:rPr lang="en-US" sz="1150" b="1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delay</a:t>
            </a:r>
            <a:pPr indent="0" marL="0">
              <a:buNone/>
            </a:pPr>
            <a:r>
              <a:rPr lang="en-US" sz="1150" dirty="0">
                <a:solidFill>
                  <a:srgbClr val="BDBDB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(</a:t>
            </a:r>
            <a:pPr indent="0" marL="0">
              <a:buNone/>
            </a:pPr>
            <a:r>
              <a:rPr lang="en-US" sz="1150" dirty="0">
                <a:solidFill>
                  <a:srgbClr val="F7C87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800</a:t>
            </a:r>
            <a:pPr indent="0" marL="0">
              <a:buNone/>
            </a:pPr>
            <a:r>
              <a:rPr lang="en-US" sz="1150" dirty="0">
                <a:solidFill>
                  <a:srgbClr val="BDBDB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);</a:t>
            </a:r>
            <a:endParaRPr lang="en-US" sz="1150" dirty="0"/>
          </a:p>
        </p:txBody>
      </p:sp>
      <p:sp>
        <p:nvSpPr>
          <p:cNvPr id="27" name="Shape 24"/>
          <p:cNvSpPr/>
          <p:nvPr/>
        </p:nvSpPr>
        <p:spPr>
          <a:xfrm>
            <a:off x="457200" y="3134360"/>
            <a:ext cx="4754880" cy="198628"/>
          </a:xfrm>
          <a:prstGeom prst="rect">
            <a:avLst/>
          </a:prstGeom>
          <a:solidFill>
            <a:srgbClr val="3E5250"/>
          </a:solidFill>
          <a:ln w="12700">
            <a:solidFill>
              <a:srgbClr val="3E5250"/>
            </a:solidFill>
            <a:prstDash val="solid"/>
          </a:ln>
        </p:spPr>
      </p:sp>
      <p:sp>
        <p:nvSpPr>
          <p:cNvPr id="28" name="Text 25"/>
          <p:cNvSpPr txBox="1"/>
          <p:nvPr/>
        </p:nvSpPr>
        <p:spPr>
          <a:xfrm>
            <a:off x="502920" y="3134360"/>
            <a:ext cx="228597" cy="1986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lnSpc>
                <a:spcPct val="115000"/>
              </a:lnSpc>
              <a:buNone/>
            </a:pPr>
            <a:r>
              <a:rPr lang="en-US" sz="1050" b="1" dirty="0">
                <a:solidFill>
                  <a:srgbClr val="40E0D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20</a:t>
            </a:r>
            <a:endParaRPr lang="en-US" sz="1050" dirty="0"/>
          </a:p>
        </p:txBody>
      </p:sp>
      <p:sp>
        <p:nvSpPr>
          <p:cNvPr id="29" name="Text 26"/>
          <p:cNvSpPr txBox="1"/>
          <p:nvPr/>
        </p:nvSpPr>
        <p:spPr>
          <a:xfrm>
            <a:off x="856016" y="3134360"/>
            <a:ext cx="4273768" cy="1986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D9D9D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blink</a:t>
            </a:r>
            <a:pPr indent="0" marL="0">
              <a:buNone/>
            </a:pPr>
            <a:r>
              <a:rPr lang="en-US" sz="1150" dirty="0">
                <a:solidFill>
                  <a:srgbClr val="BDBDB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(</a:t>
            </a:r>
            <a:pPr indent="0" marL="0">
              <a:buNone/>
            </a:pPr>
            <a:r>
              <a:rPr lang="en-US" sz="1150" dirty="0">
                <a:solidFill>
                  <a:srgbClr val="F7C87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1</a:t>
            </a:r>
            <a:pPr indent="0" marL="0">
              <a:buNone/>
            </a:pPr>
            <a:r>
              <a:rPr lang="en-US" sz="1150" dirty="0">
                <a:solidFill>
                  <a:srgbClr val="BDBDB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, </a:t>
            </a:r>
            <a:pPr indent="0" marL="0">
              <a:buNone/>
            </a:pPr>
            <a:r>
              <a:rPr lang="en-US" sz="1150" dirty="0">
                <a:solidFill>
                  <a:srgbClr val="F7C87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600</a:t>
            </a:r>
            <a:pPr indent="0" marL="0">
              <a:buNone/>
            </a:pPr>
            <a:r>
              <a:rPr lang="en-US" sz="1150" dirty="0">
                <a:solidFill>
                  <a:srgbClr val="BDBDB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);    </a:t>
            </a:r>
            <a:pPr indent="0" marL="0">
              <a:buNone/>
            </a:pPr>
            <a:r>
              <a:rPr lang="en-US" sz="1150" i="1" dirty="0">
                <a:solidFill>
                  <a:srgbClr val="8E8E8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// 慢闪 1 下</a:t>
            </a:r>
            <a:endParaRPr lang="en-US" sz="1150" dirty="0"/>
          </a:p>
        </p:txBody>
      </p:sp>
      <p:sp>
        <p:nvSpPr>
          <p:cNvPr id="30" name="Text 27"/>
          <p:cNvSpPr txBox="1"/>
          <p:nvPr/>
        </p:nvSpPr>
        <p:spPr>
          <a:xfrm>
            <a:off x="502920" y="3332988"/>
            <a:ext cx="228597" cy="1986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lnSpc>
                <a:spcPct val="115000"/>
              </a:lnSpc>
              <a:buNone/>
            </a:pPr>
            <a:r>
              <a:rPr lang="en-US" sz="1050" dirty="0">
                <a:solidFill>
                  <a:srgbClr val="7A7A7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21</a:t>
            </a:r>
            <a:endParaRPr lang="en-US" sz="1050" dirty="0"/>
          </a:p>
        </p:txBody>
      </p:sp>
      <p:sp>
        <p:nvSpPr>
          <p:cNvPr id="31" name="Text 28"/>
          <p:cNvSpPr txBox="1"/>
          <p:nvPr/>
        </p:nvSpPr>
        <p:spPr>
          <a:xfrm>
            <a:off x="856016" y="3332988"/>
            <a:ext cx="4273768" cy="1986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D9D9D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</a:t>
            </a:r>
            <a:pPr indent="0" marL="0">
              <a:buNone/>
            </a:pPr>
            <a:r>
              <a:rPr lang="en-US" sz="1150" b="1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delay</a:t>
            </a:r>
            <a:pPr indent="0" marL="0">
              <a:buNone/>
            </a:pPr>
            <a:r>
              <a:rPr lang="en-US" sz="1150" dirty="0">
                <a:solidFill>
                  <a:srgbClr val="BDBDB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(</a:t>
            </a:r>
            <a:pPr indent="0" marL="0">
              <a:buNone/>
            </a:pPr>
            <a:r>
              <a:rPr lang="en-US" sz="1150" dirty="0">
                <a:solidFill>
                  <a:srgbClr val="F7C87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800</a:t>
            </a:r>
            <a:pPr indent="0" marL="0">
              <a:buNone/>
            </a:pPr>
            <a:r>
              <a:rPr lang="en-US" sz="1150" dirty="0">
                <a:solidFill>
                  <a:srgbClr val="BDBDB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);</a:t>
            </a:r>
            <a:endParaRPr lang="en-US" sz="1150" dirty="0"/>
          </a:p>
        </p:txBody>
      </p:sp>
      <p:sp>
        <p:nvSpPr>
          <p:cNvPr id="32" name="Text 29"/>
          <p:cNvSpPr txBox="1"/>
          <p:nvPr/>
        </p:nvSpPr>
        <p:spPr>
          <a:xfrm>
            <a:off x="502920" y="3531616"/>
            <a:ext cx="228597" cy="1986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lnSpc>
                <a:spcPct val="115000"/>
              </a:lnSpc>
              <a:buNone/>
            </a:pPr>
            <a:r>
              <a:rPr lang="en-US" sz="1050" dirty="0">
                <a:solidFill>
                  <a:srgbClr val="7A7A7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22</a:t>
            </a:r>
            <a:endParaRPr lang="en-US" sz="1050" dirty="0"/>
          </a:p>
        </p:txBody>
      </p:sp>
      <p:sp>
        <p:nvSpPr>
          <p:cNvPr id="33" name="Text 30"/>
          <p:cNvSpPr txBox="1"/>
          <p:nvPr/>
        </p:nvSpPr>
        <p:spPr>
          <a:xfrm>
            <a:off x="856016" y="3531616"/>
            <a:ext cx="4273768" cy="1986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BDBDB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}</a:t>
            </a:r>
            <a:endParaRPr lang="en-US" sz="1150" dirty="0"/>
          </a:p>
        </p:txBody>
      </p:sp>
      <p:sp>
        <p:nvSpPr>
          <p:cNvPr id="34" name="Text 31"/>
          <p:cNvSpPr txBox="1"/>
          <p:nvPr/>
        </p:nvSpPr>
        <p:spPr>
          <a:xfrm>
            <a:off x="5532120" y="1234440"/>
            <a:ext cx="3200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1300" b="1" dirty="0">
                <a:solidFill>
                  <a:srgbClr val="2D2D2D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逐行看懂</a:t>
            </a:r>
            <a:endParaRPr lang="en-US" sz="1300" dirty="0"/>
          </a:p>
        </p:txBody>
      </p:sp>
      <p:sp>
        <p:nvSpPr>
          <p:cNvPr id="35" name="Shape 32"/>
          <p:cNvSpPr/>
          <p:nvPr/>
        </p:nvSpPr>
        <p:spPr>
          <a:xfrm>
            <a:off x="5532120" y="1932178"/>
            <a:ext cx="655828" cy="219456"/>
          </a:xfrm>
          <a:prstGeom prst="roundRect">
            <a:avLst>
              <a:gd name="adj" fmla="val 50000"/>
            </a:avLst>
          </a:prstGeom>
          <a:solidFill>
            <a:srgbClr val="40E0D0"/>
          </a:solidFill>
          <a:ln w="12700">
            <a:solidFill>
              <a:srgbClr val="40E0D0"/>
            </a:solidFill>
            <a:prstDash val="solid"/>
          </a:ln>
        </p:spPr>
      </p:sp>
      <p:sp>
        <p:nvSpPr>
          <p:cNvPr id="36" name="Text 33"/>
          <p:cNvSpPr txBox="1"/>
          <p:nvPr/>
        </p:nvSpPr>
        <p:spPr>
          <a:xfrm>
            <a:off x="5532120" y="1932178"/>
            <a:ext cx="655828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15000"/>
              </a:lnSpc>
              <a:buNone/>
            </a:pPr>
            <a:r>
              <a:rPr lang="en-US" sz="950" b="1" dirty="0">
                <a:solidFill>
                  <a:srgbClr val="2D2D2D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第 14 行</a:t>
            </a:r>
            <a:endParaRPr lang="en-US" sz="950" dirty="0"/>
          </a:p>
        </p:txBody>
      </p:sp>
      <p:sp>
        <p:nvSpPr>
          <p:cNvPr id="37" name="Text 34"/>
          <p:cNvSpPr txBox="1"/>
          <p:nvPr/>
        </p:nvSpPr>
        <p:spPr>
          <a:xfrm>
            <a:off x="6279388" y="1923034"/>
            <a:ext cx="245313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0000"/>
              </a:lnSpc>
              <a:buNone/>
            </a:pPr>
            <a:r>
              <a:rPr lang="en-US" sz="1200" dirty="0">
                <a:solidFill>
                  <a:srgbClr val="2D2D2D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开机时把 13 号脚设为输出</a:t>
            </a:r>
            <a:endParaRPr lang="en-US" sz="1200" dirty="0"/>
          </a:p>
        </p:txBody>
      </p:sp>
      <p:sp>
        <p:nvSpPr>
          <p:cNvPr id="38" name="Shape 35"/>
          <p:cNvSpPr/>
          <p:nvPr/>
        </p:nvSpPr>
        <p:spPr>
          <a:xfrm>
            <a:off x="5532120" y="2726690"/>
            <a:ext cx="655828" cy="219456"/>
          </a:xfrm>
          <a:prstGeom prst="roundRect">
            <a:avLst>
              <a:gd name="adj" fmla="val 50000"/>
            </a:avLst>
          </a:prstGeom>
          <a:solidFill>
            <a:srgbClr val="40E0D0"/>
          </a:solidFill>
          <a:ln w="12700">
            <a:solidFill>
              <a:srgbClr val="40E0D0"/>
            </a:solidFill>
            <a:prstDash val="solid"/>
          </a:ln>
        </p:spPr>
      </p:sp>
      <p:sp>
        <p:nvSpPr>
          <p:cNvPr id="39" name="Text 36"/>
          <p:cNvSpPr txBox="1"/>
          <p:nvPr/>
        </p:nvSpPr>
        <p:spPr>
          <a:xfrm>
            <a:off x="5532120" y="2726690"/>
            <a:ext cx="655828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15000"/>
              </a:lnSpc>
              <a:buNone/>
            </a:pPr>
            <a:r>
              <a:rPr lang="en-US" sz="950" b="1" dirty="0">
                <a:solidFill>
                  <a:srgbClr val="2D2D2D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第 18 行</a:t>
            </a:r>
            <a:endParaRPr lang="en-US" sz="950" dirty="0"/>
          </a:p>
        </p:txBody>
      </p:sp>
      <p:sp>
        <p:nvSpPr>
          <p:cNvPr id="40" name="Text 37"/>
          <p:cNvSpPr txBox="1"/>
          <p:nvPr/>
        </p:nvSpPr>
        <p:spPr>
          <a:xfrm>
            <a:off x="6279388" y="2717546"/>
            <a:ext cx="245313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0000"/>
              </a:lnSpc>
              <a:buNone/>
            </a:pPr>
            <a:r>
              <a:rPr lang="en-US" sz="1200" dirty="0">
                <a:solidFill>
                  <a:srgbClr val="2D2D2D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调用：快闪 3 下，每次 150 毫秒</a:t>
            </a:r>
            <a:endParaRPr lang="en-US" sz="1200" dirty="0"/>
          </a:p>
        </p:txBody>
      </p:sp>
      <p:sp>
        <p:nvSpPr>
          <p:cNvPr id="41" name="Shape 38"/>
          <p:cNvSpPr/>
          <p:nvPr/>
        </p:nvSpPr>
        <p:spPr>
          <a:xfrm>
            <a:off x="5532120" y="3123946"/>
            <a:ext cx="655828" cy="219456"/>
          </a:xfrm>
          <a:prstGeom prst="roundRect">
            <a:avLst>
              <a:gd name="adj" fmla="val 50000"/>
            </a:avLst>
          </a:prstGeom>
          <a:solidFill>
            <a:srgbClr val="40E0D0"/>
          </a:solidFill>
          <a:ln w="12700">
            <a:solidFill>
              <a:srgbClr val="40E0D0"/>
            </a:solidFill>
            <a:prstDash val="solid"/>
          </a:ln>
        </p:spPr>
      </p:sp>
      <p:sp>
        <p:nvSpPr>
          <p:cNvPr id="42" name="Text 39"/>
          <p:cNvSpPr txBox="1"/>
          <p:nvPr/>
        </p:nvSpPr>
        <p:spPr>
          <a:xfrm>
            <a:off x="5532120" y="3123946"/>
            <a:ext cx="655828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15000"/>
              </a:lnSpc>
              <a:buNone/>
            </a:pPr>
            <a:r>
              <a:rPr lang="en-US" sz="950" b="1" dirty="0">
                <a:solidFill>
                  <a:srgbClr val="2D2D2D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第 20 行</a:t>
            </a:r>
            <a:endParaRPr lang="en-US" sz="950" dirty="0"/>
          </a:p>
        </p:txBody>
      </p:sp>
      <p:sp>
        <p:nvSpPr>
          <p:cNvPr id="43" name="Text 40"/>
          <p:cNvSpPr txBox="1"/>
          <p:nvPr/>
        </p:nvSpPr>
        <p:spPr>
          <a:xfrm>
            <a:off x="6279388" y="3114802"/>
            <a:ext cx="245313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0000"/>
              </a:lnSpc>
              <a:buNone/>
            </a:pPr>
            <a:r>
              <a:rPr lang="en-US" sz="1200" dirty="0">
                <a:solidFill>
                  <a:srgbClr val="2D2D2D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换一组参数：慢闪 1 下</a:t>
            </a:r>
            <a:endParaRPr lang="en-US" sz="1200" dirty="0"/>
          </a:p>
        </p:txBody>
      </p:sp>
      <p:sp>
        <p:nvSpPr>
          <p:cNvPr id="44" name="Shape 41"/>
          <p:cNvSpPr/>
          <p:nvPr/>
        </p:nvSpPr>
        <p:spPr>
          <a:xfrm>
            <a:off x="411480" y="4069080"/>
            <a:ext cx="4846320" cy="502920"/>
          </a:xfrm>
          <a:prstGeom prst="roundRect">
            <a:avLst>
              <a:gd name="adj" fmla="val 21818"/>
            </a:avLst>
          </a:prstGeom>
          <a:solidFill>
            <a:srgbClr val="E3FAF7"/>
          </a:solidFill>
          <a:ln w="12700">
            <a:solidFill>
              <a:srgbClr val="E3FAF7"/>
            </a:solidFill>
            <a:prstDash val="solid"/>
          </a:ln>
        </p:spPr>
      </p:sp>
      <p:sp>
        <p:nvSpPr>
          <p:cNvPr id="45" name="Shape 42"/>
          <p:cNvSpPr/>
          <p:nvPr/>
        </p:nvSpPr>
        <p:spPr>
          <a:xfrm>
            <a:off x="539496" y="4165092"/>
            <a:ext cx="310896" cy="310896"/>
          </a:xfrm>
          <a:prstGeom prst="ellipse">
            <a:avLst/>
          </a:prstGeom>
          <a:solidFill>
            <a:srgbClr val="40E0D0"/>
          </a:solidFill>
          <a:ln w="12700">
            <a:solidFill>
              <a:srgbClr val="40E0D0"/>
            </a:solidFill>
            <a:prstDash val="solid"/>
          </a:ln>
        </p:spPr>
      </p:sp>
      <p:pic>
        <p:nvPicPr>
          <p:cNvPr id="46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14111" y="4239707"/>
            <a:ext cx="161666" cy="161666"/>
          </a:xfrm>
          <a:prstGeom prst="rect">
            <a:avLst/>
          </a:prstGeom>
        </p:spPr>
      </p:pic>
      <p:sp>
        <p:nvSpPr>
          <p:cNvPr id="47" name="Text 43"/>
          <p:cNvSpPr txBox="1"/>
          <p:nvPr/>
        </p:nvSpPr>
        <p:spPr>
          <a:xfrm>
            <a:off x="960120" y="4069080"/>
            <a:ext cx="4169664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1200" b="1" dirty="0">
                <a:solidFill>
                  <a:srgbClr val="2D2D2D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动手试一试　</a:t>
            </a:r>
            <a:pPr algn="l" indent="0" marL="0">
              <a:lnSpc>
                <a:spcPct val="115000"/>
              </a:lnSpc>
              <a:buNone/>
            </a:pPr>
            <a:r>
              <a:rPr lang="en-US" sz="1200" dirty="0">
                <a:solidFill>
                  <a:srgbClr val="2D2D2D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把第 18 行改成 </a:t>
            </a:r>
            <a:pPr algn="l" indent="0" marL="0">
              <a:lnSpc>
                <a:spcPct val="115000"/>
              </a:lnSpc>
              <a:buNone/>
            </a:pPr>
            <a:r>
              <a:rPr lang="en-US" sz="1200" dirty="0">
                <a:solidFill>
                  <a:srgbClr val="2D2D2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blink(5, 80);</a:t>
            </a:r>
            <a:endParaRPr lang="en-US" sz="1200" dirty="0"/>
          </a:p>
          <a:p>
            <a:pPr algn="l" indent="0" marL="0">
              <a:lnSpc>
                <a:spcPct val="115000"/>
              </a:lnSpc>
              <a:buNone/>
            </a:pPr>
            <a:r>
              <a:rPr lang="en-US" sz="1200" dirty="0">
                <a:solidFill>
                  <a:srgbClr val="2D2D2D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再加一行 </a:t>
            </a:r>
            <a:pPr algn="l" indent="0" marL="0">
              <a:lnSpc>
                <a:spcPct val="115000"/>
              </a:lnSpc>
              <a:buNone/>
            </a:pPr>
            <a:r>
              <a:rPr lang="en-US" sz="1200" dirty="0">
                <a:solidFill>
                  <a:srgbClr val="2D2D2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blink(2, 1000);</a:t>
            </a:r>
            <a:pPr algn="l" indent="0" marL="0">
              <a:lnSpc>
                <a:spcPct val="115000"/>
              </a:lnSpc>
              <a:buNone/>
            </a:pPr>
            <a:r>
              <a:rPr lang="en-US" sz="1200" dirty="0">
                <a:solidFill>
                  <a:srgbClr val="2D2D2D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 看看节奏</a:t>
            </a:r>
            <a:endParaRPr lang="en-US" sz="12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339328" y="4736592"/>
            <a:ext cx="393192" cy="219456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 lIns="0" tIns="0" rIns="0" bIns="0" anchor="ctr"/>
          <a:lstStyle>
            <a:lvl1pPr>
              <a:defRPr sz="800">
                <a:solidFill>
                  <a:srgbClr val="6B6B6B"/>
                </a:solidFill>
                <a:latin typeface="微软雅黑"/>
                <a:ea typeface="微软雅黑"/>
                <a:cs typeface="微软雅黑"/>
              </a:defRPr>
            </a:lvl1pPr>
          </a:lstStyle>
          <a:p>
            <a:pPr algn="r"/>
            <a:fld id="{F7021451-1387-4CA6-816F-3879F97B5CBC}" type="slidenum">
              <a:rPr b="0" lang="en-US"/>
              <a:t>29</a:t>
            </a:fld>
            <a:endParaRPr lang="en-US"/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1"/>
          <p:cNvSpPr/>
          <p:nvPr>
            <p:ph idx="102" type="body" hasCustomPrompt="1"/>
          </p:nvPr>
        </p:nvSpPr>
        <p:spPr>
          <a:xfrm>
            <a:off x="4572000" y="4736592"/>
            <a:ext cx="370332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2D2D2D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把代码打包</a:t>
            </a:r>
            <a:endParaRPr lang="en-US" sz="800" dirty="0"/>
          </a:p>
        </p:txBody>
      </p:sp>
      <p:sp>
        <p:nvSpPr>
          <p:cNvPr id="3" name="Text 1"/>
          <p:cNvSpPr/>
          <p:nvPr>
            <p:ph idx="103" type="title" hasCustomPrompt="1"/>
          </p:nvPr>
        </p:nvSpPr>
        <p:spPr>
          <a:xfrm>
            <a:off x="411480" y="274320"/>
            <a:ext cx="83210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400" dirty="0">
                <a:solidFill>
                  <a:srgbClr val="2D2D2D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数学函数与 map()：换算尺</a:t>
            </a:r>
            <a:endParaRPr lang="en-US" sz="2400" dirty="0"/>
          </a:p>
        </p:txBody>
      </p:sp>
      <p:sp>
        <p:nvSpPr>
          <p:cNvPr id="4" name="Text 1"/>
          <p:cNvSpPr/>
          <p:nvPr>
            <p:ph idx="104" type="body" hasCustomPrompt="1"/>
          </p:nvPr>
        </p:nvSpPr>
        <p:spPr>
          <a:xfrm>
            <a:off x="411480" y="786384"/>
            <a:ext cx="83210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6B6B6B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map() 是传感器编程里最常用的“换算器”：把一个范围按比例换成另一个范围。</a:t>
            </a:r>
            <a:endParaRPr lang="en-US" sz="1200" dirty="0"/>
          </a:p>
        </p:txBody>
      </p:sp>
      <p:graphicFrame>
        <p:nvGraphicFramePr>
          <p:cNvPr id="31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11480" y="1234440"/>
          <a:ext cx="4023360" cy="914400"/>
        </p:xfrm>
        <a:graphic>
          <a:graphicData uri="http://schemas.openxmlformats.org/drawingml/2006/table">
            <a:tbl>
              <a:tblPr/>
              <a:tblGrid>
                <a:gridCol w="1828800"/>
                <a:gridCol w="2194560"/>
              </a:tblGrid>
              <a:tr h="256032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函数</a:t>
                      </a:r>
                      <a:endParaRPr lang="en-US" sz="1100" dirty="0">
                        <a:latin typeface="微软雅黑" charset="0"/>
                        <a:ea typeface="微软雅黑" charset="0"/>
                        <a:cs typeface="微软雅黑" charset="0"/>
                      </a:endParaRPr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E2E2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2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2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2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D2D2D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作用</a:t>
                      </a:r>
                      <a:endParaRPr lang="en-US" sz="1100" dirty="0">
                        <a:latin typeface="微软雅黑" charset="0"/>
                        <a:ea typeface="微软雅黑" charset="0"/>
                        <a:cs typeface="微软雅黑" charset="0"/>
                      </a:endParaRPr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E2E2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2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2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2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D2D2D"/>
                    </a:solidFill>
                  </a:tcPr>
                </a:tc>
              </a:tr>
              <a:tr h="256032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b="1" dirty="0">
                          <a:solidFill>
                            <a:srgbClr val="2D2D2D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min(x, y)</a:t>
                      </a:r>
                      <a:endParaRPr lang="en-US" sz="120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E2E2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2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2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2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2D2D2D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取较小值</a:t>
                      </a:r>
                      <a:endParaRPr lang="en-US" sz="1200" dirty="0">
                        <a:latin typeface="微软雅黑" charset="0"/>
                        <a:ea typeface="微软雅黑" charset="0"/>
                        <a:cs typeface="微软雅黑" charset="0"/>
                      </a:endParaRPr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E2E2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2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2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2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256032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b="1" dirty="0">
                          <a:solidFill>
                            <a:srgbClr val="2D2D2D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max(x, y)</a:t>
                      </a:r>
                      <a:endParaRPr lang="en-US" sz="120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E2E2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2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2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2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2D2D2D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取较大值</a:t>
                      </a:r>
                      <a:endParaRPr lang="en-US" sz="1200" dirty="0">
                        <a:latin typeface="微软雅黑" charset="0"/>
                        <a:ea typeface="微软雅黑" charset="0"/>
                        <a:cs typeface="微软雅黑" charset="0"/>
                      </a:endParaRPr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E2E2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2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2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2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5F5"/>
                    </a:solidFill>
                  </a:tcPr>
                </a:tc>
              </a:tr>
              <a:tr h="256032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b="1" dirty="0">
                          <a:solidFill>
                            <a:srgbClr val="2D2D2D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abs(x)</a:t>
                      </a:r>
                      <a:endParaRPr lang="en-US" sz="120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E2E2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2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2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2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2D2D2D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绝对值</a:t>
                      </a:r>
                      <a:endParaRPr lang="en-US" sz="1200" dirty="0">
                        <a:latin typeface="微软雅黑" charset="0"/>
                        <a:ea typeface="微软雅黑" charset="0"/>
                        <a:cs typeface="微软雅黑" charset="0"/>
                      </a:endParaRPr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E2E2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2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2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2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256032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b="1" dirty="0">
                          <a:solidFill>
                            <a:srgbClr val="2D2D2D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constrain(x, a, b)</a:t>
                      </a:r>
                      <a:endParaRPr lang="en-US" sz="120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E2E2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2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2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2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2D2D2D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把 x 限制在 a～b 之间</a:t>
                      </a:r>
                      <a:endParaRPr lang="en-US" sz="1200" dirty="0">
                        <a:latin typeface="微软雅黑" charset="0"/>
                        <a:ea typeface="微软雅黑" charset="0"/>
                        <a:cs typeface="微软雅黑" charset="0"/>
                      </a:endParaRPr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E2E2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2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2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2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5F5"/>
                    </a:solidFill>
                  </a:tcPr>
                </a:tc>
              </a:tr>
              <a:tr h="256032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b="1" dirty="0">
                          <a:solidFill>
                            <a:srgbClr val="2D2D2D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pow(x, n)</a:t>
                      </a:r>
                      <a:endParaRPr lang="en-US" sz="120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E2E2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2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2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2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2D2D2D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x 的 n 次方</a:t>
                      </a:r>
                      <a:endParaRPr lang="en-US" sz="1200" dirty="0">
                        <a:latin typeface="微软雅黑" charset="0"/>
                        <a:ea typeface="微软雅黑" charset="0"/>
                        <a:cs typeface="微软雅黑" charset="0"/>
                      </a:endParaRPr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E2E2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2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2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2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256032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b="1" dirty="0">
                          <a:solidFill>
                            <a:srgbClr val="2D2D2D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sq(x)</a:t>
                      </a:r>
                      <a:endParaRPr lang="en-US" sz="120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E2E2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2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2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2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2D2D2D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平方</a:t>
                      </a:r>
                      <a:endParaRPr lang="en-US" sz="1200" dirty="0">
                        <a:latin typeface="微软雅黑" charset="0"/>
                        <a:ea typeface="微软雅黑" charset="0"/>
                        <a:cs typeface="微软雅黑" charset="0"/>
                      </a:endParaRPr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E2E2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2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2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2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5F5"/>
                    </a:solidFill>
                  </a:tcPr>
                </a:tc>
              </a:tr>
              <a:tr h="256032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b="1" dirty="0">
                          <a:solidFill>
                            <a:srgbClr val="2D2D2D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sqrt(x)</a:t>
                      </a:r>
                      <a:endParaRPr lang="en-US" sz="120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E2E2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2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2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2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2D2D2D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开平方</a:t>
                      </a:r>
                      <a:endParaRPr lang="en-US" sz="1200" dirty="0">
                        <a:latin typeface="微软雅黑" charset="0"/>
                        <a:ea typeface="微软雅黑" charset="0"/>
                        <a:cs typeface="微软雅黑" charset="0"/>
                      </a:endParaRPr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E2E2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2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2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2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256032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b="1" dirty="0">
                          <a:solidFill>
                            <a:srgbClr val="2D2D2D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random(a, b)</a:t>
                      </a:r>
                      <a:endParaRPr lang="en-US" sz="120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E2E2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2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2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2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2D2D2D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a～b-1 的随机整数</a:t>
                      </a:r>
                      <a:endParaRPr lang="en-US" sz="1200" dirty="0">
                        <a:latin typeface="微软雅黑" charset="0"/>
                        <a:ea typeface="微软雅黑" charset="0"/>
                        <a:cs typeface="微软雅黑" charset="0"/>
                      </a:endParaRPr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E2E2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2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2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2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5F5"/>
                    </a:solidFill>
                  </a:tcPr>
                </a:tc>
              </a:tr>
            </a:tbl>
          </a:graphicData>
        </a:graphic>
      </p:graphicFrame>
      <p:sp>
        <p:nvSpPr>
          <p:cNvPr id="7" name="Shape 3"/>
          <p:cNvSpPr/>
          <p:nvPr/>
        </p:nvSpPr>
        <p:spPr>
          <a:xfrm>
            <a:off x="4709160" y="1234440"/>
            <a:ext cx="4023360" cy="2331720"/>
          </a:xfrm>
          <a:prstGeom prst="roundRect">
            <a:avLst>
              <a:gd name="adj" fmla="val 4706"/>
            </a:avLst>
          </a:prstGeom>
          <a:solidFill>
            <a:srgbClr val="F5F5F5"/>
          </a:solidFill>
          <a:ln w="12700">
            <a:solidFill>
              <a:srgbClr val="F5F5F5"/>
            </a:solidFill>
            <a:prstDash val="solid"/>
          </a:ln>
        </p:spPr>
      </p:sp>
      <p:sp>
        <p:nvSpPr>
          <p:cNvPr id="8" name="Shape 4"/>
          <p:cNvSpPr/>
          <p:nvPr/>
        </p:nvSpPr>
        <p:spPr>
          <a:xfrm>
            <a:off x="4873752" y="1362456"/>
            <a:ext cx="347472" cy="347472"/>
          </a:xfrm>
          <a:prstGeom prst="ellipse">
            <a:avLst/>
          </a:prstGeom>
          <a:solidFill>
            <a:srgbClr val="40E0D0"/>
          </a:solidFill>
          <a:ln w="12700">
            <a:solidFill>
              <a:srgbClr val="40E0D0"/>
            </a:solidFill>
            <a:prstDash val="solid"/>
          </a:ln>
        </p:spPr>
      </p:sp>
      <p:pic>
        <p:nvPicPr>
          <p:cNvPr id="9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957145" y="1445849"/>
            <a:ext cx="180685" cy="180685"/>
          </a:xfrm>
          <a:prstGeom prst="rect">
            <a:avLst/>
          </a:prstGeom>
        </p:spPr>
      </p:pic>
      <p:sp>
        <p:nvSpPr>
          <p:cNvPr id="10" name="Text 5"/>
          <p:cNvSpPr txBox="1"/>
          <p:nvPr/>
        </p:nvSpPr>
        <p:spPr>
          <a:xfrm>
            <a:off x="5349240" y="1344168"/>
            <a:ext cx="321868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1400" b="1" dirty="0">
                <a:solidFill>
                  <a:srgbClr val="2D2D2D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map()：按比例换算</a:t>
            </a:r>
            <a:endParaRPr lang="en-US" sz="1400" dirty="0"/>
          </a:p>
        </p:txBody>
      </p:sp>
      <p:sp>
        <p:nvSpPr>
          <p:cNvPr id="11" name="Text 6"/>
          <p:cNvSpPr txBox="1"/>
          <p:nvPr/>
        </p:nvSpPr>
        <p:spPr>
          <a:xfrm>
            <a:off x="4873752" y="1783080"/>
            <a:ext cx="369417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1150" b="1" dirty="0">
                <a:solidFill>
                  <a:srgbClr val="2D2D2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map(值, 原最小, 原最大, 新最小, 新最大)</a:t>
            </a:r>
            <a:endParaRPr lang="en-US" sz="1150" dirty="0"/>
          </a:p>
        </p:txBody>
      </p:sp>
      <p:sp>
        <p:nvSpPr>
          <p:cNvPr id="12" name="Text 7"/>
          <p:cNvSpPr txBox="1"/>
          <p:nvPr/>
        </p:nvSpPr>
        <p:spPr>
          <a:xfrm>
            <a:off x="4873752" y="2249424"/>
            <a:ext cx="6858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1100" b="1" dirty="0">
                <a:solidFill>
                  <a:srgbClr val="2D2D2D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原范围</a:t>
            </a:r>
            <a:endParaRPr lang="en-US" sz="1100" dirty="0"/>
          </a:p>
        </p:txBody>
      </p:sp>
      <p:sp>
        <p:nvSpPr>
          <p:cNvPr id="13" name="Text 8"/>
          <p:cNvSpPr txBox="1"/>
          <p:nvPr/>
        </p:nvSpPr>
        <p:spPr>
          <a:xfrm>
            <a:off x="4873752" y="2715768"/>
            <a:ext cx="6858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1100" b="1" dirty="0">
                <a:solidFill>
                  <a:srgbClr val="2D2D2D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新范围</a:t>
            </a:r>
            <a:endParaRPr lang="en-US" sz="1100" dirty="0"/>
          </a:p>
        </p:txBody>
      </p:sp>
      <p:sp>
        <p:nvSpPr>
          <p:cNvPr id="14" name="Shape 9"/>
          <p:cNvSpPr/>
          <p:nvPr/>
        </p:nvSpPr>
        <p:spPr>
          <a:xfrm>
            <a:off x="5577840" y="2304288"/>
            <a:ext cx="2971800" cy="146304"/>
          </a:xfrm>
          <a:prstGeom prst="rect">
            <a:avLst/>
          </a:prstGeom>
          <a:solidFill>
            <a:srgbClr val="40E0D0"/>
          </a:solidFill>
          <a:ln w="12700">
            <a:solidFill>
              <a:srgbClr val="40E0D0"/>
            </a:solidFill>
            <a:prstDash val="solid"/>
          </a:ln>
        </p:spPr>
      </p:sp>
      <p:sp>
        <p:nvSpPr>
          <p:cNvPr id="15" name="Shape 10"/>
          <p:cNvSpPr/>
          <p:nvPr/>
        </p:nvSpPr>
        <p:spPr>
          <a:xfrm>
            <a:off x="5577840" y="2770632"/>
            <a:ext cx="2971800" cy="146304"/>
          </a:xfrm>
          <a:prstGeom prst="rect">
            <a:avLst/>
          </a:prstGeom>
          <a:solidFill>
            <a:srgbClr val="2D2D2D"/>
          </a:solidFill>
          <a:ln w="12700">
            <a:solidFill>
              <a:srgbClr val="2D2D2D"/>
            </a:solidFill>
            <a:prstDash val="solid"/>
          </a:ln>
        </p:spPr>
      </p:sp>
      <p:sp>
        <p:nvSpPr>
          <p:cNvPr id="16" name="Shape 11"/>
          <p:cNvSpPr/>
          <p:nvPr/>
        </p:nvSpPr>
        <p:spPr>
          <a:xfrm>
            <a:off x="5577840" y="2450592"/>
            <a:ext cx="91" cy="320040"/>
          </a:xfrm>
          <a:prstGeom prst="line">
            <a:avLst/>
          </a:prstGeom>
          <a:noFill/>
          <a:ln w="12700">
            <a:solidFill>
              <a:srgbClr val="6B6B6B"/>
            </a:solidFill>
            <a:prstDash val="dash"/>
          </a:ln>
        </p:spPr>
      </p:sp>
      <p:sp>
        <p:nvSpPr>
          <p:cNvPr id="17" name="Text 12"/>
          <p:cNvSpPr txBox="1"/>
          <p:nvPr/>
        </p:nvSpPr>
        <p:spPr>
          <a:xfrm>
            <a:off x="5577840" y="2084832"/>
            <a:ext cx="5486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1050" b="1" dirty="0">
                <a:solidFill>
                  <a:srgbClr val="2D2D2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</a:t>
            </a:r>
            <a:endParaRPr lang="en-US" sz="1050" dirty="0"/>
          </a:p>
        </p:txBody>
      </p:sp>
      <p:sp>
        <p:nvSpPr>
          <p:cNvPr id="18" name="Text 13"/>
          <p:cNvSpPr txBox="1"/>
          <p:nvPr/>
        </p:nvSpPr>
        <p:spPr>
          <a:xfrm>
            <a:off x="5577840" y="2935224"/>
            <a:ext cx="5486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1050" b="1" dirty="0">
                <a:solidFill>
                  <a:srgbClr val="2D2D2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</a:t>
            </a:r>
            <a:endParaRPr lang="en-US" sz="1050" dirty="0"/>
          </a:p>
        </p:txBody>
      </p:sp>
      <p:sp>
        <p:nvSpPr>
          <p:cNvPr id="19" name="Shape 14"/>
          <p:cNvSpPr/>
          <p:nvPr/>
        </p:nvSpPr>
        <p:spPr>
          <a:xfrm>
            <a:off x="7063740" y="2450592"/>
            <a:ext cx="91" cy="320040"/>
          </a:xfrm>
          <a:prstGeom prst="line">
            <a:avLst/>
          </a:prstGeom>
          <a:noFill/>
          <a:ln w="12700">
            <a:solidFill>
              <a:srgbClr val="6B6B6B"/>
            </a:solidFill>
            <a:prstDash val="dash"/>
          </a:ln>
        </p:spPr>
      </p:sp>
      <p:sp>
        <p:nvSpPr>
          <p:cNvPr id="20" name="Text 15"/>
          <p:cNvSpPr txBox="1"/>
          <p:nvPr/>
        </p:nvSpPr>
        <p:spPr>
          <a:xfrm>
            <a:off x="6789420" y="2084832"/>
            <a:ext cx="5486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15000"/>
              </a:lnSpc>
              <a:buNone/>
            </a:pPr>
            <a:r>
              <a:rPr lang="en-US" sz="1050" b="1" dirty="0">
                <a:solidFill>
                  <a:srgbClr val="2D2D2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512</a:t>
            </a:r>
            <a:endParaRPr lang="en-US" sz="1050" dirty="0"/>
          </a:p>
        </p:txBody>
      </p:sp>
      <p:sp>
        <p:nvSpPr>
          <p:cNvPr id="21" name="Text 16"/>
          <p:cNvSpPr txBox="1"/>
          <p:nvPr/>
        </p:nvSpPr>
        <p:spPr>
          <a:xfrm>
            <a:off x="6789420" y="2935224"/>
            <a:ext cx="5486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15000"/>
              </a:lnSpc>
              <a:buNone/>
            </a:pPr>
            <a:r>
              <a:rPr lang="en-US" sz="1050" b="1" dirty="0">
                <a:solidFill>
                  <a:srgbClr val="2D2D2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127</a:t>
            </a:r>
            <a:endParaRPr lang="en-US" sz="1050" dirty="0"/>
          </a:p>
        </p:txBody>
      </p:sp>
      <p:sp>
        <p:nvSpPr>
          <p:cNvPr id="22" name="Shape 17"/>
          <p:cNvSpPr/>
          <p:nvPr/>
        </p:nvSpPr>
        <p:spPr>
          <a:xfrm>
            <a:off x="8549640" y="2450592"/>
            <a:ext cx="91" cy="320040"/>
          </a:xfrm>
          <a:prstGeom prst="line">
            <a:avLst/>
          </a:prstGeom>
          <a:noFill/>
          <a:ln w="12700">
            <a:solidFill>
              <a:srgbClr val="6B6B6B"/>
            </a:solidFill>
            <a:prstDash val="dash"/>
          </a:ln>
        </p:spPr>
      </p:sp>
      <p:sp>
        <p:nvSpPr>
          <p:cNvPr id="23" name="Text 18"/>
          <p:cNvSpPr txBox="1"/>
          <p:nvPr/>
        </p:nvSpPr>
        <p:spPr>
          <a:xfrm>
            <a:off x="8001000" y="2084832"/>
            <a:ext cx="5486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lnSpc>
                <a:spcPct val="115000"/>
              </a:lnSpc>
              <a:buNone/>
            </a:pPr>
            <a:r>
              <a:rPr lang="en-US" sz="1050" b="1" dirty="0">
                <a:solidFill>
                  <a:srgbClr val="2D2D2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1023</a:t>
            </a:r>
            <a:endParaRPr lang="en-US" sz="1050" dirty="0"/>
          </a:p>
        </p:txBody>
      </p:sp>
      <p:sp>
        <p:nvSpPr>
          <p:cNvPr id="24" name="Text 19"/>
          <p:cNvSpPr txBox="1"/>
          <p:nvPr/>
        </p:nvSpPr>
        <p:spPr>
          <a:xfrm>
            <a:off x="8001000" y="2935224"/>
            <a:ext cx="5486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lnSpc>
                <a:spcPct val="115000"/>
              </a:lnSpc>
              <a:buNone/>
            </a:pPr>
            <a:r>
              <a:rPr lang="en-US" sz="1050" b="1" dirty="0">
                <a:solidFill>
                  <a:srgbClr val="2D2D2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255</a:t>
            </a:r>
            <a:endParaRPr lang="en-US" sz="1050" dirty="0"/>
          </a:p>
        </p:txBody>
      </p:sp>
      <p:sp>
        <p:nvSpPr>
          <p:cNvPr id="25" name="Shape 20"/>
          <p:cNvSpPr/>
          <p:nvPr/>
        </p:nvSpPr>
        <p:spPr>
          <a:xfrm>
            <a:off x="4873752" y="3182112"/>
            <a:ext cx="3694176" cy="274320"/>
          </a:xfrm>
          <a:prstGeom prst="roundRect">
            <a:avLst>
              <a:gd name="adj" fmla="val 26667"/>
            </a:avLst>
          </a:prstGeom>
          <a:solidFill>
            <a:srgbClr val="2D2D2D"/>
          </a:solidFill>
          <a:ln w="12700">
            <a:solidFill>
              <a:srgbClr val="2D2D2D"/>
            </a:solidFill>
            <a:prstDash val="solid"/>
          </a:ln>
        </p:spPr>
      </p:sp>
      <p:sp>
        <p:nvSpPr>
          <p:cNvPr id="26" name="Text 21"/>
          <p:cNvSpPr txBox="1"/>
          <p:nvPr/>
        </p:nvSpPr>
        <p:spPr>
          <a:xfrm>
            <a:off x="4983480" y="3182112"/>
            <a:ext cx="3474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050" b="1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map</a:t>
            </a:r>
            <a:pPr algn="l" indent="0" marL="0">
              <a:lnSpc>
                <a:spcPct val="100000"/>
              </a:lnSpc>
              <a:buNone/>
            </a:pPr>
            <a:r>
              <a:rPr lang="en-US" sz="1050" dirty="0">
                <a:solidFill>
                  <a:srgbClr val="BDBDB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(</a:t>
            </a:r>
            <a:pPr algn="l" indent="0" marL="0">
              <a:lnSpc>
                <a:spcPct val="100000"/>
              </a:lnSpc>
              <a:buNone/>
            </a:pPr>
            <a:r>
              <a:rPr lang="en-US" sz="1050" dirty="0">
                <a:solidFill>
                  <a:srgbClr val="F7C87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512</a:t>
            </a:r>
            <a:pPr algn="l" indent="0" marL="0">
              <a:lnSpc>
                <a:spcPct val="100000"/>
              </a:lnSpc>
              <a:buNone/>
            </a:pPr>
            <a:r>
              <a:rPr lang="en-US" sz="1050" dirty="0">
                <a:solidFill>
                  <a:srgbClr val="BDBDB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, </a:t>
            </a:r>
            <a:pPr algn="l" indent="0" marL="0">
              <a:lnSpc>
                <a:spcPct val="100000"/>
              </a:lnSpc>
              <a:buNone/>
            </a:pPr>
            <a:r>
              <a:rPr lang="en-US" sz="1050" dirty="0">
                <a:solidFill>
                  <a:srgbClr val="F7C87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</a:t>
            </a:r>
            <a:pPr algn="l" indent="0" marL="0">
              <a:lnSpc>
                <a:spcPct val="100000"/>
              </a:lnSpc>
              <a:buNone/>
            </a:pPr>
            <a:r>
              <a:rPr lang="en-US" sz="1050" dirty="0">
                <a:solidFill>
                  <a:srgbClr val="BDBDB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, </a:t>
            </a:r>
            <a:pPr algn="l" indent="0" marL="0">
              <a:lnSpc>
                <a:spcPct val="100000"/>
              </a:lnSpc>
              <a:buNone/>
            </a:pPr>
            <a:r>
              <a:rPr lang="en-US" sz="1050" dirty="0">
                <a:solidFill>
                  <a:srgbClr val="F7C87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1023</a:t>
            </a:r>
            <a:pPr algn="l" indent="0" marL="0">
              <a:lnSpc>
                <a:spcPct val="100000"/>
              </a:lnSpc>
              <a:buNone/>
            </a:pPr>
            <a:r>
              <a:rPr lang="en-US" sz="1050" dirty="0">
                <a:solidFill>
                  <a:srgbClr val="BDBDB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, </a:t>
            </a:r>
            <a:pPr algn="l" indent="0" marL="0">
              <a:lnSpc>
                <a:spcPct val="100000"/>
              </a:lnSpc>
              <a:buNone/>
            </a:pPr>
            <a:r>
              <a:rPr lang="en-US" sz="1050" dirty="0">
                <a:solidFill>
                  <a:srgbClr val="F7C87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</a:t>
            </a:r>
            <a:pPr algn="l" indent="0" marL="0">
              <a:lnSpc>
                <a:spcPct val="100000"/>
              </a:lnSpc>
              <a:buNone/>
            </a:pPr>
            <a:r>
              <a:rPr lang="en-US" sz="1050" dirty="0">
                <a:solidFill>
                  <a:srgbClr val="BDBDB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, </a:t>
            </a:r>
            <a:pPr algn="l" indent="0" marL="0">
              <a:lnSpc>
                <a:spcPct val="100000"/>
              </a:lnSpc>
              <a:buNone/>
            </a:pPr>
            <a:r>
              <a:rPr lang="en-US" sz="1050" dirty="0">
                <a:solidFill>
                  <a:srgbClr val="F7C87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255</a:t>
            </a:r>
            <a:pPr algn="l" indent="0" marL="0">
              <a:lnSpc>
                <a:spcPct val="100000"/>
              </a:lnSpc>
              <a:buNone/>
            </a:pPr>
            <a:r>
              <a:rPr lang="en-US" sz="1050" dirty="0">
                <a:solidFill>
                  <a:srgbClr val="BDBDB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)  </a:t>
            </a:r>
            <a:pPr algn="l" indent="0" marL="0">
              <a:lnSpc>
                <a:spcPct val="100000"/>
              </a:lnSpc>
              <a:buNone/>
            </a:pPr>
            <a:r>
              <a:rPr lang="en-US" sz="1050" i="1" dirty="0">
                <a:solidFill>
                  <a:srgbClr val="8E8E8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// → 127</a:t>
            </a:r>
            <a:endParaRPr lang="en-US" sz="1050" dirty="0"/>
          </a:p>
        </p:txBody>
      </p:sp>
      <p:sp>
        <p:nvSpPr>
          <p:cNvPr id="27" name="Shape 22"/>
          <p:cNvSpPr/>
          <p:nvPr/>
        </p:nvSpPr>
        <p:spPr>
          <a:xfrm>
            <a:off x="411480" y="3986784"/>
            <a:ext cx="8321040" cy="585216"/>
          </a:xfrm>
          <a:prstGeom prst="roundRect">
            <a:avLst>
              <a:gd name="adj" fmla="val 18750"/>
            </a:avLst>
          </a:prstGeom>
          <a:solidFill>
            <a:srgbClr val="E3FAF7"/>
          </a:solidFill>
          <a:ln w="12700">
            <a:solidFill>
              <a:srgbClr val="E3FAF7"/>
            </a:solidFill>
            <a:prstDash val="solid"/>
          </a:ln>
        </p:spPr>
      </p:sp>
      <p:sp>
        <p:nvSpPr>
          <p:cNvPr id="28" name="Shape 23"/>
          <p:cNvSpPr/>
          <p:nvPr/>
        </p:nvSpPr>
        <p:spPr>
          <a:xfrm>
            <a:off x="539496" y="4123944"/>
            <a:ext cx="310896" cy="310896"/>
          </a:xfrm>
          <a:prstGeom prst="ellipse">
            <a:avLst/>
          </a:prstGeom>
          <a:solidFill>
            <a:srgbClr val="40E0D0"/>
          </a:solidFill>
          <a:ln w="12700">
            <a:solidFill>
              <a:srgbClr val="40E0D0"/>
            </a:solidFill>
            <a:prstDash val="solid"/>
          </a:ln>
        </p:spPr>
      </p:sp>
      <p:pic>
        <p:nvPicPr>
          <p:cNvPr id="29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14111" y="4198559"/>
            <a:ext cx="161666" cy="161666"/>
          </a:xfrm>
          <a:prstGeom prst="rect">
            <a:avLst/>
          </a:prstGeom>
        </p:spPr>
      </p:pic>
      <p:sp>
        <p:nvSpPr>
          <p:cNvPr id="30" name="Text 24"/>
          <p:cNvSpPr txBox="1"/>
          <p:nvPr/>
        </p:nvSpPr>
        <p:spPr>
          <a:xfrm>
            <a:off x="978408" y="3986784"/>
            <a:ext cx="7626096" cy="5852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10000"/>
              </a:lnSpc>
              <a:buNone/>
            </a:pPr>
            <a:r>
              <a:rPr lang="en-US" sz="1200" dirty="0">
                <a:solidFill>
                  <a:srgbClr val="2D2D2D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实验 2.10（旋钮控制舵机）用 </a:t>
            </a:r>
            <a:pPr algn="l" indent="0" marL="0">
              <a:lnSpc>
                <a:spcPct val="110000"/>
              </a:lnSpc>
              <a:buNone/>
            </a:pPr>
            <a:r>
              <a:rPr lang="en-US" sz="1200" dirty="0">
                <a:solidFill>
                  <a:srgbClr val="2D2D2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readValue / 4</a:t>
            </a:r>
            <a:pPr algn="l" indent="0" marL="0">
              <a:lnSpc>
                <a:spcPct val="110000"/>
              </a:lnSpc>
              <a:buNone/>
            </a:pPr>
            <a:r>
              <a:rPr lang="en-US" sz="1200" dirty="0">
                <a:solidFill>
                  <a:srgbClr val="2D2D2D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 粗略换算角度；</a:t>
            </a:r>
            <a:endParaRPr lang="en-US" sz="1200" dirty="0"/>
          </a:p>
          <a:p>
            <a:pPr algn="l" indent="0" marL="0">
              <a:lnSpc>
                <a:spcPct val="110000"/>
              </a:lnSpc>
              <a:buNone/>
            </a:pPr>
            <a:r>
              <a:rPr lang="en-US" sz="1200" dirty="0">
                <a:solidFill>
                  <a:srgbClr val="2D2D2D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改成 </a:t>
            </a:r>
            <a:pPr algn="l" indent="0" marL="0">
              <a:lnSpc>
                <a:spcPct val="110000"/>
              </a:lnSpc>
              <a:buNone/>
            </a:pPr>
            <a:r>
              <a:rPr lang="en-US" sz="1200" dirty="0">
                <a:solidFill>
                  <a:srgbClr val="2D2D2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map(readValue, 0, 1023, 0, 180)</a:t>
            </a:r>
            <a:pPr algn="l" indent="0" marL="0">
              <a:lnSpc>
                <a:spcPct val="110000"/>
              </a:lnSpc>
              <a:buNone/>
            </a:pPr>
            <a:r>
              <a:rPr lang="en-US" sz="1200" dirty="0">
                <a:solidFill>
                  <a:srgbClr val="2D2D2D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 就能让旋钮完整对应 0～180°。</a:t>
            </a:r>
            <a:endParaRPr lang="en-US" sz="12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339328" y="4736592"/>
            <a:ext cx="393192" cy="219456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 lIns="0" tIns="0" rIns="0" bIns="0" anchor="ctr"/>
          <a:lstStyle>
            <a:lvl1pPr>
              <a:defRPr sz="800">
                <a:solidFill>
                  <a:srgbClr val="6B6B6B"/>
                </a:solidFill>
                <a:latin typeface="微软雅黑"/>
                <a:ea typeface="微软雅黑"/>
                <a:cs typeface="微软雅黑"/>
              </a:defRPr>
            </a:lvl1pPr>
          </a:lstStyle>
          <a:p>
            <a:pPr algn="r"/>
            <a:fld id="{F7021451-1387-4CA6-816F-3879F97B5CBC}" type="slidenum">
              <a:rPr b="0" lang="en-US"/>
              <a:t>30</a:t>
            </a:fld>
            <a:endParaRPr lang="en-US"/>
          </a:p>
        </p:txBody>
      </p:sp>
    </p:spTree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1"/>
          <p:cNvSpPr/>
          <p:nvPr>
            <p:ph idx="102" type="body" hasCustomPrompt="1"/>
          </p:nvPr>
        </p:nvSpPr>
        <p:spPr>
          <a:xfrm>
            <a:off x="4572000" y="4736592"/>
            <a:ext cx="370332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2D2D2D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把代码打包</a:t>
            </a:r>
            <a:endParaRPr lang="en-US" sz="800" dirty="0"/>
          </a:p>
        </p:txBody>
      </p:sp>
      <p:sp>
        <p:nvSpPr>
          <p:cNvPr id="3" name="Text 1"/>
          <p:cNvSpPr/>
          <p:nvPr>
            <p:ph idx="103" type="title" hasCustomPrompt="1"/>
          </p:nvPr>
        </p:nvSpPr>
        <p:spPr>
          <a:xfrm>
            <a:off x="411480" y="274320"/>
            <a:ext cx="83210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400" dirty="0">
                <a:solidFill>
                  <a:srgbClr val="2D2D2D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示例：旋钮调亮度（1/2）</a:t>
            </a:r>
            <a:endParaRPr lang="en-US" sz="2400" dirty="0"/>
          </a:p>
        </p:txBody>
      </p:sp>
      <p:sp>
        <p:nvSpPr>
          <p:cNvPr id="4" name="Text 1"/>
          <p:cNvSpPr/>
          <p:nvPr>
            <p:ph idx="104" type="body" hasCustomPrompt="1"/>
          </p:nvPr>
        </p:nvSpPr>
        <p:spPr>
          <a:xfrm>
            <a:off x="411480" y="786384"/>
            <a:ext cx="83210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6B6B6B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电位器接 A0、LED 接 9 号 PWM 引脚；第 1–7 行先起名字、做准备。</a:t>
            </a:r>
            <a:endParaRPr lang="en-US" sz="1200" dirty="0"/>
          </a:p>
        </p:txBody>
      </p:sp>
      <p:sp>
        <p:nvSpPr>
          <p:cNvPr id="6" name="Shape 3"/>
          <p:cNvSpPr/>
          <p:nvPr/>
        </p:nvSpPr>
        <p:spPr>
          <a:xfrm>
            <a:off x="411480" y="1234440"/>
            <a:ext cx="4846320" cy="1810512"/>
          </a:xfrm>
          <a:prstGeom prst="roundRect">
            <a:avLst>
              <a:gd name="adj" fmla="val 5051"/>
            </a:avLst>
          </a:prstGeom>
          <a:solidFill>
            <a:srgbClr val="2D2D2D"/>
          </a:solidFill>
          <a:ln w="12700">
            <a:solidFill>
              <a:srgbClr val="2D2D2D"/>
            </a:solidFill>
            <a:prstDash val="solid"/>
          </a:ln>
        </p:spPr>
      </p:sp>
      <p:sp>
        <p:nvSpPr>
          <p:cNvPr id="7" name="Text 4"/>
          <p:cNvSpPr txBox="1"/>
          <p:nvPr/>
        </p:nvSpPr>
        <p:spPr>
          <a:xfrm>
            <a:off x="539496" y="1298448"/>
            <a:ext cx="2907792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1000" dirty="0">
                <a:solidFill>
                  <a:srgbClr val="9A9A9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map_demo.ino</a:t>
            </a:r>
            <a:endParaRPr lang="en-US" sz="1000" dirty="0"/>
          </a:p>
        </p:txBody>
      </p:sp>
      <p:sp>
        <p:nvSpPr>
          <p:cNvPr id="8" name="Text 5"/>
          <p:cNvSpPr txBox="1"/>
          <p:nvPr/>
        </p:nvSpPr>
        <p:spPr>
          <a:xfrm>
            <a:off x="2350008" y="1298448"/>
            <a:ext cx="277977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lnSpc>
                <a:spcPct val="115000"/>
              </a:lnSpc>
              <a:buNone/>
            </a:pPr>
            <a:r>
              <a:rPr lang="en-US" sz="1000" dirty="0">
                <a:solidFill>
                  <a:srgbClr val="9A9A9A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第 1–7 行</a:t>
            </a:r>
            <a:endParaRPr lang="en-US" sz="1000" dirty="0"/>
          </a:p>
        </p:txBody>
      </p:sp>
      <p:sp>
        <p:nvSpPr>
          <p:cNvPr id="9" name="Shape 6"/>
          <p:cNvSpPr/>
          <p:nvPr/>
        </p:nvSpPr>
        <p:spPr>
          <a:xfrm>
            <a:off x="457200" y="1545336"/>
            <a:ext cx="4754880" cy="198628"/>
          </a:xfrm>
          <a:prstGeom prst="rect">
            <a:avLst/>
          </a:prstGeom>
          <a:solidFill>
            <a:srgbClr val="3E5250"/>
          </a:solidFill>
          <a:ln w="12700">
            <a:solidFill>
              <a:srgbClr val="3E5250"/>
            </a:solidFill>
            <a:prstDash val="solid"/>
          </a:ln>
        </p:spPr>
      </p:sp>
      <p:sp>
        <p:nvSpPr>
          <p:cNvPr id="10" name="Text 7"/>
          <p:cNvSpPr txBox="1"/>
          <p:nvPr/>
        </p:nvSpPr>
        <p:spPr>
          <a:xfrm>
            <a:off x="502920" y="1545336"/>
            <a:ext cx="140675" cy="1986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lnSpc>
                <a:spcPct val="115000"/>
              </a:lnSpc>
              <a:buNone/>
            </a:pPr>
            <a:r>
              <a:rPr lang="en-US" sz="1050" b="1" dirty="0">
                <a:solidFill>
                  <a:srgbClr val="40E0D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1</a:t>
            </a:r>
            <a:endParaRPr lang="en-US" sz="1050" dirty="0"/>
          </a:p>
        </p:txBody>
      </p:sp>
      <p:sp>
        <p:nvSpPr>
          <p:cNvPr id="11" name="Text 8"/>
          <p:cNvSpPr txBox="1"/>
          <p:nvPr/>
        </p:nvSpPr>
        <p:spPr>
          <a:xfrm>
            <a:off x="768093" y="1545336"/>
            <a:ext cx="4361691" cy="1986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40E0D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int </a:t>
            </a:r>
            <a:pPr indent="0" marL="0">
              <a:buNone/>
            </a:pPr>
            <a:r>
              <a:rPr lang="en-US" sz="1150" dirty="0">
                <a:solidFill>
                  <a:srgbClr val="D9D9D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knob </a:t>
            </a:r>
            <a:pPr indent="0" marL="0">
              <a:buNone/>
            </a:pPr>
            <a:r>
              <a:rPr lang="en-US" sz="1150" dirty="0">
                <a:solidFill>
                  <a:srgbClr val="BDBDB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= </a:t>
            </a:r>
            <a:pPr indent="0" marL="0">
              <a:buNone/>
            </a:pPr>
            <a:r>
              <a:rPr lang="en-US" sz="1150" dirty="0">
                <a:solidFill>
                  <a:srgbClr val="F7C87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A0</a:t>
            </a:r>
            <a:pPr indent="0" marL="0">
              <a:buNone/>
            </a:pPr>
            <a:r>
              <a:rPr lang="en-US" sz="1150" dirty="0">
                <a:solidFill>
                  <a:srgbClr val="BDBDB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;     </a:t>
            </a:r>
            <a:pPr indent="0" marL="0">
              <a:buNone/>
            </a:pPr>
            <a:r>
              <a:rPr lang="en-US" sz="1150" i="1" dirty="0">
                <a:solidFill>
                  <a:srgbClr val="8E8E8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// 电位器接 A0</a:t>
            </a:r>
            <a:endParaRPr lang="en-US" sz="1150" dirty="0"/>
          </a:p>
        </p:txBody>
      </p:sp>
      <p:sp>
        <p:nvSpPr>
          <p:cNvPr id="12" name="Shape 9"/>
          <p:cNvSpPr/>
          <p:nvPr/>
        </p:nvSpPr>
        <p:spPr>
          <a:xfrm>
            <a:off x="457200" y="1743964"/>
            <a:ext cx="4754880" cy="198628"/>
          </a:xfrm>
          <a:prstGeom prst="rect">
            <a:avLst/>
          </a:prstGeom>
          <a:solidFill>
            <a:srgbClr val="3E5250"/>
          </a:solidFill>
          <a:ln w="12700">
            <a:solidFill>
              <a:srgbClr val="3E5250"/>
            </a:solidFill>
            <a:prstDash val="solid"/>
          </a:ln>
        </p:spPr>
      </p:sp>
      <p:sp>
        <p:nvSpPr>
          <p:cNvPr id="13" name="Text 10"/>
          <p:cNvSpPr txBox="1"/>
          <p:nvPr/>
        </p:nvSpPr>
        <p:spPr>
          <a:xfrm>
            <a:off x="502920" y="1743964"/>
            <a:ext cx="140675" cy="1986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lnSpc>
                <a:spcPct val="115000"/>
              </a:lnSpc>
              <a:buNone/>
            </a:pPr>
            <a:r>
              <a:rPr lang="en-US" sz="1050" b="1" dirty="0">
                <a:solidFill>
                  <a:srgbClr val="40E0D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2</a:t>
            </a:r>
            <a:endParaRPr lang="en-US" sz="1050" dirty="0"/>
          </a:p>
        </p:txBody>
      </p:sp>
      <p:sp>
        <p:nvSpPr>
          <p:cNvPr id="14" name="Text 11"/>
          <p:cNvSpPr txBox="1"/>
          <p:nvPr/>
        </p:nvSpPr>
        <p:spPr>
          <a:xfrm>
            <a:off x="768093" y="1743964"/>
            <a:ext cx="4361691" cy="1986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40E0D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int </a:t>
            </a:r>
            <a:pPr indent="0" marL="0">
              <a:buNone/>
            </a:pPr>
            <a:r>
              <a:rPr lang="en-US" sz="1150" dirty="0">
                <a:solidFill>
                  <a:srgbClr val="D9D9D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led  </a:t>
            </a:r>
            <a:pPr indent="0" marL="0">
              <a:buNone/>
            </a:pPr>
            <a:r>
              <a:rPr lang="en-US" sz="1150" dirty="0">
                <a:solidFill>
                  <a:srgbClr val="BDBDB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= </a:t>
            </a:r>
            <a:pPr indent="0" marL="0">
              <a:buNone/>
            </a:pPr>
            <a:r>
              <a:rPr lang="en-US" sz="1150" dirty="0">
                <a:solidFill>
                  <a:srgbClr val="F7C87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9</a:t>
            </a:r>
            <a:pPr indent="0" marL="0">
              <a:buNone/>
            </a:pPr>
            <a:r>
              <a:rPr lang="en-US" sz="1150" dirty="0">
                <a:solidFill>
                  <a:srgbClr val="BDBDB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;      </a:t>
            </a:r>
            <a:pPr indent="0" marL="0">
              <a:buNone/>
            </a:pPr>
            <a:r>
              <a:rPr lang="en-US" sz="1150" i="1" dirty="0">
                <a:solidFill>
                  <a:srgbClr val="8E8E8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// LED 接 9 号（PWM 引脚）</a:t>
            </a:r>
            <a:endParaRPr lang="en-US" sz="1150" dirty="0"/>
          </a:p>
        </p:txBody>
      </p:sp>
      <p:sp>
        <p:nvSpPr>
          <p:cNvPr id="15" name="Text 12"/>
          <p:cNvSpPr txBox="1"/>
          <p:nvPr/>
        </p:nvSpPr>
        <p:spPr>
          <a:xfrm>
            <a:off x="502920" y="1942592"/>
            <a:ext cx="140675" cy="1986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lnSpc>
                <a:spcPct val="115000"/>
              </a:lnSpc>
              <a:buNone/>
            </a:pPr>
            <a:r>
              <a:rPr lang="en-US" sz="1050" dirty="0">
                <a:solidFill>
                  <a:srgbClr val="7A7A7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3</a:t>
            </a:r>
            <a:endParaRPr lang="en-US" sz="1050" dirty="0"/>
          </a:p>
        </p:txBody>
      </p:sp>
      <p:sp>
        <p:nvSpPr>
          <p:cNvPr id="16" name="Text 13"/>
          <p:cNvSpPr txBox="1"/>
          <p:nvPr/>
        </p:nvSpPr>
        <p:spPr>
          <a:xfrm>
            <a:off x="768093" y="1942592"/>
            <a:ext cx="4361691" cy="1986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D9D9D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endParaRPr lang="en-US" sz="1150" dirty="0"/>
          </a:p>
        </p:txBody>
      </p:sp>
      <p:sp>
        <p:nvSpPr>
          <p:cNvPr id="17" name="Text 14"/>
          <p:cNvSpPr txBox="1"/>
          <p:nvPr/>
        </p:nvSpPr>
        <p:spPr>
          <a:xfrm>
            <a:off x="502920" y="2141220"/>
            <a:ext cx="140675" cy="1986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lnSpc>
                <a:spcPct val="115000"/>
              </a:lnSpc>
              <a:buNone/>
            </a:pPr>
            <a:r>
              <a:rPr lang="en-US" sz="1050" dirty="0">
                <a:solidFill>
                  <a:srgbClr val="7A7A7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4</a:t>
            </a:r>
            <a:endParaRPr lang="en-US" sz="1050" dirty="0"/>
          </a:p>
        </p:txBody>
      </p:sp>
      <p:sp>
        <p:nvSpPr>
          <p:cNvPr id="18" name="Text 15"/>
          <p:cNvSpPr txBox="1"/>
          <p:nvPr/>
        </p:nvSpPr>
        <p:spPr>
          <a:xfrm>
            <a:off x="768093" y="2141220"/>
            <a:ext cx="4361691" cy="1986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40E0D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void </a:t>
            </a:r>
            <a:pPr indent="0" marL="0">
              <a:buNone/>
            </a:pPr>
            <a:r>
              <a:rPr lang="en-US" sz="1150" b="1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setup</a:t>
            </a:r>
            <a:pPr indent="0" marL="0">
              <a:buNone/>
            </a:pPr>
            <a:r>
              <a:rPr lang="en-US" sz="1150" dirty="0">
                <a:solidFill>
                  <a:srgbClr val="BDBDB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() {</a:t>
            </a:r>
            <a:endParaRPr lang="en-US" sz="1150" dirty="0"/>
          </a:p>
        </p:txBody>
      </p:sp>
      <p:sp>
        <p:nvSpPr>
          <p:cNvPr id="19" name="Shape 16"/>
          <p:cNvSpPr/>
          <p:nvPr/>
        </p:nvSpPr>
        <p:spPr>
          <a:xfrm>
            <a:off x="457200" y="2339848"/>
            <a:ext cx="4754880" cy="198628"/>
          </a:xfrm>
          <a:prstGeom prst="rect">
            <a:avLst/>
          </a:prstGeom>
          <a:solidFill>
            <a:srgbClr val="3E5250"/>
          </a:solidFill>
          <a:ln w="12700">
            <a:solidFill>
              <a:srgbClr val="3E5250"/>
            </a:solidFill>
            <a:prstDash val="solid"/>
          </a:ln>
        </p:spPr>
      </p:sp>
      <p:sp>
        <p:nvSpPr>
          <p:cNvPr id="20" name="Text 17"/>
          <p:cNvSpPr txBox="1"/>
          <p:nvPr/>
        </p:nvSpPr>
        <p:spPr>
          <a:xfrm>
            <a:off x="502920" y="2339848"/>
            <a:ext cx="140675" cy="1986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lnSpc>
                <a:spcPct val="115000"/>
              </a:lnSpc>
              <a:buNone/>
            </a:pPr>
            <a:r>
              <a:rPr lang="en-US" sz="1050" b="1" dirty="0">
                <a:solidFill>
                  <a:srgbClr val="40E0D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5</a:t>
            </a:r>
            <a:endParaRPr lang="en-US" sz="1050" dirty="0"/>
          </a:p>
        </p:txBody>
      </p:sp>
      <p:sp>
        <p:nvSpPr>
          <p:cNvPr id="21" name="Text 18"/>
          <p:cNvSpPr txBox="1"/>
          <p:nvPr/>
        </p:nvSpPr>
        <p:spPr>
          <a:xfrm>
            <a:off x="768093" y="2339848"/>
            <a:ext cx="4361691" cy="1986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D9D9D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</a:t>
            </a:r>
            <a:pPr indent="0" marL="0">
              <a:buNone/>
            </a:pPr>
            <a:r>
              <a:rPr lang="en-US" sz="1150" b="1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pinMode</a:t>
            </a:r>
            <a:pPr indent="0" marL="0">
              <a:buNone/>
            </a:pPr>
            <a:r>
              <a:rPr lang="en-US" sz="1150" dirty="0">
                <a:solidFill>
                  <a:srgbClr val="BDBDB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(</a:t>
            </a:r>
            <a:pPr indent="0" marL="0">
              <a:buNone/>
            </a:pPr>
            <a:r>
              <a:rPr lang="en-US" sz="1150" dirty="0">
                <a:solidFill>
                  <a:srgbClr val="D9D9D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led</a:t>
            </a:r>
            <a:pPr indent="0" marL="0">
              <a:buNone/>
            </a:pPr>
            <a:r>
              <a:rPr lang="en-US" sz="1150" dirty="0">
                <a:solidFill>
                  <a:srgbClr val="BDBDB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, </a:t>
            </a:r>
            <a:pPr indent="0" marL="0">
              <a:buNone/>
            </a:pPr>
            <a:r>
              <a:rPr lang="en-US" sz="1150" dirty="0">
                <a:solidFill>
                  <a:srgbClr val="F7C87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OUTPUT</a:t>
            </a:r>
            <a:pPr indent="0" marL="0">
              <a:buNone/>
            </a:pPr>
            <a:r>
              <a:rPr lang="en-US" sz="1150" dirty="0">
                <a:solidFill>
                  <a:srgbClr val="BDBDB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);</a:t>
            </a:r>
            <a:endParaRPr lang="en-US" sz="1150" dirty="0"/>
          </a:p>
        </p:txBody>
      </p:sp>
      <p:sp>
        <p:nvSpPr>
          <p:cNvPr id="22" name="Shape 19"/>
          <p:cNvSpPr/>
          <p:nvPr/>
        </p:nvSpPr>
        <p:spPr>
          <a:xfrm>
            <a:off x="457200" y="2538476"/>
            <a:ext cx="4754880" cy="198628"/>
          </a:xfrm>
          <a:prstGeom prst="rect">
            <a:avLst/>
          </a:prstGeom>
          <a:solidFill>
            <a:srgbClr val="3E5250"/>
          </a:solidFill>
          <a:ln w="12700">
            <a:solidFill>
              <a:srgbClr val="3E5250"/>
            </a:solidFill>
            <a:prstDash val="solid"/>
          </a:ln>
        </p:spPr>
      </p:sp>
      <p:sp>
        <p:nvSpPr>
          <p:cNvPr id="23" name="Text 20"/>
          <p:cNvSpPr txBox="1"/>
          <p:nvPr/>
        </p:nvSpPr>
        <p:spPr>
          <a:xfrm>
            <a:off x="502920" y="2538476"/>
            <a:ext cx="140675" cy="1986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lnSpc>
                <a:spcPct val="115000"/>
              </a:lnSpc>
              <a:buNone/>
            </a:pPr>
            <a:r>
              <a:rPr lang="en-US" sz="1050" b="1" dirty="0">
                <a:solidFill>
                  <a:srgbClr val="40E0D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6</a:t>
            </a:r>
            <a:endParaRPr lang="en-US" sz="1050" dirty="0"/>
          </a:p>
        </p:txBody>
      </p:sp>
      <p:sp>
        <p:nvSpPr>
          <p:cNvPr id="24" name="Text 21"/>
          <p:cNvSpPr txBox="1"/>
          <p:nvPr/>
        </p:nvSpPr>
        <p:spPr>
          <a:xfrm>
            <a:off x="768093" y="2538476"/>
            <a:ext cx="4361691" cy="1986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D9D9D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</a:t>
            </a:r>
            <a:pPr indent="0" marL="0">
              <a:buNone/>
            </a:pPr>
            <a:r>
              <a:rPr lang="en-US" sz="1150" b="1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Serial</a:t>
            </a:r>
            <a:pPr indent="0" marL="0">
              <a:buNone/>
            </a:pPr>
            <a:r>
              <a:rPr lang="en-US" sz="1150" dirty="0">
                <a:solidFill>
                  <a:srgbClr val="BDBDB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.</a:t>
            </a:r>
            <a:pPr indent="0" marL="0">
              <a:buNone/>
            </a:pPr>
            <a:r>
              <a:rPr lang="en-US" sz="1150" b="1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begin</a:t>
            </a:r>
            <a:pPr indent="0" marL="0">
              <a:buNone/>
            </a:pPr>
            <a:r>
              <a:rPr lang="en-US" sz="1150" dirty="0">
                <a:solidFill>
                  <a:srgbClr val="BDBDB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(</a:t>
            </a:r>
            <a:pPr indent="0" marL="0">
              <a:buNone/>
            </a:pPr>
            <a:r>
              <a:rPr lang="en-US" sz="1150" dirty="0">
                <a:solidFill>
                  <a:srgbClr val="F7C87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9600</a:t>
            </a:r>
            <a:pPr indent="0" marL="0">
              <a:buNone/>
            </a:pPr>
            <a:r>
              <a:rPr lang="en-US" sz="1150" dirty="0">
                <a:solidFill>
                  <a:srgbClr val="BDBDB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);</a:t>
            </a:r>
            <a:endParaRPr lang="en-US" sz="1150" dirty="0"/>
          </a:p>
        </p:txBody>
      </p:sp>
      <p:sp>
        <p:nvSpPr>
          <p:cNvPr id="25" name="Text 22"/>
          <p:cNvSpPr txBox="1"/>
          <p:nvPr/>
        </p:nvSpPr>
        <p:spPr>
          <a:xfrm>
            <a:off x="502920" y="2737104"/>
            <a:ext cx="140675" cy="1986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lnSpc>
                <a:spcPct val="115000"/>
              </a:lnSpc>
              <a:buNone/>
            </a:pPr>
            <a:r>
              <a:rPr lang="en-US" sz="1050" dirty="0">
                <a:solidFill>
                  <a:srgbClr val="7A7A7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7</a:t>
            </a:r>
            <a:endParaRPr lang="en-US" sz="1050" dirty="0"/>
          </a:p>
        </p:txBody>
      </p:sp>
      <p:sp>
        <p:nvSpPr>
          <p:cNvPr id="26" name="Text 23"/>
          <p:cNvSpPr txBox="1"/>
          <p:nvPr/>
        </p:nvSpPr>
        <p:spPr>
          <a:xfrm>
            <a:off x="768093" y="2737104"/>
            <a:ext cx="4361691" cy="1986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BDBDB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}</a:t>
            </a:r>
            <a:endParaRPr lang="en-US" sz="1150" dirty="0"/>
          </a:p>
        </p:txBody>
      </p:sp>
      <p:sp>
        <p:nvSpPr>
          <p:cNvPr id="27" name="Shape 24"/>
          <p:cNvSpPr/>
          <p:nvPr/>
        </p:nvSpPr>
        <p:spPr>
          <a:xfrm>
            <a:off x="411480" y="3319272"/>
            <a:ext cx="4846320" cy="1252728"/>
          </a:xfrm>
          <a:prstGeom prst="roundRect">
            <a:avLst>
              <a:gd name="adj" fmla="val 8759"/>
            </a:avLst>
          </a:prstGeom>
          <a:solidFill>
            <a:srgbClr val="F5F5F5"/>
          </a:solidFill>
          <a:ln w="12700">
            <a:solidFill>
              <a:srgbClr val="F5F5F5"/>
            </a:solidFill>
            <a:prstDash val="solid"/>
          </a:ln>
        </p:spPr>
      </p:sp>
      <p:sp>
        <p:nvSpPr>
          <p:cNvPr id="28" name="Shape 25"/>
          <p:cNvSpPr/>
          <p:nvPr/>
        </p:nvSpPr>
        <p:spPr>
          <a:xfrm>
            <a:off x="576072" y="3438144"/>
            <a:ext cx="329184" cy="329184"/>
          </a:xfrm>
          <a:prstGeom prst="ellipse">
            <a:avLst/>
          </a:prstGeom>
          <a:solidFill>
            <a:srgbClr val="40E0D0"/>
          </a:solidFill>
          <a:ln w="12700">
            <a:solidFill>
              <a:srgbClr val="40E0D0"/>
            </a:solidFill>
            <a:prstDash val="solid"/>
          </a:ln>
        </p:spPr>
      </p:sp>
      <p:pic>
        <p:nvPicPr>
          <p:cNvPr id="29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55076" y="3517148"/>
            <a:ext cx="171176" cy="171176"/>
          </a:xfrm>
          <a:prstGeom prst="rect">
            <a:avLst/>
          </a:prstGeom>
        </p:spPr>
      </p:pic>
      <p:sp>
        <p:nvSpPr>
          <p:cNvPr id="30" name="Text 26"/>
          <p:cNvSpPr txBox="1"/>
          <p:nvPr/>
        </p:nvSpPr>
        <p:spPr>
          <a:xfrm>
            <a:off x="1033272" y="3419856"/>
            <a:ext cx="2286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1400" b="1" dirty="0">
                <a:solidFill>
                  <a:srgbClr val="2D2D2D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实验目的</a:t>
            </a:r>
            <a:endParaRPr lang="en-US" sz="1400" dirty="0"/>
          </a:p>
        </p:txBody>
      </p:sp>
      <p:sp>
        <p:nvSpPr>
          <p:cNvPr id="31" name="Text 27"/>
          <p:cNvSpPr txBox="1"/>
          <p:nvPr/>
        </p:nvSpPr>
        <p:spPr>
          <a:xfrm>
            <a:off x="576072" y="3822192"/>
            <a:ext cx="4517136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1200" dirty="0">
                <a:solidFill>
                  <a:srgbClr val="2D2D2D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转动旋钮，LED 从灭到最亮连续变化；串口同时打印读数和亮度。</a:t>
            </a:r>
            <a:endParaRPr lang="en-US" sz="1200" dirty="0"/>
          </a:p>
        </p:txBody>
      </p:sp>
      <p:sp>
        <p:nvSpPr>
          <p:cNvPr id="32" name="Shape 28"/>
          <p:cNvSpPr/>
          <p:nvPr/>
        </p:nvSpPr>
        <p:spPr>
          <a:xfrm>
            <a:off x="576072" y="4242816"/>
            <a:ext cx="1037844" cy="253365"/>
          </a:xfrm>
          <a:prstGeom prst="roundRect">
            <a:avLst>
              <a:gd name="adj" fmla="val 50000"/>
            </a:avLst>
          </a:prstGeom>
          <a:solidFill>
            <a:srgbClr val="2D2D2D"/>
          </a:solidFill>
          <a:ln w="12700">
            <a:solidFill>
              <a:srgbClr val="2D2D2D"/>
            </a:solidFill>
            <a:prstDash val="solid"/>
          </a:ln>
        </p:spPr>
      </p:sp>
      <p:sp>
        <p:nvSpPr>
          <p:cNvPr id="33" name="Text 29"/>
          <p:cNvSpPr txBox="1"/>
          <p:nvPr/>
        </p:nvSpPr>
        <p:spPr>
          <a:xfrm>
            <a:off x="576072" y="4242816"/>
            <a:ext cx="1037844" cy="25336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15000"/>
              </a:lnSpc>
              <a:buNone/>
            </a:pPr>
            <a:r>
              <a:rPr lang="en-US" sz="105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analogRead</a:t>
            </a:r>
            <a:endParaRPr lang="en-US" sz="1050" dirty="0"/>
          </a:p>
        </p:txBody>
      </p:sp>
      <p:sp>
        <p:nvSpPr>
          <p:cNvPr id="34" name="Shape 30"/>
          <p:cNvSpPr/>
          <p:nvPr/>
        </p:nvSpPr>
        <p:spPr>
          <a:xfrm>
            <a:off x="1687068" y="4242816"/>
            <a:ext cx="477774" cy="253365"/>
          </a:xfrm>
          <a:prstGeom prst="roundRect">
            <a:avLst>
              <a:gd name="adj" fmla="val 50000"/>
            </a:avLst>
          </a:prstGeom>
          <a:solidFill>
            <a:srgbClr val="2D2D2D"/>
          </a:solidFill>
          <a:ln w="12700">
            <a:solidFill>
              <a:srgbClr val="2D2D2D"/>
            </a:solidFill>
            <a:prstDash val="solid"/>
          </a:ln>
        </p:spPr>
      </p:sp>
      <p:sp>
        <p:nvSpPr>
          <p:cNvPr id="35" name="Text 31"/>
          <p:cNvSpPr txBox="1"/>
          <p:nvPr/>
        </p:nvSpPr>
        <p:spPr>
          <a:xfrm>
            <a:off x="1687068" y="4242816"/>
            <a:ext cx="477774" cy="25336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15000"/>
              </a:lnSpc>
              <a:buNone/>
            </a:pPr>
            <a:r>
              <a:rPr lang="en-US" sz="105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map</a:t>
            </a:r>
            <a:endParaRPr lang="en-US" sz="1050" dirty="0"/>
          </a:p>
        </p:txBody>
      </p:sp>
      <p:sp>
        <p:nvSpPr>
          <p:cNvPr id="36" name="Shape 32"/>
          <p:cNvSpPr/>
          <p:nvPr/>
        </p:nvSpPr>
        <p:spPr>
          <a:xfrm>
            <a:off x="2237994" y="4242816"/>
            <a:ext cx="957834" cy="253365"/>
          </a:xfrm>
          <a:prstGeom prst="roundRect">
            <a:avLst>
              <a:gd name="adj" fmla="val 50000"/>
            </a:avLst>
          </a:prstGeom>
          <a:solidFill>
            <a:srgbClr val="2D2D2D"/>
          </a:solidFill>
          <a:ln w="12700">
            <a:solidFill>
              <a:srgbClr val="2D2D2D"/>
            </a:solidFill>
            <a:prstDash val="solid"/>
          </a:ln>
        </p:spPr>
      </p:sp>
      <p:sp>
        <p:nvSpPr>
          <p:cNvPr id="37" name="Text 33"/>
          <p:cNvSpPr txBox="1"/>
          <p:nvPr/>
        </p:nvSpPr>
        <p:spPr>
          <a:xfrm>
            <a:off x="2237994" y="4242816"/>
            <a:ext cx="957834" cy="25336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15000"/>
              </a:lnSpc>
              <a:buNone/>
            </a:pPr>
            <a:r>
              <a:rPr lang="en-US" sz="105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constrain</a:t>
            </a:r>
            <a:endParaRPr lang="en-US" sz="1050" dirty="0"/>
          </a:p>
        </p:txBody>
      </p:sp>
      <p:sp>
        <p:nvSpPr>
          <p:cNvPr id="38" name="Shape 34"/>
          <p:cNvSpPr/>
          <p:nvPr/>
        </p:nvSpPr>
        <p:spPr>
          <a:xfrm>
            <a:off x="3268980" y="4242816"/>
            <a:ext cx="1117854" cy="253365"/>
          </a:xfrm>
          <a:prstGeom prst="roundRect">
            <a:avLst>
              <a:gd name="adj" fmla="val 50000"/>
            </a:avLst>
          </a:prstGeom>
          <a:solidFill>
            <a:srgbClr val="2D2D2D"/>
          </a:solidFill>
          <a:ln w="12700">
            <a:solidFill>
              <a:srgbClr val="2D2D2D"/>
            </a:solidFill>
            <a:prstDash val="solid"/>
          </a:ln>
        </p:spPr>
      </p:sp>
      <p:sp>
        <p:nvSpPr>
          <p:cNvPr id="39" name="Text 35"/>
          <p:cNvSpPr txBox="1"/>
          <p:nvPr/>
        </p:nvSpPr>
        <p:spPr>
          <a:xfrm>
            <a:off x="3268980" y="4242816"/>
            <a:ext cx="1117854" cy="25336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15000"/>
              </a:lnSpc>
              <a:buNone/>
            </a:pPr>
            <a:r>
              <a:rPr lang="en-US" sz="105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analogWrite</a:t>
            </a:r>
            <a:endParaRPr lang="en-US" sz="1050" dirty="0"/>
          </a:p>
        </p:txBody>
      </p:sp>
      <p:sp>
        <p:nvSpPr>
          <p:cNvPr id="40" name="Text 36"/>
          <p:cNvSpPr txBox="1"/>
          <p:nvPr/>
        </p:nvSpPr>
        <p:spPr>
          <a:xfrm>
            <a:off x="5532120" y="1234440"/>
            <a:ext cx="3200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1300" b="1" dirty="0">
                <a:solidFill>
                  <a:srgbClr val="2D2D2D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逐行看懂</a:t>
            </a:r>
            <a:endParaRPr lang="en-US" sz="1300" dirty="0"/>
          </a:p>
        </p:txBody>
      </p:sp>
      <p:sp>
        <p:nvSpPr>
          <p:cNvPr id="41" name="Shape 37"/>
          <p:cNvSpPr/>
          <p:nvPr/>
        </p:nvSpPr>
        <p:spPr>
          <a:xfrm>
            <a:off x="5532120" y="1600200"/>
            <a:ext cx="578612" cy="219456"/>
          </a:xfrm>
          <a:prstGeom prst="roundRect">
            <a:avLst>
              <a:gd name="adj" fmla="val 50000"/>
            </a:avLst>
          </a:prstGeom>
          <a:solidFill>
            <a:srgbClr val="40E0D0"/>
          </a:solidFill>
          <a:ln w="12700">
            <a:solidFill>
              <a:srgbClr val="40E0D0"/>
            </a:solidFill>
            <a:prstDash val="solid"/>
          </a:ln>
        </p:spPr>
      </p:sp>
      <p:sp>
        <p:nvSpPr>
          <p:cNvPr id="42" name="Text 38"/>
          <p:cNvSpPr txBox="1"/>
          <p:nvPr/>
        </p:nvSpPr>
        <p:spPr>
          <a:xfrm>
            <a:off x="5532120" y="1600200"/>
            <a:ext cx="578612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15000"/>
              </a:lnSpc>
              <a:buNone/>
            </a:pPr>
            <a:r>
              <a:rPr lang="en-US" sz="950" b="1" dirty="0">
                <a:solidFill>
                  <a:srgbClr val="2D2D2D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第 1 行</a:t>
            </a:r>
            <a:endParaRPr lang="en-US" sz="950" dirty="0"/>
          </a:p>
        </p:txBody>
      </p:sp>
      <p:sp>
        <p:nvSpPr>
          <p:cNvPr id="43" name="Text 39"/>
          <p:cNvSpPr txBox="1"/>
          <p:nvPr/>
        </p:nvSpPr>
        <p:spPr>
          <a:xfrm>
            <a:off x="6202172" y="1591056"/>
            <a:ext cx="253034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0000"/>
              </a:lnSpc>
              <a:buNone/>
            </a:pPr>
            <a:r>
              <a:rPr lang="en-US" sz="1200" dirty="0">
                <a:solidFill>
                  <a:srgbClr val="2D2D2D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给 A0 起名 knob</a:t>
            </a:r>
            <a:endParaRPr lang="en-US" sz="1200" dirty="0"/>
          </a:p>
        </p:txBody>
      </p:sp>
      <p:sp>
        <p:nvSpPr>
          <p:cNvPr id="44" name="Shape 40"/>
          <p:cNvSpPr/>
          <p:nvPr/>
        </p:nvSpPr>
        <p:spPr>
          <a:xfrm>
            <a:off x="5532120" y="1911096"/>
            <a:ext cx="578612" cy="219456"/>
          </a:xfrm>
          <a:prstGeom prst="roundRect">
            <a:avLst>
              <a:gd name="adj" fmla="val 50000"/>
            </a:avLst>
          </a:prstGeom>
          <a:solidFill>
            <a:srgbClr val="40E0D0"/>
          </a:solidFill>
          <a:ln w="12700">
            <a:solidFill>
              <a:srgbClr val="40E0D0"/>
            </a:solidFill>
            <a:prstDash val="solid"/>
          </a:ln>
        </p:spPr>
      </p:sp>
      <p:sp>
        <p:nvSpPr>
          <p:cNvPr id="45" name="Text 41"/>
          <p:cNvSpPr txBox="1"/>
          <p:nvPr/>
        </p:nvSpPr>
        <p:spPr>
          <a:xfrm>
            <a:off x="5532120" y="1911096"/>
            <a:ext cx="578612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15000"/>
              </a:lnSpc>
              <a:buNone/>
            </a:pPr>
            <a:r>
              <a:rPr lang="en-US" sz="950" b="1" dirty="0">
                <a:solidFill>
                  <a:srgbClr val="2D2D2D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第 2 行</a:t>
            </a:r>
            <a:endParaRPr lang="en-US" sz="950" dirty="0"/>
          </a:p>
        </p:txBody>
      </p:sp>
      <p:sp>
        <p:nvSpPr>
          <p:cNvPr id="46" name="Text 42"/>
          <p:cNvSpPr txBox="1"/>
          <p:nvPr/>
        </p:nvSpPr>
        <p:spPr>
          <a:xfrm>
            <a:off x="6202172" y="1901952"/>
            <a:ext cx="253034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0000"/>
              </a:lnSpc>
              <a:buNone/>
            </a:pPr>
            <a:r>
              <a:rPr lang="en-US" sz="1200" dirty="0">
                <a:solidFill>
                  <a:srgbClr val="2D2D2D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给 9 号脚起名 led，它带 ~</a:t>
            </a:r>
            <a:endParaRPr lang="en-US" sz="1200" dirty="0"/>
          </a:p>
        </p:txBody>
      </p:sp>
      <p:sp>
        <p:nvSpPr>
          <p:cNvPr id="47" name="Shape 43"/>
          <p:cNvSpPr/>
          <p:nvPr/>
        </p:nvSpPr>
        <p:spPr>
          <a:xfrm>
            <a:off x="5532120" y="2329434"/>
            <a:ext cx="578612" cy="219456"/>
          </a:xfrm>
          <a:prstGeom prst="roundRect">
            <a:avLst>
              <a:gd name="adj" fmla="val 50000"/>
            </a:avLst>
          </a:prstGeom>
          <a:solidFill>
            <a:srgbClr val="40E0D0"/>
          </a:solidFill>
          <a:ln w="12700">
            <a:solidFill>
              <a:srgbClr val="40E0D0"/>
            </a:solidFill>
            <a:prstDash val="solid"/>
          </a:ln>
        </p:spPr>
      </p:sp>
      <p:sp>
        <p:nvSpPr>
          <p:cNvPr id="48" name="Text 44"/>
          <p:cNvSpPr txBox="1"/>
          <p:nvPr/>
        </p:nvSpPr>
        <p:spPr>
          <a:xfrm>
            <a:off x="5532120" y="2329434"/>
            <a:ext cx="578612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15000"/>
              </a:lnSpc>
              <a:buNone/>
            </a:pPr>
            <a:r>
              <a:rPr lang="en-US" sz="950" b="1" dirty="0">
                <a:solidFill>
                  <a:srgbClr val="2D2D2D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第 5 行</a:t>
            </a:r>
            <a:endParaRPr lang="en-US" sz="950" dirty="0"/>
          </a:p>
        </p:txBody>
      </p:sp>
      <p:sp>
        <p:nvSpPr>
          <p:cNvPr id="49" name="Text 45"/>
          <p:cNvSpPr txBox="1"/>
          <p:nvPr/>
        </p:nvSpPr>
        <p:spPr>
          <a:xfrm>
            <a:off x="6202172" y="2320290"/>
            <a:ext cx="253034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0000"/>
              </a:lnSpc>
              <a:buNone/>
            </a:pPr>
            <a:r>
              <a:rPr lang="en-US" sz="1200" dirty="0">
                <a:solidFill>
                  <a:srgbClr val="2D2D2D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LED 引脚设为输出</a:t>
            </a:r>
            <a:endParaRPr lang="en-US" sz="1200" dirty="0"/>
          </a:p>
        </p:txBody>
      </p:sp>
      <p:sp>
        <p:nvSpPr>
          <p:cNvPr id="50" name="Shape 46"/>
          <p:cNvSpPr/>
          <p:nvPr/>
        </p:nvSpPr>
        <p:spPr>
          <a:xfrm>
            <a:off x="5532120" y="2640330"/>
            <a:ext cx="578612" cy="219456"/>
          </a:xfrm>
          <a:prstGeom prst="roundRect">
            <a:avLst>
              <a:gd name="adj" fmla="val 50000"/>
            </a:avLst>
          </a:prstGeom>
          <a:solidFill>
            <a:srgbClr val="40E0D0"/>
          </a:solidFill>
          <a:ln w="12700">
            <a:solidFill>
              <a:srgbClr val="40E0D0"/>
            </a:solidFill>
            <a:prstDash val="solid"/>
          </a:ln>
        </p:spPr>
      </p:sp>
      <p:sp>
        <p:nvSpPr>
          <p:cNvPr id="51" name="Text 47"/>
          <p:cNvSpPr txBox="1"/>
          <p:nvPr/>
        </p:nvSpPr>
        <p:spPr>
          <a:xfrm>
            <a:off x="5532120" y="2640330"/>
            <a:ext cx="578612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15000"/>
              </a:lnSpc>
              <a:buNone/>
            </a:pPr>
            <a:r>
              <a:rPr lang="en-US" sz="950" b="1" dirty="0">
                <a:solidFill>
                  <a:srgbClr val="2D2D2D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第 6 行</a:t>
            </a:r>
            <a:endParaRPr lang="en-US" sz="950" dirty="0"/>
          </a:p>
        </p:txBody>
      </p:sp>
      <p:sp>
        <p:nvSpPr>
          <p:cNvPr id="52" name="Text 48"/>
          <p:cNvSpPr txBox="1"/>
          <p:nvPr/>
        </p:nvSpPr>
        <p:spPr>
          <a:xfrm>
            <a:off x="6202172" y="2631186"/>
            <a:ext cx="253034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0000"/>
              </a:lnSpc>
              <a:buNone/>
            </a:pPr>
            <a:r>
              <a:rPr lang="en-US" sz="1200" dirty="0">
                <a:solidFill>
                  <a:srgbClr val="2D2D2D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打开串口，用来看数值</a:t>
            </a:r>
            <a:endParaRPr lang="en-US" sz="1200" dirty="0"/>
          </a:p>
        </p:txBody>
      </p:sp>
      <p:graphicFrame>
        <p:nvGraphicFramePr>
          <p:cNvPr id="32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532120" y="3218688"/>
          <a:ext cx="3200400" cy="914400"/>
        </p:xfrm>
        <a:graphic>
          <a:graphicData uri="http://schemas.openxmlformats.org/drawingml/2006/table">
            <a:tbl>
              <a:tblPr/>
              <a:tblGrid>
                <a:gridCol w="1005840"/>
                <a:gridCol w="2194560"/>
              </a:tblGrid>
              <a:tr h="256032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Arduino</a:t>
                      </a:r>
                      <a:endParaRPr lang="en-US" sz="1100" dirty="0">
                        <a:latin typeface="微软雅黑" charset="0"/>
                        <a:ea typeface="微软雅黑" charset="0"/>
                        <a:cs typeface="微软雅黑" charset="0"/>
                      </a:endParaRPr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E2E2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2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2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2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D2D2D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元件</a:t>
                      </a:r>
                      <a:endParaRPr lang="en-US" sz="1100" dirty="0">
                        <a:latin typeface="微软雅黑" charset="0"/>
                        <a:ea typeface="微软雅黑" charset="0"/>
                        <a:cs typeface="微软雅黑" charset="0"/>
                      </a:endParaRPr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E2E2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2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2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2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D2D2D"/>
                    </a:solidFill>
                  </a:tcPr>
                </a:tc>
              </a:tr>
              <a:tr h="256032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b="1" dirty="0">
                          <a:solidFill>
                            <a:srgbClr val="2D2D2D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A0</a:t>
                      </a:r>
                      <a:endParaRPr lang="en-US" sz="120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E2E2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2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2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2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2D2D2D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电位器 中间脚</a:t>
                      </a:r>
                      <a:endParaRPr lang="en-US" sz="120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E2E2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2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2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2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256032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b="1" dirty="0">
                          <a:solidFill>
                            <a:srgbClr val="2D2D2D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5V、GND</a:t>
                      </a:r>
                      <a:endParaRPr lang="en-US" sz="120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E2E2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2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2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2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2D2D2D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电位器 两边脚</a:t>
                      </a:r>
                      <a:endParaRPr lang="en-US" sz="120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E2E2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2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2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2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5F5"/>
                    </a:solidFill>
                  </a:tcPr>
                </a:tc>
              </a:tr>
              <a:tr h="256032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b="1" dirty="0">
                          <a:solidFill>
                            <a:srgbClr val="2D2D2D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9</a:t>
                      </a:r>
                      <a:endParaRPr lang="en-US" sz="120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E2E2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2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2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2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2D2D2D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LED 长脚（串 220Ω）</a:t>
                      </a:r>
                      <a:endParaRPr lang="en-US" sz="120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E2E2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2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2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2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256032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b="1" dirty="0">
                          <a:solidFill>
                            <a:srgbClr val="2D2D2D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GND</a:t>
                      </a:r>
                      <a:endParaRPr lang="en-US" sz="120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E2E2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2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2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2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2D2D2D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LED 短脚</a:t>
                      </a:r>
                      <a:endParaRPr lang="en-US" sz="120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E2E2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2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2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2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5F5"/>
                    </a:solidFill>
                  </a:tcPr>
                </a:tc>
              </a:tr>
            </a:tbl>
          </a:graphicData>
        </a:graphic>
      </p:graphicFrame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339328" y="4736592"/>
            <a:ext cx="393192" cy="219456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 lIns="0" tIns="0" rIns="0" bIns="0" anchor="ctr"/>
          <a:lstStyle>
            <a:lvl1pPr>
              <a:defRPr sz="800">
                <a:solidFill>
                  <a:srgbClr val="6B6B6B"/>
                </a:solidFill>
                <a:latin typeface="微软雅黑"/>
                <a:ea typeface="微软雅黑"/>
                <a:cs typeface="微软雅黑"/>
              </a:defRPr>
            </a:lvl1pPr>
          </a:lstStyle>
          <a:p>
            <a:pPr algn="r"/>
            <a:fld id="{F7021451-1387-4CA6-816F-3879F97B5CBC}" type="slidenum">
              <a:rPr b="0" lang="en-US"/>
              <a:t>31</a:t>
            </a:fld>
            <a:endParaRPr lang="en-US"/>
          </a:p>
        </p:txBody>
      </p:sp>
    </p:spTree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1"/>
          <p:cNvSpPr/>
          <p:nvPr>
            <p:ph idx="102" type="body" hasCustomPrompt="1"/>
          </p:nvPr>
        </p:nvSpPr>
        <p:spPr>
          <a:xfrm>
            <a:off x="4572000" y="4736592"/>
            <a:ext cx="370332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2D2D2D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把代码打包</a:t>
            </a:r>
            <a:endParaRPr lang="en-US" sz="800" dirty="0"/>
          </a:p>
        </p:txBody>
      </p:sp>
      <p:sp>
        <p:nvSpPr>
          <p:cNvPr id="3" name="Text 1"/>
          <p:cNvSpPr/>
          <p:nvPr>
            <p:ph idx="103" type="title" hasCustomPrompt="1"/>
          </p:nvPr>
        </p:nvSpPr>
        <p:spPr>
          <a:xfrm>
            <a:off x="411480" y="274320"/>
            <a:ext cx="83210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400" dirty="0">
                <a:solidFill>
                  <a:srgbClr val="2D2D2D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示例：旋钮调亮度（2/2）</a:t>
            </a:r>
            <a:endParaRPr lang="en-US" sz="2400" dirty="0"/>
          </a:p>
        </p:txBody>
      </p:sp>
      <p:sp>
        <p:nvSpPr>
          <p:cNvPr id="4" name="Text 1"/>
          <p:cNvSpPr/>
          <p:nvPr>
            <p:ph idx="104" type="body" hasCustomPrompt="1"/>
          </p:nvPr>
        </p:nvSpPr>
        <p:spPr>
          <a:xfrm>
            <a:off x="411480" y="786384"/>
            <a:ext cx="83210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6B6B6B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读旋钮 → 换算 → 限制范围 → 输出亮度 → 打印到串口，每 0.2 秒重复一次。</a:t>
            </a:r>
            <a:endParaRPr lang="en-US" sz="1200" dirty="0"/>
          </a:p>
        </p:txBody>
      </p:sp>
      <p:sp>
        <p:nvSpPr>
          <p:cNvPr id="6" name="Shape 3"/>
          <p:cNvSpPr/>
          <p:nvPr/>
        </p:nvSpPr>
        <p:spPr>
          <a:xfrm>
            <a:off x="411480" y="1234440"/>
            <a:ext cx="5669280" cy="2514600"/>
          </a:xfrm>
          <a:prstGeom prst="roundRect">
            <a:avLst>
              <a:gd name="adj" fmla="val 3636"/>
            </a:avLst>
          </a:prstGeom>
          <a:solidFill>
            <a:srgbClr val="2D2D2D"/>
          </a:solidFill>
          <a:ln w="12700">
            <a:solidFill>
              <a:srgbClr val="2D2D2D"/>
            </a:solidFill>
            <a:prstDash val="solid"/>
          </a:ln>
        </p:spPr>
      </p:sp>
      <p:sp>
        <p:nvSpPr>
          <p:cNvPr id="7" name="Text 4"/>
          <p:cNvSpPr txBox="1"/>
          <p:nvPr/>
        </p:nvSpPr>
        <p:spPr>
          <a:xfrm>
            <a:off x="539496" y="1298448"/>
            <a:ext cx="340156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1000" dirty="0">
                <a:solidFill>
                  <a:srgbClr val="9A9A9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map_demo.ino</a:t>
            </a:r>
            <a:endParaRPr lang="en-US" sz="1000" dirty="0"/>
          </a:p>
        </p:txBody>
      </p:sp>
      <p:sp>
        <p:nvSpPr>
          <p:cNvPr id="8" name="Text 5"/>
          <p:cNvSpPr txBox="1"/>
          <p:nvPr/>
        </p:nvSpPr>
        <p:spPr>
          <a:xfrm>
            <a:off x="2679192" y="1298448"/>
            <a:ext cx="3273552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lnSpc>
                <a:spcPct val="115000"/>
              </a:lnSpc>
              <a:buNone/>
            </a:pPr>
            <a:r>
              <a:rPr lang="en-US" sz="1000" dirty="0">
                <a:solidFill>
                  <a:srgbClr val="9A9A9A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第 8–18 行</a:t>
            </a:r>
            <a:endParaRPr lang="en-US" sz="1000" dirty="0"/>
          </a:p>
        </p:txBody>
      </p:sp>
      <p:sp>
        <p:nvSpPr>
          <p:cNvPr id="9" name="Text 6"/>
          <p:cNvSpPr txBox="1"/>
          <p:nvPr/>
        </p:nvSpPr>
        <p:spPr>
          <a:xfrm>
            <a:off x="502920" y="1545336"/>
            <a:ext cx="208719" cy="1813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lnSpc>
                <a:spcPct val="115000"/>
              </a:lnSpc>
              <a:buNone/>
            </a:pPr>
            <a:r>
              <a:rPr lang="en-US" sz="950" dirty="0">
                <a:solidFill>
                  <a:srgbClr val="7A7A7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8</a:t>
            </a:r>
            <a:endParaRPr lang="en-US" sz="950" dirty="0"/>
          </a:p>
        </p:txBody>
      </p:sp>
      <p:sp>
        <p:nvSpPr>
          <p:cNvPr id="10" name="Text 7"/>
          <p:cNvSpPr txBox="1"/>
          <p:nvPr/>
        </p:nvSpPr>
        <p:spPr>
          <a:xfrm>
            <a:off x="828492" y="1545336"/>
            <a:ext cx="5124252" cy="1813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D9D9D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endParaRPr lang="en-US" sz="1050" dirty="0"/>
          </a:p>
        </p:txBody>
      </p:sp>
      <p:sp>
        <p:nvSpPr>
          <p:cNvPr id="11" name="Text 8"/>
          <p:cNvSpPr txBox="1"/>
          <p:nvPr/>
        </p:nvSpPr>
        <p:spPr>
          <a:xfrm>
            <a:off x="502920" y="1726692"/>
            <a:ext cx="208719" cy="1813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lnSpc>
                <a:spcPct val="115000"/>
              </a:lnSpc>
              <a:buNone/>
            </a:pPr>
            <a:r>
              <a:rPr lang="en-US" sz="950" dirty="0">
                <a:solidFill>
                  <a:srgbClr val="7A7A7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9</a:t>
            </a:r>
            <a:endParaRPr lang="en-US" sz="950" dirty="0"/>
          </a:p>
        </p:txBody>
      </p:sp>
      <p:sp>
        <p:nvSpPr>
          <p:cNvPr id="12" name="Text 9"/>
          <p:cNvSpPr txBox="1"/>
          <p:nvPr/>
        </p:nvSpPr>
        <p:spPr>
          <a:xfrm>
            <a:off x="828492" y="1726692"/>
            <a:ext cx="5124252" cy="1813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40E0D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void </a:t>
            </a:r>
            <a:pPr indent="0" marL="0">
              <a:buNone/>
            </a:pPr>
            <a:r>
              <a:rPr lang="en-US" sz="1050" b="1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loop</a:t>
            </a:r>
            <a:pPr indent="0" marL="0">
              <a:buNone/>
            </a:pPr>
            <a:r>
              <a:rPr lang="en-US" sz="1050" dirty="0">
                <a:solidFill>
                  <a:srgbClr val="BDBDB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() {</a:t>
            </a:r>
            <a:endParaRPr lang="en-US" sz="1050" dirty="0"/>
          </a:p>
        </p:txBody>
      </p:sp>
      <p:sp>
        <p:nvSpPr>
          <p:cNvPr id="13" name="Shape 10"/>
          <p:cNvSpPr/>
          <p:nvPr/>
        </p:nvSpPr>
        <p:spPr>
          <a:xfrm>
            <a:off x="457200" y="1908048"/>
            <a:ext cx="5577840" cy="181356"/>
          </a:xfrm>
          <a:prstGeom prst="rect">
            <a:avLst/>
          </a:prstGeom>
          <a:solidFill>
            <a:srgbClr val="3E5250"/>
          </a:solidFill>
          <a:ln w="12700">
            <a:solidFill>
              <a:srgbClr val="3E5250"/>
            </a:solidFill>
            <a:prstDash val="solid"/>
          </a:ln>
        </p:spPr>
      </p:sp>
      <p:sp>
        <p:nvSpPr>
          <p:cNvPr id="14" name="Text 11"/>
          <p:cNvSpPr txBox="1"/>
          <p:nvPr/>
        </p:nvSpPr>
        <p:spPr>
          <a:xfrm>
            <a:off x="502920" y="1908048"/>
            <a:ext cx="208719" cy="1813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lnSpc>
                <a:spcPct val="115000"/>
              </a:lnSpc>
              <a:buNone/>
            </a:pPr>
            <a:r>
              <a:rPr lang="en-US" sz="950" b="1" dirty="0">
                <a:solidFill>
                  <a:srgbClr val="40E0D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10</a:t>
            </a:r>
            <a:endParaRPr lang="en-US" sz="950" dirty="0"/>
          </a:p>
        </p:txBody>
      </p:sp>
      <p:sp>
        <p:nvSpPr>
          <p:cNvPr id="15" name="Text 12"/>
          <p:cNvSpPr txBox="1"/>
          <p:nvPr/>
        </p:nvSpPr>
        <p:spPr>
          <a:xfrm>
            <a:off x="828492" y="1908048"/>
            <a:ext cx="5124252" cy="1813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D9D9D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</a:t>
            </a:r>
            <a:pPr indent="0" marL="0">
              <a:buNone/>
            </a:pPr>
            <a:r>
              <a:rPr lang="en-US" sz="1050" b="1" dirty="0">
                <a:solidFill>
                  <a:srgbClr val="40E0D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int </a:t>
            </a:r>
            <a:pPr indent="0" marL="0">
              <a:buNone/>
            </a:pPr>
            <a:r>
              <a:rPr lang="en-US" sz="1050" dirty="0">
                <a:solidFill>
                  <a:srgbClr val="D9D9D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val </a:t>
            </a:r>
            <a:pPr indent="0" marL="0">
              <a:buNone/>
            </a:pPr>
            <a:r>
              <a:rPr lang="en-US" sz="1050" dirty="0">
                <a:solidFill>
                  <a:srgbClr val="BDBDB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= </a:t>
            </a:r>
            <a:pPr indent="0" marL="0">
              <a:buNone/>
            </a:pPr>
            <a:r>
              <a:rPr lang="en-US" sz="1050" b="1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analogRead</a:t>
            </a:r>
            <a:pPr indent="0" marL="0">
              <a:buNone/>
            </a:pPr>
            <a:r>
              <a:rPr lang="en-US" sz="1050" dirty="0">
                <a:solidFill>
                  <a:srgbClr val="BDBDB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(</a:t>
            </a:r>
            <a:pPr indent="0" marL="0">
              <a:buNone/>
            </a:pPr>
            <a:r>
              <a:rPr lang="en-US" sz="1050" dirty="0">
                <a:solidFill>
                  <a:srgbClr val="D9D9D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knob</a:t>
            </a:r>
            <a:pPr indent="0" marL="0">
              <a:buNone/>
            </a:pPr>
            <a:r>
              <a:rPr lang="en-US" sz="1050" dirty="0">
                <a:solidFill>
                  <a:srgbClr val="BDBDB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);               </a:t>
            </a:r>
            <a:pPr indent="0" marL="0">
              <a:buNone/>
            </a:pPr>
            <a:r>
              <a:rPr lang="en-US" sz="1050" i="1" dirty="0">
                <a:solidFill>
                  <a:srgbClr val="8E8E8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// 0～1023</a:t>
            </a:r>
            <a:endParaRPr lang="en-US" sz="1050" dirty="0"/>
          </a:p>
        </p:txBody>
      </p:sp>
      <p:sp>
        <p:nvSpPr>
          <p:cNvPr id="16" name="Shape 13"/>
          <p:cNvSpPr/>
          <p:nvPr/>
        </p:nvSpPr>
        <p:spPr>
          <a:xfrm>
            <a:off x="457200" y="2089404"/>
            <a:ext cx="5577840" cy="181356"/>
          </a:xfrm>
          <a:prstGeom prst="rect">
            <a:avLst/>
          </a:prstGeom>
          <a:solidFill>
            <a:srgbClr val="3E5250"/>
          </a:solidFill>
          <a:ln w="12700">
            <a:solidFill>
              <a:srgbClr val="3E5250"/>
            </a:solidFill>
            <a:prstDash val="solid"/>
          </a:ln>
        </p:spPr>
      </p:sp>
      <p:sp>
        <p:nvSpPr>
          <p:cNvPr id="17" name="Text 14"/>
          <p:cNvSpPr txBox="1"/>
          <p:nvPr/>
        </p:nvSpPr>
        <p:spPr>
          <a:xfrm>
            <a:off x="502920" y="2089404"/>
            <a:ext cx="208719" cy="1813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lnSpc>
                <a:spcPct val="115000"/>
              </a:lnSpc>
              <a:buNone/>
            </a:pPr>
            <a:r>
              <a:rPr lang="en-US" sz="950" b="1" dirty="0">
                <a:solidFill>
                  <a:srgbClr val="40E0D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11</a:t>
            </a:r>
            <a:endParaRPr lang="en-US" sz="950" dirty="0"/>
          </a:p>
        </p:txBody>
      </p:sp>
      <p:sp>
        <p:nvSpPr>
          <p:cNvPr id="18" name="Text 15"/>
          <p:cNvSpPr txBox="1"/>
          <p:nvPr/>
        </p:nvSpPr>
        <p:spPr>
          <a:xfrm>
            <a:off x="828492" y="2089404"/>
            <a:ext cx="5124252" cy="1813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D9D9D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</a:t>
            </a:r>
            <a:pPr indent="0" marL="0">
              <a:buNone/>
            </a:pPr>
            <a:r>
              <a:rPr lang="en-US" sz="1050" b="1" dirty="0">
                <a:solidFill>
                  <a:srgbClr val="40E0D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int </a:t>
            </a:r>
            <a:pPr indent="0" marL="0">
              <a:buNone/>
            </a:pPr>
            <a:r>
              <a:rPr lang="en-US" sz="1050" dirty="0">
                <a:solidFill>
                  <a:srgbClr val="D9D9D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light </a:t>
            </a:r>
            <a:pPr indent="0" marL="0">
              <a:buNone/>
            </a:pPr>
            <a:r>
              <a:rPr lang="en-US" sz="1050" dirty="0">
                <a:solidFill>
                  <a:srgbClr val="BDBDB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= </a:t>
            </a:r>
            <a:pPr indent="0" marL="0">
              <a:buNone/>
            </a:pPr>
            <a:r>
              <a:rPr lang="en-US" sz="1050" b="1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map</a:t>
            </a:r>
            <a:pPr indent="0" marL="0">
              <a:buNone/>
            </a:pPr>
            <a:r>
              <a:rPr lang="en-US" sz="1050" dirty="0">
                <a:solidFill>
                  <a:srgbClr val="BDBDB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(</a:t>
            </a:r>
            <a:pPr indent="0" marL="0">
              <a:buNone/>
            </a:pPr>
            <a:r>
              <a:rPr lang="en-US" sz="1050" dirty="0">
                <a:solidFill>
                  <a:srgbClr val="D9D9D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val</a:t>
            </a:r>
            <a:pPr indent="0" marL="0">
              <a:buNone/>
            </a:pPr>
            <a:r>
              <a:rPr lang="en-US" sz="1050" dirty="0">
                <a:solidFill>
                  <a:srgbClr val="BDBDB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, </a:t>
            </a:r>
            <a:pPr indent="0" marL="0">
              <a:buNone/>
            </a:pPr>
            <a:r>
              <a:rPr lang="en-US" sz="1050" dirty="0">
                <a:solidFill>
                  <a:srgbClr val="F7C87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</a:t>
            </a:r>
            <a:pPr indent="0" marL="0">
              <a:buNone/>
            </a:pPr>
            <a:r>
              <a:rPr lang="en-US" sz="1050" dirty="0">
                <a:solidFill>
                  <a:srgbClr val="BDBDB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, </a:t>
            </a:r>
            <a:pPr indent="0" marL="0">
              <a:buNone/>
            </a:pPr>
            <a:r>
              <a:rPr lang="en-US" sz="1050" dirty="0">
                <a:solidFill>
                  <a:srgbClr val="F7C87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1023</a:t>
            </a:r>
            <a:pPr indent="0" marL="0">
              <a:buNone/>
            </a:pPr>
            <a:r>
              <a:rPr lang="en-US" sz="1050" dirty="0">
                <a:solidFill>
                  <a:srgbClr val="BDBDB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, </a:t>
            </a:r>
            <a:pPr indent="0" marL="0">
              <a:buNone/>
            </a:pPr>
            <a:r>
              <a:rPr lang="en-US" sz="1050" dirty="0">
                <a:solidFill>
                  <a:srgbClr val="F7C87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</a:t>
            </a:r>
            <a:pPr indent="0" marL="0">
              <a:buNone/>
            </a:pPr>
            <a:r>
              <a:rPr lang="en-US" sz="1050" dirty="0">
                <a:solidFill>
                  <a:srgbClr val="BDBDB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, </a:t>
            </a:r>
            <a:pPr indent="0" marL="0">
              <a:buNone/>
            </a:pPr>
            <a:r>
              <a:rPr lang="en-US" sz="1050" dirty="0">
                <a:solidFill>
                  <a:srgbClr val="F7C87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255</a:t>
            </a:r>
            <a:pPr indent="0" marL="0">
              <a:buNone/>
            </a:pPr>
            <a:r>
              <a:rPr lang="en-US" sz="1050" dirty="0">
                <a:solidFill>
                  <a:srgbClr val="BDBDB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);    </a:t>
            </a:r>
            <a:pPr indent="0" marL="0">
              <a:buNone/>
            </a:pPr>
            <a:r>
              <a:rPr lang="en-US" sz="1050" i="1" dirty="0">
                <a:solidFill>
                  <a:srgbClr val="8E8E8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// 换算成 0～255</a:t>
            </a:r>
            <a:endParaRPr lang="en-US" sz="1050" dirty="0"/>
          </a:p>
        </p:txBody>
      </p:sp>
      <p:sp>
        <p:nvSpPr>
          <p:cNvPr id="19" name="Shape 16"/>
          <p:cNvSpPr/>
          <p:nvPr/>
        </p:nvSpPr>
        <p:spPr>
          <a:xfrm>
            <a:off x="457200" y="2270760"/>
            <a:ext cx="5577840" cy="181356"/>
          </a:xfrm>
          <a:prstGeom prst="rect">
            <a:avLst/>
          </a:prstGeom>
          <a:solidFill>
            <a:srgbClr val="3E5250"/>
          </a:solidFill>
          <a:ln w="12700">
            <a:solidFill>
              <a:srgbClr val="3E5250"/>
            </a:solidFill>
            <a:prstDash val="solid"/>
          </a:ln>
        </p:spPr>
      </p:sp>
      <p:sp>
        <p:nvSpPr>
          <p:cNvPr id="20" name="Text 17"/>
          <p:cNvSpPr txBox="1"/>
          <p:nvPr/>
        </p:nvSpPr>
        <p:spPr>
          <a:xfrm>
            <a:off x="502920" y="2270760"/>
            <a:ext cx="208719" cy="1813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lnSpc>
                <a:spcPct val="115000"/>
              </a:lnSpc>
              <a:buNone/>
            </a:pPr>
            <a:r>
              <a:rPr lang="en-US" sz="950" b="1" dirty="0">
                <a:solidFill>
                  <a:srgbClr val="40E0D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12</a:t>
            </a:r>
            <a:endParaRPr lang="en-US" sz="950" dirty="0"/>
          </a:p>
        </p:txBody>
      </p:sp>
      <p:sp>
        <p:nvSpPr>
          <p:cNvPr id="21" name="Text 18"/>
          <p:cNvSpPr txBox="1"/>
          <p:nvPr/>
        </p:nvSpPr>
        <p:spPr>
          <a:xfrm>
            <a:off x="828492" y="2270760"/>
            <a:ext cx="5124252" cy="1813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D9D9D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light </a:t>
            </a:r>
            <a:pPr indent="0" marL="0">
              <a:buNone/>
            </a:pPr>
            <a:r>
              <a:rPr lang="en-US" sz="1050" dirty="0">
                <a:solidFill>
                  <a:srgbClr val="BDBDB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= </a:t>
            </a:r>
            <a:pPr indent="0" marL="0">
              <a:buNone/>
            </a:pPr>
            <a:r>
              <a:rPr lang="en-US" sz="1050" b="1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constrain</a:t>
            </a:r>
            <a:pPr indent="0" marL="0">
              <a:buNone/>
            </a:pPr>
            <a:r>
              <a:rPr lang="en-US" sz="1050" dirty="0">
                <a:solidFill>
                  <a:srgbClr val="BDBDB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(</a:t>
            </a:r>
            <a:pPr indent="0" marL="0">
              <a:buNone/>
            </a:pPr>
            <a:r>
              <a:rPr lang="en-US" sz="1050" dirty="0">
                <a:solidFill>
                  <a:srgbClr val="D9D9D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light</a:t>
            </a:r>
            <a:pPr indent="0" marL="0">
              <a:buNone/>
            </a:pPr>
            <a:r>
              <a:rPr lang="en-US" sz="1050" dirty="0">
                <a:solidFill>
                  <a:srgbClr val="BDBDB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, </a:t>
            </a:r>
            <a:pPr indent="0" marL="0">
              <a:buNone/>
            </a:pPr>
            <a:r>
              <a:rPr lang="en-US" sz="1050" dirty="0">
                <a:solidFill>
                  <a:srgbClr val="F7C87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</a:t>
            </a:r>
            <a:pPr indent="0" marL="0">
              <a:buNone/>
            </a:pPr>
            <a:r>
              <a:rPr lang="en-US" sz="1050" dirty="0">
                <a:solidFill>
                  <a:srgbClr val="BDBDB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, </a:t>
            </a:r>
            <a:pPr indent="0" marL="0">
              <a:buNone/>
            </a:pPr>
            <a:r>
              <a:rPr lang="en-US" sz="1050" dirty="0">
                <a:solidFill>
                  <a:srgbClr val="F7C87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255</a:t>
            </a:r>
            <a:pPr indent="0" marL="0">
              <a:buNone/>
            </a:pPr>
            <a:r>
              <a:rPr lang="en-US" sz="1050" dirty="0">
                <a:solidFill>
                  <a:srgbClr val="BDBDB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);         </a:t>
            </a:r>
            <a:pPr indent="0" marL="0">
              <a:buNone/>
            </a:pPr>
            <a:r>
              <a:rPr lang="en-US" sz="1050" i="1" dirty="0">
                <a:solidFill>
                  <a:srgbClr val="8E8E8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// 限制在范围内</a:t>
            </a:r>
            <a:endParaRPr lang="en-US" sz="1050" dirty="0"/>
          </a:p>
        </p:txBody>
      </p:sp>
      <p:sp>
        <p:nvSpPr>
          <p:cNvPr id="22" name="Shape 19"/>
          <p:cNvSpPr/>
          <p:nvPr/>
        </p:nvSpPr>
        <p:spPr>
          <a:xfrm>
            <a:off x="457200" y="2452116"/>
            <a:ext cx="5577840" cy="181356"/>
          </a:xfrm>
          <a:prstGeom prst="rect">
            <a:avLst/>
          </a:prstGeom>
          <a:solidFill>
            <a:srgbClr val="3E5250"/>
          </a:solidFill>
          <a:ln w="12700">
            <a:solidFill>
              <a:srgbClr val="3E5250"/>
            </a:solidFill>
            <a:prstDash val="solid"/>
          </a:ln>
        </p:spPr>
      </p:sp>
      <p:sp>
        <p:nvSpPr>
          <p:cNvPr id="23" name="Text 20"/>
          <p:cNvSpPr txBox="1"/>
          <p:nvPr/>
        </p:nvSpPr>
        <p:spPr>
          <a:xfrm>
            <a:off x="502920" y="2452116"/>
            <a:ext cx="208719" cy="1813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lnSpc>
                <a:spcPct val="115000"/>
              </a:lnSpc>
              <a:buNone/>
            </a:pPr>
            <a:r>
              <a:rPr lang="en-US" sz="950" b="1" dirty="0">
                <a:solidFill>
                  <a:srgbClr val="40E0D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13</a:t>
            </a:r>
            <a:endParaRPr lang="en-US" sz="950" dirty="0"/>
          </a:p>
        </p:txBody>
      </p:sp>
      <p:sp>
        <p:nvSpPr>
          <p:cNvPr id="24" name="Text 21"/>
          <p:cNvSpPr txBox="1"/>
          <p:nvPr/>
        </p:nvSpPr>
        <p:spPr>
          <a:xfrm>
            <a:off x="828492" y="2452116"/>
            <a:ext cx="5124252" cy="1813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D9D9D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</a:t>
            </a:r>
            <a:pPr indent="0" marL="0">
              <a:buNone/>
            </a:pPr>
            <a:r>
              <a:rPr lang="en-US" sz="1050" b="1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analogWrite</a:t>
            </a:r>
            <a:pPr indent="0" marL="0">
              <a:buNone/>
            </a:pPr>
            <a:r>
              <a:rPr lang="en-US" sz="1050" dirty="0">
                <a:solidFill>
                  <a:srgbClr val="BDBDB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(</a:t>
            </a:r>
            <a:pPr indent="0" marL="0">
              <a:buNone/>
            </a:pPr>
            <a:r>
              <a:rPr lang="en-US" sz="1050" dirty="0">
                <a:solidFill>
                  <a:srgbClr val="D9D9D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led</a:t>
            </a:r>
            <a:pPr indent="0" marL="0">
              <a:buNone/>
            </a:pPr>
            <a:r>
              <a:rPr lang="en-US" sz="1050" dirty="0">
                <a:solidFill>
                  <a:srgbClr val="BDBDB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, </a:t>
            </a:r>
            <a:pPr indent="0" marL="0">
              <a:buNone/>
            </a:pPr>
            <a:r>
              <a:rPr lang="en-US" sz="1050" dirty="0">
                <a:solidFill>
                  <a:srgbClr val="D9D9D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light</a:t>
            </a:r>
            <a:pPr indent="0" marL="0">
              <a:buNone/>
            </a:pPr>
            <a:r>
              <a:rPr lang="en-US" sz="1050" dirty="0">
                <a:solidFill>
                  <a:srgbClr val="BDBDB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);</a:t>
            </a:r>
            <a:endParaRPr lang="en-US" sz="1050" dirty="0"/>
          </a:p>
        </p:txBody>
      </p:sp>
      <p:sp>
        <p:nvSpPr>
          <p:cNvPr id="25" name="Text 22"/>
          <p:cNvSpPr txBox="1"/>
          <p:nvPr/>
        </p:nvSpPr>
        <p:spPr>
          <a:xfrm>
            <a:off x="502920" y="2633472"/>
            <a:ext cx="208719" cy="1813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lnSpc>
                <a:spcPct val="115000"/>
              </a:lnSpc>
              <a:buNone/>
            </a:pPr>
            <a:r>
              <a:rPr lang="en-US" sz="950" dirty="0">
                <a:solidFill>
                  <a:srgbClr val="7A7A7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14</a:t>
            </a:r>
            <a:endParaRPr lang="en-US" sz="950" dirty="0"/>
          </a:p>
        </p:txBody>
      </p:sp>
      <p:sp>
        <p:nvSpPr>
          <p:cNvPr id="26" name="Text 23"/>
          <p:cNvSpPr txBox="1"/>
          <p:nvPr/>
        </p:nvSpPr>
        <p:spPr>
          <a:xfrm>
            <a:off x="828492" y="2633472"/>
            <a:ext cx="5124252" cy="1813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D9D9D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</a:t>
            </a:r>
            <a:pPr indent="0" marL="0">
              <a:buNone/>
            </a:pPr>
            <a:r>
              <a:rPr lang="en-US" sz="1050" b="1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Serial</a:t>
            </a:r>
            <a:pPr indent="0" marL="0">
              <a:buNone/>
            </a:pPr>
            <a:r>
              <a:rPr lang="en-US" sz="1050" dirty="0">
                <a:solidFill>
                  <a:srgbClr val="BDBDB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.</a:t>
            </a:r>
            <a:pPr indent="0" marL="0">
              <a:buNone/>
            </a:pPr>
            <a:r>
              <a:rPr lang="en-US" sz="1050" b="1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print</a:t>
            </a:r>
            <a:pPr indent="0" marL="0">
              <a:buNone/>
            </a:pPr>
            <a:r>
              <a:rPr lang="en-US" sz="1050" dirty="0">
                <a:solidFill>
                  <a:srgbClr val="BDBDB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(</a:t>
            </a:r>
            <a:pPr indent="0" marL="0">
              <a:buNone/>
            </a:pPr>
            <a:r>
              <a:rPr lang="en-US" sz="1050" dirty="0">
                <a:solidFill>
                  <a:srgbClr val="D9D9D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val</a:t>
            </a:r>
            <a:pPr indent="0" marL="0">
              <a:buNone/>
            </a:pPr>
            <a:r>
              <a:rPr lang="en-US" sz="1050" dirty="0">
                <a:solidFill>
                  <a:srgbClr val="BDBDB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);</a:t>
            </a:r>
            <a:endParaRPr lang="en-US" sz="1050" dirty="0"/>
          </a:p>
        </p:txBody>
      </p:sp>
      <p:sp>
        <p:nvSpPr>
          <p:cNvPr id="27" name="Text 24"/>
          <p:cNvSpPr txBox="1"/>
          <p:nvPr/>
        </p:nvSpPr>
        <p:spPr>
          <a:xfrm>
            <a:off x="502920" y="2814828"/>
            <a:ext cx="208719" cy="1813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lnSpc>
                <a:spcPct val="115000"/>
              </a:lnSpc>
              <a:buNone/>
            </a:pPr>
            <a:r>
              <a:rPr lang="en-US" sz="950" dirty="0">
                <a:solidFill>
                  <a:srgbClr val="7A7A7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15</a:t>
            </a:r>
            <a:endParaRPr lang="en-US" sz="950" dirty="0"/>
          </a:p>
        </p:txBody>
      </p:sp>
      <p:sp>
        <p:nvSpPr>
          <p:cNvPr id="28" name="Text 25"/>
          <p:cNvSpPr txBox="1"/>
          <p:nvPr/>
        </p:nvSpPr>
        <p:spPr>
          <a:xfrm>
            <a:off x="828492" y="2814828"/>
            <a:ext cx="5124252" cy="1813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D9D9D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</a:t>
            </a:r>
            <a:pPr indent="0" marL="0">
              <a:buNone/>
            </a:pPr>
            <a:r>
              <a:rPr lang="en-US" sz="1050" b="1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Serial</a:t>
            </a:r>
            <a:pPr indent="0" marL="0">
              <a:buNone/>
            </a:pPr>
            <a:r>
              <a:rPr lang="en-US" sz="1050" dirty="0">
                <a:solidFill>
                  <a:srgbClr val="BDBDB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.</a:t>
            </a:r>
            <a:pPr indent="0" marL="0">
              <a:buNone/>
            </a:pPr>
            <a:r>
              <a:rPr lang="en-US" sz="1050" b="1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print</a:t>
            </a:r>
            <a:pPr indent="0" marL="0">
              <a:buNone/>
            </a:pPr>
            <a:r>
              <a:rPr lang="en-US" sz="1050" dirty="0">
                <a:solidFill>
                  <a:srgbClr val="BDBDB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(</a:t>
            </a:r>
            <a:pPr indent="0" marL="0">
              <a:buNone/>
            </a:pPr>
            <a:r>
              <a:rPr lang="en-US" sz="1050" dirty="0">
                <a:solidFill>
                  <a:srgbClr val="F7C87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" -&gt; "</a:t>
            </a:r>
            <a:pPr indent="0" marL="0">
              <a:buNone/>
            </a:pPr>
            <a:r>
              <a:rPr lang="en-US" sz="1050" dirty="0">
                <a:solidFill>
                  <a:srgbClr val="BDBDB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);</a:t>
            </a:r>
            <a:endParaRPr lang="en-US" sz="1050" dirty="0"/>
          </a:p>
        </p:txBody>
      </p:sp>
      <p:sp>
        <p:nvSpPr>
          <p:cNvPr id="29" name="Text 26"/>
          <p:cNvSpPr txBox="1"/>
          <p:nvPr/>
        </p:nvSpPr>
        <p:spPr>
          <a:xfrm>
            <a:off x="502920" y="2996184"/>
            <a:ext cx="208719" cy="1813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lnSpc>
                <a:spcPct val="115000"/>
              </a:lnSpc>
              <a:buNone/>
            </a:pPr>
            <a:r>
              <a:rPr lang="en-US" sz="950" dirty="0">
                <a:solidFill>
                  <a:srgbClr val="7A7A7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16</a:t>
            </a:r>
            <a:endParaRPr lang="en-US" sz="950" dirty="0"/>
          </a:p>
        </p:txBody>
      </p:sp>
      <p:sp>
        <p:nvSpPr>
          <p:cNvPr id="30" name="Text 27"/>
          <p:cNvSpPr txBox="1"/>
          <p:nvPr/>
        </p:nvSpPr>
        <p:spPr>
          <a:xfrm>
            <a:off x="828492" y="2996184"/>
            <a:ext cx="5124252" cy="1813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D9D9D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</a:t>
            </a:r>
            <a:pPr indent="0" marL="0">
              <a:buNone/>
            </a:pPr>
            <a:r>
              <a:rPr lang="en-US" sz="1050" b="1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Serial</a:t>
            </a:r>
            <a:pPr indent="0" marL="0">
              <a:buNone/>
            </a:pPr>
            <a:r>
              <a:rPr lang="en-US" sz="1050" dirty="0">
                <a:solidFill>
                  <a:srgbClr val="BDBDB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.</a:t>
            </a:r>
            <a:pPr indent="0" marL="0">
              <a:buNone/>
            </a:pPr>
            <a:r>
              <a:rPr lang="en-US" sz="1050" b="1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println</a:t>
            </a:r>
            <a:pPr indent="0" marL="0">
              <a:buNone/>
            </a:pPr>
            <a:r>
              <a:rPr lang="en-US" sz="1050" dirty="0">
                <a:solidFill>
                  <a:srgbClr val="BDBDB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(</a:t>
            </a:r>
            <a:pPr indent="0" marL="0">
              <a:buNone/>
            </a:pPr>
            <a:r>
              <a:rPr lang="en-US" sz="1050" dirty="0">
                <a:solidFill>
                  <a:srgbClr val="D9D9D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light</a:t>
            </a:r>
            <a:pPr indent="0" marL="0">
              <a:buNone/>
            </a:pPr>
            <a:r>
              <a:rPr lang="en-US" sz="1050" dirty="0">
                <a:solidFill>
                  <a:srgbClr val="BDBDB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);</a:t>
            </a:r>
            <a:endParaRPr lang="en-US" sz="1050" dirty="0"/>
          </a:p>
        </p:txBody>
      </p:sp>
      <p:sp>
        <p:nvSpPr>
          <p:cNvPr id="31" name="Text 28"/>
          <p:cNvSpPr txBox="1"/>
          <p:nvPr/>
        </p:nvSpPr>
        <p:spPr>
          <a:xfrm>
            <a:off x="502920" y="3177540"/>
            <a:ext cx="208719" cy="1813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lnSpc>
                <a:spcPct val="115000"/>
              </a:lnSpc>
              <a:buNone/>
            </a:pPr>
            <a:r>
              <a:rPr lang="en-US" sz="950" dirty="0">
                <a:solidFill>
                  <a:srgbClr val="7A7A7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17</a:t>
            </a:r>
            <a:endParaRPr lang="en-US" sz="950" dirty="0"/>
          </a:p>
        </p:txBody>
      </p:sp>
      <p:sp>
        <p:nvSpPr>
          <p:cNvPr id="32" name="Text 29"/>
          <p:cNvSpPr txBox="1"/>
          <p:nvPr/>
        </p:nvSpPr>
        <p:spPr>
          <a:xfrm>
            <a:off x="828492" y="3177540"/>
            <a:ext cx="5124252" cy="1813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D9D9D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</a:t>
            </a:r>
            <a:pPr indent="0" marL="0">
              <a:buNone/>
            </a:pPr>
            <a:r>
              <a:rPr lang="en-US" sz="1050" b="1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delay</a:t>
            </a:r>
            <a:pPr indent="0" marL="0">
              <a:buNone/>
            </a:pPr>
            <a:r>
              <a:rPr lang="en-US" sz="1050" dirty="0">
                <a:solidFill>
                  <a:srgbClr val="BDBDB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(</a:t>
            </a:r>
            <a:pPr indent="0" marL="0">
              <a:buNone/>
            </a:pPr>
            <a:r>
              <a:rPr lang="en-US" sz="1050" dirty="0">
                <a:solidFill>
                  <a:srgbClr val="F7C87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200</a:t>
            </a:r>
            <a:pPr indent="0" marL="0">
              <a:buNone/>
            </a:pPr>
            <a:r>
              <a:rPr lang="en-US" sz="1050" dirty="0">
                <a:solidFill>
                  <a:srgbClr val="BDBDB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);</a:t>
            </a:r>
            <a:endParaRPr lang="en-US" sz="1050" dirty="0"/>
          </a:p>
        </p:txBody>
      </p:sp>
      <p:sp>
        <p:nvSpPr>
          <p:cNvPr id="33" name="Text 30"/>
          <p:cNvSpPr txBox="1"/>
          <p:nvPr/>
        </p:nvSpPr>
        <p:spPr>
          <a:xfrm>
            <a:off x="502920" y="3358896"/>
            <a:ext cx="208719" cy="1813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lnSpc>
                <a:spcPct val="115000"/>
              </a:lnSpc>
              <a:buNone/>
            </a:pPr>
            <a:r>
              <a:rPr lang="en-US" sz="950" dirty="0">
                <a:solidFill>
                  <a:srgbClr val="7A7A7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18</a:t>
            </a:r>
            <a:endParaRPr lang="en-US" sz="950" dirty="0"/>
          </a:p>
        </p:txBody>
      </p:sp>
      <p:sp>
        <p:nvSpPr>
          <p:cNvPr id="34" name="Text 31"/>
          <p:cNvSpPr txBox="1"/>
          <p:nvPr/>
        </p:nvSpPr>
        <p:spPr>
          <a:xfrm>
            <a:off x="828492" y="3358896"/>
            <a:ext cx="5124252" cy="1813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BDBDB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}</a:t>
            </a:r>
            <a:endParaRPr lang="en-US" sz="1050" dirty="0"/>
          </a:p>
        </p:txBody>
      </p:sp>
      <p:sp>
        <p:nvSpPr>
          <p:cNvPr id="35" name="Text 32"/>
          <p:cNvSpPr txBox="1"/>
          <p:nvPr/>
        </p:nvSpPr>
        <p:spPr>
          <a:xfrm>
            <a:off x="6355080" y="1234440"/>
            <a:ext cx="23774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1300" b="1" dirty="0">
                <a:solidFill>
                  <a:srgbClr val="2D2D2D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逐行看懂</a:t>
            </a:r>
            <a:endParaRPr lang="en-US" sz="1300" dirty="0"/>
          </a:p>
        </p:txBody>
      </p:sp>
      <p:sp>
        <p:nvSpPr>
          <p:cNvPr id="36" name="Shape 33"/>
          <p:cNvSpPr/>
          <p:nvPr/>
        </p:nvSpPr>
        <p:spPr>
          <a:xfrm>
            <a:off x="6355080" y="1888998"/>
            <a:ext cx="655828" cy="219456"/>
          </a:xfrm>
          <a:prstGeom prst="roundRect">
            <a:avLst>
              <a:gd name="adj" fmla="val 50000"/>
            </a:avLst>
          </a:prstGeom>
          <a:solidFill>
            <a:srgbClr val="40E0D0"/>
          </a:solidFill>
          <a:ln w="12700">
            <a:solidFill>
              <a:srgbClr val="40E0D0"/>
            </a:solidFill>
            <a:prstDash val="solid"/>
          </a:ln>
        </p:spPr>
      </p:sp>
      <p:sp>
        <p:nvSpPr>
          <p:cNvPr id="37" name="Text 34"/>
          <p:cNvSpPr txBox="1"/>
          <p:nvPr/>
        </p:nvSpPr>
        <p:spPr>
          <a:xfrm>
            <a:off x="6355080" y="1888998"/>
            <a:ext cx="655828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15000"/>
              </a:lnSpc>
              <a:buNone/>
            </a:pPr>
            <a:r>
              <a:rPr lang="en-US" sz="950" b="1" dirty="0">
                <a:solidFill>
                  <a:srgbClr val="2D2D2D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第 10 行</a:t>
            </a:r>
            <a:endParaRPr lang="en-US" sz="950" dirty="0"/>
          </a:p>
        </p:txBody>
      </p:sp>
      <p:sp>
        <p:nvSpPr>
          <p:cNvPr id="38" name="Text 35"/>
          <p:cNvSpPr txBox="1"/>
          <p:nvPr/>
        </p:nvSpPr>
        <p:spPr>
          <a:xfrm>
            <a:off x="7102348" y="1879854"/>
            <a:ext cx="163017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0000"/>
              </a:lnSpc>
              <a:buNone/>
            </a:pPr>
            <a:r>
              <a:rPr lang="en-US" sz="1200" dirty="0">
                <a:solidFill>
                  <a:srgbClr val="2D2D2D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读旋钮：0～1023</a:t>
            </a:r>
            <a:endParaRPr lang="en-US" sz="1200" dirty="0"/>
          </a:p>
        </p:txBody>
      </p:sp>
      <p:sp>
        <p:nvSpPr>
          <p:cNvPr id="39" name="Shape 36"/>
          <p:cNvSpPr/>
          <p:nvPr/>
        </p:nvSpPr>
        <p:spPr>
          <a:xfrm>
            <a:off x="6355080" y="2236470"/>
            <a:ext cx="655828" cy="219456"/>
          </a:xfrm>
          <a:prstGeom prst="roundRect">
            <a:avLst>
              <a:gd name="adj" fmla="val 50000"/>
            </a:avLst>
          </a:prstGeom>
          <a:solidFill>
            <a:srgbClr val="40E0D0"/>
          </a:solidFill>
          <a:ln w="12700">
            <a:solidFill>
              <a:srgbClr val="40E0D0"/>
            </a:solidFill>
            <a:prstDash val="solid"/>
          </a:ln>
        </p:spPr>
      </p:sp>
      <p:sp>
        <p:nvSpPr>
          <p:cNvPr id="40" name="Text 37"/>
          <p:cNvSpPr txBox="1"/>
          <p:nvPr/>
        </p:nvSpPr>
        <p:spPr>
          <a:xfrm>
            <a:off x="6355080" y="2236470"/>
            <a:ext cx="655828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15000"/>
              </a:lnSpc>
              <a:buNone/>
            </a:pPr>
            <a:r>
              <a:rPr lang="en-US" sz="950" b="1" dirty="0">
                <a:solidFill>
                  <a:srgbClr val="2D2D2D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第 11 行</a:t>
            </a:r>
            <a:endParaRPr lang="en-US" sz="950" dirty="0"/>
          </a:p>
        </p:txBody>
      </p:sp>
      <p:sp>
        <p:nvSpPr>
          <p:cNvPr id="41" name="Text 38"/>
          <p:cNvSpPr txBox="1"/>
          <p:nvPr/>
        </p:nvSpPr>
        <p:spPr>
          <a:xfrm>
            <a:off x="7102348" y="2227326"/>
            <a:ext cx="163017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0000"/>
              </a:lnSpc>
              <a:buNone/>
            </a:pPr>
            <a:r>
              <a:rPr lang="en-US" sz="1200" dirty="0">
                <a:solidFill>
                  <a:srgbClr val="2D2D2D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换算成亮度 0～255</a:t>
            </a:r>
            <a:endParaRPr lang="en-US" sz="1200" dirty="0"/>
          </a:p>
        </p:txBody>
      </p:sp>
      <p:sp>
        <p:nvSpPr>
          <p:cNvPr id="42" name="Shape 39"/>
          <p:cNvSpPr/>
          <p:nvPr/>
        </p:nvSpPr>
        <p:spPr>
          <a:xfrm>
            <a:off x="6355080" y="2583942"/>
            <a:ext cx="655828" cy="219456"/>
          </a:xfrm>
          <a:prstGeom prst="roundRect">
            <a:avLst>
              <a:gd name="adj" fmla="val 50000"/>
            </a:avLst>
          </a:prstGeom>
          <a:solidFill>
            <a:srgbClr val="40E0D0"/>
          </a:solidFill>
          <a:ln w="12700">
            <a:solidFill>
              <a:srgbClr val="40E0D0"/>
            </a:solidFill>
            <a:prstDash val="solid"/>
          </a:ln>
        </p:spPr>
      </p:sp>
      <p:sp>
        <p:nvSpPr>
          <p:cNvPr id="43" name="Text 40"/>
          <p:cNvSpPr txBox="1"/>
          <p:nvPr/>
        </p:nvSpPr>
        <p:spPr>
          <a:xfrm>
            <a:off x="6355080" y="2583942"/>
            <a:ext cx="655828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15000"/>
              </a:lnSpc>
              <a:buNone/>
            </a:pPr>
            <a:r>
              <a:rPr lang="en-US" sz="950" b="1" dirty="0">
                <a:solidFill>
                  <a:srgbClr val="2D2D2D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第 12 行</a:t>
            </a:r>
            <a:endParaRPr lang="en-US" sz="950" dirty="0"/>
          </a:p>
        </p:txBody>
      </p:sp>
      <p:sp>
        <p:nvSpPr>
          <p:cNvPr id="44" name="Text 41"/>
          <p:cNvSpPr txBox="1"/>
          <p:nvPr/>
        </p:nvSpPr>
        <p:spPr>
          <a:xfrm>
            <a:off x="7102348" y="2574798"/>
            <a:ext cx="163017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0000"/>
              </a:lnSpc>
              <a:buNone/>
            </a:pPr>
            <a:r>
              <a:rPr lang="en-US" sz="1200" dirty="0">
                <a:solidFill>
                  <a:srgbClr val="2D2D2D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保险起见限制范围</a:t>
            </a:r>
            <a:endParaRPr lang="en-US" sz="1200" dirty="0"/>
          </a:p>
        </p:txBody>
      </p:sp>
      <p:sp>
        <p:nvSpPr>
          <p:cNvPr id="45" name="Shape 42"/>
          <p:cNvSpPr/>
          <p:nvPr/>
        </p:nvSpPr>
        <p:spPr>
          <a:xfrm>
            <a:off x="6355080" y="2931414"/>
            <a:ext cx="655828" cy="219456"/>
          </a:xfrm>
          <a:prstGeom prst="roundRect">
            <a:avLst>
              <a:gd name="adj" fmla="val 50000"/>
            </a:avLst>
          </a:prstGeom>
          <a:solidFill>
            <a:srgbClr val="40E0D0"/>
          </a:solidFill>
          <a:ln w="12700">
            <a:solidFill>
              <a:srgbClr val="40E0D0"/>
            </a:solidFill>
            <a:prstDash val="solid"/>
          </a:ln>
        </p:spPr>
      </p:sp>
      <p:sp>
        <p:nvSpPr>
          <p:cNvPr id="46" name="Text 43"/>
          <p:cNvSpPr txBox="1"/>
          <p:nvPr/>
        </p:nvSpPr>
        <p:spPr>
          <a:xfrm>
            <a:off x="6355080" y="2931414"/>
            <a:ext cx="655828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15000"/>
              </a:lnSpc>
              <a:buNone/>
            </a:pPr>
            <a:r>
              <a:rPr lang="en-US" sz="950" b="1" dirty="0">
                <a:solidFill>
                  <a:srgbClr val="2D2D2D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第 13 行</a:t>
            </a:r>
            <a:endParaRPr lang="en-US" sz="950" dirty="0"/>
          </a:p>
        </p:txBody>
      </p:sp>
      <p:sp>
        <p:nvSpPr>
          <p:cNvPr id="47" name="Text 44"/>
          <p:cNvSpPr txBox="1"/>
          <p:nvPr/>
        </p:nvSpPr>
        <p:spPr>
          <a:xfrm>
            <a:off x="7102348" y="2922270"/>
            <a:ext cx="163017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0000"/>
              </a:lnSpc>
              <a:buNone/>
            </a:pPr>
            <a:r>
              <a:rPr lang="en-US" sz="1200" dirty="0">
                <a:solidFill>
                  <a:srgbClr val="2D2D2D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输出到 PWM 引脚</a:t>
            </a:r>
            <a:endParaRPr lang="en-US" sz="1200" dirty="0"/>
          </a:p>
        </p:txBody>
      </p:sp>
      <p:sp>
        <p:nvSpPr>
          <p:cNvPr id="48" name="Shape 45"/>
          <p:cNvSpPr/>
          <p:nvPr/>
        </p:nvSpPr>
        <p:spPr>
          <a:xfrm>
            <a:off x="6355080" y="3474720"/>
            <a:ext cx="2377440" cy="1097280"/>
          </a:xfrm>
          <a:prstGeom prst="roundRect">
            <a:avLst>
              <a:gd name="adj" fmla="val 8333"/>
            </a:avLst>
          </a:prstGeom>
          <a:solidFill>
            <a:srgbClr val="FFFFFF"/>
          </a:solidFill>
          <a:ln w="9525">
            <a:solidFill>
              <a:srgbClr val="E2E2E2"/>
            </a:solidFill>
            <a:prstDash val="solid"/>
          </a:ln>
        </p:spPr>
      </p:sp>
      <p:sp>
        <p:nvSpPr>
          <p:cNvPr id="49" name="Shape 46"/>
          <p:cNvSpPr/>
          <p:nvPr/>
        </p:nvSpPr>
        <p:spPr>
          <a:xfrm>
            <a:off x="6364224" y="3483864"/>
            <a:ext cx="2359152" cy="292608"/>
          </a:xfrm>
          <a:prstGeom prst="rect">
            <a:avLst/>
          </a:prstGeom>
          <a:solidFill>
            <a:srgbClr val="F5F5F5"/>
          </a:solidFill>
          <a:ln w="12700">
            <a:solidFill>
              <a:srgbClr val="F5F5F5"/>
            </a:solidFill>
            <a:prstDash val="solid"/>
          </a:ln>
        </p:spPr>
      </p:sp>
      <p:sp>
        <p:nvSpPr>
          <p:cNvPr id="50" name="Text 47"/>
          <p:cNvSpPr txBox="1"/>
          <p:nvPr/>
        </p:nvSpPr>
        <p:spPr>
          <a:xfrm>
            <a:off x="6483096" y="3502152"/>
            <a:ext cx="11887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1000" b="1" dirty="0">
                <a:solidFill>
                  <a:srgbClr val="2D2D2D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串口监视器</a:t>
            </a:r>
            <a:endParaRPr lang="en-US" sz="1000" dirty="0"/>
          </a:p>
        </p:txBody>
      </p:sp>
      <p:sp>
        <p:nvSpPr>
          <p:cNvPr id="51" name="Text 48"/>
          <p:cNvSpPr txBox="1"/>
          <p:nvPr/>
        </p:nvSpPr>
        <p:spPr>
          <a:xfrm>
            <a:off x="7543800" y="3502152"/>
            <a:ext cx="1060704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lnSpc>
                <a:spcPct val="115000"/>
              </a:lnSpc>
              <a:buNone/>
            </a:pPr>
            <a:r>
              <a:rPr lang="en-US" sz="1000" dirty="0">
                <a:solidFill>
                  <a:srgbClr val="6B6B6B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9600 波特率</a:t>
            </a:r>
            <a:endParaRPr lang="en-US" sz="1000" dirty="0"/>
          </a:p>
        </p:txBody>
      </p:sp>
      <p:sp>
        <p:nvSpPr>
          <p:cNvPr id="52" name="Text 49"/>
          <p:cNvSpPr txBox="1"/>
          <p:nvPr/>
        </p:nvSpPr>
        <p:spPr>
          <a:xfrm>
            <a:off x="6501384" y="3858768"/>
            <a:ext cx="21031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000" dirty="0">
                <a:solidFill>
                  <a:srgbClr val="2D2D2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0 -&gt; 0</a:t>
            </a:r>
            <a:endParaRPr lang="en-US" sz="1000" dirty="0"/>
          </a:p>
          <a:p>
            <a:pPr algn="l" indent="0" marL="0">
              <a:lnSpc>
                <a:spcPct val="100000"/>
              </a:lnSpc>
              <a:buNone/>
            </a:pPr>
            <a:r>
              <a:rPr lang="en-US" sz="1000" dirty="0">
                <a:solidFill>
                  <a:srgbClr val="2D2D2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256 -&gt; 63</a:t>
            </a:r>
            <a:endParaRPr lang="en-US" sz="1000" dirty="0"/>
          </a:p>
          <a:p>
            <a:pPr algn="l" indent="0" marL="0">
              <a:lnSpc>
                <a:spcPct val="100000"/>
              </a:lnSpc>
              <a:buNone/>
            </a:pPr>
            <a:r>
              <a:rPr lang="en-US" sz="1000" dirty="0">
                <a:solidFill>
                  <a:srgbClr val="2D2D2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512 -&gt; 127</a:t>
            </a:r>
            <a:endParaRPr lang="en-US" sz="1000" dirty="0"/>
          </a:p>
          <a:p>
            <a:pPr algn="l" indent="0" marL="0">
              <a:lnSpc>
                <a:spcPct val="100000"/>
              </a:lnSpc>
              <a:buNone/>
            </a:pPr>
            <a:r>
              <a:rPr lang="en-US" sz="1000" dirty="0">
                <a:solidFill>
                  <a:srgbClr val="2D2D2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1023 -&gt; 255</a:t>
            </a:r>
            <a:endParaRPr lang="en-US" sz="1000" dirty="0"/>
          </a:p>
        </p:txBody>
      </p:sp>
      <p:sp>
        <p:nvSpPr>
          <p:cNvPr id="53" name="Shape 50"/>
          <p:cNvSpPr/>
          <p:nvPr/>
        </p:nvSpPr>
        <p:spPr>
          <a:xfrm>
            <a:off x="411480" y="4069080"/>
            <a:ext cx="5669280" cy="502920"/>
          </a:xfrm>
          <a:prstGeom prst="roundRect">
            <a:avLst>
              <a:gd name="adj" fmla="val 21818"/>
            </a:avLst>
          </a:prstGeom>
          <a:solidFill>
            <a:srgbClr val="E3FAF7"/>
          </a:solidFill>
          <a:ln w="12700">
            <a:solidFill>
              <a:srgbClr val="E3FAF7"/>
            </a:solidFill>
            <a:prstDash val="solid"/>
          </a:ln>
        </p:spPr>
      </p:sp>
      <p:sp>
        <p:nvSpPr>
          <p:cNvPr id="54" name="Shape 51"/>
          <p:cNvSpPr/>
          <p:nvPr/>
        </p:nvSpPr>
        <p:spPr>
          <a:xfrm>
            <a:off x="539496" y="4165092"/>
            <a:ext cx="310896" cy="310896"/>
          </a:xfrm>
          <a:prstGeom prst="ellipse">
            <a:avLst/>
          </a:prstGeom>
          <a:solidFill>
            <a:srgbClr val="40E0D0"/>
          </a:solidFill>
          <a:ln w="12700">
            <a:solidFill>
              <a:srgbClr val="40E0D0"/>
            </a:solidFill>
            <a:prstDash val="solid"/>
          </a:ln>
        </p:spPr>
      </p:sp>
      <p:pic>
        <p:nvPicPr>
          <p:cNvPr id="55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14111" y="4239707"/>
            <a:ext cx="161666" cy="161666"/>
          </a:xfrm>
          <a:prstGeom prst="rect">
            <a:avLst/>
          </a:prstGeom>
        </p:spPr>
      </p:pic>
      <p:sp>
        <p:nvSpPr>
          <p:cNvPr id="56" name="Text 52"/>
          <p:cNvSpPr txBox="1"/>
          <p:nvPr/>
        </p:nvSpPr>
        <p:spPr>
          <a:xfrm>
            <a:off x="960120" y="4069080"/>
            <a:ext cx="4992624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1200" b="1" dirty="0">
                <a:solidFill>
                  <a:srgbClr val="2D2D2D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动手试一试　</a:t>
            </a:r>
            <a:pPr algn="l" indent="0" marL="0">
              <a:lnSpc>
                <a:spcPct val="115000"/>
              </a:lnSpc>
              <a:buNone/>
            </a:pPr>
            <a:r>
              <a:rPr lang="en-US" sz="1200" dirty="0">
                <a:solidFill>
                  <a:srgbClr val="2D2D2D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把 map 的最后两个数换成 </a:t>
            </a:r>
            <a:pPr algn="l" indent="0" marL="0">
              <a:lnSpc>
                <a:spcPct val="115000"/>
              </a:lnSpc>
              <a:buNone/>
            </a:pPr>
            <a:r>
              <a:rPr lang="en-US" sz="1200" dirty="0">
                <a:solidFill>
                  <a:srgbClr val="2D2D2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255, 0</a:t>
            </a:r>
            <a:pPr algn="l" indent="0" marL="0">
              <a:lnSpc>
                <a:spcPct val="115000"/>
              </a:lnSpc>
              <a:buNone/>
            </a:pPr>
            <a:r>
              <a:rPr lang="en-US" sz="1200" dirty="0">
                <a:solidFill>
                  <a:srgbClr val="2D2D2D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：旋钮方向反过来</a:t>
            </a:r>
            <a:endParaRPr lang="en-US" sz="12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339328" y="4736592"/>
            <a:ext cx="393192" cy="219456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 lIns="0" tIns="0" rIns="0" bIns="0" anchor="ctr"/>
          <a:lstStyle>
            <a:lvl1pPr>
              <a:defRPr sz="800">
                <a:solidFill>
                  <a:srgbClr val="6B6B6B"/>
                </a:solidFill>
                <a:latin typeface="微软雅黑"/>
                <a:ea typeface="微软雅黑"/>
                <a:cs typeface="微软雅黑"/>
              </a:defRPr>
            </a:lvl1pPr>
          </a:lstStyle>
          <a:p>
            <a:pPr algn="r"/>
            <a:fld id="{F7021451-1387-4CA6-816F-3879F97B5CBC}" type="slidenum">
              <a:rPr b="0" lang="en-US"/>
              <a:t>32</a:t>
            </a:fld>
            <a:endParaRPr lang="en-US"/>
          </a:p>
        </p:txBody>
      </p:sp>
    </p:spTree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1"/>
          <p:cNvSpPr/>
          <p:nvPr>
            <p:ph idx="102" type="body" hasCustomPrompt="1"/>
          </p:nvPr>
        </p:nvSpPr>
        <p:spPr>
          <a:xfrm>
            <a:off x="4572000" y="4736592"/>
            <a:ext cx="370332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2D2D2D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把代码打包</a:t>
            </a:r>
            <a:endParaRPr lang="en-US" sz="800" dirty="0"/>
          </a:p>
        </p:txBody>
      </p:sp>
      <p:sp>
        <p:nvSpPr>
          <p:cNvPr id="3" name="Text 1"/>
          <p:cNvSpPr/>
          <p:nvPr>
            <p:ph idx="103" type="title" hasCustomPrompt="1"/>
          </p:nvPr>
        </p:nvSpPr>
        <p:spPr>
          <a:xfrm>
            <a:off x="411480" y="274320"/>
            <a:ext cx="83210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400" dirty="0">
                <a:solidFill>
                  <a:srgbClr val="2D2D2D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库 #include：给 Arduino 装“扩展包”</a:t>
            </a:r>
            <a:endParaRPr lang="en-US" sz="2400" dirty="0"/>
          </a:p>
        </p:txBody>
      </p:sp>
      <p:sp>
        <p:nvSpPr>
          <p:cNvPr id="4" name="Text 1"/>
          <p:cNvSpPr/>
          <p:nvPr>
            <p:ph idx="104" type="body" hasCustomPrompt="1"/>
          </p:nvPr>
        </p:nvSpPr>
        <p:spPr>
          <a:xfrm>
            <a:off x="411480" y="786384"/>
            <a:ext cx="83210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6B6B6B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库是别人写好的代码：一句 #include 引入，就能直接控制舵机、显示屏这些复杂模块。</a:t>
            </a:r>
            <a:endParaRPr lang="en-US" sz="1200" dirty="0"/>
          </a:p>
        </p:txBody>
      </p:sp>
      <p:graphicFrame>
        <p:nvGraphicFramePr>
          <p:cNvPr id="34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11480" y="1234440"/>
          <a:ext cx="8321040" cy="914400"/>
        </p:xfrm>
        <a:graphic>
          <a:graphicData uri="http://schemas.openxmlformats.org/drawingml/2006/table">
            <a:tbl>
              <a:tblPr/>
              <a:tblGrid>
                <a:gridCol w="3108960"/>
                <a:gridCol w="1920240"/>
                <a:gridCol w="1554480"/>
                <a:gridCol w="1737360"/>
              </a:tblGrid>
              <a:tr h="265176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写法</a:t>
                      </a:r>
                      <a:endParaRPr lang="en-US" sz="1100" dirty="0">
                        <a:latin typeface="微软雅黑" charset="0"/>
                        <a:ea typeface="微软雅黑" charset="0"/>
                        <a:cs typeface="微软雅黑" charset="0"/>
                      </a:endParaRPr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E2E2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2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2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2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D2D2D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能控制什么</a:t>
                      </a:r>
                      <a:endParaRPr lang="en-US" sz="1100" dirty="0">
                        <a:latin typeface="微软雅黑" charset="0"/>
                        <a:ea typeface="微软雅黑" charset="0"/>
                        <a:cs typeface="微软雅黑" charset="0"/>
                      </a:endParaRPr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E2E2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2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2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2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D2D2D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从哪里来</a:t>
                      </a:r>
                      <a:endParaRPr lang="en-US" sz="1100" dirty="0">
                        <a:latin typeface="微软雅黑" charset="0"/>
                        <a:ea typeface="微软雅黑" charset="0"/>
                        <a:cs typeface="微软雅黑" charset="0"/>
                      </a:endParaRPr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E2E2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2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2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2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D2D2D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套件实验</a:t>
                      </a:r>
                      <a:endParaRPr lang="en-US" sz="1100" dirty="0">
                        <a:latin typeface="微软雅黑" charset="0"/>
                        <a:ea typeface="微软雅黑" charset="0"/>
                        <a:cs typeface="微软雅黑" charset="0"/>
                      </a:endParaRPr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E2E2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2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2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2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D2D2D"/>
                    </a:solidFill>
                  </a:tcPr>
                </a:tc>
              </a:tr>
              <a:tr h="265176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2D2D2D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#include &lt;Servo.h&gt;</a:t>
                      </a:r>
                      <a:endParaRPr lang="en-US" sz="120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E2E2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2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2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2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2D2D2D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舵机</a:t>
                      </a:r>
                      <a:endParaRPr lang="en-US" sz="1200" dirty="0">
                        <a:latin typeface="微软雅黑" charset="0"/>
                        <a:ea typeface="微软雅黑" charset="0"/>
                        <a:cs typeface="微软雅黑" charset="0"/>
                      </a:endParaRPr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E2E2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2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2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2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2D2D2D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IDE 自带</a:t>
                      </a:r>
                      <a:endParaRPr lang="en-US" sz="1200" dirty="0">
                        <a:latin typeface="微软雅黑" charset="0"/>
                        <a:ea typeface="微软雅黑" charset="0"/>
                        <a:cs typeface="微软雅黑" charset="0"/>
                      </a:endParaRPr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E2E2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2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2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2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2D2D2D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2.10　2.11</a:t>
                      </a:r>
                      <a:endParaRPr lang="en-US" sz="1200" dirty="0">
                        <a:latin typeface="微软雅黑" charset="0"/>
                        <a:ea typeface="微软雅黑" charset="0"/>
                        <a:cs typeface="微软雅黑" charset="0"/>
                      </a:endParaRPr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E2E2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2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2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2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265176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2D2D2D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#include &lt;LiquidCrystal_I2C.h&gt;</a:t>
                      </a:r>
                      <a:endParaRPr lang="en-US" sz="120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E2E2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2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2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2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2D2D2D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LCD1602 显示屏</a:t>
                      </a:r>
                      <a:endParaRPr lang="en-US" sz="1200" dirty="0">
                        <a:latin typeface="微软雅黑" charset="0"/>
                        <a:ea typeface="微软雅黑" charset="0"/>
                        <a:cs typeface="微软雅黑" charset="0"/>
                      </a:endParaRPr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E2E2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2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2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2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2D2D2D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需要安装</a:t>
                      </a:r>
                      <a:endParaRPr lang="en-US" sz="1200" dirty="0">
                        <a:latin typeface="微软雅黑" charset="0"/>
                        <a:ea typeface="微软雅黑" charset="0"/>
                        <a:cs typeface="微软雅黑" charset="0"/>
                      </a:endParaRPr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E2E2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2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2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2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2D2D2D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2.13　2.23</a:t>
                      </a:r>
                      <a:endParaRPr lang="en-US" sz="1200" dirty="0">
                        <a:latin typeface="微软雅黑" charset="0"/>
                        <a:ea typeface="微软雅黑" charset="0"/>
                        <a:cs typeface="微软雅黑" charset="0"/>
                      </a:endParaRPr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E2E2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2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2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2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5F5"/>
                    </a:solidFill>
                  </a:tcPr>
                </a:tc>
              </a:tr>
              <a:tr h="265176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2D2D2D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#include &lt;Adafruit_NeoPixel.h&gt;</a:t>
                      </a:r>
                      <a:endParaRPr lang="en-US" sz="120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E2E2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2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2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2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2D2D2D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WS2812 彩灯</a:t>
                      </a:r>
                      <a:endParaRPr lang="en-US" sz="1200" dirty="0">
                        <a:latin typeface="微软雅黑" charset="0"/>
                        <a:ea typeface="微软雅黑" charset="0"/>
                        <a:cs typeface="微软雅黑" charset="0"/>
                      </a:endParaRPr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E2E2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2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2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2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2D2D2D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需要安装</a:t>
                      </a:r>
                      <a:endParaRPr lang="en-US" sz="1200" dirty="0">
                        <a:latin typeface="微软雅黑" charset="0"/>
                        <a:ea typeface="微软雅黑" charset="0"/>
                        <a:cs typeface="微软雅黑" charset="0"/>
                      </a:endParaRPr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E2E2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2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2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2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2D2D2D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2.6</a:t>
                      </a:r>
                      <a:endParaRPr lang="en-US" sz="1200" dirty="0">
                        <a:latin typeface="微软雅黑" charset="0"/>
                        <a:ea typeface="微软雅黑" charset="0"/>
                        <a:cs typeface="微软雅黑" charset="0"/>
                      </a:endParaRPr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E2E2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2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2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2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265176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2D2D2D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#include &lt;dht11.h&gt;</a:t>
                      </a:r>
                      <a:endParaRPr lang="en-US" sz="120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E2E2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2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2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2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2D2D2D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DHT11 温湿度</a:t>
                      </a:r>
                      <a:endParaRPr lang="en-US" sz="1200" dirty="0">
                        <a:latin typeface="微软雅黑" charset="0"/>
                        <a:ea typeface="微软雅黑" charset="0"/>
                        <a:cs typeface="微软雅黑" charset="0"/>
                      </a:endParaRPr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E2E2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2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2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2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2D2D2D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套件资料提供</a:t>
                      </a:r>
                      <a:endParaRPr lang="en-US" sz="1200" dirty="0">
                        <a:latin typeface="微软雅黑" charset="0"/>
                        <a:ea typeface="微软雅黑" charset="0"/>
                        <a:cs typeface="微软雅黑" charset="0"/>
                      </a:endParaRPr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E2E2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2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2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2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2D2D2D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2.23</a:t>
                      </a:r>
                      <a:endParaRPr lang="en-US" sz="1200" dirty="0">
                        <a:latin typeface="微软雅黑" charset="0"/>
                        <a:ea typeface="微软雅黑" charset="0"/>
                        <a:cs typeface="微软雅黑" charset="0"/>
                      </a:endParaRPr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E2E2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2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2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2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5F5"/>
                    </a:solidFill>
                  </a:tcPr>
                </a:tc>
              </a:tr>
              <a:tr h="265176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2D2D2D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#include &lt;Wire.h&gt;</a:t>
                      </a:r>
                      <a:endParaRPr lang="en-US" sz="120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E2E2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2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2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2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2D2D2D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I2C 通信</a:t>
                      </a:r>
                      <a:endParaRPr lang="en-US" sz="1200" dirty="0">
                        <a:latin typeface="微软雅黑" charset="0"/>
                        <a:ea typeface="微软雅黑" charset="0"/>
                        <a:cs typeface="微软雅黑" charset="0"/>
                      </a:endParaRPr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E2E2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2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2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2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2D2D2D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IDE 自带</a:t>
                      </a:r>
                      <a:endParaRPr lang="en-US" sz="1200" dirty="0">
                        <a:latin typeface="微软雅黑" charset="0"/>
                        <a:ea typeface="微软雅黑" charset="0"/>
                        <a:cs typeface="微软雅黑" charset="0"/>
                      </a:endParaRPr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E2E2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2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2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2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2D2D2D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2.13</a:t>
                      </a:r>
                      <a:endParaRPr lang="en-US" sz="1200" dirty="0">
                        <a:latin typeface="微软雅黑" charset="0"/>
                        <a:ea typeface="微软雅黑" charset="0"/>
                        <a:cs typeface="微软雅黑" charset="0"/>
                      </a:endParaRPr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E2E2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2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2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2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265176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2D2D2D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#include &lt;SegmentDisplay.h&gt;</a:t>
                      </a:r>
                      <a:endParaRPr lang="en-US" sz="120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E2E2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2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2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2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2D2D2D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四位数码管</a:t>
                      </a:r>
                      <a:endParaRPr lang="en-US" sz="1200" dirty="0">
                        <a:latin typeface="微软雅黑" charset="0"/>
                        <a:ea typeface="微软雅黑" charset="0"/>
                        <a:cs typeface="微软雅黑" charset="0"/>
                      </a:endParaRPr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E2E2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2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2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2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2D2D2D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实验资料提供</a:t>
                      </a:r>
                      <a:endParaRPr lang="en-US" sz="1200" dirty="0">
                        <a:latin typeface="微软雅黑" charset="0"/>
                        <a:ea typeface="微软雅黑" charset="0"/>
                        <a:cs typeface="微软雅黑" charset="0"/>
                      </a:endParaRPr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E2E2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2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2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2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2D2D2D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原课件</a:t>
                      </a:r>
                      <a:endParaRPr lang="en-US" sz="1200" dirty="0">
                        <a:latin typeface="微软雅黑" charset="0"/>
                        <a:ea typeface="微软雅黑" charset="0"/>
                        <a:cs typeface="微软雅黑" charset="0"/>
                      </a:endParaRPr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E2E2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2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2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2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5F5"/>
                    </a:solidFill>
                  </a:tcPr>
                </a:tc>
              </a:tr>
            </a:tbl>
          </a:graphicData>
        </a:graphic>
      </p:graphicFrame>
      <p:sp>
        <p:nvSpPr>
          <p:cNvPr id="7" name="Shape 3"/>
          <p:cNvSpPr/>
          <p:nvPr/>
        </p:nvSpPr>
        <p:spPr>
          <a:xfrm>
            <a:off x="411480" y="3364992"/>
            <a:ext cx="2590800" cy="1207008"/>
          </a:xfrm>
          <a:prstGeom prst="roundRect">
            <a:avLst>
              <a:gd name="adj" fmla="val 9091"/>
            </a:avLst>
          </a:prstGeom>
          <a:solidFill>
            <a:srgbClr val="F5F5F5"/>
          </a:solidFill>
          <a:ln w="12700">
            <a:solidFill>
              <a:srgbClr val="F5F5F5"/>
            </a:solidFill>
            <a:prstDash val="solid"/>
          </a:ln>
        </p:spPr>
      </p:sp>
      <p:sp>
        <p:nvSpPr>
          <p:cNvPr id="8" name="Shape 4"/>
          <p:cNvSpPr/>
          <p:nvPr/>
        </p:nvSpPr>
        <p:spPr>
          <a:xfrm>
            <a:off x="557784" y="3493008"/>
            <a:ext cx="310896" cy="310896"/>
          </a:xfrm>
          <a:prstGeom prst="ellipse">
            <a:avLst/>
          </a:prstGeom>
          <a:solidFill>
            <a:srgbClr val="40E0D0"/>
          </a:solidFill>
          <a:ln w="12700">
            <a:solidFill>
              <a:srgbClr val="40E0D0"/>
            </a:solidFill>
            <a:prstDash val="solid"/>
          </a:ln>
        </p:spPr>
      </p:sp>
      <p:sp>
        <p:nvSpPr>
          <p:cNvPr id="9" name="Text 5"/>
          <p:cNvSpPr txBox="1"/>
          <p:nvPr/>
        </p:nvSpPr>
        <p:spPr>
          <a:xfrm>
            <a:off x="557784" y="3493008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15000"/>
              </a:lnSpc>
              <a:buNone/>
            </a:pPr>
            <a:r>
              <a:rPr lang="en-US" sz="1200" b="1" dirty="0">
                <a:solidFill>
                  <a:srgbClr val="2D2D2D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1</a:t>
            </a:r>
            <a:endParaRPr lang="en-US" sz="1200" dirty="0"/>
          </a:p>
        </p:txBody>
      </p:sp>
      <p:sp>
        <p:nvSpPr>
          <p:cNvPr id="10" name="Text 6"/>
          <p:cNvSpPr txBox="1"/>
          <p:nvPr/>
        </p:nvSpPr>
        <p:spPr>
          <a:xfrm>
            <a:off x="960120" y="3474720"/>
            <a:ext cx="1895856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1400" b="1" dirty="0">
                <a:solidFill>
                  <a:srgbClr val="2D2D2D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在线安装</a:t>
            </a:r>
            <a:endParaRPr lang="en-US" sz="1400" dirty="0"/>
          </a:p>
        </p:txBody>
      </p:sp>
      <p:sp>
        <p:nvSpPr>
          <p:cNvPr id="11" name="Text 7"/>
          <p:cNvSpPr txBox="1"/>
          <p:nvPr/>
        </p:nvSpPr>
        <p:spPr>
          <a:xfrm>
            <a:off x="557784" y="3877056"/>
            <a:ext cx="2298192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1200" dirty="0">
                <a:solidFill>
                  <a:srgbClr val="2D2D2D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工具 → 管理库，搜索库名（如 LiquidCrystal I2C），点“安装”</a:t>
            </a:r>
            <a:endParaRPr lang="en-US" sz="1200" dirty="0"/>
          </a:p>
        </p:txBody>
      </p:sp>
      <p:sp>
        <p:nvSpPr>
          <p:cNvPr id="12" name="Shape 8"/>
          <p:cNvSpPr/>
          <p:nvPr/>
        </p:nvSpPr>
        <p:spPr>
          <a:xfrm>
            <a:off x="3276600" y="3364992"/>
            <a:ext cx="2590800" cy="1207008"/>
          </a:xfrm>
          <a:prstGeom prst="roundRect">
            <a:avLst>
              <a:gd name="adj" fmla="val 9091"/>
            </a:avLst>
          </a:prstGeom>
          <a:solidFill>
            <a:srgbClr val="F5F5F5"/>
          </a:solidFill>
          <a:ln w="12700">
            <a:solidFill>
              <a:srgbClr val="F5F5F5"/>
            </a:solidFill>
            <a:prstDash val="solid"/>
          </a:ln>
        </p:spPr>
      </p:sp>
      <p:sp>
        <p:nvSpPr>
          <p:cNvPr id="13" name="Shape 9"/>
          <p:cNvSpPr/>
          <p:nvPr/>
        </p:nvSpPr>
        <p:spPr>
          <a:xfrm>
            <a:off x="3422904" y="3493008"/>
            <a:ext cx="310896" cy="310896"/>
          </a:xfrm>
          <a:prstGeom prst="ellipse">
            <a:avLst/>
          </a:prstGeom>
          <a:solidFill>
            <a:srgbClr val="40E0D0"/>
          </a:solidFill>
          <a:ln w="12700">
            <a:solidFill>
              <a:srgbClr val="40E0D0"/>
            </a:solidFill>
            <a:prstDash val="solid"/>
          </a:ln>
        </p:spPr>
      </p:sp>
      <p:sp>
        <p:nvSpPr>
          <p:cNvPr id="14" name="Text 10"/>
          <p:cNvSpPr txBox="1"/>
          <p:nvPr/>
        </p:nvSpPr>
        <p:spPr>
          <a:xfrm>
            <a:off x="3422904" y="3493008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15000"/>
              </a:lnSpc>
              <a:buNone/>
            </a:pPr>
            <a:r>
              <a:rPr lang="en-US" sz="1200" b="1" dirty="0">
                <a:solidFill>
                  <a:srgbClr val="2D2D2D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2</a:t>
            </a:r>
            <a:endParaRPr lang="en-US" sz="1200" dirty="0"/>
          </a:p>
        </p:txBody>
      </p:sp>
      <p:sp>
        <p:nvSpPr>
          <p:cNvPr id="15" name="Text 11"/>
          <p:cNvSpPr txBox="1"/>
          <p:nvPr/>
        </p:nvSpPr>
        <p:spPr>
          <a:xfrm>
            <a:off x="3825240" y="3474720"/>
            <a:ext cx="1895856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1400" b="1" dirty="0">
                <a:solidFill>
                  <a:srgbClr val="2D2D2D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压缩包安装</a:t>
            </a:r>
            <a:endParaRPr lang="en-US" sz="1400" dirty="0"/>
          </a:p>
        </p:txBody>
      </p:sp>
      <p:sp>
        <p:nvSpPr>
          <p:cNvPr id="16" name="Text 12"/>
          <p:cNvSpPr txBox="1"/>
          <p:nvPr/>
        </p:nvSpPr>
        <p:spPr>
          <a:xfrm>
            <a:off x="3422904" y="3877056"/>
            <a:ext cx="2298192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1200" dirty="0">
                <a:solidFill>
                  <a:srgbClr val="2D2D2D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项目 → 导入库 → 添加 .ZIP 库，选择套件资料里的库文件</a:t>
            </a:r>
            <a:endParaRPr lang="en-US" sz="1200" dirty="0"/>
          </a:p>
        </p:txBody>
      </p:sp>
      <p:sp>
        <p:nvSpPr>
          <p:cNvPr id="17" name="Shape 13"/>
          <p:cNvSpPr/>
          <p:nvPr/>
        </p:nvSpPr>
        <p:spPr>
          <a:xfrm>
            <a:off x="6141720" y="3364992"/>
            <a:ext cx="2590800" cy="1207008"/>
          </a:xfrm>
          <a:prstGeom prst="roundRect">
            <a:avLst>
              <a:gd name="adj" fmla="val 9091"/>
            </a:avLst>
          </a:prstGeom>
          <a:solidFill>
            <a:srgbClr val="E3FAF7"/>
          </a:solidFill>
          <a:ln w="12700">
            <a:solidFill>
              <a:srgbClr val="E3FAF7"/>
            </a:solidFill>
            <a:prstDash val="solid"/>
          </a:ln>
        </p:spPr>
      </p:sp>
      <p:sp>
        <p:nvSpPr>
          <p:cNvPr id="18" name="Shape 14"/>
          <p:cNvSpPr/>
          <p:nvPr/>
        </p:nvSpPr>
        <p:spPr>
          <a:xfrm>
            <a:off x="6288024" y="3493008"/>
            <a:ext cx="310896" cy="310896"/>
          </a:xfrm>
          <a:prstGeom prst="ellipse">
            <a:avLst/>
          </a:prstGeom>
          <a:solidFill>
            <a:srgbClr val="40E0D0"/>
          </a:solidFill>
          <a:ln w="12700">
            <a:solidFill>
              <a:srgbClr val="40E0D0"/>
            </a:solidFill>
            <a:prstDash val="solid"/>
          </a:ln>
        </p:spPr>
      </p:sp>
      <p:sp>
        <p:nvSpPr>
          <p:cNvPr id="19" name="Text 15"/>
          <p:cNvSpPr txBox="1"/>
          <p:nvPr/>
        </p:nvSpPr>
        <p:spPr>
          <a:xfrm>
            <a:off x="6288024" y="3493008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15000"/>
              </a:lnSpc>
              <a:buNone/>
            </a:pPr>
            <a:r>
              <a:rPr lang="en-US" sz="1200" b="1" dirty="0">
                <a:solidFill>
                  <a:srgbClr val="2D2D2D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3</a:t>
            </a:r>
            <a:endParaRPr lang="en-US" sz="1200" dirty="0"/>
          </a:p>
        </p:txBody>
      </p:sp>
      <p:sp>
        <p:nvSpPr>
          <p:cNvPr id="20" name="Text 16"/>
          <p:cNvSpPr txBox="1"/>
          <p:nvPr/>
        </p:nvSpPr>
        <p:spPr>
          <a:xfrm>
            <a:off x="6690360" y="3474720"/>
            <a:ext cx="1895856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1400" b="1" dirty="0">
                <a:solidFill>
                  <a:srgbClr val="2D2D2D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在代码里使用</a:t>
            </a:r>
            <a:endParaRPr lang="en-US" sz="1400" dirty="0"/>
          </a:p>
        </p:txBody>
      </p:sp>
      <p:sp>
        <p:nvSpPr>
          <p:cNvPr id="21" name="Text 17"/>
          <p:cNvSpPr txBox="1"/>
          <p:nvPr/>
        </p:nvSpPr>
        <p:spPr>
          <a:xfrm>
            <a:off x="6288024" y="3877056"/>
            <a:ext cx="2298192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1200" dirty="0">
                <a:solidFill>
                  <a:srgbClr val="2D2D2D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开头写 </a:t>
            </a:r>
            <a:pPr algn="l" indent="0" marL="0">
              <a:lnSpc>
                <a:spcPct val="115000"/>
              </a:lnSpc>
              <a:buNone/>
            </a:pPr>
            <a:r>
              <a:rPr lang="en-US" sz="1200" dirty="0">
                <a:solidFill>
                  <a:srgbClr val="2D2D2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#include</a:t>
            </a:r>
            <a:pPr algn="l" indent="0" marL="0">
              <a:lnSpc>
                <a:spcPct val="115000"/>
              </a:lnSpc>
              <a:buNone/>
            </a:pPr>
            <a:r>
              <a:rPr lang="en-US" sz="1200" dirty="0">
                <a:solidFill>
                  <a:srgbClr val="2D2D2D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，</a:t>
            </a:r>
            <a:endParaRPr lang="en-US" sz="1200" dirty="0"/>
          </a:p>
          <a:p>
            <a:pPr algn="l" indent="0" marL="0">
              <a:lnSpc>
                <a:spcPct val="115000"/>
              </a:lnSpc>
              <a:buNone/>
            </a:pPr>
            <a:r>
              <a:rPr lang="en-US" sz="1200" dirty="0">
                <a:solidFill>
                  <a:srgbClr val="2D2D2D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再用“对象.函数()”来调用，</a:t>
            </a:r>
            <a:endParaRPr lang="en-US" sz="1200" dirty="0"/>
          </a:p>
          <a:p>
            <a:pPr algn="l" indent="0" marL="0">
              <a:lnSpc>
                <a:spcPct val="115000"/>
              </a:lnSpc>
              <a:buNone/>
            </a:pPr>
            <a:r>
              <a:rPr lang="en-US" sz="1200" dirty="0">
                <a:solidFill>
                  <a:srgbClr val="2D2D2D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例如 </a:t>
            </a:r>
            <a:pPr algn="l" indent="0" marL="0">
              <a:lnSpc>
                <a:spcPct val="115000"/>
              </a:lnSpc>
              <a:buNone/>
            </a:pPr>
            <a:r>
              <a:rPr lang="en-US" sz="1200" dirty="0">
                <a:solidFill>
                  <a:srgbClr val="2D2D2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lcd.print(…)</a:t>
            </a:r>
            <a:endParaRPr lang="en-US" sz="12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339328" y="4736592"/>
            <a:ext cx="393192" cy="219456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 lIns="0" tIns="0" rIns="0" bIns="0" anchor="ctr"/>
          <a:lstStyle>
            <a:lvl1pPr>
              <a:defRPr sz="800">
                <a:solidFill>
                  <a:srgbClr val="6B6B6B"/>
                </a:solidFill>
                <a:latin typeface="微软雅黑"/>
                <a:ea typeface="微软雅黑"/>
                <a:cs typeface="微软雅黑"/>
              </a:defRPr>
            </a:lvl1pPr>
          </a:lstStyle>
          <a:p>
            <a:pPr algn="r"/>
            <a:fld id="{F7021451-1387-4CA6-816F-3879F97B5CBC}" type="slidenum">
              <a:rPr b="0" lang="en-US"/>
              <a:t>33</a:t>
            </a:fld>
            <a:endParaRPr lang="en-US"/>
          </a:p>
        </p:txBody>
      </p:sp>
    </p:spTree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1"/>
          <p:cNvSpPr/>
          <p:nvPr>
            <p:ph idx="102" type="body" hasCustomPrompt="1"/>
          </p:nvPr>
        </p:nvSpPr>
        <p:spPr>
          <a:xfrm>
            <a:off x="4572000" y="4736592"/>
            <a:ext cx="370332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2D2D2D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速查与排错</a:t>
            </a:r>
            <a:endParaRPr lang="en-US" sz="800" dirty="0"/>
          </a:p>
        </p:txBody>
      </p:sp>
      <p:sp>
        <p:nvSpPr>
          <p:cNvPr id="3" name="Text 1"/>
          <p:cNvSpPr/>
          <p:nvPr>
            <p:ph idx="103" type="title" hasCustomPrompt="1"/>
          </p:nvPr>
        </p:nvSpPr>
        <p:spPr>
          <a:xfrm>
            <a:off x="411480" y="274320"/>
            <a:ext cx="83210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400" dirty="0">
                <a:solidFill>
                  <a:srgbClr val="2D2D2D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速查：四类输入输出</a:t>
            </a:r>
            <a:endParaRPr lang="en-US" sz="2400" dirty="0"/>
          </a:p>
        </p:txBody>
      </p:sp>
      <p:sp>
        <p:nvSpPr>
          <p:cNvPr id="4" name="Text 1"/>
          <p:cNvSpPr/>
          <p:nvPr>
            <p:ph idx="104" type="body" hasCustomPrompt="1"/>
          </p:nvPr>
        </p:nvSpPr>
        <p:spPr>
          <a:xfrm>
            <a:off x="411480" y="786384"/>
            <a:ext cx="83210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6B6B6B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套件里绝大多数模块都能归到这四类：先判断是哪一类，再套用对应的函数。</a:t>
            </a:r>
            <a:endParaRPr lang="en-US" sz="1200" dirty="0"/>
          </a:p>
        </p:txBody>
      </p:sp>
      <p:sp>
        <p:nvSpPr>
          <p:cNvPr id="6" name="Shape 3"/>
          <p:cNvSpPr/>
          <p:nvPr/>
        </p:nvSpPr>
        <p:spPr>
          <a:xfrm>
            <a:off x="411480" y="1234440"/>
            <a:ext cx="4160520" cy="1668780"/>
          </a:xfrm>
          <a:prstGeom prst="rect">
            <a:avLst/>
          </a:prstGeom>
          <a:solidFill>
            <a:srgbClr val="40E0D0"/>
          </a:solidFill>
          <a:ln w="9525">
            <a:solidFill>
              <a:srgbClr val="E2E2E2"/>
            </a:solidFill>
            <a:prstDash val="solid"/>
          </a:ln>
        </p:spPr>
      </p:sp>
      <p:sp>
        <p:nvSpPr>
          <p:cNvPr id="7" name="Shape 4"/>
          <p:cNvSpPr/>
          <p:nvPr/>
        </p:nvSpPr>
        <p:spPr>
          <a:xfrm>
            <a:off x="640080" y="1435608"/>
            <a:ext cx="420624" cy="420624"/>
          </a:xfrm>
          <a:prstGeom prst="ellipse">
            <a:avLst/>
          </a:prstGeom>
          <a:solidFill>
            <a:srgbClr val="2D2D2D"/>
          </a:solidFill>
          <a:ln w="12700">
            <a:solidFill>
              <a:srgbClr val="2D2D2D"/>
            </a:solidFill>
            <a:prstDash val="solid"/>
          </a:ln>
        </p:spPr>
      </p:sp>
      <p:pic>
        <p:nvPicPr>
          <p:cNvPr id="8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41030" y="1536558"/>
            <a:ext cx="218724" cy="218724"/>
          </a:xfrm>
          <a:prstGeom prst="rect">
            <a:avLst/>
          </a:prstGeom>
        </p:spPr>
      </p:pic>
      <p:sp>
        <p:nvSpPr>
          <p:cNvPr id="9" name="Text 5"/>
          <p:cNvSpPr txBox="1"/>
          <p:nvPr/>
        </p:nvSpPr>
        <p:spPr>
          <a:xfrm>
            <a:off x="1197864" y="1435608"/>
            <a:ext cx="315468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1700" b="1" dirty="0">
                <a:solidFill>
                  <a:srgbClr val="2D2D2D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数字输出</a:t>
            </a:r>
            <a:endParaRPr lang="en-US" sz="1700" dirty="0"/>
          </a:p>
        </p:txBody>
      </p:sp>
      <p:sp>
        <p:nvSpPr>
          <p:cNvPr id="10" name="Text 6"/>
          <p:cNvSpPr txBox="1"/>
          <p:nvPr/>
        </p:nvSpPr>
        <p:spPr>
          <a:xfrm>
            <a:off x="640080" y="1984248"/>
            <a:ext cx="37033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1300" b="1" dirty="0">
                <a:solidFill>
                  <a:srgbClr val="2D2D2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digitalWrite(引脚, HIGH/LOW)</a:t>
            </a:r>
            <a:endParaRPr lang="en-US" sz="1300" dirty="0"/>
          </a:p>
        </p:txBody>
      </p:sp>
      <p:sp>
        <p:nvSpPr>
          <p:cNvPr id="11" name="Text 7"/>
          <p:cNvSpPr txBox="1"/>
          <p:nvPr/>
        </p:nvSpPr>
        <p:spPr>
          <a:xfrm>
            <a:off x="640080" y="2286000"/>
            <a:ext cx="3703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1300" dirty="0">
                <a:solidFill>
                  <a:srgbClr val="2D2D2D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LED、有源蜂鸣器、RGB 单色</a:t>
            </a:r>
            <a:endParaRPr lang="en-US" sz="1300" dirty="0"/>
          </a:p>
        </p:txBody>
      </p:sp>
      <p:sp>
        <p:nvSpPr>
          <p:cNvPr id="12" name="Text 8"/>
          <p:cNvSpPr txBox="1"/>
          <p:nvPr/>
        </p:nvSpPr>
        <p:spPr>
          <a:xfrm>
            <a:off x="640080" y="2578608"/>
            <a:ext cx="370332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1050" dirty="0">
                <a:solidFill>
                  <a:srgbClr val="2D2D2D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实验 2.1 2.2 2.15 2.18 2.19 2.25 2.27 2.32 2.33</a:t>
            </a:r>
            <a:endParaRPr lang="en-US" sz="1050" dirty="0"/>
          </a:p>
        </p:txBody>
      </p:sp>
      <p:sp>
        <p:nvSpPr>
          <p:cNvPr id="13" name="Shape 9"/>
          <p:cNvSpPr/>
          <p:nvPr/>
        </p:nvSpPr>
        <p:spPr>
          <a:xfrm>
            <a:off x="4572000" y="1234440"/>
            <a:ext cx="4160520" cy="1668780"/>
          </a:xfrm>
          <a:prstGeom prst="rect">
            <a:avLst/>
          </a:prstGeom>
          <a:solidFill>
            <a:srgbClr val="EBEBEB"/>
          </a:solidFill>
          <a:ln w="9525">
            <a:solidFill>
              <a:srgbClr val="E2E2E2"/>
            </a:solidFill>
            <a:prstDash val="solid"/>
          </a:ln>
        </p:spPr>
      </p:sp>
      <p:sp>
        <p:nvSpPr>
          <p:cNvPr id="14" name="Shape 10"/>
          <p:cNvSpPr/>
          <p:nvPr/>
        </p:nvSpPr>
        <p:spPr>
          <a:xfrm>
            <a:off x="4800600" y="1435608"/>
            <a:ext cx="420624" cy="420624"/>
          </a:xfrm>
          <a:prstGeom prst="ellipse">
            <a:avLst/>
          </a:prstGeom>
          <a:solidFill>
            <a:srgbClr val="40E0D0"/>
          </a:solidFill>
          <a:ln w="12700">
            <a:solidFill>
              <a:srgbClr val="40E0D0"/>
            </a:solidFill>
            <a:prstDash val="solid"/>
          </a:ln>
        </p:spPr>
      </p:sp>
      <p:pic>
        <p:nvPicPr>
          <p:cNvPr id="15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901550" y="1536558"/>
            <a:ext cx="218724" cy="218724"/>
          </a:xfrm>
          <a:prstGeom prst="rect">
            <a:avLst/>
          </a:prstGeom>
        </p:spPr>
      </p:pic>
      <p:sp>
        <p:nvSpPr>
          <p:cNvPr id="16" name="Text 11"/>
          <p:cNvSpPr txBox="1"/>
          <p:nvPr/>
        </p:nvSpPr>
        <p:spPr>
          <a:xfrm>
            <a:off x="5358384" y="1435608"/>
            <a:ext cx="315468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1700" b="1" dirty="0">
                <a:solidFill>
                  <a:srgbClr val="2D2D2D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数字输入</a:t>
            </a:r>
            <a:endParaRPr lang="en-US" sz="1700" dirty="0"/>
          </a:p>
        </p:txBody>
      </p:sp>
      <p:sp>
        <p:nvSpPr>
          <p:cNvPr id="17" name="Text 12"/>
          <p:cNvSpPr txBox="1"/>
          <p:nvPr/>
        </p:nvSpPr>
        <p:spPr>
          <a:xfrm>
            <a:off x="4800600" y="1984248"/>
            <a:ext cx="37033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1300" b="1" dirty="0">
                <a:solidFill>
                  <a:srgbClr val="2D2D2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digitalRead(引脚)</a:t>
            </a:r>
            <a:endParaRPr lang="en-US" sz="1300" dirty="0"/>
          </a:p>
        </p:txBody>
      </p:sp>
      <p:sp>
        <p:nvSpPr>
          <p:cNvPr id="18" name="Text 13"/>
          <p:cNvSpPr txBox="1"/>
          <p:nvPr/>
        </p:nvSpPr>
        <p:spPr>
          <a:xfrm>
            <a:off x="4800600" y="2286000"/>
            <a:ext cx="3703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1300" dirty="0">
                <a:solidFill>
                  <a:srgbClr val="2D2D2D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按键、触摸、倾斜、磁簧、限位、红外避障</a:t>
            </a:r>
            <a:endParaRPr lang="en-US" sz="1300" dirty="0"/>
          </a:p>
        </p:txBody>
      </p:sp>
      <p:sp>
        <p:nvSpPr>
          <p:cNvPr id="19" name="Text 14"/>
          <p:cNvSpPr txBox="1"/>
          <p:nvPr/>
        </p:nvSpPr>
        <p:spPr>
          <a:xfrm>
            <a:off x="4800600" y="2578608"/>
            <a:ext cx="370332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1050" dirty="0">
                <a:solidFill>
                  <a:srgbClr val="6B6B6B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实验 2.15 2.17 2.19 2.25 2.27 2.32 2.33</a:t>
            </a:r>
            <a:endParaRPr lang="en-US" sz="1050" dirty="0"/>
          </a:p>
        </p:txBody>
      </p:sp>
      <p:sp>
        <p:nvSpPr>
          <p:cNvPr id="20" name="Shape 15"/>
          <p:cNvSpPr/>
          <p:nvPr/>
        </p:nvSpPr>
        <p:spPr>
          <a:xfrm>
            <a:off x="411480" y="2903220"/>
            <a:ext cx="4160520" cy="1668780"/>
          </a:xfrm>
          <a:prstGeom prst="rect">
            <a:avLst/>
          </a:prstGeom>
          <a:solidFill>
            <a:srgbClr val="FFFFFF"/>
          </a:solidFill>
          <a:ln w="9525">
            <a:solidFill>
              <a:srgbClr val="E2E2E2"/>
            </a:solidFill>
            <a:prstDash val="solid"/>
          </a:ln>
        </p:spPr>
      </p:sp>
      <p:sp>
        <p:nvSpPr>
          <p:cNvPr id="21" name="Shape 16"/>
          <p:cNvSpPr/>
          <p:nvPr/>
        </p:nvSpPr>
        <p:spPr>
          <a:xfrm>
            <a:off x="640080" y="3104388"/>
            <a:ext cx="420624" cy="420624"/>
          </a:xfrm>
          <a:prstGeom prst="ellipse">
            <a:avLst/>
          </a:prstGeom>
          <a:solidFill>
            <a:srgbClr val="40E0D0"/>
          </a:solidFill>
          <a:ln w="12700">
            <a:solidFill>
              <a:srgbClr val="40E0D0"/>
            </a:solidFill>
            <a:prstDash val="solid"/>
          </a:ln>
        </p:spPr>
      </p:sp>
      <p:pic>
        <p:nvPicPr>
          <p:cNvPr id="22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41030" y="3205338"/>
            <a:ext cx="218724" cy="218724"/>
          </a:xfrm>
          <a:prstGeom prst="rect">
            <a:avLst/>
          </a:prstGeom>
        </p:spPr>
      </p:pic>
      <p:sp>
        <p:nvSpPr>
          <p:cNvPr id="23" name="Text 17"/>
          <p:cNvSpPr txBox="1"/>
          <p:nvPr/>
        </p:nvSpPr>
        <p:spPr>
          <a:xfrm>
            <a:off x="1197864" y="3104388"/>
            <a:ext cx="315468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1700" b="1" dirty="0">
                <a:solidFill>
                  <a:srgbClr val="2D2D2D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模拟输入</a:t>
            </a:r>
            <a:endParaRPr lang="en-US" sz="1700" dirty="0"/>
          </a:p>
        </p:txBody>
      </p:sp>
      <p:sp>
        <p:nvSpPr>
          <p:cNvPr id="24" name="Text 18"/>
          <p:cNvSpPr txBox="1"/>
          <p:nvPr/>
        </p:nvSpPr>
        <p:spPr>
          <a:xfrm>
            <a:off x="640080" y="3653028"/>
            <a:ext cx="37033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1300" b="1" dirty="0">
                <a:solidFill>
                  <a:srgbClr val="2D2D2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analogRead(A0～A5)</a:t>
            </a:r>
            <a:endParaRPr lang="en-US" sz="1300" dirty="0"/>
          </a:p>
        </p:txBody>
      </p:sp>
      <p:sp>
        <p:nvSpPr>
          <p:cNvPr id="25" name="Text 19"/>
          <p:cNvSpPr txBox="1"/>
          <p:nvPr/>
        </p:nvSpPr>
        <p:spPr>
          <a:xfrm>
            <a:off x="640080" y="3954780"/>
            <a:ext cx="3703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1300" dirty="0">
                <a:solidFill>
                  <a:srgbClr val="2D2D2D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电位器、光敏电阻、摇杆</a:t>
            </a:r>
            <a:endParaRPr lang="en-US" sz="1300" dirty="0"/>
          </a:p>
        </p:txBody>
      </p:sp>
      <p:sp>
        <p:nvSpPr>
          <p:cNvPr id="26" name="Text 20"/>
          <p:cNvSpPr txBox="1"/>
          <p:nvPr/>
        </p:nvSpPr>
        <p:spPr>
          <a:xfrm>
            <a:off x="640080" y="4247388"/>
            <a:ext cx="370332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1050" dirty="0">
                <a:solidFill>
                  <a:srgbClr val="6B6B6B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实验 2.4 2.5 2.10 2.17 2.20</a:t>
            </a:r>
            <a:endParaRPr lang="en-US" sz="1050" dirty="0"/>
          </a:p>
        </p:txBody>
      </p:sp>
      <p:sp>
        <p:nvSpPr>
          <p:cNvPr id="27" name="Shape 21"/>
          <p:cNvSpPr/>
          <p:nvPr/>
        </p:nvSpPr>
        <p:spPr>
          <a:xfrm>
            <a:off x="4572000" y="2903220"/>
            <a:ext cx="4160520" cy="1668780"/>
          </a:xfrm>
          <a:prstGeom prst="rect">
            <a:avLst/>
          </a:prstGeom>
          <a:solidFill>
            <a:srgbClr val="2D2D2D"/>
          </a:solidFill>
          <a:ln w="9525">
            <a:solidFill>
              <a:srgbClr val="E2E2E2"/>
            </a:solidFill>
            <a:prstDash val="solid"/>
          </a:ln>
        </p:spPr>
      </p:sp>
      <p:sp>
        <p:nvSpPr>
          <p:cNvPr id="28" name="Shape 22"/>
          <p:cNvSpPr/>
          <p:nvPr/>
        </p:nvSpPr>
        <p:spPr>
          <a:xfrm>
            <a:off x="4800600" y="3104388"/>
            <a:ext cx="420624" cy="420624"/>
          </a:xfrm>
          <a:prstGeom prst="ellipse">
            <a:avLst/>
          </a:prstGeom>
          <a:solidFill>
            <a:srgbClr val="40E0D0"/>
          </a:solidFill>
          <a:ln w="12700">
            <a:solidFill>
              <a:srgbClr val="40E0D0"/>
            </a:solidFill>
            <a:prstDash val="solid"/>
          </a:ln>
        </p:spPr>
      </p:sp>
      <p:pic>
        <p:nvPicPr>
          <p:cNvPr id="29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901550" y="3205338"/>
            <a:ext cx="218724" cy="218724"/>
          </a:xfrm>
          <a:prstGeom prst="rect">
            <a:avLst/>
          </a:prstGeom>
        </p:spPr>
      </p:pic>
      <p:sp>
        <p:nvSpPr>
          <p:cNvPr id="30" name="Text 23"/>
          <p:cNvSpPr txBox="1"/>
          <p:nvPr/>
        </p:nvSpPr>
        <p:spPr>
          <a:xfrm>
            <a:off x="5358384" y="3104388"/>
            <a:ext cx="315468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1700" b="1" dirty="0">
                <a:solidFill>
                  <a:srgbClr val="FFFFFF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模拟输出（PWM）</a:t>
            </a:r>
            <a:endParaRPr lang="en-US" sz="1700" dirty="0"/>
          </a:p>
        </p:txBody>
      </p:sp>
      <p:sp>
        <p:nvSpPr>
          <p:cNvPr id="31" name="Text 24"/>
          <p:cNvSpPr txBox="1"/>
          <p:nvPr/>
        </p:nvSpPr>
        <p:spPr>
          <a:xfrm>
            <a:off x="4800600" y="3653028"/>
            <a:ext cx="37033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1300" b="1" dirty="0">
                <a:solidFill>
                  <a:srgbClr val="40E0D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analogWrite(引脚, 0～255)</a:t>
            </a:r>
            <a:endParaRPr lang="en-US" sz="1300" dirty="0"/>
          </a:p>
        </p:txBody>
      </p:sp>
      <p:sp>
        <p:nvSpPr>
          <p:cNvPr id="32" name="Text 25"/>
          <p:cNvSpPr txBox="1"/>
          <p:nvPr/>
        </p:nvSpPr>
        <p:spPr>
          <a:xfrm>
            <a:off x="4800600" y="3954780"/>
            <a:ext cx="3703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1300" dirty="0">
                <a:solidFill>
                  <a:srgbClr val="FFFFFF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LED 调光、RGB 混色</a:t>
            </a:r>
            <a:endParaRPr lang="en-US" sz="1300" dirty="0"/>
          </a:p>
        </p:txBody>
      </p:sp>
      <p:sp>
        <p:nvSpPr>
          <p:cNvPr id="33" name="Text 26"/>
          <p:cNvSpPr txBox="1"/>
          <p:nvPr/>
        </p:nvSpPr>
        <p:spPr>
          <a:xfrm>
            <a:off x="4800600" y="4247388"/>
            <a:ext cx="370332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1050" dirty="0">
                <a:solidFill>
                  <a:srgbClr val="CFCFCF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实验 2.3 2.5 2.20</a:t>
            </a:r>
            <a:endParaRPr lang="en-US" sz="105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339328" y="4736592"/>
            <a:ext cx="393192" cy="219456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 lIns="0" tIns="0" rIns="0" bIns="0" anchor="ctr"/>
          <a:lstStyle>
            <a:lvl1pPr>
              <a:defRPr sz="800">
                <a:solidFill>
                  <a:srgbClr val="6B6B6B"/>
                </a:solidFill>
                <a:latin typeface="微软雅黑"/>
                <a:ea typeface="微软雅黑"/>
                <a:cs typeface="微软雅黑"/>
              </a:defRPr>
            </a:lvl1pPr>
          </a:lstStyle>
          <a:p>
            <a:pPr algn="r"/>
            <a:fld id="{F7021451-1387-4CA6-816F-3879F97B5CBC}" type="slidenum">
              <a:rPr b="0" lang="en-US"/>
              <a:t>34</a:t>
            </a:fld>
            <a:endParaRPr lang="en-US"/>
          </a:p>
        </p:txBody>
      </p:sp>
    </p:spTree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1"/>
          <p:cNvSpPr/>
          <p:nvPr>
            <p:ph idx="102" type="body" hasCustomPrompt="1"/>
          </p:nvPr>
        </p:nvSpPr>
        <p:spPr>
          <a:xfrm>
            <a:off x="4572000" y="4736592"/>
            <a:ext cx="370332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2D2D2D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速查与排错</a:t>
            </a:r>
            <a:endParaRPr lang="en-US" sz="800" dirty="0"/>
          </a:p>
        </p:txBody>
      </p:sp>
      <p:sp>
        <p:nvSpPr>
          <p:cNvPr id="3" name="Text 1"/>
          <p:cNvSpPr/>
          <p:nvPr>
            <p:ph idx="103" type="title" hasCustomPrompt="1"/>
          </p:nvPr>
        </p:nvSpPr>
        <p:spPr>
          <a:xfrm>
            <a:off x="411480" y="274320"/>
            <a:ext cx="83210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400" dirty="0">
                <a:solidFill>
                  <a:srgbClr val="2D2D2D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常用语法速查（1/2）</a:t>
            </a:r>
            <a:endParaRPr lang="en-US" sz="2400" dirty="0"/>
          </a:p>
        </p:txBody>
      </p:sp>
      <p:sp>
        <p:nvSpPr>
          <p:cNvPr id="4" name="Text 1"/>
          <p:cNvSpPr/>
          <p:nvPr>
            <p:ph idx="104" type="body" hasCustomPrompt="1"/>
          </p:nvPr>
        </p:nvSpPr>
        <p:spPr>
          <a:xfrm>
            <a:off x="411480" y="786384"/>
            <a:ext cx="83210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6B6B6B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程序结构、变量、数字和模拟输入输出——写代码时忘了写法，就翻这一页。</a:t>
            </a:r>
            <a:endParaRPr lang="en-US" sz="1200" dirty="0"/>
          </a:p>
        </p:txBody>
      </p:sp>
      <p:sp>
        <p:nvSpPr>
          <p:cNvPr id="6" name="Shape 3"/>
          <p:cNvSpPr/>
          <p:nvPr/>
        </p:nvSpPr>
        <p:spPr>
          <a:xfrm>
            <a:off x="411480" y="1234440"/>
            <a:ext cx="4023360" cy="1691640"/>
          </a:xfrm>
          <a:prstGeom prst="roundRect">
            <a:avLst>
              <a:gd name="adj" fmla="val 6486"/>
            </a:avLst>
          </a:prstGeom>
          <a:solidFill>
            <a:srgbClr val="F5F5F5"/>
          </a:solidFill>
          <a:ln w="12700">
            <a:solidFill>
              <a:srgbClr val="F5F5F5"/>
            </a:solidFill>
            <a:prstDash val="solid"/>
          </a:ln>
        </p:spPr>
      </p:sp>
      <p:sp>
        <p:nvSpPr>
          <p:cNvPr id="7" name="Shape 4"/>
          <p:cNvSpPr/>
          <p:nvPr/>
        </p:nvSpPr>
        <p:spPr>
          <a:xfrm>
            <a:off x="576072" y="1353312"/>
            <a:ext cx="310896" cy="310896"/>
          </a:xfrm>
          <a:prstGeom prst="ellipse">
            <a:avLst/>
          </a:prstGeom>
          <a:solidFill>
            <a:srgbClr val="40E0D0"/>
          </a:solidFill>
          <a:ln w="12700">
            <a:solidFill>
              <a:srgbClr val="40E0D0"/>
            </a:solidFill>
            <a:prstDash val="solid"/>
          </a:ln>
        </p:spPr>
      </p:sp>
      <p:pic>
        <p:nvPicPr>
          <p:cNvPr id="8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50687" y="1427927"/>
            <a:ext cx="161666" cy="161666"/>
          </a:xfrm>
          <a:prstGeom prst="rect">
            <a:avLst/>
          </a:prstGeom>
        </p:spPr>
      </p:pic>
      <p:sp>
        <p:nvSpPr>
          <p:cNvPr id="9" name="Text 5"/>
          <p:cNvSpPr txBox="1"/>
          <p:nvPr/>
        </p:nvSpPr>
        <p:spPr>
          <a:xfrm>
            <a:off x="1014984" y="1335024"/>
            <a:ext cx="3255264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1400" b="1" dirty="0">
                <a:solidFill>
                  <a:srgbClr val="2D2D2D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程序结构</a:t>
            </a:r>
            <a:endParaRPr lang="en-US" sz="1400" dirty="0"/>
          </a:p>
        </p:txBody>
      </p:sp>
      <p:sp>
        <p:nvSpPr>
          <p:cNvPr id="10" name="Text 6"/>
          <p:cNvSpPr txBox="1"/>
          <p:nvPr/>
        </p:nvSpPr>
        <p:spPr>
          <a:xfrm>
            <a:off x="594360" y="1746504"/>
            <a:ext cx="2194560" cy="2148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1100" b="1" dirty="0">
                <a:solidFill>
                  <a:srgbClr val="2D2D2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void setup() { }</a:t>
            </a:r>
            <a:endParaRPr lang="en-US" sz="1100" dirty="0"/>
          </a:p>
        </p:txBody>
      </p:sp>
      <p:sp>
        <p:nvSpPr>
          <p:cNvPr id="11" name="Text 7"/>
          <p:cNvSpPr txBox="1"/>
          <p:nvPr/>
        </p:nvSpPr>
        <p:spPr>
          <a:xfrm>
            <a:off x="2788920" y="1746504"/>
            <a:ext cx="1463040" cy="2148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1200" dirty="0">
                <a:solidFill>
                  <a:srgbClr val="6B6B6B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只执行一次</a:t>
            </a:r>
            <a:endParaRPr lang="en-US" sz="1200" dirty="0"/>
          </a:p>
        </p:txBody>
      </p:sp>
      <p:sp>
        <p:nvSpPr>
          <p:cNvPr id="12" name="Text 8"/>
          <p:cNvSpPr txBox="1"/>
          <p:nvPr/>
        </p:nvSpPr>
        <p:spPr>
          <a:xfrm>
            <a:off x="594360" y="1961388"/>
            <a:ext cx="2194560" cy="2148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1100" b="1" dirty="0">
                <a:solidFill>
                  <a:srgbClr val="2D2D2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void loop() { }</a:t>
            </a:r>
            <a:endParaRPr lang="en-US" sz="1100" dirty="0"/>
          </a:p>
        </p:txBody>
      </p:sp>
      <p:sp>
        <p:nvSpPr>
          <p:cNvPr id="13" name="Text 9"/>
          <p:cNvSpPr txBox="1"/>
          <p:nvPr/>
        </p:nvSpPr>
        <p:spPr>
          <a:xfrm>
            <a:off x="2788920" y="1961388"/>
            <a:ext cx="1463040" cy="2148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1200" dirty="0">
                <a:solidFill>
                  <a:srgbClr val="6B6B6B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反复执行</a:t>
            </a:r>
            <a:endParaRPr lang="en-US" sz="1200" dirty="0"/>
          </a:p>
        </p:txBody>
      </p:sp>
      <p:sp>
        <p:nvSpPr>
          <p:cNvPr id="14" name="Text 10"/>
          <p:cNvSpPr txBox="1"/>
          <p:nvPr/>
        </p:nvSpPr>
        <p:spPr>
          <a:xfrm>
            <a:off x="594360" y="2176272"/>
            <a:ext cx="2194560" cy="2148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1100" b="1" dirty="0">
                <a:solidFill>
                  <a:srgbClr val="2D2D2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// 注释</a:t>
            </a:r>
            <a:endParaRPr lang="en-US" sz="1100" dirty="0"/>
          </a:p>
        </p:txBody>
      </p:sp>
      <p:sp>
        <p:nvSpPr>
          <p:cNvPr id="15" name="Text 11"/>
          <p:cNvSpPr txBox="1"/>
          <p:nvPr/>
        </p:nvSpPr>
        <p:spPr>
          <a:xfrm>
            <a:off x="2788920" y="2176272"/>
            <a:ext cx="1463040" cy="2148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1200" dirty="0">
                <a:solidFill>
                  <a:srgbClr val="6B6B6B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单行注释</a:t>
            </a:r>
            <a:endParaRPr lang="en-US" sz="1200" dirty="0"/>
          </a:p>
        </p:txBody>
      </p:sp>
      <p:sp>
        <p:nvSpPr>
          <p:cNvPr id="16" name="Text 12"/>
          <p:cNvSpPr txBox="1"/>
          <p:nvPr/>
        </p:nvSpPr>
        <p:spPr>
          <a:xfrm>
            <a:off x="594360" y="2391156"/>
            <a:ext cx="2194560" cy="2148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1100" b="1" dirty="0">
                <a:solidFill>
                  <a:srgbClr val="2D2D2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/* … */</a:t>
            </a:r>
            <a:endParaRPr lang="en-US" sz="1100" dirty="0"/>
          </a:p>
        </p:txBody>
      </p:sp>
      <p:sp>
        <p:nvSpPr>
          <p:cNvPr id="17" name="Text 13"/>
          <p:cNvSpPr txBox="1"/>
          <p:nvPr/>
        </p:nvSpPr>
        <p:spPr>
          <a:xfrm>
            <a:off x="2788920" y="2391156"/>
            <a:ext cx="1463040" cy="2148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1200" dirty="0">
                <a:solidFill>
                  <a:srgbClr val="6B6B6B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多行注释</a:t>
            </a:r>
            <a:endParaRPr lang="en-US" sz="1200" dirty="0"/>
          </a:p>
        </p:txBody>
      </p:sp>
      <p:sp>
        <p:nvSpPr>
          <p:cNvPr id="18" name="Shape 14"/>
          <p:cNvSpPr/>
          <p:nvPr/>
        </p:nvSpPr>
        <p:spPr>
          <a:xfrm>
            <a:off x="4709160" y="1234440"/>
            <a:ext cx="4023360" cy="1691640"/>
          </a:xfrm>
          <a:prstGeom prst="roundRect">
            <a:avLst>
              <a:gd name="adj" fmla="val 6486"/>
            </a:avLst>
          </a:prstGeom>
          <a:solidFill>
            <a:srgbClr val="F5F5F5"/>
          </a:solidFill>
          <a:ln w="12700">
            <a:solidFill>
              <a:srgbClr val="F5F5F5"/>
            </a:solidFill>
            <a:prstDash val="solid"/>
          </a:ln>
        </p:spPr>
      </p:sp>
      <p:sp>
        <p:nvSpPr>
          <p:cNvPr id="19" name="Shape 15"/>
          <p:cNvSpPr/>
          <p:nvPr/>
        </p:nvSpPr>
        <p:spPr>
          <a:xfrm>
            <a:off x="4873752" y="1353312"/>
            <a:ext cx="310896" cy="310896"/>
          </a:xfrm>
          <a:prstGeom prst="ellipse">
            <a:avLst/>
          </a:prstGeom>
          <a:solidFill>
            <a:srgbClr val="40E0D0"/>
          </a:solidFill>
          <a:ln w="12700">
            <a:solidFill>
              <a:srgbClr val="40E0D0"/>
            </a:solidFill>
            <a:prstDash val="solid"/>
          </a:ln>
        </p:spPr>
      </p:sp>
      <p:pic>
        <p:nvPicPr>
          <p:cNvPr id="20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948367" y="1427927"/>
            <a:ext cx="161666" cy="161666"/>
          </a:xfrm>
          <a:prstGeom prst="rect">
            <a:avLst/>
          </a:prstGeom>
        </p:spPr>
      </p:pic>
      <p:sp>
        <p:nvSpPr>
          <p:cNvPr id="21" name="Text 16"/>
          <p:cNvSpPr txBox="1"/>
          <p:nvPr/>
        </p:nvSpPr>
        <p:spPr>
          <a:xfrm>
            <a:off x="5312664" y="1335024"/>
            <a:ext cx="3255264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1400" b="1" dirty="0">
                <a:solidFill>
                  <a:srgbClr val="2D2D2D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变量</a:t>
            </a:r>
            <a:endParaRPr lang="en-US" sz="1400" dirty="0"/>
          </a:p>
        </p:txBody>
      </p:sp>
      <p:sp>
        <p:nvSpPr>
          <p:cNvPr id="22" name="Text 17"/>
          <p:cNvSpPr txBox="1"/>
          <p:nvPr/>
        </p:nvSpPr>
        <p:spPr>
          <a:xfrm>
            <a:off x="4892040" y="1746504"/>
            <a:ext cx="2194560" cy="2148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1100" b="1" dirty="0">
                <a:solidFill>
                  <a:srgbClr val="2D2D2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int a = 0;</a:t>
            </a:r>
            <a:endParaRPr lang="en-US" sz="1100" dirty="0"/>
          </a:p>
        </p:txBody>
      </p:sp>
      <p:sp>
        <p:nvSpPr>
          <p:cNvPr id="23" name="Text 18"/>
          <p:cNvSpPr txBox="1"/>
          <p:nvPr/>
        </p:nvSpPr>
        <p:spPr>
          <a:xfrm>
            <a:off x="7086600" y="1746504"/>
            <a:ext cx="1463040" cy="2148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1200" dirty="0">
                <a:solidFill>
                  <a:srgbClr val="6B6B6B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整数</a:t>
            </a:r>
            <a:endParaRPr lang="en-US" sz="1200" dirty="0"/>
          </a:p>
        </p:txBody>
      </p:sp>
      <p:sp>
        <p:nvSpPr>
          <p:cNvPr id="24" name="Text 19"/>
          <p:cNvSpPr txBox="1"/>
          <p:nvPr/>
        </p:nvSpPr>
        <p:spPr>
          <a:xfrm>
            <a:off x="4892040" y="1961388"/>
            <a:ext cx="2194560" cy="2148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1100" b="1" dirty="0">
                <a:solidFill>
                  <a:srgbClr val="2D2D2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float v = 0.0;</a:t>
            </a:r>
            <a:endParaRPr lang="en-US" sz="1100" dirty="0"/>
          </a:p>
        </p:txBody>
      </p:sp>
      <p:sp>
        <p:nvSpPr>
          <p:cNvPr id="25" name="Text 20"/>
          <p:cNvSpPr txBox="1"/>
          <p:nvPr/>
        </p:nvSpPr>
        <p:spPr>
          <a:xfrm>
            <a:off x="7086600" y="1961388"/>
            <a:ext cx="1463040" cy="2148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1200" dirty="0">
                <a:solidFill>
                  <a:srgbClr val="6B6B6B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小数</a:t>
            </a:r>
            <a:endParaRPr lang="en-US" sz="1200" dirty="0"/>
          </a:p>
        </p:txBody>
      </p:sp>
      <p:sp>
        <p:nvSpPr>
          <p:cNvPr id="26" name="Text 21"/>
          <p:cNvSpPr txBox="1"/>
          <p:nvPr/>
        </p:nvSpPr>
        <p:spPr>
          <a:xfrm>
            <a:off x="4892040" y="2176272"/>
            <a:ext cx="2194560" cy="2148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1100" b="1" dirty="0">
                <a:solidFill>
                  <a:srgbClr val="2D2D2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String s = "";</a:t>
            </a:r>
            <a:endParaRPr lang="en-US" sz="1100" dirty="0"/>
          </a:p>
        </p:txBody>
      </p:sp>
      <p:sp>
        <p:nvSpPr>
          <p:cNvPr id="27" name="Text 22"/>
          <p:cNvSpPr txBox="1"/>
          <p:nvPr/>
        </p:nvSpPr>
        <p:spPr>
          <a:xfrm>
            <a:off x="7086600" y="2176272"/>
            <a:ext cx="1463040" cy="2148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1200" dirty="0">
                <a:solidFill>
                  <a:srgbClr val="6B6B6B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文字</a:t>
            </a:r>
            <a:endParaRPr lang="en-US" sz="1200" dirty="0"/>
          </a:p>
        </p:txBody>
      </p:sp>
      <p:sp>
        <p:nvSpPr>
          <p:cNvPr id="28" name="Text 23"/>
          <p:cNvSpPr txBox="1"/>
          <p:nvPr/>
        </p:nvSpPr>
        <p:spPr>
          <a:xfrm>
            <a:off x="4892040" y="2391156"/>
            <a:ext cx="2194560" cy="2148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1100" b="1" dirty="0">
                <a:solidFill>
                  <a:srgbClr val="2D2D2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const int P = 2;</a:t>
            </a:r>
            <a:endParaRPr lang="en-US" sz="1100" dirty="0"/>
          </a:p>
        </p:txBody>
      </p:sp>
      <p:sp>
        <p:nvSpPr>
          <p:cNvPr id="29" name="Text 24"/>
          <p:cNvSpPr txBox="1"/>
          <p:nvPr/>
        </p:nvSpPr>
        <p:spPr>
          <a:xfrm>
            <a:off x="7086600" y="2391156"/>
            <a:ext cx="1463040" cy="2148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1200" dirty="0">
                <a:solidFill>
                  <a:srgbClr val="6B6B6B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常量</a:t>
            </a:r>
            <a:endParaRPr lang="en-US" sz="1200" dirty="0"/>
          </a:p>
        </p:txBody>
      </p:sp>
      <p:sp>
        <p:nvSpPr>
          <p:cNvPr id="30" name="Text 25"/>
          <p:cNvSpPr txBox="1"/>
          <p:nvPr/>
        </p:nvSpPr>
        <p:spPr>
          <a:xfrm>
            <a:off x="4892040" y="2606040"/>
            <a:ext cx="2194560" cy="2148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1100" b="1" dirty="0">
                <a:solidFill>
                  <a:srgbClr val="2D2D2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int arr[8] = {…};</a:t>
            </a:r>
            <a:endParaRPr lang="en-US" sz="1100" dirty="0"/>
          </a:p>
        </p:txBody>
      </p:sp>
      <p:sp>
        <p:nvSpPr>
          <p:cNvPr id="31" name="Text 26"/>
          <p:cNvSpPr txBox="1"/>
          <p:nvPr/>
        </p:nvSpPr>
        <p:spPr>
          <a:xfrm>
            <a:off x="7086600" y="2606040"/>
            <a:ext cx="1463040" cy="2148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1200" dirty="0">
                <a:solidFill>
                  <a:srgbClr val="6B6B6B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数组</a:t>
            </a:r>
            <a:endParaRPr lang="en-US" sz="1200" dirty="0"/>
          </a:p>
        </p:txBody>
      </p:sp>
      <p:sp>
        <p:nvSpPr>
          <p:cNvPr id="32" name="Shape 27"/>
          <p:cNvSpPr/>
          <p:nvPr/>
        </p:nvSpPr>
        <p:spPr>
          <a:xfrm>
            <a:off x="411480" y="3200400"/>
            <a:ext cx="4023360" cy="1371600"/>
          </a:xfrm>
          <a:prstGeom prst="roundRect">
            <a:avLst>
              <a:gd name="adj" fmla="val 8000"/>
            </a:avLst>
          </a:prstGeom>
          <a:solidFill>
            <a:srgbClr val="F5F5F5"/>
          </a:solidFill>
          <a:ln w="12700">
            <a:solidFill>
              <a:srgbClr val="F5F5F5"/>
            </a:solidFill>
            <a:prstDash val="solid"/>
          </a:ln>
        </p:spPr>
      </p:sp>
      <p:sp>
        <p:nvSpPr>
          <p:cNvPr id="33" name="Shape 28"/>
          <p:cNvSpPr/>
          <p:nvPr/>
        </p:nvSpPr>
        <p:spPr>
          <a:xfrm>
            <a:off x="576072" y="3319272"/>
            <a:ext cx="310896" cy="310896"/>
          </a:xfrm>
          <a:prstGeom prst="ellipse">
            <a:avLst/>
          </a:prstGeom>
          <a:solidFill>
            <a:srgbClr val="40E0D0"/>
          </a:solidFill>
          <a:ln w="12700">
            <a:solidFill>
              <a:srgbClr val="40E0D0"/>
            </a:solidFill>
            <a:prstDash val="solid"/>
          </a:ln>
        </p:spPr>
      </p:sp>
      <p:pic>
        <p:nvPicPr>
          <p:cNvPr id="34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50687" y="3393887"/>
            <a:ext cx="161666" cy="161666"/>
          </a:xfrm>
          <a:prstGeom prst="rect">
            <a:avLst/>
          </a:prstGeom>
        </p:spPr>
      </p:pic>
      <p:sp>
        <p:nvSpPr>
          <p:cNvPr id="35" name="Text 29"/>
          <p:cNvSpPr txBox="1"/>
          <p:nvPr/>
        </p:nvSpPr>
        <p:spPr>
          <a:xfrm>
            <a:off x="1014984" y="3300984"/>
            <a:ext cx="3255264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1400" b="1" dirty="0">
                <a:solidFill>
                  <a:srgbClr val="2D2D2D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数字 IO</a:t>
            </a:r>
            <a:endParaRPr lang="en-US" sz="1400" dirty="0"/>
          </a:p>
        </p:txBody>
      </p:sp>
      <p:sp>
        <p:nvSpPr>
          <p:cNvPr id="36" name="Text 30"/>
          <p:cNvSpPr txBox="1"/>
          <p:nvPr/>
        </p:nvSpPr>
        <p:spPr>
          <a:xfrm>
            <a:off x="594360" y="3712464"/>
            <a:ext cx="3694176" cy="2148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1100" b="1" dirty="0">
                <a:solidFill>
                  <a:srgbClr val="2D2D2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pinMode(p, OUTPUT / INPUT / INPUT_PULLUP);</a:t>
            </a:r>
            <a:endParaRPr lang="en-US" sz="1100" dirty="0"/>
          </a:p>
        </p:txBody>
      </p:sp>
      <p:sp>
        <p:nvSpPr>
          <p:cNvPr id="37" name="Text 31"/>
          <p:cNvSpPr txBox="1"/>
          <p:nvPr/>
        </p:nvSpPr>
        <p:spPr>
          <a:xfrm>
            <a:off x="594360" y="3927348"/>
            <a:ext cx="3694176" cy="2148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1100" b="1" dirty="0">
                <a:solidFill>
                  <a:srgbClr val="2D2D2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digitalWrite(p, HIGH / LOW);</a:t>
            </a:r>
            <a:endParaRPr lang="en-US" sz="1100" dirty="0"/>
          </a:p>
        </p:txBody>
      </p:sp>
      <p:sp>
        <p:nvSpPr>
          <p:cNvPr id="38" name="Text 32"/>
          <p:cNvSpPr txBox="1"/>
          <p:nvPr/>
        </p:nvSpPr>
        <p:spPr>
          <a:xfrm>
            <a:off x="594360" y="4142232"/>
            <a:ext cx="2194560" cy="2148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1100" b="1" dirty="0">
                <a:solidFill>
                  <a:srgbClr val="2D2D2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digitalRead(p)</a:t>
            </a:r>
            <a:endParaRPr lang="en-US" sz="1100" dirty="0"/>
          </a:p>
        </p:txBody>
      </p:sp>
      <p:sp>
        <p:nvSpPr>
          <p:cNvPr id="39" name="Text 33"/>
          <p:cNvSpPr txBox="1"/>
          <p:nvPr/>
        </p:nvSpPr>
        <p:spPr>
          <a:xfrm>
            <a:off x="2788920" y="4142232"/>
            <a:ext cx="1463040" cy="2148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1200" dirty="0">
                <a:solidFill>
                  <a:srgbClr val="6B6B6B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→ HIGH / LOW</a:t>
            </a:r>
            <a:endParaRPr lang="en-US" sz="1200" dirty="0"/>
          </a:p>
        </p:txBody>
      </p:sp>
      <p:sp>
        <p:nvSpPr>
          <p:cNvPr id="40" name="Shape 34"/>
          <p:cNvSpPr/>
          <p:nvPr/>
        </p:nvSpPr>
        <p:spPr>
          <a:xfrm>
            <a:off x="4709160" y="3200400"/>
            <a:ext cx="4023360" cy="1371600"/>
          </a:xfrm>
          <a:prstGeom prst="roundRect">
            <a:avLst>
              <a:gd name="adj" fmla="val 8000"/>
            </a:avLst>
          </a:prstGeom>
          <a:solidFill>
            <a:srgbClr val="F5F5F5"/>
          </a:solidFill>
          <a:ln w="12700">
            <a:solidFill>
              <a:srgbClr val="F5F5F5"/>
            </a:solidFill>
            <a:prstDash val="solid"/>
          </a:ln>
        </p:spPr>
      </p:sp>
      <p:sp>
        <p:nvSpPr>
          <p:cNvPr id="41" name="Shape 35"/>
          <p:cNvSpPr/>
          <p:nvPr/>
        </p:nvSpPr>
        <p:spPr>
          <a:xfrm>
            <a:off x="4873752" y="3319272"/>
            <a:ext cx="310896" cy="310896"/>
          </a:xfrm>
          <a:prstGeom prst="ellipse">
            <a:avLst/>
          </a:prstGeom>
          <a:solidFill>
            <a:srgbClr val="40E0D0"/>
          </a:solidFill>
          <a:ln w="12700">
            <a:solidFill>
              <a:srgbClr val="40E0D0"/>
            </a:solidFill>
            <a:prstDash val="solid"/>
          </a:ln>
        </p:spPr>
      </p:sp>
      <p:pic>
        <p:nvPicPr>
          <p:cNvPr id="42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948367" y="3393887"/>
            <a:ext cx="161666" cy="161666"/>
          </a:xfrm>
          <a:prstGeom prst="rect">
            <a:avLst/>
          </a:prstGeom>
        </p:spPr>
      </p:pic>
      <p:sp>
        <p:nvSpPr>
          <p:cNvPr id="43" name="Text 36"/>
          <p:cNvSpPr txBox="1"/>
          <p:nvPr/>
        </p:nvSpPr>
        <p:spPr>
          <a:xfrm>
            <a:off x="5312664" y="3300984"/>
            <a:ext cx="3255264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1400" b="1" dirty="0">
                <a:solidFill>
                  <a:srgbClr val="2D2D2D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模拟 IO</a:t>
            </a:r>
            <a:endParaRPr lang="en-US" sz="1400" dirty="0"/>
          </a:p>
        </p:txBody>
      </p:sp>
      <p:sp>
        <p:nvSpPr>
          <p:cNvPr id="44" name="Text 37"/>
          <p:cNvSpPr txBox="1"/>
          <p:nvPr/>
        </p:nvSpPr>
        <p:spPr>
          <a:xfrm>
            <a:off x="4892040" y="3712464"/>
            <a:ext cx="2194560" cy="2148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1100" b="1" dirty="0">
                <a:solidFill>
                  <a:srgbClr val="2D2D2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analogRead(A0)</a:t>
            </a:r>
            <a:endParaRPr lang="en-US" sz="1100" dirty="0"/>
          </a:p>
        </p:txBody>
      </p:sp>
      <p:sp>
        <p:nvSpPr>
          <p:cNvPr id="45" name="Text 38"/>
          <p:cNvSpPr txBox="1"/>
          <p:nvPr/>
        </p:nvSpPr>
        <p:spPr>
          <a:xfrm>
            <a:off x="7086600" y="3712464"/>
            <a:ext cx="1463040" cy="2148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1200" dirty="0">
                <a:solidFill>
                  <a:srgbClr val="6B6B6B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→ 0～1023</a:t>
            </a:r>
            <a:endParaRPr lang="en-US" sz="1200" dirty="0"/>
          </a:p>
        </p:txBody>
      </p:sp>
      <p:sp>
        <p:nvSpPr>
          <p:cNvPr id="46" name="Text 39"/>
          <p:cNvSpPr txBox="1"/>
          <p:nvPr/>
        </p:nvSpPr>
        <p:spPr>
          <a:xfrm>
            <a:off x="4892040" y="3927348"/>
            <a:ext cx="2194560" cy="2148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1100" b="1" dirty="0">
                <a:solidFill>
                  <a:srgbClr val="2D2D2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analogWrite(p, 0～255);</a:t>
            </a:r>
            <a:endParaRPr lang="en-US" sz="1100" dirty="0"/>
          </a:p>
        </p:txBody>
      </p:sp>
      <p:sp>
        <p:nvSpPr>
          <p:cNvPr id="47" name="Text 40"/>
          <p:cNvSpPr txBox="1"/>
          <p:nvPr/>
        </p:nvSpPr>
        <p:spPr>
          <a:xfrm>
            <a:off x="7086600" y="3927348"/>
            <a:ext cx="1463040" cy="2148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1200" dirty="0">
                <a:solidFill>
                  <a:srgbClr val="6B6B6B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仅 3 5 6 9 10 11</a:t>
            </a:r>
            <a:endParaRPr lang="en-US" sz="12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339328" y="4736592"/>
            <a:ext cx="393192" cy="219456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 lIns="0" tIns="0" rIns="0" bIns="0" anchor="ctr"/>
          <a:lstStyle>
            <a:lvl1pPr>
              <a:defRPr sz="800">
                <a:solidFill>
                  <a:srgbClr val="6B6B6B"/>
                </a:solidFill>
                <a:latin typeface="微软雅黑"/>
                <a:ea typeface="微软雅黑"/>
                <a:cs typeface="微软雅黑"/>
              </a:defRPr>
            </a:lvl1pPr>
          </a:lstStyle>
          <a:p>
            <a:pPr algn="r"/>
            <a:fld id="{F7021451-1387-4CA6-816F-3879F97B5CBC}" type="slidenum">
              <a:rPr b="0" lang="en-US"/>
              <a:t>35</a:t>
            </a:fld>
            <a:endParaRPr lang="en-US"/>
          </a:p>
        </p:txBody>
      </p:sp>
    </p:spTree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1"/>
          <p:cNvSpPr/>
          <p:nvPr>
            <p:ph idx="102" type="body" hasCustomPrompt="1"/>
          </p:nvPr>
        </p:nvSpPr>
        <p:spPr>
          <a:xfrm>
            <a:off x="4572000" y="4736592"/>
            <a:ext cx="370332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2D2D2D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速查与排错</a:t>
            </a:r>
            <a:endParaRPr lang="en-US" sz="800" dirty="0"/>
          </a:p>
        </p:txBody>
      </p:sp>
      <p:sp>
        <p:nvSpPr>
          <p:cNvPr id="3" name="Text 1"/>
          <p:cNvSpPr/>
          <p:nvPr>
            <p:ph idx="103" type="title" hasCustomPrompt="1"/>
          </p:nvPr>
        </p:nvSpPr>
        <p:spPr>
          <a:xfrm>
            <a:off x="411480" y="274320"/>
            <a:ext cx="83210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400" dirty="0">
                <a:solidFill>
                  <a:srgbClr val="2D2D2D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常用语法速查（2/2）</a:t>
            </a:r>
            <a:endParaRPr lang="en-US" sz="2400" dirty="0"/>
          </a:p>
        </p:txBody>
      </p:sp>
      <p:sp>
        <p:nvSpPr>
          <p:cNvPr id="4" name="Text 1"/>
          <p:cNvSpPr/>
          <p:nvPr>
            <p:ph idx="104" type="body" hasCustomPrompt="1"/>
          </p:nvPr>
        </p:nvSpPr>
        <p:spPr>
          <a:xfrm>
            <a:off x="411480" y="786384"/>
            <a:ext cx="83210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6B6B6B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判断与循环、时间、串口、数学函数——四张卡片，覆盖套件实验里的常用写法。</a:t>
            </a:r>
            <a:endParaRPr lang="en-US" sz="1200" dirty="0"/>
          </a:p>
        </p:txBody>
      </p:sp>
      <p:sp>
        <p:nvSpPr>
          <p:cNvPr id="6" name="Shape 3"/>
          <p:cNvSpPr/>
          <p:nvPr/>
        </p:nvSpPr>
        <p:spPr>
          <a:xfrm>
            <a:off x="411480" y="1234440"/>
            <a:ext cx="4023360" cy="1426464"/>
          </a:xfrm>
          <a:prstGeom prst="roundRect">
            <a:avLst>
              <a:gd name="adj" fmla="val 7692"/>
            </a:avLst>
          </a:prstGeom>
          <a:solidFill>
            <a:srgbClr val="F5F5F5"/>
          </a:solidFill>
          <a:ln w="12700">
            <a:solidFill>
              <a:srgbClr val="F5F5F5"/>
            </a:solidFill>
            <a:prstDash val="solid"/>
          </a:ln>
        </p:spPr>
      </p:sp>
      <p:sp>
        <p:nvSpPr>
          <p:cNvPr id="7" name="Shape 4"/>
          <p:cNvSpPr/>
          <p:nvPr/>
        </p:nvSpPr>
        <p:spPr>
          <a:xfrm>
            <a:off x="576072" y="1353312"/>
            <a:ext cx="310896" cy="310896"/>
          </a:xfrm>
          <a:prstGeom prst="ellipse">
            <a:avLst/>
          </a:prstGeom>
          <a:solidFill>
            <a:srgbClr val="40E0D0"/>
          </a:solidFill>
          <a:ln w="12700">
            <a:solidFill>
              <a:srgbClr val="40E0D0"/>
            </a:solidFill>
            <a:prstDash val="solid"/>
          </a:ln>
        </p:spPr>
      </p:sp>
      <p:pic>
        <p:nvPicPr>
          <p:cNvPr id="8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50687" y="1427927"/>
            <a:ext cx="161666" cy="161666"/>
          </a:xfrm>
          <a:prstGeom prst="rect">
            <a:avLst/>
          </a:prstGeom>
        </p:spPr>
      </p:pic>
      <p:sp>
        <p:nvSpPr>
          <p:cNvPr id="9" name="Text 5"/>
          <p:cNvSpPr txBox="1"/>
          <p:nvPr/>
        </p:nvSpPr>
        <p:spPr>
          <a:xfrm>
            <a:off x="1014984" y="1335024"/>
            <a:ext cx="3255264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1400" b="1" dirty="0">
                <a:solidFill>
                  <a:srgbClr val="2D2D2D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判断与循环</a:t>
            </a:r>
            <a:endParaRPr lang="en-US" sz="1400" dirty="0"/>
          </a:p>
        </p:txBody>
      </p:sp>
      <p:sp>
        <p:nvSpPr>
          <p:cNvPr id="10" name="Text 6"/>
          <p:cNvSpPr txBox="1"/>
          <p:nvPr/>
        </p:nvSpPr>
        <p:spPr>
          <a:xfrm>
            <a:off x="594360" y="1746504"/>
            <a:ext cx="3694176" cy="2057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1100" b="1" dirty="0">
                <a:solidFill>
                  <a:srgbClr val="2D2D2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if (条件) { } else if (条件) { } else { }</a:t>
            </a:r>
            <a:endParaRPr lang="en-US" sz="1100" dirty="0"/>
          </a:p>
        </p:txBody>
      </p:sp>
      <p:sp>
        <p:nvSpPr>
          <p:cNvPr id="11" name="Text 7"/>
          <p:cNvSpPr txBox="1"/>
          <p:nvPr/>
        </p:nvSpPr>
        <p:spPr>
          <a:xfrm>
            <a:off x="594360" y="1952244"/>
            <a:ext cx="3694176" cy="2057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1100" b="1" dirty="0">
                <a:solidFill>
                  <a:srgbClr val="2D2D2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for (int i = 0; i &lt; n; i++) { }</a:t>
            </a:r>
            <a:endParaRPr lang="en-US" sz="1100" dirty="0"/>
          </a:p>
        </p:txBody>
      </p:sp>
      <p:sp>
        <p:nvSpPr>
          <p:cNvPr id="12" name="Text 8"/>
          <p:cNvSpPr txBox="1"/>
          <p:nvPr/>
        </p:nvSpPr>
        <p:spPr>
          <a:xfrm>
            <a:off x="594360" y="2157984"/>
            <a:ext cx="3694176" cy="2057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1100" b="1" dirty="0">
                <a:solidFill>
                  <a:srgbClr val="2D2D2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while (条件) { }</a:t>
            </a:r>
            <a:endParaRPr lang="en-US" sz="1100" dirty="0"/>
          </a:p>
        </p:txBody>
      </p:sp>
      <p:sp>
        <p:nvSpPr>
          <p:cNvPr id="13" name="Text 9"/>
          <p:cNvSpPr txBox="1"/>
          <p:nvPr/>
        </p:nvSpPr>
        <p:spPr>
          <a:xfrm>
            <a:off x="594360" y="2363724"/>
            <a:ext cx="3694176" cy="2057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1100" b="1" dirty="0">
                <a:solidFill>
                  <a:srgbClr val="2D2D2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==  !=  &gt;  &lt;  &gt;=  &lt;=  &amp;&amp;  ||  !</a:t>
            </a:r>
            <a:endParaRPr lang="en-US" sz="1100" dirty="0"/>
          </a:p>
        </p:txBody>
      </p:sp>
      <p:sp>
        <p:nvSpPr>
          <p:cNvPr id="14" name="Shape 10"/>
          <p:cNvSpPr/>
          <p:nvPr/>
        </p:nvSpPr>
        <p:spPr>
          <a:xfrm>
            <a:off x="4709160" y="1234440"/>
            <a:ext cx="4023360" cy="1426464"/>
          </a:xfrm>
          <a:prstGeom prst="roundRect">
            <a:avLst>
              <a:gd name="adj" fmla="val 7692"/>
            </a:avLst>
          </a:prstGeom>
          <a:solidFill>
            <a:srgbClr val="F5F5F5"/>
          </a:solidFill>
          <a:ln w="12700">
            <a:solidFill>
              <a:srgbClr val="F5F5F5"/>
            </a:solidFill>
            <a:prstDash val="solid"/>
          </a:ln>
        </p:spPr>
      </p:sp>
      <p:sp>
        <p:nvSpPr>
          <p:cNvPr id="15" name="Shape 11"/>
          <p:cNvSpPr/>
          <p:nvPr/>
        </p:nvSpPr>
        <p:spPr>
          <a:xfrm>
            <a:off x="4873752" y="1353312"/>
            <a:ext cx="310896" cy="310896"/>
          </a:xfrm>
          <a:prstGeom prst="ellipse">
            <a:avLst/>
          </a:prstGeom>
          <a:solidFill>
            <a:srgbClr val="40E0D0"/>
          </a:solidFill>
          <a:ln w="12700">
            <a:solidFill>
              <a:srgbClr val="40E0D0"/>
            </a:solidFill>
            <a:prstDash val="solid"/>
          </a:ln>
        </p:spPr>
      </p:sp>
      <p:pic>
        <p:nvPicPr>
          <p:cNvPr id="16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948367" y="1427927"/>
            <a:ext cx="161666" cy="161666"/>
          </a:xfrm>
          <a:prstGeom prst="rect">
            <a:avLst/>
          </a:prstGeom>
        </p:spPr>
      </p:pic>
      <p:sp>
        <p:nvSpPr>
          <p:cNvPr id="17" name="Text 12"/>
          <p:cNvSpPr txBox="1"/>
          <p:nvPr/>
        </p:nvSpPr>
        <p:spPr>
          <a:xfrm>
            <a:off x="5312664" y="1335024"/>
            <a:ext cx="3255264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1400" b="1" dirty="0">
                <a:solidFill>
                  <a:srgbClr val="2D2D2D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时间</a:t>
            </a:r>
            <a:endParaRPr lang="en-US" sz="1400" dirty="0"/>
          </a:p>
        </p:txBody>
      </p:sp>
      <p:sp>
        <p:nvSpPr>
          <p:cNvPr id="18" name="Text 13"/>
          <p:cNvSpPr txBox="1"/>
          <p:nvPr/>
        </p:nvSpPr>
        <p:spPr>
          <a:xfrm>
            <a:off x="4892040" y="1746504"/>
            <a:ext cx="2103120" cy="2057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1100" b="1" dirty="0">
                <a:solidFill>
                  <a:srgbClr val="2D2D2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delay(ms);</a:t>
            </a:r>
            <a:endParaRPr lang="en-US" sz="1100" dirty="0"/>
          </a:p>
        </p:txBody>
      </p:sp>
      <p:sp>
        <p:nvSpPr>
          <p:cNvPr id="19" name="Text 14"/>
          <p:cNvSpPr txBox="1"/>
          <p:nvPr/>
        </p:nvSpPr>
        <p:spPr>
          <a:xfrm>
            <a:off x="6995160" y="1746504"/>
            <a:ext cx="1554480" cy="2057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1200" dirty="0">
                <a:solidFill>
                  <a:srgbClr val="6B6B6B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等待毫秒</a:t>
            </a:r>
            <a:endParaRPr lang="en-US" sz="1200" dirty="0"/>
          </a:p>
        </p:txBody>
      </p:sp>
      <p:sp>
        <p:nvSpPr>
          <p:cNvPr id="20" name="Text 15"/>
          <p:cNvSpPr txBox="1"/>
          <p:nvPr/>
        </p:nvSpPr>
        <p:spPr>
          <a:xfrm>
            <a:off x="4892040" y="1952244"/>
            <a:ext cx="2103120" cy="2057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1100" b="1" dirty="0">
                <a:solidFill>
                  <a:srgbClr val="2D2D2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delayMicroseconds(us);</a:t>
            </a:r>
            <a:endParaRPr lang="en-US" sz="1100" dirty="0"/>
          </a:p>
        </p:txBody>
      </p:sp>
      <p:sp>
        <p:nvSpPr>
          <p:cNvPr id="21" name="Text 16"/>
          <p:cNvSpPr txBox="1"/>
          <p:nvPr/>
        </p:nvSpPr>
        <p:spPr>
          <a:xfrm>
            <a:off x="6995160" y="1952244"/>
            <a:ext cx="1554480" cy="2057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1200" dirty="0">
                <a:solidFill>
                  <a:srgbClr val="6B6B6B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等待微秒</a:t>
            </a:r>
            <a:endParaRPr lang="en-US" sz="1200" dirty="0"/>
          </a:p>
        </p:txBody>
      </p:sp>
      <p:sp>
        <p:nvSpPr>
          <p:cNvPr id="22" name="Text 17"/>
          <p:cNvSpPr txBox="1"/>
          <p:nvPr/>
        </p:nvSpPr>
        <p:spPr>
          <a:xfrm>
            <a:off x="4892040" y="2157984"/>
            <a:ext cx="2103120" cy="2057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1100" b="1" dirty="0">
                <a:solidFill>
                  <a:srgbClr val="2D2D2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millis()</a:t>
            </a:r>
            <a:endParaRPr lang="en-US" sz="1100" dirty="0"/>
          </a:p>
        </p:txBody>
      </p:sp>
      <p:sp>
        <p:nvSpPr>
          <p:cNvPr id="23" name="Text 18"/>
          <p:cNvSpPr txBox="1"/>
          <p:nvPr/>
        </p:nvSpPr>
        <p:spPr>
          <a:xfrm>
            <a:off x="6995160" y="2157984"/>
            <a:ext cx="1554480" cy="2057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1200" dirty="0">
                <a:solidFill>
                  <a:srgbClr val="6B6B6B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开机后的毫秒数</a:t>
            </a:r>
            <a:endParaRPr lang="en-US" sz="1200" dirty="0"/>
          </a:p>
        </p:txBody>
      </p:sp>
      <p:sp>
        <p:nvSpPr>
          <p:cNvPr id="24" name="Text 19"/>
          <p:cNvSpPr txBox="1"/>
          <p:nvPr/>
        </p:nvSpPr>
        <p:spPr>
          <a:xfrm>
            <a:off x="4892040" y="2363724"/>
            <a:ext cx="2103120" cy="2057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1100" b="1" dirty="0">
                <a:solidFill>
                  <a:srgbClr val="2D2D2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pulseIn(p, HIGH)</a:t>
            </a:r>
            <a:endParaRPr lang="en-US" sz="1100" dirty="0"/>
          </a:p>
        </p:txBody>
      </p:sp>
      <p:sp>
        <p:nvSpPr>
          <p:cNvPr id="25" name="Text 20"/>
          <p:cNvSpPr txBox="1"/>
          <p:nvPr/>
        </p:nvSpPr>
        <p:spPr>
          <a:xfrm>
            <a:off x="6995160" y="2363724"/>
            <a:ext cx="1554480" cy="2057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1200" dirty="0">
                <a:solidFill>
                  <a:srgbClr val="6B6B6B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高电平持续微秒数</a:t>
            </a:r>
            <a:endParaRPr lang="en-US" sz="1200" dirty="0"/>
          </a:p>
        </p:txBody>
      </p:sp>
      <p:sp>
        <p:nvSpPr>
          <p:cNvPr id="26" name="Shape 21"/>
          <p:cNvSpPr/>
          <p:nvPr/>
        </p:nvSpPr>
        <p:spPr>
          <a:xfrm>
            <a:off x="411480" y="2935224"/>
            <a:ext cx="4023360" cy="1636776"/>
          </a:xfrm>
          <a:prstGeom prst="roundRect">
            <a:avLst>
              <a:gd name="adj" fmla="val 6704"/>
            </a:avLst>
          </a:prstGeom>
          <a:solidFill>
            <a:srgbClr val="F5F5F5"/>
          </a:solidFill>
          <a:ln w="12700">
            <a:solidFill>
              <a:srgbClr val="F5F5F5"/>
            </a:solidFill>
            <a:prstDash val="solid"/>
          </a:ln>
        </p:spPr>
      </p:sp>
      <p:sp>
        <p:nvSpPr>
          <p:cNvPr id="27" name="Shape 22"/>
          <p:cNvSpPr/>
          <p:nvPr/>
        </p:nvSpPr>
        <p:spPr>
          <a:xfrm>
            <a:off x="576072" y="3054096"/>
            <a:ext cx="310896" cy="310896"/>
          </a:xfrm>
          <a:prstGeom prst="ellipse">
            <a:avLst/>
          </a:prstGeom>
          <a:solidFill>
            <a:srgbClr val="40E0D0"/>
          </a:solidFill>
          <a:ln w="12700">
            <a:solidFill>
              <a:srgbClr val="40E0D0"/>
            </a:solidFill>
            <a:prstDash val="solid"/>
          </a:ln>
        </p:spPr>
      </p:sp>
      <p:pic>
        <p:nvPicPr>
          <p:cNvPr id="28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50687" y="3128711"/>
            <a:ext cx="161666" cy="161666"/>
          </a:xfrm>
          <a:prstGeom prst="rect">
            <a:avLst/>
          </a:prstGeom>
        </p:spPr>
      </p:pic>
      <p:sp>
        <p:nvSpPr>
          <p:cNvPr id="29" name="Text 23"/>
          <p:cNvSpPr txBox="1"/>
          <p:nvPr/>
        </p:nvSpPr>
        <p:spPr>
          <a:xfrm>
            <a:off x="1014984" y="3035808"/>
            <a:ext cx="3255264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1400" b="1" dirty="0">
                <a:solidFill>
                  <a:srgbClr val="2D2D2D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串口</a:t>
            </a:r>
            <a:endParaRPr lang="en-US" sz="1400" dirty="0"/>
          </a:p>
        </p:txBody>
      </p:sp>
      <p:sp>
        <p:nvSpPr>
          <p:cNvPr id="30" name="Text 24"/>
          <p:cNvSpPr txBox="1"/>
          <p:nvPr/>
        </p:nvSpPr>
        <p:spPr>
          <a:xfrm>
            <a:off x="594360" y="3447288"/>
            <a:ext cx="2103120" cy="2057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1100" b="1" dirty="0">
                <a:solidFill>
                  <a:srgbClr val="2D2D2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Serial.begin(9600);</a:t>
            </a:r>
            <a:endParaRPr lang="en-US" sz="1100" dirty="0"/>
          </a:p>
        </p:txBody>
      </p:sp>
      <p:sp>
        <p:nvSpPr>
          <p:cNvPr id="31" name="Text 25"/>
          <p:cNvSpPr txBox="1"/>
          <p:nvPr/>
        </p:nvSpPr>
        <p:spPr>
          <a:xfrm>
            <a:off x="2697480" y="3447288"/>
            <a:ext cx="1554480" cy="2057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1200" dirty="0">
                <a:solidFill>
                  <a:srgbClr val="6B6B6B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打开串口</a:t>
            </a:r>
            <a:endParaRPr lang="en-US" sz="1200" dirty="0"/>
          </a:p>
        </p:txBody>
      </p:sp>
      <p:sp>
        <p:nvSpPr>
          <p:cNvPr id="32" name="Text 26"/>
          <p:cNvSpPr txBox="1"/>
          <p:nvPr/>
        </p:nvSpPr>
        <p:spPr>
          <a:xfrm>
            <a:off x="594360" y="3653028"/>
            <a:ext cx="2103120" cy="2057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1100" b="1" dirty="0">
                <a:solidFill>
                  <a:srgbClr val="2D2D2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Serial.print(x);</a:t>
            </a:r>
            <a:endParaRPr lang="en-US" sz="1100" dirty="0"/>
          </a:p>
        </p:txBody>
      </p:sp>
      <p:sp>
        <p:nvSpPr>
          <p:cNvPr id="33" name="Text 27"/>
          <p:cNvSpPr txBox="1"/>
          <p:nvPr/>
        </p:nvSpPr>
        <p:spPr>
          <a:xfrm>
            <a:off x="2697480" y="3653028"/>
            <a:ext cx="1554480" cy="2057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1200" dirty="0">
                <a:solidFill>
                  <a:srgbClr val="6B6B6B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打印，不换行</a:t>
            </a:r>
            <a:endParaRPr lang="en-US" sz="1200" dirty="0"/>
          </a:p>
        </p:txBody>
      </p:sp>
      <p:sp>
        <p:nvSpPr>
          <p:cNvPr id="34" name="Text 28"/>
          <p:cNvSpPr txBox="1"/>
          <p:nvPr/>
        </p:nvSpPr>
        <p:spPr>
          <a:xfrm>
            <a:off x="594360" y="3858768"/>
            <a:ext cx="2103120" cy="2057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1100" b="1" dirty="0">
                <a:solidFill>
                  <a:srgbClr val="2D2D2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Serial.println(x);</a:t>
            </a:r>
            <a:endParaRPr lang="en-US" sz="1100" dirty="0"/>
          </a:p>
        </p:txBody>
      </p:sp>
      <p:sp>
        <p:nvSpPr>
          <p:cNvPr id="35" name="Text 29"/>
          <p:cNvSpPr txBox="1"/>
          <p:nvPr/>
        </p:nvSpPr>
        <p:spPr>
          <a:xfrm>
            <a:off x="2697480" y="3858768"/>
            <a:ext cx="1554480" cy="2057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1200" dirty="0">
                <a:solidFill>
                  <a:srgbClr val="6B6B6B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打印后换行</a:t>
            </a:r>
            <a:endParaRPr lang="en-US" sz="1200" dirty="0"/>
          </a:p>
        </p:txBody>
      </p:sp>
      <p:sp>
        <p:nvSpPr>
          <p:cNvPr id="36" name="Text 30"/>
          <p:cNvSpPr txBox="1"/>
          <p:nvPr/>
        </p:nvSpPr>
        <p:spPr>
          <a:xfrm>
            <a:off x="594360" y="4064508"/>
            <a:ext cx="2103120" cy="2057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1100" b="1" dirty="0">
                <a:solidFill>
                  <a:srgbClr val="2D2D2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Serial.available()</a:t>
            </a:r>
            <a:endParaRPr lang="en-US" sz="1100" dirty="0"/>
          </a:p>
        </p:txBody>
      </p:sp>
      <p:sp>
        <p:nvSpPr>
          <p:cNvPr id="37" name="Text 31"/>
          <p:cNvSpPr txBox="1"/>
          <p:nvPr/>
        </p:nvSpPr>
        <p:spPr>
          <a:xfrm>
            <a:off x="2697480" y="4064508"/>
            <a:ext cx="1554480" cy="2057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1200" dirty="0">
                <a:solidFill>
                  <a:srgbClr val="6B6B6B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收到几个字符</a:t>
            </a:r>
            <a:endParaRPr lang="en-US" sz="1200" dirty="0"/>
          </a:p>
        </p:txBody>
      </p:sp>
      <p:sp>
        <p:nvSpPr>
          <p:cNvPr id="38" name="Text 32"/>
          <p:cNvSpPr txBox="1"/>
          <p:nvPr/>
        </p:nvSpPr>
        <p:spPr>
          <a:xfrm>
            <a:off x="594360" y="4270248"/>
            <a:ext cx="2103120" cy="2057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1100" b="1" dirty="0">
                <a:solidFill>
                  <a:srgbClr val="2D2D2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Serial.read()</a:t>
            </a:r>
            <a:endParaRPr lang="en-US" sz="1100" dirty="0"/>
          </a:p>
        </p:txBody>
      </p:sp>
      <p:sp>
        <p:nvSpPr>
          <p:cNvPr id="39" name="Text 33"/>
          <p:cNvSpPr txBox="1"/>
          <p:nvPr/>
        </p:nvSpPr>
        <p:spPr>
          <a:xfrm>
            <a:off x="2697480" y="4270248"/>
            <a:ext cx="1554480" cy="2057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1200" dirty="0">
                <a:solidFill>
                  <a:srgbClr val="6B6B6B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读出 1 个字符</a:t>
            </a:r>
            <a:endParaRPr lang="en-US" sz="1200" dirty="0"/>
          </a:p>
        </p:txBody>
      </p:sp>
      <p:sp>
        <p:nvSpPr>
          <p:cNvPr id="40" name="Shape 34"/>
          <p:cNvSpPr/>
          <p:nvPr/>
        </p:nvSpPr>
        <p:spPr>
          <a:xfrm>
            <a:off x="4709160" y="2935224"/>
            <a:ext cx="4023360" cy="1636776"/>
          </a:xfrm>
          <a:prstGeom prst="roundRect">
            <a:avLst>
              <a:gd name="adj" fmla="val 6704"/>
            </a:avLst>
          </a:prstGeom>
          <a:solidFill>
            <a:srgbClr val="F5F5F5"/>
          </a:solidFill>
          <a:ln w="12700">
            <a:solidFill>
              <a:srgbClr val="F5F5F5"/>
            </a:solidFill>
            <a:prstDash val="solid"/>
          </a:ln>
        </p:spPr>
      </p:sp>
      <p:sp>
        <p:nvSpPr>
          <p:cNvPr id="41" name="Shape 35"/>
          <p:cNvSpPr/>
          <p:nvPr/>
        </p:nvSpPr>
        <p:spPr>
          <a:xfrm>
            <a:off x="4873752" y="3054096"/>
            <a:ext cx="310896" cy="310896"/>
          </a:xfrm>
          <a:prstGeom prst="ellipse">
            <a:avLst/>
          </a:prstGeom>
          <a:solidFill>
            <a:srgbClr val="40E0D0"/>
          </a:solidFill>
          <a:ln w="12700">
            <a:solidFill>
              <a:srgbClr val="40E0D0"/>
            </a:solidFill>
            <a:prstDash val="solid"/>
          </a:ln>
        </p:spPr>
      </p:sp>
      <p:pic>
        <p:nvPicPr>
          <p:cNvPr id="42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948367" y="3128711"/>
            <a:ext cx="161666" cy="161666"/>
          </a:xfrm>
          <a:prstGeom prst="rect">
            <a:avLst/>
          </a:prstGeom>
        </p:spPr>
      </p:pic>
      <p:sp>
        <p:nvSpPr>
          <p:cNvPr id="43" name="Text 36"/>
          <p:cNvSpPr txBox="1"/>
          <p:nvPr/>
        </p:nvSpPr>
        <p:spPr>
          <a:xfrm>
            <a:off x="5312664" y="3035808"/>
            <a:ext cx="3255264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1400" b="1" dirty="0">
                <a:solidFill>
                  <a:srgbClr val="2D2D2D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数学</a:t>
            </a:r>
            <a:endParaRPr lang="en-US" sz="1400" dirty="0"/>
          </a:p>
        </p:txBody>
      </p:sp>
      <p:sp>
        <p:nvSpPr>
          <p:cNvPr id="44" name="Text 37"/>
          <p:cNvSpPr txBox="1"/>
          <p:nvPr/>
        </p:nvSpPr>
        <p:spPr>
          <a:xfrm>
            <a:off x="4892040" y="3447288"/>
            <a:ext cx="2331720" cy="2057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1100" b="1" dirty="0">
                <a:solidFill>
                  <a:srgbClr val="2D2D2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map(x, 0, 1023, 0, 255)</a:t>
            </a:r>
            <a:endParaRPr lang="en-US" sz="1100" dirty="0"/>
          </a:p>
        </p:txBody>
      </p:sp>
      <p:sp>
        <p:nvSpPr>
          <p:cNvPr id="45" name="Text 38"/>
          <p:cNvSpPr txBox="1"/>
          <p:nvPr/>
        </p:nvSpPr>
        <p:spPr>
          <a:xfrm>
            <a:off x="7223760" y="3447288"/>
            <a:ext cx="1325880" cy="2057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1200" dirty="0">
                <a:solidFill>
                  <a:srgbClr val="6B6B6B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按比例换算</a:t>
            </a:r>
            <a:endParaRPr lang="en-US" sz="1200" dirty="0"/>
          </a:p>
        </p:txBody>
      </p:sp>
      <p:sp>
        <p:nvSpPr>
          <p:cNvPr id="46" name="Text 39"/>
          <p:cNvSpPr txBox="1"/>
          <p:nvPr/>
        </p:nvSpPr>
        <p:spPr>
          <a:xfrm>
            <a:off x="4892040" y="3653028"/>
            <a:ext cx="2331720" cy="2057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1100" b="1" dirty="0">
                <a:solidFill>
                  <a:srgbClr val="2D2D2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constrain(x, a, b)</a:t>
            </a:r>
            <a:endParaRPr lang="en-US" sz="1100" dirty="0"/>
          </a:p>
        </p:txBody>
      </p:sp>
      <p:sp>
        <p:nvSpPr>
          <p:cNvPr id="47" name="Text 40"/>
          <p:cNvSpPr txBox="1"/>
          <p:nvPr/>
        </p:nvSpPr>
        <p:spPr>
          <a:xfrm>
            <a:off x="7223760" y="3653028"/>
            <a:ext cx="1325880" cy="2057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1200" dirty="0">
                <a:solidFill>
                  <a:srgbClr val="6B6B6B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限制在 a～b</a:t>
            </a:r>
            <a:endParaRPr lang="en-US" sz="1200" dirty="0"/>
          </a:p>
        </p:txBody>
      </p:sp>
      <p:sp>
        <p:nvSpPr>
          <p:cNvPr id="48" name="Text 41"/>
          <p:cNvSpPr txBox="1"/>
          <p:nvPr/>
        </p:nvSpPr>
        <p:spPr>
          <a:xfrm>
            <a:off x="4892040" y="3858768"/>
            <a:ext cx="3694176" cy="2057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1100" b="1" dirty="0">
                <a:solidFill>
                  <a:srgbClr val="2D2D2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min  max  abs</a:t>
            </a:r>
            <a:endParaRPr lang="en-US" sz="1100" dirty="0"/>
          </a:p>
        </p:txBody>
      </p:sp>
      <p:sp>
        <p:nvSpPr>
          <p:cNvPr id="49" name="Text 42"/>
          <p:cNvSpPr txBox="1"/>
          <p:nvPr/>
        </p:nvSpPr>
        <p:spPr>
          <a:xfrm>
            <a:off x="4892040" y="4064508"/>
            <a:ext cx="3694176" cy="2057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1100" b="1" dirty="0">
                <a:solidFill>
                  <a:srgbClr val="2D2D2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pow  sq  sqrt  random(a, b)</a:t>
            </a:r>
            <a:endParaRPr lang="en-US" sz="11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339328" y="4736592"/>
            <a:ext cx="393192" cy="219456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 lIns="0" tIns="0" rIns="0" bIns="0" anchor="ctr"/>
          <a:lstStyle>
            <a:lvl1pPr>
              <a:defRPr sz="800">
                <a:solidFill>
                  <a:srgbClr val="6B6B6B"/>
                </a:solidFill>
                <a:latin typeface="微软雅黑"/>
                <a:ea typeface="微软雅黑"/>
                <a:cs typeface="微软雅黑"/>
              </a:defRPr>
            </a:lvl1pPr>
          </a:lstStyle>
          <a:p>
            <a:pPr algn="r"/>
            <a:fld id="{F7021451-1387-4CA6-816F-3879F97B5CBC}" type="slidenum">
              <a:rPr b="0" lang="en-US"/>
              <a:t>36</a:t>
            </a:fld>
            <a:endParaRPr lang="en-US"/>
          </a:p>
        </p:txBody>
      </p:sp>
    </p:spTree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1"/>
          <p:cNvSpPr/>
          <p:nvPr>
            <p:ph idx="102" type="body" hasCustomPrompt="1"/>
          </p:nvPr>
        </p:nvSpPr>
        <p:spPr>
          <a:xfrm>
            <a:off x="4572000" y="4736592"/>
            <a:ext cx="370332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2D2D2D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速查与排错</a:t>
            </a:r>
            <a:endParaRPr lang="en-US" sz="800" dirty="0"/>
          </a:p>
        </p:txBody>
      </p:sp>
      <p:sp>
        <p:nvSpPr>
          <p:cNvPr id="3" name="Text 1"/>
          <p:cNvSpPr/>
          <p:nvPr>
            <p:ph idx="103" type="title" hasCustomPrompt="1"/>
          </p:nvPr>
        </p:nvSpPr>
        <p:spPr>
          <a:xfrm>
            <a:off x="411480" y="274320"/>
            <a:ext cx="83210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400" dirty="0">
                <a:solidFill>
                  <a:srgbClr val="2D2D2D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常见报错和排查</a:t>
            </a:r>
            <a:endParaRPr lang="en-US" sz="2400" dirty="0"/>
          </a:p>
        </p:txBody>
      </p:sp>
      <p:sp>
        <p:nvSpPr>
          <p:cNvPr id="4" name="Text 1"/>
          <p:cNvSpPr/>
          <p:nvPr>
            <p:ph idx="104" type="body" hasCustomPrompt="1"/>
          </p:nvPr>
        </p:nvSpPr>
        <p:spPr>
          <a:xfrm>
            <a:off x="411480" y="786384"/>
            <a:ext cx="83210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6B6B6B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在 Arduino IDE 里，错误信息显示在窗口下方——先看是哪一行，再对照这张表。</a:t>
            </a:r>
            <a:endParaRPr lang="en-US" sz="1200" dirty="0"/>
          </a:p>
        </p:txBody>
      </p:sp>
      <p:graphicFrame>
        <p:nvGraphicFramePr>
          <p:cNvPr id="38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11480" y="1234440"/>
          <a:ext cx="8321040" cy="914400"/>
        </p:xfrm>
        <a:graphic>
          <a:graphicData uri="http://schemas.openxmlformats.org/drawingml/2006/table">
            <a:tbl>
              <a:tblPr/>
              <a:tblGrid>
                <a:gridCol w="3017520"/>
                <a:gridCol w="1325880"/>
                <a:gridCol w="3977640"/>
              </a:tblGrid>
              <a:tr h="301752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报错信息</a:t>
                      </a:r>
                      <a:endParaRPr lang="en-US" sz="1100" dirty="0">
                        <a:latin typeface="微软雅黑" charset="0"/>
                        <a:ea typeface="微软雅黑" charset="0"/>
                        <a:cs typeface="微软雅黑" charset="0"/>
                      </a:endParaRPr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E2E2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2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2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2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D2D2D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是什么意思</a:t>
                      </a:r>
                      <a:endParaRPr lang="en-US" sz="1100" dirty="0">
                        <a:latin typeface="微软雅黑" charset="0"/>
                        <a:ea typeface="微软雅黑" charset="0"/>
                        <a:cs typeface="微软雅黑" charset="0"/>
                      </a:endParaRPr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E2E2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2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2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2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D2D2D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怎么改</a:t>
                      </a:r>
                      <a:endParaRPr lang="en-US" sz="1100" dirty="0">
                        <a:latin typeface="微软雅黑" charset="0"/>
                        <a:ea typeface="微软雅黑" charset="0"/>
                        <a:cs typeface="微软雅黑" charset="0"/>
                      </a:endParaRPr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E2E2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2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2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2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D2D2D"/>
                    </a:solidFill>
                  </a:tcPr>
                </a:tc>
              </a:tr>
              <a:tr h="301752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2D2D2D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expected ';' before …</a:t>
                      </a:r>
                      <a:endParaRPr lang="en-US" sz="120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E2E2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2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2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2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2D2D2D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缺少分号</a:t>
                      </a:r>
                      <a:endParaRPr lang="en-US" sz="1200" dirty="0">
                        <a:latin typeface="微软雅黑" charset="0"/>
                        <a:ea typeface="微软雅黑" charset="0"/>
                        <a:cs typeface="微软雅黑" charset="0"/>
                      </a:endParaRPr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E2E2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2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2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2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2D2D2D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检查报错行的上一行末尾是否漏了 ;</a:t>
                      </a:r>
                      <a:endParaRPr lang="en-US" sz="1200" dirty="0">
                        <a:latin typeface="微软雅黑" charset="0"/>
                        <a:ea typeface="微软雅黑" charset="0"/>
                        <a:cs typeface="微软雅黑" charset="0"/>
                      </a:endParaRPr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E2E2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2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2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2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01752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2D2D2D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was not declared in this scope</a:t>
                      </a:r>
                      <a:endParaRPr lang="en-US" sz="120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E2E2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2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2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2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2D2D2D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名字没有定义</a:t>
                      </a:r>
                      <a:endParaRPr lang="en-US" sz="1200" dirty="0">
                        <a:latin typeface="微软雅黑" charset="0"/>
                        <a:ea typeface="微软雅黑" charset="0"/>
                        <a:cs typeface="微软雅黑" charset="0"/>
                      </a:endParaRPr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E2E2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2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2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2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2D2D2D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拼写或大小写写错（pinmode → pinMode），或变量没有先声明</a:t>
                      </a:r>
                      <a:endParaRPr lang="en-US" sz="1200" dirty="0">
                        <a:latin typeface="微软雅黑" charset="0"/>
                        <a:ea typeface="微软雅黑" charset="0"/>
                        <a:cs typeface="微软雅黑" charset="0"/>
                      </a:endParaRPr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E2E2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2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2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2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5F5"/>
                    </a:solidFill>
                  </a:tcPr>
                </a:tc>
              </a:tr>
              <a:tr h="301752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2D2D2D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expected '}' at end of input</a:t>
                      </a:r>
                      <a:endParaRPr lang="en-US" sz="120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E2E2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2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2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2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2D2D2D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大括号不成对</a:t>
                      </a:r>
                      <a:endParaRPr lang="en-US" sz="1200" dirty="0">
                        <a:latin typeface="微软雅黑" charset="0"/>
                        <a:ea typeface="微软雅黑" charset="0"/>
                        <a:cs typeface="微软雅黑" charset="0"/>
                      </a:endParaRPr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E2E2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2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2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2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2D2D2D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数一数 { 和 } 是否一样多</a:t>
                      </a:r>
                      <a:endParaRPr lang="en-US" sz="1200" dirty="0">
                        <a:latin typeface="微软雅黑" charset="0"/>
                        <a:ea typeface="微软雅黑" charset="0"/>
                        <a:cs typeface="微软雅黑" charset="0"/>
                      </a:endParaRPr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E2E2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2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2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2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01752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2D2D2D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stray '\357' in program</a:t>
                      </a:r>
                      <a:endParaRPr lang="en-US" sz="120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E2E2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2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2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2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2D2D2D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出现中文标点</a:t>
                      </a:r>
                      <a:endParaRPr lang="en-US" sz="1200" dirty="0">
                        <a:latin typeface="微软雅黑" charset="0"/>
                        <a:ea typeface="微软雅黑" charset="0"/>
                        <a:cs typeface="微软雅黑" charset="0"/>
                      </a:endParaRPr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E2E2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2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2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2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2D2D2D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把中文的 ；（）“” 改成英文标点</a:t>
                      </a:r>
                      <a:endParaRPr lang="en-US" sz="1200" dirty="0">
                        <a:latin typeface="微软雅黑" charset="0"/>
                        <a:ea typeface="微软雅黑" charset="0"/>
                        <a:cs typeface="微软雅黑" charset="0"/>
                      </a:endParaRPr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E2E2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2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2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2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5F5"/>
                    </a:solidFill>
                  </a:tcPr>
                </a:tc>
              </a:tr>
              <a:tr h="301752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2D2D2D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No such file or directory</a:t>
                      </a:r>
                      <a:endParaRPr lang="en-US" sz="120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E2E2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2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2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2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2D2D2D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缺少库</a:t>
                      </a:r>
                      <a:endParaRPr lang="en-US" sz="1200" dirty="0">
                        <a:latin typeface="微软雅黑" charset="0"/>
                        <a:ea typeface="微软雅黑" charset="0"/>
                        <a:cs typeface="微软雅黑" charset="0"/>
                      </a:endParaRPr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E2E2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2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2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2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2D2D2D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用“管理库”安装，或检查 #include 的名字</a:t>
                      </a:r>
                      <a:endParaRPr lang="en-US" sz="1200" dirty="0">
                        <a:latin typeface="微软雅黑" charset="0"/>
                        <a:ea typeface="微软雅黑" charset="0"/>
                        <a:cs typeface="微软雅黑" charset="0"/>
                      </a:endParaRPr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E2E2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2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2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2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01752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2D2D2D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串口监视器乱码</a:t>
                      </a:r>
                      <a:endParaRPr lang="en-US" sz="120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E2E2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2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2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2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2D2D2D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波特率不一致</a:t>
                      </a:r>
                      <a:endParaRPr lang="en-US" sz="1200" dirty="0">
                        <a:latin typeface="微软雅黑" charset="0"/>
                        <a:ea typeface="微软雅黑" charset="0"/>
                        <a:cs typeface="微软雅黑" charset="0"/>
                      </a:endParaRPr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E2E2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2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2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2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2D2D2D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监视器右下角的波特率要和 Serial.begin() 里的一样</a:t>
                      </a:r>
                      <a:endParaRPr lang="en-US" sz="1200" dirty="0">
                        <a:latin typeface="微软雅黑" charset="0"/>
                        <a:ea typeface="微软雅黑" charset="0"/>
                        <a:cs typeface="微软雅黑" charset="0"/>
                      </a:endParaRPr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E2E2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2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2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2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5F5"/>
                    </a:solidFill>
                  </a:tcPr>
                </a:tc>
              </a:tr>
              <a:tr h="301752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2D2D2D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上传失败 / 找不到端口</a:t>
                      </a:r>
                      <a:endParaRPr lang="en-US" sz="120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E2E2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2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2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2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2D2D2D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端口没选对</a:t>
                      </a:r>
                      <a:endParaRPr lang="en-US" sz="1200" dirty="0">
                        <a:latin typeface="微软雅黑" charset="0"/>
                        <a:ea typeface="微软雅黑" charset="0"/>
                        <a:cs typeface="微软雅黑" charset="0"/>
                      </a:endParaRPr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E2E2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2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2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2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2D2D2D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工具 → 端口，选择带 Arduino 字样的 COM 口</a:t>
                      </a:r>
                      <a:endParaRPr lang="en-US" sz="1200" dirty="0">
                        <a:latin typeface="微软雅黑" charset="0"/>
                        <a:ea typeface="微软雅黑" charset="0"/>
                        <a:cs typeface="微软雅黑" charset="0"/>
                      </a:endParaRPr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E2E2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2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2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2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7" name="Shape 3"/>
          <p:cNvSpPr/>
          <p:nvPr/>
        </p:nvSpPr>
        <p:spPr>
          <a:xfrm>
            <a:off x="411480" y="4114800"/>
            <a:ext cx="8321040" cy="457200"/>
          </a:xfrm>
          <a:prstGeom prst="roundRect">
            <a:avLst>
              <a:gd name="adj" fmla="val 24000"/>
            </a:avLst>
          </a:prstGeom>
          <a:solidFill>
            <a:srgbClr val="E3FAF7"/>
          </a:solidFill>
          <a:ln w="12700">
            <a:solidFill>
              <a:srgbClr val="E3FAF7"/>
            </a:solidFill>
            <a:prstDash val="solid"/>
          </a:ln>
        </p:spPr>
      </p:sp>
      <p:sp>
        <p:nvSpPr>
          <p:cNvPr id="8" name="Shape 4"/>
          <p:cNvSpPr/>
          <p:nvPr/>
        </p:nvSpPr>
        <p:spPr>
          <a:xfrm>
            <a:off x="539496" y="4187952"/>
            <a:ext cx="310896" cy="310896"/>
          </a:xfrm>
          <a:prstGeom prst="ellipse">
            <a:avLst/>
          </a:prstGeom>
          <a:solidFill>
            <a:srgbClr val="40E0D0"/>
          </a:solidFill>
          <a:ln w="12700">
            <a:solidFill>
              <a:srgbClr val="40E0D0"/>
            </a:solidFill>
            <a:prstDash val="solid"/>
          </a:ln>
        </p:spPr>
      </p:sp>
      <p:pic>
        <p:nvPicPr>
          <p:cNvPr id="9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14111" y="4262567"/>
            <a:ext cx="161666" cy="161666"/>
          </a:xfrm>
          <a:prstGeom prst="rect">
            <a:avLst/>
          </a:prstGeom>
        </p:spPr>
      </p:pic>
      <p:sp>
        <p:nvSpPr>
          <p:cNvPr id="10" name="Text 5"/>
          <p:cNvSpPr txBox="1"/>
          <p:nvPr/>
        </p:nvSpPr>
        <p:spPr>
          <a:xfrm>
            <a:off x="978408" y="4114800"/>
            <a:ext cx="7626096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1200" b="1" dirty="0">
                <a:solidFill>
                  <a:srgbClr val="2D2D2D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看不懂报错？</a:t>
            </a:r>
            <a:pPr algn="l" indent="0" marL="0">
              <a:lnSpc>
                <a:spcPct val="115000"/>
              </a:lnSpc>
              <a:buNone/>
            </a:pPr>
            <a:r>
              <a:rPr lang="en-US" sz="1200" dirty="0">
                <a:solidFill>
                  <a:srgbClr val="2D2D2D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先看最上面那一条——后面的报错，常常是被第一条连累的。</a:t>
            </a:r>
            <a:endParaRPr lang="en-US" sz="12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339328" y="4736592"/>
            <a:ext cx="393192" cy="219456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 lIns="0" tIns="0" rIns="0" bIns="0" anchor="ctr"/>
          <a:lstStyle>
            <a:lvl1pPr>
              <a:defRPr sz="800">
                <a:solidFill>
                  <a:srgbClr val="6B6B6B"/>
                </a:solidFill>
                <a:latin typeface="微软雅黑"/>
                <a:ea typeface="微软雅黑"/>
                <a:cs typeface="微软雅黑"/>
              </a:defRPr>
            </a:lvl1pPr>
          </a:lstStyle>
          <a:p>
            <a:pPr algn="r"/>
            <a:fld id="{F7021451-1387-4CA6-816F-3879F97B5CBC}" type="slidenum">
              <a:rPr b="0" lang="en-US"/>
              <a:t>37</a:t>
            </a:fld>
            <a:endParaRPr lang="en-US"/>
          </a:p>
        </p:txBody>
      </p:sp>
    </p:spTree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1" type="title" hasCustomPrompt="1"/>
          </p:nvPr>
        </p:nvSpPr>
        <p:spPr>
          <a:xfrm>
            <a:off x="502920" y="1097280"/>
            <a:ext cx="813816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400" b="1" dirty="0">
                <a:solidFill>
                  <a:srgbClr val="2D2D2D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先让它跑起来，再让它变得有趣。</a:t>
            </a:r>
            <a:endParaRPr lang="en-US" sz="3400" dirty="0"/>
          </a:p>
        </p:txBody>
      </p:sp>
      <p:sp>
        <p:nvSpPr>
          <p:cNvPr id="3" name="Text 0"/>
          <p:cNvSpPr/>
          <p:nvPr>
            <p:ph idx="102" type="body" hasCustomPrompt="1"/>
          </p:nvPr>
        </p:nvSpPr>
        <p:spPr>
          <a:xfrm>
            <a:off x="502920" y="2057400"/>
            <a:ext cx="813816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dirty="0">
                <a:solidFill>
                  <a:srgbClr val="2D2D2D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改一个数字、换一个引脚、加一个 if——每一次修改，都是在设计一件会动的作品。</a:t>
            </a:r>
            <a:endParaRPr lang="en-US" sz="16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Arduino Turquoise">
  <a:themeElements>
    <a:clrScheme name="Arduino Turquoise">
      <a:dk1>
        <a:srgbClr val="2D2D2D"/>
      </a:dk1>
      <a:lt1>
        <a:srgbClr val="FFFFFF"/>
      </a:lt1>
      <a:dk2>
        <a:srgbClr val="6B6B6B"/>
      </a:dk2>
      <a:lt2>
        <a:srgbClr val="F5F5F5"/>
      </a:lt2>
      <a:accent1>
        <a:srgbClr val="40E0D0"/>
      </a:accent1>
      <a:accent2>
        <a:srgbClr val="EBEBEB"/>
      </a:accent2>
      <a:accent3>
        <a:srgbClr val="E2E2E2"/>
      </a:accent3>
      <a:accent4>
        <a:srgbClr val="2D2D2D"/>
      </a:accent4>
      <a:accent5>
        <a:srgbClr val="E5484D"/>
      </a:accent5>
      <a:accent6>
        <a:srgbClr val="1A9E92"/>
      </a:accent6>
      <a:hlink>
        <a:srgbClr val="1A9E92"/>
      </a:hlink>
      <a:folHlink>
        <a:srgbClr val="6B6B6B"/>
      </a:folHlink>
    </a:clrScheme>
    <a:fontScheme name="Arduino Turquoise">
      <a:majorFont>
        <a:latin typeface="微软雅黑"/>
        <a:ea typeface="微软雅黑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微软雅黑"/>
        <a:ea typeface="微软雅黑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38</Slides>
  <Notes>38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38</vt:i4>
      </vt:variant>
    </vt:vector>
  </HeadingPairs>
  <TitlesOfParts>
    <vt:vector size="41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  <vt:lpstr>Slide 17</vt:lpstr>
      <vt:lpstr>Slide 18</vt:lpstr>
      <vt:lpstr>Slide 19</vt:lpstr>
      <vt:lpstr>Slide 20</vt:lpstr>
      <vt:lpstr>Slide 21</vt:lpstr>
      <vt:lpstr>Slide 22</vt:lpstr>
      <vt:lpstr>Slide 23</vt:lpstr>
      <vt:lpstr>Slide 24</vt:lpstr>
      <vt:lpstr>Slide 25</vt:lpstr>
      <vt:lpstr>Slide 26</vt:lpstr>
      <vt:lpstr>Slide 27</vt:lpstr>
      <vt:lpstr>Slide 28</vt:lpstr>
      <vt:lpstr>Slide 29</vt:lpstr>
      <vt:lpstr>Slide 30</vt:lpstr>
      <vt:lpstr>Slide 31</vt:lpstr>
      <vt:lpstr>Slide 32</vt:lpstr>
      <vt:lpstr>Slide 33</vt:lpstr>
      <vt:lpstr>Slide 34</vt:lpstr>
      <vt:lpstr>Slide 35</vt:lpstr>
      <vt:lpstr>Slide 36</vt:lpstr>
      <vt:lpstr>Slide 37</vt:lpstr>
      <vt:lpstr>Slide 38</vt:lpstr>
    </vt:vector>
  </TitlesOfParts>
  <Company>湖北工业大学 · 工业设计学院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Arduino 编程语言基础</dc:title>
  <dc:subject>Arduino 编程语言基础</dc:subject>
  <dc:creator>湖北工业大学 · 工业设计学院</dc:creator>
  <cp:lastModifiedBy>湖北工业大学 · 工业设计学院</cp:lastModifiedBy>
  <cp:revision>1</cp:revision>
  <dcterms:created xsi:type="dcterms:W3CDTF">2026-10-12T09:45:14Z</dcterms:created>
  <dcterms:modified xsi:type="dcterms:W3CDTF">2026-10-12T09:45:14Z</dcterms:modified>
</cp:coreProperties>
</file>