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81208c44-b048-c491-9249-19ab314aee11}">
          <p14:sldIdLst>
            <p14:sldId id="257"/>
          </p14:sldIdLst>
        </p14:section>
        <p14:section name="认识磁簧开关" id="{fcb5621e-0b65-03c1-d3dd-7a5e6e76a248}">
          <p14:sldIdLst>
            <p14:sldId id="258"/>
            <p14:sldId id="259"/>
            <p14:sldId id="260"/>
            <p14:sldId id="261"/>
          </p14:sldIdLst>
        </p14:section>
        <p14:section name="接线" id="{436ec43c-4279-d149-2da3-b8685524e1e6}">
          <p14:sldIdLst>
            <p14:sldId id="262"/>
            <p14:sldId id="263"/>
            <p14:sldId id="264"/>
          </p14:sldIdLst>
        </p14:section>
        <p14:section name="代码" id="{24323bbd-32f2-7952-5966-8d3c9072b666}">
          <p14:sldIdLst>
            <p14:sldId id="265"/>
            <p14:sldId id="266"/>
            <p14:sldId id="267"/>
            <p14:sldId id="268"/>
            <p14:sldId id="269"/>
          </p14:sldIdLst>
        </p14:section>
        <p14:section name="实验结果" id="{ca46af1f-c98d-92bd-4192-b811c4d88480}">
          <p14:sldIdLst>
            <p14:sldId id="270"/>
            <p14:sldId id="271"/>
          </p14:sldIdLst>
        </p14:section>
        <p14:section name="拓展与小结" id="{d96740f7-dfce-9f80-c927-82a75e7a6538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这节课只做一个实验：小磁簧开关。开场可以拿出一块磁铁和模块现场演示——磁铁一靠近，灯亮、蜂鸣器响。然后问学生：它是怎么“知道”磁铁来了的？带着这个问题进入本节。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左边是本实验的“实验卡”：一句话说清要做什么、用到哪些新语法。右边四块是本节的学习路线：先认识元件，再接线、读代码、看结果。因为这节只有一个实验，我们会把磁簧开关的原理和 if / else 判断讲得更透一些。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模块传下去，让学生看清玻璃管里的两片簧片。重点讲“常开”：平时断开，磁铁靠近才接通。原指南提到的惰性气体和铑、钌镀层属于小知识，知道它们让开关更耐用就够了。提醒：玻璃管很脆，不要用力掰它的引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从左到右的顺序讲三个状态，可以配合手势：两根手指分开、靠拢、再分开。强调簧片能吸合，是因为它被磁铁磁化了；能弹开，是因为它本身有弹性。最后联系生活：门窗报警、笔记本合盖、自行车码表，都用到“磁铁靠近就触发”的思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实验目的照原指南念即可。下方的信号链是整节课的主线：磁铁 → 簧片 → 读数 → 输出，后面的代码就是把这条链一步步写出来。第三步“读到 0”是关键，下一页专门解释为什么有磁铁时反而读到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这一页解释“低电平有效”。上拉电阻像一根弹簧，平时把 OUT 往 5V 拉，所以读到 1；簧片一吸合，OUT 直接接到 GND，被“按”到 0V，读到 0。图是原理示意，不要求学生会画电路，只要记住：这个模块有磁铁 = 0，没磁铁 = 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对照清单把元件拿出来，别忘了准备一块磁铁。右边三张卡片帮学生分清输入和输出：磁簧开关是输入，Arduino 去“听”它；LED 和蜂鸣器是输出，Arduino 去“说”给它们。“有源”蜂鸣器内部自带发声电路，给高电平就响。原指南接线图里的 LED 模块用的是 RGB 灯模块，用普通 LED 模块也可以。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三张表照原指南抄录，接线时一张一张对着接。提醒学生：模块上印的不是 VCC / OUT，而是 S、中间脚和 −，对应关系看下面的卡片；表里括号中的 R、Y 可以对照接线图里的红线、黄线来记。所有模块的 GND 都接到 UNO 的 GND，UNO 上有好几个 GND 口，哪个都可以。接线时先拔掉 USB。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对照原指南接线图，从上到下找到三个模块。图里黄线都是信号线，红线是 5V，黑线是 GND，按颜色找最不容易乱。接完后同桌互相检查一遍，再插 USB 上传程序。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digitalRead 只有两个答案，适合开关、按键这类“有或没有”的传感器；1-2 课学过的 analogRead 回答的是“有多少”。Serial.println 是我们的“透视眼”：传感器的状态平时看不见，打印到串口就一目了然。打开串口监视器后，记得把波特率选成 9600。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用“岔路口”类比 if / else：条件成立走 if 的路，不成立走 else 的路，两条只走一条。重点强调 == 和 = 的区别，这是初学者最常犯的错：写成 if(val=0) 也能编译通过，但灯永远不会亮。可以让学生故意写错一次，看看现象。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 4 行准备了四个“盒子”：三个装引脚号，一个装读数。给引脚起名字的好处是：以后换引脚只改这里，程序里其他地方都不用动。setup() 里用 pinMode 告诉 Arduino 哪些脚是输出、哪个是输入，最后打开串口。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loop() 是程序的核心，一共只做三件事：读、打印、判断。第 16 行的 val==0 对应“磁铁靠近”，所以成立时灯亮、蜂鸣器响；else 分支把它们关掉。第 26 行的大括号结束后，loop 会立刻从第 12 行再来一遍。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流程图把程序画成一张路线图：椭圆是开始，方框是做事，菱形是判断。可以请学生用手指沿着箭头走一遍，分别模拟“有磁铁”和“没有磁铁”两种情况。loop 转得非常快：就算每圈都要往串口打印一个数，每秒也能转几百圈，所以磁铁一靠近，灯几乎同时就亮了。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上传程序后打开串口监视器，拿磁铁慢慢靠近再拿开，观察灯、蜂鸣器和串口数字三者同步变化。右边串口画面是示意，实际上因为 loop 里没有 delay，数字会刷得非常快。如果现象不对，先看串口数字，再查接线。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Sensor V5.0 扩展板直接插在 UNO 上，把每个数字脚都扩展成 G、V、S 三根针，接传感器模块非常方便。按同样的引脚号接，程序不用改。注意排针顺序：磁簧开关是 G 对 −，V 对中间脚，S 对 S；两针的 LED 和蜂鸣器只用 S 和 G，+ 接 S，− 接 G。没有扩展板就用面包板接法。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查问题的口诀：先看串口，再查接线。串口数字会随磁铁变化，说明输入没问题，去查灯和蜂鸣器；数字不变，就查磁簧开关那三根线。右边四种是课堂上最常见的情况，可以让学生先自己对照排查，再举手求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两个小改动都只需要改几行。门磁报警把条件反过来：门关着时磁铁贴着开关，读数是 0；门打开、磁铁离开才是 1，这时才报警。“想一想”的答案也是门磁写法：冰箱门打开时磁铁离开，val 是 1。滴滴声靠 delay 控制节奏，可以让学生比较 100 和 300 两种节奏的区别。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用信号链把整节课串起来：磁铁 → 簧片 → 读数 → 判断 → 输出。右边四个关键词，请学生各用一句话解释给同桌听。课后思考：你的设计作品里，哪里可以用“磁铁靠近就触发”？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布置课后任务：用磁簧开关设计一个小装置，比如抽屉提醒器或门磁报警器，下节课分享。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2-1　开关传感器实验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2-1　开关传感器实验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2-1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2-1　开关传感器实验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一个实验，吃透四件事：磁簧开关怎么工作、怎么读开关、怎么做判断、怎么用串口找问题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6576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9224" y="1417320"/>
            <a:ext cx="601218" cy="253365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9224" y="1417320"/>
            <a:ext cx="601218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实验卡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9224" y="17282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小磁簧开关模块实验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49224" y="21671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用一块磁铁当“钥匙”：磁铁靠近，灯亮、蜂鸣器响；磁铁拿开，全部停下。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9224" y="282549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用到的新语法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" y="3118104"/>
            <a:ext cx="127787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" y="3118104"/>
            <a:ext cx="127787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2000250" y="3118104"/>
            <a:ext cx="95783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00250" y="3118104"/>
            <a:ext cx="95783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31236" y="3118104"/>
            <a:ext cx="39776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31236" y="3118104"/>
            <a:ext cx="39776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9224" y="3444621"/>
            <a:ext cx="1517904" cy="253365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" y="3444621"/>
            <a:ext cx="151790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49224" y="3880866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元件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UNO 主板、面包板、小磁簧开关模块、LED 模块、有源蜂鸣器、磁铁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97680" y="1234440"/>
            <a:ext cx="221742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498848" y="1399032"/>
            <a:ext cx="181508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4498848" y="1935480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认识元件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498848" y="2282952"/>
            <a:ext cx="181508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磁簧开关怎么“感觉”到磁铁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15100" y="1234440"/>
            <a:ext cx="221742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16268" y="1399032"/>
            <a:ext cx="181508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6716268" y="1935480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716268" y="2282952"/>
            <a:ext cx="181508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三个模块，三张接线表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297680" y="2903220"/>
            <a:ext cx="221742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498848" y="3067812"/>
            <a:ext cx="181508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4498848" y="3813810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读代码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498848" y="4161282"/>
            <a:ext cx="1815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 + if / else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15100" y="2903220"/>
            <a:ext cx="221742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716268" y="3067812"/>
            <a:ext cx="181508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716268" y="3813810"/>
            <a:ext cx="1815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看结果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6716268" y="4161282"/>
            <a:ext cx="181508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看灯、听声、读串口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认识小磁簧开关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磁簧开关是一个用磁铁“隔空按”的开关：磁铁靠近就接通，磁铁拿开就断开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和按键开关是亲戚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1581912"/>
            <a:ext cx="475488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普通按键要用手指按下去才接通；磁簧开关不用碰它，磁铁一靠近，它自己就接通了。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237105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22371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2265124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玻璃管里封着两片铁镍簧片，中间只隔几微米的缝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" y="2639441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1480" y="26394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" y="2667460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平时两片簧片不接触，电路断开——这叫“常开”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11480" y="3041777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" y="30417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13816" y="3069796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磁铁靠近：簧片被磁化、互相吸住 → 电路接通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11480" y="3444113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11480" y="3444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" y="3472132"/>
            <a:ext cx="435254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磁铁移开：簧片靠自身弹力弹开 → 电路断开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11480" y="3992753"/>
            <a:ext cx="4754880" cy="579247"/>
          </a:xfrm>
          <a:prstGeom prst="roundRect">
            <a:avLst>
              <a:gd name="adj" fmla="val 1894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784" y="410864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4192034"/>
            <a:ext cx="180685" cy="180685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14984" y="3992753"/>
            <a:ext cx="4023360" cy="579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小知识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管内充有惰性气体（如氮气）；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触点镀了很硬的铑、钌，开关次数更多、寿命更长。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486400" y="1234440"/>
            <a:ext cx="3246120" cy="3337560"/>
          </a:xfrm>
          <a:prstGeom prst="roundRect">
            <a:avLst>
              <a:gd name="adj" fmla="val 338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25" name="Image 1" descr="小磁簧开关模块：左上方的玻璃管就是磁簧开关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540261"/>
            <a:ext cx="3026664" cy="2451598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596128" y="4224528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小磁簧开关模块：左上方的玻璃管就是磁簧开关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工作过程图解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没有磁铁 → 断开；磁铁靠近 → 吸合接通；磁铁移开 → 弹开断开，全靠磁力和弹力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8074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380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没有磁铁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45820" y="1828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9788" y="195224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08760" y="208940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" y="2715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断开：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两片簧片之间有缝，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电流过不去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026664" y="2020824"/>
            <a:ext cx="210312" cy="91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29184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56432" y="1380744"/>
            <a:ext cx="292608" cy="292608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56432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1380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726180" y="1828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70148" y="1952244"/>
            <a:ext cx="790956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1952244"/>
            <a:ext cx="493776" cy="57607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89120" y="2031797"/>
            <a:ext cx="493776" cy="57607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82896" y="2089404"/>
            <a:ext cx="790956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03420" y="1952244"/>
            <a:ext cx="137160" cy="1371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069080" y="2331720"/>
            <a:ext cx="502920" cy="246888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0" y="2331720"/>
            <a:ext cx="502920" cy="246888"/>
          </a:xfrm>
          <a:prstGeom prst="rect">
            <a:avLst/>
          </a:prstGeom>
          <a:solidFill>
            <a:srgbClr val="40E0D0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069080" y="233172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233172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456432" y="2715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吸合：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簧片被磁化、互相吸住，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电路接通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907024" y="2020824"/>
            <a:ext cx="210312" cy="91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172200" y="123444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36792" y="138074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36792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720840" y="1380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磁铁移开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606540" y="182880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E3FAF7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350508" y="195224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269480" y="2089404"/>
            <a:ext cx="1284732" cy="91"/>
          </a:xfrm>
          <a:prstGeom prst="line">
            <a:avLst/>
          </a:prstGeom>
          <a:noFill/>
          <a:ln w="41275">
            <a:solidFill>
              <a:srgbClr val="2D2D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543800" y="2386584"/>
            <a:ext cx="502920" cy="246888"/>
          </a:xfrm>
          <a:prstGeom prst="rect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46720" y="2386584"/>
            <a:ext cx="502920" cy="246888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543800" y="23865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8046720" y="238658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949440" y="2510028"/>
            <a:ext cx="50292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336792" y="2715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弹开：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簧片靠自身弹力分开，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电路又断开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生活里的磁簧开关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411480" y="3867912"/>
            <a:ext cx="2560320" cy="704088"/>
          </a:xfrm>
          <a:prstGeom prst="roundRect">
            <a:avLst>
              <a:gd name="adj" fmla="val 155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7784" y="40279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956" y="4120104"/>
            <a:ext cx="199705" cy="199705"/>
          </a:xfrm>
          <a:prstGeom prst="rect">
            <a:avLst/>
          </a:prstGeom>
        </p:spPr>
      </p:pic>
      <p:sp>
        <p:nvSpPr>
          <p:cNvPr id="48" name="Text 44"/>
          <p:cNvSpPr txBox="1"/>
          <p:nvPr/>
        </p:nvSpPr>
        <p:spPr>
          <a:xfrm>
            <a:off x="1051560" y="3867912"/>
            <a:ext cx="18105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门窗报警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开门时磁铁离开 → 报警</a:t>
            </a:r>
            <a:endParaRPr lang="en-US" sz="1200" dirty="0"/>
          </a:p>
        </p:txBody>
      </p:sp>
      <p:sp>
        <p:nvSpPr>
          <p:cNvPr id="49" name="Shape 45"/>
          <p:cNvSpPr/>
          <p:nvPr/>
        </p:nvSpPr>
        <p:spPr>
          <a:xfrm>
            <a:off x="3291840" y="3867912"/>
            <a:ext cx="2560320" cy="704088"/>
          </a:xfrm>
          <a:prstGeom prst="roundRect">
            <a:avLst>
              <a:gd name="adj" fmla="val 155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438144" y="40279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316" y="4120104"/>
            <a:ext cx="199705" cy="199705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3931920" y="3867912"/>
            <a:ext cx="18105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合盖检测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盖里的磁铁靠近 → 熄屏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6172200" y="3867912"/>
            <a:ext cx="2560320" cy="704088"/>
          </a:xfrm>
          <a:prstGeom prst="roundRect">
            <a:avLst>
              <a:gd name="adj" fmla="val 1558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318504" y="40279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76" y="4120104"/>
            <a:ext cx="199705" cy="199705"/>
          </a:xfrm>
          <a:prstGeom prst="rect">
            <a:avLst/>
          </a:prstGeom>
        </p:spPr>
      </p:pic>
      <p:sp>
        <p:nvSpPr>
          <p:cNvPr id="56" name="Text 50"/>
          <p:cNvSpPr txBox="1"/>
          <p:nvPr/>
        </p:nvSpPr>
        <p:spPr>
          <a:xfrm>
            <a:off x="6812280" y="3867912"/>
            <a:ext cx="18105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自行车码表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轮上磁铁转一圈 → 计一次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实验目的与实验原理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用磁铁去“按”磁簧开关，让 Arduino 读到开关状态，再控制 LED 和蜂鸣器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1188720"/>
          </a:xfrm>
          <a:prstGeom prst="roundRect">
            <a:avLst>
              <a:gd name="adj" fmla="val 9231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2506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学习磁簧开关的特性和工作原理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使用小磁簧开关控制 LED 灯的亮灭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32020" y="1234440"/>
            <a:ext cx="4000500" cy="1188720"/>
          </a:xfrm>
          <a:prstGeom prst="roundRect">
            <a:avLst>
              <a:gd name="adj" fmla="val 923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783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328" y="1459748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35524" y="1371600"/>
            <a:ext cx="3250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335524" y="1682496"/>
            <a:ext cx="32506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没有磁铁时，开关处于断开状态；磁铁靠近，磁感线穿过开关使它导通——LED 灯亮起来，蜂鸣器响。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411480" y="2697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从磁铁到蜂鸣器：一条信号链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1148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7784" y="319125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5778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5778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5778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磁感线穿过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玻璃管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306574" y="3808476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257175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18054" y="319125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71805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271805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簧片吸合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271805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开关接通，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连到 GND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466844" y="3808476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473202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78324" y="3191256"/>
            <a:ext cx="347472" cy="34747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87832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27"/>
          <p:cNvSpPr txBox="1"/>
          <p:nvPr/>
        </p:nvSpPr>
        <p:spPr>
          <a:xfrm>
            <a:off x="487832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读到 0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487832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digitalRead(12)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得到 0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627114" y="3808476"/>
            <a:ext cx="210312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6892290" y="3044952"/>
            <a:ext cx="1840230" cy="1527048"/>
          </a:xfrm>
          <a:prstGeom prst="roundRect">
            <a:avLst>
              <a:gd name="adj" fmla="val 71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038594" y="319125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03859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7038594" y="3630168"/>
            <a:ext cx="15476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灯亮 + 响</a:t>
            </a:r>
            <a:endParaRPr lang="en-US" sz="1400" dirty="0"/>
          </a:p>
        </p:txBody>
      </p:sp>
      <p:sp>
        <p:nvSpPr>
          <p:cNvPr id="39" name="Text 34"/>
          <p:cNvSpPr txBox="1"/>
          <p:nvPr/>
        </p:nvSpPr>
        <p:spPr>
          <a:xfrm>
            <a:off x="7038594" y="3959352"/>
            <a:ext cx="154762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11、13 号脚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输出高电平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认识磁簧开关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数字输入：模块只回答 0 或 1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模块里有个上拉电阻：簧片断开时 OUT 是高电平（1），簧片吸合时 OUT 接到 GND（0）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057400" cy="3337560"/>
          </a:xfrm>
          <a:prstGeom prst="roundRect">
            <a:avLst>
              <a:gd name="adj" fmla="val 5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62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没有磁铁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1737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78408" y="1984248"/>
            <a:ext cx="29260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4712" y="1984248"/>
            <a:ext cx="91" cy="14630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3272" y="2130552"/>
            <a:ext cx="1828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" y="2148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24712" y="2587752"/>
            <a:ext cx="91" cy="219456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4420" y="2756916"/>
            <a:ext cx="100584" cy="1005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4712" y="2807208"/>
            <a:ext cx="56692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197864" y="2569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746504" y="269748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号脚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124712" y="2807208"/>
            <a:ext cx="91" cy="23774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8136" y="300837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88136" y="3447288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1124712" y="3118104"/>
            <a:ext cx="274320" cy="365760"/>
          </a:xfrm>
          <a:prstGeom prst="line">
            <a:avLst/>
          </a:prstGeom>
          <a:noFill/>
          <a:ln w="31750">
            <a:solidFill>
              <a:srgbClr val="2D2D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124712" y="3483864"/>
            <a:ext cx="91" cy="23774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" y="3721608"/>
            <a:ext cx="36576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5840" y="3794760"/>
            <a:ext cx="237744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9848" y="3867912"/>
            <a:ext cx="10972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80744" y="3685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" y="4032504"/>
            <a:ext cx="17647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7784" y="4032504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约 5V → 读到 1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743200" y="1234440"/>
            <a:ext cx="2057400" cy="3337560"/>
          </a:xfrm>
          <a:prstGeom prst="roundRect">
            <a:avLst>
              <a:gd name="adj" fmla="val 5333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26080" y="1362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磁铁靠近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3136392" y="1737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310128" y="1984248"/>
            <a:ext cx="29260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456432" y="1984248"/>
            <a:ext cx="91" cy="14630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364992" y="2130552"/>
            <a:ext cx="1828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816352" y="2148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56432" y="2587752"/>
            <a:ext cx="91" cy="219456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06140" y="2756916"/>
            <a:ext cx="100584" cy="1005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456432" y="2807208"/>
            <a:ext cx="56692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3529584" y="2569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4078224" y="2697480"/>
            <a:ext cx="630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号脚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456432" y="2807208"/>
            <a:ext cx="91" cy="237744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419856" y="3008376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419856" y="3447288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3456432" y="3044952"/>
            <a:ext cx="91" cy="438912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816352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簧片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767328" y="30815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0721" y="3164921"/>
            <a:ext cx="180685" cy="180685"/>
          </a:xfrm>
          <a:prstGeom prst="rect">
            <a:avLst/>
          </a:prstGeom>
        </p:spPr>
      </p:pic>
      <p:sp>
        <p:nvSpPr>
          <p:cNvPr id="49" name="Shape 45"/>
          <p:cNvSpPr/>
          <p:nvPr/>
        </p:nvSpPr>
        <p:spPr>
          <a:xfrm>
            <a:off x="3456432" y="3483864"/>
            <a:ext cx="91" cy="237744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273552" y="3721608"/>
            <a:ext cx="365760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337560" y="3794760"/>
            <a:ext cx="237744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401568" y="3867912"/>
            <a:ext cx="109728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712464" y="3685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2889504" y="4032504"/>
            <a:ext cx="1764792" cy="40233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889504" y="4032504"/>
            <a:ext cx="1764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约 0V → 读到 0</a:t>
            </a:r>
            <a:endParaRPr lang="en-US" sz="1200" dirty="0"/>
          </a:p>
        </p:txBody>
      </p:sp>
      <p:sp>
        <p:nvSpPr>
          <p:cNvPr id="56" name="Text 52"/>
          <p:cNvSpPr txBox="1"/>
          <p:nvPr/>
        </p:nvSpPr>
        <p:spPr>
          <a:xfrm>
            <a:off x="5120640" y="12344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为什么“有磁铁”反而是 0？</a:t>
            </a:r>
            <a:endParaRPr lang="en-US" sz="1400" dirty="0"/>
          </a:p>
        </p:txBody>
      </p:sp>
      <p:sp>
        <p:nvSpPr>
          <p:cNvPr id="57" name="Text 53"/>
          <p:cNvSpPr txBox="1"/>
          <p:nvPr/>
        </p:nvSpPr>
        <p:spPr>
          <a:xfrm>
            <a:off x="5120640" y="1581912"/>
            <a:ext cx="3611880" cy="654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模块里有一个电阻把 OUT 接到 5V，叫“上拉”。簧片断开时，OUT 被拉成高电平；簧片一吸合，OUT 直接连到 GND，变成低电平。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511076"/>
          <a:ext cx="3611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118872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磁铁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簧片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OUT 电平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digitalRead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远离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断开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高（约 5V）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靠近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吸合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低（约 0V）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9" name="Shape 54"/>
          <p:cNvSpPr/>
          <p:nvPr/>
        </p:nvSpPr>
        <p:spPr>
          <a:xfrm>
            <a:off x="5120640" y="3718084"/>
            <a:ext cx="3611880" cy="853916"/>
          </a:xfrm>
          <a:prstGeom prst="roundRect">
            <a:avLst>
              <a:gd name="adj" fmla="val 1285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5266944" y="397130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337" y="4054699"/>
            <a:ext cx="180685" cy="180685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5742432" y="3718084"/>
            <a:ext cx="2880360" cy="853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记住“低电平有效”：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有磁铁 = 0，没磁铁 = 1，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所以程序里写 if(val==0)。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三个模块各管一件事：磁簧开关负责“听”，LED 和蜂鸣器负责“说”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组件清单（原指南）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645920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173736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356" y="1816364"/>
            <a:ext cx="171176" cy="171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8408" y="164592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788920" y="1645920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07792" y="173736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796" y="1816364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55848" y="1645920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11480" y="2432304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0352" y="2523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56" y="2602748"/>
            <a:ext cx="171176" cy="171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78408" y="243230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2788920" y="2432304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2907792" y="2523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796" y="2602748"/>
            <a:ext cx="171176" cy="1711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355848" y="2432304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 ×1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411480" y="3218688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30352" y="331012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56" y="3389132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78408" y="321868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×1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2788920" y="3218688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2907792" y="331012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6796" y="3389132"/>
            <a:ext cx="171176" cy="17117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355848" y="3218688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 ×1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411480" y="4005072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30352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356" y="4175516"/>
            <a:ext cx="171176" cy="171176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78408" y="400507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2788920" y="4005072"/>
            <a:ext cx="21031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1A9E92"/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2907792" y="4096512"/>
            <a:ext cx="329184" cy="3291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6796" y="4175516"/>
            <a:ext cx="171176" cy="171176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3355848" y="400507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另备：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一块小磁铁</a:t>
            </a:r>
            <a:endParaRPr lang="en-US" sz="1250" dirty="0"/>
          </a:p>
        </p:txBody>
      </p:sp>
      <p:sp>
        <p:nvSpPr>
          <p:cNvPr id="39" name="Shape 28"/>
          <p:cNvSpPr/>
          <p:nvPr/>
        </p:nvSpPr>
        <p:spPr>
          <a:xfrm>
            <a:off x="5257800" y="1234440"/>
            <a:ext cx="347472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5422392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4564" y="1491204"/>
            <a:ext cx="199705" cy="199705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934456" y="13990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小磁簧开关模块</a:t>
            </a:r>
            <a:endParaRPr lang="en-US" sz="1400" dirty="0"/>
          </a:p>
        </p:txBody>
      </p:sp>
      <p:sp>
        <p:nvSpPr>
          <p:cNvPr id="43" name="Shape 31"/>
          <p:cNvSpPr/>
          <p:nvPr/>
        </p:nvSpPr>
        <p:spPr>
          <a:xfrm>
            <a:off x="7325360" y="1481328"/>
            <a:ext cx="455168" cy="2413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4" name="Text 32"/>
          <p:cNvSpPr txBox="1"/>
          <p:nvPr/>
        </p:nvSpPr>
        <p:spPr>
          <a:xfrm>
            <a:off x="7325360" y="1481328"/>
            <a:ext cx="45516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</a:t>
            </a:r>
            <a:endParaRPr lang="en-US" sz="1000" dirty="0"/>
          </a:p>
        </p:txBody>
      </p:sp>
      <p:sp>
        <p:nvSpPr>
          <p:cNvPr id="45" name="Text 33"/>
          <p:cNvSpPr txBox="1"/>
          <p:nvPr/>
        </p:nvSpPr>
        <p:spPr>
          <a:xfrm>
            <a:off x="5934456" y="1801368"/>
            <a:ext cx="263347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感知磁铁，用 0 / 1 告诉 Arduino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5257800" y="2438400"/>
            <a:ext cx="347472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5422392" y="2602992"/>
            <a:ext cx="384048" cy="384048"/>
          </a:xfrm>
          <a:prstGeom prst="ellipse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4564" y="2695164"/>
            <a:ext cx="199705" cy="19970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5934456" y="2602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</a:t>
            </a:r>
            <a:endParaRPr lang="en-US" sz="1400" dirty="0"/>
          </a:p>
        </p:txBody>
      </p:sp>
      <p:sp>
        <p:nvSpPr>
          <p:cNvPr id="50" name="Shape 37"/>
          <p:cNvSpPr/>
          <p:nvPr/>
        </p:nvSpPr>
        <p:spPr>
          <a:xfrm>
            <a:off x="6834632" y="2685288"/>
            <a:ext cx="455168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1" name="Text 38"/>
          <p:cNvSpPr txBox="1"/>
          <p:nvPr/>
        </p:nvSpPr>
        <p:spPr>
          <a:xfrm>
            <a:off x="6834632" y="2685288"/>
            <a:ext cx="45516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000" dirty="0"/>
          </a:p>
        </p:txBody>
      </p:sp>
      <p:sp>
        <p:nvSpPr>
          <p:cNvPr id="52" name="Text 39"/>
          <p:cNvSpPr txBox="1"/>
          <p:nvPr/>
        </p:nvSpPr>
        <p:spPr>
          <a:xfrm>
            <a:off x="5934456" y="3005328"/>
            <a:ext cx="263347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号脚给高电平，灯就亮</a:t>
            </a:r>
            <a:endParaRPr lang="en-US" sz="1200" dirty="0"/>
          </a:p>
        </p:txBody>
      </p:sp>
      <p:sp>
        <p:nvSpPr>
          <p:cNvPr id="53" name="Shape 40"/>
          <p:cNvSpPr/>
          <p:nvPr/>
        </p:nvSpPr>
        <p:spPr>
          <a:xfrm>
            <a:off x="5257800" y="3642360"/>
            <a:ext cx="347472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5422392" y="3806952"/>
            <a:ext cx="384048" cy="384048"/>
          </a:xfrm>
          <a:prstGeom prst="ellipse">
            <a:avLst/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4564" y="3899124"/>
            <a:ext cx="199705" cy="199705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5934456" y="38069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</a:t>
            </a:r>
            <a:endParaRPr lang="en-US" sz="1400" dirty="0"/>
          </a:p>
        </p:txBody>
      </p:sp>
      <p:sp>
        <p:nvSpPr>
          <p:cNvPr id="57" name="Shape 43"/>
          <p:cNvSpPr/>
          <p:nvPr/>
        </p:nvSpPr>
        <p:spPr>
          <a:xfrm>
            <a:off x="6969760" y="3889248"/>
            <a:ext cx="455168" cy="24130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6969760" y="3889248"/>
            <a:ext cx="45516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</a:t>
            </a:r>
            <a:endParaRPr lang="en-US" sz="1000" dirty="0"/>
          </a:p>
        </p:txBody>
      </p:sp>
      <p:sp>
        <p:nvSpPr>
          <p:cNvPr id="59" name="Text 45"/>
          <p:cNvSpPr txBox="1"/>
          <p:nvPr/>
        </p:nvSpPr>
        <p:spPr>
          <a:xfrm>
            <a:off x="5934456" y="4209288"/>
            <a:ext cx="2633472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号脚给高电平，它就响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照原指南三张表接线：开关信号进 12 号脚，LED 模块接 11，蜂鸣器接 13，GND 都接 UNO 的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4358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435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1234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小磁簧开关（输入）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81912"/>
          <a:ext cx="2560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小磁簧开关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VCC(R)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GND(G)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OUT(Y)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91840" y="124358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91840" y="12435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3630168" y="1234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模块（输出）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581912"/>
          <a:ext cx="2560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模块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172200" y="1243584"/>
            <a:ext cx="246888" cy="24688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172200" y="124358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510528" y="1234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有源蜂鸣器（输出）</a:t>
            </a:r>
            <a:endParaRPr lang="en-US" sz="13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81912"/>
          <a:ext cx="25603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有源蜂鸣器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411480" y="3118104"/>
            <a:ext cx="2560320" cy="1453896"/>
          </a:xfrm>
          <a:prstGeom prst="roundRect">
            <a:avLst>
              <a:gd name="adj" fmla="val 75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94360" y="32826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3361700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051560" y="32826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模块上的标记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94360" y="3703320"/>
            <a:ext cx="2194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模块上印的 S 就是 OUT，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中间脚是 VCC，− 是 GND。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3291840" y="3118104"/>
            <a:ext cx="2560320" cy="1453896"/>
          </a:xfrm>
          <a:prstGeom prst="roundRect">
            <a:avLst>
              <a:gd name="adj" fmla="val 75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3474720" y="32826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24" y="3361700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3931920" y="32826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图里用 RGB 灯模块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3474720" y="3703320"/>
            <a:ext cx="2194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接线图用 RGB 灯模块代替，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号脚接它的 R 脚，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所以亮的是红灯。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172200" y="3118104"/>
            <a:ext cx="2560320" cy="1453896"/>
          </a:xfrm>
          <a:prstGeom prst="roundRect">
            <a:avLst>
              <a:gd name="adj" fmla="val 75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355080" y="328269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84" y="3361700"/>
            <a:ext cx="171176" cy="17117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812280" y="32826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蜂鸣器分正负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6355080" y="3703320"/>
            <a:ext cx="2194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脚（接线图里的红线头）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 13，另一脚接 GND。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接线图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从上到下找三个模块：上 RGB 灯模块、中 磁簧开关、下 蜂鸣器；黄线是信号，红线 5V，黑线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122" y="1344168"/>
            <a:ext cx="3572357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9160" y="123444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55464" y="153466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55464" y="1534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276088" y="1307592"/>
            <a:ext cx="12801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RGB 灯模块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 LED 模块用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665976" y="145237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→ R 脚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665976" y="169926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 → − 脚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09160" y="243840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55464" y="2738628"/>
            <a:ext cx="329184" cy="3291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55464" y="27386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276088" y="2511552"/>
            <a:ext cx="12801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小磁簧开关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665976" y="253288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→ S 脚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665976" y="277977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5V → 中间脚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665976" y="3026664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 → − 脚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09160" y="364236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55464" y="394258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855464" y="39425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5276088" y="3715512"/>
            <a:ext cx="1280160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65976" y="386029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→ + 脚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665976" y="410718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黑线　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GND → − 脚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新语法①：digitalRead() 与 Serial.println()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digitalRead() 问开关“通了没有”，只回答 0 或 1；Serial.println() 把答案显示在电脑上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digitalRead(引脚)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911096"/>
            <a:ext cx="36347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像问开关一句：“你现在通了没有？”它只回答两种：1（高电平）或 0（低电平）。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475675"/>
            <a:ext cx="3634740" cy="556260"/>
          </a:xfrm>
          <a:prstGeom prst="roundRect">
            <a:avLst>
              <a:gd name="adj" fmla="val 131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" y="256711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当“耳朵”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40664" y="275380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 或 1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214814"/>
          <a:ext cx="36347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914400"/>
                <a:gridCol w="12115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函数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回答什么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适合读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digitalRead()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或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开关、按键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analogRead()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0～1023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旋钮、光线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94360" y="4147503"/>
            <a:ext cx="36347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一个读“有没有”，一个读“有多少”（1-2 课）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3202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91490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072" y="1491204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26964" y="1399032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Serial.println(val)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914900" y="1911096"/>
            <a:ext cx="36347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串口是 Arduino 和电脑聊天的窗口。把 val 打印出来，看不见的开关状态就“看得见”了。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914900" y="2457387"/>
            <a:ext cx="36347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933188" y="2475675"/>
            <a:ext cx="359816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042916" y="2493963"/>
            <a:ext cx="2180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732270" y="2493963"/>
            <a:ext cx="1689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097780" y="287801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097780" y="306089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097780" y="324377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097780" y="342665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5097780" y="360953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600700" y="2878010"/>
            <a:ext cx="2839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没有磁铁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5600700" y="3243770"/>
            <a:ext cx="2839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磁铁靠近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600700" y="3609530"/>
            <a:ext cx="28392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磁铁拿开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4914900" y="4048443"/>
            <a:ext cx="3634740" cy="432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打印完自动换行；打开方法：IDE 右上角放大镜图标，波特率选 9600。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新语法②：if / else 与 ==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 是程序里的岔路口：条件成立走一条路，不成立走另一条；比较“相等”要写两个等号 ==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148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像走到岔路口看路牌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92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路牌上写着条件：成立就走左边，不成立就走右边，两条路只能选一条。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600200" y="2423160"/>
            <a:ext cx="1737360" cy="676656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600200" y="2423160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 0 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 flipH="1">
            <a:off x="1371600" y="2761488"/>
            <a:ext cx="22860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71600" y="2761488"/>
            <a:ext cx="91" cy="667512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337560" y="2761488"/>
            <a:ext cx="22860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66160" y="2761488"/>
            <a:ext cx="91" cy="667512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1444752" y="28163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2907792" y="2816352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不成立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4290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4944" y="342900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里的代码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灯亮、蜂鸣器响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834640" y="34290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889504" y="3429000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里的代码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全部关掉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594360" y="4160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可以不写：不写就是“不成立时什么也不做”。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846320" y="1234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写法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846320" y="1563624"/>
            <a:ext cx="3886200" cy="1205230"/>
          </a:xfrm>
          <a:prstGeom prst="roundRect">
            <a:avLst>
              <a:gd name="adj" fmla="val 607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992624" y="165506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(条件) {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4992624" y="185953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条件成立：做这里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4992624" y="206400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9" name="Text 25"/>
          <p:cNvSpPr txBox="1"/>
          <p:nvPr/>
        </p:nvSpPr>
        <p:spPr>
          <a:xfrm>
            <a:off x="4992624" y="226847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不成立：做这里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4992624" y="2472944"/>
            <a:ext cx="359359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46320" y="3043174"/>
            <a:ext cx="1805940" cy="1528826"/>
          </a:xfrm>
          <a:prstGeom prst="roundRect">
            <a:avLst>
              <a:gd name="adj" fmla="val 717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992624" y="3189478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239" y="3264093"/>
            <a:ext cx="161666" cy="16166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394960" y="3189478"/>
            <a:ext cx="1165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 0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4992624" y="3610102"/>
            <a:ext cx="1513332" cy="8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两个等号是“比较”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问一句：val 等于 0 吗？答案只有“是”或“不是”。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6926580" y="3043174"/>
            <a:ext cx="1805940" cy="1528826"/>
          </a:xfrm>
          <a:prstGeom prst="roundRect">
            <a:avLst>
              <a:gd name="adj" fmla="val 7177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072884" y="3189478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499" y="3264093"/>
            <a:ext cx="161666" cy="16166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475220" y="3189478"/>
            <a:ext cx="1165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0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7072884" y="3610102"/>
            <a:ext cx="1513332" cy="870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一个等号是“赋值”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0 放进 val！写成 if(val=0)，条件永远不成立。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先准备四个“盒子”记住引脚号和读数，再在 setup() 里告诉 Arduino 谁是输入、谁是输出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reed_switch.ino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984248" y="129844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1–11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6016" y="1545336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1743964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4396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56016" y="1743964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7200" y="1942592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4259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56016" y="1942592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14122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6016" y="2141220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33984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856016" y="2339848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53847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56016" y="2538476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737104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56016" y="2737104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935732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6016" y="2935732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3134360"/>
            <a:ext cx="3840480" cy="198628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3134360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56016" y="3134360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332988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56016" y="3332988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531616"/>
            <a:ext cx="228597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856016" y="3531616"/>
            <a:ext cx="3359368" cy="19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466344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66344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6344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1–3 行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5478272" y="1591056"/>
            <a:ext cx="325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给三个引脚起名字：11、13、12 号脚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663440" y="213080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663440" y="213080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333492" y="2121662"/>
            <a:ext cx="3399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val：装读数的盒子，先放一个 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663440" y="245999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663440" y="245999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 行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5333492" y="2450846"/>
            <a:ext cx="3399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setup()：通电后只运行一次，做准备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663440" y="2789174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663440" y="2789174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5478272" y="2780030"/>
            <a:ext cx="325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LED、蜂鸣器设为输出：Arduino 去“说”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663440" y="3123946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663440" y="3123946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5333492" y="3114802"/>
            <a:ext cx="3399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磁簧开关设为输入：Arduino 去“听”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4663440" y="345313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663440" y="345313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5410708" y="3443986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打开串口，速度 9600，准备和电脑聊天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4663440" y="3946906"/>
            <a:ext cx="4069080" cy="625094"/>
          </a:xfrm>
          <a:prstGeom prst="roundRect">
            <a:avLst>
              <a:gd name="adj" fmla="val 175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809744" y="409321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748" y="4172214"/>
            <a:ext cx="171176" cy="171176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5266944" y="4084066"/>
            <a:ext cx="3319272" cy="34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起名字的好处：换引脚时只改第 1–3 行，下面的代码一字不动。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代码逐行看懂（2/2）：读、打印、判断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不停地重复三件事：读开关、把读数打印出来、按读数决定灯和蜂鸣器开还是关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reed_switch.ino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984248" y="129844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12–26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2254" y="1545336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42254" y="1735328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25320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42254" y="1925320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115312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305304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42254" y="2305304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42254" y="2495296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42254" y="2875280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42254" y="3065272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255264"/>
            <a:ext cx="384048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445256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635248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825240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4015232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4205224"/>
            <a:ext cx="337313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663440" y="12344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4663440" y="160020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663440" y="160020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5410708" y="1591056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loop()：里面的代码一遍又一遍地重复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663440" y="191109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663440" y="191109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410708" y="1901952"/>
            <a:ext cx="332181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12 号脚，结果存进 val：有磁铁是 0，没有磁铁是 1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4663440" y="238353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663440" y="238353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15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5410708" y="2374392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val 打印到串口，一行一个数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4663440" y="269443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4663440" y="269443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5410708" y="2685288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岔路口：val 等于 0 吗？（== 是比较）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4663440" y="3005328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663440" y="3005328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18–19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5632704" y="2996184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成立（有磁铁）：LED 亮、蜂鸣器响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663440" y="3316224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663440" y="3316224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21 行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5410708" y="3307080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否则（val 是 1，没有磁铁）……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4663440" y="362712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4663440" y="362712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23–24 行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5632704" y="3617976"/>
            <a:ext cx="3099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……LED 灭、蜂鸣器停</a:t>
            </a:r>
            <a:endParaRPr lang="en-US" sz="1200" dirty="0"/>
          </a:p>
        </p:txBody>
      </p:sp>
      <p:sp>
        <p:nvSpPr>
          <p:cNvPr id="65" name="Shape 62"/>
          <p:cNvSpPr/>
          <p:nvPr/>
        </p:nvSpPr>
        <p:spPr>
          <a:xfrm>
            <a:off x="4663440" y="4190492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4663440" y="4190492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26 行</a:t>
            </a:r>
            <a:endParaRPr lang="en-US" sz="950" dirty="0"/>
          </a:p>
        </p:txBody>
      </p:sp>
      <p:sp>
        <p:nvSpPr>
          <p:cNvPr id="67" name="Text 64"/>
          <p:cNvSpPr txBox="1"/>
          <p:nvPr/>
        </p:nvSpPr>
        <p:spPr>
          <a:xfrm>
            <a:off x="5410708" y="4181348"/>
            <a:ext cx="33218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 结束，马上回到第 12 行再来一遍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程序流程图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把程序画成路线图：setup() 只走一次，loop() 一圈圈地“读 → 判断 → 输出”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图例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" y="1581912"/>
            <a:ext cx="384048" cy="237744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6968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1480" y="1965960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86968" y="19659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做一件事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331720"/>
            <a:ext cx="384048" cy="27432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86968" y="2350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做判断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48840" y="126187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4884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开始（通电）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926080" y="1627632"/>
            <a:ext cx="91" cy="201168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874520" y="182880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29384" y="18288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　只做一次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设引脚、开串口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926080" y="2395728"/>
            <a:ext cx="91" cy="219456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1874520" y="2615184"/>
            <a:ext cx="2103120" cy="603504"/>
          </a:xfrm>
          <a:prstGeom prst="roundRect">
            <a:avLst>
              <a:gd name="adj" fmla="val 12121"/>
            </a:avLst>
          </a:prstGeom>
          <a:solidFill>
            <a:srgbClr val="F5F5F5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929384" y="26151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 digitalRead(12)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并打印到串口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926080" y="3218688"/>
            <a:ext cx="91" cy="219456"/>
          </a:xfrm>
          <a:prstGeom prst="line">
            <a:avLst/>
          </a:prstGeom>
          <a:noFill/>
          <a:ln w="15875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1874520" y="3438144"/>
            <a:ext cx="2103120" cy="84124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74520" y="3438144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== 0 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977640" y="3858768"/>
            <a:ext cx="41148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4023360" y="3566160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89120" y="3557016"/>
            <a:ext cx="1554480" cy="603504"/>
          </a:xfrm>
          <a:prstGeom prst="roundRect">
            <a:avLst>
              <a:gd name="adj" fmla="val 12121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443984" y="3557016"/>
            <a:ext cx="1444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亮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蜂鸣器响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 flipH="1">
            <a:off x="1508760" y="3858768"/>
            <a:ext cx="36576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1545336" y="35661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11480" y="3557016"/>
            <a:ext cx="1097280" cy="603504"/>
          </a:xfrm>
          <a:prstGeom prst="roundRect">
            <a:avLst>
              <a:gd name="adj" fmla="val 12121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6344" y="3557016"/>
            <a:ext cx="987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灭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蜂鸣器停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 flipV="1">
            <a:off x="5166360" y="2916936"/>
            <a:ext cx="91" cy="640080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H="1">
            <a:off x="3977640" y="2916936"/>
            <a:ext cx="1188720" cy="91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V="1">
            <a:off x="960120" y="2916936"/>
            <a:ext cx="91" cy="640080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0120" y="2916936"/>
            <a:ext cx="914400" cy="91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4087368" y="26243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 loop() 开头，重复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355080" y="1234440"/>
            <a:ext cx="2377440" cy="333756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37960" y="1362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对照代码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537960" y="1746504"/>
            <a:ext cx="85140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537960" y="1746504"/>
            <a:ext cx="85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5–11 行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19933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setup()：只做一次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537960" y="2295144"/>
            <a:ext cx="93268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537960" y="2295144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14–15 行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537960" y="2542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读开关、打印读数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537960" y="2843784"/>
            <a:ext cx="69900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537960" y="2843784"/>
            <a:ext cx="699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537960" y="3090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 val 是不是 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537960" y="3392424"/>
            <a:ext cx="93268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537960" y="3392424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18–19 行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6537960" y="3639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是：LED 亮、蜂鸣器响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6537960" y="3941064"/>
            <a:ext cx="932688" cy="228600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537960" y="3941064"/>
            <a:ext cx="932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23–24 行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6537960" y="4187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否：LED 灭、蜂鸣器停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磁铁靠近：开关输出低电平，LED 灯亮、蜂鸣器响；磁铁拿开：全部停下，串口里的数字跟着变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2628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图：磁铁靠近磁簧开关，RGB 灯亮红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728" y="1344168"/>
            <a:ext cx="3971784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306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原指南实物图：磁铁靠近磁簧开关，RGB 灯亮红光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57800" y="1234440"/>
            <a:ext cx="3474720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276088" y="1252728"/>
            <a:ext cx="343814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385816" y="127101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串口监视器（示意）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995160" y="1271016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1655064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440680" y="1857629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40680" y="2060194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40680" y="2262759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440680" y="2465324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440680" y="2667889"/>
            <a:ext cx="457200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5897880" y="1655064"/>
            <a:ext cx="2724912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没有磁铁：灯灭、不响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897880" y="2060194"/>
            <a:ext cx="2724912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磁铁靠近：灯亮、响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897880" y="2465324"/>
            <a:ext cx="2724912" cy="202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磁铁拿开：全部停下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257800" y="3209544"/>
            <a:ext cx="3474720" cy="1362456"/>
          </a:xfrm>
          <a:prstGeom prst="roundRect">
            <a:avLst>
              <a:gd name="adj" fmla="val 805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04104" y="335584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108" y="3434852"/>
            <a:ext cx="171176" cy="17117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861304" y="3346704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原指南结论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861304" y="3657600"/>
            <a:ext cx="2724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用一个磁铁靠近小磁簧开关，会使得小磁簧开关输出低电平，从而点亮 LED 灯，蜂鸣器响。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更方便的接法：Sensor V5.0 扩展板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扩展板把每个引脚都做成 G · V · S 三针一排，模块用杜邦线直插，不用面包板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514600" cy="3337560"/>
          </a:xfrm>
          <a:prstGeom prst="roundRect">
            <a:avLst>
              <a:gd name="adj" fmla="val 43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扩展板接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61" y="1344168"/>
            <a:ext cx="2132838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原指南：扩展板接法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46120" y="1234440"/>
            <a:ext cx="5486400" cy="713232"/>
          </a:xfrm>
          <a:prstGeom prst="roundRect">
            <a:avLst>
              <a:gd name="adj" fmla="val 1538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9242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2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849624" y="1371600"/>
            <a:ext cx="4736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原指南：如果你的套件中有 Sensor V5.0 的扩展板，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按照下图（即左图）接线，更加方便。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3246120" y="2221992"/>
            <a:ext cx="1645920" cy="1481328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29000" y="23865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8004" y="2465588"/>
            <a:ext cx="171176" cy="17117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86200" y="23865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三针一排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429000" y="282549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每个数字脚旁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都有 G、V、S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三根针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166360" y="2221992"/>
            <a:ext cx="1645920" cy="1481328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349240" y="23865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244" y="2465588"/>
            <a:ext cx="171176" cy="17117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806440" y="23865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349240" y="282549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模块用杜邦线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直接插上，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不用面包板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086600" y="2221992"/>
            <a:ext cx="1645920" cy="1481328"/>
          </a:xfrm>
          <a:prstGeom prst="roundRect">
            <a:avLst>
              <a:gd name="adj" fmla="val 740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269480" y="23865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484" y="2465588"/>
            <a:ext cx="171176" cy="17117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726680" y="238658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不改程序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7269480" y="2825496"/>
            <a:ext cx="1280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引脚号不变：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13、12、11，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代码不用改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3246120" y="3977640"/>
            <a:ext cx="5486400" cy="594360"/>
          </a:xfrm>
          <a:prstGeom prst="roundRect">
            <a:avLst>
              <a:gd name="adj" fmla="val 1846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392424" y="4110228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428" y="4189232"/>
            <a:ext cx="171176" cy="171176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849624" y="397764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对准排针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4764024" y="3977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磁簧开关：G 接 −，V 接中间脚，S 接 S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LED、蜂鸣器：+ 接 S，− 接 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拓展与小结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常见问题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排查口诀：先看串口，再查接线——串口里的 0 / 1 会告诉你问题出在输入还是输出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排查步骤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655064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655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1645920"/>
            <a:ext cx="211226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打开串口监视器，盯住 val 的值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1480" y="2311083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23110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13816" y="2301939"/>
            <a:ext cx="211226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拿磁铁靠近、拿开，看 0 / 1 变不变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11480" y="2967101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296710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13816" y="2957957"/>
            <a:ext cx="2112264" cy="454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会变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输入正常，去查灯和蜂鸣器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11480" y="362312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" y="362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" y="3651139"/>
            <a:ext cx="2112264" cy="236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不变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去查磁簧开关的接线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246120" y="123444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10712" y="139903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5327" y="1473647"/>
            <a:ext cx="161666" cy="16166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831336" y="13990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磁铁靠近没反应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3410712" y="181965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接在 12 号脚了吗？磁铁要贴近玻璃管、顺着管子方向放，离远了吸不动。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26480" y="123444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291072" y="139903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87" y="1473647"/>
            <a:ext cx="161666" cy="16166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711696" y="139903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一直亮、一直响</a:t>
            </a:r>
            <a:endParaRPr lang="en-US" sz="1350" dirty="0"/>
          </a:p>
        </p:txBody>
      </p:sp>
      <p:sp>
        <p:nvSpPr>
          <p:cNvPr id="28" name="Text 23"/>
          <p:cNvSpPr txBox="1"/>
          <p:nvPr/>
        </p:nvSpPr>
        <p:spPr>
          <a:xfrm>
            <a:off x="6291072" y="181965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串口一直是 0？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先查模块中间脚有没有接 5V，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再看旁边有没有别的磁铁，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最后核对程序里的引脚号。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246120" y="304038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410712" y="32049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327" y="3279587"/>
            <a:ext cx="161666" cy="16166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3831336" y="32049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读数乱跳、灯忽亮忽灭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3410712" y="362559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号脚的信号线没插牢时，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引脚“悬空”，读数会乱跳。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把信号线重新插紧就好。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6126480" y="3040380"/>
            <a:ext cx="2606040" cy="1531620"/>
          </a:xfrm>
          <a:prstGeom prst="roundRect">
            <a:avLst>
              <a:gd name="adj" fmla="val 716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6291072" y="3204972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687" y="3279587"/>
            <a:ext cx="161666" cy="16166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711696" y="3204972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串口乱码、刷屏太快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6291072" y="3625596"/>
            <a:ext cx="2276856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波特率选 9600，和程序一致。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嫌刷得太快，可在 loop() 末尾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临时加一句 delay(200)。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拓展与小结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改一个数字、加几行代码，同一套硬件就能变成门磁报警器和“滴滴”提醒器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177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1　门磁报警器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929384"/>
            <a:ext cx="3634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门关着：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磁铁贴着开关 → val 是 0，安静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门打开：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磁铁离开 → val 是 1 → 报警！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587752"/>
            <a:ext cx="3634740" cy="574040"/>
          </a:xfrm>
          <a:prstGeom prst="roundRect">
            <a:avLst>
              <a:gd name="adj" fmla="val 1274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" y="2679192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原来：磁铁靠近才响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874772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0664" y="2874772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改成：磁铁离开才响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" y="3308096"/>
            <a:ext cx="3634740" cy="658368"/>
          </a:xfrm>
          <a:prstGeom prst="roundRect">
            <a:avLst>
              <a:gd name="adj" fmla="val 1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0664" y="3454400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68" y="3533404"/>
            <a:ext cx="171176" cy="171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97864" y="3445256"/>
            <a:ext cx="28849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只改第 16 行的一个数字。把磁铁贴在门上、开关贴在门框上，就是真的门磁。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94360" y="4131056"/>
            <a:ext cx="3634740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想一想　</a:t>
            </a:r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冰箱门没关好就提醒，该用哪一种写法？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473202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1490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72" y="1491204"/>
            <a:ext cx="199705" cy="199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26964" y="1399032"/>
            <a:ext cx="3177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挑战 2　“滴滴”提醒声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914900" y="1929384"/>
            <a:ext cx="3634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把第 18–19 行的“长鸣”改成响一下、停一下：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914900" y="2331720"/>
            <a:ext cx="3634740" cy="1160780"/>
          </a:xfrm>
          <a:prstGeom prst="roundRect">
            <a:avLst>
              <a:gd name="adj" fmla="val 630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061204" y="242316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5061204" y="261874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960620" y="2814320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061204" y="281432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响 0.1 秒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960620" y="3009900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061204" y="300990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960620" y="3205480"/>
            <a:ext cx="354330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061204" y="3205480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停 0.1 秒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4914900" y="3693668"/>
            <a:ext cx="3634740" cy="741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一圈圈重复，就成了“滴滴滴”。把 100 改成 300 试试，节奏会怎样变？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拓展与小结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一条信号链串起整节课：磁铁 → 簧片吸合 → 读到 0 → if 判断 → 灯亮、蜂鸣器响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1234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一条信号链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691640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2104" y="1724438"/>
            <a:ext cx="323697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磁铁靠近，簧片被磁化、吸合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258568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148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32104" y="2291366"/>
            <a:ext cx="323697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接到 GND，digitalRead 读到 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825496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" y="2858294"/>
            <a:ext cx="323697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if(val==0) 成立，走进 if 这条路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3392424"/>
            <a:ext cx="292608" cy="29260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11480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" y="3425222"/>
            <a:ext cx="3236976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亮、蜂鸣器响；磁铁拿开就走 else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" y="3959352"/>
            <a:ext cx="3657600" cy="612648"/>
          </a:xfrm>
          <a:prstGeom prst="roundRect">
            <a:avLst>
              <a:gd name="adj" fmla="val 1791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57784" y="4091940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177" y="4175333"/>
            <a:ext cx="180685" cy="18068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33272" y="3959352"/>
            <a:ext cx="2926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调试口诀　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先看串口，再查接线。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343400" y="1234440"/>
            <a:ext cx="2194560" cy="166878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544568" y="1399032"/>
            <a:ext cx="1792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常开</a:t>
            </a:r>
            <a:endParaRPr lang="en-US" sz="2800" dirty="0"/>
          </a:p>
        </p:txBody>
      </p:sp>
      <p:sp>
        <p:nvSpPr>
          <p:cNvPr id="25" name="Text 21"/>
          <p:cNvSpPr txBox="1"/>
          <p:nvPr/>
        </p:nvSpPr>
        <p:spPr>
          <a:xfrm>
            <a:off x="4544568" y="1935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磁簧开关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544568" y="2282952"/>
            <a:ext cx="17922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平时断开，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磁铁靠近才吸合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37960" y="1234440"/>
            <a:ext cx="2194560" cy="1668780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39128" y="1399032"/>
            <a:ext cx="1792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 / 1</a:t>
            </a:r>
            <a:endParaRPr lang="en-US" sz="2800" dirty="0"/>
          </a:p>
        </p:txBody>
      </p:sp>
      <p:sp>
        <p:nvSpPr>
          <p:cNvPr id="29" name="Text 25"/>
          <p:cNvSpPr txBox="1"/>
          <p:nvPr/>
        </p:nvSpPr>
        <p:spPr>
          <a:xfrm>
            <a:off x="6739128" y="193548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739128" y="2282952"/>
            <a:ext cx="17922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数字输入只回答高或低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343400" y="2903220"/>
            <a:ext cx="2194560" cy="166878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544568" y="3067812"/>
            <a:ext cx="179222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if…else</a:t>
            </a:r>
            <a:endParaRPr lang="en-US" sz="2400" dirty="0"/>
          </a:p>
        </p:txBody>
      </p:sp>
      <p:sp>
        <p:nvSpPr>
          <p:cNvPr id="33" name="Text 29"/>
          <p:cNvSpPr txBox="1"/>
          <p:nvPr/>
        </p:nvSpPr>
        <p:spPr>
          <a:xfrm>
            <a:off x="4544568" y="360426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岔路口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4544568" y="3951732"/>
            <a:ext cx="17922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成立走 if，否则走 else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537960" y="2903220"/>
            <a:ext cx="2194560" cy="16687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739128" y="3067812"/>
            <a:ext cx="1792224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2800" dirty="0"/>
          </a:p>
        </p:txBody>
      </p:sp>
      <p:sp>
        <p:nvSpPr>
          <p:cNvPr id="37" name="Text 33"/>
          <p:cNvSpPr txBox="1"/>
          <p:nvPr/>
        </p:nvSpPr>
        <p:spPr>
          <a:xfrm>
            <a:off x="6739128" y="360426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比较不是赋值</a:t>
            </a:r>
            <a:endParaRPr lang="en-US" sz="1500" dirty="0"/>
          </a:p>
        </p:txBody>
      </p:sp>
      <p:sp>
        <p:nvSpPr>
          <p:cNvPr id="38" name="Text 34"/>
          <p:cNvSpPr txBox="1"/>
          <p:nvPr/>
        </p:nvSpPr>
        <p:spPr>
          <a:xfrm>
            <a:off x="6739128" y="3951732"/>
            <a:ext cx="179222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比较相等用 ==，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赋值才用 =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磁铁一靠近，Arduino 就知道了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把磁簧开关藏进你的设计：门、抽屉、盒盖……都能变得会“说话”。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2-1 开关传感器实验：小磁簧开关模块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2026-10-12T09:45:17Z</dcterms:created>
  <dcterms:modified xsi:type="dcterms:W3CDTF">2026-10-12T09:45:17Z</dcterms:modified>
</cp:coreProperties>
</file>