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jpeg"/><Relationship Id="rId3" Type="http://schemas.openxmlformats.org/officeDocument/2006/relationships/image" Target="../media/image-4-3.jpeg"/><Relationship Id="rId4" Type="http://schemas.openxmlformats.org/officeDocument/2006/relationships/image" Target="../media/image-4-4.jpe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image" Target="../media/image-6-5.jpeg"/><Relationship Id="rId6" Type="http://schemas.openxmlformats.org/officeDocument/2006/relationships/image" Target="../media/image-6-6.jpeg"/><Relationship Id="rId7" Type="http://schemas.openxmlformats.org/officeDocument/2006/relationships/image" Target="../media/image-6-7.jpeg"/><Relationship Id="rId8" Type="http://schemas.openxmlformats.org/officeDocument/2006/relationships/image" Target="../media/image-6-8.jpeg"/><Relationship Id="rId9" Type="http://schemas.openxmlformats.org/officeDocument/2006/relationships/image" Target="../media/image-6-9.jpe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image" Target="../media/image-12-4.jpe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image" Target="../media/image-13-5.jpe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image" Target="../media/image-15-5.jpeg"/><Relationship Id="rId6" Type="http://schemas.openxmlformats.org/officeDocument/2006/relationships/image" Target="../media/image-15-6.jpe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jpeg"/><Relationship Id="rId3" Type="http://schemas.openxmlformats.org/officeDocument/2006/relationships/image" Target="../media/image-16-3.jpeg"/><Relationship Id="rId4" Type="http://schemas.openxmlformats.org/officeDocument/2006/relationships/image" Target="../media/image-16-4.jpe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image" Target="../media/image-18-3.jpeg"/><Relationship Id="rId4" Type="http://schemas.openxmlformats.org/officeDocument/2006/relationships/image" Target="../media/image-18-4.jpe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jpe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e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eg"/><Relationship Id="rId2" Type="http://schemas.openxmlformats.org/officeDocument/2006/relationships/image" Target="../media/image-30-2.jpeg"/><Relationship Id="rId3" Type="http://schemas.openxmlformats.org/officeDocument/2006/relationships/image" Target="../media/image-30-3.jpeg"/><Relationship Id="rId4" Type="http://schemas.openxmlformats.org/officeDocument/2006/relationships/slideLayout" Target="../slideLayouts/slideLayout1.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jpeg"/><Relationship Id="rId3" Type="http://schemas.openxmlformats.org/officeDocument/2006/relationships/image" Target="../media/image-32-3.jpeg"/><Relationship Id="rId4" Type="http://schemas.openxmlformats.org/officeDocument/2006/relationships/image" Target="../media/image-32-4.jpeg"/><Relationship Id="rId5" Type="http://schemas.openxmlformats.org/officeDocument/2006/relationships/image" Target="../media/image-32-5.jpeg"/><Relationship Id="rId6" Type="http://schemas.openxmlformats.org/officeDocument/2006/relationships/image" Target="../media/image-32-6.jpeg"/><Relationship Id="rId7" Type="http://schemas.openxmlformats.org/officeDocument/2006/relationships/image" Target="../media/image-32-7.jpeg"/><Relationship Id="rId8" Type="http://schemas.openxmlformats.org/officeDocument/2006/relationships/image" Target="../media/image-32-8.jpeg"/><Relationship Id="rId9" Type="http://schemas.openxmlformats.org/officeDocument/2006/relationships/image" Target="../media/image-32-9.jpeg"/><Relationship Id="rId10" Type="http://schemas.openxmlformats.org/officeDocument/2006/relationships/image" Target="../media/image-32-10.jpeg"/><Relationship Id="rId11" Type="http://schemas.openxmlformats.org/officeDocument/2006/relationships/slideLayout" Target="../slideLayouts/slideLayout1.xml"/><Relationship Id="rId1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e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e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eg"/><Relationship Id="rId2" Type="http://schemas.openxmlformats.org/officeDocument/2006/relationships/image" Target="../media/image-38-2.jpe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e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e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e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e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e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e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e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eg"/><Relationship Id="rId2" Type="http://schemas.openxmlformats.org/officeDocument/2006/relationships/image" Target="../media/image-49-2.jpe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jpe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jpe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jpe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e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jpeg"/><Relationship Id="rId2" Type="http://schemas.openxmlformats.org/officeDocument/2006/relationships/image" Target="../media/image-54-2.jpe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jpe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jpe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jpe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eg"/><Relationship Id="rId2" Type="http://schemas.openxmlformats.org/officeDocument/2006/relationships/image" Target="../media/image-63-2.jpeg"/><Relationship Id="rId3" Type="http://schemas.openxmlformats.org/officeDocument/2006/relationships/image" Target="../media/image-63-3.jpeg"/><Relationship Id="rId4" Type="http://schemas.openxmlformats.org/officeDocument/2006/relationships/slideLayout" Target="../slideLayouts/slideLayout1.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jpeg"/><Relationship Id="rId2" Type="http://schemas.openxmlformats.org/officeDocument/2006/relationships/image" Target="../media/image-64-2.jpeg"/><Relationship Id="rId3" Type="http://schemas.openxmlformats.org/officeDocument/2006/relationships/image" Target="../media/image-64-3.jpeg"/><Relationship Id="rId4" Type="http://schemas.openxmlformats.org/officeDocument/2006/relationships/slideLayout" Target="../slideLayouts/slideLayout1.xml"/><Relationship Id="rId5"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jpeg"/><Relationship Id="rId2" Type="http://schemas.openxmlformats.org/officeDocument/2006/relationships/image" Target="../media/image-65-2.jpe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jpeg"/><Relationship Id="rId2" Type="http://schemas.openxmlformats.org/officeDocument/2006/relationships/image" Target="../media/image-66-2.jpe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82296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MATERIALS &amp; EXPERIENCE  ·  材料研究与产品设计</a:t>
            </a:r>
            <a:endParaRPr lang="en-US" sz="800" dirty="0"/>
          </a:p>
        </p:txBody>
      </p:sp>
      <p:sp>
        <p:nvSpPr>
          <p:cNvPr id="3" name="Text 1"/>
          <p:cNvSpPr txBox="1"/>
          <p:nvPr/>
        </p:nvSpPr>
        <p:spPr>
          <a:xfrm>
            <a:off x="411480" y="502920"/>
            <a:ext cx="6583680" cy="1417320"/>
          </a:xfrm>
          <a:prstGeom prst="rect">
            <a:avLst/>
          </a:prstGeom>
          <a:noFill/>
          <a:ln/>
        </p:spPr>
        <p:txBody>
          <a:bodyPr wrap="square" lIns="0" tIns="0" rIns="0" bIns="0" rtlCol="0" anchor="t">
            <a:normAutofit/>
          </a:bodyPr>
          <a:lstStyle/>
          <a:p>
            <a:pPr indent="0" marL="0">
              <a:lnSpc>
                <a:spcPct val="95000"/>
              </a:lnSpc>
              <a:buNone/>
            </a:pPr>
            <a:r>
              <a:rPr lang="en-US" sz="5000" dirty="0">
                <a:solidFill>
                  <a:srgbClr val="111111"/>
                </a:solidFill>
                <a:latin typeface="Microsoft YaHei" pitchFamily="34" charset="0"/>
                <a:ea typeface="Microsoft YaHei" pitchFamily="34" charset="-122"/>
                <a:cs typeface="Microsoft YaHei" pitchFamily="34" charset="-120"/>
              </a:rPr>
              <a:t>材料研究与产品设计</a:t>
            </a:r>
            <a:endParaRPr lang="en-US" sz="5000" dirty="0"/>
          </a:p>
        </p:txBody>
      </p:sp>
      <p:sp>
        <p:nvSpPr>
          <p:cNvPr id="4" name="Text 2"/>
          <p:cNvSpPr txBox="1"/>
          <p:nvPr/>
        </p:nvSpPr>
        <p:spPr>
          <a:xfrm>
            <a:off x="411480" y="1874520"/>
            <a:ext cx="5943600" cy="365760"/>
          </a:xfrm>
          <a:prstGeom prst="rect">
            <a:avLst/>
          </a:prstGeom>
          <a:noFill/>
          <a:ln/>
        </p:spPr>
        <p:txBody>
          <a:bodyPr wrap="square" lIns="0" tIns="0" rIns="0" bIns="0" rtlCol="0" anchor="ctr"/>
          <a:lstStyle/>
          <a:p>
            <a:pPr indent="0" marL="0">
              <a:buNone/>
            </a:pPr>
            <a:r>
              <a:rPr lang="en-US" sz="1500" dirty="0">
                <a:solidFill>
                  <a:srgbClr val="111111"/>
                </a:solidFill>
                <a:latin typeface="Arial" pitchFamily="34" charset="0"/>
                <a:ea typeface="Arial" pitchFamily="34" charset="-122"/>
                <a:cs typeface="Arial" pitchFamily="34" charset="-120"/>
              </a:rPr>
              <a:t>Materials &amp; Experience</a:t>
            </a:r>
            <a:endParaRPr lang="en-US" sz="1500" dirty="0"/>
          </a:p>
        </p:txBody>
      </p:sp>
      <p:pic>
        <p:nvPicPr>
          <p:cNvPr id="5" name="Image 0" descr="decorative collage">    </p:cNvPr>
          <p:cNvPicPr>
            <a:picLocks noChangeAspect="1"/>
          </p:cNvPicPr>
          <p:nvPr/>
        </p:nvPicPr>
        <p:blipFill>
          <a:blip r:embed="rId1"/>
          <a:stretch>
            <a:fillRect/>
          </a:stretch>
        </p:blipFill>
        <p:spPr>
          <a:xfrm>
            <a:off x="3869391" y="2514600"/>
            <a:ext cx="5274609" cy="2628900"/>
          </a:xfrm>
          <a:prstGeom prst="rect">
            <a:avLst/>
          </a:prstGeom>
        </p:spPr>
      </p:pic>
      <p:sp>
        <p:nvSpPr>
          <p:cNvPr id="6" name="Shape 3"/>
          <p:cNvSpPr/>
          <p:nvPr/>
        </p:nvSpPr>
        <p:spPr>
          <a:xfrm>
            <a:off x="411480" y="4270248"/>
            <a:ext cx="124358" cy="124358"/>
          </a:xfrm>
          <a:prstGeom prst="ellipse">
            <a:avLst/>
          </a:prstGeom>
          <a:solidFill>
            <a:srgbClr val="4D49FC"/>
          </a:solidFill>
          <a:ln/>
        </p:spPr>
      </p:sp>
      <p:sp>
        <p:nvSpPr>
          <p:cNvPr id="7" name="Shape 4"/>
          <p:cNvSpPr/>
          <p:nvPr/>
        </p:nvSpPr>
        <p:spPr>
          <a:xfrm>
            <a:off x="565099" y="4270248"/>
            <a:ext cx="124358" cy="124358"/>
          </a:xfrm>
          <a:prstGeom prst="ellipse">
            <a:avLst/>
          </a:prstGeom>
          <a:solidFill>
            <a:srgbClr val="4D49FC"/>
          </a:solidFill>
          <a:ln/>
        </p:spPr>
      </p:sp>
      <p:sp>
        <p:nvSpPr>
          <p:cNvPr id="8" name="Shape 5"/>
          <p:cNvSpPr/>
          <p:nvPr/>
        </p:nvSpPr>
        <p:spPr>
          <a:xfrm>
            <a:off x="411480" y="4423867"/>
            <a:ext cx="124358" cy="124358"/>
          </a:xfrm>
          <a:prstGeom prst="ellipse">
            <a:avLst/>
          </a:prstGeom>
          <a:solidFill>
            <a:srgbClr val="4D49FC"/>
          </a:solidFill>
          <a:ln/>
        </p:spPr>
      </p:sp>
      <p:sp>
        <p:nvSpPr>
          <p:cNvPr id="9" name="Shape 6"/>
          <p:cNvSpPr/>
          <p:nvPr/>
        </p:nvSpPr>
        <p:spPr>
          <a:xfrm>
            <a:off x="565099" y="4423867"/>
            <a:ext cx="124358" cy="124358"/>
          </a:xfrm>
          <a:prstGeom prst="ellipse">
            <a:avLst/>
          </a:prstGeom>
          <a:solidFill>
            <a:srgbClr val="4D49FC"/>
          </a:solidFill>
          <a:ln/>
        </p:spPr>
      </p:sp>
      <p:sp>
        <p:nvSpPr>
          <p:cNvPr id="10" name="Text 7"/>
          <p:cNvSpPr txBox="1"/>
          <p:nvPr/>
        </p:nvSpPr>
        <p:spPr>
          <a:xfrm>
            <a:off x="731520" y="4160520"/>
            <a:ext cx="2926080" cy="566928"/>
          </a:xfrm>
          <a:prstGeom prst="rect">
            <a:avLst/>
          </a:prstGeom>
          <a:noFill/>
          <a:ln/>
        </p:spPr>
        <p:txBody>
          <a:bodyPr wrap="square" lIns="0" tIns="0" rIns="0" bIns="0" rtlCol="0" anchor="ctr"/>
          <a:lstStyle/>
          <a:p>
            <a:pPr indent="0" marL="0">
              <a:lnSpc>
                <a:spcPct val="120000"/>
              </a:lnSpc>
              <a:buNone/>
            </a:pPr>
            <a:r>
              <a:rPr lang="en-US" sz="950" dirty="0">
                <a:solidFill>
                  <a:srgbClr val="111111"/>
                </a:solidFill>
                <a:latin typeface="Microsoft YaHei" pitchFamily="34" charset="0"/>
                <a:ea typeface="Microsoft YaHei" pitchFamily="34" charset="-122"/>
                <a:cs typeface="Microsoft YaHei" pitchFamily="34" charset="-120"/>
              </a:rPr>
              <a:t>工业设计学院</a:t>
            </a:r>
            <a:endParaRPr lang="en-US" sz="950" dirty="0"/>
          </a:p>
          <a:p>
            <a:pPr indent="0" marL="0">
              <a:lnSpc>
                <a:spcPct val="120000"/>
              </a:lnSpc>
              <a:buNone/>
            </a:pPr>
            <a:r>
              <a:rPr lang="en-US" sz="1300" dirty="0">
                <a:solidFill>
                  <a:srgbClr val="111111"/>
                </a:solidFill>
                <a:latin typeface="Microsoft YaHei" pitchFamily="34" charset="0"/>
                <a:ea typeface="Microsoft YaHei" pitchFamily="34" charset="-122"/>
                <a:cs typeface="Microsoft YaHei" pitchFamily="34" charset="-120"/>
              </a:rPr>
              <a:t>张萌</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课程目录</a:t>
            </a:r>
            <a:endParaRPr lang="en-US" sz="2400" dirty="0"/>
          </a:p>
        </p:txBody>
      </p:sp>
      <p:sp>
        <p:nvSpPr>
          <p:cNvPr id="3" name="Text 1"/>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Contents</a:t>
            </a:r>
            <a:endParaRPr lang="en-US" sz="950" dirty="0"/>
          </a:p>
        </p:txBody>
      </p:sp>
      <p:sp>
        <p:nvSpPr>
          <p:cNvPr id="4" name="Shape 2"/>
          <p:cNvSpPr/>
          <p:nvPr/>
        </p:nvSpPr>
        <p:spPr>
          <a:xfrm>
            <a:off x="411480" y="4818888"/>
            <a:ext cx="77724" cy="77724"/>
          </a:xfrm>
          <a:prstGeom prst="ellipse">
            <a:avLst/>
          </a:prstGeom>
          <a:solidFill>
            <a:srgbClr val="4D49FC"/>
          </a:solidFill>
          <a:ln/>
        </p:spPr>
      </p:sp>
      <p:sp>
        <p:nvSpPr>
          <p:cNvPr id="5" name="Shape 3"/>
          <p:cNvSpPr/>
          <p:nvPr/>
        </p:nvSpPr>
        <p:spPr>
          <a:xfrm>
            <a:off x="507492" y="4818888"/>
            <a:ext cx="77724" cy="77724"/>
          </a:xfrm>
          <a:prstGeom prst="ellipse">
            <a:avLst/>
          </a:prstGeom>
          <a:solidFill>
            <a:srgbClr val="4D49FC"/>
          </a:solidFill>
          <a:ln/>
        </p:spPr>
      </p:sp>
      <p:sp>
        <p:nvSpPr>
          <p:cNvPr id="6" name="Shape 4"/>
          <p:cNvSpPr/>
          <p:nvPr/>
        </p:nvSpPr>
        <p:spPr>
          <a:xfrm>
            <a:off x="411480" y="4914900"/>
            <a:ext cx="77724" cy="77724"/>
          </a:xfrm>
          <a:prstGeom prst="ellipse">
            <a:avLst/>
          </a:prstGeom>
          <a:solidFill>
            <a:srgbClr val="4D49FC"/>
          </a:solidFill>
          <a:ln/>
        </p:spPr>
      </p:sp>
      <p:sp>
        <p:nvSpPr>
          <p:cNvPr id="7" name="Shape 5"/>
          <p:cNvSpPr/>
          <p:nvPr/>
        </p:nvSpPr>
        <p:spPr>
          <a:xfrm>
            <a:off x="507492" y="4914900"/>
            <a:ext cx="77724" cy="77724"/>
          </a:xfrm>
          <a:prstGeom prst="ellipse">
            <a:avLst/>
          </a:prstGeom>
          <a:solidFill>
            <a:srgbClr val="4D49FC"/>
          </a:solidFill>
          <a:ln/>
        </p:spPr>
      </p:sp>
      <p:sp>
        <p:nvSpPr>
          <p:cNvPr id="8" name="Text 6"/>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9" name="Text 7"/>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02</a:t>
            </a:r>
            <a:endParaRPr lang="en-US" sz="750" dirty="0"/>
          </a:p>
        </p:txBody>
      </p:sp>
      <p:sp>
        <p:nvSpPr>
          <p:cNvPr id="10" name="Shape 8"/>
          <p:cNvSpPr/>
          <p:nvPr/>
        </p:nvSpPr>
        <p:spPr>
          <a:xfrm>
            <a:off x="411480" y="1188720"/>
            <a:ext cx="2706624" cy="3383280"/>
          </a:xfrm>
          <a:prstGeom prst="roundRect">
            <a:avLst>
              <a:gd name="adj" fmla="val 3378"/>
            </a:avLst>
          </a:prstGeom>
          <a:solidFill>
            <a:srgbClr val="C7F8FB"/>
          </a:solidFill>
          <a:ln/>
        </p:spPr>
      </p:sp>
      <p:sp>
        <p:nvSpPr>
          <p:cNvPr id="11" name="Text 9"/>
          <p:cNvSpPr txBox="1"/>
          <p:nvPr/>
        </p:nvSpPr>
        <p:spPr>
          <a:xfrm>
            <a:off x="640080" y="1371600"/>
            <a:ext cx="22860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Part.1</a:t>
            </a:r>
            <a:endParaRPr lang="en-US" sz="2600" dirty="0"/>
          </a:p>
        </p:txBody>
      </p:sp>
      <p:sp>
        <p:nvSpPr>
          <p:cNvPr id="12" name="Text 10"/>
          <p:cNvSpPr txBox="1"/>
          <p:nvPr/>
        </p:nvSpPr>
        <p:spPr>
          <a:xfrm>
            <a:off x="640080" y="1901952"/>
            <a:ext cx="228600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设计学视野下的材料研究</a:t>
            </a:r>
            <a:endParaRPr lang="en-US" sz="1400" dirty="0"/>
          </a:p>
        </p:txBody>
      </p:sp>
      <p:sp>
        <p:nvSpPr>
          <p:cNvPr id="13" name="Text 11"/>
          <p:cNvSpPr txBox="1"/>
          <p:nvPr/>
        </p:nvSpPr>
        <p:spPr>
          <a:xfrm>
            <a:off x="640080" y="2514600"/>
            <a:ext cx="2331720" cy="1828800"/>
          </a:xfrm>
          <a:prstGeom prst="rect">
            <a:avLst/>
          </a:prstGeom>
          <a:noFill/>
          <a:ln/>
        </p:spPr>
        <p:txBody>
          <a:bodyPr wrap="square" lIns="0" tIns="0" rIns="0" bIns="0" rtlCol="0" anchor="t"/>
          <a:lstStyle/>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01  产品设计中的材料</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02  产品设计中的材料属性需求</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03  材料信息学</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04  材料信息数据库</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05  材料信息转换</a:t>
            </a:r>
            <a:endParaRPr lang="en-US" sz="1150" dirty="0"/>
          </a:p>
        </p:txBody>
      </p:sp>
      <p:sp>
        <p:nvSpPr>
          <p:cNvPr id="14" name="Shape 12"/>
          <p:cNvSpPr/>
          <p:nvPr/>
        </p:nvSpPr>
        <p:spPr>
          <a:xfrm>
            <a:off x="3218688" y="1188720"/>
            <a:ext cx="2706624" cy="3383280"/>
          </a:xfrm>
          <a:prstGeom prst="roundRect">
            <a:avLst>
              <a:gd name="adj" fmla="val 3378"/>
            </a:avLst>
          </a:prstGeom>
          <a:solidFill>
            <a:srgbClr val="F4F4F4"/>
          </a:solidFill>
          <a:ln/>
        </p:spPr>
      </p:sp>
      <p:sp>
        <p:nvSpPr>
          <p:cNvPr id="15" name="Text 13"/>
          <p:cNvSpPr txBox="1"/>
          <p:nvPr/>
        </p:nvSpPr>
        <p:spPr>
          <a:xfrm>
            <a:off x="3447288" y="1371600"/>
            <a:ext cx="2286000" cy="502920"/>
          </a:xfrm>
          <a:prstGeom prst="rect">
            <a:avLst/>
          </a:prstGeom>
          <a:noFill/>
          <a:ln/>
        </p:spPr>
        <p:txBody>
          <a:bodyPr wrap="square" lIns="0" tIns="0" rIns="0" bIns="0" rtlCol="0" anchor="ctr"/>
          <a:lstStyle/>
          <a:p>
            <a:pPr indent="0" marL="0">
              <a:buNone/>
            </a:pPr>
            <a:r>
              <a:rPr lang="en-US" sz="2600" b="1" dirty="0">
                <a:solidFill>
                  <a:srgbClr val="111111"/>
                </a:solidFill>
                <a:latin typeface="Arial" pitchFamily="34" charset="0"/>
                <a:ea typeface="Arial" pitchFamily="34" charset="-122"/>
                <a:cs typeface="Arial" pitchFamily="34" charset="-120"/>
              </a:rPr>
              <a:t>Part.2</a:t>
            </a:r>
            <a:endParaRPr lang="en-US" sz="2600" dirty="0"/>
          </a:p>
        </p:txBody>
      </p:sp>
      <p:sp>
        <p:nvSpPr>
          <p:cNvPr id="16" name="Text 14"/>
          <p:cNvSpPr txBox="1"/>
          <p:nvPr/>
        </p:nvSpPr>
        <p:spPr>
          <a:xfrm>
            <a:off x="3447288" y="1901952"/>
            <a:ext cx="228600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产品设计中的材料感官体验</a:t>
            </a:r>
            <a:endParaRPr lang="en-US" sz="1400" dirty="0"/>
          </a:p>
        </p:txBody>
      </p:sp>
      <p:sp>
        <p:nvSpPr>
          <p:cNvPr id="17" name="Text 15"/>
          <p:cNvSpPr txBox="1"/>
          <p:nvPr/>
        </p:nvSpPr>
        <p:spPr>
          <a:xfrm>
            <a:off x="3447288" y="2514600"/>
            <a:ext cx="2331720" cy="1828800"/>
          </a:xfrm>
          <a:prstGeom prst="rect">
            <a:avLst/>
          </a:prstGeom>
          <a:noFill/>
          <a:ln/>
        </p:spPr>
        <p:txBody>
          <a:bodyPr wrap="square" lIns="0" tIns="0" rIns="0" bIns="0" rtlCol="0" anchor="t"/>
          <a:lstStyle/>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材料感知体验</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视觉体验</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肤觉体验</a:t>
            </a:r>
            <a:endParaRPr lang="en-US" sz="1150" dirty="0"/>
          </a:p>
          <a:p>
            <a:pPr indent="0" marL="0">
              <a:spcAft>
                <a:spcPts val="700"/>
              </a:spcAft>
              <a:buNone/>
            </a:pPr>
            <a:r>
              <a:rPr lang="en-US" sz="1150" dirty="0">
                <a:solidFill>
                  <a:srgbClr val="111111"/>
                </a:solidFill>
                <a:latin typeface="Microsoft YaHei" pitchFamily="34" charset="0"/>
                <a:ea typeface="Microsoft YaHei" pitchFamily="34" charset="-122"/>
                <a:cs typeface="Microsoft YaHei" pitchFamily="34" charset="-120"/>
              </a:rPr>
              <a:t>心理物理学</a:t>
            </a:r>
            <a:endParaRPr lang="en-US" sz="1150" dirty="0"/>
          </a:p>
        </p:txBody>
      </p:sp>
      <p:sp>
        <p:nvSpPr>
          <p:cNvPr id="18" name="Shape 16"/>
          <p:cNvSpPr/>
          <p:nvPr/>
        </p:nvSpPr>
        <p:spPr>
          <a:xfrm>
            <a:off x="6025896" y="1188720"/>
            <a:ext cx="2706624" cy="3383280"/>
          </a:xfrm>
          <a:prstGeom prst="roundRect">
            <a:avLst>
              <a:gd name="adj" fmla="val 3378"/>
            </a:avLst>
          </a:prstGeom>
          <a:solidFill>
            <a:srgbClr val="111111"/>
          </a:solidFill>
          <a:ln/>
        </p:spPr>
      </p:sp>
      <p:sp>
        <p:nvSpPr>
          <p:cNvPr id="19" name="Text 17"/>
          <p:cNvSpPr txBox="1"/>
          <p:nvPr/>
        </p:nvSpPr>
        <p:spPr>
          <a:xfrm>
            <a:off x="6254496" y="1371600"/>
            <a:ext cx="22860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Part.3</a:t>
            </a:r>
            <a:endParaRPr lang="en-US" sz="2600" dirty="0"/>
          </a:p>
        </p:txBody>
      </p:sp>
      <p:sp>
        <p:nvSpPr>
          <p:cNvPr id="20" name="Text 18"/>
          <p:cNvSpPr txBox="1"/>
          <p:nvPr/>
        </p:nvSpPr>
        <p:spPr>
          <a:xfrm>
            <a:off x="6254496" y="1901952"/>
            <a:ext cx="2286000" cy="36576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可供性 Affordance</a:t>
            </a:r>
            <a:endParaRPr lang="en-US" sz="1400" dirty="0"/>
          </a:p>
        </p:txBody>
      </p:sp>
      <p:sp>
        <p:nvSpPr>
          <p:cNvPr id="21" name="Text 19"/>
          <p:cNvSpPr txBox="1"/>
          <p:nvPr/>
        </p:nvSpPr>
        <p:spPr>
          <a:xfrm>
            <a:off x="6254496" y="2514600"/>
            <a:ext cx="2331720" cy="1828800"/>
          </a:xfrm>
          <a:prstGeom prst="rect">
            <a:avLst/>
          </a:prstGeom>
          <a:noFill/>
          <a:ln/>
        </p:spPr>
        <p:txBody>
          <a:bodyPr wrap="square" lIns="0" tIns="0" rIns="0" bIns="0" rtlCol="0" anchor="t"/>
          <a:lstStyle/>
          <a:p>
            <a:pPr indent="0" marL="0">
              <a:spcAft>
                <a:spcPts val="700"/>
              </a:spcAft>
              <a:buNone/>
            </a:pPr>
            <a:r>
              <a:rPr lang="en-US" sz="1150" dirty="0">
                <a:solidFill>
                  <a:srgbClr val="FFFFFF"/>
                </a:solidFill>
                <a:latin typeface="Microsoft YaHei" pitchFamily="34" charset="0"/>
                <a:ea typeface="Microsoft YaHei" pitchFamily="34" charset="-122"/>
                <a:cs typeface="Microsoft YaHei" pitchFamily="34" charset="-120"/>
              </a:rPr>
              <a:t>詹姆斯·杰罗姆·吉布森</a:t>
            </a:r>
            <a:endParaRPr lang="en-US" sz="1150" dirty="0"/>
          </a:p>
          <a:p>
            <a:pPr indent="0" marL="0">
              <a:spcAft>
                <a:spcPts val="700"/>
              </a:spcAft>
              <a:buNone/>
            </a:pPr>
            <a:r>
              <a:rPr lang="en-US" sz="1150" dirty="0">
                <a:solidFill>
                  <a:srgbClr val="FFFFFF"/>
                </a:solidFill>
                <a:latin typeface="Microsoft YaHei" pitchFamily="34" charset="0"/>
                <a:ea typeface="Microsoft YaHei" pitchFamily="34" charset="-122"/>
                <a:cs typeface="Microsoft YaHei" pitchFamily="34" charset="-120"/>
              </a:rPr>
              <a:t>相关案例</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PART.1</a:t>
            </a:r>
            <a:endParaRPr lang="en-US" sz="800" dirty="0"/>
          </a:p>
        </p:txBody>
      </p:sp>
      <p:sp>
        <p:nvSpPr>
          <p:cNvPr id="3" name="Text 1"/>
          <p:cNvSpPr txBox="1"/>
          <p:nvPr/>
        </p:nvSpPr>
        <p:spPr>
          <a:xfrm>
            <a:off x="411480" y="502920"/>
            <a:ext cx="5943600" cy="1828800"/>
          </a:xfrm>
          <a:prstGeom prst="rect">
            <a:avLst/>
          </a:prstGeom>
          <a:noFill/>
          <a:ln/>
        </p:spPr>
        <p:txBody>
          <a:bodyPr wrap="square" lIns="0" tIns="0" rIns="0" bIns="0" rtlCol="0" anchor="t"/>
          <a:lstStyle/>
          <a:p>
            <a:pPr indent="0" marL="0">
              <a:lnSpc>
                <a:spcPct val="100000"/>
              </a:lnSpc>
              <a:buNone/>
            </a:pPr>
            <a:r>
              <a:rPr lang="en-US" sz="4600" dirty="0">
                <a:solidFill>
                  <a:srgbClr val="111111"/>
                </a:solidFill>
                <a:latin typeface="Microsoft YaHei" pitchFamily="34" charset="0"/>
                <a:ea typeface="Microsoft YaHei" pitchFamily="34" charset="-122"/>
                <a:cs typeface="Microsoft YaHei" pitchFamily="34" charset="-120"/>
              </a:rPr>
              <a:t>设计学视野下的</a:t>
            </a:r>
            <a:endParaRPr lang="en-US" sz="4600" dirty="0"/>
          </a:p>
          <a:p>
            <a:pPr indent="0" marL="0">
              <a:lnSpc>
                <a:spcPct val="100000"/>
              </a:lnSpc>
              <a:buNone/>
            </a:pPr>
            <a:r>
              <a:rPr lang="en-US" sz="4600" dirty="0">
                <a:solidFill>
                  <a:srgbClr val="111111"/>
                </a:solidFill>
                <a:latin typeface="Microsoft YaHei" pitchFamily="34" charset="0"/>
                <a:ea typeface="Microsoft YaHei" pitchFamily="34" charset="-122"/>
                <a:cs typeface="Microsoft YaHei" pitchFamily="34" charset="-120"/>
              </a:rPr>
              <a:t>材料研究</a:t>
            </a:r>
            <a:endParaRPr lang="en-US" sz="4600" dirty="0"/>
          </a:p>
        </p:txBody>
      </p:sp>
      <p:sp>
        <p:nvSpPr>
          <p:cNvPr id="4" name="Shape 2"/>
          <p:cNvSpPr/>
          <p:nvPr/>
        </p:nvSpPr>
        <p:spPr>
          <a:xfrm>
            <a:off x="411480" y="2514600"/>
            <a:ext cx="1188720" cy="457200"/>
          </a:xfrm>
          <a:prstGeom prst="rect">
            <a:avLst/>
          </a:prstGeom>
          <a:solidFill>
            <a:srgbClr val="C7F8FB"/>
          </a:solidFill>
          <a:ln/>
        </p:spPr>
      </p:sp>
      <p:sp>
        <p:nvSpPr>
          <p:cNvPr id="5" name="Text 3"/>
          <p:cNvSpPr txBox="1"/>
          <p:nvPr/>
        </p:nvSpPr>
        <p:spPr>
          <a:xfrm>
            <a:off x="411480" y="2514600"/>
            <a:ext cx="1188720" cy="457200"/>
          </a:xfrm>
          <a:prstGeom prst="rect">
            <a:avLst/>
          </a:prstGeom>
          <a:noFill/>
          <a:ln/>
        </p:spPr>
        <p:txBody>
          <a:bodyPr wrap="square" lIns="0" tIns="0" rIns="0" bIns="0" rtlCol="0" anchor="ctr"/>
          <a:lstStyle/>
          <a:p>
            <a:pPr algn="ctr" indent="0" marL="0">
              <a:buNone/>
            </a:pPr>
            <a:r>
              <a:rPr lang="en-US" sz="1600" dirty="0">
                <a:solidFill>
                  <a:srgbClr val="111111"/>
                </a:solidFill>
                <a:latin typeface="Arial" pitchFamily="34" charset="0"/>
                <a:ea typeface="Arial" pitchFamily="34" charset="-122"/>
                <a:cs typeface="Arial" pitchFamily="34" charset="-120"/>
              </a:rPr>
              <a:t>Part.1</a:t>
            </a:r>
            <a:endParaRPr lang="en-US" sz="1600" dirty="0"/>
          </a:p>
        </p:txBody>
      </p:sp>
      <p:pic>
        <p:nvPicPr>
          <p:cNvPr id="6" name="Image 0" descr="decorative collage">    </p:cNvPr>
          <p:cNvPicPr>
            <a:picLocks noChangeAspect="1"/>
          </p:cNvPicPr>
          <p:nvPr/>
        </p:nvPicPr>
        <p:blipFill>
          <a:blip r:embed="rId1"/>
          <a:stretch>
            <a:fillRect/>
          </a:stretch>
        </p:blipFill>
        <p:spPr>
          <a:xfrm>
            <a:off x="5392940" y="2011680"/>
            <a:ext cx="3568180" cy="2926080"/>
          </a:xfrm>
          <a:prstGeom prst="rect">
            <a:avLst/>
          </a:prstGeom>
        </p:spPr>
      </p:pic>
      <p:sp>
        <p:nvSpPr>
          <p:cNvPr id="7" name="Shape 4"/>
          <p:cNvSpPr/>
          <p:nvPr/>
        </p:nvSpPr>
        <p:spPr>
          <a:xfrm>
            <a:off x="411480" y="4818888"/>
            <a:ext cx="77724" cy="77724"/>
          </a:xfrm>
          <a:prstGeom prst="ellipse">
            <a:avLst/>
          </a:prstGeom>
          <a:solidFill>
            <a:srgbClr val="4D49FC"/>
          </a:solidFill>
          <a:ln/>
        </p:spPr>
      </p:sp>
      <p:sp>
        <p:nvSpPr>
          <p:cNvPr id="8" name="Shape 5"/>
          <p:cNvSpPr/>
          <p:nvPr/>
        </p:nvSpPr>
        <p:spPr>
          <a:xfrm>
            <a:off x="507492" y="4818888"/>
            <a:ext cx="77724" cy="77724"/>
          </a:xfrm>
          <a:prstGeom prst="ellipse">
            <a:avLst/>
          </a:prstGeom>
          <a:solidFill>
            <a:srgbClr val="4D49FC"/>
          </a:solidFill>
          <a:ln/>
        </p:spPr>
      </p:sp>
      <p:sp>
        <p:nvSpPr>
          <p:cNvPr id="9" name="Shape 6"/>
          <p:cNvSpPr/>
          <p:nvPr/>
        </p:nvSpPr>
        <p:spPr>
          <a:xfrm>
            <a:off x="411480" y="4914900"/>
            <a:ext cx="77724" cy="77724"/>
          </a:xfrm>
          <a:prstGeom prst="ellipse">
            <a:avLst/>
          </a:prstGeom>
          <a:solidFill>
            <a:srgbClr val="4D49FC"/>
          </a:solidFill>
          <a:ln/>
        </p:spPr>
      </p:sp>
      <p:sp>
        <p:nvSpPr>
          <p:cNvPr id="10" name="Shape 7"/>
          <p:cNvSpPr/>
          <p:nvPr/>
        </p:nvSpPr>
        <p:spPr>
          <a:xfrm>
            <a:off x="507492" y="4914900"/>
            <a:ext cx="77724" cy="77724"/>
          </a:xfrm>
          <a:prstGeom prst="ellipse">
            <a:avLst/>
          </a:prstGeom>
          <a:solidFill>
            <a:srgbClr val="4D49FC"/>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材料与人类社会</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Materials &amp; Society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04</a:t>
            </a:r>
            <a:endParaRPr lang="en-US" sz="750" dirty="0"/>
          </a:p>
        </p:txBody>
      </p:sp>
      <p:sp>
        <p:nvSpPr>
          <p:cNvPr id="11" name="Text 9"/>
          <p:cNvSpPr txBox="1"/>
          <p:nvPr/>
        </p:nvSpPr>
        <p:spPr>
          <a:xfrm>
            <a:off x="411480" y="1188720"/>
            <a:ext cx="8321040" cy="822960"/>
          </a:xfrm>
          <a:prstGeom prst="rect">
            <a:avLst/>
          </a:prstGeom>
          <a:noFill/>
          <a:ln/>
        </p:spPr>
        <p:txBody>
          <a:bodyPr wrap="square" lIns="0" tIns="0" rIns="0" bIns="0" rtlCol="0" anchor="ctr"/>
          <a:lstStyle/>
          <a:p>
            <a:pPr indent="0" marL="0">
              <a:buNone/>
            </a:pPr>
            <a:r>
              <a:rPr lang="en-US" sz="2000" dirty="0">
                <a:solidFill>
                  <a:srgbClr val="111111"/>
                </a:solidFill>
                <a:latin typeface="Microsoft YaHei" pitchFamily="34" charset="0"/>
                <a:ea typeface="Microsoft YaHei" pitchFamily="34" charset="-122"/>
                <a:cs typeface="Microsoft YaHei" pitchFamily="34" charset="-120"/>
              </a:rPr>
              <a:t>人类对材料的认识和利用能力，一定程度上决定着社会的形态和人类的生活质量。</a:t>
            </a:r>
            <a:endParaRPr lang="en-US" sz="2000" dirty="0"/>
          </a:p>
        </p:txBody>
      </p:sp>
      <p:pic>
        <p:nvPicPr>
          <p:cNvPr id="12" name="Image 0" descr="p03_0">    </p:cNvPr>
          <p:cNvPicPr>
            <a:picLocks noChangeAspect="1"/>
          </p:cNvPicPr>
          <p:nvPr/>
        </p:nvPicPr>
        <p:blipFill>
          <a:blip r:embed="rId1"/>
          <a:stretch>
            <a:fillRect/>
          </a:stretch>
        </p:blipFill>
        <p:spPr>
          <a:xfrm>
            <a:off x="411480" y="2240280"/>
            <a:ext cx="1997964" cy="2331720"/>
          </a:xfrm>
          <a:prstGeom prst="rect">
            <a:avLst/>
          </a:prstGeom>
        </p:spPr>
      </p:pic>
      <p:pic>
        <p:nvPicPr>
          <p:cNvPr id="13" name="Image 1" descr="p03_1">    </p:cNvPr>
          <p:cNvPicPr>
            <a:picLocks noChangeAspect="1"/>
          </p:cNvPicPr>
          <p:nvPr/>
        </p:nvPicPr>
        <p:blipFill>
          <a:blip r:embed="rId2"/>
          <a:stretch>
            <a:fillRect/>
          </a:stretch>
        </p:blipFill>
        <p:spPr>
          <a:xfrm>
            <a:off x="2519172" y="2240280"/>
            <a:ext cx="1997964" cy="2331720"/>
          </a:xfrm>
          <a:prstGeom prst="rect">
            <a:avLst/>
          </a:prstGeom>
        </p:spPr>
      </p:pic>
      <p:pic>
        <p:nvPicPr>
          <p:cNvPr id="14" name="Image 2" descr="p03_2">    </p:cNvPr>
          <p:cNvPicPr>
            <a:picLocks noChangeAspect="1"/>
          </p:cNvPicPr>
          <p:nvPr/>
        </p:nvPicPr>
        <p:blipFill>
          <a:blip r:embed="rId3"/>
          <a:stretch>
            <a:fillRect/>
          </a:stretch>
        </p:blipFill>
        <p:spPr>
          <a:xfrm>
            <a:off x="4626864" y="2240280"/>
            <a:ext cx="1997964" cy="2331720"/>
          </a:xfrm>
          <a:prstGeom prst="rect">
            <a:avLst/>
          </a:prstGeom>
        </p:spPr>
      </p:pic>
      <p:pic>
        <p:nvPicPr>
          <p:cNvPr id="15" name="Image 3" descr="p03_3">    </p:cNvPr>
          <p:cNvPicPr>
            <a:picLocks noChangeAspect="1"/>
          </p:cNvPicPr>
          <p:nvPr/>
        </p:nvPicPr>
        <p:blipFill>
          <a:blip r:embed="rId4"/>
          <a:stretch>
            <a:fillRect/>
          </a:stretch>
        </p:blipFill>
        <p:spPr>
          <a:xfrm>
            <a:off x="6734556" y="2240280"/>
            <a:ext cx="1997964" cy="2331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材料基因组计划</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The Materials Genome Initiative, MGI</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05</a:t>
            </a:r>
            <a:endParaRPr lang="en-US" sz="750" dirty="0"/>
          </a:p>
        </p:txBody>
      </p:sp>
      <p:sp>
        <p:nvSpPr>
          <p:cNvPr id="11" name="Shape 9"/>
          <p:cNvSpPr/>
          <p:nvPr/>
        </p:nvSpPr>
        <p:spPr>
          <a:xfrm>
            <a:off x="411480" y="1188720"/>
            <a:ext cx="3291840" cy="3383280"/>
          </a:xfrm>
          <a:prstGeom prst="roundRect">
            <a:avLst>
              <a:gd name="adj" fmla="val 3333"/>
            </a:avLst>
          </a:prstGeom>
          <a:solidFill>
            <a:srgbClr val="F4F4F4"/>
          </a:solidFill>
          <a:ln/>
        </p:spPr>
      </p:sp>
      <p:sp>
        <p:nvSpPr>
          <p:cNvPr id="12" name="Text 10"/>
          <p:cNvSpPr txBox="1"/>
          <p:nvPr/>
        </p:nvSpPr>
        <p:spPr>
          <a:xfrm>
            <a:off x="640080" y="1371600"/>
            <a:ext cx="2834640" cy="411480"/>
          </a:xfrm>
          <a:prstGeom prst="rect">
            <a:avLst/>
          </a:prstGeom>
          <a:noFill/>
          <a:ln/>
        </p:spPr>
        <p:txBody>
          <a:bodyPr wrap="square" lIns="0" tIns="0" rIns="0" bIns="0" rtlCol="0" anchor="ctr"/>
          <a:lstStyle/>
          <a:p>
            <a:pPr indent="0" marL="0">
              <a:buNone/>
            </a:pPr>
            <a:r>
              <a:rPr lang="en-US" sz="2000" b="1" dirty="0">
                <a:solidFill>
                  <a:srgbClr val="111111"/>
                </a:solidFill>
                <a:latin typeface="Arial" pitchFamily="34" charset="0"/>
                <a:ea typeface="Arial" pitchFamily="34" charset="-122"/>
                <a:cs typeface="Arial" pitchFamily="34" charset="-120"/>
              </a:rPr>
              <a:t>2011.06.24</a:t>
            </a:r>
            <a:endParaRPr lang="en-US" sz="2000" dirty="0"/>
          </a:p>
        </p:txBody>
      </p:sp>
      <p:sp>
        <p:nvSpPr>
          <p:cNvPr id="13" name="Shape 11"/>
          <p:cNvSpPr/>
          <p:nvPr/>
        </p:nvSpPr>
        <p:spPr>
          <a:xfrm>
            <a:off x="640080" y="1874520"/>
            <a:ext cx="320040" cy="54864"/>
          </a:xfrm>
          <a:prstGeom prst="rect">
            <a:avLst/>
          </a:prstGeom>
          <a:solidFill>
            <a:srgbClr val="C7F8FB"/>
          </a:solidFill>
          <a:ln/>
        </p:spPr>
      </p:sp>
      <p:sp>
        <p:nvSpPr>
          <p:cNvPr id="14" name="Text 12"/>
          <p:cNvSpPr txBox="1"/>
          <p:nvPr/>
        </p:nvSpPr>
        <p:spPr>
          <a:xfrm>
            <a:off x="640080" y="2103120"/>
            <a:ext cx="2834640" cy="2286000"/>
          </a:xfrm>
          <a:prstGeom prst="rect">
            <a:avLst/>
          </a:prstGeom>
          <a:noFill/>
          <a:ln/>
        </p:spPr>
        <p:txBody>
          <a:bodyPr wrap="square" lIns="0" tIns="0" rIns="0" bIns="0" rtlCol="0" anchor="t"/>
          <a:lstStyle/>
          <a:p>
            <a:pPr indent="0" marL="0">
              <a:lnSpc>
                <a:spcPct val="130000"/>
              </a:lnSpc>
              <a:buNone/>
            </a:pPr>
            <a:r>
              <a:rPr lang="en-US" sz="1250" dirty="0">
                <a:solidFill>
                  <a:srgbClr val="111111"/>
                </a:solidFill>
                <a:latin typeface="Microsoft YaHei" pitchFamily="34" charset="0"/>
                <a:ea typeface="Microsoft YaHei" pitchFamily="34" charset="-122"/>
                <a:cs typeface="Microsoft YaHei" pitchFamily="34" charset="-120"/>
              </a:rPr>
              <a:t>2011年6月24日前美国总统奥巴马在卡耐基梅隆大学作的以“先进制造业伙伴关系（Advanced Manufacturing Partnership，AMP）”为主题的演讲中提出“材料基因组计划”(The Materials Genome Initiative, MGI)。</a:t>
            </a:r>
            <a:endParaRPr lang="en-US" sz="1250" dirty="0"/>
          </a:p>
        </p:txBody>
      </p:sp>
      <p:sp>
        <p:nvSpPr>
          <p:cNvPr id="15" name="Shape 13"/>
          <p:cNvSpPr/>
          <p:nvPr/>
        </p:nvSpPr>
        <p:spPr>
          <a:xfrm>
            <a:off x="3886200" y="1188720"/>
            <a:ext cx="4846320" cy="3383280"/>
          </a:xfrm>
          <a:prstGeom prst="roundRect">
            <a:avLst>
              <a:gd name="adj" fmla="val 2703"/>
            </a:avLst>
          </a:prstGeom>
          <a:solidFill>
            <a:srgbClr val="111111"/>
          </a:solidFill>
          <a:ln/>
        </p:spPr>
      </p:sp>
      <p:pic>
        <p:nvPicPr>
          <p:cNvPr id="16" name="Image 0" descr="p04_1">    </p:cNvPr>
          <p:cNvPicPr>
            <a:picLocks noChangeAspect="1"/>
          </p:cNvPicPr>
          <p:nvPr/>
        </p:nvPicPr>
        <p:blipFill>
          <a:blip r:embed="rId1"/>
          <a:stretch>
            <a:fillRect/>
          </a:stretch>
        </p:blipFill>
        <p:spPr>
          <a:xfrm>
            <a:off x="4238744" y="1325880"/>
            <a:ext cx="4141232" cy="31089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材料支撑社会发展</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Materials in Society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06</a:t>
            </a:r>
            <a:endParaRPr lang="en-US" sz="750" dirty="0"/>
          </a:p>
        </p:txBody>
      </p:sp>
      <p:sp>
        <p:nvSpPr>
          <p:cNvPr id="11" name="Shape 9"/>
          <p:cNvSpPr/>
          <p:nvPr/>
        </p:nvSpPr>
        <p:spPr>
          <a:xfrm>
            <a:off x="411480" y="1188720"/>
            <a:ext cx="2706624" cy="411480"/>
          </a:xfrm>
          <a:prstGeom prst="rect">
            <a:avLst/>
          </a:prstGeom>
          <a:solidFill>
            <a:srgbClr val="C7F8FB"/>
          </a:solidFill>
          <a:ln/>
        </p:spPr>
      </p:sp>
      <p:sp>
        <p:nvSpPr>
          <p:cNvPr id="12" name="Text 10"/>
          <p:cNvSpPr txBox="1"/>
          <p:nvPr/>
        </p:nvSpPr>
        <p:spPr>
          <a:xfrm>
            <a:off x="594360" y="1188720"/>
            <a:ext cx="2377440" cy="41148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国民经济</a:t>
            </a:r>
            <a:endParaRPr lang="en-US" sz="1400" dirty="0"/>
          </a:p>
        </p:txBody>
      </p:sp>
      <p:pic>
        <p:nvPicPr>
          <p:cNvPr id="13" name="Image 0" descr="p05_1">    </p:cNvPr>
          <p:cNvPicPr>
            <a:picLocks noChangeAspect="1"/>
          </p:cNvPicPr>
          <p:nvPr/>
        </p:nvPicPr>
        <p:blipFill>
          <a:blip r:embed="rId1"/>
          <a:stretch>
            <a:fillRect/>
          </a:stretch>
        </p:blipFill>
        <p:spPr>
          <a:xfrm>
            <a:off x="411480" y="1691640"/>
            <a:ext cx="2706624" cy="914400"/>
          </a:xfrm>
          <a:prstGeom prst="rect">
            <a:avLst/>
          </a:prstGeom>
        </p:spPr>
      </p:pic>
      <p:pic>
        <p:nvPicPr>
          <p:cNvPr id="14" name="Image 1" descr="p05_2">    </p:cNvPr>
          <p:cNvPicPr>
            <a:picLocks noChangeAspect="1"/>
          </p:cNvPicPr>
          <p:nvPr/>
        </p:nvPicPr>
        <p:blipFill>
          <a:blip r:embed="rId2"/>
          <a:stretch>
            <a:fillRect/>
          </a:stretch>
        </p:blipFill>
        <p:spPr>
          <a:xfrm>
            <a:off x="411480" y="2670048"/>
            <a:ext cx="2706624" cy="914400"/>
          </a:xfrm>
          <a:prstGeom prst="rect">
            <a:avLst/>
          </a:prstGeom>
        </p:spPr>
      </p:pic>
      <p:pic>
        <p:nvPicPr>
          <p:cNvPr id="15" name="Image 2" descr="p05_0">    </p:cNvPr>
          <p:cNvPicPr>
            <a:picLocks noChangeAspect="1"/>
          </p:cNvPicPr>
          <p:nvPr/>
        </p:nvPicPr>
        <p:blipFill>
          <a:blip r:embed="rId3"/>
          <a:stretch>
            <a:fillRect/>
          </a:stretch>
        </p:blipFill>
        <p:spPr>
          <a:xfrm>
            <a:off x="411480" y="3648456"/>
            <a:ext cx="2706624" cy="914400"/>
          </a:xfrm>
          <a:prstGeom prst="rect">
            <a:avLst/>
          </a:prstGeom>
        </p:spPr>
      </p:pic>
      <p:sp>
        <p:nvSpPr>
          <p:cNvPr id="16" name="Shape 11"/>
          <p:cNvSpPr/>
          <p:nvPr/>
        </p:nvSpPr>
        <p:spPr>
          <a:xfrm>
            <a:off x="3218688" y="1188720"/>
            <a:ext cx="2706624" cy="411480"/>
          </a:xfrm>
          <a:prstGeom prst="rect">
            <a:avLst/>
          </a:prstGeom>
          <a:solidFill>
            <a:srgbClr val="111111"/>
          </a:solidFill>
          <a:ln/>
        </p:spPr>
      </p:sp>
      <p:sp>
        <p:nvSpPr>
          <p:cNvPr id="17" name="Text 12"/>
          <p:cNvSpPr txBox="1"/>
          <p:nvPr/>
        </p:nvSpPr>
        <p:spPr>
          <a:xfrm>
            <a:off x="3401568" y="1188720"/>
            <a:ext cx="2377440" cy="411480"/>
          </a:xfrm>
          <a:prstGeom prst="rect">
            <a:avLst/>
          </a:prstGeom>
          <a:noFill/>
          <a:ln/>
        </p:spPr>
        <p:txBody>
          <a:bodyPr wrap="square" lIns="0" tIns="0" rIns="0" bIns="0" rtlCol="0" anchor="ctr"/>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国防建设</a:t>
            </a:r>
            <a:endParaRPr lang="en-US" sz="1400" dirty="0"/>
          </a:p>
        </p:txBody>
      </p:sp>
      <p:pic>
        <p:nvPicPr>
          <p:cNvPr id="18" name="Image 3" descr="p05_5">    </p:cNvPr>
          <p:cNvPicPr>
            <a:picLocks noChangeAspect="1"/>
          </p:cNvPicPr>
          <p:nvPr/>
        </p:nvPicPr>
        <p:blipFill>
          <a:blip r:embed="rId4"/>
          <a:stretch>
            <a:fillRect/>
          </a:stretch>
        </p:blipFill>
        <p:spPr>
          <a:xfrm>
            <a:off x="3218688" y="1691640"/>
            <a:ext cx="2706624" cy="914400"/>
          </a:xfrm>
          <a:prstGeom prst="rect">
            <a:avLst/>
          </a:prstGeom>
        </p:spPr>
      </p:pic>
      <p:pic>
        <p:nvPicPr>
          <p:cNvPr id="19" name="Image 4" descr="p05_4">    </p:cNvPr>
          <p:cNvPicPr>
            <a:picLocks noChangeAspect="1"/>
          </p:cNvPicPr>
          <p:nvPr/>
        </p:nvPicPr>
        <p:blipFill>
          <a:blip r:embed="rId5"/>
          <a:stretch>
            <a:fillRect/>
          </a:stretch>
        </p:blipFill>
        <p:spPr>
          <a:xfrm>
            <a:off x="3218688" y="2670048"/>
            <a:ext cx="2706624" cy="914400"/>
          </a:xfrm>
          <a:prstGeom prst="rect">
            <a:avLst/>
          </a:prstGeom>
        </p:spPr>
      </p:pic>
      <p:pic>
        <p:nvPicPr>
          <p:cNvPr id="20" name="Image 5" descr="p05_3">    </p:cNvPr>
          <p:cNvPicPr>
            <a:picLocks noChangeAspect="1"/>
          </p:cNvPicPr>
          <p:nvPr/>
        </p:nvPicPr>
        <p:blipFill>
          <a:blip r:embed="rId6"/>
          <a:stretch>
            <a:fillRect/>
          </a:stretch>
        </p:blipFill>
        <p:spPr>
          <a:xfrm>
            <a:off x="3218688" y="3648456"/>
            <a:ext cx="2706624" cy="914400"/>
          </a:xfrm>
          <a:prstGeom prst="rect">
            <a:avLst/>
          </a:prstGeom>
        </p:spPr>
      </p:pic>
      <p:sp>
        <p:nvSpPr>
          <p:cNvPr id="21" name="Shape 13"/>
          <p:cNvSpPr/>
          <p:nvPr/>
        </p:nvSpPr>
        <p:spPr>
          <a:xfrm>
            <a:off x="6025896" y="1188720"/>
            <a:ext cx="2706624" cy="411480"/>
          </a:xfrm>
          <a:prstGeom prst="rect">
            <a:avLst/>
          </a:prstGeom>
          <a:solidFill>
            <a:srgbClr val="EBEBEB"/>
          </a:solidFill>
          <a:ln/>
        </p:spPr>
      </p:sp>
      <p:sp>
        <p:nvSpPr>
          <p:cNvPr id="22" name="Text 14"/>
          <p:cNvSpPr txBox="1"/>
          <p:nvPr/>
        </p:nvSpPr>
        <p:spPr>
          <a:xfrm>
            <a:off x="6208776" y="1188720"/>
            <a:ext cx="2377440" cy="41148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国民生活</a:t>
            </a:r>
            <a:endParaRPr lang="en-US" sz="1400" dirty="0"/>
          </a:p>
        </p:txBody>
      </p:sp>
      <p:pic>
        <p:nvPicPr>
          <p:cNvPr id="23" name="Image 6" descr="p05_6">    </p:cNvPr>
          <p:cNvPicPr>
            <a:picLocks noChangeAspect="1"/>
          </p:cNvPicPr>
          <p:nvPr/>
        </p:nvPicPr>
        <p:blipFill>
          <a:blip r:embed="rId7"/>
          <a:stretch>
            <a:fillRect/>
          </a:stretch>
        </p:blipFill>
        <p:spPr>
          <a:xfrm>
            <a:off x="6025896" y="1691640"/>
            <a:ext cx="2706624" cy="914400"/>
          </a:xfrm>
          <a:prstGeom prst="rect">
            <a:avLst/>
          </a:prstGeom>
        </p:spPr>
      </p:pic>
      <p:pic>
        <p:nvPicPr>
          <p:cNvPr id="24" name="Image 7" descr="p05_7">    </p:cNvPr>
          <p:cNvPicPr>
            <a:picLocks noChangeAspect="1"/>
          </p:cNvPicPr>
          <p:nvPr/>
        </p:nvPicPr>
        <p:blipFill>
          <a:blip r:embed="rId8"/>
          <a:stretch>
            <a:fillRect/>
          </a:stretch>
        </p:blipFill>
        <p:spPr>
          <a:xfrm>
            <a:off x="6025896" y="2670048"/>
            <a:ext cx="2706624" cy="914400"/>
          </a:xfrm>
          <a:prstGeom prst="rect">
            <a:avLst/>
          </a:prstGeom>
        </p:spPr>
      </p:pic>
      <p:pic>
        <p:nvPicPr>
          <p:cNvPr id="25" name="Image 8" descr="p05_8">    </p:cNvPr>
          <p:cNvPicPr>
            <a:picLocks noChangeAspect="1"/>
          </p:cNvPicPr>
          <p:nvPr/>
        </p:nvPicPr>
        <p:blipFill>
          <a:blip r:embed="rId9"/>
          <a:stretch>
            <a:fillRect/>
          </a:stretch>
        </p:blipFill>
        <p:spPr>
          <a:xfrm>
            <a:off x="6025896" y="3648456"/>
            <a:ext cx="2706624" cy="914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产品设计与材料</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Product Design &amp; Materials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07</a:t>
            </a:r>
            <a:endParaRPr lang="en-US" sz="750" dirty="0"/>
          </a:p>
        </p:txBody>
      </p:sp>
      <p:pic>
        <p:nvPicPr>
          <p:cNvPr id="11" name="Image 0" descr="p06_0">    </p:cNvPr>
          <p:cNvPicPr>
            <a:picLocks noChangeAspect="1"/>
          </p:cNvPicPr>
          <p:nvPr/>
        </p:nvPicPr>
        <p:blipFill>
          <a:blip r:embed="rId1"/>
          <a:stretch>
            <a:fillRect/>
          </a:stretch>
        </p:blipFill>
        <p:spPr>
          <a:xfrm>
            <a:off x="411480" y="1188720"/>
            <a:ext cx="2651760" cy="3383280"/>
          </a:xfrm>
          <a:prstGeom prst="rect">
            <a:avLst/>
          </a:prstGeom>
        </p:spPr>
      </p:pic>
      <p:sp>
        <p:nvSpPr>
          <p:cNvPr id="12" name="Shape 9"/>
          <p:cNvSpPr/>
          <p:nvPr/>
        </p:nvSpPr>
        <p:spPr>
          <a:xfrm>
            <a:off x="3200400" y="1188720"/>
            <a:ext cx="5532120" cy="1463040"/>
          </a:xfrm>
          <a:prstGeom prst="roundRect">
            <a:avLst>
              <a:gd name="adj" fmla="val 7500"/>
            </a:avLst>
          </a:prstGeom>
          <a:solidFill>
            <a:srgbClr val="F4F4F4"/>
          </a:solidFill>
          <a:ln/>
        </p:spPr>
      </p:sp>
      <p:sp>
        <p:nvSpPr>
          <p:cNvPr id="13" name="Text 10"/>
          <p:cNvSpPr txBox="1"/>
          <p:nvPr/>
        </p:nvSpPr>
        <p:spPr>
          <a:xfrm>
            <a:off x="3474720" y="1188720"/>
            <a:ext cx="5029200" cy="1463040"/>
          </a:xfrm>
          <a:prstGeom prst="rect">
            <a:avLst/>
          </a:prstGeom>
          <a:noFill/>
          <a:ln/>
        </p:spPr>
        <p:txBody>
          <a:bodyPr wrap="square" lIns="0" tIns="0" rIns="0" bIns="0" rtlCol="0" anchor="ctr"/>
          <a:lstStyle/>
          <a:p>
            <a:pPr indent="0" marL="0">
              <a:lnSpc>
                <a:spcPct val="130000"/>
              </a:lnSpc>
              <a:buNone/>
            </a:pPr>
            <a:r>
              <a:rPr lang="en-US" sz="1350" dirty="0">
                <a:solidFill>
                  <a:srgbClr val="111111"/>
                </a:solidFill>
                <a:latin typeface="Microsoft YaHei" pitchFamily="34" charset="0"/>
                <a:ea typeface="Microsoft YaHei" pitchFamily="34" charset="-122"/>
                <a:cs typeface="Microsoft YaHei" pitchFamily="34" charset="-120"/>
              </a:rPr>
              <a:t>产品设计是一种把计划、想法或市场需求通过具体形式表达出来的创造性活动的过程，是对产品的功能、结构和形态等方面的优化和统一。</a:t>
            </a:r>
            <a:endParaRPr lang="en-US" sz="1350" dirty="0"/>
          </a:p>
        </p:txBody>
      </p:sp>
      <p:sp>
        <p:nvSpPr>
          <p:cNvPr id="14" name="Shape 11"/>
          <p:cNvSpPr/>
          <p:nvPr/>
        </p:nvSpPr>
        <p:spPr>
          <a:xfrm>
            <a:off x="3200400" y="2788920"/>
            <a:ext cx="5532120" cy="1783080"/>
          </a:xfrm>
          <a:prstGeom prst="roundRect">
            <a:avLst>
              <a:gd name="adj" fmla="val 5128"/>
            </a:avLst>
          </a:prstGeom>
          <a:solidFill>
            <a:srgbClr val="C7F8FB"/>
          </a:solidFill>
          <a:ln/>
        </p:spPr>
      </p:sp>
      <p:sp>
        <p:nvSpPr>
          <p:cNvPr id="15" name="Text 12"/>
          <p:cNvSpPr txBox="1"/>
          <p:nvPr/>
        </p:nvSpPr>
        <p:spPr>
          <a:xfrm>
            <a:off x="3474720" y="2788920"/>
            <a:ext cx="5029200" cy="1783080"/>
          </a:xfrm>
          <a:prstGeom prst="rect">
            <a:avLst/>
          </a:prstGeom>
          <a:noFill/>
          <a:ln/>
        </p:spPr>
        <p:txBody>
          <a:bodyPr wrap="square" lIns="0" tIns="0" rIns="0" bIns="0" rtlCol="0" anchor="ctr"/>
          <a:lstStyle/>
          <a:p>
            <a:pPr indent="0" marL="0">
              <a:lnSpc>
                <a:spcPct val="125000"/>
              </a:lnSpc>
              <a:buNone/>
            </a:pPr>
            <a:r>
              <a:rPr lang="en-US" sz="2000" b="1" dirty="0">
                <a:solidFill>
                  <a:srgbClr val="111111"/>
                </a:solidFill>
                <a:latin typeface="Microsoft YaHei" pitchFamily="34" charset="0"/>
                <a:ea typeface="Microsoft YaHei" pitchFamily="34" charset="-122"/>
                <a:cs typeface="Microsoft YaHei" pitchFamily="34" charset="-120"/>
              </a:rPr>
              <a:t>材料是产品设计的物质基础，是实现产品具体功能与审美体验的创造载体。</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材料属性 VS 材料需求</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Information Imbalance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08</a:t>
            </a:r>
            <a:endParaRPr lang="en-US" sz="750" dirty="0"/>
          </a:p>
        </p:txBody>
      </p:sp>
      <p:sp>
        <p:nvSpPr>
          <p:cNvPr id="11" name="Text 9"/>
          <p:cNvSpPr txBox="1"/>
          <p:nvPr/>
        </p:nvSpPr>
        <p:spPr>
          <a:xfrm>
            <a:off x="411480" y="1188720"/>
            <a:ext cx="8321040" cy="731520"/>
          </a:xfrm>
          <a:prstGeom prst="rect">
            <a:avLst/>
          </a:prstGeom>
          <a:noFill/>
          <a:ln/>
        </p:spPr>
        <p:txBody>
          <a:bodyPr wrap="square" lIns="0" tIns="0" rIns="0" bIns="0" rtlCol="0" anchor="t"/>
          <a:lstStyle/>
          <a:p>
            <a:pPr indent="0" marL="0">
              <a:lnSpc>
                <a:spcPct val="130000"/>
              </a:lnSpc>
              <a:buNone/>
            </a:pPr>
            <a:r>
              <a:rPr lang="en-US" sz="1500" dirty="0">
                <a:solidFill>
                  <a:srgbClr val="FFFFFF"/>
                </a:solidFill>
                <a:latin typeface="Microsoft YaHei" pitchFamily="34" charset="0"/>
                <a:ea typeface="Microsoft YaHei" pitchFamily="34" charset="-122"/>
                <a:cs typeface="Microsoft YaHei" pitchFamily="34" charset="-120"/>
              </a:rPr>
              <a:t>材料属性通常由具体参数、公式及技术参数进行表征，缺乏材料知识储备的产品设计师，无法筛选与设计需求相匹配的材料。</a:t>
            </a:r>
            <a:endParaRPr lang="en-US" sz="1500" dirty="0"/>
          </a:p>
        </p:txBody>
      </p:sp>
      <p:sp>
        <p:nvSpPr>
          <p:cNvPr id="12" name="Shape 10"/>
          <p:cNvSpPr/>
          <p:nvPr/>
        </p:nvSpPr>
        <p:spPr>
          <a:xfrm rot="-660000">
            <a:off x="2011680" y="3246120"/>
            <a:ext cx="5120640" cy="91440"/>
          </a:xfrm>
          <a:prstGeom prst="rect">
            <a:avLst/>
          </a:prstGeom>
          <a:solidFill>
            <a:srgbClr val="FFFFFF"/>
          </a:solidFill>
          <a:ln/>
        </p:spPr>
      </p:sp>
      <p:sp>
        <p:nvSpPr>
          <p:cNvPr id="13" name="Shape 11"/>
          <p:cNvSpPr/>
          <p:nvPr/>
        </p:nvSpPr>
        <p:spPr>
          <a:xfrm>
            <a:off x="4114800" y="3310128"/>
            <a:ext cx="914400" cy="731520"/>
          </a:xfrm>
          <a:prstGeom prst="triangle">
            <a:avLst/>
          </a:prstGeom>
          <a:solidFill>
            <a:srgbClr val="C7F8FB"/>
          </a:solidFill>
          <a:ln/>
        </p:spPr>
      </p:sp>
      <p:sp>
        <p:nvSpPr>
          <p:cNvPr id="14" name="Text 12"/>
          <p:cNvSpPr txBox="1"/>
          <p:nvPr/>
        </p:nvSpPr>
        <p:spPr>
          <a:xfrm>
            <a:off x="1234440" y="3246120"/>
            <a:ext cx="2011680" cy="457200"/>
          </a:xfrm>
          <a:prstGeom prst="rect">
            <a:avLst/>
          </a:prstGeom>
          <a:noFill/>
          <a:ln/>
        </p:spPr>
        <p:txBody>
          <a:bodyPr wrap="square" lIns="0" tIns="0" rIns="0" bIns="0" rtlCol="0" anchor="t"/>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材料属性</a:t>
            </a:r>
            <a:endParaRPr lang="en-US" sz="2200" dirty="0"/>
          </a:p>
        </p:txBody>
      </p:sp>
      <p:sp>
        <p:nvSpPr>
          <p:cNvPr id="15" name="Text 13"/>
          <p:cNvSpPr txBox="1"/>
          <p:nvPr/>
        </p:nvSpPr>
        <p:spPr>
          <a:xfrm>
            <a:off x="6263640" y="2057400"/>
            <a:ext cx="2194560" cy="502920"/>
          </a:xfrm>
          <a:prstGeom prst="rect">
            <a:avLst/>
          </a:prstGeom>
          <a:noFill/>
          <a:ln/>
        </p:spPr>
        <p:txBody>
          <a:bodyPr wrap="square" lIns="0" tIns="0" rIns="0" bIns="0" rtlCol="0" anchor="t"/>
          <a:lstStyle/>
          <a:p>
            <a:pPr indent="0" marL="0">
              <a:buNone/>
            </a:pPr>
            <a:r>
              <a:rPr lang="en-US" sz="2600" b="1" dirty="0">
                <a:solidFill>
                  <a:srgbClr val="C7F8FB"/>
                </a:solidFill>
                <a:latin typeface="Microsoft YaHei" pitchFamily="34" charset="0"/>
                <a:ea typeface="Microsoft YaHei" pitchFamily="34" charset="-122"/>
                <a:cs typeface="Microsoft YaHei" pitchFamily="34" charset="-120"/>
              </a:rPr>
              <a:t>材料需求</a:t>
            </a:r>
            <a:endParaRPr lang="en-US" sz="2600" dirty="0"/>
          </a:p>
        </p:txBody>
      </p:sp>
      <p:sp>
        <p:nvSpPr>
          <p:cNvPr id="16" name="Text 14"/>
          <p:cNvSpPr txBox="1"/>
          <p:nvPr/>
        </p:nvSpPr>
        <p:spPr>
          <a:xfrm>
            <a:off x="3566160" y="4114800"/>
            <a:ext cx="2011680" cy="320040"/>
          </a:xfrm>
          <a:prstGeom prst="rect">
            <a:avLst/>
          </a:prstGeom>
          <a:noFill/>
          <a:ln/>
        </p:spPr>
        <p:txBody>
          <a:bodyPr wrap="square" lIns="0" tIns="0" rIns="0" bIns="0" rtlCol="0" anchor="t"/>
          <a:lstStyle/>
          <a:p>
            <a:pPr algn="ctr" indent="0" marL="0">
              <a:buNone/>
            </a:pPr>
            <a:r>
              <a:rPr lang="en-US" sz="1300" dirty="0">
                <a:solidFill>
                  <a:srgbClr val="B5B5B5"/>
                </a:solidFill>
                <a:latin typeface="Microsoft YaHei" pitchFamily="34" charset="0"/>
                <a:ea typeface="Microsoft YaHei" pitchFamily="34" charset="-122"/>
                <a:cs typeface="Microsoft YaHei" pitchFamily="34" charset="-120"/>
              </a:rPr>
              <a:t>信息不平衡</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以材料信息为介质</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Information &amp; Interaction Design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09</a:t>
            </a:r>
            <a:endParaRPr lang="en-US" sz="750" dirty="0"/>
          </a:p>
        </p:txBody>
      </p:sp>
      <p:sp>
        <p:nvSpPr>
          <p:cNvPr id="11" name="Shape 9"/>
          <p:cNvSpPr/>
          <p:nvPr/>
        </p:nvSpPr>
        <p:spPr>
          <a:xfrm>
            <a:off x="411480" y="1188720"/>
            <a:ext cx="3749040" cy="3383280"/>
          </a:xfrm>
          <a:prstGeom prst="roundRect">
            <a:avLst>
              <a:gd name="adj" fmla="val 3243"/>
            </a:avLst>
          </a:prstGeom>
          <a:solidFill>
            <a:srgbClr val="F4F4F4"/>
          </a:solidFill>
          <a:ln/>
        </p:spPr>
      </p:sp>
      <p:sp>
        <p:nvSpPr>
          <p:cNvPr id="12" name="Text 10"/>
          <p:cNvSpPr txBox="1"/>
          <p:nvPr/>
        </p:nvSpPr>
        <p:spPr>
          <a:xfrm>
            <a:off x="685800" y="1188720"/>
            <a:ext cx="3200400" cy="3383280"/>
          </a:xfrm>
          <a:prstGeom prst="rect">
            <a:avLst/>
          </a:prstGeom>
          <a:noFill/>
          <a:ln/>
        </p:spPr>
        <p:txBody>
          <a:bodyPr wrap="square" lIns="0" tIns="0" rIns="0" bIns="0" rtlCol="0" anchor="ctr"/>
          <a:lstStyle/>
          <a:p>
            <a:pPr indent="0" marL="0">
              <a:lnSpc>
                <a:spcPct val="145000"/>
              </a:lnSpc>
              <a:buNone/>
            </a:pPr>
            <a:r>
              <a:rPr lang="en-US" sz="1350" dirty="0">
                <a:solidFill>
                  <a:srgbClr val="111111"/>
                </a:solidFill>
                <a:latin typeface="Microsoft YaHei" pitchFamily="34" charset="0"/>
                <a:ea typeface="Microsoft YaHei" pitchFamily="34" charset="-122"/>
                <a:cs typeface="Microsoft YaHei" pitchFamily="34" charset="-120"/>
              </a:rPr>
              <a:t>基于信息与交互设计的视角，以材料信息为介质，构建面向产品设计材料需求与材料技术属性间的转换模型，解决当前存在的材料需求与材料属性之间信息不平衡的状况，帮助设计师高效选择与产品设计目标适配的材料。</a:t>
            </a:r>
            <a:endParaRPr lang="en-US" sz="1350" dirty="0"/>
          </a:p>
        </p:txBody>
      </p:sp>
      <p:sp>
        <p:nvSpPr>
          <p:cNvPr id="13" name="Shape 11"/>
          <p:cNvSpPr/>
          <p:nvPr/>
        </p:nvSpPr>
        <p:spPr>
          <a:xfrm>
            <a:off x="4937760" y="2880360"/>
            <a:ext cx="3108960" cy="0"/>
          </a:xfrm>
          <a:prstGeom prst="line">
            <a:avLst/>
          </a:prstGeom>
          <a:noFill/>
          <a:ln w="19050">
            <a:solidFill>
              <a:srgbClr val="D0D0D0"/>
            </a:solidFill>
            <a:prstDash val="dash"/>
          </a:ln>
        </p:spPr>
      </p:sp>
      <p:sp>
        <p:nvSpPr>
          <p:cNvPr id="14" name="Shape 12"/>
          <p:cNvSpPr/>
          <p:nvPr/>
        </p:nvSpPr>
        <p:spPr>
          <a:xfrm>
            <a:off x="4389120" y="2240280"/>
            <a:ext cx="1280160" cy="1280160"/>
          </a:xfrm>
          <a:prstGeom prst="ellipse">
            <a:avLst/>
          </a:prstGeom>
          <a:solidFill>
            <a:srgbClr val="C7F8FB"/>
          </a:solidFill>
          <a:ln/>
        </p:spPr>
      </p:sp>
      <p:sp>
        <p:nvSpPr>
          <p:cNvPr id="15" name="Shape 13"/>
          <p:cNvSpPr/>
          <p:nvPr/>
        </p:nvSpPr>
        <p:spPr>
          <a:xfrm>
            <a:off x="5577840" y="1965960"/>
            <a:ext cx="1828800" cy="1828800"/>
          </a:xfrm>
          <a:prstGeom prst="ellipse">
            <a:avLst/>
          </a:prstGeom>
          <a:solidFill>
            <a:srgbClr val="111111"/>
          </a:solidFill>
          <a:ln/>
        </p:spPr>
      </p:sp>
      <p:sp>
        <p:nvSpPr>
          <p:cNvPr id="16" name="Shape 14"/>
          <p:cNvSpPr/>
          <p:nvPr/>
        </p:nvSpPr>
        <p:spPr>
          <a:xfrm>
            <a:off x="7315200" y="2240280"/>
            <a:ext cx="1280160" cy="1280160"/>
          </a:xfrm>
          <a:prstGeom prst="ellipse">
            <a:avLst/>
          </a:prstGeom>
          <a:solidFill>
            <a:srgbClr val="EBEBEB"/>
          </a:solidFill>
          <a:ln/>
        </p:spPr>
      </p:sp>
      <p:sp>
        <p:nvSpPr>
          <p:cNvPr id="17" name="Text 15"/>
          <p:cNvSpPr txBox="1"/>
          <p:nvPr/>
        </p:nvSpPr>
        <p:spPr>
          <a:xfrm>
            <a:off x="4389120" y="2240280"/>
            <a:ext cx="1280160" cy="12801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需求</a:t>
            </a:r>
            <a:endParaRPr lang="en-US" sz="2000" dirty="0"/>
          </a:p>
        </p:txBody>
      </p:sp>
      <p:sp>
        <p:nvSpPr>
          <p:cNvPr id="18" name="Text 16"/>
          <p:cNvSpPr txBox="1"/>
          <p:nvPr/>
        </p:nvSpPr>
        <p:spPr>
          <a:xfrm>
            <a:off x="5577840" y="1965960"/>
            <a:ext cx="1828800" cy="1828800"/>
          </a:xfrm>
          <a:prstGeom prst="rect">
            <a:avLst/>
          </a:prstGeom>
          <a:noFill/>
          <a:ln/>
        </p:spPr>
        <p:txBody>
          <a:bodyPr wrap="square" lIns="0" tIns="0" rIns="0" bIns="0" rtlCol="0" anchor="ctr"/>
          <a:lstStyle/>
          <a:p>
            <a:pPr algn="ctr" indent="0" marL="0">
              <a:buNone/>
            </a:pPr>
            <a:r>
              <a:rPr lang="en-US" sz="3000" b="1" dirty="0">
                <a:solidFill>
                  <a:srgbClr val="FFFFFF"/>
                </a:solidFill>
                <a:latin typeface="Microsoft YaHei" pitchFamily="34" charset="0"/>
                <a:ea typeface="Microsoft YaHei" pitchFamily="34" charset="-122"/>
                <a:cs typeface="Microsoft YaHei" pitchFamily="34" charset="-120"/>
              </a:rPr>
              <a:t>材料</a:t>
            </a:r>
            <a:endParaRPr lang="en-US" sz="3000" dirty="0"/>
          </a:p>
        </p:txBody>
      </p:sp>
      <p:sp>
        <p:nvSpPr>
          <p:cNvPr id="19" name="Text 17"/>
          <p:cNvSpPr txBox="1"/>
          <p:nvPr/>
        </p:nvSpPr>
        <p:spPr>
          <a:xfrm>
            <a:off x="7315200" y="2240280"/>
            <a:ext cx="1280160" cy="12801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属性</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研究框架</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Framework</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10</a:t>
            </a:r>
            <a:endParaRPr lang="en-US" sz="750" dirty="0"/>
          </a:p>
        </p:txBody>
      </p:sp>
      <p:sp>
        <p:nvSpPr>
          <p:cNvPr id="11" name="Shape 9"/>
          <p:cNvSpPr/>
          <p:nvPr/>
        </p:nvSpPr>
        <p:spPr>
          <a:xfrm>
            <a:off x="411480" y="1188720"/>
            <a:ext cx="1576426" cy="3383280"/>
          </a:xfrm>
          <a:prstGeom prst="roundRect">
            <a:avLst>
              <a:gd name="adj" fmla="val 5800"/>
            </a:avLst>
          </a:prstGeom>
          <a:solidFill>
            <a:srgbClr val="C7F8FB"/>
          </a:solidFill>
          <a:ln/>
        </p:spPr>
      </p:sp>
      <p:sp>
        <p:nvSpPr>
          <p:cNvPr id="12" name="Text 10"/>
          <p:cNvSpPr txBox="1"/>
          <p:nvPr/>
        </p:nvSpPr>
        <p:spPr>
          <a:xfrm>
            <a:off x="594360"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3" name="Text 11"/>
          <p:cNvSpPr txBox="1"/>
          <p:nvPr/>
        </p:nvSpPr>
        <p:spPr>
          <a:xfrm>
            <a:off x="594360"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产品材料</a:t>
            </a:r>
            <a:endParaRPr lang="en-US" sz="1400" dirty="0"/>
          </a:p>
        </p:txBody>
      </p:sp>
      <p:sp>
        <p:nvSpPr>
          <p:cNvPr id="14" name="Text 12"/>
          <p:cNvSpPr txBox="1"/>
          <p:nvPr/>
        </p:nvSpPr>
        <p:spPr>
          <a:xfrm>
            <a:off x="594360"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Materials in Product Design</a:t>
            </a:r>
            <a:endParaRPr lang="en-US" sz="900" dirty="0"/>
          </a:p>
        </p:txBody>
      </p:sp>
      <p:sp>
        <p:nvSpPr>
          <p:cNvPr id="15" name="Shape 13"/>
          <p:cNvSpPr/>
          <p:nvPr/>
        </p:nvSpPr>
        <p:spPr>
          <a:xfrm>
            <a:off x="2097634" y="1188720"/>
            <a:ext cx="1576426" cy="3383280"/>
          </a:xfrm>
          <a:prstGeom prst="roundRect">
            <a:avLst>
              <a:gd name="adj" fmla="val 5800"/>
            </a:avLst>
          </a:prstGeom>
          <a:solidFill>
            <a:srgbClr val="F4F4F4"/>
          </a:solidFill>
          <a:ln/>
        </p:spPr>
      </p:sp>
      <p:sp>
        <p:nvSpPr>
          <p:cNvPr id="16" name="Text 14"/>
          <p:cNvSpPr txBox="1"/>
          <p:nvPr/>
        </p:nvSpPr>
        <p:spPr>
          <a:xfrm>
            <a:off x="2280514"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7" name="Text 15"/>
          <p:cNvSpPr txBox="1"/>
          <p:nvPr/>
        </p:nvSpPr>
        <p:spPr>
          <a:xfrm>
            <a:off x="2280514"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产品设计中的</a:t>
            </a:r>
            <a:endParaRPr lang="en-US" sz="1400" dirty="0"/>
          </a:p>
          <a:p>
            <a:pPr indent="0" marL="0">
              <a:buNone/>
            </a:pPr>
            <a:r>
              <a:rPr lang="en-US" sz="1400" b="1" dirty="0">
                <a:solidFill>
                  <a:srgbClr val="111111"/>
                </a:solidFill>
                <a:latin typeface="Microsoft YaHei" pitchFamily="34" charset="0"/>
                <a:ea typeface="Microsoft YaHei" pitchFamily="34" charset="-122"/>
                <a:cs typeface="Microsoft YaHei" pitchFamily="34" charset="-120"/>
              </a:rPr>
              <a:t>材料需求</a:t>
            </a:r>
            <a:endParaRPr lang="en-US" sz="1400" dirty="0"/>
          </a:p>
        </p:txBody>
      </p:sp>
      <p:sp>
        <p:nvSpPr>
          <p:cNvPr id="18" name="Text 16"/>
          <p:cNvSpPr txBox="1"/>
          <p:nvPr/>
        </p:nvSpPr>
        <p:spPr>
          <a:xfrm>
            <a:off x="2280514"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Materials' Requirements in Product Design</a:t>
            </a:r>
            <a:endParaRPr lang="en-US" sz="900" dirty="0"/>
          </a:p>
        </p:txBody>
      </p:sp>
      <p:sp>
        <p:nvSpPr>
          <p:cNvPr id="19" name="Shape 17"/>
          <p:cNvSpPr/>
          <p:nvPr/>
        </p:nvSpPr>
        <p:spPr>
          <a:xfrm>
            <a:off x="3783787" y="1188720"/>
            <a:ext cx="1576426" cy="3383280"/>
          </a:xfrm>
          <a:prstGeom prst="roundRect">
            <a:avLst>
              <a:gd name="adj" fmla="val 5800"/>
            </a:avLst>
          </a:prstGeom>
          <a:solidFill>
            <a:srgbClr val="111111"/>
          </a:solidFill>
          <a:ln/>
        </p:spPr>
      </p:sp>
      <p:sp>
        <p:nvSpPr>
          <p:cNvPr id="20" name="Text 18"/>
          <p:cNvSpPr txBox="1"/>
          <p:nvPr/>
        </p:nvSpPr>
        <p:spPr>
          <a:xfrm>
            <a:off x="3966667" y="1325880"/>
            <a:ext cx="1302106" cy="64008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03</a:t>
            </a:r>
            <a:endParaRPr lang="en-US" sz="3000" dirty="0"/>
          </a:p>
        </p:txBody>
      </p:sp>
      <p:sp>
        <p:nvSpPr>
          <p:cNvPr id="21" name="Text 19"/>
          <p:cNvSpPr txBox="1"/>
          <p:nvPr/>
        </p:nvSpPr>
        <p:spPr>
          <a:xfrm>
            <a:off x="3966667" y="2743200"/>
            <a:ext cx="1302106" cy="86868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材料信息学</a:t>
            </a:r>
            <a:endParaRPr lang="en-US" sz="1400" dirty="0"/>
          </a:p>
        </p:txBody>
      </p:sp>
      <p:sp>
        <p:nvSpPr>
          <p:cNvPr id="22" name="Text 20"/>
          <p:cNvSpPr txBox="1"/>
          <p:nvPr/>
        </p:nvSpPr>
        <p:spPr>
          <a:xfrm>
            <a:off x="3966667" y="3703320"/>
            <a:ext cx="1256386" cy="685800"/>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Material Informatics</a:t>
            </a:r>
            <a:endParaRPr lang="en-US" sz="900" dirty="0"/>
          </a:p>
        </p:txBody>
      </p:sp>
      <p:sp>
        <p:nvSpPr>
          <p:cNvPr id="23" name="Shape 21"/>
          <p:cNvSpPr/>
          <p:nvPr/>
        </p:nvSpPr>
        <p:spPr>
          <a:xfrm>
            <a:off x="5469941" y="1188720"/>
            <a:ext cx="1576426" cy="3383280"/>
          </a:xfrm>
          <a:prstGeom prst="roundRect">
            <a:avLst>
              <a:gd name="adj" fmla="val 5800"/>
            </a:avLst>
          </a:prstGeom>
          <a:solidFill>
            <a:srgbClr val="F4F4F4"/>
          </a:solidFill>
          <a:ln/>
        </p:spPr>
      </p:sp>
      <p:sp>
        <p:nvSpPr>
          <p:cNvPr id="24" name="Text 22"/>
          <p:cNvSpPr txBox="1"/>
          <p:nvPr/>
        </p:nvSpPr>
        <p:spPr>
          <a:xfrm>
            <a:off x="5652821"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04</a:t>
            </a:r>
            <a:endParaRPr lang="en-US" sz="3000" dirty="0"/>
          </a:p>
        </p:txBody>
      </p:sp>
      <p:sp>
        <p:nvSpPr>
          <p:cNvPr id="25" name="Text 23"/>
          <p:cNvSpPr txBox="1"/>
          <p:nvPr/>
        </p:nvSpPr>
        <p:spPr>
          <a:xfrm>
            <a:off x="5652821"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材料信息数据库</a:t>
            </a:r>
            <a:endParaRPr lang="en-US" sz="1400" dirty="0"/>
          </a:p>
        </p:txBody>
      </p:sp>
      <p:sp>
        <p:nvSpPr>
          <p:cNvPr id="26" name="Text 24"/>
          <p:cNvSpPr txBox="1"/>
          <p:nvPr/>
        </p:nvSpPr>
        <p:spPr>
          <a:xfrm>
            <a:off x="5652821"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Materials Database &amp; Selection Methodology</a:t>
            </a:r>
            <a:endParaRPr lang="en-US" sz="900" dirty="0"/>
          </a:p>
        </p:txBody>
      </p:sp>
      <p:sp>
        <p:nvSpPr>
          <p:cNvPr id="27" name="Shape 25"/>
          <p:cNvSpPr/>
          <p:nvPr/>
        </p:nvSpPr>
        <p:spPr>
          <a:xfrm>
            <a:off x="7156094" y="1188720"/>
            <a:ext cx="1576426" cy="3383280"/>
          </a:xfrm>
          <a:prstGeom prst="roundRect">
            <a:avLst>
              <a:gd name="adj" fmla="val 5800"/>
            </a:avLst>
          </a:prstGeom>
          <a:solidFill>
            <a:srgbClr val="C7F8FB"/>
          </a:solidFill>
          <a:ln/>
        </p:spPr>
      </p:sp>
      <p:sp>
        <p:nvSpPr>
          <p:cNvPr id="28" name="Text 26"/>
          <p:cNvSpPr txBox="1"/>
          <p:nvPr/>
        </p:nvSpPr>
        <p:spPr>
          <a:xfrm>
            <a:off x="7338974" y="1325880"/>
            <a:ext cx="1302106" cy="64008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05</a:t>
            </a:r>
            <a:endParaRPr lang="en-US" sz="3000" dirty="0"/>
          </a:p>
        </p:txBody>
      </p:sp>
      <p:sp>
        <p:nvSpPr>
          <p:cNvPr id="29" name="Text 27"/>
          <p:cNvSpPr txBox="1"/>
          <p:nvPr/>
        </p:nvSpPr>
        <p:spPr>
          <a:xfrm>
            <a:off x="7338974" y="2743200"/>
            <a:ext cx="1302106" cy="86868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信息转换</a:t>
            </a:r>
            <a:endParaRPr lang="en-US" sz="1400" dirty="0"/>
          </a:p>
        </p:txBody>
      </p:sp>
      <p:sp>
        <p:nvSpPr>
          <p:cNvPr id="30" name="Text 28"/>
          <p:cNvSpPr txBox="1"/>
          <p:nvPr/>
        </p:nvSpPr>
        <p:spPr>
          <a:xfrm>
            <a:off x="7338974" y="3703320"/>
            <a:ext cx="1256386" cy="685800"/>
          </a:xfrm>
          <a:prstGeom prst="rect">
            <a:avLst/>
          </a:prstGeom>
          <a:noFill/>
          <a:ln/>
        </p:spPr>
        <p:txBody>
          <a:bodyPr wrap="square" lIns="0" tIns="0" rIns="0" bIns="0" rtlCol="0" anchor="t"/>
          <a:lstStyle/>
          <a:p>
            <a:pPr indent="0" marL="0">
              <a:buNone/>
            </a:pPr>
            <a:r>
              <a:rPr lang="en-US" sz="900" dirty="0">
                <a:solidFill>
                  <a:srgbClr val="111111"/>
                </a:solidFill>
                <a:latin typeface="Arial" pitchFamily="34" charset="0"/>
                <a:ea typeface="Arial" pitchFamily="34" charset="-122"/>
                <a:cs typeface="Arial" pitchFamily="34" charset="-120"/>
              </a:rPr>
              <a:t>Information Conversion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CMF 设计</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CMF Design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11</a:t>
            </a:r>
            <a:endParaRPr lang="en-US" sz="750" dirty="0"/>
          </a:p>
        </p:txBody>
      </p:sp>
      <p:sp>
        <p:nvSpPr>
          <p:cNvPr id="11" name="Shape 9"/>
          <p:cNvSpPr/>
          <p:nvPr/>
        </p:nvSpPr>
        <p:spPr>
          <a:xfrm>
            <a:off x="411480" y="1188720"/>
            <a:ext cx="4114800" cy="3383280"/>
          </a:xfrm>
          <a:prstGeom prst="roundRect">
            <a:avLst>
              <a:gd name="adj" fmla="val 2703"/>
            </a:avLst>
          </a:prstGeom>
          <a:solidFill>
            <a:srgbClr val="C7F8FB"/>
          </a:solidFill>
          <a:ln/>
        </p:spPr>
      </p:sp>
      <p:sp>
        <p:nvSpPr>
          <p:cNvPr id="12" name="Text 10"/>
          <p:cNvSpPr txBox="1"/>
          <p:nvPr/>
        </p:nvSpPr>
        <p:spPr>
          <a:xfrm>
            <a:off x="685800" y="2377440"/>
            <a:ext cx="3657600" cy="2011680"/>
          </a:xfrm>
          <a:prstGeom prst="rect">
            <a:avLst/>
          </a:prstGeom>
          <a:noFill/>
          <a:ln/>
        </p:spPr>
        <p:txBody>
          <a:bodyPr wrap="square" lIns="0" tIns="0" rIns="0" bIns="0" rtlCol="0" anchor="b"/>
          <a:lstStyle/>
          <a:p>
            <a:pPr indent="0" marL="0">
              <a:lnSpc>
                <a:spcPct val="95000"/>
              </a:lnSpc>
              <a:buNone/>
            </a:pPr>
            <a:r>
              <a:rPr lang="en-US" sz="5000" b="1" dirty="0">
                <a:solidFill>
                  <a:srgbClr val="111111"/>
                </a:solidFill>
                <a:latin typeface="Arial" pitchFamily="34" charset="0"/>
                <a:ea typeface="Arial" pitchFamily="34" charset="-122"/>
                <a:cs typeface="Arial" pitchFamily="34" charset="-120"/>
              </a:rPr>
              <a:t>CMF</a:t>
            </a:r>
            <a:endParaRPr lang="en-US" sz="5000" dirty="0"/>
          </a:p>
          <a:p>
            <a:pPr indent="0" marL="0">
              <a:lnSpc>
                <a:spcPct val="95000"/>
              </a:lnSpc>
              <a:buNone/>
            </a:pPr>
            <a:r>
              <a:rPr lang="en-US" sz="5000" b="1" dirty="0">
                <a:solidFill>
                  <a:srgbClr val="111111"/>
                </a:solidFill>
                <a:latin typeface="Arial" pitchFamily="34" charset="0"/>
                <a:ea typeface="Arial" pitchFamily="34" charset="-122"/>
                <a:cs typeface="Arial" pitchFamily="34" charset="-120"/>
              </a:rPr>
              <a:t>Design</a:t>
            </a:r>
            <a:endParaRPr lang="en-US" sz="5000" dirty="0"/>
          </a:p>
        </p:txBody>
      </p:sp>
      <p:sp>
        <p:nvSpPr>
          <p:cNvPr id="13" name="Shape 11"/>
          <p:cNvSpPr/>
          <p:nvPr/>
        </p:nvSpPr>
        <p:spPr>
          <a:xfrm>
            <a:off x="4636008" y="1188720"/>
            <a:ext cx="4096512" cy="1088136"/>
          </a:xfrm>
          <a:prstGeom prst="roundRect">
            <a:avLst>
              <a:gd name="adj" fmla="val 8403"/>
            </a:avLst>
          </a:prstGeom>
          <a:solidFill>
            <a:srgbClr val="EBEBEB"/>
          </a:solidFill>
          <a:ln/>
        </p:spPr>
      </p:sp>
      <p:sp>
        <p:nvSpPr>
          <p:cNvPr id="14" name="Text 12"/>
          <p:cNvSpPr txBox="1"/>
          <p:nvPr/>
        </p:nvSpPr>
        <p:spPr>
          <a:xfrm>
            <a:off x="4846320" y="1188720"/>
            <a:ext cx="822960" cy="1088136"/>
          </a:xfrm>
          <a:prstGeom prst="rect">
            <a:avLst/>
          </a:prstGeom>
          <a:noFill/>
          <a:ln/>
        </p:spPr>
        <p:txBody>
          <a:bodyPr wrap="square" lIns="0" tIns="0" rIns="0" bIns="0" rtlCol="0" anchor="ctr"/>
          <a:lstStyle/>
          <a:p>
            <a:pPr indent="0" marL="0">
              <a:buNone/>
            </a:pPr>
            <a:r>
              <a:rPr lang="en-US" sz="4400" b="1" dirty="0">
                <a:solidFill>
                  <a:srgbClr val="111111"/>
                </a:solidFill>
                <a:latin typeface="Arial" pitchFamily="34" charset="0"/>
                <a:ea typeface="Arial" pitchFamily="34" charset="-122"/>
                <a:cs typeface="Arial" pitchFamily="34" charset="-120"/>
              </a:rPr>
              <a:t>C</a:t>
            </a:r>
            <a:endParaRPr lang="en-US" sz="4400" dirty="0"/>
          </a:p>
        </p:txBody>
      </p:sp>
      <p:sp>
        <p:nvSpPr>
          <p:cNvPr id="15" name="Text 13"/>
          <p:cNvSpPr txBox="1"/>
          <p:nvPr/>
        </p:nvSpPr>
        <p:spPr>
          <a:xfrm>
            <a:off x="5806440" y="1389888"/>
            <a:ext cx="2743200" cy="384048"/>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Color</a:t>
            </a:r>
            <a:endParaRPr lang="en-US" sz="1800" dirty="0"/>
          </a:p>
        </p:txBody>
      </p:sp>
      <p:sp>
        <p:nvSpPr>
          <p:cNvPr id="16" name="Text 14"/>
          <p:cNvSpPr txBox="1"/>
          <p:nvPr/>
        </p:nvSpPr>
        <p:spPr>
          <a:xfrm>
            <a:off x="5806440" y="1773936"/>
            <a:ext cx="27432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色彩</a:t>
            </a:r>
            <a:endParaRPr lang="en-US" sz="1300" dirty="0"/>
          </a:p>
        </p:txBody>
      </p:sp>
      <p:sp>
        <p:nvSpPr>
          <p:cNvPr id="17" name="Shape 15"/>
          <p:cNvSpPr/>
          <p:nvPr/>
        </p:nvSpPr>
        <p:spPr>
          <a:xfrm>
            <a:off x="4636008" y="2334463"/>
            <a:ext cx="4096512" cy="1088136"/>
          </a:xfrm>
          <a:prstGeom prst="roundRect">
            <a:avLst>
              <a:gd name="adj" fmla="val 8403"/>
            </a:avLst>
          </a:prstGeom>
          <a:solidFill>
            <a:srgbClr val="111111"/>
          </a:solidFill>
          <a:ln/>
        </p:spPr>
      </p:sp>
      <p:sp>
        <p:nvSpPr>
          <p:cNvPr id="18" name="Text 16"/>
          <p:cNvSpPr txBox="1"/>
          <p:nvPr/>
        </p:nvSpPr>
        <p:spPr>
          <a:xfrm>
            <a:off x="4846320" y="2334463"/>
            <a:ext cx="822960" cy="1088136"/>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a:t>
            </a:r>
            <a:endParaRPr lang="en-US" sz="4400" dirty="0"/>
          </a:p>
        </p:txBody>
      </p:sp>
      <p:sp>
        <p:nvSpPr>
          <p:cNvPr id="19" name="Text 17"/>
          <p:cNvSpPr txBox="1"/>
          <p:nvPr/>
        </p:nvSpPr>
        <p:spPr>
          <a:xfrm>
            <a:off x="5806440" y="2535631"/>
            <a:ext cx="2743200" cy="384048"/>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Materials</a:t>
            </a:r>
            <a:endParaRPr lang="en-US" sz="1800" dirty="0"/>
          </a:p>
        </p:txBody>
      </p:sp>
      <p:sp>
        <p:nvSpPr>
          <p:cNvPr id="20" name="Text 18"/>
          <p:cNvSpPr txBox="1"/>
          <p:nvPr/>
        </p:nvSpPr>
        <p:spPr>
          <a:xfrm>
            <a:off x="5806440" y="2919679"/>
            <a:ext cx="2743200" cy="320040"/>
          </a:xfrm>
          <a:prstGeom prst="rect">
            <a:avLst/>
          </a:prstGeom>
          <a:noFill/>
          <a:ln/>
        </p:spPr>
        <p:txBody>
          <a:bodyPr wrap="square" lIns="0" tIns="0" rIns="0" bIns="0" rtlCol="0" anchor="ctr"/>
          <a:lstStyle/>
          <a:p>
            <a:pPr indent="0" marL="0">
              <a:buNone/>
            </a:pPr>
            <a:r>
              <a:rPr lang="en-US" sz="1300" dirty="0">
                <a:solidFill>
                  <a:srgbClr val="FFFFFF"/>
                </a:solidFill>
                <a:latin typeface="Microsoft YaHei" pitchFamily="34" charset="0"/>
                <a:ea typeface="Microsoft YaHei" pitchFamily="34" charset="-122"/>
                <a:cs typeface="Microsoft YaHei" pitchFamily="34" charset="-120"/>
              </a:rPr>
              <a:t>材料</a:t>
            </a:r>
            <a:endParaRPr lang="en-US" sz="1300" dirty="0"/>
          </a:p>
        </p:txBody>
      </p:sp>
      <p:sp>
        <p:nvSpPr>
          <p:cNvPr id="21" name="Shape 19"/>
          <p:cNvSpPr/>
          <p:nvPr/>
        </p:nvSpPr>
        <p:spPr>
          <a:xfrm>
            <a:off x="4636008" y="3480206"/>
            <a:ext cx="4096512" cy="1088136"/>
          </a:xfrm>
          <a:prstGeom prst="roundRect">
            <a:avLst>
              <a:gd name="adj" fmla="val 8403"/>
            </a:avLst>
          </a:prstGeom>
          <a:solidFill>
            <a:srgbClr val="FFFFFF"/>
          </a:solidFill>
          <a:ln w="9525">
            <a:solidFill>
              <a:srgbClr val="D0D0D0"/>
            </a:solidFill>
            <a:prstDash val="solid"/>
          </a:ln>
        </p:spPr>
      </p:sp>
      <p:sp>
        <p:nvSpPr>
          <p:cNvPr id="22" name="Text 20"/>
          <p:cNvSpPr txBox="1"/>
          <p:nvPr/>
        </p:nvSpPr>
        <p:spPr>
          <a:xfrm>
            <a:off x="4846320" y="3480206"/>
            <a:ext cx="822960" cy="1088136"/>
          </a:xfrm>
          <a:prstGeom prst="rect">
            <a:avLst/>
          </a:prstGeom>
          <a:noFill/>
          <a:ln/>
        </p:spPr>
        <p:txBody>
          <a:bodyPr wrap="square" lIns="0" tIns="0" rIns="0" bIns="0" rtlCol="0" anchor="ctr"/>
          <a:lstStyle/>
          <a:p>
            <a:pPr indent="0" marL="0">
              <a:buNone/>
            </a:pPr>
            <a:r>
              <a:rPr lang="en-US" sz="4400" b="1" dirty="0">
                <a:solidFill>
                  <a:srgbClr val="111111"/>
                </a:solidFill>
                <a:latin typeface="Arial" pitchFamily="34" charset="0"/>
                <a:ea typeface="Arial" pitchFamily="34" charset="-122"/>
                <a:cs typeface="Arial" pitchFamily="34" charset="-120"/>
              </a:rPr>
              <a:t>F</a:t>
            </a:r>
            <a:endParaRPr lang="en-US" sz="4400" dirty="0"/>
          </a:p>
        </p:txBody>
      </p:sp>
      <p:sp>
        <p:nvSpPr>
          <p:cNvPr id="23" name="Text 21"/>
          <p:cNvSpPr txBox="1"/>
          <p:nvPr/>
        </p:nvSpPr>
        <p:spPr>
          <a:xfrm>
            <a:off x="5806440" y="3681374"/>
            <a:ext cx="2743200" cy="384048"/>
          </a:xfrm>
          <a:prstGeom prst="rect">
            <a:avLst/>
          </a:prstGeom>
          <a:noFill/>
          <a:ln/>
        </p:spPr>
        <p:txBody>
          <a:bodyPr wrap="square" lIns="0" tIns="0" rIns="0" bIns="0" rtlCol="0" anchor="ctr"/>
          <a:lstStyle/>
          <a:p>
            <a:pPr indent="0" marL="0">
              <a:buNone/>
            </a:pPr>
            <a:r>
              <a:rPr lang="en-US" sz="1800" dirty="0">
                <a:solidFill>
                  <a:srgbClr val="111111"/>
                </a:solidFill>
                <a:latin typeface="Arial" pitchFamily="34" charset="0"/>
                <a:ea typeface="Arial" pitchFamily="34" charset="-122"/>
                <a:cs typeface="Arial" pitchFamily="34" charset="-120"/>
              </a:rPr>
              <a:t>Finishing</a:t>
            </a:r>
            <a:endParaRPr lang="en-US" sz="1800" dirty="0"/>
          </a:p>
        </p:txBody>
      </p:sp>
      <p:sp>
        <p:nvSpPr>
          <p:cNvPr id="24" name="Text 22"/>
          <p:cNvSpPr txBox="1"/>
          <p:nvPr/>
        </p:nvSpPr>
        <p:spPr>
          <a:xfrm>
            <a:off x="5806440" y="4065422"/>
            <a:ext cx="27432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表面处理</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CMF 设计案例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CMF Cases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12</a:t>
            </a:r>
            <a:endParaRPr lang="en-US" sz="750" dirty="0"/>
          </a:p>
        </p:txBody>
      </p:sp>
      <p:pic>
        <p:nvPicPr>
          <p:cNvPr id="11" name="Image 0" descr="p11_3">    </p:cNvPr>
          <p:cNvPicPr>
            <a:picLocks noChangeAspect="1"/>
          </p:cNvPicPr>
          <p:nvPr/>
        </p:nvPicPr>
        <p:blipFill>
          <a:blip r:embed="rId1"/>
          <a:stretch>
            <a:fillRect/>
          </a:stretch>
        </p:blipFill>
        <p:spPr>
          <a:xfrm>
            <a:off x="411480" y="1188720"/>
            <a:ext cx="4114800" cy="3383280"/>
          </a:xfrm>
          <a:prstGeom prst="rect">
            <a:avLst/>
          </a:prstGeom>
        </p:spPr>
      </p:pic>
      <p:pic>
        <p:nvPicPr>
          <p:cNvPr id="12" name="Image 1" descr="p11_2">    </p:cNvPr>
          <p:cNvPicPr>
            <a:picLocks noChangeAspect="1"/>
          </p:cNvPicPr>
          <p:nvPr/>
        </p:nvPicPr>
        <p:blipFill>
          <a:blip r:embed="rId2"/>
          <a:stretch>
            <a:fillRect/>
          </a:stretch>
        </p:blipFill>
        <p:spPr>
          <a:xfrm>
            <a:off x="4636008" y="1188720"/>
            <a:ext cx="4096512" cy="1636776"/>
          </a:xfrm>
          <a:prstGeom prst="rect">
            <a:avLst/>
          </a:prstGeom>
        </p:spPr>
      </p:pic>
      <p:pic>
        <p:nvPicPr>
          <p:cNvPr id="13" name="Image 2" descr="p11_0">    </p:cNvPr>
          <p:cNvPicPr>
            <a:picLocks noChangeAspect="1"/>
          </p:cNvPicPr>
          <p:nvPr/>
        </p:nvPicPr>
        <p:blipFill>
          <a:blip r:embed="rId3"/>
          <a:stretch>
            <a:fillRect/>
          </a:stretch>
        </p:blipFill>
        <p:spPr>
          <a:xfrm>
            <a:off x="4636008" y="2935224"/>
            <a:ext cx="1993392" cy="1636776"/>
          </a:xfrm>
          <a:prstGeom prst="rect">
            <a:avLst/>
          </a:prstGeom>
        </p:spPr>
      </p:pic>
      <p:pic>
        <p:nvPicPr>
          <p:cNvPr id="14" name="Image 3" descr="p11_1">    </p:cNvPr>
          <p:cNvPicPr>
            <a:picLocks noChangeAspect="1"/>
          </p:cNvPicPr>
          <p:nvPr/>
        </p:nvPicPr>
        <p:blipFill>
          <a:blip r:embed="rId4"/>
          <a:stretch>
            <a:fillRect/>
          </a:stretch>
        </p:blipFill>
        <p:spPr>
          <a:xfrm>
            <a:off x="6739128" y="2935224"/>
            <a:ext cx="1993392" cy="16367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CMF 相关机构</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CMF Institutions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13</a:t>
            </a:r>
            <a:endParaRPr lang="en-US" sz="750" dirty="0"/>
          </a:p>
        </p:txBody>
      </p:sp>
      <p:sp>
        <p:nvSpPr>
          <p:cNvPr id="11" name="Shape 9"/>
          <p:cNvSpPr/>
          <p:nvPr/>
        </p:nvSpPr>
        <p:spPr>
          <a:xfrm>
            <a:off x="411480" y="1188720"/>
            <a:ext cx="8321040" cy="1005840"/>
          </a:xfrm>
          <a:prstGeom prst="roundRect">
            <a:avLst>
              <a:gd name="adj" fmla="val 9091"/>
            </a:avLst>
          </a:prstGeom>
          <a:solidFill>
            <a:srgbClr val="C7F8FB"/>
          </a:solidFill>
          <a:ln/>
        </p:spPr>
      </p:sp>
      <p:sp>
        <p:nvSpPr>
          <p:cNvPr id="12" name="Text 10"/>
          <p:cNvSpPr txBox="1"/>
          <p:nvPr/>
        </p:nvSpPr>
        <p:spPr>
          <a:xfrm>
            <a:off x="685800" y="1188720"/>
            <a:ext cx="7772400" cy="1005840"/>
          </a:xfrm>
          <a:prstGeom prst="rect">
            <a:avLst/>
          </a:prstGeom>
          <a:noFill/>
          <a:ln/>
        </p:spPr>
        <p:txBody>
          <a:bodyPr wrap="square" lIns="0" tIns="0" rIns="0" bIns="0" rtlCol="0" anchor="ctr"/>
          <a:lstStyle/>
          <a:p>
            <a:pPr indent="0" marL="0">
              <a:buNone/>
            </a:pPr>
            <a:r>
              <a:rPr lang="en-US" sz="2200" b="1" dirty="0">
                <a:solidFill>
                  <a:srgbClr val="111111"/>
                </a:solidFill>
                <a:latin typeface="Arial" pitchFamily="34" charset="0"/>
                <a:ea typeface="Arial" pitchFamily="34" charset="-122"/>
                <a:cs typeface="Arial" pitchFamily="34" charset="-120"/>
              </a:rPr>
              <a:t>Color · Materials · Finishing</a:t>
            </a:r>
            <a:endParaRPr lang="en-US" sz="2200" dirty="0"/>
          </a:p>
        </p:txBody>
      </p:sp>
      <p:sp>
        <p:nvSpPr>
          <p:cNvPr id="13" name="Shape 11"/>
          <p:cNvSpPr/>
          <p:nvPr/>
        </p:nvSpPr>
        <p:spPr>
          <a:xfrm>
            <a:off x="411480" y="2331720"/>
            <a:ext cx="1576426" cy="1828800"/>
          </a:xfrm>
          <a:prstGeom prst="roundRect">
            <a:avLst>
              <a:gd name="adj" fmla="val 5800"/>
            </a:avLst>
          </a:prstGeom>
          <a:solidFill>
            <a:srgbClr val="FFFFFF"/>
          </a:solidFill>
          <a:ln w="9525">
            <a:solidFill>
              <a:srgbClr val="D0D0D0"/>
            </a:solidFill>
            <a:prstDash val="solid"/>
          </a:ln>
        </p:spPr>
      </p:sp>
      <p:pic>
        <p:nvPicPr>
          <p:cNvPr id="14" name="Image 0" descr="p12_0">    </p:cNvPr>
          <p:cNvPicPr>
            <a:picLocks noChangeAspect="1"/>
          </p:cNvPicPr>
          <p:nvPr/>
        </p:nvPicPr>
        <p:blipFill>
          <a:blip r:embed="rId1"/>
          <a:stretch>
            <a:fillRect/>
          </a:stretch>
        </p:blipFill>
        <p:spPr>
          <a:xfrm>
            <a:off x="594360" y="2640787"/>
            <a:ext cx="1210666" cy="1210666"/>
          </a:xfrm>
          <a:prstGeom prst="rect">
            <a:avLst/>
          </a:prstGeom>
        </p:spPr>
      </p:pic>
      <p:sp>
        <p:nvSpPr>
          <p:cNvPr id="15" name="Text 12"/>
          <p:cNvSpPr txBox="1"/>
          <p:nvPr/>
        </p:nvSpPr>
        <p:spPr>
          <a:xfrm>
            <a:off x="411480" y="4224528"/>
            <a:ext cx="1576426" cy="274320"/>
          </a:xfrm>
          <a:prstGeom prst="rect">
            <a:avLst/>
          </a:prstGeom>
          <a:noFill/>
          <a:ln/>
        </p:spPr>
        <p:txBody>
          <a:bodyPr wrap="square" lIns="0" tIns="0" rIns="0" bIns="0" rtlCol="0" anchor="t"/>
          <a:lstStyle/>
          <a:p>
            <a:pPr algn="ctr" indent="0" marL="0">
              <a:buNone/>
            </a:pPr>
            <a:r>
              <a:rPr lang="en-US" sz="1000" dirty="0">
                <a:solidFill>
                  <a:srgbClr val="6B6B6B"/>
                </a:solidFill>
                <a:latin typeface="Arial" pitchFamily="34" charset="0"/>
                <a:ea typeface="Arial" pitchFamily="34" charset="-122"/>
                <a:cs typeface="Arial" pitchFamily="34" charset="-120"/>
              </a:rPr>
              <a:t>CHEARI</a:t>
            </a:r>
            <a:endParaRPr lang="en-US" sz="1000" dirty="0"/>
          </a:p>
        </p:txBody>
      </p:sp>
      <p:sp>
        <p:nvSpPr>
          <p:cNvPr id="16" name="Shape 13"/>
          <p:cNvSpPr/>
          <p:nvPr/>
        </p:nvSpPr>
        <p:spPr>
          <a:xfrm>
            <a:off x="2097634" y="2331720"/>
            <a:ext cx="1576426" cy="1828800"/>
          </a:xfrm>
          <a:prstGeom prst="roundRect">
            <a:avLst>
              <a:gd name="adj" fmla="val 5800"/>
            </a:avLst>
          </a:prstGeom>
          <a:solidFill>
            <a:srgbClr val="FFFFFF"/>
          </a:solidFill>
          <a:ln w="9525">
            <a:solidFill>
              <a:srgbClr val="D0D0D0"/>
            </a:solidFill>
            <a:prstDash val="solid"/>
          </a:ln>
        </p:spPr>
      </p:sp>
      <p:pic>
        <p:nvPicPr>
          <p:cNvPr id="17" name="Image 1" descr="p12_4">    </p:cNvPr>
          <p:cNvPicPr>
            <a:picLocks noChangeAspect="1"/>
          </p:cNvPicPr>
          <p:nvPr/>
        </p:nvPicPr>
        <p:blipFill>
          <a:blip r:embed="rId2"/>
          <a:stretch>
            <a:fillRect/>
          </a:stretch>
        </p:blipFill>
        <p:spPr>
          <a:xfrm>
            <a:off x="2280514" y="2883855"/>
            <a:ext cx="1210666" cy="724530"/>
          </a:xfrm>
          <a:prstGeom prst="rect">
            <a:avLst/>
          </a:prstGeom>
        </p:spPr>
      </p:pic>
      <p:sp>
        <p:nvSpPr>
          <p:cNvPr id="18" name="Text 14"/>
          <p:cNvSpPr txBox="1"/>
          <p:nvPr/>
        </p:nvSpPr>
        <p:spPr>
          <a:xfrm>
            <a:off x="2097634" y="4224528"/>
            <a:ext cx="1576426" cy="274320"/>
          </a:xfrm>
          <a:prstGeom prst="rect">
            <a:avLst/>
          </a:prstGeom>
          <a:noFill/>
          <a:ln/>
        </p:spPr>
        <p:txBody>
          <a:bodyPr wrap="square" lIns="0" tIns="0" rIns="0" bIns="0" rtlCol="0" anchor="t"/>
          <a:lstStyle/>
          <a:p>
            <a:pPr algn="ctr" indent="0" marL="0">
              <a:buNone/>
            </a:pPr>
            <a:r>
              <a:rPr lang="en-US" sz="1000" dirty="0">
                <a:solidFill>
                  <a:srgbClr val="6B6B6B"/>
                </a:solidFill>
                <a:latin typeface="Arial" pitchFamily="34" charset="0"/>
                <a:ea typeface="Arial" pitchFamily="34" charset="-122"/>
                <a:cs typeface="Arial" pitchFamily="34" charset="-120"/>
              </a:rPr>
              <a:t>WGSN</a:t>
            </a:r>
            <a:endParaRPr lang="en-US" sz="1000" dirty="0"/>
          </a:p>
        </p:txBody>
      </p:sp>
      <p:sp>
        <p:nvSpPr>
          <p:cNvPr id="19" name="Shape 15"/>
          <p:cNvSpPr/>
          <p:nvPr/>
        </p:nvSpPr>
        <p:spPr>
          <a:xfrm>
            <a:off x="3783787" y="2331720"/>
            <a:ext cx="1576426" cy="1828800"/>
          </a:xfrm>
          <a:prstGeom prst="roundRect">
            <a:avLst>
              <a:gd name="adj" fmla="val 5800"/>
            </a:avLst>
          </a:prstGeom>
          <a:solidFill>
            <a:srgbClr val="FFFFFF"/>
          </a:solidFill>
          <a:ln w="9525">
            <a:solidFill>
              <a:srgbClr val="D0D0D0"/>
            </a:solidFill>
            <a:prstDash val="solid"/>
          </a:ln>
        </p:spPr>
      </p:sp>
      <p:pic>
        <p:nvPicPr>
          <p:cNvPr id="20" name="Image 2" descr="p12_2">    </p:cNvPr>
          <p:cNvPicPr>
            <a:picLocks noChangeAspect="1"/>
          </p:cNvPicPr>
          <p:nvPr/>
        </p:nvPicPr>
        <p:blipFill>
          <a:blip r:embed="rId3"/>
          <a:stretch>
            <a:fillRect/>
          </a:stretch>
        </p:blipFill>
        <p:spPr>
          <a:xfrm>
            <a:off x="3966667" y="2730811"/>
            <a:ext cx="1210666" cy="1030618"/>
          </a:xfrm>
          <a:prstGeom prst="rect">
            <a:avLst/>
          </a:prstGeom>
        </p:spPr>
      </p:pic>
      <p:sp>
        <p:nvSpPr>
          <p:cNvPr id="21" name="Text 16"/>
          <p:cNvSpPr txBox="1"/>
          <p:nvPr/>
        </p:nvSpPr>
        <p:spPr>
          <a:xfrm>
            <a:off x="3783787" y="4224528"/>
            <a:ext cx="1576426" cy="274320"/>
          </a:xfrm>
          <a:prstGeom prst="rect">
            <a:avLst/>
          </a:prstGeom>
          <a:noFill/>
          <a:ln/>
        </p:spPr>
        <p:txBody>
          <a:bodyPr wrap="square" lIns="0" tIns="0" rIns="0" bIns="0" rtlCol="0" anchor="t"/>
          <a:lstStyle/>
          <a:p>
            <a:pPr algn="ctr" indent="0" marL="0">
              <a:buNone/>
            </a:pPr>
            <a:r>
              <a:rPr lang="en-US" sz="1000" dirty="0">
                <a:solidFill>
                  <a:srgbClr val="6B6B6B"/>
                </a:solidFill>
                <a:latin typeface="Arial" pitchFamily="34" charset="0"/>
                <a:ea typeface="Arial" pitchFamily="34" charset="-122"/>
                <a:cs typeface="Arial" pitchFamily="34" charset="-120"/>
              </a:rPr>
              <a:t>IDEO</a:t>
            </a:r>
            <a:endParaRPr lang="en-US" sz="1000" dirty="0"/>
          </a:p>
        </p:txBody>
      </p:sp>
      <p:sp>
        <p:nvSpPr>
          <p:cNvPr id="22" name="Shape 17"/>
          <p:cNvSpPr/>
          <p:nvPr/>
        </p:nvSpPr>
        <p:spPr>
          <a:xfrm>
            <a:off x="5469941" y="2331720"/>
            <a:ext cx="1576426" cy="1828800"/>
          </a:xfrm>
          <a:prstGeom prst="roundRect">
            <a:avLst>
              <a:gd name="adj" fmla="val 5800"/>
            </a:avLst>
          </a:prstGeom>
          <a:solidFill>
            <a:srgbClr val="FFFFFF"/>
          </a:solidFill>
          <a:ln w="9525">
            <a:solidFill>
              <a:srgbClr val="D0D0D0"/>
            </a:solidFill>
            <a:prstDash val="solid"/>
          </a:ln>
        </p:spPr>
      </p:sp>
      <p:pic>
        <p:nvPicPr>
          <p:cNvPr id="23" name="Image 3" descr="p12_1">    </p:cNvPr>
          <p:cNvPicPr>
            <a:picLocks noChangeAspect="1"/>
          </p:cNvPicPr>
          <p:nvPr/>
        </p:nvPicPr>
        <p:blipFill>
          <a:blip r:embed="rId4"/>
          <a:stretch>
            <a:fillRect/>
          </a:stretch>
        </p:blipFill>
        <p:spPr>
          <a:xfrm>
            <a:off x="5652821" y="2686908"/>
            <a:ext cx="1210666" cy="1118424"/>
          </a:xfrm>
          <a:prstGeom prst="rect">
            <a:avLst/>
          </a:prstGeom>
        </p:spPr>
      </p:pic>
      <p:sp>
        <p:nvSpPr>
          <p:cNvPr id="24" name="Text 18"/>
          <p:cNvSpPr txBox="1"/>
          <p:nvPr/>
        </p:nvSpPr>
        <p:spPr>
          <a:xfrm>
            <a:off x="5469941" y="4224528"/>
            <a:ext cx="1576426" cy="274320"/>
          </a:xfrm>
          <a:prstGeom prst="rect">
            <a:avLst/>
          </a:prstGeom>
          <a:noFill/>
          <a:ln/>
        </p:spPr>
        <p:txBody>
          <a:bodyPr wrap="square" lIns="0" tIns="0" rIns="0" bIns="0" rtlCol="0" anchor="t"/>
          <a:lstStyle/>
          <a:p>
            <a:pPr algn="ctr" indent="0" marL="0">
              <a:buNone/>
            </a:pPr>
            <a:r>
              <a:rPr lang="en-US" sz="1000" dirty="0">
                <a:solidFill>
                  <a:srgbClr val="6B6B6B"/>
                </a:solidFill>
                <a:latin typeface="Arial" pitchFamily="34" charset="0"/>
                <a:ea typeface="Arial" pitchFamily="34" charset="-122"/>
                <a:cs typeface="Arial" pitchFamily="34" charset="-120"/>
              </a:rPr>
              <a:t>YANG DESIGN</a:t>
            </a:r>
            <a:endParaRPr lang="en-US" sz="1000" dirty="0"/>
          </a:p>
        </p:txBody>
      </p:sp>
      <p:sp>
        <p:nvSpPr>
          <p:cNvPr id="25" name="Shape 19"/>
          <p:cNvSpPr/>
          <p:nvPr/>
        </p:nvSpPr>
        <p:spPr>
          <a:xfrm>
            <a:off x="7156094" y="2331720"/>
            <a:ext cx="1576426" cy="1828800"/>
          </a:xfrm>
          <a:prstGeom prst="roundRect">
            <a:avLst>
              <a:gd name="adj" fmla="val 5800"/>
            </a:avLst>
          </a:prstGeom>
          <a:solidFill>
            <a:srgbClr val="FFFFFF"/>
          </a:solidFill>
          <a:ln w="9525">
            <a:solidFill>
              <a:srgbClr val="D0D0D0"/>
            </a:solidFill>
            <a:prstDash val="solid"/>
          </a:ln>
        </p:spPr>
      </p:sp>
      <p:pic>
        <p:nvPicPr>
          <p:cNvPr id="26" name="Image 4" descr="p12_3">    </p:cNvPr>
          <p:cNvPicPr>
            <a:picLocks noChangeAspect="1"/>
          </p:cNvPicPr>
          <p:nvPr/>
        </p:nvPicPr>
        <p:blipFill>
          <a:blip r:embed="rId5"/>
          <a:stretch>
            <a:fillRect/>
          </a:stretch>
        </p:blipFill>
        <p:spPr>
          <a:xfrm>
            <a:off x="7338974" y="3005645"/>
            <a:ext cx="1210666" cy="480949"/>
          </a:xfrm>
          <a:prstGeom prst="rect">
            <a:avLst/>
          </a:prstGeom>
        </p:spPr>
      </p:pic>
      <p:sp>
        <p:nvSpPr>
          <p:cNvPr id="27" name="Text 20"/>
          <p:cNvSpPr txBox="1"/>
          <p:nvPr/>
        </p:nvSpPr>
        <p:spPr>
          <a:xfrm>
            <a:off x="7156094" y="4224528"/>
            <a:ext cx="1576426" cy="274320"/>
          </a:xfrm>
          <a:prstGeom prst="rect">
            <a:avLst/>
          </a:prstGeom>
          <a:noFill/>
          <a:ln/>
        </p:spPr>
        <p:txBody>
          <a:bodyPr wrap="square" lIns="0" tIns="0" rIns="0" bIns="0" rtlCol="0" anchor="t"/>
          <a:lstStyle/>
          <a:p>
            <a:pPr algn="ctr" indent="0" marL="0">
              <a:buNone/>
            </a:pPr>
            <a:r>
              <a:rPr lang="en-US" sz="1000" dirty="0">
                <a:solidFill>
                  <a:srgbClr val="6B6B6B"/>
                </a:solidFill>
                <a:latin typeface="Arial" pitchFamily="34" charset="0"/>
                <a:ea typeface="Arial" pitchFamily="34" charset="-122"/>
                <a:cs typeface="Arial" pitchFamily="34" charset="-120"/>
              </a:rPr>
              <a:t>Material ConneXion</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 01</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产品设计中的材料</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Materials in Product Design</a:t>
            </a:r>
            <a:endParaRPr lang="en-US" sz="1400" dirty="0"/>
          </a:p>
        </p:txBody>
      </p:sp>
      <p:sp>
        <p:nvSpPr>
          <p:cNvPr id="5" name="Shape 3"/>
          <p:cNvSpPr/>
          <p:nvPr/>
        </p:nvSpPr>
        <p:spPr>
          <a:xfrm>
            <a:off x="411480" y="2011680"/>
            <a:ext cx="457200" cy="457200"/>
          </a:xfrm>
          <a:prstGeom prst="rect">
            <a:avLst/>
          </a:prstGeom>
          <a:solidFill>
            <a:srgbClr val="C7F8FB"/>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传统材料</a:t>
            </a:r>
            <a:endParaRPr lang="en-US" sz="1350" dirty="0"/>
          </a:p>
        </p:txBody>
      </p:sp>
      <p:sp>
        <p:nvSpPr>
          <p:cNvPr id="9" name="Shape 7"/>
          <p:cNvSpPr/>
          <p:nvPr/>
        </p:nvSpPr>
        <p:spPr>
          <a:xfrm>
            <a:off x="411480" y="2560320"/>
            <a:ext cx="457200" cy="457200"/>
          </a:xfrm>
          <a:prstGeom prst="rect">
            <a:avLst/>
          </a:prstGeom>
          <a:solidFill>
            <a:srgbClr val="FFC9C1"/>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新型智能材料</a:t>
            </a:r>
            <a:endParaRPr lang="en-US" sz="135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
        <p:nvSpPr>
          <p:cNvPr id="17" name="Text 15"/>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8" name="Text 16"/>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14</a:t>
            </a:r>
            <a:endParaRPr lang="en-US" sz="750" dirty="0"/>
          </a:p>
        </p:txBody>
      </p:sp>
      <p:pic>
        <p:nvPicPr>
          <p:cNvPr id="19" name="Image 0" descr="decorative collage">    </p:cNvPr>
          <p:cNvPicPr>
            <a:picLocks noChangeAspect="1"/>
          </p:cNvPicPr>
          <p:nvPr/>
        </p:nvPicPr>
        <p:blipFill>
          <a:blip r:embed="rId1"/>
          <a:stretch>
            <a:fillRect/>
          </a:stretch>
        </p:blipFill>
        <p:spPr>
          <a:xfrm>
            <a:off x="5740514" y="1783080"/>
            <a:ext cx="2992006" cy="29260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传统产品材料</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Traditional Materials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15</a:t>
            </a:r>
            <a:endParaRPr lang="en-US" sz="750" dirty="0"/>
          </a:p>
        </p:txBody>
      </p:sp>
      <p:sp>
        <p:nvSpPr>
          <p:cNvPr id="11" name="Shape 9"/>
          <p:cNvSpPr/>
          <p:nvPr/>
        </p:nvSpPr>
        <p:spPr>
          <a:xfrm>
            <a:off x="411480" y="1188720"/>
            <a:ext cx="2651760" cy="484632"/>
          </a:xfrm>
          <a:prstGeom prst="rect">
            <a:avLst/>
          </a:prstGeom>
          <a:solidFill>
            <a:srgbClr val="C7F8FB"/>
          </a:solidFill>
          <a:ln/>
        </p:spPr>
      </p:sp>
      <p:sp>
        <p:nvSpPr>
          <p:cNvPr id="12" name="Text 10"/>
          <p:cNvSpPr txBox="1"/>
          <p:nvPr/>
        </p:nvSpPr>
        <p:spPr>
          <a:xfrm>
            <a:off x="594360" y="1188720"/>
            <a:ext cx="548640" cy="484632"/>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01</a:t>
            </a:r>
            <a:endParaRPr lang="en-US" sz="1300" dirty="0"/>
          </a:p>
        </p:txBody>
      </p:sp>
      <p:sp>
        <p:nvSpPr>
          <p:cNvPr id="13" name="Text 11"/>
          <p:cNvSpPr txBox="1"/>
          <p:nvPr/>
        </p:nvSpPr>
        <p:spPr>
          <a:xfrm>
            <a:off x="1188720" y="1188720"/>
            <a:ext cx="1737360" cy="484632"/>
          </a:xfrm>
          <a:prstGeom prst="rect">
            <a:avLst/>
          </a:prstGeom>
          <a:noFill/>
          <a:ln/>
        </p:spPr>
        <p:txBody>
          <a:bodyPr wrap="square" lIns="0" tIns="0" rIns="0" bIns="0" rtlCol="0" anchor="ctr"/>
          <a:lstStyle/>
          <a:p>
            <a:pPr indent="0" marL="0">
              <a:buNone/>
            </a:pPr>
            <a:r>
              <a:rPr lang="en-US" sz="1500" dirty="0">
                <a:solidFill>
                  <a:srgbClr val="111111"/>
                </a:solidFill>
                <a:latin typeface="Microsoft YaHei" pitchFamily="34" charset="0"/>
                <a:ea typeface="Microsoft YaHei" pitchFamily="34" charset="-122"/>
                <a:cs typeface="Microsoft YaHei" pitchFamily="34" charset="-120"/>
              </a:rPr>
              <a:t>金属</a:t>
            </a:r>
            <a:endParaRPr lang="en-US" sz="1500" dirty="0"/>
          </a:p>
        </p:txBody>
      </p:sp>
      <p:sp>
        <p:nvSpPr>
          <p:cNvPr id="14" name="Shape 12"/>
          <p:cNvSpPr/>
          <p:nvPr/>
        </p:nvSpPr>
        <p:spPr>
          <a:xfrm>
            <a:off x="411480" y="1764792"/>
            <a:ext cx="2651760" cy="484632"/>
          </a:xfrm>
          <a:prstGeom prst="rect">
            <a:avLst/>
          </a:prstGeom>
          <a:solidFill>
            <a:srgbClr val="F4F4F4"/>
          </a:solidFill>
          <a:ln/>
        </p:spPr>
      </p:sp>
      <p:sp>
        <p:nvSpPr>
          <p:cNvPr id="15" name="Text 13"/>
          <p:cNvSpPr txBox="1"/>
          <p:nvPr/>
        </p:nvSpPr>
        <p:spPr>
          <a:xfrm>
            <a:off x="594360" y="1764792"/>
            <a:ext cx="548640" cy="484632"/>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02</a:t>
            </a:r>
            <a:endParaRPr lang="en-US" sz="1300" dirty="0"/>
          </a:p>
        </p:txBody>
      </p:sp>
      <p:sp>
        <p:nvSpPr>
          <p:cNvPr id="16" name="Text 14"/>
          <p:cNvSpPr txBox="1"/>
          <p:nvPr/>
        </p:nvSpPr>
        <p:spPr>
          <a:xfrm>
            <a:off x="1188720" y="1764792"/>
            <a:ext cx="1737360" cy="484632"/>
          </a:xfrm>
          <a:prstGeom prst="rect">
            <a:avLst/>
          </a:prstGeom>
          <a:noFill/>
          <a:ln/>
        </p:spPr>
        <p:txBody>
          <a:bodyPr wrap="square" lIns="0" tIns="0" rIns="0" bIns="0" rtlCol="0" anchor="ctr"/>
          <a:lstStyle/>
          <a:p>
            <a:pPr indent="0" marL="0">
              <a:buNone/>
            </a:pPr>
            <a:r>
              <a:rPr lang="en-US" sz="1500" dirty="0">
                <a:solidFill>
                  <a:srgbClr val="111111"/>
                </a:solidFill>
                <a:latin typeface="Microsoft YaHei" pitchFamily="34" charset="0"/>
                <a:ea typeface="Microsoft YaHei" pitchFamily="34" charset="-122"/>
                <a:cs typeface="Microsoft YaHei" pitchFamily="34" charset="-120"/>
              </a:rPr>
              <a:t>聚合物</a:t>
            </a:r>
            <a:endParaRPr lang="en-US" sz="1500" dirty="0"/>
          </a:p>
        </p:txBody>
      </p:sp>
      <p:sp>
        <p:nvSpPr>
          <p:cNvPr id="17" name="Shape 15"/>
          <p:cNvSpPr/>
          <p:nvPr/>
        </p:nvSpPr>
        <p:spPr>
          <a:xfrm>
            <a:off x="411480" y="2340864"/>
            <a:ext cx="2651760" cy="484632"/>
          </a:xfrm>
          <a:prstGeom prst="rect">
            <a:avLst/>
          </a:prstGeom>
          <a:solidFill>
            <a:srgbClr val="EBEBEB"/>
          </a:solidFill>
          <a:ln/>
        </p:spPr>
      </p:sp>
      <p:sp>
        <p:nvSpPr>
          <p:cNvPr id="18" name="Text 16"/>
          <p:cNvSpPr txBox="1"/>
          <p:nvPr/>
        </p:nvSpPr>
        <p:spPr>
          <a:xfrm>
            <a:off x="594360" y="2340864"/>
            <a:ext cx="548640" cy="484632"/>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03</a:t>
            </a:r>
            <a:endParaRPr lang="en-US" sz="1300" dirty="0"/>
          </a:p>
        </p:txBody>
      </p:sp>
      <p:sp>
        <p:nvSpPr>
          <p:cNvPr id="19" name="Text 17"/>
          <p:cNvSpPr txBox="1"/>
          <p:nvPr/>
        </p:nvSpPr>
        <p:spPr>
          <a:xfrm>
            <a:off x="1188720" y="2340864"/>
            <a:ext cx="1737360" cy="484632"/>
          </a:xfrm>
          <a:prstGeom prst="rect">
            <a:avLst/>
          </a:prstGeom>
          <a:noFill/>
          <a:ln/>
        </p:spPr>
        <p:txBody>
          <a:bodyPr wrap="square" lIns="0" tIns="0" rIns="0" bIns="0" rtlCol="0" anchor="ctr"/>
          <a:lstStyle/>
          <a:p>
            <a:pPr indent="0" marL="0">
              <a:buNone/>
            </a:pPr>
            <a:r>
              <a:rPr lang="en-US" sz="1500" dirty="0">
                <a:solidFill>
                  <a:srgbClr val="111111"/>
                </a:solidFill>
                <a:latin typeface="Microsoft YaHei" pitchFamily="34" charset="0"/>
                <a:ea typeface="Microsoft YaHei" pitchFamily="34" charset="-122"/>
                <a:cs typeface="Microsoft YaHei" pitchFamily="34" charset="-120"/>
              </a:rPr>
              <a:t>弹性物</a:t>
            </a:r>
            <a:endParaRPr lang="en-US" sz="1500" dirty="0"/>
          </a:p>
        </p:txBody>
      </p:sp>
      <p:sp>
        <p:nvSpPr>
          <p:cNvPr id="20" name="Shape 18"/>
          <p:cNvSpPr/>
          <p:nvPr/>
        </p:nvSpPr>
        <p:spPr>
          <a:xfrm>
            <a:off x="411480" y="2916936"/>
            <a:ext cx="2651760" cy="484632"/>
          </a:xfrm>
          <a:prstGeom prst="rect">
            <a:avLst/>
          </a:prstGeom>
          <a:solidFill>
            <a:srgbClr val="F4F4F4"/>
          </a:solidFill>
          <a:ln/>
        </p:spPr>
      </p:sp>
      <p:sp>
        <p:nvSpPr>
          <p:cNvPr id="21" name="Text 19"/>
          <p:cNvSpPr txBox="1"/>
          <p:nvPr/>
        </p:nvSpPr>
        <p:spPr>
          <a:xfrm>
            <a:off x="594360" y="2916936"/>
            <a:ext cx="548640" cy="484632"/>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04</a:t>
            </a:r>
            <a:endParaRPr lang="en-US" sz="1300" dirty="0"/>
          </a:p>
        </p:txBody>
      </p:sp>
      <p:sp>
        <p:nvSpPr>
          <p:cNvPr id="22" name="Text 20"/>
          <p:cNvSpPr txBox="1"/>
          <p:nvPr/>
        </p:nvSpPr>
        <p:spPr>
          <a:xfrm>
            <a:off x="1188720" y="2916936"/>
            <a:ext cx="1737360" cy="484632"/>
          </a:xfrm>
          <a:prstGeom prst="rect">
            <a:avLst/>
          </a:prstGeom>
          <a:noFill/>
          <a:ln/>
        </p:spPr>
        <p:txBody>
          <a:bodyPr wrap="square" lIns="0" tIns="0" rIns="0" bIns="0" rtlCol="0" anchor="ctr"/>
          <a:lstStyle/>
          <a:p>
            <a:pPr indent="0" marL="0">
              <a:buNone/>
            </a:pPr>
            <a:r>
              <a:rPr lang="en-US" sz="1500" dirty="0">
                <a:solidFill>
                  <a:srgbClr val="111111"/>
                </a:solidFill>
                <a:latin typeface="Microsoft YaHei" pitchFamily="34" charset="0"/>
                <a:ea typeface="Microsoft YaHei" pitchFamily="34" charset="-122"/>
                <a:cs typeface="Microsoft YaHei" pitchFamily="34" charset="-120"/>
              </a:rPr>
              <a:t>陶瓷</a:t>
            </a:r>
            <a:endParaRPr lang="en-US" sz="1500" dirty="0"/>
          </a:p>
        </p:txBody>
      </p:sp>
      <p:sp>
        <p:nvSpPr>
          <p:cNvPr id="23" name="Shape 21"/>
          <p:cNvSpPr/>
          <p:nvPr/>
        </p:nvSpPr>
        <p:spPr>
          <a:xfrm>
            <a:off x="411480" y="3493008"/>
            <a:ext cx="2651760" cy="484632"/>
          </a:xfrm>
          <a:prstGeom prst="rect">
            <a:avLst/>
          </a:prstGeom>
          <a:solidFill>
            <a:srgbClr val="EBEBEB"/>
          </a:solidFill>
          <a:ln/>
        </p:spPr>
      </p:sp>
      <p:sp>
        <p:nvSpPr>
          <p:cNvPr id="24" name="Text 22"/>
          <p:cNvSpPr txBox="1"/>
          <p:nvPr/>
        </p:nvSpPr>
        <p:spPr>
          <a:xfrm>
            <a:off x="594360" y="3493008"/>
            <a:ext cx="548640" cy="484632"/>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05</a:t>
            </a:r>
            <a:endParaRPr lang="en-US" sz="1300" dirty="0"/>
          </a:p>
        </p:txBody>
      </p:sp>
      <p:sp>
        <p:nvSpPr>
          <p:cNvPr id="25" name="Text 23"/>
          <p:cNvSpPr txBox="1"/>
          <p:nvPr/>
        </p:nvSpPr>
        <p:spPr>
          <a:xfrm>
            <a:off x="1188720" y="3493008"/>
            <a:ext cx="1737360" cy="484632"/>
          </a:xfrm>
          <a:prstGeom prst="rect">
            <a:avLst/>
          </a:prstGeom>
          <a:noFill/>
          <a:ln/>
        </p:spPr>
        <p:txBody>
          <a:bodyPr wrap="square" lIns="0" tIns="0" rIns="0" bIns="0" rtlCol="0" anchor="ctr"/>
          <a:lstStyle/>
          <a:p>
            <a:pPr indent="0" marL="0">
              <a:buNone/>
            </a:pPr>
            <a:r>
              <a:rPr lang="en-US" sz="1500" dirty="0">
                <a:solidFill>
                  <a:srgbClr val="111111"/>
                </a:solidFill>
                <a:latin typeface="Microsoft YaHei" pitchFamily="34" charset="0"/>
                <a:ea typeface="Microsoft YaHei" pitchFamily="34" charset="-122"/>
                <a:cs typeface="Microsoft YaHei" pitchFamily="34" charset="-120"/>
              </a:rPr>
              <a:t>玻璃</a:t>
            </a:r>
            <a:endParaRPr lang="en-US" sz="1500" dirty="0"/>
          </a:p>
        </p:txBody>
      </p:sp>
      <p:sp>
        <p:nvSpPr>
          <p:cNvPr id="26" name="Shape 24"/>
          <p:cNvSpPr/>
          <p:nvPr/>
        </p:nvSpPr>
        <p:spPr>
          <a:xfrm>
            <a:off x="411480" y="4069080"/>
            <a:ext cx="2651760" cy="484632"/>
          </a:xfrm>
          <a:prstGeom prst="rect">
            <a:avLst/>
          </a:prstGeom>
          <a:solidFill>
            <a:srgbClr val="F4F4F4"/>
          </a:solidFill>
          <a:ln/>
        </p:spPr>
      </p:sp>
      <p:sp>
        <p:nvSpPr>
          <p:cNvPr id="27" name="Text 25"/>
          <p:cNvSpPr txBox="1"/>
          <p:nvPr/>
        </p:nvSpPr>
        <p:spPr>
          <a:xfrm>
            <a:off x="594360" y="4069080"/>
            <a:ext cx="548640" cy="484632"/>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06</a:t>
            </a:r>
            <a:endParaRPr lang="en-US" sz="1300" dirty="0"/>
          </a:p>
        </p:txBody>
      </p:sp>
      <p:sp>
        <p:nvSpPr>
          <p:cNvPr id="28" name="Text 26"/>
          <p:cNvSpPr txBox="1"/>
          <p:nvPr/>
        </p:nvSpPr>
        <p:spPr>
          <a:xfrm>
            <a:off x="1188720" y="4069080"/>
            <a:ext cx="1737360" cy="484632"/>
          </a:xfrm>
          <a:prstGeom prst="rect">
            <a:avLst/>
          </a:prstGeom>
          <a:noFill/>
          <a:ln/>
        </p:spPr>
        <p:txBody>
          <a:bodyPr wrap="square" lIns="0" tIns="0" rIns="0" bIns="0" rtlCol="0" anchor="ctr"/>
          <a:lstStyle/>
          <a:p>
            <a:pPr indent="0" marL="0">
              <a:buNone/>
            </a:pPr>
            <a:r>
              <a:rPr lang="en-US" sz="1500" dirty="0">
                <a:solidFill>
                  <a:srgbClr val="111111"/>
                </a:solidFill>
                <a:latin typeface="Microsoft YaHei" pitchFamily="34" charset="0"/>
                <a:ea typeface="Microsoft YaHei" pitchFamily="34" charset="-122"/>
                <a:cs typeface="Microsoft YaHei" pitchFamily="34" charset="-120"/>
              </a:rPr>
              <a:t>复合物</a:t>
            </a:r>
            <a:endParaRPr lang="en-US" sz="1500" dirty="0"/>
          </a:p>
        </p:txBody>
      </p:sp>
      <p:pic>
        <p:nvPicPr>
          <p:cNvPr id="29" name="Image 0" descr="p14_0">    </p:cNvPr>
          <p:cNvPicPr>
            <a:picLocks noChangeAspect="1"/>
          </p:cNvPicPr>
          <p:nvPr/>
        </p:nvPicPr>
        <p:blipFill>
          <a:blip r:embed="rId1"/>
          <a:stretch>
            <a:fillRect/>
          </a:stretch>
        </p:blipFill>
        <p:spPr>
          <a:xfrm>
            <a:off x="3200400" y="1188720"/>
            <a:ext cx="1770888" cy="1627632"/>
          </a:xfrm>
          <a:prstGeom prst="rect">
            <a:avLst/>
          </a:prstGeom>
        </p:spPr>
      </p:pic>
      <p:pic>
        <p:nvPicPr>
          <p:cNvPr id="30" name="Image 1" descr="p14_5">    </p:cNvPr>
          <p:cNvPicPr>
            <a:picLocks noChangeAspect="1"/>
          </p:cNvPicPr>
          <p:nvPr/>
        </p:nvPicPr>
        <p:blipFill>
          <a:blip r:embed="rId2"/>
          <a:stretch>
            <a:fillRect/>
          </a:stretch>
        </p:blipFill>
        <p:spPr>
          <a:xfrm>
            <a:off x="5081016" y="1188720"/>
            <a:ext cx="1770888" cy="1627632"/>
          </a:xfrm>
          <a:prstGeom prst="rect">
            <a:avLst/>
          </a:prstGeom>
        </p:spPr>
      </p:pic>
      <p:pic>
        <p:nvPicPr>
          <p:cNvPr id="31" name="Image 2" descr="p14_1">    </p:cNvPr>
          <p:cNvPicPr>
            <a:picLocks noChangeAspect="1"/>
          </p:cNvPicPr>
          <p:nvPr/>
        </p:nvPicPr>
        <p:blipFill>
          <a:blip r:embed="rId3"/>
          <a:stretch>
            <a:fillRect/>
          </a:stretch>
        </p:blipFill>
        <p:spPr>
          <a:xfrm>
            <a:off x="6961632" y="1188720"/>
            <a:ext cx="1770888" cy="1627632"/>
          </a:xfrm>
          <a:prstGeom prst="rect">
            <a:avLst/>
          </a:prstGeom>
        </p:spPr>
      </p:pic>
      <p:pic>
        <p:nvPicPr>
          <p:cNvPr id="32" name="Image 3" descr="p14_2">    </p:cNvPr>
          <p:cNvPicPr>
            <a:picLocks noChangeAspect="1"/>
          </p:cNvPicPr>
          <p:nvPr/>
        </p:nvPicPr>
        <p:blipFill>
          <a:blip r:embed="rId4"/>
          <a:stretch>
            <a:fillRect/>
          </a:stretch>
        </p:blipFill>
        <p:spPr>
          <a:xfrm>
            <a:off x="3200400" y="2926080"/>
            <a:ext cx="1770888" cy="1627632"/>
          </a:xfrm>
          <a:prstGeom prst="rect">
            <a:avLst/>
          </a:prstGeom>
        </p:spPr>
      </p:pic>
      <p:pic>
        <p:nvPicPr>
          <p:cNvPr id="33" name="Image 4" descr="p14_3">    </p:cNvPr>
          <p:cNvPicPr>
            <a:picLocks noChangeAspect="1"/>
          </p:cNvPicPr>
          <p:nvPr/>
        </p:nvPicPr>
        <p:blipFill>
          <a:blip r:embed="rId5"/>
          <a:stretch>
            <a:fillRect/>
          </a:stretch>
        </p:blipFill>
        <p:spPr>
          <a:xfrm>
            <a:off x="5081016" y="2926080"/>
            <a:ext cx="1770888" cy="1627632"/>
          </a:xfrm>
          <a:prstGeom prst="rect">
            <a:avLst/>
          </a:prstGeom>
        </p:spPr>
      </p:pic>
      <p:pic>
        <p:nvPicPr>
          <p:cNvPr id="34" name="Image 5" descr="p14_4">    </p:cNvPr>
          <p:cNvPicPr>
            <a:picLocks noChangeAspect="1"/>
          </p:cNvPicPr>
          <p:nvPr/>
        </p:nvPicPr>
        <p:blipFill>
          <a:blip r:embed="rId6"/>
          <a:stretch>
            <a:fillRect/>
          </a:stretch>
        </p:blipFill>
        <p:spPr>
          <a:xfrm>
            <a:off x="6961632" y="2926080"/>
            <a:ext cx="1770888" cy="16276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新型智能产品材料</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New &amp; Smart Materials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16</a:t>
            </a:r>
            <a:endParaRPr lang="en-US" sz="750" dirty="0"/>
          </a:p>
        </p:txBody>
      </p:sp>
      <p:sp>
        <p:nvSpPr>
          <p:cNvPr id="11" name="Shape 9"/>
          <p:cNvSpPr/>
          <p:nvPr/>
        </p:nvSpPr>
        <p:spPr>
          <a:xfrm>
            <a:off x="411480" y="1188720"/>
            <a:ext cx="1810512" cy="594360"/>
          </a:xfrm>
          <a:prstGeom prst="roundRect">
            <a:avLst>
              <a:gd name="adj" fmla="val 15385"/>
            </a:avLst>
          </a:prstGeom>
          <a:solidFill>
            <a:srgbClr val="EBEBEB"/>
          </a:solidFill>
          <a:ln/>
        </p:spPr>
      </p:sp>
      <p:sp>
        <p:nvSpPr>
          <p:cNvPr id="12" name="Shape 10"/>
          <p:cNvSpPr/>
          <p:nvPr/>
        </p:nvSpPr>
        <p:spPr>
          <a:xfrm>
            <a:off x="411480" y="1188720"/>
            <a:ext cx="1810512" cy="594360"/>
          </a:xfrm>
          <a:prstGeom prst="roundRect">
            <a:avLst>
              <a:gd name="adj" fmla="val 15385"/>
            </a:avLst>
          </a:prstGeom>
          <a:solidFill>
            <a:srgbClr val="C7F8FB"/>
          </a:solidFill>
          <a:ln/>
        </p:spPr>
      </p:sp>
      <p:sp>
        <p:nvSpPr>
          <p:cNvPr id="13" name="Text 11"/>
          <p:cNvSpPr txBox="1"/>
          <p:nvPr/>
        </p:nvSpPr>
        <p:spPr>
          <a:xfrm>
            <a:off x="548640" y="11887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电子信息材料</a:t>
            </a:r>
            <a:endParaRPr lang="en-US" sz="1150" dirty="0"/>
          </a:p>
        </p:txBody>
      </p:sp>
      <p:sp>
        <p:nvSpPr>
          <p:cNvPr id="14" name="Shape 12"/>
          <p:cNvSpPr/>
          <p:nvPr/>
        </p:nvSpPr>
        <p:spPr>
          <a:xfrm>
            <a:off x="2313432" y="1188720"/>
            <a:ext cx="1810512" cy="594360"/>
          </a:xfrm>
          <a:prstGeom prst="roundRect">
            <a:avLst>
              <a:gd name="adj" fmla="val 15385"/>
            </a:avLst>
          </a:prstGeom>
          <a:solidFill>
            <a:srgbClr val="F4F4F4"/>
          </a:solidFill>
          <a:ln/>
        </p:spPr>
      </p:sp>
      <p:sp>
        <p:nvSpPr>
          <p:cNvPr id="15" name="Text 13"/>
          <p:cNvSpPr txBox="1"/>
          <p:nvPr/>
        </p:nvSpPr>
        <p:spPr>
          <a:xfrm>
            <a:off x="2450592" y="11887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能源材料</a:t>
            </a:r>
            <a:endParaRPr lang="en-US" sz="1150" dirty="0"/>
          </a:p>
        </p:txBody>
      </p:sp>
      <p:sp>
        <p:nvSpPr>
          <p:cNvPr id="16" name="Shape 14"/>
          <p:cNvSpPr/>
          <p:nvPr/>
        </p:nvSpPr>
        <p:spPr>
          <a:xfrm>
            <a:off x="411480" y="1874520"/>
            <a:ext cx="1810512" cy="594360"/>
          </a:xfrm>
          <a:prstGeom prst="roundRect">
            <a:avLst>
              <a:gd name="adj" fmla="val 15385"/>
            </a:avLst>
          </a:prstGeom>
          <a:solidFill>
            <a:srgbClr val="F4F4F4"/>
          </a:solidFill>
          <a:ln/>
        </p:spPr>
      </p:sp>
      <p:sp>
        <p:nvSpPr>
          <p:cNvPr id="17" name="Text 15"/>
          <p:cNvSpPr txBox="1"/>
          <p:nvPr/>
        </p:nvSpPr>
        <p:spPr>
          <a:xfrm>
            <a:off x="548640" y="18745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纳米材料</a:t>
            </a:r>
            <a:endParaRPr lang="en-US" sz="1150" dirty="0"/>
          </a:p>
        </p:txBody>
      </p:sp>
      <p:sp>
        <p:nvSpPr>
          <p:cNvPr id="18" name="Shape 16"/>
          <p:cNvSpPr/>
          <p:nvPr/>
        </p:nvSpPr>
        <p:spPr>
          <a:xfrm>
            <a:off x="2313432" y="1874520"/>
            <a:ext cx="1810512" cy="594360"/>
          </a:xfrm>
          <a:prstGeom prst="roundRect">
            <a:avLst>
              <a:gd name="adj" fmla="val 15385"/>
            </a:avLst>
          </a:prstGeom>
          <a:solidFill>
            <a:srgbClr val="EBEBEB"/>
          </a:solidFill>
          <a:ln/>
        </p:spPr>
      </p:sp>
      <p:sp>
        <p:nvSpPr>
          <p:cNvPr id="19" name="Text 17"/>
          <p:cNvSpPr txBox="1"/>
          <p:nvPr/>
        </p:nvSpPr>
        <p:spPr>
          <a:xfrm>
            <a:off x="2450592" y="18745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先进复合材料</a:t>
            </a:r>
            <a:endParaRPr lang="en-US" sz="1150" dirty="0"/>
          </a:p>
        </p:txBody>
      </p:sp>
      <p:sp>
        <p:nvSpPr>
          <p:cNvPr id="20" name="Shape 18"/>
          <p:cNvSpPr/>
          <p:nvPr/>
        </p:nvSpPr>
        <p:spPr>
          <a:xfrm>
            <a:off x="411480" y="2560320"/>
            <a:ext cx="1810512" cy="594360"/>
          </a:xfrm>
          <a:prstGeom prst="roundRect">
            <a:avLst>
              <a:gd name="adj" fmla="val 15385"/>
            </a:avLst>
          </a:prstGeom>
          <a:solidFill>
            <a:srgbClr val="EBEBEB"/>
          </a:solidFill>
          <a:ln/>
        </p:spPr>
      </p:sp>
      <p:sp>
        <p:nvSpPr>
          <p:cNvPr id="21" name="Text 19"/>
          <p:cNvSpPr txBox="1"/>
          <p:nvPr/>
        </p:nvSpPr>
        <p:spPr>
          <a:xfrm>
            <a:off x="548640" y="25603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先进陶瓷材料</a:t>
            </a:r>
            <a:endParaRPr lang="en-US" sz="1150" dirty="0"/>
          </a:p>
        </p:txBody>
      </p:sp>
      <p:sp>
        <p:nvSpPr>
          <p:cNvPr id="22" name="Shape 20"/>
          <p:cNvSpPr/>
          <p:nvPr/>
        </p:nvSpPr>
        <p:spPr>
          <a:xfrm>
            <a:off x="2313432" y="2560320"/>
            <a:ext cx="1810512" cy="594360"/>
          </a:xfrm>
          <a:prstGeom prst="roundRect">
            <a:avLst>
              <a:gd name="adj" fmla="val 15385"/>
            </a:avLst>
          </a:prstGeom>
          <a:solidFill>
            <a:srgbClr val="F4F4F4"/>
          </a:solidFill>
          <a:ln/>
        </p:spPr>
      </p:sp>
      <p:sp>
        <p:nvSpPr>
          <p:cNvPr id="23" name="Text 21"/>
          <p:cNvSpPr txBox="1"/>
          <p:nvPr/>
        </p:nvSpPr>
        <p:spPr>
          <a:xfrm>
            <a:off x="2450592" y="25603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生态环境材料</a:t>
            </a:r>
            <a:endParaRPr lang="en-US" sz="1150" dirty="0"/>
          </a:p>
        </p:txBody>
      </p:sp>
      <p:sp>
        <p:nvSpPr>
          <p:cNvPr id="24" name="Shape 22"/>
          <p:cNvSpPr/>
          <p:nvPr/>
        </p:nvSpPr>
        <p:spPr>
          <a:xfrm>
            <a:off x="411480" y="3246120"/>
            <a:ext cx="1810512" cy="594360"/>
          </a:xfrm>
          <a:prstGeom prst="roundRect">
            <a:avLst>
              <a:gd name="adj" fmla="val 15385"/>
            </a:avLst>
          </a:prstGeom>
          <a:solidFill>
            <a:srgbClr val="F4F4F4"/>
          </a:solidFill>
          <a:ln/>
        </p:spPr>
      </p:sp>
      <p:sp>
        <p:nvSpPr>
          <p:cNvPr id="25" name="Text 23"/>
          <p:cNvSpPr txBox="1"/>
          <p:nvPr/>
        </p:nvSpPr>
        <p:spPr>
          <a:xfrm>
            <a:off x="548640" y="32461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新型功能材料</a:t>
            </a:r>
            <a:endParaRPr lang="en-US" sz="1150" dirty="0"/>
          </a:p>
        </p:txBody>
      </p:sp>
      <p:sp>
        <p:nvSpPr>
          <p:cNvPr id="26" name="Shape 24"/>
          <p:cNvSpPr/>
          <p:nvPr/>
        </p:nvSpPr>
        <p:spPr>
          <a:xfrm>
            <a:off x="2313432" y="3246120"/>
            <a:ext cx="1810512" cy="594360"/>
          </a:xfrm>
          <a:prstGeom prst="roundRect">
            <a:avLst>
              <a:gd name="adj" fmla="val 15385"/>
            </a:avLst>
          </a:prstGeom>
          <a:solidFill>
            <a:srgbClr val="EBEBEB"/>
          </a:solidFill>
          <a:ln/>
        </p:spPr>
      </p:sp>
      <p:sp>
        <p:nvSpPr>
          <p:cNvPr id="27" name="Text 25"/>
          <p:cNvSpPr txBox="1"/>
          <p:nvPr/>
        </p:nvSpPr>
        <p:spPr>
          <a:xfrm>
            <a:off x="2450592" y="32461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生物医用材料</a:t>
            </a:r>
            <a:endParaRPr lang="en-US" sz="1150" dirty="0"/>
          </a:p>
        </p:txBody>
      </p:sp>
      <p:sp>
        <p:nvSpPr>
          <p:cNvPr id="28" name="Shape 26"/>
          <p:cNvSpPr/>
          <p:nvPr/>
        </p:nvSpPr>
        <p:spPr>
          <a:xfrm>
            <a:off x="411480" y="3931920"/>
            <a:ext cx="1810512" cy="594360"/>
          </a:xfrm>
          <a:prstGeom prst="roundRect">
            <a:avLst>
              <a:gd name="adj" fmla="val 15385"/>
            </a:avLst>
          </a:prstGeom>
          <a:solidFill>
            <a:srgbClr val="EBEBEB"/>
          </a:solidFill>
          <a:ln/>
        </p:spPr>
      </p:sp>
      <p:sp>
        <p:nvSpPr>
          <p:cNvPr id="29" name="Text 27"/>
          <p:cNvSpPr txBox="1"/>
          <p:nvPr/>
        </p:nvSpPr>
        <p:spPr>
          <a:xfrm>
            <a:off x="548640" y="39319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高性能结构材料</a:t>
            </a:r>
            <a:endParaRPr lang="en-US" sz="1150" dirty="0"/>
          </a:p>
        </p:txBody>
      </p:sp>
      <p:sp>
        <p:nvSpPr>
          <p:cNvPr id="30" name="Shape 28"/>
          <p:cNvSpPr/>
          <p:nvPr/>
        </p:nvSpPr>
        <p:spPr>
          <a:xfrm>
            <a:off x="2313432" y="3931920"/>
            <a:ext cx="1810512" cy="594360"/>
          </a:xfrm>
          <a:prstGeom prst="roundRect">
            <a:avLst>
              <a:gd name="adj" fmla="val 15385"/>
            </a:avLst>
          </a:prstGeom>
          <a:solidFill>
            <a:srgbClr val="F4F4F4"/>
          </a:solidFill>
          <a:ln/>
        </p:spPr>
      </p:sp>
      <p:sp>
        <p:nvSpPr>
          <p:cNvPr id="31" name="Text 29"/>
          <p:cNvSpPr txBox="1"/>
          <p:nvPr/>
        </p:nvSpPr>
        <p:spPr>
          <a:xfrm>
            <a:off x="2450592" y="3931920"/>
            <a:ext cx="1600200" cy="59436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新型建筑及化工新材料</a:t>
            </a:r>
            <a:endParaRPr lang="en-US" sz="1150" dirty="0"/>
          </a:p>
        </p:txBody>
      </p:sp>
      <p:pic>
        <p:nvPicPr>
          <p:cNvPr id="32" name="Image 0" descr="p15_0">    </p:cNvPr>
          <p:cNvPicPr>
            <a:picLocks noChangeAspect="1"/>
          </p:cNvPicPr>
          <p:nvPr/>
        </p:nvPicPr>
        <p:blipFill>
          <a:blip r:embed="rId1"/>
          <a:stretch>
            <a:fillRect/>
          </a:stretch>
        </p:blipFill>
        <p:spPr>
          <a:xfrm>
            <a:off x="4160520" y="1188720"/>
            <a:ext cx="2231136" cy="1636776"/>
          </a:xfrm>
          <a:prstGeom prst="rect">
            <a:avLst/>
          </a:prstGeom>
        </p:spPr>
      </p:pic>
      <p:pic>
        <p:nvPicPr>
          <p:cNvPr id="33" name="Image 1" descr="p15_1">    </p:cNvPr>
          <p:cNvPicPr>
            <a:picLocks noChangeAspect="1"/>
          </p:cNvPicPr>
          <p:nvPr/>
        </p:nvPicPr>
        <p:blipFill>
          <a:blip r:embed="rId2"/>
          <a:stretch>
            <a:fillRect/>
          </a:stretch>
        </p:blipFill>
        <p:spPr>
          <a:xfrm>
            <a:off x="6501384" y="1188720"/>
            <a:ext cx="2231136" cy="1636776"/>
          </a:xfrm>
          <a:prstGeom prst="rect">
            <a:avLst/>
          </a:prstGeom>
        </p:spPr>
      </p:pic>
      <p:pic>
        <p:nvPicPr>
          <p:cNvPr id="34" name="Image 2" descr="p15_2">    </p:cNvPr>
          <p:cNvPicPr>
            <a:picLocks noChangeAspect="1"/>
          </p:cNvPicPr>
          <p:nvPr/>
        </p:nvPicPr>
        <p:blipFill>
          <a:blip r:embed="rId3"/>
          <a:stretch>
            <a:fillRect/>
          </a:stretch>
        </p:blipFill>
        <p:spPr>
          <a:xfrm>
            <a:off x="4160520" y="2935224"/>
            <a:ext cx="2231136" cy="1636776"/>
          </a:xfrm>
          <a:prstGeom prst="rect">
            <a:avLst/>
          </a:prstGeom>
        </p:spPr>
      </p:pic>
      <p:pic>
        <p:nvPicPr>
          <p:cNvPr id="35" name="Image 3" descr="p15_3">    </p:cNvPr>
          <p:cNvPicPr>
            <a:picLocks noChangeAspect="1"/>
          </p:cNvPicPr>
          <p:nvPr/>
        </p:nvPicPr>
        <p:blipFill>
          <a:blip r:embed="rId4"/>
          <a:stretch>
            <a:fillRect/>
          </a:stretch>
        </p:blipFill>
        <p:spPr>
          <a:xfrm>
            <a:off x="6501384" y="2935224"/>
            <a:ext cx="2231136" cy="16367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 02</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3400" dirty="0">
                <a:solidFill>
                  <a:srgbClr val="111111"/>
                </a:solidFill>
                <a:latin typeface="Microsoft YaHei" pitchFamily="34" charset="0"/>
                <a:ea typeface="Microsoft YaHei" pitchFamily="34" charset="-122"/>
                <a:cs typeface="Microsoft YaHei" pitchFamily="34" charset="-120"/>
              </a:rPr>
              <a:t>产品设计中的材料属性需求</a:t>
            </a:r>
            <a:endParaRPr lang="en-US" sz="3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Materials' Requirements in Product Design</a:t>
            </a:r>
            <a:endParaRPr lang="en-US" sz="1400" dirty="0"/>
          </a:p>
        </p:txBody>
      </p:sp>
      <p:sp>
        <p:nvSpPr>
          <p:cNvPr id="5" name="Shape 3"/>
          <p:cNvSpPr/>
          <p:nvPr/>
        </p:nvSpPr>
        <p:spPr>
          <a:xfrm>
            <a:off x="411480" y="2011680"/>
            <a:ext cx="457200" cy="457200"/>
          </a:xfrm>
          <a:prstGeom prst="rect">
            <a:avLst/>
          </a:prstGeom>
          <a:solidFill>
            <a:srgbClr val="E4FF97"/>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材料的客观属性</a:t>
            </a:r>
            <a:endParaRPr lang="en-US" sz="1350" dirty="0"/>
          </a:p>
        </p:txBody>
      </p:sp>
      <p:sp>
        <p:nvSpPr>
          <p:cNvPr id="9" name="Shape 7"/>
          <p:cNvSpPr/>
          <p:nvPr/>
        </p:nvSpPr>
        <p:spPr>
          <a:xfrm>
            <a:off x="411480" y="2560320"/>
            <a:ext cx="457200" cy="457200"/>
          </a:xfrm>
          <a:prstGeom prst="rect">
            <a:avLst/>
          </a:prstGeom>
          <a:solidFill>
            <a:srgbClr val="D9D4FF"/>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材料的主观属性</a:t>
            </a:r>
            <a:endParaRPr lang="en-US" sz="135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
        <p:nvSpPr>
          <p:cNvPr id="17" name="Text 15"/>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8" name="Text 16"/>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17</a:t>
            </a:r>
            <a:endParaRPr lang="en-US" sz="750" dirty="0"/>
          </a:p>
        </p:txBody>
      </p:sp>
      <p:pic>
        <p:nvPicPr>
          <p:cNvPr id="19" name="Image 0" descr="decorative collage">    </p:cNvPr>
          <p:cNvPicPr>
            <a:picLocks noChangeAspect="1"/>
          </p:cNvPicPr>
          <p:nvPr/>
        </p:nvPicPr>
        <p:blipFill>
          <a:blip r:embed="rId1"/>
          <a:stretch>
            <a:fillRect/>
          </a:stretch>
        </p:blipFill>
        <p:spPr>
          <a:xfrm>
            <a:off x="5577840" y="3191384"/>
            <a:ext cx="3154680" cy="15177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材料的客观属性与主观属性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Materials' Requirements in Product Design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18</a:t>
            </a:r>
            <a:endParaRPr lang="en-US" sz="750" dirty="0"/>
          </a:p>
        </p:txBody>
      </p:sp>
      <p:sp>
        <p:nvSpPr>
          <p:cNvPr id="11" name="Shape 9"/>
          <p:cNvSpPr/>
          <p:nvPr/>
        </p:nvSpPr>
        <p:spPr>
          <a:xfrm>
            <a:off x="411480" y="1188720"/>
            <a:ext cx="2743200" cy="3383280"/>
          </a:xfrm>
          <a:prstGeom prst="roundRect">
            <a:avLst>
              <a:gd name="adj" fmla="val 3333"/>
            </a:avLst>
          </a:prstGeom>
          <a:solidFill>
            <a:srgbClr val="E4FF97"/>
          </a:solidFill>
          <a:ln/>
        </p:spPr>
      </p:sp>
      <p:sp>
        <p:nvSpPr>
          <p:cNvPr id="12" name="Text 10"/>
          <p:cNvSpPr txBox="1"/>
          <p:nvPr/>
        </p:nvSpPr>
        <p:spPr>
          <a:xfrm>
            <a:off x="640080" y="1371600"/>
            <a:ext cx="2377440"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材料的客观属性</a:t>
            </a:r>
            <a:endParaRPr lang="en-US" sz="1700" dirty="0"/>
          </a:p>
        </p:txBody>
      </p:sp>
      <p:sp>
        <p:nvSpPr>
          <p:cNvPr id="13" name="Text 11"/>
          <p:cNvSpPr txBox="1"/>
          <p:nvPr/>
        </p:nvSpPr>
        <p:spPr>
          <a:xfrm>
            <a:off x="640080" y="2011680"/>
            <a:ext cx="457200" cy="41148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01</a:t>
            </a:r>
            <a:endParaRPr lang="en-US" sz="1200" dirty="0"/>
          </a:p>
        </p:txBody>
      </p:sp>
      <p:sp>
        <p:nvSpPr>
          <p:cNvPr id="14" name="Text 12"/>
          <p:cNvSpPr txBox="1"/>
          <p:nvPr/>
        </p:nvSpPr>
        <p:spPr>
          <a:xfrm>
            <a:off x="1097280" y="2011680"/>
            <a:ext cx="1920240" cy="411480"/>
          </a:xfrm>
          <a:prstGeom prst="rect">
            <a:avLst/>
          </a:prstGeom>
          <a:noFill/>
          <a:ln/>
        </p:spPr>
        <p:txBody>
          <a:bodyPr wrap="square" lIns="0" tIns="0" rIns="0" bIns="0" rtlCol="0" anchor="ct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功能特性</a:t>
            </a:r>
            <a:endParaRPr lang="en-US" sz="1350" dirty="0"/>
          </a:p>
        </p:txBody>
      </p:sp>
      <p:sp>
        <p:nvSpPr>
          <p:cNvPr id="15" name="Text 13"/>
          <p:cNvSpPr txBox="1"/>
          <p:nvPr/>
        </p:nvSpPr>
        <p:spPr>
          <a:xfrm>
            <a:off x="640080" y="2578608"/>
            <a:ext cx="457200" cy="41148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02</a:t>
            </a:r>
            <a:endParaRPr lang="en-US" sz="1200" dirty="0"/>
          </a:p>
        </p:txBody>
      </p:sp>
      <p:sp>
        <p:nvSpPr>
          <p:cNvPr id="16" name="Text 14"/>
          <p:cNvSpPr txBox="1"/>
          <p:nvPr/>
        </p:nvSpPr>
        <p:spPr>
          <a:xfrm>
            <a:off x="1097280" y="2578608"/>
            <a:ext cx="1920240" cy="411480"/>
          </a:xfrm>
          <a:prstGeom prst="rect">
            <a:avLst/>
          </a:prstGeom>
          <a:noFill/>
          <a:ln/>
        </p:spPr>
        <p:txBody>
          <a:bodyPr wrap="square" lIns="0" tIns="0" rIns="0" bIns="0" rtlCol="0" anchor="ct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工艺特性</a:t>
            </a:r>
            <a:endParaRPr lang="en-US" sz="1350" dirty="0"/>
          </a:p>
        </p:txBody>
      </p:sp>
      <p:sp>
        <p:nvSpPr>
          <p:cNvPr id="17" name="Text 15"/>
          <p:cNvSpPr txBox="1"/>
          <p:nvPr/>
        </p:nvSpPr>
        <p:spPr>
          <a:xfrm>
            <a:off x="640080" y="3145536"/>
            <a:ext cx="457200" cy="41148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03</a:t>
            </a:r>
            <a:endParaRPr lang="en-US" sz="1200" dirty="0"/>
          </a:p>
        </p:txBody>
      </p:sp>
      <p:sp>
        <p:nvSpPr>
          <p:cNvPr id="18" name="Text 16"/>
          <p:cNvSpPr txBox="1"/>
          <p:nvPr/>
        </p:nvSpPr>
        <p:spPr>
          <a:xfrm>
            <a:off x="1097280" y="3145536"/>
            <a:ext cx="1920240" cy="411480"/>
          </a:xfrm>
          <a:prstGeom prst="rect">
            <a:avLst/>
          </a:prstGeom>
          <a:noFill/>
          <a:ln/>
        </p:spPr>
        <p:txBody>
          <a:bodyPr wrap="square" lIns="0" tIns="0" rIns="0" bIns="0" rtlCol="0" anchor="ct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绿色及可持续性</a:t>
            </a:r>
            <a:endParaRPr lang="en-US" sz="1350" dirty="0"/>
          </a:p>
        </p:txBody>
      </p:sp>
      <p:sp>
        <p:nvSpPr>
          <p:cNvPr id="19" name="Text 17"/>
          <p:cNvSpPr txBox="1"/>
          <p:nvPr/>
        </p:nvSpPr>
        <p:spPr>
          <a:xfrm>
            <a:off x="640080" y="3712464"/>
            <a:ext cx="457200" cy="411480"/>
          </a:xfrm>
          <a:prstGeom prst="rect">
            <a:avLst/>
          </a:prstGeom>
          <a:noFill/>
          <a:ln/>
        </p:spPr>
        <p:txBody>
          <a:bodyPr wrap="square" lIns="0" tIns="0" rIns="0" bIns="0" rtlCol="0" anchor="ctr"/>
          <a:lstStyle/>
          <a:p>
            <a:pPr indent="0" marL="0">
              <a:buNone/>
            </a:pPr>
            <a:r>
              <a:rPr lang="en-US" sz="1200" b="1" dirty="0">
                <a:solidFill>
                  <a:srgbClr val="111111"/>
                </a:solidFill>
                <a:latin typeface="Arial" pitchFamily="34" charset="0"/>
                <a:ea typeface="Arial" pitchFamily="34" charset="-122"/>
                <a:cs typeface="Arial" pitchFamily="34" charset="-120"/>
              </a:rPr>
              <a:t>04</a:t>
            </a:r>
            <a:endParaRPr lang="en-US" sz="1200" dirty="0"/>
          </a:p>
        </p:txBody>
      </p:sp>
      <p:sp>
        <p:nvSpPr>
          <p:cNvPr id="20" name="Text 18"/>
          <p:cNvSpPr txBox="1"/>
          <p:nvPr/>
        </p:nvSpPr>
        <p:spPr>
          <a:xfrm>
            <a:off x="1097280" y="3712464"/>
            <a:ext cx="1920240" cy="411480"/>
          </a:xfrm>
          <a:prstGeom prst="rect">
            <a:avLst/>
          </a:prstGeom>
          <a:noFill/>
          <a:ln/>
        </p:spPr>
        <p:txBody>
          <a:bodyPr wrap="square" lIns="0" tIns="0" rIns="0" bIns="0" rtlCol="0" anchor="ct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成本及其他补充信息</a:t>
            </a:r>
            <a:endParaRPr lang="en-US" sz="1350" dirty="0"/>
          </a:p>
        </p:txBody>
      </p:sp>
      <p:sp>
        <p:nvSpPr>
          <p:cNvPr id="21" name="Shape 19"/>
          <p:cNvSpPr/>
          <p:nvPr/>
        </p:nvSpPr>
        <p:spPr>
          <a:xfrm>
            <a:off x="3264408" y="1188720"/>
            <a:ext cx="2743200" cy="3383280"/>
          </a:xfrm>
          <a:prstGeom prst="roundRect">
            <a:avLst>
              <a:gd name="adj" fmla="val 3333"/>
            </a:avLst>
          </a:prstGeom>
          <a:solidFill>
            <a:srgbClr val="111111"/>
          </a:solidFill>
          <a:ln/>
        </p:spPr>
      </p:sp>
      <p:sp>
        <p:nvSpPr>
          <p:cNvPr id="22" name="Text 20"/>
          <p:cNvSpPr txBox="1"/>
          <p:nvPr/>
        </p:nvSpPr>
        <p:spPr>
          <a:xfrm>
            <a:off x="3493008" y="1371600"/>
            <a:ext cx="2377440"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材料的主观属性</a:t>
            </a:r>
            <a:endParaRPr lang="en-US" sz="1700" dirty="0"/>
          </a:p>
        </p:txBody>
      </p:sp>
      <p:sp>
        <p:nvSpPr>
          <p:cNvPr id="23" name="Text 21"/>
          <p:cNvSpPr txBox="1"/>
          <p:nvPr/>
        </p:nvSpPr>
        <p:spPr>
          <a:xfrm>
            <a:off x="3493008" y="2011680"/>
            <a:ext cx="457200" cy="411480"/>
          </a:xfrm>
          <a:prstGeom prst="rect">
            <a:avLst/>
          </a:prstGeom>
          <a:noFill/>
          <a:ln/>
        </p:spPr>
        <p:txBody>
          <a:bodyPr wrap="square" lIns="0" tIns="0" rIns="0" bIns="0" rtlCol="0" anchor="ctr"/>
          <a:lstStyle/>
          <a:p>
            <a:pPr indent="0" marL="0">
              <a:buNone/>
            </a:pPr>
            <a:r>
              <a:rPr lang="en-US" sz="1200" b="1" dirty="0">
                <a:solidFill>
                  <a:srgbClr val="E4FF97"/>
                </a:solidFill>
                <a:latin typeface="Arial" pitchFamily="34" charset="0"/>
                <a:ea typeface="Arial" pitchFamily="34" charset="-122"/>
                <a:cs typeface="Arial" pitchFamily="34" charset="-120"/>
              </a:rPr>
              <a:t>01</a:t>
            </a:r>
            <a:endParaRPr lang="en-US" sz="1200" dirty="0"/>
          </a:p>
        </p:txBody>
      </p:sp>
      <p:sp>
        <p:nvSpPr>
          <p:cNvPr id="24" name="Text 22"/>
          <p:cNvSpPr txBox="1"/>
          <p:nvPr/>
        </p:nvSpPr>
        <p:spPr>
          <a:xfrm>
            <a:off x="3950208" y="2011680"/>
            <a:ext cx="1920240" cy="411480"/>
          </a:xfrm>
          <a:prstGeom prst="rect">
            <a:avLst/>
          </a:prstGeom>
          <a:noFill/>
          <a:ln/>
        </p:spPr>
        <p:txBody>
          <a:bodyPr wrap="square" lIns="0" tIns="0" rIns="0" bIns="0" rtlCol="0" anchor="ctr"/>
          <a:lstStyle/>
          <a:p>
            <a:pPr indent="0" marL="0">
              <a:buNone/>
            </a:pPr>
            <a:r>
              <a:rPr lang="en-US" sz="1350" dirty="0">
                <a:solidFill>
                  <a:srgbClr val="FFFFFF"/>
                </a:solidFill>
                <a:latin typeface="Microsoft YaHei" pitchFamily="34" charset="0"/>
                <a:ea typeface="Microsoft YaHei" pitchFamily="34" charset="-122"/>
                <a:cs typeface="Microsoft YaHei" pitchFamily="34" charset="-120"/>
              </a:rPr>
              <a:t>感官特性</a:t>
            </a:r>
            <a:endParaRPr lang="en-US" sz="1350" dirty="0"/>
          </a:p>
        </p:txBody>
      </p:sp>
      <p:sp>
        <p:nvSpPr>
          <p:cNvPr id="25" name="Text 23"/>
          <p:cNvSpPr txBox="1"/>
          <p:nvPr/>
        </p:nvSpPr>
        <p:spPr>
          <a:xfrm>
            <a:off x="3493008" y="2578608"/>
            <a:ext cx="457200" cy="411480"/>
          </a:xfrm>
          <a:prstGeom prst="rect">
            <a:avLst/>
          </a:prstGeom>
          <a:noFill/>
          <a:ln/>
        </p:spPr>
        <p:txBody>
          <a:bodyPr wrap="square" lIns="0" tIns="0" rIns="0" bIns="0" rtlCol="0" anchor="ctr"/>
          <a:lstStyle/>
          <a:p>
            <a:pPr indent="0" marL="0">
              <a:buNone/>
            </a:pPr>
            <a:r>
              <a:rPr lang="en-US" sz="1200" b="1" dirty="0">
                <a:solidFill>
                  <a:srgbClr val="E4FF97"/>
                </a:solidFill>
                <a:latin typeface="Arial" pitchFamily="34" charset="0"/>
                <a:ea typeface="Arial" pitchFamily="34" charset="-122"/>
                <a:cs typeface="Arial" pitchFamily="34" charset="-120"/>
              </a:rPr>
              <a:t>02</a:t>
            </a:r>
            <a:endParaRPr lang="en-US" sz="1200" dirty="0"/>
          </a:p>
        </p:txBody>
      </p:sp>
      <p:sp>
        <p:nvSpPr>
          <p:cNvPr id="26" name="Text 24"/>
          <p:cNvSpPr txBox="1"/>
          <p:nvPr/>
        </p:nvSpPr>
        <p:spPr>
          <a:xfrm>
            <a:off x="3950208" y="2578608"/>
            <a:ext cx="1920240" cy="411480"/>
          </a:xfrm>
          <a:prstGeom prst="rect">
            <a:avLst/>
          </a:prstGeom>
          <a:noFill/>
          <a:ln/>
        </p:spPr>
        <p:txBody>
          <a:bodyPr wrap="square" lIns="0" tIns="0" rIns="0" bIns="0" rtlCol="0" anchor="ctr"/>
          <a:lstStyle/>
          <a:p>
            <a:pPr indent="0" marL="0">
              <a:buNone/>
            </a:pPr>
            <a:r>
              <a:rPr lang="en-US" sz="1350" dirty="0">
                <a:solidFill>
                  <a:srgbClr val="FFFFFF"/>
                </a:solidFill>
                <a:latin typeface="Microsoft YaHei" pitchFamily="34" charset="0"/>
                <a:ea typeface="Microsoft YaHei" pitchFamily="34" charset="-122"/>
                <a:cs typeface="Microsoft YaHei" pitchFamily="34" charset="-120"/>
              </a:rPr>
              <a:t>感知特性</a:t>
            </a:r>
            <a:endParaRPr lang="en-US" sz="1350" dirty="0"/>
          </a:p>
        </p:txBody>
      </p:sp>
      <p:pic>
        <p:nvPicPr>
          <p:cNvPr id="27" name="Image 0" descr="p16_3">    </p:cNvPr>
          <p:cNvPicPr>
            <a:picLocks noChangeAspect="1"/>
          </p:cNvPicPr>
          <p:nvPr/>
        </p:nvPicPr>
        <p:blipFill>
          <a:blip r:embed="rId1"/>
          <a:stretch>
            <a:fillRect/>
          </a:stretch>
        </p:blipFill>
        <p:spPr>
          <a:xfrm>
            <a:off x="6117336" y="1188720"/>
            <a:ext cx="1252728" cy="1636776"/>
          </a:xfrm>
          <a:prstGeom prst="rect">
            <a:avLst/>
          </a:prstGeom>
        </p:spPr>
      </p:pic>
      <p:pic>
        <p:nvPicPr>
          <p:cNvPr id="28" name="Image 1" descr="p16_6">    </p:cNvPr>
          <p:cNvPicPr>
            <a:picLocks noChangeAspect="1"/>
          </p:cNvPicPr>
          <p:nvPr/>
        </p:nvPicPr>
        <p:blipFill>
          <a:blip r:embed="rId2"/>
          <a:stretch>
            <a:fillRect/>
          </a:stretch>
        </p:blipFill>
        <p:spPr>
          <a:xfrm>
            <a:off x="7479792" y="1188720"/>
            <a:ext cx="1252728" cy="1636776"/>
          </a:xfrm>
          <a:prstGeom prst="rect">
            <a:avLst/>
          </a:prstGeom>
        </p:spPr>
      </p:pic>
      <p:pic>
        <p:nvPicPr>
          <p:cNvPr id="29" name="Image 2" descr="p16_5">    </p:cNvPr>
          <p:cNvPicPr>
            <a:picLocks noChangeAspect="1"/>
          </p:cNvPicPr>
          <p:nvPr/>
        </p:nvPicPr>
        <p:blipFill>
          <a:blip r:embed="rId3"/>
          <a:stretch>
            <a:fillRect/>
          </a:stretch>
        </p:blipFill>
        <p:spPr>
          <a:xfrm>
            <a:off x="6117336" y="2935224"/>
            <a:ext cx="1252728" cy="1636776"/>
          </a:xfrm>
          <a:prstGeom prst="rect">
            <a:avLst/>
          </a:prstGeom>
        </p:spPr>
      </p:pic>
      <p:pic>
        <p:nvPicPr>
          <p:cNvPr id="30" name="Image 3" descr="p16_4">    </p:cNvPr>
          <p:cNvPicPr>
            <a:picLocks noChangeAspect="1"/>
          </p:cNvPicPr>
          <p:nvPr/>
        </p:nvPicPr>
        <p:blipFill>
          <a:blip r:embed="rId4"/>
          <a:stretch>
            <a:fillRect/>
          </a:stretch>
        </p:blipFill>
        <p:spPr>
          <a:xfrm>
            <a:off x="7479792" y="2935224"/>
            <a:ext cx="1252728" cy="16367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材料的主观属性 · 感官特性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Sensory Properties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19</a:t>
            </a:r>
            <a:endParaRPr lang="en-US" sz="750" dirty="0"/>
          </a:p>
        </p:txBody>
      </p:sp>
      <p:sp>
        <p:nvSpPr>
          <p:cNvPr id="11" name="Text 9"/>
          <p:cNvSpPr txBox="1"/>
          <p:nvPr/>
        </p:nvSpPr>
        <p:spPr>
          <a:xfrm>
            <a:off x="411480" y="1188720"/>
            <a:ext cx="8321040" cy="1097280"/>
          </a:xfrm>
          <a:prstGeom prst="rect">
            <a:avLst/>
          </a:prstGeom>
          <a:noFill/>
          <a:ln/>
        </p:spPr>
        <p:txBody>
          <a:bodyPr wrap="square" lIns="0" tIns="0" rIns="0" bIns="0" rtlCol="0" anchor="t"/>
          <a:lstStyle/>
          <a:p>
            <a:pPr indent="0" marL="0">
              <a:lnSpc>
                <a:spcPct val="135000"/>
              </a:lnSpc>
              <a:spcAft>
                <a:spcPts val="400"/>
              </a:spcAft>
              <a:buNone/>
            </a:pPr>
            <a:r>
              <a:rPr lang="en-US" sz="1350" dirty="0">
                <a:solidFill>
                  <a:srgbClr val="111111"/>
                </a:solidFill>
                <a:latin typeface="Microsoft YaHei" pitchFamily="34" charset="0"/>
                <a:ea typeface="Microsoft YaHei" pitchFamily="34" charset="-122"/>
                <a:cs typeface="Microsoft YaHei" pitchFamily="34" charset="-120"/>
              </a:rPr>
              <a:t>感官体验本身指某种即刻的、基本的、直接地体验，大都由简单、单一的物理刺激产生，即人类通过视觉、触觉、听觉、嗅觉和味觉的感觉器官对材料的特质与属性的认识。</a:t>
            </a:r>
            <a:endParaRPr lang="en-US" sz="1350" dirty="0"/>
          </a:p>
          <a:p>
            <a:pPr indent="0" marL="0">
              <a:lnSpc>
                <a:spcPct val="135000"/>
              </a:lnSpc>
              <a:spcAft>
                <a:spcPts val="400"/>
              </a:spcAft>
              <a:buNone/>
            </a:pPr>
            <a:r>
              <a:rPr lang="en-US" sz="1350" dirty="0">
                <a:solidFill>
                  <a:srgbClr val="111111"/>
                </a:solidFill>
                <a:latin typeface="Microsoft YaHei" pitchFamily="34" charset="0"/>
                <a:ea typeface="Microsoft YaHei" pitchFamily="34" charset="-122"/>
                <a:cs typeface="Microsoft YaHei" pitchFamily="34" charset="-120"/>
              </a:rPr>
              <a:t>目前针对材料的感官特性研究中，更关注材料的</a:t>
            </a:r>
            <a:pPr indent="0" marL="0">
              <a:lnSpc>
                <a:spcPct val="135000"/>
              </a:lnSpc>
              <a:spcAft>
                <a:spcPts val="400"/>
              </a:spcAft>
              <a:buNone/>
            </a:pPr>
            <a:r>
              <a:rPr lang="en-US" sz="1350" b="1" dirty="0">
                <a:solidFill>
                  <a:srgbClr val="111111"/>
                </a:solidFill>
                <a:highlight>
                  <a:srgbClr val="E4FF97"/>
                </a:highlight>
                <a:latin typeface="Microsoft YaHei" pitchFamily="34" charset="0"/>
                <a:ea typeface="Microsoft YaHei" pitchFamily="34" charset="-122"/>
                <a:cs typeface="Microsoft YaHei" pitchFamily="34" charset="-120"/>
              </a:rPr>
              <a:t>视觉和触觉特性</a:t>
            </a:r>
            <a:pPr indent="0" marL="0">
              <a:lnSpc>
                <a:spcPct val="135000"/>
              </a:lnSpc>
              <a:spcAft>
                <a:spcPts val="400"/>
              </a:spcAft>
              <a:buNone/>
            </a:pPr>
            <a:r>
              <a:rPr lang="en-US" sz="1350" dirty="0">
                <a:solidFill>
                  <a:srgbClr val="111111"/>
                </a:solidFill>
                <a:latin typeface="Microsoft YaHei" pitchFamily="34" charset="0"/>
                <a:ea typeface="Microsoft YaHei" pitchFamily="34" charset="-122"/>
                <a:cs typeface="Microsoft YaHei" pitchFamily="34" charset="-120"/>
              </a:rPr>
              <a:t>的研究。</a:t>
            </a:r>
            <a:endParaRPr lang="en-US" sz="1350" dirty="0"/>
          </a:p>
        </p:txBody>
      </p:sp>
      <p:pic>
        <p:nvPicPr>
          <p:cNvPr id="12" name="Image 0" descr="p17_2">    </p:cNvPr>
          <p:cNvPicPr>
            <a:picLocks noChangeAspect="1"/>
          </p:cNvPicPr>
          <p:nvPr/>
        </p:nvPicPr>
        <p:blipFill>
          <a:blip r:embed="rId1"/>
          <a:stretch>
            <a:fillRect/>
          </a:stretch>
        </p:blipFill>
        <p:spPr>
          <a:xfrm>
            <a:off x="411480" y="2514600"/>
            <a:ext cx="2057400" cy="2057400"/>
          </a:xfrm>
          <a:prstGeom prst="rect">
            <a:avLst/>
          </a:prstGeom>
        </p:spPr>
      </p:pic>
      <p:pic>
        <p:nvPicPr>
          <p:cNvPr id="13" name="Image 1" descr="p17_0">    </p:cNvPr>
          <p:cNvPicPr>
            <a:picLocks noChangeAspect="1"/>
          </p:cNvPicPr>
          <p:nvPr/>
        </p:nvPicPr>
        <p:blipFill>
          <a:blip r:embed="rId2"/>
          <a:stretch>
            <a:fillRect/>
          </a:stretch>
        </p:blipFill>
        <p:spPr>
          <a:xfrm>
            <a:off x="2578608" y="2514600"/>
            <a:ext cx="6153912" cy="2057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457200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457200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材料的主观属性 · 感知特性</a:t>
            </a:r>
            <a:endParaRPr lang="en-US" sz="2400" dirty="0"/>
          </a:p>
        </p:txBody>
      </p:sp>
      <p:sp>
        <p:nvSpPr>
          <p:cNvPr id="4" name="Text 2"/>
          <p:cNvSpPr txBox="1"/>
          <p:nvPr/>
        </p:nvSpPr>
        <p:spPr>
          <a:xfrm>
            <a:off x="411480" y="758952"/>
            <a:ext cx="457200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Perceptual Properties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20</a:t>
            </a:r>
            <a:endParaRPr lang="en-US" sz="750" dirty="0"/>
          </a:p>
        </p:txBody>
      </p:sp>
      <p:pic>
        <p:nvPicPr>
          <p:cNvPr id="11" name="Image 0" descr="p18_0">    </p:cNvPr>
          <p:cNvPicPr>
            <a:picLocks noChangeAspect="1"/>
          </p:cNvPicPr>
          <p:nvPr/>
        </p:nvPicPr>
        <p:blipFill>
          <a:blip r:embed="rId1"/>
          <a:stretch>
            <a:fillRect/>
          </a:stretch>
        </p:blipFill>
        <p:spPr>
          <a:xfrm>
            <a:off x="5120640" y="0"/>
            <a:ext cx="4023360" cy="4636008"/>
          </a:xfrm>
          <a:prstGeom prst="rect">
            <a:avLst/>
          </a:prstGeom>
        </p:spPr>
      </p:pic>
      <p:sp>
        <p:nvSpPr>
          <p:cNvPr id="12" name="Shape 9"/>
          <p:cNvSpPr/>
          <p:nvPr/>
        </p:nvSpPr>
        <p:spPr>
          <a:xfrm>
            <a:off x="411480" y="1463040"/>
            <a:ext cx="457200" cy="457200"/>
          </a:xfrm>
          <a:prstGeom prst="rect">
            <a:avLst/>
          </a:prstGeom>
          <a:solidFill>
            <a:srgbClr val="E4FF97"/>
          </a:solidFill>
          <a:ln/>
        </p:spPr>
      </p:sp>
      <p:sp>
        <p:nvSpPr>
          <p:cNvPr id="13" name="Text 10"/>
          <p:cNvSpPr txBox="1"/>
          <p:nvPr/>
        </p:nvSpPr>
        <p:spPr>
          <a:xfrm>
            <a:off x="411480" y="2103120"/>
            <a:ext cx="4389120" cy="2011680"/>
          </a:xfrm>
          <a:prstGeom prst="rect">
            <a:avLst/>
          </a:prstGeom>
          <a:noFill/>
          <a:ln/>
        </p:spPr>
        <p:txBody>
          <a:bodyPr wrap="square" lIns="0" tIns="0" rIns="0" bIns="0" rtlCol="0" anchor="t"/>
          <a:lstStyle/>
          <a:p>
            <a:pPr indent="0" marL="0">
              <a:lnSpc>
                <a:spcPct val="135000"/>
              </a:lnSpc>
              <a:buNone/>
            </a:pPr>
            <a:r>
              <a:rPr lang="en-US" sz="2100" dirty="0">
                <a:solidFill>
                  <a:srgbClr val="111111"/>
                </a:solidFill>
                <a:latin typeface="Microsoft YaHei" pitchFamily="34" charset="0"/>
                <a:ea typeface="Microsoft YaHei" pitchFamily="34" charset="-122"/>
                <a:cs typeface="Microsoft YaHei" pitchFamily="34" charset="-120"/>
              </a:rPr>
              <a:t>材料的感知特性是相对抽象的内容，它指产品在人的心理感觉，即当人们看见材料时的内心反应。</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材料的主观属性 · 感知特性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Four Dimensions of Material Experience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21</a:t>
            </a:r>
            <a:endParaRPr lang="en-US" sz="750" dirty="0"/>
          </a:p>
        </p:txBody>
      </p:sp>
      <p:sp>
        <p:nvSpPr>
          <p:cNvPr id="11" name="Shape 9"/>
          <p:cNvSpPr/>
          <p:nvPr/>
        </p:nvSpPr>
        <p:spPr>
          <a:xfrm>
            <a:off x="411480" y="1188720"/>
            <a:ext cx="1997964" cy="3200400"/>
          </a:xfrm>
          <a:prstGeom prst="roundRect">
            <a:avLst>
              <a:gd name="adj" fmla="val 4577"/>
            </a:avLst>
          </a:prstGeom>
          <a:solidFill>
            <a:srgbClr val="E4FF97"/>
          </a:solidFill>
          <a:ln/>
        </p:spPr>
      </p:sp>
      <p:sp>
        <p:nvSpPr>
          <p:cNvPr id="12" name="Text 10"/>
          <p:cNvSpPr txBox="1"/>
          <p:nvPr/>
        </p:nvSpPr>
        <p:spPr>
          <a:xfrm>
            <a:off x="612648" y="1325880"/>
            <a:ext cx="1097280" cy="59436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01</a:t>
            </a:r>
            <a:endParaRPr lang="en-US" sz="3000" dirty="0"/>
          </a:p>
        </p:txBody>
      </p:sp>
      <p:sp>
        <p:nvSpPr>
          <p:cNvPr id="13" name="Text 11"/>
          <p:cNvSpPr txBox="1"/>
          <p:nvPr/>
        </p:nvSpPr>
        <p:spPr>
          <a:xfrm>
            <a:off x="612648" y="2148840"/>
            <a:ext cx="1632204"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几何维度</a:t>
            </a:r>
            <a:endParaRPr lang="en-US" sz="1700" dirty="0"/>
          </a:p>
        </p:txBody>
      </p:sp>
      <p:sp>
        <p:nvSpPr>
          <p:cNvPr id="14" name="Text 12"/>
          <p:cNvSpPr txBox="1"/>
          <p:nvPr/>
        </p:nvSpPr>
        <p:spPr>
          <a:xfrm>
            <a:off x="612648"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几何维度描述人们对于材质表面的几何构造与形貌的主观印象。</a:t>
            </a:r>
            <a:endParaRPr lang="en-US" sz="1150" dirty="0"/>
          </a:p>
        </p:txBody>
      </p:sp>
      <p:sp>
        <p:nvSpPr>
          <p:cNvPr id="15" name="Shape 13"/>
          <p:cNvSpPr/>
          <p:nvPr/>
        </p:nvSpPr>
        <p:spPr>
          <a:xfrm>
            <a:off x="2519172" y="1188720"/>
            <a:ext cx="1997964" cy="3200400"/>
          </a:xfrm>
          <a:prstGeom prst="roundRect">
            <a:avLst>
              <a:gd name="adj" fmla="val 4577"/>
            </a:avLst>
          </a:prstGeom>
          <a:solidFill>
            <a:srgbClr val="F4F4F4"/>
          </a:solidFill>
          <a:ln/>
        </p:spPr>
      </p:sp>
      <p:sp>
        <p:nvSpPr>
          <p:cNvPr id="16" name="Text 14"/>
          <p:cNvSpPr txBox="1"/>
          <p:nvPr/>
        </p:nvSpPr>
        <p:spPr>
          <a:xfrm>
            <a:off x="2720340" y="1325880"/>
            <a:ext cx="1097280" cy="59436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02</a:t>
            </a:r>
            <a:endParaRPr lang="en-US" sz="3000" dirty="0"/>
          </a:p>
        </p:txBody>
      </p:sp>
      <p:sp>
        <p:nvSpPr>
          <p:cNvPr id="17" name="Text 15"/>
          <p:cNvSpPr txBox="1"/>
          <p:nvPr/>
        </p:nvSpPr>
        <p:spPr>
          <a:xfrm>
            <a:off x="2720340" y="2148840"/>
            <a:ext cx="1632204"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理化维度</a:t>
            </a:r>
            <a:endParaRPr lang="en-US" sz="1700" dirty="0"/>
          </a:p>
        </p:txBody>
      </p:sp>
      <p:sp>
        <p:nvSpPr>
          <p:cNvPr id="18" name="Text 16"/>
          <p:cNvSpPr txBox="1"/>
          <p:nvPr/>
        </p:nvSpPr>
        <p:spPr>
          <a:xfrm>
            <a:off x="2720340"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理化维度描述的是人们对于一个材料或物体的表面或体块的物理化学属性的主观印象。</a:t>
            </a:r>
            <a:endParaRPr lang="en-US" sz="1150" dirty="0"/>
          </a:p>
        </p:txBody>
      </p:sp>
      <p:sp>
        <p:nvSpPr>
          <p:cNvPr id="19" name="Shape 17"/>
          <p:cNvSpPr/>
          <p:nvPr/>
        </p:nvSpPr>
        <p:spPr>
          <a:xfrm>
            <a:off x="4626864" y="1188720"/>
            <a:ext cx="1997964" cy="3200400"/>
          </a:xfrm>
          <a:prstGeom prst="roundRect">
            <a:avLst>
              <a:gd name="adj" fmla="val 4577"/>
            </a:avLst>
          </a:prstGeom>
          <a:solidFill>
            <a:srgbClr val="EBEBEB"/>
          </a:solidFill>
          <a:ln/>
        </p:spPr>
      </p:sp>
      <p:sp>
        <p:nvSpPr>
          <p:cNvPr id="20" name="Text 18"/>
          <p:cNvSpPr txBox="1"/>
          <p:nvPr/>
        </p:nvSpPr>
        <p:spPr>
          <a:xfrm>
            <a:off x="4828032" y="1325880"/>
            <a:ext cx="1097280" cy="594360"/>
          </a:xfrm>
          <a:prstGeom prst="rect">
            <a:avLst/>
          </a:prstGeom>
          <a:noFill/>
          <a:ln/>
        </p:spPr>
        <p:txBody>
          <a:bodyPr wrap="square" lIns="0" tIns="0" rIns="0" bIns="0" rtlCol="0" anchor="t"/>
          <a:lstStyle/>
          <a:p>
            <a:pPr indent="0" marL="0">
              <a:buNone/>
            </a:pPr>
            <a:r>
              <a:rPr lang="en-US" sz="3000" b="1" dirty="0">
                <a:solidFill>
                  <a:srgbClr val="111111"/>
                </a:solidFill>
                <a:latin typeface="Arial" pitchFamily="34" charset="0"/>
                <a:ea typeface="Arial" pitchFamily="34" charset="-122"/>
                <a:cs typeface="Arial" pitchFamily="34" charset="-120"/>
              </a:rPr>
              <a:t>03</a:t>
            </a:r>
            <a:endParaRPr lang="en-US" sz="3000" dirty="0"/>
          </a:p>
        </p:txBody>
      </p:sp>
      <p:sp>
        <p:nvSpPr>
          <p:cNvPr id="21" name="Text 19"/>
          <p:cNvSpPr txBox="1"/>
          <p:nvPr/>
        </p:nvSpPr>
        <p:spPr>
          <a:xfrm>
            <a:off x="4828032" y="2148840"/>
            <a:ext cx="1632204"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情绪维度</a:t>
            </a:r>
            <a:endParaRPr lang="en-US" sz="1700" dirty="0"/>
          </a:p>
        </p:txBody>
      </p:sp>
      <p:sp>
        <p:nvSpPr>
          <p:cNvPr id="22" name="Text 20"/>
          <p:cNvSpPr txBox="1"/>
          <p:nvPr/>
        </p:nvSpPr>
        <p:spPr>
          <a:xfrm>
            <a:off x="4828032"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情绪维度描述的是人们在与材料进行感官交互过程中引起的情绪方面的主观感受。</a:t>
            </a:r>
            <a:endParaRPr lang="en-US" sz="1150" dirty="0"/>
          </a:p>
        </p:txBody>
      </p:sp>
      <p:sp>
        <p:nvSpPr>
          <p:cNvPr id="23" name="Shape 21"/>
          <p:cNvSpPr/>
          <p:nvPr/>
        </p:nvSpPr>
        <p:spPr>
          <a:xfrm>
            <a:off x="6734556" y="1188720"/>
            <a:ext cx="1997964" cy="3200400"/>
          </a:xfrm>
          <a:prstGeom prst="roundRect">
            <a:avLst>
              <a:gd name="adj" fmla="val 4577"/>
            </a:avLst>
          </a:prstGeom>
          <a:solidFill>
            <a:srgbClr val="111111"/>
          </a:solidFill>
          <a:ln/>
        </p:spPr>
      </p:sp>
      <p:sp>
        <p:nvSpPr>
          <p:cNvPr id="24" name="Text 22"/>
          <p:cNvSpPr txBox="1"/>
          <p:nvPr/>
        </p:nvSpPr>
        <p:spPr>
          <a:xfrm>
            <a:off x="6935724" y="1325880"/>
            <a:ext cx="1097280" cy="59436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04</a:t>
            </a:r>
            <a:endParaRPr lang="en-US" sz="3000" dirty="0"/>
          </a:p>
        </p:txBody>
      </p:sp>
      <p:sp>
        <p:nvSpPr>
          <p:cNvPr id="25" name="Text 23"/>
          <p:cNvSpPr txBox="1"/>
          <p:nvPr/>
        </p:nvSpPr>
        <p:spPr>
          <a:xfrm>
            <a:off x="6935724" y="2148840"/>
            <a:ext cx="1632204"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关联维度</a:t>
            </a:r>
            <a:endParaRPr lang="en-US" sz="1700" dirty="0"/>
          </a:p>
        </p:txBody>
      </p:sp>
      <p:sp>
        <p:nvSpPr>
          <p:cNvPr id="26" name="Text 24"/>
          <p:cNvSpPr txBox="1"/>
          <p:nvPr/>
        </p:nvSpPr>
        <p:spPr>
          <a:xfrm>
            <a:off x="6935724" y="2697480"/>
            <a:ext cx="1613916" cy="155448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Microsoft YaHei" pitchFamily="34" charset="0"/>
                <a:ea typeface="Microsoft YaHei" pitchFamily="34" charset="-122"/>
                <a:cs typeface="Microsoft YaHei" pitchFamily="34" charset="-120"/>
              </a:rPr>
              <a:t>关联维度的质感体验描述的是人们在与材料进行感官交互过程中，所引起的对其他事物的各种联想。</a:t>
            </a:r>
            <a:endParaRPr lang="en-US" sz="1150" dirty="0"/>
          </a:p>
        </p:txBody>
      </p:sp>
      <p:sp>
        <p:nvSpPr>
          <p:cNvPr id="27" name="Text 25"/>
          <p:cNvSpPr txBox="1"/>
          <p:nvPr/>
        </p:nvSpPr>
        <p:spPr>
          <a:xfrm>
            <a:off x="411480" y="4553712"/>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Microsoft YaHei" pitchFamily="34" charset="0"/>
                <a:ea typeface="Microsoft YaHei" pitchFamily="34" charset="-122"/>
                <a:cs typeface="Microsoft YaHei" pitchFamily="34" charset="-120"/>
              </a:rPr>
              <a:t>左恒峰, 严扬. 论CMF的主观体验:材质[J]. 装饰, 2017, 000(008):118-121.</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材料的主观属性 · 感知特性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Experiential Levels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22</a:t>
            </a:r>
            <a:endParaRPr lang="en-US" sz="750" dirty="0"/>
          </a:p>
        </p:txBody>
      </p:sp>
      <p:sp>
        <p:nvSpPr>
          <p:cNvPr id="11" name="Shape 9"/>
          <p:cNvSpPr/>
          <p:nvPr/>
        </p:nvSpPr>
        <p:spPr>
          <a:xfrm>
            <a:off x="1097280" y="1280160"/>
            <a:ext cx="2651760" cy="2651760"/>
          </a:xfrm>
          <a:prstGeom prst="ellipse">
            <a:avLst/>
          </a:prstGeom>
          <a:solidFill>
            <a:srgbClr val="E4FF97"/>
          </a:solidFill>
          <a:ln/>
        </p:spPr>
      </p:sp>
      <p:sp>
        <p:nvSpPr>
          <p:cNvPr id="12" name="Shape 10"/>
          <p:cNvSpPr/>
          <p:nvPr/>
        </p:nvSpPr>
        <p:spPr>
          <a:xfrm>
            <a:off x="3429000" y="1280160"/>
            <a:ext cx="2651760" cy="2651760"/>
          </a:xfrm>
          <a:prstGeom prst="ellipse">
            <a:avLst/>
          </a:prstGeom>
          <a:solidFill>
            <a:srgbClr val="EBEBEB">
              <a:alpha val="90000"/>
            </a:srgbClr>
          </a:solidFill>
          <a:ln/>
        </p:spPr>
      </p:sp>
      <p:sp>
        <p:nvSpPr>
          <p:cNvPr id="13" name="Shape 11"/>
          <p:cNvSpPr/>
          <p:nvPr/>
        </p:nvSpPr>
        <p:spPr>
          <a:xfrm>
            <a:off x="5760720" y="1280160"/>
            <a:ext cx="2651760" cy="2651760"/>
          </a:xfrm>
          <a:prstGeom prst="ellipse">
            <a:avLst/>
          </a:prstGeom>
          <a:solidFill>
            <a:srgbClr val="111111"/>
          </a:solidFill>
          <a:ln/>
        </p:spPr>
      </p:sp>
      <p:sp>
        <p:nvSpPr>
          <p:cNvPr id="14" name="Text 12"/>
          <p:cNvSpPr txBox="1"/>
          <p:nvPr/>
        </p:nvSpPr>
        <p:spPr>
          <a:xfrm>
            <a:off x="1325880" y="2103120"/>
            <a:ext cx="2194560" cy="4572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Interpretive</a:t>
            </a:r>
            <a:endParaRPr lang="en-US" sz="1700" dirty="0"/>
          </a:p>
        </p:txBody>
      </p:sp>
      <p:sp>
        <p:nvSpPr>
          <p:cNvPr id="15" name="Text 13"/>
          <p:cNvSpPr txBox="1"/>
          <p:nvPr/>
        </p:nvSpPr>
        <p:spPr>
          <a:xfrm>
            <a:off x="1325880" y="2560320"/>
            <a:ext cx="2194560" cy="411480"/>
          </a:xfrm>
          <a:prstGeom prst="rect">
            <a:avLst/>
          </a:prstGeom>
          <a:noFill/>
          <a:ln/>
        </p:spPr>
        <p:txBody>
          <a:bodyPr wrap="square" lIns="0" tIns="0" rIns="0" bIns="0" rtlCol="0" anchor="ctr"/>
          <a:lstStyle/>
          <a:p>
            <a:pPr algn="ctr" indent="0" marL="0">
              <a:buNone/>
            </a:pPr>
            <a:r>
              <a:rPr lang="en-US" sz="1500" dirty="0">
                <a:solidFill>
                  <a:srgbClr val="111111"/>
                </a:solidFill>
                <a:latin typeface="Microsoft YaHei" pitchFamily="34" charset="0"/>
                <a:ea typeface="Microsoft YaHei" pitchFamily="34" charset="-122"/>
                <a:cs typeface="Microsoft YaHei" pitchFamily="34" charset="-120"/>
              </a:rPr>
              <a:t>释义层</a:t>
            </a:r>
            <a:endParaRPr lang="en-US" sz="1500" dirty="0"/>
          </a:p>
        </p:txBody>
      </p:sp>
      <p:sp>
        <p:nvSpPr>
          <p:cNvPr id="16" name="Text 14"/>
          <p:cNvSpPr txBox="1"/>
          <p:nvPr/>
        </p:nvSpPr>
        <p:spPr>
          <a:xfrm>
            <a:off x="3657600" y="2103120"/>
            <a:ext cx="2194560" cy="457200"/>
          </a:xfrm>
          <a:prstGeom prst="rect">
            <a:avLst/>
          </a:prstGeom>
          <a:noFill/>
          <a:ln/>
        </p:spPr>
        <p:txBody>
          <a:bodyPr wrap="square" lIns="0" tIns="0" rIns="0" bIns="0" rtlCol="0" anchor="ctr"/>
          <a:lstStyle/>
          <a:p>
            <a:pPr algn="ctr" indent="0" marL="0">
              <a:buNone/>
            </a:pPr>
            <a:r>
              <a:rPr lang="en-US" sz="1700" b="1" dirty="0">
                <a:solidFill>
                  <a:srgbClr val="111111"/>
                </a:solidFill>
                <a:latin typeface="Arial" pitchFamily="34" charset="0"/>
                <a:ea typeface="Arial" pitchFamily="34" charset="-122"/>
                <a:cs typeface="Arial" pitchFamily="34" charset="-120"/>
              </a:rPr>
              <a:t>Affective</a:t>
            </a:r>
            <a:endParaRPr lang="en-US" sz="1700" dirty="0"/>
          </a:p>
        </p:txBody>
      </p:sp>
      <p:sp>
        <p:nvSpPr>
          <p:cNvPr id="17" name="Text 15"/>
          <p:cNvSpPr txBox="1"/>
          <p:nvPr/>
        </p:nvSpPr>
        <p:spPr>
          <a:xfrm>
            <a:off x="3657600" y="2560320"/>
            <a:ext cx="2194560" cy="411480"/>
          </a:xfrm>
          <a:prstGeom prst="rect">
            <a:avLst/>
          </a:prstGeom>
          <a:noFill/>
          <a:ln/>
        </p:spPr>
        <p:txBody>
          <a:bodyPr wrap="square" lIns="0" tIns="0" rIns="0" bIns="0" rtlCol="0" anchor="ctr"/>
          <a:lstStyle/>
          <a:p>
            <a:pPr algn="ctr" indent="0" marL="0">
              <a:buNone/>
            </a:pPr>
            <a:r>
              <a:rPr lang="en-US" sz="1500" dirty="0">
                <a:solidFill>
                  <a:srgbClr val="111111"/>
                </a:solidFill>
                <a:latin typeface="Microsoft YaHei" pitchFamily="34" charset="0"/>
                <a:ea typeface="Microsoft YaHei" pitchFamily="34" charset="-122"/>
                <a:cs typeface="Microsoft YaHei" pitchFamily="34" charset="-120"/>
              </a:rPr>
              <a:t>情绪层</a:t>
            </a:r>
            <a:endParaRPr lang="en-US" sz="1500" dirty="0"/>
          </a:p>
        </p:txBody>
      </p:sp>
      <p:sp>
        <p:nvSpPr>
          <p:cNvPr id="18" name="Text 16"/>
          <p:cNvSpPr txBox="1"/>
          <p:nvPr/>
        </p:nvSpPr>
        <p:spPr>
          <a:xfrm>
            <a:off x="5989320" y="2103120"/>
            <a:ext cx="219456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Performative</a:t>
            </a:r>
            <a:endParaRPr lang="en-US" sz="1700" dirty="0"/>
          </a:p>
        </p:txBody>
      </p:sp>
      <p:sp>
        <p:nvSpPr>
          <p:cNvPr id="19" name="Text 17"/>
          <p:cNvSpPr txBox="1"/>
          <p:nvPr/>
        </p:nvSpPr>
        <p:spPr>
          <a:xfrm>
            <a:off x="5989320" y="2560320"/>
            <a:ext cx="2194560" cy="411480"/>
          </a:xfrm>
          <a:prstGeom prst="rect">
            <a:avLst/>
          </a:prstGeom>
          <a:noFill/>
          <a:ln/>
        </p:spPr>
        <p:txBody>
          <a:bodyPr wrap="square" lIns="0" tIns="0" rIns="0" bIns="0" rtlCol="0" anchor="ctr"/>
          <a:lstStyle/>
          <a:p>
            <a:pPr algn="ctr" indent="0" marL="0">
              <a:buNone/>
            </a:pPr>
            <a:r>
              <a:rPr lang="en-US" sz="1500" dirty="0">
                <a:solidFill>
                  <a:srgbClr val="FFFFFF"/>
                </a:solidFill>
                <a:latin typeface="Microsoft YaHei" pitchFamily="34" charset="0"/>
                <a:ea typeface="Microsoft YaHei" pitchFamily="34" charset="-122"/>
                <a:cs typeface="Microsoft YaHei" pitchFamily="34" charset="-120"/>
              </a:rPr>
              <a:t>表现层</a:t>
            </a:r>
            <a:endParaRPr lang="en-US" sz="1500" dirty="0"/>
          </a:p>
        </p:txBody>
      </p:sp>
      <p:sp>
        <p:nvSpPr>
          <p:cNvPr id="20" name="Text 18"/>
          <p:cNvSpPr txBox="1"/>
          <p:nvPr/>
        </p:nvSpPr>
        <p:spPr>
          <a:xfrm>
            <a:off x="411480" y="4315968"/>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Karana, E., Barati, B., Rognoli, V., &amp; Zeeuw van der Laan, A. (2015). Material driven design (MDD): A method to design for material experiences. International Journal of Design, 9(2), 35-54</a:t>
            </a:r>
            <a:endParaRPr lang="en-US" sz="7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 03</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材料信息学</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Material Informatics</a:t>
            </a:r>
            <a:endParaRPr lang="en-US" sz="140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23</a:t>
            </a:r>
            <a:endParaRPr lang="en-US" sz="750" dirty="0"/>
          </a:p>
        </p:txBody>
      </p:sp>
      <p:pic>
        <p:nvPicPr>
          <p:cNvPr id="11" name="Image 0" descr="decorative collage">    </p:cNvPr>
          <p:cNvPicPr>
            <a:picLocks noChangeAspect="1"/>
          </p:cNvPicPr>
          <p:nvPr/>
        </p:nvPicPr>
        <p:blipFill>
          <a:blip r:embed="rId1"/>
          <a:stretch>
            <a:fillRect/>
          </a:stretch>
        </p:blipFill>
        <p:spPr>
          <a:xfrm>
            <a:off x="4389120" y="1807399"/>
            <a:ext cx="4343400" cy="2901761"/>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材料信息学的研究内容</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Content of Material Informatics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24</a:t>
            </a:r>
            <a:endParaRPr lang="en-US" sz="750" dirty="0"/>
          </a:p>
        </p:txBody>
      </p:sp>
      <p:sp>
        <p:nvSpPr>
          <p:cNvPr id="11" name="Shape 9"/>
          <p:cNvSpPr/>
          <p:nvPr/>
        </p:nvSpPr>
        <p:spPr>
          <a:xfrm>
            <a:off x="411480" y="1188720"/>
            <a:ext cx="2551176" cy="1636776"/>
          </a:xfrm>
          <a:prstGeom prst="roundRect">
            <a:avLst>
              <a:gd name="adj" fmla="val 5587"/>
            </a:avLst>
          </a:prstGeom>
          <a:solidFill>
            <a:srgbClr val="FFC9C1"/>
          </a:solidFill>
          <a:ln/>
        </p:spPr>
      </p:sp>
      <p:sp>
        <p:nvSpPr>
          <p:cNvPr id="12" name="Text 10"/>
          <p:cNvSpPr txBox="1"/>
          <p:nvPr/>
        </p:nvSpPr>
        <p:spPr>
          <a:xfrm>
            <a:off x="612648" y="1298448"/>
            <a:ext cx="91440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1</a:t>
            </a:r>
            <a:endParaRPr lang="en-US" sz="3200" dirty="0"/>
          </a:p>
        </p:txBody>
      </p:sp>
      <p:sp>
        <p:nvSpPr>
          <p:cNvPr id="13" name="Text 11"/>
          <p:cNvSpPr txBox="1"/>
          <p:nvPr/>
        </p:nvSpPr>
        <p:spPr>
          <a:xfrm>
            <a:off x="612648" y="2057400"/>
            <a:ext cx="2185416" cy="6858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材料数据表征及标准化研究</a:t>
            </a:r>
            <a:endParaRPr lang="en-US" sz="1400" dirty="0"/>
          </a:p>
        </p:txBody>
      </p:sp>
      <p:sp>
        <p:nvSpPr>
          <p:cNvPr id="14" name="Shape 12"/>
          <p:cNvSpPr/>
          <p:nvPr/>
        </p:nvSpPr>
        <p:spPr>
          <a:xfrm>
            <a:off x="3072384" y="1188720"/>
            <a:ext cx="2551176" cy="1636776"/>
          </a:xfrm>
          <a:prstGeom prst="roundRect">
            <a:avLst>
              <a:gd name="adj" fmla="val 5587"/>
            </a:avLst>
          </a:prstGeom>
          <a:solidFill>
            <a:srgbClr val="F4F4F4"/>
          </a:solidFill>
          <a:ln/>
        </p:spPr>
      </p:sp>
      <p:sp>
        <p:nvSpPr>
          <p:cNvPr id="15" name="Text 13"/>
          <p:cNvSpPr txBox="1"/>
          <p:nvPr/>
        </p:nvSpPr>
        <p:spPr>
          <a:xfrm>
            <a:off x="3273552" y="1298448"/>
            <a:ext cx="91440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2</a:t>
            </a:r>
            <a:endParaRPr lang="en-US" sz="3200" dirty="0"/>
          </a:p>
        </p:txBody>
      </p:sp>
      <p:sp>
        <p:nvSpPr>
          <p:cNvPr id="16" name="Text 14"/>
          <p:cNvSpPr txBox="1"/>
          <p:nvPr/>
        </p:nvSpPr>
        <p:spPr>
          <a:xfrm>
            <a:off x="3273552" y="2057400"/>
            <a:ext cx="2185416" cy="6858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材料数据的应用研究</a:t>
            </a:r>
            <a:endParaRPr lang="en-US" sz="1400" dirty="0"/>
          </a:p>
        </p:txBody>
      </p:sp>
      <p:sp>
        <p:nvSpPr>
          <p:cNvPr id="17" name="Shape 15"/>
          <p:cNvSpPr/>
          <p:nvPr/>
        </p:nvSpPr>
        <p:spPr>
          <a:xfrm>
            <a:off x="411480" y="2935224"/>
            <a:ext cx="2551176" cy="1636776"/>
          </a:xfrm>
          <a:prstGeom prst="roundRect">
            <a:avLst>
              <a:gd name="adj" fmla="val 5587"/>
            </a:avLst>
          </a:prstGeom>
          <a:solidFill>
            <a:srgbClr val="EBEBEB"/>
          </a:solidFill>
          <a:ln/>
        </p:spPr>
      </p:sp>
      <p:sp>
        <p:nvSpPr>
          <p:cNvPr id="18" name="Text 16"/>
          <p:cNvSpPr txBox="1"/>
          <p:nvPr/>
        </p:nvSpPr>
        <p:spPr>
          <a:xfrm>
            <a:off x="612648" y="3044952"/>
            <a:ext cx="914400" cy="640080"/>
          </a:xfrm>
          <a:prstGeom prst="rect">
            <a:avLst/>
          </a:prstGeom>
          <a:noFill/>
          <a:ln/>
        </p:spPr>
        <p:txBody>
          <a:bodyPr wrap="square" lIns="0" tIns="0" rIns="0" bIns="0" rtlCol="0" anchor="t"/>
          <a:lstStyle/>
          <a:p>
            <a:pPr indent="0" marL="0">
              <a:buNone/>
            </a:pPr>
            <a:r>
              <a:rPr lang="en-US" sz="3200" b="1" dirty="0">
                <a:solidFill>
                  <a:srgbClr val="111111"/>
                </a:solidFill>
                <a:latin typeface="Arial" pitchFamily="34" charset="0"/>
                <a:ea typeface="Arial" pitchFamily="34" charset="-122"/>
                <a:cs typeface="Arial" pitchFamily="34" charset="-120"/>
              </a:rPr>
              <a:t>3</a:t>
            </a:r>
            <a:endParaRPr lang="en-US" sz="3200" dirty="0"/>
          </a:p>
        </p:txBody>
      </p:sp>
      <p:sp>
        <p:nvSpPr>
          <p:cNvPr id="19" name="Text 17"/>
          <p:cNvSpPr txBox="1"/>
          <p:nvPr/>
        </p:nvSpPr>
        <p:spPr>
          <a:xfrm>
            <a:off x="612648" y="3803904"/>
            <a:ext cx="2185416" cy="685800"/>
          </a:xfrm>
          <a:prstGeom prst="rect">
            <a:avLst/>
          </a:prstGeom>
          <a:noFill/>
          <a:ln/>
        </p:spPr>
        <p:txBody>
          <a:bodyPr wrap="square" lIns="0" tIns="0" rIns="0" bIns="0" rtlCol="0" anchor="b"/>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材料分析及设计研究</a:t>
            </a:r>
            <a:endParaRPr lang="en-US" sz="1400" dirty="0"/>
          </a:p>
        </p:txBody>
      </p:sp>
      <p:sp>
        <p:nvSpPr>
          <p:cNvPr id="20" name="Shape 18"/>
          <p:cNvSpPr/>
          <p:nvPr/>
        </p:nvSpPr>
        <p:spPr>
          <a:xfrm>
            <a:off x="3072384" y="2935224"/>
            <a:ext cx="2551176" cy="1636776"/>
          </a:xfrm>
          <a:prstGeom prst="roundRect">
            <a:avLst>
              <a:gd name="adj" fmla="val 5587"/>
            </a:avLst>
          </a:prstGeom>
          <a:solidFill>
            <a:srgbClr val="111111"/>
          </a:solidFill>
          <a:ln/>
        </p:spPr>
      </p:sp>
      <p:sp>
        <p:nvSpPr>
          <p:cNvPr id="21" name="Text 19"/>
          <p:cNvSpPr txBox="1"/>
          <p:nvPr/>
        </p:nvSpPr>
        <p:spPr>
          <a:xfrm>
            <a:off x="3273552" y="3044952"/>
            <a:ext cx="914400" cy="6400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4</a:t>
            </a:r>
            <a:endParaRPr lang="en-US" sz="3200" dirty="0"/>
          </a:p>
        </p:txBody>
      </p:sp>
      <p:sp>
        <p:nvSpPr>
          <p:cNvPr id="22" name="Text 20"/>
          <p:cNvSpPr txBox="1"/>
          <p:nvPr/>
        </p:nvSpPr>
        <p:spPr>
          <a:xfrm>
            <a:off x="3273552" y="3803904"/>
            <a:ext cx="2185416" cy="685800"/>
          </a:xfrm>
          <a:prstGeom prst="rect">
            <a:avLst/>
          </a:prstGeom>
          <a:noFill/>
          <a:ln/>
        </p:spPr>
        <p:txBody>
          <a:bodyPr wrap="square" lIns="0" tIns="0" rIns="0" bIns="0" rtlCol="0" anchor="b"/>
          <a:lstStyle/>
          <a:p>
            <a:pPr indent="0" marL="0">
              <a:buNone/>
            </a:pPr>
            <a:r>
              <a:rPr lang="en-US" sz="1400" b="1" dirty="0">
                <a:solidFill>
                  <a:srgbClr val="FFFFFF"/>
                </a:solidFill>
                <a:latin typeface="Microsoft YaHei" pitchFamily="34" charset="0"/>
                <a:ea typeface="Microsoft YaHei" pitchFamily="34" charset="-122"/>
                <a:cs typeface="Microsoft YaHei" pitchFamily="34" charset="-120"/>
              </a:rPr>
              <a:t>材料工艺控制及模拟技术的研究</a:t>
            </a:r>
            <a:endParaRPr lang="en-US" sz="1400" dirty="0"/>
          </a:p>
        </p:txBody>
      </p:sp>
      <p:pic>
        <p:nvPicPr>
          <p:cNvPr id="23" name="Image 0" descr="p22_5">    </p:cNvPr>
          <p:cNvPicPr>
            <a:picLocks noChangeAspect="1"/>
          </p:cNvPicPr>
          <p:nvPr/>
        </p:nvPicPr>
        <p:blipFill>
          <a:blip r:embed="rId1"/>
          <a:stretch>
            <a:fillRect/>
          </a:stretch>
        </p:blipFill>
        <p:spPr>
          <a:xfrm>
            <a:off x="5760720" y="1188720"/>
            <a:ext cx="2971800" cy="33832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材料信息学中的材料属性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 Properties in Material Informatics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25</a:t>
            </a:r>
            <a:endParaRPr lang="en-US" sz="750" dirty="0"/>
          </a:p>
        </p:txBody>
      </p:sp>
      <p:sp>
        <p:nvSpPr>
          <p:cNvPr id="11" name="Shape 9"/>
          <p:cNvSpPr/>
          <p:nvPr/>
        </p:nvSpPr>
        <p:spPr>
          <a:xfrm>
            <a:off x="411480" y="1188720"/>
            <a:ext cx="1325880" cy="3200400"/>
          </a:xfrm>
          <a:prstGeom prst="roundRect">
            <a:avLst>
              <a:gd name="adj" fmla="val 6897"/>
            </a:avLst>
          </a:prstGeom>
          <a:solidFill>
            <a:srgbClr val="111111"/>
          </a:solidFill>
          <a:ln/>
        </p:spPr>
      </p:sp>
      <p:sp>
        <p:nvSpPr>
          <p:cNvPr id="12" name="Text 10"/>
          <p:cNvSpPr txBox="1"/>
          <p:nvPr/>
        </p:nvSpPr>
        <p:spPr>
          <a:xfrm>
            <a:off x="411480" y="1188720"/>
            <a:ext cx="1325880" cy="3200400"/>
          </a:xfrm>
          <a:prstGeom prst="rect">
            <a:avLst/>
          </a:prstGeom>
          <a:noFill/>
          <a:ln/>
        </p:spPr>
        <p:txBody>
          <a:bodyPr wrap="square" lIns="0" tIns="0" rIns="0" bIns="0" rtlCol="0" anchor="ctr"/>
          <a:lstStyle/>
          <a:p>
            <a:pPr algn="ctr" indent="0" marL="0">
              <a:buNone/>
            </a:pPr>
            <a:r>
              <a:rPr lang="en-US" sz="1700" b="1" dirty="0">
                <a:solidFill>
                  <a:srgbClr val="FFFFFF"/>
                </a:solidFill>
                <a:latin typeface="Microsoft YaHei" pitchFamily="34" charset="0"/>
                <a:ea typeface="Microsoft YaHei" pitchFamily="34" charset="-122"/>
                <a:cs typeface="Microsoft YaHei" pitchFamily="34" charset="-120"/>
              </a:rPr>
              <a:t>材料信息</a:t>
            </a:r>
            <a:endParaRPr lang="en-US" sz="1700" dirty="0"/>
          </a:p>
        </p:txBody>
      </p:sp>
      <p:sp>
        <p:nvSpPr>
          <p:cNvPr id="13" name="Shape 11"/>
          <p:cNvSpPr/>
          <p:nvPr/>
        </p:nvSpPr>
        <p:spPr>
          <a:xfrm>
            <a:off x="1847088" y="1188720"/>
            <a:ext cx="2221992" cy="993648"/>
          </a:xfrm>
          <a:prstGeom prst="roundRect">
            <a:avLst>
              <a:gd name="adj" fmla="val 9202"/>
            </a:avLst>
          </a:prstGeom>
          <a:solidFill>
            <a:srgbClr val="FFC9C1"/>
          </a:solidFill>
          <a:ln/>
        </p:spPr>
      </p:sp>
      <p:sp>
        <p:nvSpPr>
          <p:cNvPr id="14" name="Text 12"/>
          <p:cNvSpPr txBox="1"/>
          <p:nvPr/>
        </p:nvSpPr>
        <p:spPr>
          <a:xfrm>
            <a:off x="2011680" y="1280160"/>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材料分类信息</a:t>
            </a:r>
            <a:endParaRPr lang="en-US" sz="1200" dirty="0"/>
          </a:p>
        </p:txBody>
      </p:sp>
      <p:sp>
        <p:nvSpPr>
          <p:cNvPr id="15" name="Text 13"/>
          <p:cNvSpPr txBox="1"/>
          <p:nvPr/>
        </p:nvSpPr>
        <p:spPr>
          <a:xfrm>
            <a:off x="2011680" y="1600200"/>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材料分类大类、材料分类小类</a:t>
            </a:r>
            <a:endParaRPr lang="en-US" sz="950" dirty="0"/>
          </a:p>
        </p:txBody>
      </p:sp>
      <p:sp>
        <p:nvSpPr>
          <p:cNvPr id="16" name="Shape 14"/>
          <p:cNvSpPr/>
          <p:nvPr/>
        </p:nvSpPr>
        <p:spPr>
          <a:xfrm>
            <a:off x="4178808" y="1188720"/>
            <a:ext cx="2221992" cy="993648"/>
          </a:xfrm>
          <a:prstGeom prst="roundRect">
            <a:avLst>
              <a:gd name="adj" fmla="val 9202"/>
            </a:avLst>
          </a:prstGeom>
          <a:solidFill>
            <a:srgbClr val="F4F4F4"/>
          </a:solidFill>
          <a:ln/>
        </p:spPr>
      </p:sp>
      <p:sp>
        <p:nvSpPr>
          <p:cNvPr id="17" name="Text 15"/>
          <p:cNvSpPr txBox="1"/>
          <p:nvPr/>
        </p:nvSpPr>
        <p:spPr>
          <a:xfrm>
            <a:off x="4343400" y="1280160"/>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材料结构信息</a:t>
            </a:r>
            <a:endParaRPr lang="en-US" sz="1200" dirty="0"/>
          </a:p>
        </p:txBody>
      </p:sp>
      <p:sp>
        <p:nvSpPr>
          <p:cNvPr id="18" name="Text 16"/>
          <p:cNvSpPr txBox="1"/>
          <p:nvPr/>
        </p:nvSpPr>
        <p:spPr>
          <a:xfrm>
            <a:off x="4343400" y="1600200"/>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化学成分信息、晶体结构信息、相结构信息、相图信息</a:t>
            </a:r>
            <a:endParaRPr lang="en-US" sz="950" dirty="0"/>
          </a:p>
        </p:txBody>
      </p:sp>
      <p:sp>
        <p:nvSpPr>
          <p:cNvPr id="19" name="Shape 17"/>
          <p:cNvSpPr/>
          <p:nvPr/>
        </p:nvSpPr>
        <p:spPr>
          <a:xfrm>
            <a:off x="6510528" y="1188720"/>
            <a:ext cx="2221992" cy="993648"/>
          </a:xfrm>
          <a:prstGeom prst="roundRect">
            <a:avLst>
              <a:gd name="adj" fmla="val 9202"/>
            </a:avLst>
          </a:prstGeom>
          <a:solidFill>
            <a:srgbClr val="EBEBEB"/>
          </a:solidFill>
          <a:ln/>
        </p:spPr>
      </p:sp>
      <p:sp>
        <p:nvSpPr>
          <p:cNvPr id="20" name="Text 18"/>
          <p:cNvSpPr txBox="1"/>
          <p:nvPr/>
        </p:nvSpPr>
        <p:spPr>
          <a:xfrm>
            <a:off x="6675120" y="1280160"/>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材料外观信息</a:t>
            </a:r>
            <a:endParaRPr lang="en-US" sz="1200" dirty="0"/>
          </a:p>
        </p:txBody>
      </p:sp>
      <p:sp>
        <p:nvSpPr>
          <p:cNvPr id="21" name="Text 19"/>
          <p:cNvSpPr txBox="1"/>
          <p:nvPr/>
        </p:nvSpPr>
        <p:spPr>
          <a:xfrm>
            <a:off x="6675120" y="1600200"/>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形状、尺寸、光泽、颜色</a:t>
            </a:r>
            <a:endParaRPr lang="en-US" sz="950" dirty="0"/>
          </a:p>
        </p:txBody>
      </p:sp>
      <p:sp>
        <p:nvSpPr>
          <p:cNvPr id="22" name="Shape 20"/>
          <p:cNvSpPr/>
          <p:nvPr/>
        </p:nvSpPr>
        <p:spPr>
          <a:xfrm>
            <a:off x="1847088" y="2292096"/>
            <a:ext cx="2221992" cy="993648"/>
          </a:xfrm>
          <a:prstGeom prst="roundRect">
            <a:avLst>
              <a:gd name="adj" fmla="val 9202"/>
            </a:avLst>
          </a:prstGeom>
          <a:solidFill>
            <a:srgbClr val="F4F4F4"/>
          </a:solidFill>
          <a:ln/>
        </p:spPr>
      </p:sp>
      <p:sp>
        <p:nvSpPr>
          <p:cNvPr id="23" name="Text 21"/>
          <p:cNvSpPr txBox="1"/>
          <p:nvPr/>
        </p:nvSpPr>
        <p:spPr>
          <a:xfrm>
            <a:off x="2011680" y="2383536"/>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材料性能信息</a:t>
            </a:r>
            <a:endParaRPr lang="en-US" sz="1200" dirty="0"/>
          </a:p>
        </p:txBody>
      </p:sp>
      <p:sp>
        <p:nvSpPr>
          <p:cNvPr id="24" name="Text 22"/>
          <p:cNvSpPr txBox="1"/>
          <p:nvPr/>
        </p:nvSpPr>
        <p:spPr>
          <a:xfrm>
            <a:off x="2011680" y="2703576"/>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物理性能、力学性能、使用性能</a:t>
            </a:r>
            <a:endParaRPr lang="en-US" sz="950" dirty="0"/>
          </a:p>
        </p:txBody>
      </p:sp>
      <p:sp>
        <p:nvSpPr>
          <p:cNvPr id="25" name="Shape 23"/>
          <p:cNvSpPr/>
          <p:nvPr/>
        </p:nvSpPr>
        <p:spPr>
          <a:xfrm>
            <a:off x="4178808" y="2292096"/>
            <a:ext cx="2221992" cy="993648"/>
          </a:xfrm>
          <a:prstGeom prst="roundRect">
            <a:avLst>
              <a:gd name="adj" fmla="val 9202"/>
            </a:avLst>
          </a:prstGeom>
          <a:solidFill>
            <a:srgbClr val="EBEBEB"/>
          </a:solidFill>
          <a:ln/>
        </p:spPr>
      </p:sp>
      <p:sp>
        <p:nvSpPr>
          <p:cNvPr id="26" name="Text 24"/>
          <p:cNvSpPr txBox="1"/>
          <p:nvPr/>
        </p:nvSpPr>
        <p:spPr>
          <a:xfrm>
            <a:off x="4343400" y="2383536"/>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材料加工信息</a:t>
            </a:r>
            <a:endParaRPr lang="en-US" sz="1200" dirty="0"/>
          </a:p>
        </p:txBody>
      </p:sp>
      <p:sp>
        <p:nvSpPr>
          <p:cNvPr id="27" name="Text 25"/>
          <p:cNvSpPr txBox="1"/>
          <p:nvPr/>
        </p:nvSpPr>
        <p:spPr>
          <a:xfrm>
            <a:off x="4343400" y="2703576"/>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制备方法、加工工艺</a:t>
            </a:r>
            <a:endParaRPr lang="en-US" sz="950" dirty="0"/>
          </a:p>
        </p:txBody>
      </p:sp>
      <p:sp>
        <p:nvSpPr>
          <p:cNvPr id="28" name="Shape 26"/>
          <p:cNvSpPr/>
          <p:nvPr/>
        </p:nvSpPr>
        <p:spPr>
          <a:xfrm>
            <a:off x="6510528" y="2292096"/>
            <a:ext cx="2221992" cy="993648"/>
          </a:xfrm>
          <a:prstGeom prst="roundRect">
            <a:avLst>
              <a:gd name="adj" fmla="val 9202"/>
            </a:avLst>
          </a:prstGeom>
          <a:solidFill>
            <a:srgbClr val="F4F4F4"/>
          </a:solidFill>
          <a:ln/>
        </p:spPr>
      </p:sp>
      <p:sp>
        <p:nvSpPr>
          <p:cNvPr id="29" name="Text 27"/>
          <p:cNvSpPr txBox="1"/>
          <p:nvPr/>
        </p:nvSpPr>
        <p:spPr>
          <a:xfrm>
            <a:off x="6675120" y="2383536"/>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材料使用信息</a:t>
            </a:r>
            <a:endParaRPr lang="en-US" sz="1200" dirty="0"/>
          </a:p>
        </p:txBody>
      </p:sp>
      <p:sp>
        <p:nvSpPr>
          <p:cNvPr id="30" name="Text 28"/>
          <p:cNvSpPr txBox="1"/>
          <p:nvPr/>
        </p:nvSpPr>
        <p:spPr>
          <a:xfrm>
            <a:off x="6675120" y="2703576"/>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使用条件信息、变形信息、断裂信息、失效形式、破坏形式</a:t>
            </a:r>
            <a:endParaRPr lang="en-US" sz="950" dirty="0"/>
          </a:p>
        </p:txBody>
      </p:sp>
      <p:sp>
        <p:nvSpPr>
          <p:cNvPr id="31" name="Shape 29"/>
          <p:cNvSpPr/>
          <p:nvPr/>
        </p:nvSpPr>
        <p:spPr>
          <a:xfrm>
            <a:off x="1847088" y="3395472"/>
            <a:ext cx="2221992" cy="993648"/>
          </a:xfrm>
          <a:prstGeom prst="roundRect">
            <a:avLst>
              <a:gd name="adj" fmla="val 9202"/>
            </a:avLst>
          </a:prstGeom>
          <a:solidFill>
            <a:srgbClr val="EBEBEB"/>
          </a:solidFill>
          <a:ln/>
        </p:spPr>
      </p:sp>
      <p:sp>
        <p:nvSpPr>
          <p:cNvPr id="32" name="Text 30"/>
          <p:cNvSpPr txBox="1"/>
          <p:nvPr/>
        </p:nvSpPr>
        <p:spPr>
          <a:xfrm>
            <a:off x="2011680" y="3486912"/>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材料文献信息</a:t>
            </a:r>
            <a:endParaRPr lang="en-US" sz="1200" dirty="0"/>
          </a:p>
        </p:txBody>
      </p:sp>
      <p:sp>
        <p:nvSpPr>
          <p:cNvPr id="33" name="Text 31"/>
          <p:cNvSpPr txBox="1"/>
          <p:nvPr/>
        </p:nvSpPr>
        <p:spPr>
          <a:xfrm>
            <a:off x="2011680" y="3806952"/>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图书、期刊、专利、学位论文、会议论文、新闻信息</a:t>
            </a:r>
            <a:endParaRPr lang="en-US" sz="950" dirty="0"/>
          </a:p>
        </p:txBody>
      </p:sp>
      <p:sp>
        <p:nvSpPr>
          <p:cNvPr id="34" name="Shape 32"/>
          <p:cNvSpPr/>
          <p:nvPr/>
        </p:nvSpPr>
        <p:spPr>
          <a:xfrm>
            <a:off x="4178808" y="3395472"/>
            <a:ext cx="2221992" cy="993648"/>
          </a:xfrm>
          <a:prstGeom prst="roundRect">
            <a:avLst>
              <a:gd name="adj" fmla="val 9202"/>
            </a:avLst>
          </a:prstGeom>
          <a:solidFill>
            <a:srgbClr val="F4F4F4"/>
          </a:solidFill>
          <a:ln/>
        </p:spPr>
      </p:sp>
      <p:sp>
        <p:nvSpPr>
          <p:cNvPr id="35" name="Text 33"/>
          <p:cNvSpPr txBox="1"/>
          <p:nvPr/>
        </p:nvSpPr>
        <p:spPr>
          <a:xfrm>
            <a:off x="4343400" y="3486912"/>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材料行业信息</a:t>
            </a:r>
            <a:endParaRPr lang="en-US" sz="1200" dirty="0"/>
          </a:p>
        </p:txBody>
      </p:sp>
      <p:sp>
        <p:nvSpPr>
          <p:cNvPr id="36" name="Text 34"/>
          <p:cNvSpPr txBox="1"/>
          <p:nvPr/>
        </p:nvSpPr>
        <p:spPr>
          <a:xfrm>
            <a:off x="4343400" y="3806952"/>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材料专家信息、材料设备信息、材料产品信息、材料机构信息</a:t>
            </a:r>
            <a:endParaRPr lang="en-US" sz="950" dirty="0"/>
          </a:p>
        </p:txBody>
      </p:sp>
      <p:sp>
        <p:nvSpPr>
          <p:cNvPr id="37" name="Shape 35"/>
          <p:cNvSpPr/>
          <p:nvPr/>
        </p:nvSpPr>
        <p:spPr>
          <a:xfrm>
            <a:off x="6510528" y="3395472"/>
            <a:ext cx="2221992" cy="993648"/>
          </a:xfrm>
          <a:prstGeom prst="roundRect">
            <a:avLst>
              <a:gd name="adj" fmla="val 9202"/>
            </a:avLst>
          </a:prstGeom>
          <a:solidFill>
            <a:srgbClr val="EBEBEB"/>
          </a:solidFill>
          <a:ln/>
        </p:spPr>
      </p:sp>
      <p:sp>
        <p:nvSpPr>
          <p:cNvPr id="38" name="Text 36"/>
          <p:cNvSpPr txBox="1"/>
          <p:nvPr/>
        </p:nvSpPr>
        <p:spPr>
          <a:xfrm>
            <a:off x="6675120" y="3486912"/>
            <a:ext cx="1947672" cy="292608"/>
          </a:xfrm>
          <a:prstGeom prst="rect">
            <a:avLst/>
          </a:prstGeom>
          <a:noFill/>
          <a:ln/>
        </p:spPr>
        <p:txBody>
          <a:bodyPr wrap="square" lIns="0" tIns="0" rIns="0" bIns="0" rtlCol="0" anchor="ctr"/>
          <a:lstStyle/>
          <a:p>
            <a:pPr indent="0" marL="0">
              <a:buNone/>
            </a:pPr>
            <a:r>
              <a:rPr lang="en-US" sz="1200" b="1" dirty="0">
                <a:solidFill>
                  <a:srgbClr val="111111"/>
                </a:solidFill>
                <a:latin typeface="Microsoft YaHei" pitchFamily="34" charset="0"/>
                <a:ea typeface="Microsoft YaHei" pitchFamily="34" charset="-122"/>
                <a:cs typeface="Microsoft YaHei" pitchFamily="34" charset="-120"/>
              </a:rPr>
              <a:t>材料实验信息</a:t>
            </a:r>
            <a:endParaRPr lang="en-US" sz="1200" dirty="0"/>
          </a:p>
        </p:txBody>
      </p:sp>
      <p:sp>
        <p:nvSpPr>
          <p:cNvPr id="39" name="Text 37"/>
          <p:cNvSpPr txBox="1"/>
          <p:nvPr/>
        </p:nvSpPr>
        <p:spPr>
          <a:xfrm>
            <a:off x="6675120" y="3806952"/>
            <a:ext cx="1947672" cy="536448"/>
          </a:xfrm>
          <a:prstGeom prst="rect">
            <a:avLst/>
          </a:prstGeom>
          <a:noFill/>
          <a:ln/>
        </p:spPr>
        <p:txBody>
          <a:bodyPr wrap="square" lIns="0" tIns="0" rIns="0" bIns="0" rtlCol="0" anchor="t"/>
          <a:lstStyle/>
          <a:p>
            <a:pPr indent="0" marL="0">
              <a:lnSpc>
                <a:spcPct val="120000"/>
              </a:lnSpc>
              <a:buNone/>
            </a:pPr>
            <a:r>
              <a:rPr lang="en-US" sz="950" dirty="0">
                <a:solidFill>
                  <a:srgbClr val="4A4A4A"/>
                </a:solidFill>
                <a:latin typeface="Microsoft YaHei" pitchFamily="34" charset="0"/>
                <a:ea typeface="Microsoft YaHei" pitchFamily="34" charset="-122"/>
                <a:cs typeface="Microsoft YaHei" pitchFamily="34" charset="-120"/>
              </a:rPr>
              <a:t>实验模型、测试信息、实验装置、实验结果信息</a:t>
            </a:r>
            <a:endParaRPr lang="en-US" sz="950" dirty="0"/>
          </a:p>
        </p:txBody>
      </p:sp>
      <p:sp>
        <p:nvSpPr>
          <p:cNvPr id="40" name="Text 38"/>
          <p:cNvSpPr txBox="1"/>
          <p:nvPr/>
        </p:nvSpPr>
        <p:spPr>
          <a:xfrm>
            <a:off x="411480" y="448056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Microsoft YaHei" pitchFamily="34" charset="0"/>
                <a:ea typeface="Microsoft YaHei" pitchFamily="34" charset="-122"/>
                <a:cs typeface="Microsoft YaHei" pitchFamily="34" charset="-120"/>
              </a:rPr>
              <a:t>魏群义. 材料信息学基础及材料信息学平台工程应用研究[D]. 重庆大学, 2008.</a:t>
            </a:r>
            <a:endParaRPr lang="en-US" sz="7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 04</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材料信息数据库</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Materials Database</a:t>
            </a:r>
            <a:endParaRPr lang="en-US" sz="1400" dirty="0"/>
          </a:p>
        </p:txBody>
      </p:sp>
      <p:sp>
        <p:nvSpPr>
          <p:cNvPr id="5" name="Shape 3"/>
          <p:cNvSpPr/>
          <p:nvPr/>
        </p:nvSpPr>
        <p:spPr>
          <a:xfrm>
            <a:off x="411480" y="2011680"/>
            <a:ext cx="457200" cy="603504"/>
          </a:xfrm>
          <a:prstGeom prst="rect">
            <a:avLst/>
          </a:prstGeom>
          <a:solidFill>
            <a:srgbClr val="D9D4FF"/>
          </a:solidFill>
          <a:ln/>
        </p:spPr>
      </p:sp>
      <p:sp>
        <p:nvSpPr>
          <p:cNvPr id="6" name="Text 4"/>
          <p:cNvSpPr txBox="1"/>
          <p:nvPr/>
        </p:nvSpPr>
        <p:spPr>
          <a:xfrm>
            <a:off x="411480" y="2011680"/>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603504"/>
          </a:xfrm>
          <a:prstGeom prst="roundRect">
            <a:avLst>
              <a:gd name="adj" fmla="val 15152"/>
            </a:avLst>
          </a:prstGeom>
          <a:solidFill>
            <a:srgbClr val="F4F4F4"/>
          </a:solidFill>
          <a:ln/>
        </p:spPr>
      </p:sp>
      <p:sp>
        <p:nvSpPr>
          <p:cNvPr id="8" name="Text 6"/>
          <p:cNvSpPr txBox="1"/>
          <p:nvPr/>
        </p:nvSpPr>
        <p:spPr>
          <a:xfrm>
            <a:off x="1097280" y="2057400"/>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产品材料信息数据库的构建</a:t>
            </a:r>
            <a:endParaRPr lang="en-US" sz="1350" dirty="0"/>
          </a:p>
        </p:txBody>
      </p:sp>
      <p:sp>
        <p:nvSpPr>
          <p:cNvPr id="9" name="Text 7"/>
          <p:cNvSpPr txBox="1"/>
          <p:nvPr/>
        </p:nvSpPr>
        <p:spPr>
          <a:xfrm>
            <a:off x="1097280" y="2340864"/>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数据库知识模块  ·  数据库信息构架</a:t>
            </a:r>
            <a:endParaRPr lang="en-US" sz="950" dirty="0"/>
          </a:p>
        </p:txBody>
      </p:sp>
      <p:sp>
        <p:nvSpPr>
          <p:cNvPr id="10" name="Shape 8"/>
          <p:cNvSpPr/>
          <p:nvPr/>
        </p:nvSpPr>
        <p:spPr>
          <a:xfrm>
            <a:off x="411480" y="2706624"/>
            <a:ext cx="457200" cy="603504"/>
          </a:xfrm>
          <a:prstGeom prst="rect">
            <a:avLst/>
          </a:prstGeom>
          <a:solidFill>
            <a:srgbClr val="FFE3A3"/>
          </a:solidFill>
          <a:ln/>
        </p:spPr>
      </p:sp>
      <p:sp>
        <p:nvSpPr>
          <p:cNvPr id="11" name="Text 9"/>
          <p:cNvSpPr txBox="1"/>
          <p:nvPr/>
        </p:nvSpPr>
        <p:spPr>
          <a:xfrm>
            <a:off x="411480" y="2706624"/>
            <a:ext cx="457200" cy="603504"/>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2" name="Shape 10"/>
          <p:cNvSpPr/>
          <p:nvPr/>
        </p:nvSpPr>
        <p:spPr>
          <a:xfrm>
            <a:off x="941832" y="2706624"/>
            <a:ext cx="4343400" cy="603504"/>
          </a:xfrm>
          <a:prstGeom prst="roundRect">
            <a:avLst>
              <a:gd name="adj" fmla="val 15152"/>
            </a:avLst>
          </a:prstGeom>
          <a:solidFill>
            <a:srgbClr val="F4F4F4"/>
          </a:solidFill>
          <a:ln/>
        </p:spPr>
      </p:sp>
      <p:sp>
        <p:nvSpPr>
          <p:cNvPr id="13" name="Text 11"/>
          <p:cNvSpPr txBox="1"/>
          <p:nvPr/>
        </p:nvSpPr>
        <p:spPr>
          <a:xfrm>
            <a:off x="1097280" y="2752344"/>
            <a:ext cx="4114800" cy="310896"/>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材料信息的可视化</a:t>
            </a:r>
            <a:endParaRPr lang="en-US" sz="1350" dirty="0"/>
          </a:p>
        </p:txBody>
      </p:sp>
      <p:sp>
        <p:nvSpPr>
          <p:cNvPr id="14" name="Text 12"/>
          <p:cNvSpPr txBox="1"/>
          <p:nvPr/>
        </p:nvSpPr>
        <p:spPr>
          <a:xfrm>
            <a:off x="1097280" y="3035808"/>
            <a:ext cx="4114800" cy="237744"/>
          </a:xfrm>
          <a:prstGeom prst="rect">
            <a:avLst/>
          </a:prstGeom>
          <a:noFill/>
          <a:ln/>
        </p:spPr>
        <p:txBody>
          <a:bodyPr wrap="square" lIns="0" tIns="0" rIns="0" bIns="0" rtlCol="0" anchor="ctr"/>
          <a:lstStyle/>
          <a:p>
            <a:pPr indent="0" marL="0">
              <a:buNone/>
            </a:pPr>
            <a:r>
              <a:rPr lang="en-US" sz="950" dirty="0">
                <a:solidFill>
                  <a:srgbClr val="6B6B6B"/>
                </a:solidFill>
                <a:latin typeface="Microsoft YaHei" pitchFamily="34" charset="0"/>
                <a:ea typeface="Microsoft YaHei" pitchFamily="34" charset="-122"/>
                <a:cs typeface="Microsoft YaHei" pitchFamily="34" charset="-120"/>
              </a:rPr>
              <a:t>基于不同视角  ·  基于不同设计阶段</a:t>
            </a:r>
            <a:endParaRPr lang="en-US" sz="950" dirty="0"/>
          </a:p>
        </p:txBody>
      </p:sp>
      <p:sp>
        <p:nvSpPr>
          <p:cNvPr id="15" name="Shape 13"/>
          <p:cNvSpPr/>
          <p:nvPr/>
        </p:nvSpPr>
        <p:spPr>
          <a:xfrm>
            <a:off x="411480" y="4818888"/>
            <a:ext cx="77724" cy="77724"/>
          </a:xfrm>
          <a:prstGeom prst="ellipse">
            <a:avLst/>
          </a:prstGeom>
          <a:solidFill>
            <a:srgbClr val="4D49FC"/>
          </a:solidFill>
          <a:ln/>
        </p:spPr>
      </p:sp>
      <p:sp>
        <p:nvSpPr>
          <p:cNvPr id="16" name="Shape 14"/>
          <p:cNvSpPr/>
          <p:nvPr/>
        </p:nvSpPr>
        <p:spPr>
          <a:xfrm>
            <a:off x="507492" y="4818888"/>
            <a:ext cx="77724" cy="77724"/>
          </a:xfrm>
          <a:prstGeom prst="ellipse">
            <a:avLst/>
          </a:prstGeom>
          <a:solidFill>
            <a:srgbClr val="4D49FC"/>
          </a:solidFill>
          <a:ln/>
        </p:spPr>
      </p:sp>
      <p:sp>
        <p:nvSpPr>
          <p:cNvPr id="17" name="Shape 15"/>
          <p:cNvSpPr/>
          <p:nvPr/>
        </p:nvSpPr>
        <p:spPr>
          <a:xfrm>
            <a:off x="411480" y="4914900"/>
            <a:ext cx="77724" cy="77724"/>
          </a:xfrm>
          <a:prstGeom prst="ellipse">
            <a:avLst/>
          </a:prstGeom>
          <a:solidFill>
            <a:srgbClr val="4D49FC"/>
          </a:solidFill>
          <a:ln/>
        </p:spPr>
      </p:sp>
      <p:sp>
        <p:nvSpPr>
          <p:cNvPr id="18" name="Shape 16"/>
          <p:cNvSpPr/>
          <p:nvPr/>
        </p:nvSpPr>
        <p:spPr>
          <a:xfrm>
            <a:off x="507492" y="4914900"/>
            <a:ext cx="77724" cy="77724"/>
          </a:xfrm>
          <a:prstGeom prst="ellipse">
            <a:avLst/>
          </a:prstGeom>
          <a:solidFill>
            <a:srgbClr val="4D49FC"/>
          </a:solidFill>
          <a:ln/>
        </p:spPr>
      </p:sp>
      <p:sp>
        <p:nvSpPr>
          <p:cNvPr id="19" name="Text 1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0" name="Text 1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26</a:t>
            </a:r>
            <a:endParaRPr lang="en-US" sz="750" dirty="0"/>
          </a:p>
        </p:txBody>
      </p:sp>
      <p:pic>
        <p:nvPicPr>
          <p:cNvPr id="21" name="Image 0" descr="decorative collage">    </p:cNvPr>
          <p:cNvPicPr>
            <a:picLocks noChangeAspect="1"/>
          </p:cNvPicPr>
          <p:nvPr/>
        </p:nvPicPr>
        <p:blipFill>
          <a:blip r:embed="rId1"/>
          <a:stretch>
            <a:fillRect/>
          </a:stretch>
        </p:blipFill>
        <p:spPr>
          <a:xfrm>
            <a:off x="5577840" y="2122170"/>
            <a:ext cx="3154680" cy="258699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材料信息数据库 · 信息内容</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Information Content</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27</a:t>
            </a:r>
            <a:endParaRPr lang="en-US" sz="750" dirty="0"/>
          </a:p>
        </p:txBody>
      </p:sp>
      <p:sp>
        <p:nvSpPr>
          <p:cNvPr id="11" name="Shape 9"/>
          <p:cNvSpPr/>
          <p:nvPr/>
        </p:nvSpPr>
        <p:spPr>
          <a:xfrm>
            <a:off x="411480" y="1188720"/>
            <a:ext cx="4105656" cy="3383280"/>
          </a:xfrm>
          <a:prstGeom prst="roundRect">
            <a:avLst>
              <a:gd name="adj" fmla="val 2703"/>
            </a:avLst>
          </a:prstGeom>
          <a:solidFill>
            <a:srgbClr val="D9D4FF"/>
          </a:solidFill>
          <a:ln/>
        </p:spPr>
      </p:sp>
      <p:sp>
        <p:nvSpPr>
          <p:cNvPr id="12" name="Text 10"/>
          <p:cNvSpPr txBox="1"/>
          <p:nvPr/>
        </p:nvSpPr>
        <p:spPr>
          <a:xfrm>
            <a:off x="685800" y="1371600"/>
            <a:ext cx="1097280" cy="548640"/>
          </a:xfrm>
          <a:prstGeom prst="rect">
            <a:avLst/>
          </a:prstGeom>
          <a:noFill/>
          <a:ln/>
        </p:spPr>
        <p:txBody>
          <a:bodyPr wrap="square" lIns="0" tIns="0" rIns="0" bIns="0" rtlCol="0" anchor="t"/>
          <a:lstStyle/>
          <a:p>
            <a:pPr indent="0" marL="0">
              <a:buNone/>
            </a:pPr>
            <a:r>
              <a:rPr lang="en-US" sz="2800" b="1" dirty="0">
                <a:solidFill>
                  <a:srgbClr val="111111"/>
                </a:solidFill>
                <a:latin typeface="Arial" pitchFamily="34" charset="0"/>
                <a:ea typeface="Arial" pitchFamily="34" charset="-122"/>
                <a:cs typeface="Arial" pitchFamily="34" charset="-120"/>
              </a:rPr>
              <a:t>01</a:t>
            </a:r>
            <a:endParaRPr lang="en-US" sz="2800" dirty="0"/>
          </a:p>
        </p:txBody>
      </p:sp>
      <p:sp>
        <p:nvSpPr>
          <p:cNvPr id="13" name="Text 11"/>
          <p:cNvSpPr txBox="1"/>
          <p:nvPr/>
        </p:nvSpPr>
        <p:spPr>
          <a:xfrm>
            <a:off x="685800" y="2011680"/>
            <a:ext cx="3566160" cy="457200"/>
          </a:xfrm>
          <a:prstGeom prst="rect">
            <a:avLst/>
          </a:prstGeom>
          <a:noFill/>
          <a:ln/>
        </p:spPr>
        <p:txBody>
          <a:bodyPr wrap="square" lIns="0" tIns="0" rIns="0" bIns="0" rtlCol="0" anchor="ctr"/>
          <a:lstStyle/>
          <a:p>
            <a:pPr indent="0" marL="0">
              <a:buNone/>
            </a:pPr>
            <a:r>
              <a:rPr lang="en-US" sz="1900" b="1" dirty="0">
                <a:solidFill>
                  <a:srgbClr val="111111"/>
                </a:solidFill>
                <a:latin typeface="Microsoft YaHei" pitchFamily="34" charset="0"/>
                <a:ea typeface="Microsoft YaHei" pitchFamily="34" charset="-122"/>
                <a:cs typeface="Microsoft YaHei" pitchFamily="34" charset="-120"/>
              </a:rPr>
              <a:t>材料基础性能信息</a:t>
            </a:r>
            <a:endParaRPr lang="en-US" sz="1900" dirty="0"/>
          </a:p>
        </p:txBody>
      </p:sp>
      <p:sp>
        <p:nvSpPr>
          <p:cNvPr id="14" name="Text 12"/>
          <p:cNvSpPr txBox="1"/>
          <p:nvPr/>
        </p:nvSpPr>
        <p:spPr>
          <a:xfrm>
            <a:off x="685800" y="2606040"/>
            <a:ext cx="3566160" cy="1828800"/>
          </a:xfrm>
          <a:prstGeom prst="rect">
            <a:avLst/>
          </a:prstGeom>
          <a:noFill/>
          <a:ln/>
        </p:spPr>
        <p:txBody>
          <a:bodyPr wrap="square" lIns="0" tIns="0" rIns="0" bIns="0" rtlCol="0" anchor="t"/>
          <a:lstStyle/>
          <a:p>
            <a:pPr indent="0" marL="0">
              <a:lnSpc>
                <a:spcPct val="145000"/>
              </a:lnSpc>
              <a:buNone/>
            </a:pPr>
            <a:r>
              <a:rPr lang="en-US" sz="1300" dirty="0">
                <a:solidFill>
                  <a:srgbClr val="111111"/>
                </a:solidFill>
                <a:latin typeface="Microsoft YaHei" pitchFamily="34" charset="0"/>
                <a:ea typeface="Microsoft YaHei" pitchFamily="34" charset="-122"/>
                <a:cs typeface="Microsoft YaHei" pitchFamily="34" charset="-120"/>
              </a:rPr>
              <a:t>物理性能、化学性能、热学性能、力学性能、材料成分与结构、材料制备工艺、材料计算与实验数据、晶体结构、热力学、动力学等为材料开发和研究提供基础数据。</a:t>
            </a:r>
            <a:endParaRPr lang="en-US" sz="1300" dirty="0"/>
          </a:p>
        </p:txBody>
      </p:sp>
      <p:sp>
        <p:nvSpPr>
          <p:cNvPr id="15" name="Shape 13"/>
          <p:cNvSpPr/>
          <p:nvPr/>
        </p:nvSpPr>
        <p:spPr>
          <a:xfrm>
            <a:off x="4626864" y="1188720"/>
            <a:ext cx="4105656" cy="3383280"/>
          </a:xfrm>
          <a:prstGeom prst="roundRect">
            <a:avLst>
              <a:gd name="adj" fmla="val 2703"/>
            </a:avLst>
          </a:prstGeom>
          <a:solidFill>
            <a:srgbClr val="111111"/>
          </a:solidFill>
          <a:ln/>
        </p:spPr>
      </p:sp>
      <p:sp>
        <p:nvSpPr>
          <p:cNvPr id="16" name="Text 14"/>
          <p:cNvSpPr txBox="1"/>
          <p:nvPr/>
        </p:nvSpPr>
        <p:spPr>
          <a:xfrm>
            <a:off x="4901184" y="1371600"/>
            <a:ext cx="1097280" cy="548640"/>
          </a:xfrm>
          <a:prstGeom prst="rect">
            <a:avLst/>
          </a:prstGeom>
          <a:noFill/>
          <a:ln/>
        </p:spPr>
        <p:txBody>
          <a:bodyPr wrap="square" lIns="0" tIns="0" rIns="0" bIns="0" rtlCol="0" anchor="t"/>
          <a:lstStyle/>
          <a:p>
            <a:pPr indent="0" marL="0">
              <a:buNone/>
            </a:pPr>
            <a:r>
              <a:rPr lang="en-US" sz="2800" b="1" dirty="0">
                <a:solidFill>
                  <a:srgbClr val="FFFFFF"/>
                </a:solidFill>
                <a:latin typeface="Arial" pitchFamily="34" charset="0"/>
                <a:ea typeface="Arial" pitchFamily="34" charset="-122"/>
                <a:cs typeface="Arial" pitchFamily="34" charset="-120"/>
              </a:rPr>
              <a:t>02</a:t>
            </a:r>
            <a:endParaRPr lang="en-US" sz="2800" dirty="0"/>
          </a:p>
        </p:txBody>
      </p:sp>
      <p:sp>
        <p:nvSpPr>
          <p:cNvPr id="17" name="Text 15"/>
          <p:cNvSpPr txBox="1"/>
          <p:nvPr/>
        </p:nvSpPr>
        <p:spPr>
          <a:xfrm>
            <a:off x="4901184" y="2011680"/>
            <a:ext cx="3566160" cy="457200"/>
          </a:xfrm>
          <a:prstGeom prst="rect">
            <a:avLst/>
          </a:prstGeom>
          <a:noFill/>
          <a:ln/>
        </p:spPr>
        <p:txBody>
          <a:bodyPr wrap="square" lIns="0" tIns="0" rIns="0" bIns="0" rtlCol="0" anchor="ctr"/>
          <a:lstStyle/>
          <a:p>
            <a:pPr indent="0" marL="0">
              <a:buNone/>
            </a:pPr>
            <a:r>
              <a:rPr lang="en-US" sz="1900" b="1" dirty="0">
                <a:solidFill>
                  <a:srgbClr val="FFFFFF"/>
                </a:solidFill>
                <a:latin typeface="Microsoft YaHei" pitchFamily="34" charset="0"/>
                <a:ea typeface="Microsoft YaHei" pitchFamily="34" charset="-122"/>
                <a:cs typeface="Microsoft YaHei" pitchFamily="34" charset="-120"/>
              </a:rPr>
              <a:t>材料其他信息</a:t>
            </a:r>
            <a:endParaRPr lang="en-US" sz="1900" dirty="0"/>
          </a:p>
        </p:txBody>
      </p:sp>
      <p:sp>
        <p:nvSpPr>
          <p:cNvPr id="18" name="Text 16"/>
          <p:cNvSpPr txBox="1"/>
          <p:nvPr/>
        </p:nvSpPr>
        <p:spPr>
          <a:xfrm>
            <a:off x="4901184" y="2606040"/>
            <a:ext cx="3566160" cy="1828800"/>
          </a:xfrm>
          <a:prstGeom prst="rect">
            <a:avLst/>
          </a:prstGeom>
          <a:noFill/>
          <a:ln/>
        </p:spPr>
        <p:txBody>
          <a:bodyPr wrap="square" lIns="0" tIns="0" rIns="0" bIns="0" rtlCol="0" anchor="t"/>
          <a:lstStyle/>
          <a:p>
            <a:pPr indent="0" marL="0">
              <a:lnSpc>
                <a:spcPct val="145000"/>
              </a:lnSpc>
              <a:buNone/>
            </a:pPr>
            <a:r>
              <a:rPr lang="en-US" sz="1300" dirty="0">
                <a:solidFill>
                  <a:srgbClr val="FFFFFF"/>
                </a:solidFill>
                <a:latin typeface="Microsoft YaHei" pitchFamily="34" charset="0"/>
                <a:ea typeface="Microsoft YaHei" pitchFamily="34" charset="-122"/>
                <a:cs typeface="Microsoft YaHei" pitchFamily="34" charset="-120"/>
              </a:rPr>
              <a:t>多角度建模、相关学术成果、材料实验数据、产品服务信息、材料成本、材料环境相关信息、材料的产品生命周期等。</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研究现状 · 国内外材料信息数据库</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Status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28</a:t>
            </a:r>
            <a:endParaRPr lang="en-US" sz="750" dirty="0"/>
          </a:p>
        </p:txBody>
      </p:sp>
      <p:sp>
        <p:nvSpPr>
          <p:cNvPr id="11" name="Shape 9"/>
          <p:cNvSpPr/>
          <p:nvPr/>
        </p:nvSpPr>
        <p:spPr>
          <a:xfrm>
            <a:off x="411480" y="1188720"/>
            <a:ext cx="2011680" cy="3383280"/>
          </a:xfrm>
          <a:prstGeom prst="roundRect">
            <a:avLst>
              <a:gd name="adj" fmla="val 4545"/>
            </a:avLst>
          </a:prstGeom>
          <a:solidFill>
            <a:srgbClr val="D9D4FF"/>
          </a:solidFill>
          <a:ln/>
        </p:spPr>
      </p:sp>
      <p:sp>
        <p:nvSpPr>
          <p:cNvPr id="12" name="Text 10"/>
          <p:cNvSpPr txBox="1"/>
          <p:nvPr/>
        </p:nvSpPr>
        <p:spPr>
          <a:xfrm>
            <a:off x="594360" y="1371600"/>
            <a:ext cx="1737360" cy="82296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RESEARCH</a:t>
            </a:r>
            <a:endParaRPr lang="en-US" sz="1800" dirty="0"/>
          </a:p>
          <a:p>
            <a:pPr indent="0" marL="0">
              <a:buNone/>
            </a:pPr>
            <a:r>
              <a:rPr lang="en-US" sz="1800" b="1" dirty="0">
                <a:solidFill>
                  <a:srgbClr val="111111"/>
                </a:solidFill>
                <a:latin typeface="Arial" pitchFamily="34" charset="0"/>
                <a:ea typeface="Arial" pitchFamily="34" charset="-122"/>
                <a:cs typeface="Arial" pitchFamily="34" charset="-120"/>
              </a:rPr>
              <a:t>STATUS</a:t>
            </a:r>
            <a:endParaRPr lang="en-US" sz="1800" dirty="0"/>
          </a:p>
        </p:txBody>
      </p:sp>
      <p:sp>
        <p:nvSpPr>
          <p:cNvPr id="13" name="Text 11"/>
          <p:cNvSpPr txBox="1"/>
          <p:nvPr/>
        </p:nvSpPr>
        <p:spPr>
          <a:xfrm>
            <a:off x="594360" y="3931920"/>
            <a:ext cx="1737360" cy="457200"/>
          </a:xfrm>
          <a:prstGeom prst="rect">
            <a:avLst/>
          </a:prstGeom>
          <a:noFill/>
          <a:ln/>
        </p:spPr>
        <p:txBody>
          <a:bodyPr wrap="square" lIns="0" tIns="0" rIns="0" bIns="0" rtlCol="0" anchor="b"/>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研究现状</a:t>
            </a:r>
            <a:endParaRPr lang="en-US" sz="1600" dirty="0"/>
          </a:p>
        </p:txBody>
      </p:sp>
      <p:sp>
        <p:nvSpPr>
          <p:cNvPr id="14" name="Shape 12"/>
          <p:cNvSpPr/>
          <p:nvPr/>
        </p:nvSpPr>
        <p:spPr>
          <a:xfrm>
            <a:off x="2532888" y="1188720"/>
            <a:ext cx="6199632" cy="3383280"/>
          </a:xfrm>
          <a:prstGeom prst="roundRect">
            <a:avLst>
              <a:gd name="adj" fmla="val 2703"/>
            </a:avLst>
          </a:prstGeom>
          <a:solidFill>
            <a:srgbClr val="FFFFFF"/>
          </a:solidFill>
          <a:ln w="9525">
            <a:solidFill>
              <a:srgbClr val="D0D0D0"/>
            </a:solidFill>
            <a:prstDash val="solid"/>
          </a:ln>
        </p:spPr>
      </p:sp>
      <p:pic>
        <p:nvPicPr>
          <p:cNvPr id="15" name="Image 0" descr="p26_0">    </p:cNvPr>
          <p:cNvPicPr>
            <a:picLocks noChangeAspect="1"/>
          </p:cNvPicPr>
          <p:nvPr/>
        </p:nvPicPr>
        <p:blipFill>
          <a:blip r:embed="rId1"/>
          <a:stretch>
            <a:fillRect/>
          </a:stretch>
        </p:blipFill>
        <p:spPr>
          <a:xfrm>
            <a:off x="2803443" y="1280160"/>
            <a:ext cx="5658522" cy="32004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研究现状 · 数据库可视化类型统计</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Status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29</a:t>
            </a:r>
            <a:endParaRPr lang="en-US" sz="750" dirty="0"/>
          </a:p>
        </p:txBody>
      </p:sp>
      <p:sp>
        <p:nvSpPr>
          <p:cNvPr id="11" name="Shape 9"/>
          <p:cNvSpPr/>
          <p:nvPr/>
        </p:nvSpPr>
        <p:spPr>
          <a:xfrm>
            <a:off x="411480" y="1188720"/>
            <a:ext cx="2011680" cy="3383280"/>
          </a:xfrm>
          <a:prstGeom prst="roundRect">
            <a:avLst>
              <a:gd name="adj" fmla="val 4545"/>
            </a:avLst>
          </a:prstGeom>
          <a:solidFill>
            <a:srgbClr val="111111"/>
          </a:solidFill>
          <a:ln/>
        </p:spPr>
      </p:sp>
      <p:sp>
        <p:nvSpPr>
          <p:cNvPr id="12" name="Text 10"/>
          <p:cNvSpPr txBox="1"/>
          <p:nvPr/>
        </p:nvSpPr>
        <p:spPr>
          <a:xfrm>
            <a:off x="594360" y="1371600"/>
            <a:ext cx="1737360" cy="822960"/>
          </a:xfrm>
          <a:prstGeom prst="rect">
            <a:avLst/>
          </a:prstGeom>
          <a:noFill/>
          <a:ln/>
        </p:spPr>
        <p:txBody>
          <a:bodyPr wrap="square" lIns="0" tIns="0" rIns="0" bIns="0" rtlCol="0" anchor="t"/>
          <a:lstStyle/>
          <a:p>
            <a:pPr indent="0" marL="0">
              <a:buNone/>
            </a:pPr>
            <a:r>
              <a:rPr lang="en-US" sz="1800" b="1" dirty="0">
                <a:solidFill>
                  <a:srgbClr val="D9D4FF"/>
                </a:solidFill>
                <a:latin typeface="Arial" pitchFamily="34" charset="0"/>
                <a:ea typeface="Arial" pitchFamily="34" charset="-122"/>
                <a:cs typeface="Arial" pitchFamily="34" charset="-120"/>
              </a:rPr>
              <a:t>RESEARCH</a:t>
            </a:r>
            <a:endParaRPr lang="en-US" sz="1800" dirty="0"/>
          </a:p>
          <a:p>
            <a:pPr indent="0" marL="0">
              <a:buNone/>
            </a:pPr>
            <a:r>
              <a:rPr lang="en-US" sz="1800" b="1" dirty="0">
                <a:solidFill>
                  <a:srgbClr val="D9D4FF"/>
                </a:solidFill>
                <a:latin typeface="Arial" pitchFamily="34" charset="0"/>
                <a:ea typeface="Arial" pitchFamily="34" charset="-122"/>
                <a:cs typeface="Arial" pitchFamily="34" charset="-120"/>
              </a:rPr>
              <a:t>STATUS</a:t>
            </a:r>
            <a:endParaRPr lang="en-US" sz="1800" dirty="0"/>
          </a:p>
        </p:txBody>
      </p:sp>
      <p:sp>
        <p:nvSpPr>
          <p:cNvPr id="13" name="Text 11"/>
          <p:cNvSpPr txBox="1"/>
          <p:nvPr/>
        </p:nvSpPr>
        <p:spPr>
          <a:xfrm>
            <a:off x="594360" y="3931920"/>
            <a:ext cx="1737360" cy="457200"/>
          </a:xfrm>
          <a:prstGeom prst="rect">
            <a:avLst/>
          </a:prstGeom>
          <a:noFill/>
          <a:ln/>
        </p:spPr>
        <p:txBody>
          <a:bodyPr wrap="square" lIns="0" tIns="0" rIns="0" bIns="0" rtlCol="0" anchor="b"/>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研究现状</a:t>
            </a:r>
            <a:endParaRPr lang="en-US" sz="1600" dirty="0"/>
          </a:p>
        </p:txBody>
      </p:sp>
      <p:sp>
        <p:nvSpPr>
          <p:cNvPr id="14" name="Shape 12"/>
          <p:cNvSpPr/>
          <p:nvPr/>
        </p:nvSpPr>
        <p:spPr>
          <a:xfrm>
            <a:off x="2532888" y="1188720"/>
            <a:ext cx="6199632" cy="3383280"/>
          </a:xfrm>
          <a:prstGeom prst="roundRect">
            <a:avLst>
              <a:gd name="adj" fmla="val 2703"/>
            </a:avLst>
          </a:prstGeom>
          <a:solidFill>
            <a:srgbClr val="FFFFFF"/>
          </a:solidFill>
          <a:ln w="9525">
            <a:solidFill>
              <a:srgbClr val="D0D0D0"/>
            </a:solidFill>
            <a:prstDash val="solid"/>
          </a:ln>
        </p:spPr>
      </p:sp>
      <p:pic>
        <p:nvPicPr>
          <p:cNvPr id="15" name="Image 0" descr="p27_0">    </p:cNvPr>
          <p:cNvPicPr>
            <a:picLocks noChangeAspect="1"/>
          </p:cNvPicPr>
          <p:nvPr/>
        </p:nvPicPr>
        <p:blipFill>
          <a:blip r:embed="rId1"/>
          <a:stretch>
            <a:fillRect/>
          </a:stretch>
        </p:blipFill>
        <p:spPr>
          <a:xfrm>
            <a:off x="4096165" y="1280160"/>
            <a:ext cx="3073078" cy="32004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研究现状 · Material District V.S MatNavi</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Research Status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30</a:t>
            </a:r>
            <a:endParaRPr lang="en-US" sz="750" dirty="0"/>
          </a:p>
        </p:txBody>
      </p:sp>
      <p:sp>
        <p:nvSpPr>
          <p:cNvPr id="11" name="Shape 9"/>
          <p:cNvSpPr/>
          <p:nvPr/>
        </p:nvSpPr>
        <p:spPr>
          <a:xfrm>
            <a:off x="411480" y="1188720"/>
            <a:ext cx="4105656" cy="384048"/>
          </a:xfrm>
          <a:prstGeom prst="rect">
            <a:avLst/>
          </a:prstGeom>
          <a:solidFill>
            <a:srgbClr val="D9D4FF"/>
          </a:solidFill>
          <a:ln/>
        </p:spPr>
      </p:sp>
      <p:sp>
        <p:nvSpPr>
          <p:cNvPr id="12" name="Text 10"/>
          <p:cNvSpPr txBox="1"/>
          <p:nvPr/>
        </p:nvSpPr>
        <p:spPr>
          <a:xfrm>
            <a:off x="594360" y="1188720"/>
            <a:ext cx="3657600" cy="384048"/>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Material District</a:t>
            </a:r>
            <a:endParaRPr lang="en-US" sz="1300" dirty="0"/>
          </a:p>
        </p:txBody>
      </p:sp>
      <p:sp>
        <p:nvSpPr>
          <p:cNvPr id="13" name="Shape 11"/>
          <p:cNvSpPr/>
          <p:nvPr/>
        </p:nvSpPr>
        <p:spPr>
          <a:xfrm>
            <a:off x="4626864" y="1188720"/>
            <a:ext cx="4105656" cy="384048"/>
          </a:xfrm>
          <a:prstGeom prst="rect">
            <a:avLst/>
          </a:prstGeom>
          <a:solidFill>
            <a:srgbClr val="111111"/>
          </a:solidFill>
          <a:ln/>
        </p:spPr>
      </p:sp>
      <p:sp>
        <p:nvSpPr>
          <p:cNvPr id="14" name="Text 12"/>
          <p:cNvSpPr txBox="1"/>
          <p:nvPr/>
        </p:nvSpPr>
        <p:spPr>
          <a:xfrm>
            <a:off x="4809744" y="1188720"/>
            <a:ext cx="3657600"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MatNavi</a:t>
            </a:r>
            <a:endParaRPr lang="en-US" sz="1300" dirty="0"/>
          </a:p>
        </p:txBody>
      </p:sp>
      <p:sp>
        <p:nvSpPr>
          <p:cNvPr id="15" name="Shape 13"/>
          <p:cNvSpPr/>
          <p:nvPr/>
        </p:nvSpPr>
        <p:spPr>
          <a:xfrm>
            <a:off x="411480" y="1645920"/>
            <a:ext cx="4105656" cy="2926080"/>
          </a:xfrm>
          <a:prstGeom prst="roundRect">
            <a:avLst>
              <a:gd name="adj" fmla="val 3125"/>
            </a:avLst>
          </a:prstGeom>
          <a:solidFill>
            <a:srgbClr val="F4F4F4"/>
          </a:solidFill>
          <a:ln/>
        </p:spPr>
      </p:sp>
      <p:pic>
        <p:nvPicPr>
          <p:cNvPr id="16" name="Image 0" descr="p28_1">    </p:cNvPr>
          <p:cNvPicPr>
            <a:picLocks noChangeAspect="1"/>
          </p:cNvPicPr>
          <p:nvPr/>
        </p:nvPicPr>
        <p:blipFill>
          <a:blip r:embed="rId1"/>
          <a:stretch>
            <a:fillRect/>
          </a:stretch>
        </p:blipFill>
        <p:spPr>
          <a:xfrm>
            <a:off x="1275635" y="1737360"/>
            <a:ext cx="2377346" cy="1325880"/>
          </a:xfrm>
          <a:prstGeom prst="rect">
            <a:avLst/>
          </a:prstGeom>
        </p:spPr>
      </p:pic>
      <p:pic>
        <p:nvPicPr>
          <p:cNvPr id="17" name="Image 1" descr="p28_2">    </p:cNvPr>
          <p:cNvPicPr>
            <a:picLocks noChangeAspect="1"/>
          </p:cNvPicPr>
          <p:nvPr/>
        </p:nvPicPr>
        <p:blipFill>
          <a:blip r:embed="rId2"/>
          <a:stretch>
            <a:fillRect/>
          </a:stretch>
        </p:blipFill>
        <p:spPr>
          <a:xfrm>
            <a:off x="1505070" y="3154680"/>
            <a:ext cx="1918476" cy="1325880"/>
          </a:xfrm>
          <a:prstGeom prst="rect">
            <a:avLst/>
          </a:prstGeom>
        </p:spPr>
      </p:pic>
      <p:sp>
        <p:nvSpPr>
          <p:cNvPr id="18" name="Shape 14"/>
          <p:cNvSpPr/>
          <p:nvPr/>
        </p:nvSpPr>
        <p:spPr>
          <a:xfrm>
            <a:off x="4626864" y="1645920"/>
            <a:ext cx="4105656" cy="2926080"/>
          </a:xfrm>
          <a:prstGeom prst="roundRect">
            <a:avLst>
              <a:gd name="adj" fmla="val 3125"/>
            </a:avLst>
          </a:prstGeom>
          <a:solidFill>
            <a:srgbClr val="F4F4F4"/>
          </a:solidFill>
          <a:ln/>
        </p:spPr>
      </p:sp>
      <p:pic>
        <p:nvPicPr>
          <p:cNvPr id="19" name="Image 2" descr="p28_0">    </p:cNvPr>
          <p:cNvPicPr>
            <a:picLocks noChangeAspect="1"/>
          </p:cNvPicPr>
          <p:nvPr/>
        </p:nvPicPr>
        <p:blipFill>
          <a:blip r:embed="rId3"/>
          <a:stretch>
            <a:fillRect/>
          </a:stretch>
        </p:blipFill>
        <p:spPr>
          <a:xfrm>
            <a:off x="5048192" y="1737360"/>
            <a:ext cx="3263000" cy="27432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材料信息数据库信息构架</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Information Architecture of Materials Database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31</a:t>
            </a:r>
            <a:endParaRPr lang="en-US" sz="750" dirty="0"/>
          </a:p>
        </p:txBody>
      </p:sp>
      <p:sp>
        <p:nvSpPr>
          <p:cNvPr id="11" name="Shape 9"/>
          <p:cNvSpPr/>
          <p:nvPr/>
        </p:nvSpPr>
        <p:spPr>
          <a:xfrm>
            <a:off x="2834640" y="1188720"/>
            <a:ext cx="3474720" cy="475488"/>
          </a:xfrm>
          <a:prstGeom prst="rect">
            <a:avLst/>
          </a:prstGeom>
          <a:solidFill>
            <a:srgbClr val="D9D4FF"/>
          </a:solidFill>
          <a:ln/>
        </p:spPr>
      </p:sp>
      <p:sp>
        <p:nvSpPr>
          <p:cNvPr id="12" name="Text 10"/>
          <p:cNvSpPr txBox="1"/>
          <p:nvPr/>
        </p:nvSpPr>
        <p:spPr>
          <a:xfrm>
            <a:off x="2834640" y="1188720"/>
            <a:ext cx="3474720" cy="47548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用户层</a:t>
            </a:r>
            <a:endParaRPr lang="en-US" sz="1400" dirty="0"/>
          </a:p>
        </p:txBody>
      </p:sp>
      <p:sp>
        <p:nvSpPr>
          <p:cNvPr id="13" name="Shape 11"/>
          <p:cNvSpPr/>
          <p:nvPr/>
        </p:nvSpPr>
        <p:spPr>
          <a:xfrm>
            <a:off x="2350008" y="1755648"/>
            <a:ext cx="4443984" cy="475488"/>
          </a:xfrm>
          <a:prstGeom prst="rect">
            <a:avLst/>
          </a:prstGeom>
          <a:solidFill>
            <a:srgbClr val="8CEBE3"/>
          </a:solidFill>
          <a:ln/>
        </p:spPr>
      </p:sp>
      <p:sp>
        <p:nvSpPr>
          <p:cNvPr id="14" name="Text 12"/>
          <p:cNvSpPr txBox="1"/>
          <p:nvPr/>
        </p:nvSpPr>
        <p:spPr>
          <a:xfrm>
            <a:off x="2350008" y="1755648"/>
            <a:ext cx="4443984" cy="47548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应用层</a:t>
            </a:r>
            <a:endParaRPr lang="en-US" sz="1400" dirty="0"/>
          </a:p>
        </p:txBody>
      </p:sp>
      <p:sp>
        <p:nvSpPr>
          <p:cNvPr id="15" name="Shape 13"/>
          <p:cNvSpPr/>
          <p:nvPr/>
        </p:nvSpPr>
        <p:spPr>
          <a:xfrm>
            <a:off x="1865376" y="2322576"/>
            <a:ext cx="5413248" cy="475488"/>
          </a:xfrm>
          <a:prstGeom prst="rect">
            <a:avLst/>
          </a:prstGeom>
          <a:solidFill>
            <a:srgbClr val="EBEBEB"/>
          </a:solidFill>
          <a:ln/>
        </p:spPr>
      </p:sp>
      <p:sp>
        <p:nvSpPr>
          <p:cNvPr id="16" name="Text 14"/>
          <p:cNvSpPr txBox="1"/>
          <p:nvPr/>
        </p:nvSpPr>
        <p:spPr>
          <a:xfrm>
            <a:off x="1865376" y="2322576"/>
            <a:ext cx="5413248" cy="47548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网络层</a:t>
            </a:r>
            <a:endParaRPr lang="en-US" sz="1400" dirty="0"/>
          </a:p>
        </p:txBody>
      </p:sp>
      <p:sp>
        <p:nvSpPr>
          <p:cNvPr id="17" name="Shape 15"/>
          <p:cNvSpPr/>
          <p:nvPr/>
        </p:nvSpPr>
        <p:spPr>
          <a:xfrm>
            <a:off x="1380744" y="2889504"/>
            <a:ext cx="6382512" cy="475488"/>
          </a:xfrm>
          <a:prstGeom prst="rect">
            <a:avLst/>
          </a:prstGeom>
          <a:solidFill>
            <a:srgbClr val="B4B4B4"/>
          </a:solidFill>
          <a:ln/>
        </p:spPr>
      </p:sp>
      <p:sp>
        <p:nvSpPr>
          <p:cNvPr id="18" name="Text 16"/>
          <p:cNvSpPr txBox="1"/>
          <p:nvPr/>
        </p:nvSpPr>
        <p:spPr>
          <a:xfrm>
            <a:off x="1380744" y="2889504"/>
            <a:ext cx="6382512" cy="475488"/>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存储层</a:t>
            </a:r>
            <a:endParaRPr lang="en-US" sz="1400" dirty="0"/>
          </a:p>
        </p:txBody>
      </p:sp>
      <p:sp>
        <p:nvSpPr>
          <p:cNvPr id="19" name="Shape 17"/>
          <p:cNvSpPr/>
          <p:nvPr/>
        </p:nvSpPr>
        <p:spPr>
          <a:xfrm>
            <a:off x="896112" y="3456432"/>
            <a:ext cx="7351776" cy="475488"/>
          </a:xfrm>
          <a:prstGeom prst="rect">
            <a:avLst/>
          </a:prstGeom>
          <a:solidFill>
            <a:srgbClr val="6B6B6B"/>
          </a:solidFill>
          <a:ln/>
        </p:spPr>
      </p:sp>
      <p:sp>
        <p:nvSpPr>
          <p:cNvPr id="20" name="Text 18"/>
          <p:cNvSpPr txBox="1"/>
          <p:nvPr/>
        </p:nvSpPr>
        <p:spPr>
          <a:xfrm>
            <a:off x="896112" y="3456432"/>
            <a:ext cx="7351776"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数据层</a:t>
            </a:r>
            <a:endParaRPr lang="en-US" sz="1400" dirty="0"/>
          </a:p>
        </p:txBody>
      </p:sp>
      <p:sp>
        <p:nvSpPr>
          <p:cNvPr id="21" name="Shape 19"/>
          <p:cNvSpPr/>
          <p:nvPr/>
        </p:nvSpPr>
        <p:spPr>
          <a:xfrm>
            <a:off x="411480" y="4023360"/>
            <a:ext cx="8321040" cy="475488"/>
          </a:xfrm>
          <a:prstGeom prst="rect">
            <a:avLst/>
          </a:prstGeom>
          <a:solidFill>
            <a:srgbClr val="111111"/>
          </a:solidFill>
          <a:ln/>
        </p:spPr>
      </p:sp>
      <p:sp>
        <p:nvSpPr>
          <p:cNvPr id="22" name="Text 20"/>
          <p:cNvSpPr txBox="1"/>
          <p:nvPr/>
        </p:nvSpPr>
        <p:spPr>
          <a:xfrm>
            <a:off x="411480" y="4023360"/>
            <a:ext cx="8321040"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设备层</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基于不同视角产品材料信息可视化需求</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Perspectives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32</a:t>
            </a:r>
            <a:endParaRPr lang="en-US" sz="750" dirty="0"/>
          </a:p>
        </p:txBody>
      </p:sp>
      <p:sp>
        <p:nvSpPr>
          <p:cNvPr id="11" name="Shape 9"/>
          <p:cNvSpPr/>
          <p:nvPr/>
        </p:nvSpPr>
        <p:spPr>
          <a:xfrm>
            <a:off x="411480" y="1188720"/>
            <a:ext cx="1828800" cy="1627632"/>
          </a:xfrm>
          <a:prstGeom prst="roundRect">
            <a:avLst>
              <a:gd name="adj" fmla="val 5618"/>
            </a:avLst>
          </a:prstGeom>
          <a:solidFill>
            <a:srgbClr val="D9D4FF"/>
          </a:solidFill>
          <a:ln/>
        </p:spPr>
      </p:sp>
      <p:sp>
        <p:nvSpPr>
          <p:cNvPr id="12" name="Text 10"/>
          <p:cNvSpPr txBox="1"/>
          <p:nvPr/>
        </p:nvSpPr>
        <p:spPr>
          <a:xfrm>
            <a:off x="594360" y="1417320"/>
            <a:ext cx="1554480" cy="411480"/>
          </a:xfrm>
          <a:prstGeom prst="rect">
            <a:avLst/>
          </a:prstGeom>
          <a:noFill/>
          <a:ln/>
        </p:spPr>
        <p:txBody>
          <a:bodyPr wrap="square" lIns="0" tIns="0" rIns="0" bIns="0" rtlCol="0" anchor="t"/>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产品设计</a:t>
            </a:r>
            <a:endParaRPr lang="en-US" sz="1700" dirty="0"/>
          </a:p>
        </p:txBody>
      </p:sp>
      <p:sp>
        <p:nvSpPr>
          <p:cNvPr id="13" name="Text 11"/>
          <p:cNvSpPr txBox="1"/>
          <p:nvPr/>
        </p:nvSpPr>
        <p:spPr>
          <a:xfrm>
            <a:off x="594360" y="1874520"/>
            <a:ext cx="1554480" cy="731520"/>
          </a:xfrm>
          <a:prstGeom prst="rect">
            <a:avLst/>
          </a:prstGeom>
          <a:noFill/>
          <a:ln/>
        </p:spPr>
        <p:txBody>
          <a:bodyPr wrap="square" lIns="0" tIns="0" rIns="0" bIns="0" rtlCol="0" anchor="t"/>
          <a:lstStyle/>
          <a:p>
            <a:pPr indent="0" marL="0">
              <a:buNone/>
            </a:pPr>
            <a:r>
              <a:rPr lang="en-US" sz="1050" dirty="0">
                <a:solidFill>
                  <a:srgbClr val="111111"/>
                </a:solidFill>
                <a:latin typeface="Arial" pitchFamily="34" charset="0"/>
                <a:ea typeface="Arial" pitchFamily="34" charset="-122"/>
                <a:cs typeface="Arial" pitchFamily="34" charset="-120"/>
              </a:rPr>
              <a:t>Product Design</a:t>
            </a:r>
            <a:endParaRPr lang="en-US" sz="1050" dirty="0"/>
          </a:p>
        </p:txBody>
      </p:sp>
      <p:pic>
        <p:nvPicPr>
          <p:cNvPr id="14" name="Image 0" descr="p30_4">    </p:cNvPr>
          <p:cNvPicPr>
            <a:picLocks noChangeAspect="1"/>
          </p:cNvPicPr>
          <p:nvPr/>
        </p:nvPicPr>
        <p:blipFill>
          <a:blip r:embed="rId1"/>
          <a:stretch>
            <a:fillRect/>
          </a:stretch>
        </p:blipFill>
        <p:spPr>
          <a:xfrm>
            <a:off x="2377440" y="1188720"/>
            <a:ext cx="1183234" cy="1627632"/>
          </a:xfrm>
          <a:prstGeom prst="rect">
            <a:avLst/>
          </a:prstGeom>
        </p:spPr>
      </p:pic>
      <p:pic>
        <p:nvPicPr>
          <p:cNvPr id="15" name="Image 1" descr="p30_2">    </p:cNvPr>
          <p:cNvPicPr>
            <a:picLocks noChangeAspect="1"/>
          </p:cNvPicPr>
          <p:nvPr/>
        </p:nvPicPr>
        <p:blipFill>
          <a:blip r:embed="rId2"/>
          <a:stretch>
            <a:fillRect/>
          </a:stretch>
        </p:blipFill>
        <p:spPr>
          <a:xfrm>
            <a:off x="3670402" y="1188720"/>
            <a:ext cx="1183234" cy="1627632"/>
          </a:xfrm>
          <a:prstGeom prst="rect">
            <a:avLst/>
          </a:prstGeom>
        </p:spPr>
      </p:pic>
      <p:pic>
        <p:nvPicPr>
          <p:cNvPr id="16" name="Image 2" descr="p30_0">    </p:cNvPr>
          <p:cNvPicPr>
            <a:picLocks noChangeAspect="1"/>
          </p:cNvPicPr>
          <p:nvPr/>
        </p:nvPicPr>
        <p:blipFill>
          <a:blip r:embed="rId3"/>
          <a:stretch>
            <a:fillRect/>
          </a:stretch>
        </p:blipFill>
        <p:spPr>
          <a:xfrm>
            <a:off x="4963363" y="1188720"/>
            <a:ext cx="1183234" cy="1627632"/>
          </a:xfrm>
          <a:prstGeom prst="rect">
            <a:avLst/>
          </a:prstGeom>
        </p:spPr>
      </p:pic>
      <p:pic>
        <p:nvPicPr>
          <p:cNvPr id="17" name="Image 3" descr="p30_1">    </p:cNvPr>
          <p:cNvPicPr>
            <a:picLocks noChangeAspect="1"/>
          </p:cNvPicPr>
          <p:nvPr/>
        </p:nvPicPr>
        <p:blipFill>
          <a:blip r:embed="rId4"/>
          <a:stretch>
            <a:fillRect/>
          </a:stretch>
        </p:blipFill>
        <p:spPr>
          <a:xfrm>
            <a:off x="6256325" y="1188720"/>
            <a:ext cx="1183234" cy="1627632"/>
          </a:xfrm>
          <a:prstGeom prst="rect">
            <a:avLst/>
          </a:prstGeom>
        </p:spPr>
      </p:pic>
      <p:pic>
        <p:nvPicPr>
          <p:cNvPr id="18" name="Image 4" descr="p30_3">    </p:cNvPr>
          <p:cNvPicPr>
            <a:picLocks noChangeAspect="1"/>
          </p:cNvPicPr>
          <p:nvPr/>
        </p:nvPicPr>
        <p:blipFill>
          <a:blip r:embed="rId5"/>
          <a:stretch>
            <a:fillRect/>
          </a:stretch>
        </p:blipFill>
        <p:spPr>
          <a:xfrm>
            <a:off x="7549286" y="1188720"/>
            <a:ext cx="1183234" cy="1627632"/>
          </a:xfrm>
          <a:prstGeom prst="rect">
            <a:avLst/>
          </a:prstGeom>
        </p:spPr>
      </p:pic>
      <p:sp>
        <p:nvSpPr>
          <p:cNvPr id="19" name="Shape 12"/>
          <p:cNvSpPr/>
          <p:nvPr/>
        </p:nvSpPr>
        <p:spPr>
          <a:xfrm>
            <a:off x="411480" y="2926080"/>
            <a:ext cx="1828800" cy="1627632"/>
          </a:xfrm>
          <a:prstGeom prst="roundRect">
            <a:avLst>
              <a:gd name="adj" fmla="val 5618"/>
            </a:avLst>
          </a:prstGeom>
          <a:solidFill>
            <a:srgbClr val="111111"/>
          </a:solidFill>
          <a:ln/>
        </p:spPr>
      </p:sp>
      <p:sp>
        <p:nvSpPr>
          <p:cNvPr id="20" name="Text 13"/>
          <p:cNvSpPr txBox="1"/>
          <p:nvPr/>
        </p:nvSpPr>
        <p:spPr>
          <a:xfrm>
            <a:off x="594360" y="3154680"/>
            <a:ext cx="1554480" cy="411480"/>
          </a:xfrm>
          <a:prstGeom prst="rect">
            <a:avLst/>
          </a:prstGeom>
          <a:noFill/>
          <a:ln/>
        </p:spPr>
        <p:txBody>
          <a:bodyPr wrap="square" lIns="0" tIns="0" rIns="0" bIns="0" rtlCol="0" anchor="t"/>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材料研发</a:t>
            </a:r>
            <a:endParaRPr lang="en-US" sz="1700" dirty="0"/>
          </a:p>
        </p:txBody>
      </p:sp>
      <p:sp>
        <p:nvSpPr>
          <p:cNvPr id="21" name="Text 14"/>
          <p:cNvSpPr txBox="1"/>
          <p:nvPr/>
        </p:nvSpPr>
        <p:spPr>
          <a:xfrm>
            <a:off x="594360" y="3611880"/>
            <a:ext cx="1554480" cy="731520"/>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Material Development</a:t>
            </a:r>
            <a:endParaRPr lang="en-US" sz="1050" dirty="0"/>
          </a:p>
        </p:txBody>
      </p:sp>
      <p:pic>
        <p:nvPicPr>
          <p:cNvPr id="22" name="Image 5" descr="p30_6">    </p:cNvPr>
          <p:cNvPicPr>
            <a:picLocks noChangeAspect="1"/>
          </p:cNvPicPr>
          <p:nvPr/>
        </p:nvPicPr>
        <p:blipFill>
          <a:blip r:embed="rId6"/>
          <a:stretch>
            <a:fillRect/>
          </a:stretch>
        </p:blipFill>
        <p:spPr>
          <a:xfrm>
            <a:off x="2377440" y="2926080"/>
            <a:ext cx="1183234" cy="1627632"/>
          </a:xfrm>
          <a:prstGeom prst="rect">
            <a:avLst/>
          </a:prstGeom>
        </p:spPr>
      </p:pic>
      <p:pic>
        <p:nvPicPr>
          <p:cNvPr id="23" name="Image 6" descr="p30_5">    </p:cNvPr>
          <p:cNvPicPr>
            <a:picLocks noChangeAspect="1"/>
          </p:cNvPicPr>
          <p:nvPr/>
        </p:nvPicPr>
        <p:blipFill>
          <a:blip r:embed="rId7"/>
          <a:stretch>
            <a:fillRect/>
          </a:stretch>
        </p:blipFill>
        <p:spPr>
          <a:xfrm>
            <a:off x="3670402" y="2926080"/>
            <a:ext cx="1183234" cy="1627632"/>
          </a:xfrm>
          <a:prstGeom prst="rect">
            <a:avLst/>
          </a:prstGeom>
        </p:spPr>
      </p:pic>
      <p:pic>
        <p:nvPicPr>
          <p:cNvPr id="24" name="Image 7" descr="p30_8">    </p:cNvPr>
          <p:cNvPicPr>
            <a:picLocks noChangeAspect="1"/>
          </p:cNvPicPr>
          <p:nvPr/>
        </p:nvPicPr>
        <p:blipFill>
          <a:blip r:embed="rId8"/>
          <a:stretch>
            <a:fillRect/>
          </a:stretch>
        </p:blipFill>
        <p:spPr>
          <a:xfrm>
            <a:off x="4963363" y="2926080"/>
            <a:ext cx="1183234" cy="1627632"/>
          </a:xfrm>
          <a:prstGeom prst="rect">
            <a:avLst/>
          </a:prstGeom>
        </p:spPr>
      </p:pic>
      <p:pic>
        <p:nvPicPr>
          <p:cNvPr id="25" name="Image 8" descr="p30_9">    </p:cNvPr>
          <p:cNvPicPr>
            <a:picLocks noChangeAspect="1"/>
          </p:cNvPicPr>
          <p:nvPr/>
        </p:nvPicPr>
        <p:blipFill>
          <a:blip r:embed="rId9"/>
          <a:stretch>
            <a:fillRect/>
          </a:stretch>
        </p:blipFill>
        <p:spPr>
          <a:xfrm>
            <a:off x="6256325" y="2926080"/>
            <a:ext cx="1183234" cy="1627632"/>
          </a:xfrm>
          <a:prstGeom prst="rect">
            <a:avLst/>
          </a:prstGeom>
        </p:spPr>
      </p:pic>
      <p:pic>
        <p:nvPicPr>
          <p:cNvPr id="26" name="Image 9" descr="p30_7">    </p:cNvPr>
          <p:cNvPicPr>
            <a:picLocks noChangeAspect="1"/>
          </p:cNvPicPr>
          <p:nvPr/>
        </p:nvPicPr>
        <p:blipFill>
          <a:blip r:embed="rId10"/>
          <a:stretch>
            <a:fillRect/>
          </a:stretch>
        </p:blipFill>
        <p:spPr>
          <a:xfrm>
            <a:off x="7549286" y="2926080"/>
            <a:ext cx="1183234" cy="162763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材料信息在不同设计阶段的可视化需求差异</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Differences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33</a:t>
            </a:r>
            <a:endParaRPr lang="en-US" sz="750" dirty="0"/>
          </a:p>
        </p:txBody>
      </p:sp>
      <p:sp>
        <p:nvSpPr>
          <p:cNvPr id="11" name="Shape 9"/>
          <p:cNvSpPr/>
          <p:nvPr/>
        </p:nvSpPr>
        <p:spPr>
          <a:xfrm>
            <a:off x="411480" y="1188720"/>
            <a:ext cx="8321040" cy="1627632"/>
          </a:xfrm>
          <a:prstGeom prst="roundRect">
            <a:avLst>
              <a:gd name="adj" fmla="val 5618"/>
            </a:avLst>
          </a:prstGeom>
          <a:solidFill>
            <a:srgbClr val="D9D4FF"/>
          </a:solidFill>
          <a:ln/>
        </p:spPr>
      </p:sp>
      <p:sp>
        <p:nvSpPr>
          <p:cNvPr id="12" name="Text 10"/>
          <p:cNvSpPr txBox="1"/>
          <p:nvPr/>
        </p:nvSpPr>
        <p:spPr>
          <a:xfrm>
            <a:off x="685800" y="1463040"/>
            <a:ext cx="3840480" cy="502920"/>
          </a:xfrm>
          <a:prstGeom prst="rect">
            <a:avLst/>
          </a:prstGeom>
          <a:noFill/>
          <a:ln/>
        </p:spPr>
        <p:txBody>
          <a:bodyPr wrap="square" lIns="0" tIns="0" rIns="0" bIns="0" rtlCol="0" anchor="ctr"/>
          <a:lstStyle/>
          <a:p>
            <a:pPr indent="0" marL="0">
              <a:buNone/>
            </a:pPr>
            <a:r>
              <a:rPr lang="en-US" sz="2200" b="1" dirty="0">
                <a:solidFill>
                  <a:srgbClr val="111111"/>
                </a:solidFill>
                <a:latin typeface="Microsoft YaHei" pitchFamily="34" charset="0"/>
                <a:ea typeface="Microsoft YaHei" pitchFamily="34" charset="-122"/>
                <a:cs typeface="Microsoft YaHei" pitchFamily="34" charset="-120"/>
              </a:rPr>
              <a:t>产品设计初期</a:t>
            </a:r>
            <a:endParaRPr lang="en-US" sz="2200" dirty="0"/>
          </a:p>
        </p:txBody>
      </p:sp>
      <p:sp>
        <p:nvSpPr>
          <p:cNvPr id="13" name="Text 11"/>
          <p:cNvSpPr txBox="1"/>
          <p:nvPr/>
        </p:nvSpPr>
        <p:spPr>
          <a:xfrm>
            <a:off x="685800" y="2057400"/>
            <a:ext cx="4224528" cy="502920"/>
          </a:xfrm>
          <a:prstGeom prst="rect">
            <a:avLst/>
          </a:prstGeom>
          <a:noFill/>
          <a:ln/>
        </p:spPr>
        <p:txBody>
          <a:bodyPr wrap="square" lIns="0" tIns="0" rIns="0" bIns="0" rtlCol="0" anchor="ctr"/>
          <a:lstStyle/>
          <a:p>
            <a:pPr indent="0" marL="0">
              <a:buNone/>
            </a:pPr>
            <a:r>
              <a:rPr lang="en-US" sz="1250" dirty="0">
                <a:solidFill>
                  <a:srgbClr val="111111"/>
                </a:solidFill>
                <a:latin typeface="Microsoft YaHei" pitchFamily="34" charset="0"/>
                <a:ea typeface="Microsoft YaHei" pitchFamily="34" charset="-122"/>
                <a:cs typeface="Microsoft YaHei" pitchFamily="34" charset="-120"/>
              </a:rPr>
              <a:t>感官特性+感知特性+功能特性+成本+相关设计说明</a:t>
            </a:r>
            <a:endParaRPr lang="en-US" sz="1250" dirty="0"/>
          </a:p>
        </p:txBody>
      </p:sp>
      <p:sp>
        <p:nvSpPr>
          <p:cNvPr id="14" name="Shape 12"/>
          <p:cNvSpPr/>
          <p:nvPr/>
        </p:nvSpPr>
        <p:spPr>
          <a:xfrm>
            <a:off x="4983480" y="1463040"/>
            <a:ext cx="1124712" cy="1078992"/>
          </a:xfrm>
          <a:prstGeom prst="roundRect">
            <a:avLst>
              <a:gd name="adj" fmla="val 8475"/>
            </a:avLst>
          </a:prstGeom>
          <a:solidFill>
            <a:srgbClr val="FFFFFF"/>
          </a:solidFill>
          <a:ln/>
        </p:spPr>
      </p:sp>
      <p:sp>
        <p:nvSpPr>
          <p:cNvPr id="15" name="Text 13"/>
          <p:cNvSpPr txBox="1"/>
          <p:nvPr/>
        </p:nvSpPr>
        <p:spPr>
          <a:xfrm>
            <a:off x="4983480" y="1490472"/>
            <a:ext cx="1124712" cy="548640"/>
          </a:xfrm>
          <a:prstGeom prst="rect">
            <a:avLst/>
          </a:prstGeom>
          <a:noFill/>
          <a:ln/>
        </p:spPr>
        <p:txBody>
          <a:bodyPr wrap="square" lIns="0" tIns="0" rIns="0" bIns="0" rtlCol="0" anchor="ctr"/>
          <a:lstStyle/>
          <a:p>
            <a:pPr algn="ctr" indent="0" marL="0">
              <a:buNone/>
            </a:pPr>
            <a:r>
              <a:rPr lang="en-US" sz="2600" b="1" dirty="0">
                <a:solidFill>
                  <a:srgbClr val="111111"/>
                </a:solidFill>
                <a:latin typeface="Microsoft YaHei" pitchFamily="34" charset="0"/>
                <a:ea typeface="Microsoft YaHei" pitchFamily="34" charset="-122"/>
                <a:cs typeface="Microsoft YaHei" pitchFamily="34" charset="-120"/>
              </a:rPr>
              <a:t>↓</a:t>
            </a:r>
            <a:endParaRPr lang="en-US" sz="2600" dirty="0"/>
          </a:p>
        </p:txBody>
      </p:sp>
      <p:sp>
        <p:nvSpPr>
          <p:cNvPr id="16" name="Text 14"/>
          <p:cNvSpPr txBox="1"/>
          <p:nvPr/>
        </p:nvSpPr>
        <p:spPr>
          <a:xfrm>
            <a:off x="4983480" y="2057400"/>
            <a:ext cx="1124712" cy="365760"/>
          </a:xfrm>
          <a:prstGeom prst="rect">
            <a:avLst/>
          </a:prstGeom>
          <a:noFill/>
          <a:ln/>
        </p:spPr>
        <p:txBody>
          <a:bodyPr wrap="square" lIns="0" tIns="0" rIns="0" bIns="0" rtlCol="0" anchor="ctr"/>
          <a:lstStyle/>
          <a:p>
            <a:pPr algn="ctr" indent="0" marL="0">
              <a:buNone/>
            </a:pPr>
            <a:r>
              <a:rPr lang="en-US" sz="1100" dirty="0">
                <a:solidFill>
                  <a:srgbClr val="111111"/>
                </a:solidFill>
                <a:latin typeface="Microsoft YaHei" pitchFamily="34" charset="0"/>
                <a:ea typeface="Microsoft YaHei" pitchFamily="34" charset="-122"/>
                <a:cs typeface="Microsoft YaHei" pitchFamily="34" charset="-120"/>
              </a:rPr>
              <a:t>数据精度</a:t>
            </a:r>
            <a:endParaRPr lang="en-US" sz="1100" dirty="0"/>
          </a:p>
        </p:txBody>
      </p:sp>
      <p:sp>
        <p:nvSpPr>
          <p:cNvPr id="17" name="Shape 15"/>
          <p:cNvSpPr/>
          <p:nvPr/>
        </p:nvSpPr>
        <p:spPr>
          <a:xfrm>
            <a:off x="6217920" y="1463040"/>
            <a:ext cx="1124712" cy="1078992"/>
          </a:xfrm>
          <a:prstGeom prst="roundRect">
            <a:avLst>
              <a:gd name="adj" fmla="val 8475"/>
            </a:avLst>
          </a:prstGeom>
          <a:solidFill>
            <a:srgbClr val="FFFFFF"/>
          </a:solidFill>
          <a:ln/>
        </p:spPr>
      </p:sp>
      <p:sp>
        <p:nvSpPr>
          <p:cNvPr id="18" name="Text 16"/>
          <p:cNvSpPr txBox="1"/>
          <p:nvPr/>
        </p:nvSpPr>
        <p:spPr>
          <a:xfrm>
            <a:off x="6217920" y="1490472"/>
            <a:ext cx="1124712" cy="548640"/>
          </a:xfrm>
          <a:prstGeom prst="rect">
            <a:avLst/>
          </a:prstGeom>
          <a:noFill/>
          <a:ln/>
        </p:spPr>
        <p:txBody>
          <a:bodyPr wrap="square" lIns="0" tIns="0" rIns="0" bIns="0" rtlCol="0" anchor="ctr"/>
          <a:lstStyle/>
          <a:p>
            <a:pPr algn="ctr" indent="0" marL="0">
              <a:buNone/>
            </a:pPr>
            <a:r>
              <a:rPr lang="en-US" sz="2600" b="1" dirty="0">
                <a:solidFill>
                  <a:srgbClr val="111111"/>
                </a:solidFill>
                <a:latin typeface="Microsoft YaHei" pitchFamily="34" charset="0"/>
                <a:ea typeface="Microsoft YaHei" pitchFamily="34" charset="-122"/>
                <a:cs typeface="Microsoft YaHei" pitchFamily="34" charset="-120"/>
              </a:rPr>
              <a:t>↑</a:t>
            </a:r>
            <a:endParaRPr lang="en-US" sz="2600" dirty="0"/>
          </a:p>
        </p:txBody>
      </p:sp>
      <p:sp>
        <p:nvSpPr>
          <p:cNvPr id="19" name="Text 17"/>
          <p:cNvSpPr txBox="1"/>
          <p:nvPr/>
        </p:nvSpPr>
        <p:spPr>
          <a:xfrm>
            <a:off x="6217920" y="2057400"/>
            <a:ext cx="1124712" cy="365760"/>
          </a:xfrm>
          <a:prstGeom prst="rect">
            <a:avLst/>
          </a:prstGeom>
          <a:noFill/>
          <a:ln/>
        </p:spPr>
        <p:txBody>
          <a:bodyPr wrap="square" lIns="0" tIns="0" rIns="0" bIns="0" rtlCol="0" anchor="ctr"/>
          <a:lstStyle/>
          <a:p>
            <a:pPr algn="ctr" indent="0" marL="0">
              <a:buNone/>
            </a:pPr>
            <a:r>
              <a:rPr lang="en-US" sz="1100" dirty="0">
                <a:solidFill>
                  <a:srgbClr val="111111"/>
                </a:solidFill>
                <a:latin typeface="Microsoft YaHei" pitchFamily="34" charset="0"/>
                <a:ea typeface="Microsoft YaHei" pitchFamily="34" charset="-122"/>
                <a:cs typeface="Microsoft YaHei" pitchFamily="34" charset="-120"/>
              </a:rPr>
              <a:t>数据广度</a:t>
            </a:r>
            <a:endParaRPr lang="en-US" sz="1100" dirty="0"/>
          </a:p>
        </p:txBody>
      </p:sp>
      <p:sp>
        <p:nvSpPr>
          <p:cNvPr id="20" name="Shape 18"/>
          <p:cNvSpPr/>
          <p:nvPr/>
        </p:nvSpPr>
        <p:spPr>
          <a:xfrm>
            <a:off x="7452360" y="1463040"/>
            <a:ext cx="1124712" cy="1078992"/>
          </a:xfrm>
          <a:prstGeom prst="roundRect">
            <a:avLst>
              <a:gd name="adj" fmla="val 8475"/>
            </a:avLst>
          </a:prstGeom>
          <a:solidFill>
            <a:srgbClr val="FFFFFF"/>
          </a:solidFill>
          <a:ln/>
        </p:spPr>
      </p:sp>
      <p:sp>
        <p:nvSpPr>
          <p:cNvPr id="21" name="Text 19"/>
          <p:cNvSpPr txBox="1"/>
          <p:nvPr/>
        </p:nvSpPr>
        <p:spPr>
          <a:xfrm>
            <a:off x="7452360" y="1490472"/>
            <a:ext cx="1124712" cy="548640"/>
          </a:xfrm>
          <a:prstGeom prst="rect">
            <a:avLst/>
          </a:prstGeom>
          <a:noFill/>
          <a:ln/>
        </p:spPr>
        <p:txBody>
          <a:bodyPr wrap="square" lIns="0" tIns="0" rIns="0" bIns="0" rtlCol="0" anchor="ctr"/>
          <a:lstStyle/>
          <a:p>
            <a:pPr algn="ctr" indent="0" marL="0">
              <a:buNone/>
            </a:pPr>
            <a:r>
              <a:rPr lang="en-US" sz="2600" b="1" dirty="0">
                <a:solidFill>
                  <a:srgbClr val="111111"/>
                </a:solidFill>
                <a:latin typeface="Microsoft YaHei" pitchFamily="34" charset="0"/>
                <a:ea typeface="Microsoft YaHei" pitchFamily="34" charset="-122"/>
                <a:cs typeface="Microsoft YaHei" pitchFamily="34" charset="-120"/>
              </a:rPr>
              <a:t>↑</a:t>
            </a:r>
            <a:endParaRPr lang="en-US" sz="2600" dirty="0"/>
          </a:p>
        </p:txBody>
      </p:sp>
      <p:sp>
        <p:nvSpPr>
          <p:cNvPr id="22" name="Text 20"/>
          <p:cNvSpPr txBox="1"/>
          <p:nvPr/>
        </p:nvSpPr>
        <p:spPr>
          <a:xfrm>
            <a:off x="7452360" y="2057400"/>
            <a:ext cx="1124712" cy="365760"/>
          </a:xfrm>
          <a:prstGeom prst="rect">
            <a:avLst/>
          </a:prstGeom>
          <a:noFill/>
          <a:ln/>
        </p:spPr>
        <p:txBody>
          <a:bodyPr wrap="square" lIns="0" tIns="0" rIns="0" bIns="0" rtlCol="0" anchor="ctr"/>
          <a:lstStyle/>
          <a:p>
            <a:pPr algn="ctr" indent="0" marL="0">
              <a:buNone/>
            </a:pPr>
            <a:r>
              <a:rPr lang="en-US" sz="1100" dirty="0">
                <a:solidFill>
                  <a:srgbClr val="111111"/>
                </a:solidFill>
                <a:latin typeface="Microsoft YaHei" pitchFamily="34" charset="0"/>
                <a:ea typeface="Microsoft YaHei" pitchFamily="34" charset="-122"/>
                <a:cs typeface="Microsoft YaHei" pitchFamily="34" charset="-120"/>
              </a:rPr>
              <a:t>数据直观度</a:t>
            </a:r>
            <a:endParaRPr lang="en-US" sz="1100" dirty="0"/>
          </a:p>
        </p:txBody>
      </p:sp>
      <p:sp>
        <p:nvSpPr>
          <p:cNvPr id="23" name="Shape 21"/>
          <p:cNvSpPr/>
          <p:nvPr/>
        </p:nvSpPr>
        <p:spPr>
          <a:xfrm>
            <a:off x="411480" y="2926080"/>
            <a:ext cx="8321040" cy="1627632"/>
          </a:xfrm>
          <a:prstGeom prst="roundRect">
            <a:avLst>
              <a:gd name="adj" fmla="val 5618"/>
            </a:avLst>
          </a:prstGeom>
          <a:solidFill>
            <a:srgbClr val="111111"/>
          </a:solidFill>
          <a:ln/>
        </p:spPr>
      </p:sp>
      <p:sp>
        <p:nvSpPr>
          <p:cNvPr id="24" name="Text 22"/>
          <p:cNvSpPr txBox="1"/>
          <p:nvPr/>
        </p:nvSpPr>
        <p:spPr>
          <a:xfrm>
            <a:off x="685800" y="3200400"/>
            <a:ext cx="3840480" cy="502920"/>
          </a:xfrm>
          <a:prstGeom prst="rect">
            <a:avLst/>
          </a:prstGeom>
          <a:noFill/>
          <a:ln/>
        </p:spPr>
        <p:txBody>
          <a:bodyPr wrap="square" lIns="0" tIns="0" rIns="0" bIns="0" rtlCol="0" anchor="ctr"/>
          <a:lstStyle/>
          <a:p>
            <a:pPr indent="0" marL="0">
              <a:buNone/>
            </a:pPr>
            <a:r>
              <a:rPr lang="en-US" sz="2200" b="1" dirty="0">
                <a:solidFill>
                  <a:srgbClr val="FFFFFF"/>
                </a:solidFill>
                <a:latin typeface="Microsoft YaHei" pitchFamily="34" charset="0"/>
                <a:ea typeface="Microsoft YaHei" pitchFamily="34" charset="-122"/>
                <a:cs typeface="Microsoft YaHei" pitchFamily="34" charset="-120"/>
              </a:rPr>
              <a:t>产品设计后期</a:t>
            </a:r>
            <a:endParaRPr lang="en-US" sz="2200" dirty="0"/>
          </a:p>
        </p:txBody>
      </p:sp>
      <p:sp>
        <p:nvSpPr>
          <p:cNvPr id="25" name="Text 23"/>
          <p:cNvSpPr txBox="1"/>
          <p:nvPr/>
        </p:nvSpPr>
        <p:spPr>
          <a:xfrm>
            <a:off x="685800" y="3794760"/>
            <a:ext cx="4224528" cy="502920"/>
          </a:xfrm>
          <a:prstGeom prst="rect">
            <a:avLst/>
          </a:prstGeom>
          <a:noFill/>
          <a:ln/>
        </p:spPr>
        <p:txBody>
          <a:bodyPr wrap="square" lIns="0" tIns="0" rIns="0" bIns="0" rtlCol="0" anchor="ctr"/>
          <a:lstStyle/>
          <a:p>
            <a:pPr indent="0" marL="0">
              <a:buNone/>
            </a:pPr>
            <a:r>
              <a:rPr lang="en-US" sz="1250" dirty="0">
                <a:solidFill>
                  <a:srgbClr val="FFFFFF"/>
                </a:solidFill>
                <a:latin typeface="Microsoft YaHei" pitchFamily="34" charset="0"/>
                <a:ea typeface="Microsoft YaHei" pitchFamily="34" charset="-122"/>
                <a:cs typeface="Microsoft YaHei" pitchFamily="34" charset="-120"/>
              </a:rPr>
              <a:t>尺寸+功能技术参数</a:t>
            </a:r>
            <a:endParaRPr lang="en-US" sz="1250" dirty="0"/>
          </a:p>
        </p:txBody>
      </p:sp>
      <p:sp>
        <p:nvSpPr>
          <p:cNvPr id="26" name="Shape 24"/>
          <p:cNvSpPr/>
          <p:nvPr/>
        </p:nvSpPr>
        <p:spPr>
          <a:xfrm>
            <a:off x="4983480" y="3200400"/>
            <a:ext cx="1124712" cy="1078992"/>
          </a:xfrm>
          <a:prstGeom prst="roundRect">
            <a:avLst>
              <a:gd name="adj" fmla="val 8475"/>
            </a:avLst>
          </a:prstGeom>
          <a:solidFill>
            <a:srgbClr val="2B2B2B"/>
          </a:solidFill>
          <a:ln/>
        </p:spPr>
      </p:sp>
      <p:sp>
        <p:nvSpPr>
          <p:cNvPr id="27" name="Text 25"/>
          <p:cNvSpPr txBox="1"/>
          <p:nvPr/>
        </p:nvSpPr>
        <p:spPr>
          <a:xfrm>
            <a:off x="4983480" y="3227832"/>
            <a:ext cx="1124712" cy="548640"/>
          </a:xfrm>
          <a:prstGeom prst="rect">
            <a:avLst/>
          </a:prstGeom>
          <a:noFill/>
          <a:ln/>
        </p:spPr>
        <p:txBody>
          <a:bodyPr wrap="square" lIns="0" tIns="0" rIns="0" bIns="0" rtlCol="0" anchor="ctr"/>
          <a:lstStyle/>
          <a:p>
            <a:pPr algn="ctr" indent="0" marL="0">
              <a:buNone/>
            </a:pPr>
            <a:r>
              <a:rPr lang="en-US" sz="2600" b="1" dirty="0">
                <a:solidFill>
                  <a:srgbClr val="D9D4FF"/>
                </a:solidFill>
                <a:latin typeface="Microsoft YaHei" pitchFamily="34" charset="0"/>
                <a:ea typeface="Microsoft YaHei" pitchFamily="34" charset="-122"/>
                <a:cs typeface="Microsoft YaHei" pitchFamily="34" charset="-120"/>
              </a:rPr>
              <a:t>↑</a:t>
            </a:r>
            <a:endParaRPr lang="en-US" sz="2600" dirty="0"/>
          </a:p>
        </p:txBody>
      </p:sp>
      <p:sp>
        <p:nvSpPr>
          <p:cNvPr id="28" name="Text 26"/>
          <p:cNvSpPr txBox="1"/>
          <p:nvPr/>
        </p:nvSpPr>
        <p:spPr>
          <a:xfrm>
            <a:off x="4983480" y="3794760"/>
            <a:ext cx="112471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数据精度</a:t>
            </a:r>
            <a:endParaRPr lang="en-US" sz="1100" dirty="0"/>
          </a:p>
        </p:txBody>
      </p:sp>
      <p:sp>
        <p:nvSpPr>
          <p:cNvPr id="29" name="Shape 27"/>
          <p:cNvSpPr/>
          <p:nvPr/>
        </p:nvSpPr>
        <p:spPr>
          <a:xfrm>
            <a:off x="6217920" y="3200400"/>
            <a:ext cx="1124712" cy="1078992"/>
          </a:xfrm>
          <a:prstGeom prst="roundRect">
            <a:avLst>
              <a:gd name="adj" fmla="val 8475"/>
            </a:avLst>
          </a:prstGeom>
          <a:solidFill>
            <a:srgbClr val="2B2B2B"/>
          </a:solidFill>
          <a:ln/>
        </p:spPr>
      </p:sp>
      <p:sp>
        <p:nvSpPr>
          <p:cNvPr id="30" name="Text 28"/>
          <p:cNvSpPr txBox="1"/>
          <p:nvPr/>
        </p:nvSpPr>
        <p:spPr>
          <a:xfrm>
            <a:off x="6217920" y="3227832"/>
            <a:ext cx="1124712" cy="548640"/>
          </a:xfrm>
          <a:prstGeom prst="rect">
            <a:avLst/>
          </a:prstGeom>
          <a:noFill/>
          <a:ln/>
        </p:spPr>
        <p:txBody>
          <a:bodyPr wrap="square" lIns="0" tIns="0" rIns="0" bIns="0" rtlCol="0" anchor="ctr"/>
          <a:lstStyle/>
          <a:p>
            <a:pPr algn="ctr" indent="0" marL="0">
              <a:buNone/>
            </a:pPr>
            <a:r>
              <a:rPr lang="en-US" sz="2600" b="1" dirty="0">
                <a:solidFill>
                  <a:srgbClr val="D9D4FF"/>
                </a:solidFill>
                <a:latin typeface="Microsoft YaHei" pitchFamily="34" charset="0"/>
                <a:ea typeface="Microsoft YaHei" pitchFamily="34" charset="-122"/>
                <a:cs typeface="Microsoft YaHei" pitchFamily="34" charset="-120"/>
              </a:rPr>
              <a:t>↓</a:t>
            </a:r>
            <a:endParaRPr lang="en-US" sz="2600" dirty="0"/>
          </a:p>
        </p:txBody>
      </p:sp>
      <p:sp>
        <p:nvSpPr>
          <p:cNvPr id="31" name="Text 29"/>
          <p:cNvSpPr txBox="1"/>
          <p:nvPr/>
        </p:nvSpPr>
        <p:spPr>
          <a:xfrm>
            <a:off x="6217920" y="3794760"/>
            <a:ext cx="112471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数据广度</a:t>
            </a:r>
            <a:endParaRPr lang="en-US" sz="1100" dirty="0"/>
          </a:p>
        </p:txBody>
      </p:sp>
      <p:sp>
        <p:nvSpPr>
          <p:cNvPr id="32" name="Shape 30"/>
          <p:cNvSpPr/>
          <p:nvPr/>
        </p:nvSpPr>
        <p:spPr>
          <a:xfrm>
            <a:off x="7452360" y="3200400"/>
            <a:ext cx="1124712" cy="1078992"/>
          </a:xfrm>
          <a:prstGeom prst="roundRect">
            <a:avLst>
              <a:gd name="adj" fmla="val 8475"/>
            </a:avLst>
          </a:prstGeom>
          <a:solidFill>
            <a:srgbClr val="2B2B2B"/>
          </a:solidFill>
          <a:ln/>
        </p:spPr>
      </p:sp>
      <p:sp>
        <p:nvSpPr>
          <p:cNvPr id="33" name="Text 31"/>
          <p:cNvSpPr txBox="1"/>
          <p:nvPr/>
        </p:nvSpPr>
        <p:spPr>
          <a:xfrm>
            <a:off x="7452360" y="3227832"/>
            <a:ext cx="1124712" cy="548640"/>
          </a:xfrm>
          <a:prstGeom prst="rect">
            <a:avLst/>
          </a:prstGeom>
          <a:noFill/>
          <a:ln/>
        </p:spPr>
        <p:txBody>
          <a:bodyPr wrap="square" lIns="0" tIns="0" rIns="0" bIns="0" rtlCol="0" anchor="ctr"/>
          <a:lstStyle/>
          <a:p>
            <a:pPr algn="ctr" indent="0" marL="0">
              <a:buNone/>
            </a:pPr>
            <a:r>
              <a:rPr lang="en-US" sz="2600" b="1" dirty="0">
                <a:solidFill>
                  <a:srgbClr val="D9D4FF"/>
                </a:solidFill>
                <a:latin typeface="Microsoft YaHei" pitchFamily="34" charset="0"/>
                <a:ea typeface="Microsoft YaHei" pitchFamily="34" charset="-122"/>
                <a:cs typeface="Microsoft YaHei" pitchFamily="34" charset="-120"/>
              </a:rPr>
              <a:t>↑</a:t>
            </a:r>
            <a:endParaRPr lang="en-US" sz="2600" dirty="0"/>
          </a:p>
        </p:txBody>
      </p:sp>
      <p:sp>
        <p:nvSpPr>
          <p:cNvPr id="34" name="Text 32"/>
          <p:cNvSpPr txBox="1"/>
          <p:nvPr/>
        </p:nvSpPr>
        <p:spPr>
          <a:xfrm>
            <a:off x="7452360" y="3794760"/>
            <a:ext cx="112471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Microsoft YaHei" pitchFamily="34" charset="0"/>
                <a:ea typeface="Microsoft YaHei" pitchFamily="34" charset="-122"/>
                <a:cs typeface="Microsoft YaHei" pitchFamily="34" charset="-120"/>
              </a:rPr>
              <a:t>数据直观度</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ctr"/>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 05</a:t>
            </a:r>
            <a:endParaRPr lang="en-US" sz="800" dirty="0"/>
          </a:p>
        </p:txBody>
      </p:sp>
      <p:sp>
        <p:nvSpPr>
          <p:cNvPr id="3" name="Text 1"/>
          <p:cNvSpPr txBox="1"/>
          <p:nvPr/>
        </p:nvSpPr>
        <p:spPr>
          <a:xfrm>
            <a:off x="411480" y="502920"/>
            <a:ext cx="8321040" cy="868680"/>
          </a:xfrm>
          <a:prstGeom prst="rect">
            <a:avLst/>
          </a:prstGeom>
          <a:noFill/>
          <a:ln/>
        </p:spPr>
        <p:txBody>
          <a:bodyPr wrap="square" lIns="0" tIns="0" rIns="0" bIns="0" rtlCol="0" anchor="ctr">
            <a:normAutofit/>
          </a:bodyPr>
          <a:lstStyle/>
          <a:p>
            <a:pPr indent="0" marL="0">
              <a:buNone/>
            </a:pPr>
            <a:r>
              <a:rPr lang="en-US" sz="4400" dirty="0">
                <a:solidFill>
                  <a:srgbClr val="111111"/>
                </a:solidFill>
                <a:latin typeface="Microsoft YaHei" pitchFamily="34" charset="0"/>
                <a:ea typeface="Microsoft YaHei" pitchFamily="34" charset="-122"/>
                <a:cs typeface="Microsoft YaHei" pitchFamily="34" charset="-120"/>
              </a:rPr>
              <a:t>材料信息转换</a:t>
            </a:r>
            <a:endParaRPr lang="en-US" sz="4400" dirty="0"/>
          </a:p>
        </p:txBody>
      </p:sp>
      <p:sp>
        <p:nvSpPr>
          <p:cNvPr id="4" name="Text 2"/>
          <p:cNvSpPr txBox="1"/>
          <p:nvPr/>
        </p:nvSpPr>
        <p:spPr>
          <a:xfrm>
            <a:off x="411480" y="1325880"/>
            <a:ext cx="5943600" cy="320040"/>
          </a:xfrm>
          <a:prstGeom prst="rect">
            <a:avLst/>
          </a:prstGeom>
          <a:noFill/>
          <a:ln/>
        </p:spPr>
        <p:txBody>
          <a:bodyPr wrap="square" lIns="0" tIns="0" rIns="0" bIns="0" rtlCol="0" anchor="ctr"/>
          <a:lstStyle/>
          <a:p>
            <a:pPr indent="0" marL="0">
              <a:buNone/>
            </a:pPr>
            <a:r>
              <a:rPr lang="en-US" sz="1400" dirty="0">
                <a:solidFill>
                  <a:srgbClr val="6B6B6B"/>
                </a:solidFill>
                <a:latin typeface="Arial" pitchFamily="34" charset="0"/>
                <a:ea typeface="Arial" pitchFamily="34" charset="-122"/>
                <a:cs typeface="Arial" pitchFamily="34" charset="-120"/>
              </a:rPr>
              <a:t>Materials Information Conversion</a:t>
            </a:r>
            <a:endParaRPr lang="en-US" sz="1400" dirty="0"/>
          </a:p>
        </p:txBody>
      </p:sp>
      <p:sp>
        <p:nvSpPr>
          <p:cNvPr id="5" name="Shape 3"/>
          <p:cNvSpPr/>
          <p:nvPr/>
        </p:nvSpPr>
        <p:spPr>
          <a:xfrm>
            <a:off x="411480" y="2011680"/>
            <a:ext cx="457200" cy="457200"/>
          </a:xfrm>
          <a:prstGeom prst="rect">
            <a:avLst/>
          </a:prstGeom>
          <a:solidFill>
            <a:srgbClr val="C9F5C0"/>
          </a:solidFill>
          <a:ln/>
        </p:spPr>
      </p:sp>
      <p:sp>
        <p:nvSpPr>
          <p:cNvPr id="6" name="Text 4"/>
          <p:cNvSpPr txBox="1"/>
          <p:nvPr/>
        </p:nvSpPr>
        <p:spPr>
          <a:xfrm>
            <a:off x="411480" y="201168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1</a:t>
            </a:r>
            <a:endParaRPr lang="en-US" sz="1500" dirty="0"/>
          </a:p>
        </p:txBody>
      </p:sp>
      <p:sp>
        <p:nvSpPr>
          <p:cNvPr id="7" name="Shape 5"/>
          <p:cNvSpPr/>
          <p:nvPr/>
        </p:nvSpPr>
        <p:spPr>
          <a:xfrm>
            <a:off x="941832" y="2011680"/>
            <a:ext cx="4343400" cy="457200"/>
          </a:xfrm>
          <a:prstGeom prst="rect">
            <a:avLst/>
          </a:prstGeom>
          <a:solidFill>
            <a:srgbClr val="F4F4F4"/>
          </a:solidFill>
          <a:ln/>
        </p:spPr>
      </p:sp>
      <p:sp>
        <p:nvSpPr>
          <p:cNvPr id="8" name="Text 6"/>
          <p:cNvSpPr txBox="1"/>
          <p:nvPr/>
        </p:nvSpPr>
        <p:spPr>
          <a:xfrm>
            <a:off x="1097280" y="201168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基于材料信息多属性决策的材料信息转换</a:t>
            </a:r>
            <a:endParaRPr lang="en-US" sz="1350" dirty="0"/>
          </a:p>
        </p:txBody>
      </p:sp>
      <p:sp>
        <p:nvSpPr>
          <p:cNvPr id="9" name="Shape 7"/>
          <p:cNvSpPr/>
          <p:nvPr/>
        </p:nvSpPr>
        <p:spPr>
          <a:xfrm>
            <a:off x="411480" y="2560320"/>
            <a:ext cx="457200" cy="457200"/>
          </a:xfrm>
          <a:prstGeom prst="rect">
            <a:avLst/>
          </a:prstGeom>
          <a:solidFill>
            <a:srgbClr val="C7F8FB"/>
          </a:solidFill>
          <a:ln/>
        </p:spPr>
      </p:sp>
      <p:sp>
        <p:nvSpPr>
          <p:cNvPr id="10" name="Text 8"/>
          <p:cNvSpPr txBox="1"/>
          <p:nvPr/>
        </p:nvSpPr>
        <p:spPr>
          <a:xfrm>
            <a:off x="411480" y="256032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2</a:t>
            </a:r>
            <a:endParaRPr lang="en-US" sz="1500" dirty="0"/>
          </a:p>
        </p:txBody>
      </p:sp>
      <p:sp>
        <p:nvSpPr>
          <p:cNvPr id="11" name="Shape 9"/>
          <p:cNvSpPr/>
          <p:nvPr/>
        </p:nvSpPr>
        <p:spPr>
          <a:xfrm>
            <a:off x="941832" y="2560320"/>
            <a:ext cx="4343400" cy="457200"/>
          </a:xfrm>
          <a:prstGeom prst="rect">
            <a:avLst/>
          </a:prstGeom>
          <a:solidFill>
            <a:srgbClr val="F4F4F4"/>
          </a:solidFill>
          <a:ln/>
        </p:spPr>
      </p:sp>
      <p:sp>
        <p:nvSpPr>
          <p:cNvPr id="12" name="Text 10"/>
          <p:cNvSpPr txBox="1"/>
          <p:nvPr/>
        </p:nvSpPr>
        <p:spPr>
          <a:xfrm>
            <a:off x="1097280" y="256032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Microsoft YaHei" pitchFamily="34" charset="0"/>
                <a:ea typeface="Microsoft YaHei" pitchFamily="34" charset="-122"/>
                <a:cs typeface="Microsoft YaHei" pitchFamily="34" charset="-120"/>
              </a:rPr>
              <a:t>基于语义差异法的材料信息转换</a:t>
            </a:r>
            <a:endParaRPr lang="en-US" sz="1350" dirty="0"/>
          </a:p>
        </p:txBody>
      </p:sp>
      <p:sp>
        <p:nvSpPr>
          <p:cNvPr id="13" name="Shape 11"/>
          <p:cNvSpPr/>
          <p:nvPr/>
        </p:nvSpPr>
        <p:spPr>
          <a:xfrm>
            <a:off x="411480" y="3108960"/>
            <a:ext cx="457200" cy="457200"/>
          </a:xfrm>
          <a:prstGeom prst="rect">
            <a:avLst/>
          </a:prstGeom>
          <a:solidFill>
            <a:srgbClr val="E4FF97"/>
          </a:solidFill>
          <a:ln/>
        </p:spPr>
      </p:sp>
      <p:sp>
        <p:nvSpPr>
          <p:cNvPr id="14" name="Text 12"/>
          <p:cNvSpPr txBox="1"/>
          <p:nvPr/>
        </p:nvSpPr>
        <p:spPr>
          <a:xfrm>
            <a:off x="411480" y="3108960"/>
            <a:ext cx="457200" cy="457200"/>
          </a:xfrm>
          <a:prstGeom prst="rect">
            <a:avLst/>
          </a:prstGeom>
          <a:noFill/>
          <a:ln/>
        </p:spPr>
        <p:txBody>
          <a:bodyPr wrap="square" lIns="0" tIns="0" rIns="0" bIns="0" rtlCol="0" anchor="ctr"/>
          <a:lstStyle/>
          <a:p>
            <a:pPr algn="ctr" indent="0" marL="0">
              <a:buNone/>
            </a:pPr>
            <a:r>
              <a:rPr lang="en-US" sz="1500" dirty="0">
                <a:solidFill>
                  <a:srgbClr val="111111"/>
                </a:solidFill>
                <a:latin typeface="Arial" pitchFamily="34" charset="0"/>
                <a:ea typeface="Arial" pitchFamily="34" charset="-122"/>
                <a:cs typeface="Arial" pitchFamily="34" charset="-120"/>
              </a:rPr>
              <a:t>3</a:t>
            </a:r>
            <a:endParaRPr lang="en-US" sz="1500" dirty="0"/>
          </a:p>
        </p:txBody>
      </p:sp>
      <p:sp>
        <p:nvSpPr>
          <p:cNvPr id="15" name="Shape 13"/>
          <p:cNvSpPr/>
          <p:nvPr/>
        </p:nvSpPr>
        <p:spPr>
          <a:xfrm>
            <a:off x="941832" y="3108960"/>
            <a:ext cx="4343400" cy="457200"/>
          </a:xfrm>
          <a:prstGeom prst="rect">
            <a:avLst/>
          </a:prstGeom>
          <a:solidFill>
            <a:srgbClr val="F4F4F4"/>
          </a:solidFill>
          <a:ln/>
        </p:spPr>
      </p:sp>
      <p:sp>
        <p:nvSpPr>
          <p:cNvPr id="16" name="Text 14"/>
          <p:cNvSpPr txBox="1"/>
          <p:nvPr/>
        </p:nvSpPr>
        <p:spPr>
          <a:xfrm>
            <a:off x="1097280" y="3108960"/>
            <a:ext cx="4114800" cy="457200"/>
          </a:xfrm>
          <a:prstGeom prst="rect">
            <a:avLst/>
          </a:prstGeom>
          <a:noFill/>
          <a:ln/>
        </p:spPr>
        <p:txBody>
          <a:bodyPr wrap="square" lIns="0" tIns="0" rIns="0" bIns="0" rtlCol="0" anchor="ctr">
            <a:normAutofit/>
          </a:bodyPr>
          <a:lstStyle/>
          <a:p>
            <a:pPr indent="0" marL="0">
              <a:buNone/>
            </a:pPr>
            <a:r>
              <a:rPr lang="en-US" sz="1350" dirty="0">
                <a:solidFill>
                  <a:srgbClr val="111111"/>
                </a:solidFill>
                <a:latin typeface="Arial" pitchFamily="34" charset="0"/>
                <a:ea typeface="Arial" pitchFamily="34" charset="-122"/>
                <a:cs typeface="Arial" pitchFamily="34" charset="-120"/>
              </a:rPr>
              <a:t>MDD \ MOM \ DdMIM</a:t>
            </a:r>
            <a:endParaRPr lang="en-US" sz="1350" dirty="0"/>
          </a:p>
        </p:txBody>
      </p:sp>
      <p:sp>
        <p:nvSpPr>
          <p:cNvPr id="17" name="Shape 15"/>
          <p:cNvSpPr/>
          <p:nvPr/>
        </p:nvSpPr>
        <p:spPr>
          <a:xfrm>
            <a:off x="411480" y="4818888"/>
            <a:ext cx="77724" cy="77724"/>
          </a:xfrm>
          <a:prstGeom prst="ellipse">
            <a:avLst/>
          </a:prstGeom>
          <a:solidFill>
            <a:srgbClr val="4D49FC"/>
          </a:solidFill>
          <a:ln/>
        </p:spPr>
      </p:sp>
      <p:sp>
        <p:nvSpPr>
          <p:cNvPr id="18" name="Shape 16"/>
          <p:cNvSpPr/>
          <p:nvPr/>
        </p:nvSpPr>
        <p:spPr>
          <a:xfrm>
            <a:off x="507492" y="4818888"/>
            <a:ext cx="77724" cy="77724"/>
          </a:xfrm>
          <a:prstGeom prst="ellipse">
            <a:avLst/>
          </a:prstGeom>
          <a:solidFill>
            <a:srgbClr val="4D49FC"/>
          </a:solidFill>
          <a:ln/>
        </p:spPr>
      </p:sp>
      <p:sp>
        <p:nvSpPr>
          <p:cNvPr id="19" name="Shape 17"/>
          <p:cNvSpPr/>
          <p:nvPr/>
        </p:nvSpPr>
        <p:spPr>
          <a:xfrm>
            <a:off x="411480" y="4914900"/>
            <a:ext cx="77724" cy="77724"/>
          </a:xfrm>
          <a:prstGeom prst="ellipse">
            <a:avLst/>
          </a:prstGeom>
          <a:solidFill>
            <a:srgbClr val="4D49FC"/>
          </a:solidFill>
          <a:ln/>
        </p:spPr>
      </p:sp>
      <p:sp>
        <p:nvSpPr>
          <p:cNvPr id="20" name="Shape 18"/>
          <p:cNvSpPr/>
          <p:nvPr/>
        </p:nvSpPr>
        <p:spPr>
          <a:xfrm>
            <a:off x="507492" y="4914900"/>
            <a:ext cx="77724" cy="77724"/>
          </a:xfrm>
          <a:prstGeom prst="ellipse">
            <a:avLst/>
          </a:prstGeom>
          <a:solidFill>
            <a:srgbClr val="4D49FC"/>
          </a:solidFill>
          <a:ln/>
        </p:spPr>
      </p:sp>
      <p:sp>
        <p:nvSpPr>
          <p:cNvPr id="21" name="Text 19"/>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22" name="Text 20"/>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34</a:t>
            </a:r>
            <a:endParaRPr lang="en-US" sz="750" dirty="0"/>
          </a:p>
        </p:txBody>
      </p:sp>
      <p:pic>
        <p:nvPicPr>
          <p:cNvPr id="23" name="Image 0" descr="decorative collage">    </p:cNvPr>
          <p:cNvPicPr>
            <a:picLocks noChangeAspect="1"/>
          </p:cNvPicPr>
          <p:nvPr/>
        </p:nvPicPr>
        <p:blipFill>
          <a:blip r:embed="rId1"/>
          <a:stretch>
            <a:fillRect/>
          </a:stretch>
        </p:blipFill>
        <p:spPr>
          <a:xfrm>
            <a:off x="5740909" y="1783080"/>
            <a:ext cx="2991611" cy="292608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基于材料信息多属性决策的材料信息转换</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Decision Making Tools for Optimal Material Selection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35</a:t>
            </a:r>
            <a:endParaRPr lang="en-US" sz="750" dirty="0"/>
          </a:p>
        </p:txBody>
      </p:sp>
      <p:sp>
        <p:nvSpPr>
          <p:cNvPr id="11" name="Shape 9"/>
          <p:cNvSpPr/>
          <p:nvPr/>
        </p:nvSpPr>
        <p:spPr>
          <a:xfrm>
            <a:off x="411480" y="1188720"/>
            <a:ext cx="2377440" cy="3108960"/>
          </a:xfrm>
          <a:prstGeom prst="roundRect">
            <a:avLst>
              <a:gd name="adj" fmla="val 3846"/>
            </a:avLst>
          </a:prstGeom>
          <a:solidFill>
            <a:srgbClr val="C9F5C0"/>
          </a:solidFill>
          <a:ln/>
        </p:spPr>
      </p:sp>
      <p:sp>
        <p:nvSpPr>
          <p:cNvPr id="12" name="Text 10"/>
          <p:cNvSpPr txBox="1"/>
          <p:nvPr/>
        </p:nvSpPr>
        <p:spPr>
          <a:xfrm>
            <a:off x="640080" y="1371600"/>
            <a:ext cx="2011680" cy="1463040"/>
          </a:xfrm>
          <a:prstGeom prst="rect">
            <a:avLst/>
          </a:prstGeom>
          <a:noFill/>
          <a:ln/>
        </p:spPr>
        <p:txBody>
          <a:bodyPr wrap="square" lIns="0" tIns="0" rIns="0" bIns="0" rtlCol="0" anchor="t"/>
          <a:lstStyle/>
          <a:p>
            <a:pPr indent="0" marL="0">
              <a:lnSpc>
                <a:spcPct val="95000"/>
              </a:lnSpc>
              <a:buNone/>
            </a:pPr>
            <a:r>
              <a:rPr lang="en-US" sz="2400" b="1" dirty="0">
                <a:solidFill>
                  <a:srgbClr val="111111"/>
                </a:solidFill>
                <a:latin typeface="Arial" pitchFamily="34" charset="0"/>
                <a:ea typeface="Arial" pitchFamily="34" charset="-122"/>
                <a:cs typeface="Arial" pitchFamily="34" charset="-120"/>
              </a:rPr>
              <a:t>Decision</a:t>
            </a:r>
            <a:endParaRPr lang="en-US" sz="2400" dirty="0"/>
          </a:p>
          <a:p>
            <a:pPr indent="0" marL="0">
              <a:lnSpc>
                <a:spcPct val="95000"/>
              </a:lnSpc>
              <a:buNone/>
            </a:pPr>
            <a:r>
              <a:rPr lang="en-US" sz="2400" b="1" dirty="0">
                <a:solidFill>
                  <a:srgbClr val="111111"/>
                </a:solidFill>
                <a:latin typeface="Arial" pitchFamily="34" charset="0"/>
                <a:ea typeface="Arial" pitchFamily="34" charset="-122"/>
                <a:cs typeface="Arial" pitchFamily="34" charset="-120"/>
              </a:rPr>
              <a:t>Making</a:t>
            </a:r>
            <a:endParaRPr lang="en-US" sz="2400" dirty="0"/>
          </a:p>
          <a:p>
            <a:pPr indent="0" marL="0">
              <a:lnSpc>
                <a:spcPct val="95000"/>
              </a:lnSpc>
              <a:buNone/>
            </a:pPr>
            <a:r>
              <a:rPr lang="en-US" sz="2400" b="1" dirty="0">
                <a:solidFill>
                  <a:srgbClr val="111111"/>
                </a:solidFill>
                <a:latin typeface="Arial" pitchFamily="34" charset="0"/>
                <a:ea typeface="Arial" pitchFamily="34" charset="-122"/>
                <a:cs typeface="Arial" pitchFamily="34" charset="-120"/>
              </a:rPr>
              <a:t>Tools</a:t>
            </a:r>
            <a:endParaRPr lang="en-US" sz="2400" dirty="0"/>
          </a:p>
        </p:txBody>
      </p:sp>
      <p:sp>
        <p:nvSpPr>
          <p:cNvPr id="13" name="Shape 11"/>
          <p:cNvSpPr/>
          <p:nvPr/>
        </p:nvSpPr>
        <p:spPr>
          <a:xfrm>
            <a:off x="2898648" y="1188720"/>
            <a:ext cx="5833872" cy="3108960"/>
          </a:xfrm>
          <a:prstGeom prst="roundRect">
            <a:avLst>
              <a:gd name="adj" fmla="val 2941"/>
            </a:avLst>
          </a:prstGeom>
          <a:solidFill>
            <a:srgbClr val="FFFFFF"/>
          </a:solidFill>
          <a:ln w="9525">
            <a:solidFill>
              <a:srgbClr val="D0D0D0"/>
            </a:solidFill>
            <a:prstDash val="solid"/>
          </a:ln>
        </p:spPr>
      </p:sp>
      <p:pic>
        <p:nvPicPr>
          <p:cNvPr id="14" name="Image 0" descr="p33_0">    </p:cNvPr>
          <p:cNvPicPr>
            <a:picLocks noChangeAspect="1"/>
          </p:cNvPicPr>
          <p:nvPr/>
        </p:nvPicPr>
        <p:blipFill>
          <a:blip r:embed="rId1"/>
          <a:stretch>
            <a:fillRect/>
          </a:stretch>
        </p:blipFill>
        <p:spPr>
          <a:xfrm>
            <a:off x="3498661" y="1280160"/>
            <a:ext cx="4633847" cy="2926080"/>
          </a:xfrm>
          <a:prstGeom prst="rect">
            <a:avLst/>
          </a:prstGeom>
        </p:spPr>
      </p:pic>
      <p:sp>
        <p:nvSpPr>
          <p:cNvPr id="15" name="Text 12"/>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Zindani D, Maity S R, Bhowmik S. Decision Making Tools for Optimal Material Selection: A Review[J]. Journal of Central South University, 2020, 27(3): 629−673.</a:t>
            </a:r>
            <a:endParaRPr lang="en-US" sz="7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基于语义差异法的材料信息转换</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Semantic Differential Method, SD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36</a:t>
            </a:r>
            <a:endParaRPr lang="en-US" sz="750" dirty="0"/>
          </a:p>
        </p:txBody>
      </p:sp>
      <p:sp>
        <p:nvSpPr>
          <p:cNvPr id="11" name="Shape 9"/>
          <p:cNvSpPr/>
          <p:nvPr/>
        </p:nvSpPr>
        <p:spPr>
          <a:xfrm>
            <a:off x="411480" y="1188720"/>
            <a:ext cx="2697480" cy="3108960"/>
          </a:xfrm>
          <a:prstGeom prst="roundRect">
            <a:avLst>
              <a:gd name="adj" fmla="val 4068"/>
            </a:avLst>
          </a:prstGeom>
          <a:solidFill>
            <a:srgbClr val="F4F4F4"/>
          </a:solidFill>
          <a:ln/>
        </p:spPr>
      </p:sp>
      <p:sp>
        <p:nvSpPr>
          <p:cNvPr id="12" name="Text 10"/>
          <p:cNvSpPr txBox="1"/>
          <p:nvPr/>
        </p:nvSpPr>
        <p:spPr>
          <a:xfrm>
            <a:off x="640080" y="1325880"/>
            <a:ext cx="2286000" cy="822960"/>
          </a:xfrm>
          <a:prstGeom prst="rect">
            <a:avLst/>
          </a:prstGeom>
          <a:noFill/>
          <a:ln/>
        </p:spPr>
        <p:txBody>
          <a:bodyPr wrap="square" lIns="0" tIns="0" rIns="0" bIns="0" rtlCol="0" anchor="t"/>
          <a:lstStyle/>
          <a:p>
            <a:pPr indent="0" marL="0">
              <a:buNone/>
            </a:pPr>
            <a:r>
              <a:rPr lang="en-US" sz="4800" b="1" dirty="0">
                <a:solidFill>
                  <a:srgbClr val="111111"/>
                </a:solidFill>
                <a:latin typeface="Arial" pitchFamily="34" charset="0"/>
                <a:ea typeface="Arial" pitchFamily="34" charset="-122"/>
                <a:cs typeface="Arial" pitchFamily="34" charset="-120"/>
              </a:rPr>
              <a:t>SD</a:t>
            </a:r>
            <a:endParaRPr lang="en-US" sz="4800" dirty="0"/>
          </a:p>
        </p:txBody>
      </p:sp>
      <p:sp>
        <p:nvSpPr>
          <p:cNvPr id="13" name="Shape 11"/>
          <p:cNvSpPr/>
          <p:nvPr/>
        </p:nvSpPr>
        <p:spPr>
          <a:xfrm>
            <a:off x="640080" y="2194560"/>
            <a:ext cx="365760" cy="54864"/>
          </a:xfrm>
          <a:prstGeom prst="rect">
            <a:avLst/>
          </a:prstGeom>
          <a:solidFill>
            <a:srgbClr val="C9F5C0"/>
          </a:solidFill>
          <a:ln/>
        </p:spPr>
      </p:sp>
      <p:sp>
        <p:nvSpPr>
          <p:cNvPr id="14" name="Text 12"/>
          <p:cNvSpPr txBox="1"/>
          <p:nvPr/>
        </p:nvSpPr>
        <p:spPr>
          <a:xfrm>
            <a:off x="640080" y="2377440"/>
            <a:ext cx="2331720" cy="1737360"/>
          </a:xfrm>
          <a:prstGeom prst="rect">
            <a:avLst/>
          </a:prstGeom>
          <a:noFill/>
          <a:ln/>
        </p:spPr>
        <p:txBody>
          <a:bodyPr wrap="square" lIns="0" tIns="0" rIns="0" bIns="0" rtlCol="0" anchor="t"/>
          <a:lstStyle/>
          <a:p>
            <a:pPr indent="0" marL="0">
              <a:lnSpc>
                <a:spcPct val="130000"/>
              </a:lnSpc>
              <a:buNone/>
            </a:pPr>
            <a:r>
              <a:rPr lang="en-US" sz="1200" b="1" dirty="0">
                <a:solidFill>
                  <a:srgbClr val="111111"/>
                </a:solidFill>
                <a:latin typeface="Microsoft YaHei" pitchFamily="34" charset="0"/>
                <a:ea typeface="Microsoft YaHei" pitchFamily="34" charset="-122"/>
                <a:cs typeface="Microsoft YaHei" pitchFamily="34" charset="-120"/>
              </a:rPr>
              <a:t>语义差异法</a:t>
            </a:r>
            <a:endParaRPr lang="en-US" sz="1200" dirty="0"/>
          </a:p>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（Semantic Differential Method, SD）</a:t>
            </a:r>
            <a:endParaRPr lang="en-US" sz="1200" dirty="0"/>
          </a:p>
          <a:p>
            <a:pPr indent="0" marL="0">
              <a:lnSpc>
                <a:spcPct val="130000"/>
              </a:lnSpc>
              <a:buNone/>
            </a:pPr>
            <a:r>
              <a:rPr lang="en-US" sz="1200" b="1" dirty="0">
                <a:solidFill>
                  <a:srgbClr val="111111"/>
                </a:solidFill>
                <a:latin typeface="Microsoft YaHei" pitchFamily="34" charset="0"/>
                <a:ea typeface="Microsoft YaHei" pitchFamily="34" charset="-122"/>
                <a:cs typeface="Microsoft YaHei" pitchFamily="34" charset="-120"/>
              </a:rPr>
              <a:t>语义差异量表</a:t>
            </a:r>
            <a:endParaRPr lang="en-US" sz="1200" dirty="0"/>
          </a:p>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（Semantic Differential Scale）</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246120" y="1188720"/>
          <a:ext cx="5486400" cy="914400"/>
        </p:xfrm>
        <a:graphic>
          <a:graphicData uri="http://schemas.openxmlformats.org/drawingml/2006/table">
            <a:tbl>
              <a:tblPr/>
              <a:tblGrid>
                <a:gridCol w="1234440"/>
                <a:gridCol w="429768"/>
                <a:gridCol w="429768"/>
                <a:gridCol w="429768"/>
                <a:gridCol w="429768"/>
                <a:gridCol w="429768"/>
                <a:gridCol w="429768"/>
                <a:gridCol w="429768"/>
                <a:gridCol w="1243584"/>
              </a:tblGrid>
              <a:tr h="438912">
                <a:tc rowSpan="2">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形容词 1</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C9F5C0"/>
                    </a:solidFill>
                  </a:tcPr>
                </a:tc>
                <a:tc gridSpan="7">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量表分值</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C9F5C0"/>
                    </a:solidFill>
                  </a:tcPr>
                </a:tc>
                <a:tc hMerge="1">
                  <a:tcPr/>
                </a:tc>
                <a:tc hMerge="1">
                  <a:tcPr/>
                </a:tc>
                <a:tc hMerge="1">
                  <a:tcPr/>
                </a:tc>
                <a:tc hMerge="1">
                  <a:tcPr/>
                </a:tc>
                <a:tc hMerge="1">
                  <a:tcPr/>
                </a:tc>
                <a:tc hMerge="1">
                  <a:tcPr/>
                </a:tc>
                <a:tc rowSpan="2">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形容词 2</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C9F5C0"/>
                    </a:solidFill>
                  </a:tcPr>
                </a:tc>
              </a:tr>
              <a:tr h="438912">
                <a:tc vMerge="1">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a:txBody>
                    <a:bodyPr/>
                    <a:lstStyle/>
                    <a:p>
                      <a:pPr algn="ctr" indent="0" marL="0">
                        <a:buNone/>
                      </a:pPr>
                      <a:r>
                        <a:rPr lang="en-US" sz="1200" b="1" dirty="0">
                          <a:solidFill>
                            <a:srgbClr val="111111"/>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EBEBEB"/>
                    </a:solidFill>
                  </a:tcPr>
                </a:tc>
                <a:tc vMerge="1">
                  <a:tcPr/>
                </a:tc>
              </a:tr>
              <a:tr h="438912">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保守的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现代的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438912">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不友好的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友好的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r>
              <a:tr h="438912">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价格不合理</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价格合理</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r h="438912">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广告不吸引人</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广告吸引人</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4F4F4"/>
                    </a:solidFill>
                  </a:tcPr>
                </a:tc>
              </a:tr>
              <a:tr h="438912">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不成功的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111111"/>
                          </a:solidFill>
                          <a:latin typeface="Microsoft YaHei" pitchFamily="34" charset="0"/>
                          <a:ea typeface="Microsoft YaHei" pitchFamily="34" charset="-122"/>
                          <a:cs typeface="Microsoft YaHei" pitchFamily="34" charset="-120"/>
                        </a:rPr>
                        <a:t>成功的</a:t>
                      </a:r>
                      <a:endParaRPr lang="en-US" sz="1200" dirty="0">
                        <a:latin typeface="Microsoft YaHei" charset="0"/>
                        <a:ea typeface="Microsoft YaHei" charset="0"/>
                        <a:cs typeface="Microsoft YaHei" charset="0"/>
                      </a:endParaRPr>
                    </a:p>
                  </a:txBody>
                  <a:tcPr marL="91440" marR="91440" marT="45720" marB="45720" anchor="ctr">
                    <a:lnL w="9525" cap="flat" cmpd="sng" algn="ctr">
                      <a:solidFill>
                        <a:srgbClr val="D0D0D0"/>
                      </a:solidFill>
                      <a:prstDash val="solid"/>
                      <a:round/>
                      <a:headEnd type="none" w="med" len="med"/>
                      <a:tailEnd type="none" w="med" len="med"/>
                    </a:lnL>
                    <a:lnR w="9525" cap="flat" cmpd="sng" algn="ctr">
                      <a:solidFill>
                        <a:srgbClr val="D0D0D0"/>
                      </a:solidFill>
                      <a:prstDash val="solid"/>
                      <a:round/>
                      <a:headEnd type="none" w="med" len="med"/>
                      <a:tailEnd type="none" w="med" len="med"/>
                    </a:lnR>
                    <a:lnT w="9525" cap="flat" cmpd="sng" algn="ctr">
                      <a:solidFill>
                        <a:srgbClr val="D0D0D0"/>
                      </a:solidFill>
                      <a:prstDash val="solid"/>
                      <a:round/>
                      <a:headEnd type="none" w="med" len="med"/>
                      <a:tailEnd type="none" w="med" len="med"/>
                    </a:lnT>
                    <a:lnB w="9525" cap="flat" cmpd="sng" algn="ctr">
                      <a:solidFill>
                        <a:srgbClr val="D0D0D0"/>
                      </a:solidFill>
                      <a:prstDash val="solid"/>
                      <a:round/>
                      <a:headEnd type="none" w="med" len="med"/>
                      <a:tailEnd type="none" w="med" len="med"/>
                    </a:lnB>
                    <a:solidFill>
                      <a:srgbClr val="FFFFFF"/>
                    </a:solidFill>
                  </a:tcPr>
                </a:tc>
              </a:tr>
            </a:tbl>
          </a:graphicData>
        </a:graphic>
      </p:graphicFrame>
      <p:sp>
        <p:nvSpPr>
          <p:cNvPr id="16" name="Text 13"/>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https://www.mianfeiwendang.com/doc/bb66b98ac188ca96a41ebeda/10</a:t>
            </a:r>
            <a:endParaRPr lang="en-US" sz="7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Material Driven Design, MDD</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MDD \ MOM \ DdMIM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37</a:t>
            </a:r>
            <a:endParaRPr lang="en-US" sz="750" dirty="0"/>
          </a:p>
        </p:txBody>
      </p:sp>
      <p:sp>
        <p:nvSpPr>
          <p:cNvPr id="11" name="Shape 9"/>
          <p:cNvSpPr/>
          <p:nvPr/>
        </p:nvSpPr>
        <p:spPr>
          <a:xfrm>
            <a:off x="411480" y="1188720"/>
            <a:ext cx="3657600" cy="3108960"/>
          </a:xfrm>
          <a:prstGeom prst="roundRect">
            <a:avLst>
              <a:gd name="adj" fmla="val 2941"/>
            </a:avLst>
          </a:prstGeom>
          <a:solidFill>
            <a:srgbClr val="C9F5C0"/>
          </a:solidFill>
          <a:ln/>
        </p:spPr>
      </p:sp>
      <p:sp>
        <p:nvSpPr>
          <p:cNvPr id="12" name="Text 10"/>
          <p:cNvSpPr txBox="1"/>
          <p:nvPr/>
        </p:nvSpPr>
        <p:spPr>
          <a:xfrm>
            <a:off x="685800" y="1325880"/>
            <a:ext cx="3200400" cy="1097280"/>
          </a:xfrm>
          <a:prstGeom prst="rect">
            <a:avLst/>
          </a:prstGeom>
          <a:noFill/>
          <a:ln/>
        </p:spPr>
        <p:txBody>
          <a:bodyPr wrap="square" lIns="0" tIns="0" rIns="0" bIns="0" rtlCol="0" anchor="ctr"/>
          <a:lstStyle/>
          <a:p>
            <a:pPr indent="0" marL="0">
              <a:buNone/>
            </a:pPr>
            <a:r>
              <a:rPr lang="en-US" sz="6000" b="1" dirty="0">
                <a:solidFill>
                  <a:srgbClr val="111111"/>
                </a:solidFill>
                <a:latin typeface="Arial" pitchFamily="34" charset="0"/>
                <a:ea typeface="Arial" pitchFamily="34" charset="-122"/>
                <a:cs typeface="Arial" pitchFamily="34" charset="-120"/>
              </a:rPr>
              <a:t>MDD</a:t>
            </a:r>
            <a:endParaRPr lang="en-US" sz="6000" dirty="0"/>
          </a:p>
        </p:txBody>
      </p:sp>
      <p:sp>
        <p:nvSpPr>
          <p:cNvPr id="13" name="Text 11"/>
          <p:cNvSpPr txBox="1"/>
          <p:nvPr/>
        </p:nvSpPr>
        <p:spPr>
          <a:xfrm>
            <a:off x="685800" y="3474720"/>
            <a:ext cx="3200400" cy="548640"/>
          </a:xfrm>
          <a:prstGeom prst="rect">
            <a:avLst/>
          </a:prstGeom>
          <a:noFill/>
          <a:ln/>
        </p:spPr>
        <p:txBody>
          <a:bodyPr wrap="square" lIns="0" tIns="0" rIns="0" bIns="0" rtlCol="0" anchor="b"/>
          <a:lstStyle/>
          <a:p>
            <a:pPr indent="0" marL="0">
              <a:buNone/>
            </a:pPr>
            <a:r>
              <a:rPr lang="en-US" sz="1700" dirty="0">
                <a:solidFill>
                  <a:srgbClr val="111111"/>
                </a:solidFill>
                <a:latin typeface="Arial" pitchFamily="34" charset="0"/>
                <a:ea typeface="Arial" pitchFamily="34" charset="-122"/>
                <a:cs typeface="Arial" pitchFamily="34" charset="-120"/>
              </a:rPr>
              <a:t>Material Driven Design</a:t>
            </a:r>
            <a:endParaRPr lang="en-US" sz="1700" dirty="0"/>
          </a:p>
        </p:txBody>
      </p:sp>
      <p:sp>
        <p:nvSpPr>
          <p:cNvPr id="14" name="Shape 12"/>
          <p:cNvSpPr/>
          <p:nvPr/>
        </p:nvSpPr>
        <p:spPr>
          <a:xfrm>
            <a:off x="4178808" y="1188720"/>
            <a:ext cx="4553712" cy="3108960"/>
          </a:xfrm>
          <a:prstGeom prst="roundRect">
            <a:avLst>
              <a:gd name="adj" fmla="val 2941"/>
            </a:avLst>
          </a:prstGeom>
          <a:solidFill>
            <a:srgbClr val="FFFFFF"/>
          </a:solidFill>
          <a:ln w="9525">
            <a:solidFill>
              <a:srgbClr val="D0D0D0"/>
            </a:solidFill>
            <a:prstDash val="solid"/>
          </a:ln>
        </p:spPr>
      </p:sp>
      <p:pic>
        <p:nvPicPr>
          <p:cNvPr id="15" name="Image 0" descr="p35_0">    </p:cNvPr>
          <p:cNvPicPr>
            <a:picLocks noChangeAspect="1"/>
          </p:cNvPicPr>
          <p:nvPr/>
        </p:nvPicPr>
        <p:blipFill>
          <a:blip r:embed="rId1"/>
          <a:stretch>
            <a:fillRect/>
          </a:stretch>
        </p:blipFill>
        <p:spPr>
          <a:xfrm>
            <a:off x="5095379" y="1280160"/>
            <a:ext cx="2720569" cy="2926080"/>
          </a:xfrm>
          <a:prstGeom prst="rect">
            <a:avLst/>
          </a:prstGeom>
        </p:spPr>
      </p:pic>
      <p:sp>
        <p:nvSpPr>
          <p:cNvPr id="16" name="Text 13"/>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Karana E, Barati B, Rognoli V, et al. Material driven design (MDD): A method to design for material experiences[J]. International Journal of Design, 2015, 9(2): 35–54.</a:t>
            </a:r>
            <a:endParaRPr lang="en-US" sz="7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Arial" pitchFamily="34" charset="0"/>
                <a:ea typeface="Arial" pitchFamily="34" charset="-122"/>
                <a:cs typeface="Arial" pitchFamily="34" charset="-120"/>
              </a:rPr>
              <a:t>Meaning of Materials, MoM</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MDD \ MOM \ DdMIM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38</a:t>
            </a:r>
            <a:endParaRPr lang="en-US" sz="750" dirty="0"/>
          </a:p>
        </p:txBody>
      </p:sp>
      <p:sp>
        <p:nvSpPr>
          <p:cNvPr id="11" name="Shape 9"/>
          <p:cNvSpPr/>
          <p:nvPr/>
        </p:nvSpPr>
        <p:spPr>
          <a:xfrm>
            <a:off x="411480" y="1188720"/>
            <a:ext cx="3749040" cy="3108960"/>
          </a:xfrm>
          <a:prstGeom prst="roundRect">
            <a:avLst>
              <a:gd name="adj" fmla="val 2941"/>
            </a:avLst>
          </a:prstGeom>
          <a:solidFill>
            <a:srgbClr val="F4F4F4"/>
          </a:solidFill>
          <a:ln/>
        </p:spPr>
      </p:sp>
      <p:pic>
        <p:nvPicPr>
          <p:cNvPr id="12" name="Image 0" descr="p36_1">    </p:cNvPr>
          <p:cNvPicPr>
            <a:picLocks noChangeAspect="1"/>
          </p:cNvPicPr>
          <p:nvPr/>
        </p:nvPicPr>
        <p:blipFill>
          <a:blip r:embed="rId1"/>
          <a:stretch>
            <a:fillRect/>
          </a:stretch>
        </p:blipFill>
        <p:spPr>
          <a:xfrm>
            <a:off x="502920" y="1770611"/>
            <a:ext cx="3566160" cy="1945178"/>
          </a:xfrm>
          <a:prstGeom prst="rect">
            <a:avLst/>
          </a:prstGeom>
        </p:spPr>
      </p:pic>
      <p:sp>
        <p:nvSpPr>
          <p:cNvPr id="13" name="Shape 10"/>
          <p:cNvSpPr/>
          <p:nvPr/>
        </p:nvSpPr>
        <p:spPr>
          <a:xfrm>
            <a:off x="4270248" y="1188720"/>
            <a:ext cx="4462272" cy="3108960"/>
          </a:xfrm>
          <a:prstGeom prst="roundRect">
            <a:avLst>
              <a:gd name="adj" fmla="val 2941"/>
            </a:avLst>
          </a:prstGeom>
          <a:solidFill>
            <a:srgbClr val="111111"/>
          </a:solidFill>
          <a:ln/>
        </p:spPr>
      </p:sp>
      <p:sp>
        <p:nvSpPr>
          <p:cNvPr id="14" name="Shape 11"/>
          <p:cNvSpPr/>
          <p:nvPr/>
        </p:nvSpPr>
        <p:spPr>
          <a:xfrm>
            <a:off x="4361688" y="1280160"/>
            <a:ext cx="4279392" cy="2926080"/>
          </a:xfrm>
          <a:prstGeom prst="roundRect">
            <a:avLst>
              <a:gd name="adj" fmla="val 3125"/>
            </a:avLst>
          </a:prstGeom>
          <a:solidFill>
            <a:srgbClr val="FFFFFF"/>
          </a:solidFill>
          <a:ln/>
        </p:spPr>
      </p:sp>
      <p:pic>
        <p:nvPicPr>
          <p:cNvPr id="15" name="Image 1" descr="p36_0">    </p:cNvPr>
          <p:cNvPicPr>
            <a:picLocks noChangeAspect="1"/>
          </p:cNvPicPr>
          <p:nvPr/>
        </p:nvPicPr>
        <p:blipFill>
          <a:blip r:embed="rId2"/>
          <a:stretch>
            <a:fillRect/>
          </a:stretch>
        </p:blipFill>
        <p:spPr>
          <a:xfrm>
            <a:off x="4407408" y="1674656"/>
            <a:ext cx="4187952" cy="2137087"/>
          </a:xfrm>
          <a:prstGeom prst="rect">
            <a:avLst/>
          </a:prstGeom>
        </p:spPr>
      </p:pic>
      <p:sp>
        <p:nvSpPr>
          <p:cNvPr id="16" name="Text 12"/>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Karana E, Hekkert P, Kandachar P. A tool for meaning driven materials selection[J]. Materials and Design, 2010, 31(6): 2932–2941.</a:t>
            </a:r>
            <a:endParaRPr lang="en-US" sz="7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Meaning of Materials, MoM（主观体验赋值）</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MDD \ MOM \ DdMIM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39</a:t>
            </a:r>
            <a:endParaRPr lang="en-US" sz="750" dirty="0"/>
          </a:p>
        </p:txBody>
      </p:sp>
      <p:sp>
        <p:nvSpPr>
          <p:cNvPr id="11" name="Shape 9"/>
          <p:cNvSpPr/>
          <p:nvPr/>
        </p:nvSpPr>
        <p:spPr>
          <a:xfrm>
            <a:off x="411480" y="1188720"/>
            <a:ext cx="2743200" cy="3108960"/>
          </a:xfrm>
          <a:prstGeom prst="roundRect">
            <a:avLst>
              <a:gd name="adj" fmla="val 3333"/>
            </a:avLst>
          </a:prstGeom>
          <a:solidFill>
            <a:srgbClr val="111111"/>
          </a:solidFill>
          <a:ln/>
        </p:spPr>
      </p:sp>
      <p:sp>
        <p:nvSpPr>
          <p:cNvPr id="12" name="Text 10"/>
          <p:cNvSpPr txBox="1"/>
          <p:nvPr/>
        </p:nvSpPr>
        <p:spPr>
          <a:xfrm>
            <a:off x="640080" y="1325880"/>
            <a:ext cx="2377440" cy="914400"/>
          </a:xfrm>
          <a:prstGeom prst="rect">
            <a:avLst/>
          </a:prstGeom>
          <a:noFill/>
          <a:ln/>
        </p:spPr>
        <p:txBody>
          <a:bodyPr wrap="square" lIns="0" tIns="0" rIns="0" bIns="0" rtlCol="0" anchor="ctr"/>
          <a:lstStyle/>
          <a:p>
            <a:pPr indent="0" marL="0">
              <a:buNone/>
            </a:pPr>
            <a:r>
              <a:rPr lang="en-US" sz="4800" b="1" dirty="0">
                <a:solidFill>
                  <a:srgbClr val="C9F5C0"/>
                </a:solidFill>
                <a:latin typeface="Arial" pitchFamily="34" charset="0"/>
                <a:ea typeface="Arial" pitchFamily="34" charset="-122"/>
                <a:cs typeface="Arial" pitchFamily="34" charset="-120"/>
              </a:rPr>
              <a:t>MoM</a:t>
            </a:r>
            <a:endParaRPr lang="en-US" sz="4800" dirty="0"/>
          </a:p>
        </p:txBody>
      </p:sp>
      <p:sp>
        <p:nvSpPr>
          <p:cNvPr id="13" name="Text 11"/>
          <p:cNvSpPr txBox="1"/>
          <p:nvPr/>
        </p:nvSpPr>
        <p:spPr>
          <a:xfrm>
            <a:off x="640080" y="3566160"/>
            <a:ext cx="2377440" cy="502920"/>
          </a:xfrm>
          <a:prstGeom prst="rect">
            <a:avLst/>
          </a:prstGeom>
          <a:noFill/>
          <a:ln/>
        </p:spPr>
        <p:txBody>
          <a:bodyPr wrap="square" lIns="0" tIns="0" rIns="0" bIns="0" rtlCol="0" anchor="b"/>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主观体验赋值</a:t>
            </a:r>
            <a:endParaRPr lang="en-US" sz="1700" dirty="0"/>
          </a:p>
        </p:txBody>
      </p:sp>
      <p:sp>
        <p:nvSpPr>
          <p:cNvPr id="14" name="Shape 12"/>
          <p:cNvSpPr/>
          <p:nvPr/>
        </p:nvSpPr>
        <p:spPr>
          <a:xfrm>
            <a:off x="3264408" y="1188720"/>
            <a:ext cx="5468112" cy="3108960"/>
          </a:xfrm>
          <a:prstGeom prst="roundRect">
            <a:avLst>
              <a:gd name="adj" fmla="val 2941"/>
            </a:avLst>
          </a:prstGeom>
          <a:solidFill>
            <a:srgbClr val="FFFFFF"/>
          </a:solidFill>
          <a:ln w="9525">
            <a:solidFill>
              <a:srgbClr val="D0D0D0"/>
            </a:solidFill>
            <a:prstDash val="solid"/>
          </a:ln>
        </p:spPr>
      </p:sp>
      <p:pic>
        <p:nvPicPr>
          <p:cNvPr id="15" name="Image 0" descr="p37_0">    </p:cNvPr>
          <p:cNvPicPr>
            <a:picLocks noChangeAspect="1"/>
          </p:cNvPicPr>
          <p:nvPr/>
        </p:nvPicPr>
        <p:blipFill>
          <a:blip r:embed="rId1"/>
          <a:stretch>
            <a:fillRect/>
          </a:stretch>
        </p:blipFill>
        <p:spPr>
          <a:xfrm>
            <a:off x="3788699" y="1280160"/>
            <a:ext cx="4419530" cy="2926080"/>
          </a:xfrm>
          <a:prstGeom prst="rect">
            <a:avLst/>
          </a:prstGeom>
        </p:spPr>
      </p:pic>
      <p:sp>
        <p:nvSpPr>
          <p:cNvPr id="16" name="Text 13"/>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Karana E, Hekkert P, Kandachar P. A tool for meaning driven materials selection[J]. Materials and Design, 2010, 31(6): 2932–2941.</a:t>
            </a:r>
            <a:endParaRPr lang="en-US" sz="7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PART.1 设计学视野下的材料研究</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000" dirty="0">
                <a:solidFill>
                  <a:srgbClr val="111111"/>
                </a:solidFill>
                <a:latin typeface="Arial" pitchFamily="34" charset="0"/>
                <a:ea typeface="Arial" pitchFamily="34" charset="-122"/>
                <a:cs typeface="Arial" pitchFamily="34" charset="-120"/>
              </a:rPr>
              <a:t>Design-driven Material Innovation Methodology, DdMIM</a:t>
            </a:r>
            <a:endParaRPr lang="en-US" sz="20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MDD \ MOM \ DdMIM</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40</a:t>
            </a:r>
            <a:endParaRPr lang="en-US" sz="750" dirty="0"/>
          </a:p>
        </p:txBody>
      </p:sp>
      <p:sp>
        <p:nvSpPr>
          <p:cNvPr id="11" name="Shape 9"/>
          <p:cNvSpPr/>
          <p:nvPr/>
        </p:nvSpPr>
        <p:spPr>
          <a:xfrm>
            <a:off x="411480" y="1188720"/>
            <a:ext cx="8321040" cy="3108960"/>
          </a:xfrm>
          <a:prstGeom prst="roundRect">
            <a:avLst>
              <a:gd name="adj" fmla="val 2941"/>
            </a:avLst>
          </a:prstGeom>
          <a:solidFill>
            <a:srgbClr val="FFFFFF"/>
          </a:solidFill>
          <a:ln w="9525">
            <a:solidFill>
              <a:srgbClr val="D0D0D0"/>
            </a:solidFill>
            <a:prstDash val="solid"/>
          </a:ln>
        </p:spPr>
      </p:sp>
      <p:sp>
        <p:nvSpPr>
          <p:cNvPr id="12" name="Shape 10"/>
          <p:cNvSpPr/>
          <p:nvPr/>
        </p:nvSpPr>
        <p:spPr>
          <a:xfrm>
            <a:off x="411480" y="1188720"/>
            <a:ext cx="1463040" cy="3108960"/>
          </a:xfrm>
          <a:prstGeom prst="roundRect">
            <a:avLst>
              <a:gd name="adj" fmla="val 6250"/>
            </a:avLst>
          </a:prstGeom>
          <a:solidFill>
            <a:srgbClr val="C9F5C0"/>
          </a:solidFill>
          <a:ln/>
        </p:spPr>
      </p:sp>
      <p:sp>
        <p:nvSpPr>
          <p:cNvPr id="13" name="Text 11"/>
          <p:cNvSpPr txBox="1"/>
          <p:nvPr/>
        </p:nvSpPr>
        <p:spPr>
          <a:xfrm>
            <a:off x="411480" y="1188720"/>
            <a:ext cx="1463040" cy="3108960"/>
          </a:xfrm>
          <a:prstGeom prst="rect">
            <a:avLst/>
          </a:prstGeom>
          <a:noFill/>
          <a:ln/>
        </p:spPr>
        <p:txBody>
          <a:bodyPr wrap="square" lIns="0" tIns="0" rIns="0" bIns="0" rtlCol="0" anchor="ctr"/>
          <a:lstStyle/>
          <a:p>
            <a:pPr algn="ctr" indent="0" marL="0">
              <a:buNone/>
            </a:pPr>
            <a:r>
              <a:rPr lang="en-US" sz="2000" b="1" dirty="0">
                <a:solidFill>
                  <a:srgbClr val="111111"/>
                </a:solidFill>
                <a:latin typeface="Arial" pitchFamily="34" charset="0"/>
                <a:ea typeface="Arial" pitchFamily="34" charset="-122"/>
                <a:cs typeface="Arial" pitchFamily="34" charset="-120"/>
              </a:rPr>
              <a:t>DdMIM</a:t>
            </a:r>
            <a:endParaRPr lang="en-US" sz="2000" dirty="0"/>
          </a:p>
        </p:txBody>
      </p:sp>
      <p:pic>
        <p:nvPicPr>
          <p:cNvPr id="14" name="Image 0" descr="p38_0">    </p:cNvPr>
          <p:cNvPicPr>
            <a:picLocks noChangeAspect="1"/>
          </p:cNvPicPr>
          <p:nvPr/>
        </p:nvPicPr>
        <p:blipFill>
          <a:blip r:embed="rId1"/>
          <a:stretch>
            <a:fillRect/>
          </a:stretch>
        </p:blipFill>
        <p:spPr>
          <a:xfrm>
            <a:off x="2286508" y="1280160"/>
            <a:ext cx="6079744" cy="2926080"/>
          </a:xfrm>
          <a:prstGeom prst="rect">
            <a:avLst/>
          </a:prstGeom>
        </p:spPr>
      </p:pic>
      <p:sp>
        <p:nvSpPr>
          <p:cNvPr id="15" name="Text 12"/>
          <p:cNvSpPr txBox="1"/>
          <p:nvPr/>
        </p:nvSpPr>
        <p:spPr>
          <a:xfrm>
            <a:off x="411480" y="443484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Arial" pitchFamily="34" charset="0"/>
                <a:ea typeface="Arial" pitchFamily="34" charset="-122"/>
                <a:cs typeface="Arial" pitchFamily="34" charset="-120"/>
              </a:rPr>
              <a:t>Lecce C, Ferrara M. The Design-driven Material Innovation Methodology[J]. 2016(June). DOI:10.4995/ifdp.2016.3243.</a:t>
            </a:r>
            <a:endParaRPr lang="en-US" sz="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PART.2</a:t>
            </a:r>
            <a:endParaRPr lang="en-US" sz="800" dirty="0"/>
          </a:p>
        </p:txBody>
      </p:sp>
      <p:sp>
        <p:nvSpPr>
          <p:cNvPr id="3" name="Text 1"/>
          <p:cNvSpPr txBox="1"/>
          <p:nvPr/>
        </p:nvSpPr>
        <p:spPr>
          <a:xfrm>
            <a:off x="411480" y="502920"/>
            <a:ext cx="5943600" cy="1828800"/>
          </a:xfrm>
          <a:prstGeom prst="rect">
            <a:avLst/>
          </a:prstGeom>
          <a:noFill/>
          <a:ln/>
        </p:spPr>
        <p:txBody>
          <a:bodyPr wrap="square" lIns="0" tIns="0" rIns="0" bIns="0" rtlCol="0" anchor="t"/>
          <a:lstStyle/>
          <a:p>
            <a:pPr indent="0" marL="0">
              <a:lnSpc>
                <a:spcPct val="100000"/>
              </a:lnSpc>
              <a:buNone/>
            </a:pPr>
            <a:r>
              <a:rPr lang="en-US" sz="4600" dirty="0">
                <a:solidFill>
                  <a:srgbClr val="111111"/>
                </a:solidFill>
                <a:latin typeface="Microsoft YaHei" pitchFamily="34" charset="0"/>
                <a:ea typeface="Microsoft YaHei" pitchFamily="34" charset="-122"/>
                <a:cs typeface="Microsoft YaHei" pitchFamily="34" charset="-120"/>
              </a:rPr>
              <a:t>产品设计中的</a:t>
            </a:r>
            <a:endParaRPr lang="en-US" sz="4600" dirty="0"/>
          </a:p>
          <a:p>
            <a:pPr indent="0" marL="0">
              <a:lnSpc>
                <a:spcPct val="100000"/>
              </a:lnSpc>
              <a:buNone/>
            </a:pPr>
            <a:r>
              <a:rPr lang="en-US" sz="4600" dirty="0">
                <a:solidFill>
                  <a:srgbClr val="111111"/>
                </a:solidFill>
                <a:latin typeface="Microsoft YaHei" pitchFamily="34" charset="0"/>
                <a:ea typeface="Microsoft YaHei" pitchFamily="34" charset="-122"/>
                <a:cs typeface="Microsoft YaHei" pitchFamily="34" charset="-120"/>
              </a:rPr>
              <a:t>材料感官体验</a:t>
            </a:r>
            <a:endParaRPr lang="en-US" sz="4600" dirty="0"/>
          </a:p>
        </p:txBody>
      </p:sp>
      <p:sp>
        <p:nvSpPr>
          <p:cNvPr id="4" name="Shape 2"/>
          <p:cNvSpPr/>
          <p:nvPr/>
        </p:nvSpPr>
        <p:spPr>
          <a:xfrm>
            <a:off x="411480" y="2514600"/>
            <a:ext cx="1188720" cy="457200"/>
          </a:xfrm>
          <a:prstGeom prst="rect">
            <a:avLst/>
          </a:prstGeom>
          <a:solidFill>
            <a:srgbClr val="E4FF97"/>
          </a:solidFill>
          <a:ln/>
        </p:spPr>
      </p:sp>
      <p:sp>
        <p:nvSpPr>
          <p:cNvPr id="5" name="Text 3"/>
          <p:cNvSpPr txBox="1"/>
          <p:nvPr/>
        </p:nvSpPr>
        <p:spPr>
          <a:xfrm>
            <a:off x="411480" y="2514600"/>
            <a:ext cx="1188720" cy="457200"/>
          </a:xfrm>
          <a:prstGeom prst="rect">
            <a:avLst/>
          </a:prstGeom>
          <a:noFill/>
          <a:ln/>
        </p:spPr>
        <p:txBody>
          <a:bodyPr wrap="square" lIns="0" tIns="0" rIns="0" bIns="0" rtlCol="0" anchor="ctr"/>
          <a:lstStyle/>
          <a:p>
            <a:pPr algn="ctr" indent="0" marL="0">
              <a:buNone/>
            </a:pPr>
            <a:r>
              <a:rPr lang="en-US" sz="1600" dirty="0">
                <a:solidFill>
                  <a:srgbClr val="111111"/>
                </a:solidFill>
                <a:latin typeface="Arial" pitchFamily="34" charset="0"/>
                <a:ea typeface="Arial" pitchFamily="34" charset="-122"/>
                <a:cs typeface="Arial" pitchFamily="34" charset="-120"/>
              </a:rPr>
              <a:t>Part.2</a:t>
            </a:r>
            <a:endParaRPr lang="en-US" sz="1600" dirty="0"/>
          </a:p>
        </p:txBody>
      </p:sp>
      <p:pic>
        <p:nvPicPr>
          <p:cNvPr id="6" name="Image 0" descr="decorative collage">    </p:cNvPr>
          <p:cNvPicPr>
            <a:picLocks noChangeAspect="1"/>
          </p:cNvPicPr>
          <p:nvPr/>
        </p:nvPicPr>
        <p:blipFill>
          <a:blip r:embed="rId1"/>
          <a:stretch>
            <a:fillRect/>
          </a:stretch>
        </p:blipFill>
        <p:spPr>
          <a:xfrm>
            <a:off x="5969509" y="2011680"/>
            <a:ext cx="2991611" cy="2926080"/>
          </a:xfrm>
          <a:prstGeom prst="rect">
            <a:avLst/>
          </a:prstGeom>
        </p:spPr>
      </p:pic>
      <p:sp>
        <p:nvSpPr>
          <p:cNvPr id="7" name="Shape 4"/>
          <p:cNvSpPr/>
          <p:nvPr/>
        </p:nvSpPr>
        <p:spPr>
          <a:xfrm>
            <a:off x="411480" y="4818888"/>
            <a:ext cx="77724" cy="77724"/>
          </a:xfrm>
          <a:prstGeom prst="ellipse">
            <a:avLst/>
          </a:prstGeom>
          <a:solidFill>
            <a:srgbClr val="4D49FC"/>
          </a:solidFill>
          <a:ln/>
        </p:spPr>
      </p:sp>
      <p:sp>
        <p:nvSpPr>
          <p:cNvPr id="8" name="Shape 5"/>
          <p:cNvSpPr/>
          <p:nvPr/>
        </p:nvSpPr>
        <p:spPr>
          <a:xfrm>
            <a:off x="507492" y="4818888"/>
            <a:ext cx="77724" cy="77724"/>
          </a:xfrm>
          <a:prstGeom prst="ellipse">
            <a:avLst/>
          </a:prstGeom>
          <a:solidFill>
            <a:srgbClr val="4D49FC"/>
          </a:solidFill>
          <a:ln/>
        </p:spPr>
      </p:sp>
      <p:sp>
        <p:nvSpPr>
          <p:cNvPr id="9" name="Shape 6"/>
          <p:cNvSpPr/>
          <p:nvPr/>
        </p:nvSpPr>
        <p:spPr>
          <a:xfrm>
            <a:off x="411480" y="4914900"/>
            <a:ext cx="77724" cy="77724"/>
          </a:xfrm>
          <a:prstGeom prst="ellipse">
            <a:avLst/>
          </a:prstGeom>
          <a:solidFill>
            <a:srgbClr val="4D49FC"/>
          </a:solidFill>
          <a:ln/>
        </p:spPr>
      </p:sp>
      <p:sp>
        <p:nvSpPr>
          <p:cNvPr id="10" name="Shape 7"/>
          <p:cNvSpPr/>
          <p:nvPr/>
        </p:nvSpPr>
        <p:spPr>
          <a:xfrm>
            <a:off x="507492" y="4914900"/>
            <a:ext cx="77724" cy="77724"/>
          </a:xfrm>
          <a:prstGeom prst="ellipse">
            <a:avLst/>
          </a:prstGeom>
          <a:solidFill>
            <a:srgbClr val="4D49FC"/>
          </a:solidFill>
          <a:ln/>
        </p:spPr>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材料感知体验</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 Perceptual Experience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42</a:t>
            </a:r>
            <a:endParaRPr lang="en-US" sz="750" dirty="0"/>
          </a:p>
        </p:txBody>
      </p:sp>
      <p:sp>
        <p:nvSpPr>
          <p:cNvPr id="11" name="Shape 9"/>
          <p:cNvSpPr/>
          <p:nvPr/>
        </p:nvSpPr>
        <p:spPr>
          <a:xfrm>
            <a:off x="3063240" y="1307592"/>
            <a:ext cx="3017520" cy="3017520"/>
          </a:xfrm>
          <a:prstGeom prst="blockArc">
            <a:avLst>
              <a:gd name="adj1" fmla="val 18300000"/>
              <a:gd name="adj2" fmla="val 3300000"/>
              <a:gd name="adj3" fmla="val 14000"/>
            </a:avLst>
          </a:prstGeom>
          <a:solidFill>
            <a:srgbClr val="E4FF97"/>
          </a:solidFill>
          <a:ln/>
        </p:spPr>
      </p:sp>
      <p:sp>
        <p:nvSpPr>
          <p:cNvPr id="12" name="Shape 10"/>
          <p:cNvSpPr/>
          <p:nvPr/>
        </p:nvSpPr>
        <p:spPr>
          <a:xfrm>
            <a:off x="3063240" y="1307592"/>
            <a:ext cx="3017520" cy="3017520"/>
          </a:xfrm>
          <a:prstGeom prst="blockArc">
            <a:avLst>
              <a:gd name="adj1" fmla="val 3900000"/>
              <a:gd name="adj2" fmla="val 10500000"/>
              <a:gd name="adj3" fmla="val 14000"/>
            </a:avLst>
          </a:prstGeom>
          <a:solidFill>
            <a:srgbClr val="111111"/>
          </a:solidFill>
          <a:ln/>
        </p:spPr>
      </p:sp>
      <p:sp>
        <p:nvSpPr>
          <p:cNvPr id="13" name="Shape 11"/>
          <p:cNvSpPr/>
          <p:nvPr/>
        </p:nvSpPr>
        <p:spPr>
          <a:xfrm>
            <a:off x="3063240" y="1307592"/>
            <a:ext cx="3017520" cy="3017520"/>
          </a:xfrm>
          <a:prstGeom prst="blockArc">
            <a:avLst>
              <a:gd name="adj1" fmla="val 11100000"/>
              <a:gd name="adj2" fmla="val 17700000"/>
              <a:gd name="adj3" fmla="val 14000"/>
            </a:avLst>
          </a:prstGeom>
          <a:solidFill>
            <a:srgbClr val="EBEBEB"/>
          </a:solidFill>
          <a:ln/>
        </p:spPr>
      </p:sp>
      <p:sp>
        <p:nvSpPr>
          <p:cNvPr id="14" name="Text 12"/>
          <p:cNvSpPr txBox="1"/>
          <p:nvPr/>
        </p:nvSpPr>
        <p:spPr>
          <a:xfrm>
            <a:off x="3566160" y="2359152"/>
            <a:ext cx="2011680" cy="914400"/>
          </a:xfrm>
          <a:prstGeom prst="rect">
            <a:avLst/>
          </a:prstGeom>
          <a:noFill/>
          <a:ln/>
        </p:spPr>
        <p:txBody>
          <a:bodyPr wrap="square" lIns="0" tIns="0" rIns="0" bIns="0" rtlCol="0" anchor="ctr"/>
          <a:lstStyle/>
          <a:p>
            <a:pPr algn="ctr" indent="0" marL="0">
              <a:buNone/>
            </a:pPr>
            <a:r>
              <a:rPr lang="en-US" sz="1500" b="1" dirty="0">
                <a:solidFill>
                  <a:srgbClr val="111111"/>
                </a:solidFill>
                <a:latin typeface="Microsoft YaHei" pitchFamily="34" charset="0"/>
                <a:ea typeface="Microsoft YaHei" pitchFamily="34" charset="-122"/>
                <a:cs typeface="Microsoft YaHei" pitchFamily="34" charset="-120"/>
              </a:rPr>
              <a:t>材料感知体验</a:t>
            </a:r>
            <a:endParaRPr lang="en-US" sz="1200" dirty="0"/>
          </a:p>
          <a:p>
            <a:pPr algn="ctr" indent="0" marL="0">
              <a:buNone/>
            </a:pPr>
            <a:r>
              <a:rPr lang="en-US" sz="950" dirty="0">
                <a:solidFill>
                  <a:srgbClr val="111111"/>
                </a:solidFill>
                <a:latin typeface="Arial" pitchFamily="34" charset="0"/>
                <a:ea typeface="Arial" pitchFamily="34" charset="-122"/>
                <a:cs typeface="Arial" pitchFamily="34" charset="-120"/>
              </a:rPr>
              <a:t>Material Perceptual Experience</a:t>
            </a:r>
            <a:endParaRPr lang="en-US" sz="1200" dirty="0"/>
          </a:p>
        </p:txBody>
      </p:sp>
      <p:sp>
        <p:nvSpPr>
          <p:cNvPr id="15" name="Shape 13"/>
          <p:cNvSpPr/>
          <p:nvPr/>
        </p:nvSpPr>
        <p:spPr>
          <a:xfrm>
            <a:off x="2743200" y="1399032"/>
            <a:ext cx="182880" cy="182880"/>
          </a:xfrm>
          <a:prstGeom prst="rect">
            <a:avLst/>
          </a:prstGeom>
          <a:solidFill>
            <a:srgbClr val="EBEBEB"/>
          </a:solidFill>
          <a:ln/>
        </p:spPr>
      </p:sp>
      <p:sp>
        <p:nvSpPr>
          <p:cNvPr id="16" name="Text 14"/>
          <p:cNvSpPr txBox="1"/>
          <p:nvPr/>
        </p:nvSpPr>
        <p:spPr>
          <a:xfrm>
            <a:off x="228600" y="1325880"/>
            <a:ext cx="2377440" cy="685800"/>
          </a:xfrm>
          <a:prstGeom prst="rect">
            <a:avLst/>
          </a:prstGeom>
          <a:noFill/>
          <a:ln/>
        </p:spPr>
        <p:txBody>
          <a:bodyPr wrap="square" lIns="0" tIns="0" rIns="0" bIns="0" rtlCol="0" anchor="t"/>
          <a:lstStyle/>
          <a:p>
            <a:pPr algn="r" indent="0" marL="0">
              <a:buNone/>
            </a:pPr>
            <a:r>
              <a:rPr lang="en-US" sz="1400" b="1" dirty="0">
                <a:solidFill>
                  <a:srgbClr val="111111"/>
                </a:solidFill>
                <a:latin typeface="Microsoft YaHei" pitchFamily="34" charset="0"/>
                <a:ea typeface="Microsoft YaHei" pitchFamily="34" charset="-122"/>
                <a:cs typeface="Microsoft YaHei" pitchFamily="34" charset="-120"/>
              </a:rPr>
              <a:t>材料情感体验</a:t>
            </a:r>
            <a:endParaRPr lang="en-US" sz="1200" dirty="0"/>
          </a:p>
          <a:p>
            <a:pPr algn="r" indent="0" marL="0">
              <a:buNone/>
            </a:pPr>
            <a:r>
              <a:rPr lang="en-US" sz="950" dirty="0">
                <a:solidFill>
                  <a:srgbClr val="6B6B6B"/>
                </a:solidFill>
                <a:latin typeface="Arial" pitchFamily="34" charset="0"/>
                <a:ea typeface="Arial" pitchFamily="34" charset="-122"/>
                <a:cs typeface="Arial" pitchFamily="34" charset="-120"/>
              </a:rPr>
              <a:t>Material Emotional Experience</a:t>
            </a:r>
            <a:endParaRPr lang="en-US" sz="1200" dirty="0"/>
          </a:p>
        </p:txBody>
      </p:sp>
      <p:sp>
        <p:nvSpPr>
          <p:cNvPr id="17" name="Shape 15"/>
          <p:cNvSpPr/>
          <p:nvPr/>
        </p:nvSpPr>
        <p:spPr>
          <a:xfrm>
            <a:off x="6400800" y="1993392"/>
            <a:ext cx="182880" cy="182880"/>
          </a:xfrm>
          <a:prstGeom prst="rect">
            <a:avLst/>
          </a:prstGeom>
          <a:solidFill>
            <a:srgbClr val="E4FF97"/>
          </a:solidFill>
          <a:ln/>
        </p:spPr>
      </p:sp>
      <p:sp>
        <p:nvSpPr>
          <p:cNvPr id="18" name="Text 16"/>
          <p:cNvSpPr txBox="1"/>
          <p:nvPr/>
        </p:nvSpPr>
        <p:spPr>
          <a:xfrm>
            <a:off x="6720840" y="1920240"/>
            <a:ext cx="2377440" cy="685800"/>
          </a:xfrm>
          <a:prstGeom prst="rect">
            <a:avLst/>
          </a:prstGeom>
          <a:noFill/>
          <a:ln/>
        </p:spPr>
        <p:txBody>
          <a:bodyPr wrap="square" lIns="0" tIns="0" rIns="0" bIns="0" rtlCol="0" anchor="t"/>
          <a:lstStyle/>
          <a:p>
            <a:pPr algn="l" indent="0" marL="0">
              <a:buNone/>
            </a:pPr>
            <a:r>
              <a:rPr lang="en-US" sz="1400" b="1" dirty="0">
                <a:solidFill>
                  <a:srgbClr val="111111"/>
                </a:solidFill>
                <a:latin typeface="Microsoft YaHei" pitchFamily="34" charset="0"/>
                <a:ea typeface="Microsoft YaHei" pitchFamily="34" charset="-122"/>
                <a:cs typeface="Microsoft YaHei" pitchFamily="34" charset="-120"/>
              </a:rPr>
              <a:t>材料感官体验</a:t>
            </a:r>
            <a:endParaRPr lang="en-US" sz="1200" dirty="0"/>
          </a:p>
          <a:p>
            <a:pPr algn="l" indent="0" marL="0">
              <a:buNone/>
            </a:pPr>
            <a:r>
              <a:rPr lang="en-US" sz="950" dirty="0">
                <a:solidFill>
                  <a:srgbClr val="6B6B6B"/>
                </a:solidFill>
                <a:latin typeface="Arial" pitchFamily="34" charset="0"/>
                <a:ea typeface="Arial" pitchFamily="34" charset="-122"/>
                <a:cs typeface="Arial" pitchFamily="34" charset="-120"/>
              </a:rPr>
              <a:t>Material Sensory Experience</a:t>
            </a:r>
            <a:endParaRPr lang="en-US" sz="1200" dirty="0"/>
          </a:p>
        </p:txBody>
      </p:sp>
      <p:sp>
        <p:nvSpPr>
          <p:cNvPr id="19" name="Shape 17"/>
          <p:cNvSpPr/>
          <p:nvPr/>
        </p:nvSpPr>
        <p:spPr>
          <a:xfrm>
            <a:off x="2743200" y="3685032"/>
            <a:ext cx="182880" cy="182880"/>
          </a:xfrm>
          <a:prstGeom prst="rect">
            <a:avLst/>
          </a:prstGeom>
          <a:solidFill>
            <a:srgbClr val="111111"/>
          </a:solidFill>
          <a:ln/>
        </p:spPr>
      </p:sp>
      <p:sp>
        <p:nvSpPr>
          <p:cNvPr id="20" name="Text 18"/>
          <p:cNvSpPr txBox="1"/>
          <p:nvPr/>
        </p:nvSpPr>
        <p:spPr>
          <a:xfrm>
            <a:off x="228600" y="3611880"/>
            <a:ext cx="2377440" cy="685800"/>
          </a:xfrm>
          <a:prstGeom prst="rect">
            <a:avLst/>
          </a:prstGeom>
          <a:noFill/>
          <a:ln/>
        </p:spPr>
        <p:txBody>
          <a:bodyPr wrap="square" lIns="0" tIns="0" rIns="0" bIns="0" rtlCol="0" anchor="t"/>
          <a:lstStyle/>
          <a:p>
            <a:pPr algn="r" indent="0" marL="0">
              <a:buNone/>
            </a:pPr>
            <a:r>
              <a:rPr lang="en-US" sz="1400" b="1" dirty="0">
                <a:solidFill>
                  <a:srgbClr val="111111"/>
                </a:solidFill>
                <a:latin typeface="Microsoft YaHei" pitchFamily="34" charset="0"/>
                <a:ea typeface="Microsoft YaHei" pitchFamily="34" charset="-122"/>
                <a:cs typeface="Microsoft YaHei" pitchFamily="34" charset="-120"/>
              </a:rPr>
              <a:t>材料知觉体验</a:t>
            </a:r>
            <a:endParaRPr lang="en-US" sz="1200" dirty="0"/>
          </a:p>
          <a:p>
            <a:pPr algn="r" indent="0" marL="0">
              <a:buNone/>
            </a:pPr>
            <a:r>
              <a:rPr lang="en-US" sz="950" dirty="0">
                <a:solidFill>
                  <a:srgbClr val="6B6B6B"/>
                </a:solidFill>
                <a:latin typeface="Arial" pitchFamily="34" charset="0"/>
                <a:ea typeface="Arial" pitchFamily="34" charset="-122"/>
                <a:cs typeface="Arial" pitchFamily="34" charset="-120"/>
              </a:rPr>
              <a:t>Material Perceptional Experience</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 Sensory Experience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43</a:t>
            </a:r>
            <a:endParaRPr lang="en-US" sz="750" dirty="0"/>
          </a:p>
        </p:txBody>
      </p:sp>
      <p:sp>
        <p:nvSpPr>
          <p:cNvPr id="11" name="Text 9"/>
          <p:cNvSpPr txBox="1"/>
          <p:nvPr/>
        </p:nvSpPr>
        <p:spPr>
          <a:xfrm>
            <a:off x="411480" y="1188720"/>
            <a:ext cx="4846320" cy="594360"/>
          </a:xfrm>
          <a:prstGeom prst="rect">
            <a:avLst/>
          </a:prstGeom>
          <a:noFill/>
          <a:ln/>
        </p:spPr>
        <p:txBody>
          <a:bodyPr wrap="square" lIns="0" tIns="0" rIns="0" bIns="0" rtlCol="0" anchor="t"/>
          <a:lstStyle/>
          <a:p>
            <a:pPr indent="0" marL="0">
              <a:lnSpc>
                <a:spcPct val="130000"/>
              </a:lnSpc>
              <a:buNone/>
            </a:pPr>
            <a:r>
              <a:rPr lang="en-US" sz="1400" dirty="0">
                <a:solidFill>
                  <a:srgbClr val="111111"/>
                </a:solidFill>
                <a:latin typeface="Microsoft YaHei" pitchFamily="34" charset="0"/>
                <a:ea typeface="Microsoft YaHei" pitchFamily="34" charset="-122"/>
                <a:cs typeface="Microsoft YaHei" pitchFamily="34" charset="-120"/>
              </a:rPr>
              <a:t>感官体验是指某种立即且直接的感受，被视为人类最基本的体验模式。</a:t>
            </a:r>
            <a:endParaRPr lang="en-US" sz="1400" dirty="0"/>
          </a:p>
        </p:txBody>
      </p:sp>
      <p:sp>
        <p:nvSpPr>
          <p:cNvPr id="12" name="Shape 10"/>
          <p:cNvSpPr/>
          <p:nvPr/>
        </p:nvSpPr>
        <p:spPr>
          <a:xfrm>
            <a:off x="411480" y="1874520"/>
            <a:ext cx="868680" cy="384048"/>
          </a:xfrm>
          <a:prstGeom prst="rect">
            <a:avLst/>
          </a:prstGeom>
          <a:solidFill>
            <a:srgbClr val="E4FF97"/>
          </a:solidFill>
          <a:ln/>
        </p:spPr>
      </p:sp>
      <p:sp>
        <p:nvSpPr>
          <p:cNvPr id="13" name="Text 11"/>
          <p:cNvSpPr txBox="1"/>
          <p:nvPr/>
        </p:nvSpPr>
        <p:spPr>
          <a:xfrm>
            <a:off x="411480" y="1874520"/>
            <a:ext cx="868680" cy="384048"/>
          </a:xfrm>
          <a:prstGeom prst="rect">
            <a:avLst/>
          </a:prstGeom>
          <a:noFill/>
          <a:ln/>
        </p:spPr>
        <p:txBody>
          <a:bodyPr wrap="square" lIns="0" tIns="0" rIns="0" bIns="0" rtlCol="0" anchor="ctr"/>
          <a:lstStyle/>
          <a:p>
            <a:pPr algn="ctr" indent="0" marL="0">
              <a:buNone/>
            </a:pPr>
            <a:r>
              <a:rPr lang="en-US" sz="1300" b="1" dirty="0">
                <a:solidFill>
                  <a:srgbClr val="111111"/>
                </a:solidFill>
                <a:latin typeface="Microsoft YaHei" pitchFamily="34" charset="0"/>
                <a:ea typeface="Microsoft YaHei" pitchFamily="34" charset="-122"/>
                <a:cs typeface="Microsoft YaHei" pitchFamily="34" charset="-120"/>
              </a:rPr>
              <a:t>视觉</a:t>
            </a:r>
            <a:endParaRPr lang="en-US" sz="1300" dirty="0"/>
          </a:p>
        </p:txBody>
      </p:sp>
      <p:sp>
        <p:nvSpPr>
          <p:cNvPr id="14" name="Text 12"/>
          <p:cNvSpPr txBox="1"/>
          <p:nvPr/>
        </p:nvSpPr>
        <p:spPr>
          <a:xfrm>
            <a:off x="1417320" y="1874520"/>
            <a:ext cx="3840480" cy="384048"/>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vision</a:t>
            </a:r>
            <a:endParaRPr lang="en-US" sz="1200" dirty="0"/>
          </a:p>
        </p:txBody>
      </p:sp>
      <p:sp>
        <p:nvSpPr>
          <p:cNvPr id="15" name="Shape 13"/>
          <p:cNvSpPr/>
          <p:nvPr/>
        </p:nvSpPr>
        <p:spPr>
          <a:xfrm>
            <a:off x="411480" y="2331720"/>
            <a:ext cx="868680" cy="384048"/>
          </a:xfrm>
          <a:prstGeom prst="rect">
            <a:avLst/>
          </a:prstGeom>
          <a:solidFill>
            <a:srgbClr val="EBEBEB"/>
          </a:solidFill>
          <a:ln/>
        </p:spPr>
      </p:sp>
      <p:sp>
        <p:nvSpPr>
          <p:cNvPr id="16" name="Text 14"/>
          <p:cNvSpPr txBox="1"/>
          <p:nvPr/>
        </p:nvSpPr>
        <p:spPr>
          <a:xfrm>
            <a:off x="411480" y="2331720"/>
            <a:ext cx="868680" cy="384048"/>
          </a:xfrm>
          <a:prstGeom prst="rect">
            <a:avLst/>
          </a:prstGeom>
          <a:noFill/>
          <a:ln/>
        </p:spPr>
        <p:txBody>
          <a:bodyPr wrap="square" lIns="0" tIns="0" rIns="0" bIns="0" rtlCol="0" anchor="ctr"/>
          <a:lstStyle/>
          <a:p>
            <a:pPr algn="ctr" indent="0" marL="0">
              <a:buNone/>
            </a:pPr>
            <a:r>
              <a:rPr lang="en-US" sz="1300" b="1" dirty="0">
                <a:solidFill>
                  <a:srgbClr val="111111"/>
                </a:solidFill>
                <a:latin typeface="Microsoft YaHei" pitchFamily="34" charset="0"/>
                <a:ea typeface="Microsoft YaHei" pitchFamily="34" charset="-122"/>
                <a:cs typeface="Microsoft YaHei" pitchFamily="34" charset="-120"/>
              </a:rPr>
              <a:t>听觉</a:t>
            </a:r>
            <a:endParaRPr lang="en-US" sz="1300" dirty="0"/>
          </a:p>
        </p:txBody>
      </p:sp>
      <p:sp>
        <p:nvSpPr>
          <p:cNvPr id="17" name="Text 15"/>
          <p:cNvSpPr txBox="1"/>
          <p:nvPr/>
        </p:nvSpPr>
        <p:spPr>
          <a:xfrm>
            <a:off x="1417320" y="2331720"/>
            <a:ext cx="3840480" cy="384048"/>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audition</a:t>
            </a:r>
            <a:endParaRPr lang="en-US" sz="1200" dirty="0"/>
          </a:p>
        </p:txBody>
      </p:sp>
      <p:sp>
        <p:nvSpPr>
          <p:cNvPr id="18" name="Shape 16"/>
          <p:cNvSpPr/>
          <p:nvPr/>
        </p:nvSpPr>
        <p:spPr>
          <a:xfrm>
            <a:off x="411480" y="2788920"/>
            <a:ext cx="868680" cy="384048"/>
          </a:xfrm>
          <a:prstGeom prst="rect">
            <a:avLst/>
          </a:prstGeom>
          <a:solidFill>
            <a:srgbClr val="F4F4F4"/>
          </a:solidFill>
          <a:ln/>
        </p:spPr>
      </p:sp>
      <p:sp>
        <p:nvSpPr>
          <p:cNvPr id="19" name="Text 17"/>
          <p:cNvSpPr txBox="1"/>
          <p:nvPr/>
        </p:nvSpPr>
        <p:spPr>
          <a:xfrm>
            <a:off x="411480" y="2788920"/>
            <a:ext cx="868680" cy="384048"/>
          </a:xfrm>
          <a:prstGeom prst="rect">
            <a:avLst/>
          </a:prstGeom>
          <a:noFill/>
          <a:ln/>
        </p:spPr>
        <p:txBody>
          <a:bodyPr wrap="square" lIns="0" tIns="0" rIns="0" bIns="0" rtlCol="0" anchor="ctr"/>
          <a:lstStyle/>
          <a:p>
            <a:pPr algn="ctr" indent="0" marL="0">
              <a:buNone/>
            </a:pPr>
            <a:r>
              <a:rPr lang="en-US" sz="1300" b="1" dirty="0">
                <a:solidFill>
                  <a:srgbClr val="111111"/>
                </a:solidFill>
                <a:latin typeface="Microsoft YaHei" pitchFamily="34" charset="0"/>
                <a:ea typeface="Microsoft YaHei" pitchFamily="34" charset="-122"/>
                <a:cs typeface="Microsoft YaHei" pitchFamily="34" charset="-120"/>
              </a:rPr>
              <a:t>肤觉</a:t>
            </a:r>
            <a:endParaRPr lang="en-US" sz="1300" dirty="0"/>
          </a:p>
        </p:txBody>
      </p:sp>
      <p:sp>
        <p:nvSpPr>
          <p:cNvPr id="20" name="Text 18"/>
          <p:cNvSpPr txBox="1"/>
          <p:nvPr/>
        </p:nvSpPr>
        <p:spPr>
          <a:xfrm>
            <a:off x="1417320" y="2788920"/>
            <a:ext cx="3840480" cy="384048"/>
          </a:xfrm>
          <a:prstGeom prst="rect">
            <a:avLst/>
          </a:prstGeom>
          <a:noFill/>
          <a:ln/>
        </p:spPr>
        <p:txBody>
          <a:bodyPr wrap="square" lIns="0" tIns="0" rIns="0" bIns="0" rtlCol="0" anchor="ctr"/>
          <a:lstStyle/>
          <a:p>
            <a:pPr indent="0" marL="0">
              <a:buNone/>
            </a:pPr>
            <a:r>
              <a:rPr lang="en-US" sz="1200" dirty="0">
                <a:solidFill>
                  <a:srgbClr val="111111"/>
                </a:solidFill>
                <a:latin typeface="Microsoft YaHei" pitchFamily="34" charset="0"/>
                <a:ea typeface="Microsoft YaHei" pitchFamily="34" charset="-122"/>
                <a:cs typeface="Microsoft YaHei" pitchFamily="34" charset="-120"/>
              </a:rPr>
              <a:t>或被译为躯体感觉，somatosensation</a:t>
            </a:r>
            <a:endParaRPr lang="en-US" sz="1200" dirty="0"/>
          </a:p>
        </p:txBody>
      </p:sp>
      <p:sp>
        <p:nvSpPr>
          <p:cNvPr id="21" name="Shape 19"/>
          <p:cNvSpPr/>
          <p:nvPr/>
        </p:nvSpPr>
        <p:spPr>
          <a:xfrm>
            <a:off x="411480" y="3246120"/>
            <a:ext cx="868680" cy="384048"/>
          </a:xfrm>
          <a:prstGeom prst="rect">
            <a:avLst/>
          </a:prstGeom>
          <a:solidFill>
            <a:srgbClr val="EBEBEB"/>
          </a:solidFill>
          <a:ln/>
        </p:spPr>
      </p:sp>
      <p:sp>
        <p:nvSpPr>
          <p:cNvPr id="22" name="Text 20"/>
          <p:cNvSpPr txBox="1"/>
          <p:nvPr/>
        </p:nvSpPr>
        <p:spPr>
          <a:xfrm>
            <a:off x="411480" y="3246120"/>
            <a:ext cx="868680" cy="384048"/>
          </a:xfrm>
          <a:prstGeom prst="rect">
            <a:avLst/>
          </a:prstGeom>
          <a:noFill/>
          <a:ln/>
        </p:spPr>
        <p:txBody>
          <a:bodyPr wrap="square" lIns="0" tIns="0" rIns="0" bIns="0" rtlCol="0" anchor="ctr"/>
          <a:lstStyle/>
          <a:p>
            <a:pPr algn="ctr" indent="0" marL="0">
              <a:buNone/>
            </a:pPr>
            <a:r>
              <a:rPr lang="en-US" sz="1300" b="1" dirty="0">
                <a:solidFill>
                  <a:srgbClr val="111111"/>
                </a:solidFill>
                <a:latin typeface="Microsoft YaHei" pitchFamily="34" charset="0"/>
                <a:ea typeface="Microsoft YaHei" pitchFamily="34" charset="-122"/>
                <a:cs typeface="Microsoft YaHei" pitchFamily="34" charset="-120"/>
              </a:rPr>
              <a:t>嗅觉</a:t>
            </a:r>
            <a:endParaRPr lang="en-US" sz="1300" dirty="0"/>
          </a:p>
        </p:txBody>
      </p:sp>
      <p:sp>
        <p:nvSpPr>
          <p:cNvPr id="23" name="Text 21"/>
          <p:cNvSpPr txBox="1"/>
          <p:nvPr/>
        </p:nvSpPr>
        <p:spPr>
          <a:xfrm>
            <a:off x="1417320" y="3246120"/>
            <a:ext cx="3840480" cy="384048"/>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olfaction</a:t>
            </a:r>
            <a:endParaRPr lang="en-US" sz="1200" dirty="0"/>
          </a:p>
        </p:txBody>
      </p:sp>
      <p:sp>
        <p:nvSpPr>
          <p:cNvPr id="24" name="Shape 22"/>
          <p:cNvSpPr/>
          <p:nvPr/>
        </p:nvSpPr>
        <p:spPr>
          <a:xfrm>
            <a:off x="411480" y="3703320"/>
            <a:ext cx="868680" cy="384048"/>
          </a:xfrm>
          <a:prstGeom prst="rect">
            <a:avLst/>
          </a:prstGeom>
          <a:solidFill>
            <a:srgbClr val="F4F4F4"/>
          </a:solidFill>
          <a:ln/>
        </p:spPr>
      </p:sp>
      <p:sp>
        <p:nvSpPr>
          <p:cNvPr id="25" name="Text 23"/>
          <p:cNvSpPr txBox="1"/>
          <p:nvPr/>
        </p:nvSpPr>
        <p:spPr>
          <a:xfrm>
            <a:off x="411480" y="3703320"/>
            <a:ext cx="868680" cy="384048"/>
          </a:xfrm>
          <a:prstGeom prst="rect">
            <a:avLst/>
          </a:prstGeom>
          <a:noFill/>
          <a:ln/>
        </p:spPr>
        <p:txBody>
          <a:bodyPr wrap="square" lIns="0" tIns="0" rIns="0" bIns="0" rtlCol="0" anchor="ctr"/>
          <a:lstStyle/>
          <a:p>
            <a:pPr algn="ctr" indent="0" marL="0">
              <a:buNone/>
            </a:pPr>
            <a:r>
              <a:rPr lang="en-US" sz="1300" b="1" dirty="0">
                <a:solidFill>
                  <a:srgbClr val="111111"/>
                </a:solidFill>
                <a:latin typeface="Microsoft YaHei" pitchFamily="34" charset="0"/>
                <a:ea typeface="Microsoft YaHei" pitchFamily="34" charset="-122"/>
                <a:cs typeface="Microsoft YaHei" pitchFamily="34" charset="-120"/>
              </a:rPr>
              <a:t>味觉</a:t>
            </a:r>
            <a:endParaRPr lang="en-US" sz="1300" dirty="0"/>
          </a:p>
        </p:txBody>
      </p:sp>
      <p:sp>
        <p:nvSpPr>
          <p:cNvPr id="26" name="Text 24"/>
          <p:cNvSpPr txBox="1"/>
          <p:nvPr/>
        </p:nvSpPr>
        <p:spPr>
          <a:xfrm>
            <a:off x="1417320" y="3703320"/>
            <a:ext cx="3840480" cy="384048"/>
          </a:xfrm>
          <a:prstGeom prst="rect">
            <a:avLst/>
          </a:prstGeom>
          <a:noFill/>
          <a:ln/>
        </p:spPr>
        <p:txBody>
          <a:bodyPr wrap="square" lIns="0" tIns="0" rIns="0" bIns="0" rtlCol="0" anchor="ctr"/>
          <a:lstStyle/>
          <a:p>
            <a:pPr indent="0" marL="0">
              <a:buNone/>
            </a:pPr>
            <a:r>
              <a:rPr lang="en-US" sz="1200" dirty="0">
                <a:solidFill>
                  <a:srgbClr val="111111"/>
                </a:solidFill>
                <a:latin typeface="Arial" pitchFamily="34" charset="0"/>
                <a:ea typeface="Arial" pitchFamily="34" charset="-122"/>
                <a:cs typeface="Arial" pitchFamily="34" charset="-120"/>
              </a:rPr>
              <a:t>gustation</a:t>
            </a:r>
            <a:endParaRPr lang="en-US" sz="1200" dirty="0"/>
          </a:p>
        </p:txBody>
      </p:sp>
      <p:sp>
        <p:nvSpPr>
          <p:cNvPr id="27" name="Text 25"/>
          <p:cNvSpPr txBox="1"/>
          <p:nvPr/>
        </p:nvSpPr>
        <p:spPr>
          <a:xfrm>
            <a:off x="411480" y="4206240"/>
            <a:ext cx="4846320" cy="320040"/>
          </a:xfrm>
          <a:prstGeom prst="rect">
            <a:avLst/>
          </a:prstGeom>
          <a:noFill/>
          <a:ln/>
        </p:spPr>
        <p:txBody>
          <a:bodyPr wrap="square" lIns="0" tIns="0" rIns="0" bIns="0" rtlCol="0" anchor="ctr"/>
          <a:lstStyle/>
          <a:p>
            <a:pPr indent="0" marL="0">
              <a:buNone/>
            </a:pPr>
            <a:r>
              <a:rPr lang="en-US" sz="1300" b="1" dirty="0">
                <a:solidFill>
                  <a:srgbClr val="111111"/>
                </a:solidFill>
                <a:latin typeface="Microsoft YaHei" pitchFamily="34" charset="0"/>
                <a:ea typeface="Microsoft YaHei" pitchFamily="34" charset="-122"/>
                <a:cs typeface="Microsoft YaHei" pitchFamily="34" charset="-120"/>
              </a:rPr>
              <a:t>五种感官模态（sensory modality）。</a:t>
            </a:r>
            <a:endParaRPr lang="en-US" sz="1300" dirty="0"/>
          </a:p>
        </p:txBody>
      </p:sp>
      <p:pic>
        <p:nvPicPr>
          <p:cNvPr id="28" name="Image 0" descr="p41_0">    </p:cNvPr>
          <p:cNvPicPr>
            <a:picLocks noChangeAspect="1"/>
          </p:cNvPicPr>
          <p:nvPr/>
        </p:nvPicPr>
        <p:blipFill>
          <a:blip r:embed="rId1"/>
          <a:stretch>
            <a:fillRect/>
          </a:stretch>
        </p:blipFill>
        <p:spPr>
          <a:xfrm>
            <a:off x="5486400" y="1188720"/>
            <a:ext cx="3246120" cy="333756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 Sensory Experience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44</a:t>
            </a:r>
            <a:endParaRPr lang="en-US" sz="750" dirty="0"/>
          </a:p>
        </p:txBody>
      </p:sp>
      <p:sp>
        <p:nvSpPr>
          <p:cNvPr id="11" name="Text 9"/>
          <p:cNvSpPr txBox="1"/>
          <p:nvPr/>
        </p:nvSpPr>
        <p:spPr>
          <a:xfrm>
            <a:off x="411480" y="1188720"/>
            <a:ext cx="4572000" cy="3291840"/>
          </a:xfrm>
          <a:prstGeom prst="rect">
            <a:avLst/>
          </a:prstGeom>
          <a:noFill/>
          <a:ln/>
        </p:spPr>
        <p:txBody>
          <a:bodyPr wrap="square" lIns="0" tIns="0" rIns="0" bIns="0" rtlCol="0" anchor="ctr"/>
          <a:lstStyle/>
          <a:p>
            <a:pPr indent="0" marL="0">
              <a:lnSpc>
                <a:spcPct val="145000"/>
              </a:lnSpc>
              <a:spcAft>
                <a:spcPts val="1200"/>
              </a:spcAft>
              <a:buNone/>
            </a:pPr>
            <a:r>
              <a:rPr lang="en-US" sz="1400" dirty="0">
                <a:solidFill>
                  <a:srgbClr val="111111"/>
                </a:solidFill>
                <a:latin typeface="Microsoft YaHei" pitchFamily="34" charset="0"/>
                <a:ea typeface="Microsoft YaHei" pitchFamily="34" charset="-122"/>
                <a:cs typeface="Microsoft YaHei" pitchFamily="34" charset="-120"/>
              </a:rPr>
              <a:t>材料的感官体验通过色彩、形态、肌理、声音、触感、味道等作用于人的各种感觉器官。因此，材料的感官体验是衡量产品是否满足用户体验的重要标准之一。</a:t>
            </a:r>
            <a:endParaRPr lang="en-US" sz="1400" dirty="0"/>
          </a:p>
          <a:p>
            <a:pPr indent="0" marL="0">
              <a:lnSpc>
                <a:spcPct val="145000"/>
              </a:lnSpc>
              <a:spcAft>
                <a:spcPts val="1200"/>
              </a:spcAft>
              <a:buNone/>
            </a:pPr>
            <a:r>
              <a:rPr lang="en-US" sz="1400" dirty="0">
                <a:solidFill>
                  <a:srgbClr val="111111"/>
                </a:solidFill>
                <a:latin typeface="Microsoft YaHei" pitchFamily="34" charset="0"/>
                <a:ea typeface="Microsoft YaHei" pitchFamily="34" charset="-122"/>
                <a:cs typeface="Microsoft YaHei" pitchFamily="34" charset="-120"/>
              </a:rPr>
              <a:t>材料的感官体验是产品个性中最直接和最明显的部分，它通过色彩、形态、肌理、声音、触感、味道等作用于人的各种感觉器官。</a:t>
            </a:r>
            <a:endParaRPr lang="en-US" sz="1400" dirty="0"/>
          </a:p>
        </p:txBody>
      </p:sp>
      <p:sp>
        <p:nvSpPr>
          <p:cNvPr id="12" name="Shape 10"/>
          <p:cNvSpPr/>
          <p:nvPr/>
        </p:nvSpPr>
        <p:spPr>
          <a:xfrm>
            <a:off x="5257800" y="1188720"/>
            <a:ext cx="1682496" cy="1051560"/>
          </a:xfrm>
          <a:prstGeom prst="roundRect">
            <a:avLst>
              <a:gd name="adj" fmla="val 8696"/>
            </a:avLst>
          </a:prstGeom>
          <a:solidFill>
            <a:srgbClr val="E4FF97"/>
          </a:solidFill>
          <a:ln/>
        </p:spPr>
      </p:sp>
      <p:sp>
        <p:nvSpPr>
          <p:cNvPr id="13" name="Text 11"/>
          <p:cNvSpPr txBox="1"/>
          <p:nvPr/>
        </p:nvSpPr>
        <p:spPr>
          <a:xfrm>
            <a:off x="5257800" y="1188720"/>
            <a:ext cx="1682496" cy="10515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色彩</a:t>
            </a:r>
            <a:endParaRPr lang="en-US" sz="2000" dirty="0"/>
          </a:p>
        </p:txBody>
      </p:sp>
      <p:sp>
        <p:nvSpPr>
          <p:cNvPr id="14" name="Shape 12"/>
          <p:cNvSpPr/>
          <p:nvPr/>
        </p:nvSpPr>
        <p:spPr>
          <a:xfrm>
            <a:off x="7050024" y="1188720"/>
            <a:ext cx="1682496" cy="1051560"/>
          </a:xfrm>
          <a:prstGeom prst="roundRect">
            <a:avLst>
              <a:gd name="adj" fmla="val 8696"/>
            </a:avLst>
          </a:prstGeom>
          <a:solidFill>
            <a:srgbClr val="F4F4F4"/>
          </a:solidFill>
          <a:ln/>
        </p:spPr>
      </p:sp>
      <p:sp>
        <p:nvSpPr>
          <p:cNvPr id="15" name="Text 13"/>
          <p:cNvSpPr txBox="1"/>
          <p:nvPr/>
        </p:nvSpPr>
        <p:spPr>
          <a:xfrm>
            <a:off x="7050024" y="1188720"/>
            <a:ext cx="1682496" cy="10515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形态</a:t>
            </a:r>
            <a:endParaRPr lang="en-US" sz="2000" dirty="0"/>
          </a:p>
        </p:txBody>
      </p:sp>
      <p:sp>
        <p:nvSpPr>
          <p:cNvPr id="16" name="Shape 14"/>
          <p:cNvSpPr/>
          <p:nvPr/>
        </p:nvSpPr>
        <p:spPr>
          <a:xfrm>
            <a:off x="5257800" y="2331720"/>
            <a:ext cx="1682496" cy="1051560"/>
          </a:xfrm>
          <a:prstGeom prst="roundRect">
            <a:avLst>
              <a:gd name="adj" fmla="val 8696"/>
            </a:avLst>
          </a:prstGeom>
          <a:solidFill>
            <a:srgbClr val="111111"/>
          </a:solidFill>
          <a:ln/>
        </p:spPr>
      </p:sp>
      <p:sp>
        <p:nvSpPr>
          <p:cNvPr id="17" name="Text 15"/>
          <p:cNvSpPr txBox="1"/>
          <p:nvPr/>
        </p:nvSpPr>
        <p:spPr>
          <a:xfrm>
            <a:off x="5257800" y="2331720"/>
            <a:ext cx="1682496" cy="1051560"/>
          </a:xfrm>
          <a:prstGeom prst="rect">
            <a:avLst/>
          </a:prstGeom>
          <a:noFill/>
          <a:ln/>
        </p:spPr>
        <p:txBody>
          <a:bodyPr wrap="square" lIns="0" tIns="0" rIns="0" bIns="0" rtlCol="0" anchor="ctr"/>
          <a:lstStyle/>
          <a:p>
            <a:pPr algn="ctr" indent="0" marL="0">
              <a:buNone/>
            </a:pPr>
            <a:r>
              <a:rPr lang="en-US" sz="2000" b="1" dirty="0">
                <a:solidFill>
                  <a:srgbClr val="FFFFFF"/>
                </a:solidFill>
                <a:latin typeface="Microsoft YaHei" pitchFamily="34" charset="0"/>
                <a:ea typeface="Microsoft YaHei" pitchFamily="34" charset="-122"/>
                <a:cs typeface="Microsoft YaHei" pitchFamily="34" charset="-120"/>
              </a:rPr>
              <a:t>肌理</a:t>
            </a:r>
            <a:endParaRPr lang="en-US" sz="2000" dirty="0"/>
          </a:p>
        </p:txBody>
      </p:sp>
      <p:sp>
        <p:nvSpPr>
          <p:cNvPr id="18" name="Shape 16"/>
          <p:cNvSpPr/>
          <p:nvPr/>
        </p:nvSpPr>
        <p:spPr>
          <a:xfrm>
            <a:off x="7050024" y="2331720"/>
            <a:ext cx="1682496" cy="1051560"/>
          </a:xfrm>
          <a:prstGeom prst="roundRect">
            <a:avLst>
              <a:gd name="adj" fmla="val 8696"/>
            </a:avLst>
          </a:prstGeom>
          <a:solidFill>
            <a:srgbClr val="EBEBEB"/>
          </a:solidFill>
          <a:ln/>
        </p:spPr>
      </p:sp>
      <p:sp>
        <p:nvSpPr>
          <p:cNvPr id="19" name="Text 17"/>
          <p:cNvSpPr txBox="1"/>
          <p:nvPr/>
        </p:nvSpPr>
        <p:spPr>
          <a:xfrm>
            <a:off x="7050024" y="2331720"/>
            <a:ext cx="1682496" cy="10515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声音</a:t>
            </a:r>
            <a:endParaRPr lang="en-US" sz="2000" dirty="0"/>
          </a:p>
        </p:txBody>
      </p:sp>
      <p:sp>
        <p:nvSpPr>
          <p:cNvPr id="20" name="Shape 18"/>
          <p:cNvSpPr/>
          <p:nvPr/>
        </p:nvSpPr>
        <p:spPr>
          <a:xfrm>
            <a:off x="5257800" y="3474720"/>
            <a:ext cx="1682496" cy="1051560"/>
          </a:xfrm>
          <a:prstGeom prst="roundRect">
            <a:avLst>
              <a:gd name="adj" fmla="val 8696"/>
            </a:avLst>
          </a:prstGeom>
          <a:solidFill>
            <a:srgbClr val="F4F4F4"/>
          </a:solidFill>
          <a:ln/>
        </p:spPr>
      </p:sp>
      <p:sp>
        <p:nvSpPr>
          <p:cNvPr id="21" name="Text 19"/>
          <p:cNvSpPr txBox="1"/>
          <p:nvPr/>
        </p:nvSpPr>
        <p:spPr>
          <a:xfrm>
            <a:off x="5257800" y="3474720"/>
            <a:ext cx="1682496" cy="10515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触感</a:t>
            </a:r>
            <a:endParaRPr lang="en-US" sz="2000" dirty="0"/>
          </a:p>
        </p:txBody>
      </p:sp>
      <p:sp>
        <p:nvSpPr>
          <p:cNvPr id="22" name="Shape 20"/>
          <p:cNvSpPr/>
          <p:nvPr/>
        </p:nvSpPr>
        <p:spPr>
          <a:xfrm>
            <a:off x="7050024" y="3474720"/>
            <a:ext cx="1682496" cy="1051560"/>
          </a:xfrm>
          <a:prstGeom prst="roundRect">
            <a:avLst>
              <a:gd name="adj" fmla="val 8696"/>
            </a:avLst>
          </a:prstGeom>
          <a:solidFill>
            <a:srgbClr val="E4FF97"/>
          </a:solidFill>
          <a:ln/>
        </p:spPr>
      </p:sp>
      <p:sp>
        <p:nvSpPr>
          <p:cNvPr id="23" name="Text 21"/>
          <p:cNvSpPr txBox="1"/>
          <p:nvPr/>
        </p:nvSpPr>
        <p:spPr>
          <a:xfrm>
            <a:off x="7050024" y="3474720"/>
            <a:ext cx="1682496" cy="1051560"/>
          </a:xfrm>
          <a:prstGeom prst="rect">
            <a:avLst/>
          </a:prstGeom>
          <a:noFill/>
          <a:ln/>
        </p:spPr>
        <p:txBody>
          <a:bodyPr wrap="square" lIns="0" tIns="0" rIns="0" bIns="0" rtlCol="0" anchor="ctr"/>
          <a:lstStyle/>
          <a:p>
            <a:pPr algn="ctr" indent="0" marL="0">
              <a:buNone/>
            </a:pPr>
            <a:r>
              <a:rPr lang="en-US" sz="2000" b="1" dirty="0">
                <a:solidFill>
                  <a:srgbClr val="111111"/>
                </a:solidFill>
                <a:latin typeface="Microsoft YaHei" pitchFamily="34" charset="0"/>
                <a:ea typeface="Microsoft YaHei" pitchFamily="34" charset="-122"/>
                <a:cs typeface="Microsoft YaHei" pitchFamily="34" charset="-120"/>
              </a:rPr>
              <a:t>味道</a:t>
            </a:r>
            <a:endParaRPr lang="en-US" sz="2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457200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457200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 · 视觉体验</a:t>
            </a:r>
            <a:endParaRPr lang="en-US" sz="2400" dirty="0"/>
          </a:p>
        </p:txBody>
      </p:sp>
      <p:sp>
        <p:nvSpPr>
          <p:cNvPr id="4" name="Text 2"/>
          <p:cNvSpPr txBox="1"/>
          <p:nvPr/>
        </p:nvSpPr>
        <p:spPr>
          <a:xfrm>
            <a:off x="411480" y="758952"/>
            <a:ext cx="457200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Vision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45</a:t>
            </a:r>
            <a:endParaRPr lang="en-US" sz="750" dirty="0"/>
          </a:p>
        </p:txBody>
      </p:sp>
      <p:pic>
        <p:nvPicPr>
          <p:cNvPr id="11" name="Image 0" descr="p43_0">    </p:cNvPr>
          <p:cNvPicPr>
            <a:picLocks noChangeAspect="1"/>
          </p:cNvPicPr>
          <p:nvPr/>
        </p:nvPicPr>
        <p:blipFill>
          <a:blip r:embed="rId1"/>
          <a:stretch>
            <a:fillRect/>
          </a:stretch>
        </p:blipFill>
        <p:spPr>
          <a:xfrm>
            <a:off x="5120640" y="0"/>
            <a:ext cx="4023360" cy="4636008"/>
          </a:xfrm>
          <a:prstGeom prst="rect">
            <a:avLst/>
          </a:prstGeom>
        </p:spPr>
      </p:pic>
      <p:sp>
        <p:nvSpPr>
          <p:cNvPr id="12" name="Text 9"/>
          <p:cNvSpPr txBox="1"/>
          <p:nvPr/>
        </p:nvSpPr>
        <p:spPr>
          <a:xfrm>
            <a:off x="411480" y="1325880"/>
            <a:ext cx="4389120" cy="822960"/>
          </a:xfrm>
          <a:prstGeom prst="rect">
            <a:avLst/>
          </a:prstGeom>
          <a:noFill/>
          <a:ln/>
        </p:spPr>
        <p:txBody>
          <a:bodyPr wrap="square" lIns="0" tIns="0" rIns="0" bIns="0" rtlCol="0" anchor="ctr"/>
          <a:lstStyle/>
          <a:p>
            <a:pPr indent="0" marL="0">
              <a:buNone/>
            </a:pPr>
            <a:r>
              <a:rPr lang="en-US" sz="4400" b="1" dirty="0">
                <a:solidFill>
                  <a:srgbClr val="111111"/>
                </a:solidFill>
                <a:latin typeface="Microsoft YaHei" pitchFamily="34" charset="0"/>
                <a:ea typeface="Microsoft YaHei" pitchFamily="34" charset="-122"/>
                <a:cs typeface="Microsoft YaHei" pitchFamily="34" charset="-120"/>
              </a:rPr>
              <a:t>视觉</a:t>
            </a:r>
            <a:endParaRPr lang="en-US" sz="4400" dirty="0"/>
          </a:p>
        </p:txBody>
      </p:sp>
      <p:sp>
        <p:nvSpPr>
          <p:cNvPr id="13" name="Shape 10"/>
          <p:cNvSpPr/>
          <p:nvPr/>
        </p:nvSpPr>
        <p:spPr>
          <a:xfrm>
            <a:off x="411480" y="2240280"/>
            <a:ext cx="457200" cy="64008"/>
          </a:xfrm>
          <a:prstGeom prst="rect">
            <a:avLst/>
          </a:prstGeom>
          <a:solidFill>
            <a:srgbClr val="E4FF97"/>
          </a:solidFill>
          <a:ln/>
        </p:spPr>
      </p:sp>
      <p:sp>
        <p:nvSpPr>
          <p:cNvPr id="14" name="Text 11"/>
          <p:cNvSpPr txBox="1"/>
          <p:nvPr/>
        </p:nvSpPr>
        <p:spPr>
          <a:xfrm>
            <a:off x="411480" y="2514600"/>
            <a:ext cx="4389120" cy="1920240"/>
          </a:xfrm>
          <a:prstGeom prst="rect">
            <a:avLst/>
          </a:prstGeom>
          <a:noFill/>
          <a:ln/>
        </p:spPr>
        <p:txBody>
          <a:bodyPr wrap="square" lIns="0" tIns="0" rIns="0" bIns="0" rtlCol="0" anchor="t"/>
          <a:lstStyle/>
          <a:p>
            <a:pPr indent="0" marL="0">
              <a:lnSpc>
                <a:spcPct val="145000"/>
              </a:lnSpc>
              <a:buNone/>
            </a:pPr>
            <a:r>
              <a:rPr lang="en-US" sz="1400" dirty="0">
                <a:solidFill>
                  <a:srgbClr val="111111"/>
                </a:solidFill>
                <a:latin typeface="Microsoft YaHei" pitchFamily="34" charset="0"/>
                <a:ea typeface="Microsoft YaHei" pitchFamily="34" charset="-122"/>
                <a:cs typeface="Microsoft YaHei" pitchFamily="34" charset="-120"/>
              </a:rPr>
              <a:t>视觉是人类认知世界并获取信息的前提，是辨别材料表面形态、光泽度、色彩、肌理和透明度的重要感官通道，也是个体评价产品造型、色彩和结构等内容的重要渠道。</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表征产品视觉特征的材料物理量</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CIELAB Color Space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46</a:t>
            </a:r>
            <a:endParaRPr lang="en-US" sz="750" dirty="0"/>
          </a:p>
        </p:txBody>
      </p:sp>
      <p:sp>
        <p:nvSpPr>
          <p:cNvPr id="11" name="Text 9"/>
          <p:cNvSpPr txBox="1"/>
          <p:nvPr/>
        </p:nvSpPr>
        <p:spPr>
          <a:xfrm>
            <a:off x="411480" y="1143000"/>
            <a:ext cx="8321040" cy="86868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CIELAB是一种不依赖材料表面状况，并与人类视觉系统识别颜色机制相一致的色彩模型。产品设计常通过参考CIELAB色彩空间中的物理量来选择合适的颜色，主要包括明度、红绿色品指数、黄蓝色品指数、饱和度及色调角五项物理量。</a:t>
            </a:r>
            <a:endParaRPr lang="en-US" sz="1250" dirty="0"/>
          </a:p>
        </p:txBody>
      </p:sp>
      <p:sp>
        <p:nvSpPr>
          <p:cNvPr id="12" name="Shape 10"/>
          <p:cNvSpPr/>
          <p:nvPr/>
        </p:nvSpPr>
        <p:spPr>
          <a:xfrm>
            <a:off x="411480" y="2148840"/>
            <a:ext cx="411480" cy="411480"/>
          </a:xfrm>
          <a:prstGeom prst="rect">
            <a:avLst/>
          </a:prstGeom>
          <a:solidFill>
            <a:srgbClr val="E4FF97"/>
          </a:solidFill>
          <a:ln/>
        </p:spPr>
      </p:sp>
      <p:sp>
        <p:nvSpPr>
          <p:cNvPr id="13" name="Text 11"/>
          <p:cNvSpPr txBox="1"/>
          <p:nvPr/>
        </p:nvSpPr>
        <p:spPr>
          <a:xfrm>
            <a:off x="411480" y="2148840"/>
            <a:ext cx="411480" cy="41148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L</a:t>
            </a:r>
            <a:endParaRPr lang="en-US" sz="1600" dirty="0"/>
          </a:p>
        </p:txBody>
      </p:sp>
      <p:sp>
        <p:nvSpPr>
          <p:cNvPr id="14" name="Shape 12"/>
          <p:cNvSpPr/>
          <p:nvPr/>
        </p:nvSpPr>
        <p:spPr>
          <a:xfrm>
            <a:off x="868680" y="2148840"/>
            <a:ext cx="4892040" cy="411480"/>
          </a:xfrm>
          <a:prstGeom prst="rect">
            <a:avLst/>
          </a:prstGeom>
          <a:solidFill>
            <a:srgbClr val="F4F4F4"/>
          </a:solidFill>
          <a:ln/>
        </p:spPr>
      </p:sp>
      <p:sp>
        <p:nvSpPr>
          <p:cNvPr id="15" name="Text 13"/>
          <p:cNvSpPr txBox="1"/>
          <p:nvPr/>
        </p:nvSpPr>
        <p:spPr>
          <a:xfrm>
            <a:off x="1005840" y="2148840"/>
            <a:ext cx="4709160" cy="41148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代表图像色彩的明度（Lightness）即从纯黑至纯白；</a:t>
            </a:r>
            <a:endParaRPr lang="en-US" sz="1150" dirty="0"/>
          </a:p>
        </p:txBody>
      </p:sp>
      <p:sp>
        <p:nvSpPr>
          <p:cNvPr id="16" name="Shape 14"/>
          <p:cNvSpPr/>
          <p:nvPr/>
        </p:nvSpPr>
        <p:spPr>
          <a:xfrm>
            <a:off x="411480" y="2633472"/>
            <a:ext cx="411480" cy="411480"/>
          </a:xfrm>
          <a:prstGeom prst="rect">
            <a:avLst/>
          </a:prstGeom>
          <a:solidFill>
            <a:srgbClr val="111111"/>
          </a:solidFill>
          <a:ln/>
        </p:spPr>
      </p:sp>
      <p:sp>
        <p:nvSpPr>
          <p:cNvPr id="17" name="Text 15"/>
          <p:cNvSpPr txBox="1"/>
          <p:nvPr/>
        </p:nvSpPr>
        <p:spPr>
          <a:xfrm>
            <a:off x="411480" y="263347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a:t>
            </a:r>
            <a:endParaRPr lang="en-US" sz="1600" dirty="0"/>
          </a:p>
        </p:txBody>
      </p:sp>
      <p:sp>
        <p:nvSpPr>
          <p:cNvPr id="18" name="Shape 16"/>
          <p:cNvSpPr/>
          <p:nvPr/>
        </p:nvSpPr>
        <p:spPr>
          <a:xfrm>
            <a:off x="868680" y="2633472"/>
            <a:ext cx="4892040" cy="411480"/>
          </a:xfrm>
          <a:prstGeom prst="rect">
            <a:avLst/>
          </a:prstGeom>
          <a:solidFill>
            <a:srgbClr val="F4F4F4"/>
          </a:solidFill>
          <a:ln/>
        </p:spPr>
      </p:sp>
      <p:sp>
        <p:nvSpPr>
          <p:cNvPr id="19" name="Text 17"/>
          <p:cNvSpPr txBox="1"/>
          <p:nvPr/>
        </p:nvSpPr>
        <p:spPr>
          <a:xfrm>
            <a:off x="1005840" y="2633472"/>
            <a:ext cx="4709160" cy="41148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代表红绿色品指数，即从红色到绿色的颜色差异；</a:t>
            </a:r>
            <a:endParaRPr lang="en-US" sz="1150" dirty="0"/>
          </a:p>
        </p:txBody>
      </p:sp>
      <p:sp>
        <p:nvSpPr>
          <p:cNvPr id="20" name="Shape 18"/>
          <p:cNvSpPr/>
          <p:nvPr/>
        </p:nvSpPr>
        <p:spPr>
          <a:xfrm>
            <a:off x="411480" y="3118104"/>
            <a:ext cx="411480" cy="411480"/>
          </a:xfrm>
          <a:prstGeom prst="rect">
            <a:avLst/>
          </a:prstGeom>
          <a:solidFill>
            <a:srgbClr val="E4FF97"/>
          </a:solidFill>
          <a:ln/>
        </p:spPr>
      </p:sp>
      <p:sp>
        <p:nvSpPr>
          <p:cNvPr id="21" name="Text 19"/>
          <p:cNvSpPr txBox="1"/>
          <p:nvPr/>
        </p:nvSpPr>
        <p:spPr>
          <a:xfrm>
            <a:off x="411480" y="3118104"/>
            <a:ext cx="411480" cy="41148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b</a:t>
            </a:r>
            <a:endParaRPr lang="en-US" sz="1600" dirty="0"/>
          </a:p>
        </p:txBody>
      </p:sp>
      <p:sp>
        <p:nvSpPr>
          <p:cNvPr id="22" name="Shape 20"/>
          <p:cNvSpPr/>
          <p:nvPr/>
        </p:nvSpPr>
        <p:spPr>
          <a:xfrm>
            <a:off x="868680" y="3118104"/>
            <a:ext cx="4892040" cy="411480"/>
          </a:xfrm>
          <a:prstGeom prst="rect">
            <a:avLst/>
          </a:prstGeom>
          <a:solidFill>
            <a:srgbClr val="F4F4F4"/>
          </a:solidFill>
          <a:ln/>
        </p:spPr>
      </p:sp>
      <p:sp>
        <p:nvSpPr>
          <p:cNvPr id="23" name="Text 21"/>
          <p:cNvSpPr txBox="1"/>
          <p:nvPr/>
        </p:nvSpPr>
        <p:spPr>
          <a:xfrm>
            <a:off x="1005840" y="3118104"/>
            <a:ext cx="4709160" cy="41148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则代表的是黄蓝色品指数即从黄色到蓝色的颜色差异；</a:t>
            </a:r>
            <a:endParaRPr lang="en-US" sz="1150" dirty="0"/>
          </a:p>
        </p:txBody>
      </p:sp>
      <p:sp>
        <p:nvSpPr>
          <p:cNvPr id="24" name="Shape 22"/>
          <p:cNvSpPr/>
          <p:nvPr/>
        </p:nvSpPr>
        <p:spPr>
          <a:xfrm>
            <a:off x="411480" y="3602736"/>
            <a:ext cx="411480" cy="411480"/>
          </a:xfrm>
          <a:prstGeom prst="rect">
            <a:avLst/>
          </a:prstGeom>
          <a:solidFill>
            <a:srgbClr val="111111"/>
          </a:solidFill>
          <a:ln/>
        </p:spPr>
      </p:sp>
      <p:sp>
        <p:nvSpPr>
          <p:cNvPr id="25" name="Text 23"/>
          <p:cNvSpPr txBox="1"/>
          <p:nvPr/>
        </p:nvSpPr>
        <p:spPr>
          <a:xfrm>
            <a:off x="411480" y="3602736"/>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a:t>
            </a:r>
            <a:endParaRPr lang="en-US" sz="1600" dirty="0"/>
          </a:p>
        </p:txBody>
      </p:sp>
      <p:sp>
        <p:nvSpPr>
          <p:cNvPr id="26" name="Shape 24"/>
          <p:cNvSpPr/>
          <p:nvPr/>
        </p:nvSpPr>
        <p:spPr>
          <a:xfrm>
            <a:off x="868680" y="3602736"/>
            <a:ext cx="4892040" cy="411480"/>
          </a:xfrm>
          <a:prstGeom prst="rect">
            <a:avLst/>
          </a:prstGeom>
          <a:solidFill>
            <a:srgbClr val="F4F4F4"/>
          </a:solidFill>
          <a:ln/>
        </p:spPr>
      </p:sp>
      <p:sp>
        <p:nvSpPr>
          <p:cNvPr id="27" name="Text 25"/>
          <p:cNvSpPr txBox="1"/>
          <p:nvPr/>
        </p:nvSpPr>
        <p:spPr>
          <a:xfrm>
            <a:off x="1005840" y="3602736"/>
            <a:ext cx="4709160" cy="41148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为饱和度（Chroma）又称为彩度（饱和度）；</a:t>
            </a:r>
            <a:endParaRPr lang="en-US" sz="1150" dirty="0"/>
          </a:p>
        </p:txBody>
      </p:sp>
      <p:sp>
        <p:nvSpPr>
          <p:cNvPr id="28" name="Shape 26"/>
          <p:cNvSpPr/>
          <p:nvPr/>
        </p:nvSpPr>
        <p:spPr>
          <a:xfrm>
            <a:off x="411480" y="4087368"/>
            <a:ext cx="411480" cy="411480"/>
          </a:xfrm>
          <a:prstGeom prst="rect">
            <a:avLst/>
          </a:prstGeom>
          <a:solidFill>
            <a:srgbClr val="E4FF97"/>
          </a:solidFill>
          <a:ln/>
        </p:spPr>
      </p:sp>
      <p:sp>
        <p:nvSpPr>
          <p:cNvPr id="29" name="Text 27"/>
          <p:cNvSpPr txBox="1"/>
          <p:nvPr/>
        </p:nvSpPr>
        <p:spPr>
          <a:xfrm>
            <a:off x="411480" y="4087368"/>
            <a:ext cx="411480" cy="411480"/>
          </a:xfrm>
          <a:prstGeom prst="rect">
            <a:avLst/>
          </a:prstGeom>
          <a:noFill/>
          <a:ln/>
        </p:spPr>
        <p:txBody>
          <a:bodyPr wrap="square" lIns="0" tIns="0" rIns="0" bIns="0" rtlCol="0" anchor="ctr"/>
          <a:lstStyle/>
          <a:p>
            <a:pPr algn="ctr" indent="0" marL="0">
              <a:buNone/>
            </a:pPr>
            <a:r>
              <a:rPr lang="en-US" sz="1600" b="1" dirty="0">
                <a:solidFill>
                  <a:srgbClr val="111111"/>
                </a:solidFill>
                <a:latin typeface="Arial" pitchFamily="34" charset="0"/>
                <a:ea typeface="Arial" pitchFamily="34" charset="-122"/>
                <a:cs typeface="Arial" pitchFamily="34" charset="-120"/>
              </a:rPr>
              <a:t>h</a:t>
            </a:r>
            <a:endParaRPr lang="en-US" sz="1600" dirty="0"/>
          </a:p>
        </p:txBody>
      </p:sp>
      <p:sp>
        <p:nvSpPr>
          <p:cNvPr id="30" name="Shape 28"/>
          <p:cNvSpPr/>
          <p:nvPr/>
        </p:nvSpPr>
        <p:spPr>
          <a:xfrm>
            <a:off x="868680" y="4087368"/>
            <a:ext cx="4892040" cy="411480"/>
          </a:xfrm>
          <a:prstGeom prst="rect">
            <a:avLst/>
          </a:prstGeom>
          <a:solidFill>
            <a:srgbClr val="F4F4F4"/>
          </a:solidFill>
          <a:ln/>
        </p:spPr>
      </p:sp>
      <p:sp>
        <p:nvSpPr>
          <p:cNvPr id="31" name="Text 29"/>
          <p:cNvSpPr txBox="1"/>
          <p:nvPr/>
        </p:nvSpPr>
        <p:spPr>
          <a:xfrm>
            <a:off x="1005840" y="4087368"/>
            <a:ext cx="4709160" cy="411480"/>
          </a:xfrm>
          <a:prstGeom prst="rect">
            <a:avLst/>
          </a:prstGeom>
          <a:noFill/>
          <a:ln/>
        </p:spPr>
        <p:txBody>
          <a:bodyPr wrap="square" lIns="0" tIns="0" rIns="0" bIns="0" rtlCol="0" anchor="ctr"/>
          <a:lstStyle/>
          <a:p>
            <a:pPr indent="0" marL="0">
              <a:buNone/>
            </a:pPr>
            <a:r>
              <a:rPr lang="en-US" sz="1150" dirty="0">
                <a:solidFill>
                  <a:srgbClr val="111111"/>
                </a:solidFill>
                <a:latin typeface="Microsoft YaHei" pitchFamily="34" charset="0"/>
                <a:ea typeface="Microsoft YaHei" pitchFamily="34" charset="-122"/>
                <a:cs typeface="Microsoft YaHei" pitchFamily="34" charset="-120"/>
              </a:rPr>
              <a:t>为色相（Hue）且通常为一个角度数值（也称为色调角）。</a:t>
            </a:r>
            <a:endParaRPr lang="en-US" sz="1150" dirty="0"/>
          </a:p>
        </p:txBody>
      </p:sp>
      <p:sp>
        <p:nvSpPr>
          <p:cNvPr id="32" name="Shape 30"/>
          <p:cNvSpPr/>
          <p:nvPr/>
        </p:nvSpPr>
        <p:spPr>
          <a:xfrm>
            <a:off x="5897880" y="2148840"/>
            <a:ext cx="2834640" cy="2350008"/>
          </a:xfrm>
          <a:prstGeom prst="roundRect">
            <a:avLst>
              <a:gd name="adj" fmla="val 3891"/>
            </a:avLst>
          </a:prstGeom>
          <a:solidFill>
            <a:srgbClr val="FFFFFF"/>
          </a:solidFill>
          <a:ln w="9525">
            <a:solidFill>
              <a:srgbClr val="D0D0D0"/>
            </a:solidFill>
            <a:prstDash val="solid"/>
          </a:ln>
        </p:spPr>
      </p:sp>
      <p:pic>
        <p:nvPicPr>
          <p:cNvPr id="33" name="Image 0" descr="p44_1">    </p:cNvPr>
          <p:cNvPicPr>
            <a:picLocks noChangeAspect="1"/>
          </p:cNvPicPr>
          <p:nvPr/>
        </p:nvPicPr>
        <p:blipFill>
          <a:blip r:embed="rId1"/>
          <a:stretch>
            <a:fillRect/>
          </a:stretch>
        </p:blipFill>
        <p:spPr>
          <a:xfrm>
            <a:off x="6206081" y="2212848"/>
            <a:ext cx="2218239" cy="2221992"/>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表征产品视觉特征的材料物理量</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Gloss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47</a:t>
            </a:r>
            <a:endParaRPr lang="en-US" sz="750" dirty="0"/>
          </a:p>
        </p:txBody>
      </p:sp>
      <p:sp>
        <p:nvSpPr>
          <p:cNvPr id="11" name="Text 9"/>
          <p:cNvSpPr txBox="1"/>
          <p:nvPr/>
        </p:nvSpPr>
        <p:spPr>
          <a:xfrm>
            <a:off x="411480" y="1188720"/>
            <a:ext cx="4572000" cy="2103120"/>
          </a:xfrm>
          <a:prstGeom prst="rect">
            <a:avLst/>
          </a:prstGeom>
          <a:noFill/>
          <a:ln/>
        </p:spPr>
        <p:txBody>
          <a:bodyPr wrap="square" lIns="0" tIns="0" rIns="0" bIns="0" rtlCol="0" anchor="t"/>
          <a:lstStyle/>
          <a:p>
            <a:pPr indent="0" marL="0">
              <a:lnSpc>
                <a:spcPct val="145000"/>
              </a:lnSpc>
              <a:buNone/>
            </a:pPr>
            <a:r>
              <a:rPr lang="en-US" sz="1350" dirty="0">
                <a:solidFill>
                  <a:srgbClr val="111111"/>
                </a:solidFill>
                <a:latin typeface="Microsoft YaHei" pitchFamily="34" charset="0"/>
                <a:ea typeface="Microsoft YaHei" pitchFamily="34" charset="-122"/>
                <a:cs typeface="Microsoft YaHei" pitchFamily="34" charset="-120"/>
              </a:rPr>
              <a:t>人们感受到的事物表面的亮度与材料表面的光泽度密切相关。但光泽度被认为与镜面反射程度、物体表面色素沉着和散射介质中的漫反射相关。大多数情况下，材料表面光泽度即为材料表面镜面光泽度（specular gloss），其单位被记为GU（gloss unit）。</a:t>
            </a:r>
            <a:endParaRPr lang="en-US" sz="1350" dirty="0"/>
          </a:p>
        </p:txBody>
      </p:sp>
      <p:sp>
        <p:nvSpPr>
          <p:cNvPr id="12" name="Shape 10"/>
          <p:cNvSpPr/>
          <p:nvPr/>
        </p:nvSpPr>
        <p:spPr>
          <a:xfrm>
            <a:off x="411480" y="3383280"/>
            <a:ext cx="4572000" cy="1188720"/>
          </a:xfrm>
          <a:prstGeom prst="roundRect">
            <a:avLst>
              <a:gd name="adj" fmla="val 7692"/>
            </a:avLst>
          </a:prstGeom>
          <a:solidFill>
            <a:srgbClr val="E4FF97"/>
          </a:solidFill>
          <a:ln/>
        </p:spPr>
      </p:sp>
      <p:sp>
        <p:nvSpPr>
          <p:cNvPr id="13" name="Text 11"/>
          <p:cNvSpPr txBox="1"/>
          <p:nvPr/>
        </p:nvSpPr>
        <p:spPr>
          <a:xfrm>
            <a:off x="640080" y="3383280"/>
            <a:ext cx="1463040" cy="1188720"/>
          </a:xfrm>
          <a:prstGeom prst="rect">
            <a:avLst/>
          </a:prstGeom>
          <a:noFill/>
          <a:ln/>
        </p:spPr>
        <p:txBody>
          <a:bodyPr wrap="square" lIns="0" tIns="0" rIns="0" bIns="0" rtlCol="0" anchor="ctr"/>
          <a:lstStyle/>
          <a:p>
            <a:pPr indent="0" marL="0">
              <a:buNone/>
            </a:pPr>
            <a:r>
              <a:rPr lang="en-US" sz="4400" b="1" dirty="0">
                <a:solidFill>
                  <a:srgbClr val="111111"/>
                </a:solidFill>
                <a:latin typeface="Arial" pitchFamily="34" charset="0"/>
                <a:ea typeface="Arial" pitchFamily="34" charset="-122"/>
                <a:cs typeface="Arial" pitchFamily="34" charset="-120"/>
              </a:rPr>
              <a:t>GU</a:t>
            </a:r>
            <a:endParaRPr lang="en-US" sz="4400" dirty="0"/>
          </a:p>
        </p:txBody>
      </p:sp>
      <p:sp>
        <p:nvSpPr>
          <p:cNvPr id="14" name="Text 12"/>
          <p:cNvSpPr txBox="1"/>
          <p:nvPr/>
        </p:nvSpPr>
        <p:spPr>
          <a:xfrm>
            <a:off x="2194560" y="3383280"/>
            <a:ext cx="2651760" cy="1188720"/>
          </a:xfrm>
          <a:prstGeom prst="rect">
            <a:avLst/>
          </a:prstGeom>
          <a:noFill/>
          <a:ln/>
        </p:spPr>
        <p:txBody>
          <a:bodyPr wrap="square" lIns="0" tIns="0" rIns="0" bIns="0" rtlCol="0" anchor="ctr"/>
          <a:lstStyle/>
          <a:p>
            <a:pPr indent="0" marL="0">
              <a:buNone/>
            </a:pPr>
            <a:r>
              <a:rPr lang="en-US" sz="1300" b="1" dirty="0">
                <a:solidFill>
                  <a:srgbClr val="111111"/>
                </a:solidFill>
                <a:latin typeface="Arial" pitchFamily="34" charset="0"/>
                <a:ea typeface="Arial" pitchFamily="34" charset="-122"/>
                <a:cs typeface="Arial" pitchFamily="34" charset="-120"/>
              </a:rPr>
              <a:t>gloss unit</a:t>
            </a:r>
            <a:endParaRPr lang="en-US" sz="1300" dirty="0"/>
          </a:p>
          <a:p>
            <a:pPr indent="0" marL="0">
              <a:buNone/>
            </a:pPr>
            <a:r>
              <a:rPr lang="en-US" sz="1300" dirty="0">
                <a:solidFill>
                  <a:srgbClr val="111111"/>
                </a:solidFill>
                <a:latin typeface="Microsoft YaHei" pitchFamily="34" charset="0"/>
                <a:ea typeface="Microsoft YaHei" pitchFamily="34" charset="-122"/>
                <a:cs typeface="Microsoft YaHei" pitchFamily="34" charset="-120"/>
              </a:rPr>
              <a:t>镜面光泽度（specular gloss）</a:t>
            </a:r>
            <a:endParaRPr lang="en-US" sz="1300" dirty="0"/>
          </a:p>
        </p:txBody>
      </p:sp>
      <p:pic>
        <p:nvPicPr>
          <p:cNvPr id="15" name="Image 0" descr="p45_1">    </p:cNvPr>
          <p:cNvPicPr>
            <a:picLocks noChangeAspect="1"/>
          </p:cNvPicPr>
          <p:nvPr/>
        </p:nvPicPr>
        <p:blipFill>
          <a:blip r:embed="rId1"/>
          <a:stretch>
            <a:fillRect/>
          </a:stretch>
        </p:blipFill>
        <p:spPr>
          <a:xfrm>
            <a:off x="5120640" y="1188720"/>
            <a:ext cx="3611880" cy="338328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457200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457200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 · 肤觉体验</a:t>
            </a:r>
            <a:endParaRPr lang="en-US" sz="2400" dirty="0"/>
          </a:p>
        </p:txBody>
      </p:sp>
      <p:sp>
        <p:nvSpPr>
          <p:cNvPr id="4" name="Text 2"/>
          <p:cNvSpPr txBox="1"/>
          <p:nvPr/>
        </p:nvSpPr>
        <p:spPr>
          <a:xfrm>
            <a:off x="411480" y="758952"/>
            <a:ext cx="457200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Somatosensation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48</a:t>
            </a:r>
            <a:endParaRPr lang="en-US" sz="750" dirty="0"/>
          </a:p>
        </p:txBody>
      </p:sp>
      <p:pic>
        <p:nvPicPr>
          <p:cNvPr id="11" name="Image 0" descr="p46_0">    </p:cNvPr>
          <p:cNvPicPr>
            <a:picLocks noChangeAspect="1"/>
          </p:cNvPicPr>
          <p:nvPr/>
        </p:nvPicPr>
        <p:blipFill>
          <a:blip r:embed="rId1"/>
          <a:stretch>
            <a:fillRect/>
          </a:stretch>
        </p:blipFill>
        <p:spPr>
          <a:xfrm>
            <a:off x="5120640" y="0"/>
            <a:ext cx="4023360" cy="4636008"/>
          </a:xfrm>
          <a:prstGeom prst="rect">
            <a:avLst/>
          </a:prstGeom>
        </p:spPr>
      </p:pic>
      <p:sp>
        <p:nvSpPr>
          <p:cNvPr id="12" name="Text 9"/>
          <p:cNvSpPr txBox="1"/>
          <p:nvPr/>
        </p:nvSpPr>
        <p:spPr>
          <a:xfrm>
            <a:off x="411480" y="1188720"/>
            <a:ext cx="4480560" cy="2377440"/>
          </a:xfrm>
          <a:prstGeom prst="rect">
            <a:avLst/>
          </a:prstGeom>
          <a:noFill/>
          <a:ln/>
        </p:spPr>
        <p:txBody>
          <a:bodyPr wrap="square" lIns="0" tIns="0" rIns="0" bIns="0" rtlCol="0" anchor="t"/>
          <a:lstStyle/>
          <a:p>
            <a:pPr indent="0" marL="0">
              <a:lnSpc>
                <a:spcPct val="140000"/>
              </a:lnSpc>
              <a:spcAft>
                <a:spcPts val="800"/>
              </a:spcAft>
              <a:buNone/>
            </a:pPr>
            <a:r>
              <a:rPr lang="en-US" sz="1250" dirty="0">
                <a:solidFill>
                  <a:srgbClr val="111111"/>
                </a:solidFill>
                <a:latin typeface="Microsoft YaHei" pitchFamily="34" charset="0"/>
                <a:ea typeface="Microsoft YaHei" pitchFamily="34" charset="-122"/>
                <a:cs typeface="Microsoft YaHei" pitchFamily="34" charset="-120"/>
              </a:rPr>
              <a:t>肤觉被认为是人类探索世界最自然的感官通道。相较于其他感官模态，肤觉涉及更广泛的感觉传送器和信息通道。</a:t>
            </a:r>
            <a:endParaRPr lang="en-US" sz="1250" dirty="0"/>
          </a:p>
          <a:p>
            <a:pPr indent="0" marL="0">
              <a:lnSpc>
                <a:spcPct val="140000"/>
              </a:lnSpc>
              <a:spcAft>
                <a:spcPts val="800"/>
              </a:spcAft>
              <a:buNone/>
            </a:pPr>
            <a:r>
              <a:rPr lang="en-US" sz="1250" dirty="0">
                <a:solidFill>
                  <a:srgbClr val="111111"/>
                </a:solidFill>
                <a:latin typeface="Microsoft YaHei" pitchFamily="34" charset="0"/>
                <a:ea typeface="Microsoft YaHei" pitchFamily="34" charset="-122"/>
                <a:cs typeface="Microsoft YaHei" pitchFamily="34" charset="-120"/>
              </a:rPr>
              <a:t>肤觉主要包括触觉、温度觉及痛觉三类：触觉是皮肤对外部力学刺激产生的感受；温度觉则与皮肤感受到的温暖或寒冷有关；而痛觉主要警示生物可能遭受到危险。</a:t>
            </a:r>
            <a:endParaRPr lang="en-US" sz="1250" dirty="0"/>
          </a:p>
        </p:txBody>
      </p:sp>
      <p:sp>
        <p:nvSpPr>
          <p:cNvPr id="13" name="Shape 10"/>
          <p:cNvSpPr/>
          <p:nvPr/>
        </p:nvSpPr>
        <p:spPr>
          <a:xfrm>
            <a:off x="411480" y="3749040"/>
            <a:ext cx="1426464" cy="777240"/>
          </a:xfrm>
          <a:prstGeom prst="roundRect">
            <a:avLst>
              <a:gd name="adj" fmla="val 11765"/>
            </a:avLst>
          </a:prstGeom>
          <a:solidFill>
            <a:srgbClr val="E4FF97"/>
          </a:solidFill>
          <a:ln/>
        </p:spPr>
      </p:sp>
      <p:sp>
        <p:nvSpPr>
          <p:cNvPr id="14" name="Text 11"/>
          <p:cNvSpPr txBox="1"/>
          <p:nvPr/>
        </p:nvSpPr>
        <p:spPr>
          <a:xfrm>
            <a:off x="411480" y="3749040"/>
            <a:ext cx="1426464" cy="777240"/>
          </a:xfrm>
          <a:prstGeom prst="rect">
            <a:avLst/>
          </a:prstGeom>
          <a:noFill/>
          <a:ln/>
        </p:spPr>
        <p:txBody>
          <a:bodyPr wrap="square" lIns="0" tIns="0" rIns="0" bIns="0" rtlCol="0" anchor="ctr"/>
          <a:lstStyle/>
          <a:p>
            <a:pPr algn="ctr" indent="0" marL="0">
              <a:buNone/>
            </a:pPr>
            <a:r>
              <a:rPr lang="en-US" sz="1600" b="1" dirty="0">
                <a:solidFill>
                  <a:srgbClr val="111111"/>
                </a:solidFill>
                <a:latin typeface="Microsoft YaHei" pitchFamily="34" charset="0"/>
                <a:ea typeface="Microsoft YaHei" pitchFamily="34" charset="-122"/>
                <a:cs typeface="Microsoft YaHei" pitchFamily="34" charset="-120"/>
              </a:rPr>
              <a:t>触觉</a:t>
            </a:r>
            <a:endParaRPr lang="en-US" sz="1600" dirty="0"/>
          </a:p>
        </p:txBody>
      </p:sp>
      <p:sp>
        <p:nvSpPr>
          <p:cNvPr id="15" name="Shape 12"/>
          <p:cNvSpPr/>
          <p:nvPr/>
        </p:nvSpPr>
        <p:spPr>
          <a:xfrm>
            <a:off x="1929384" y="3749040"/>
            <a:ext cx="1426464" cy="777240"/>
          </a:xfrm>
          <a:prstGeom prst="roundRect">
            <a:avLst>
              <a:gd name="adj" fmla="val 11765"/>
            </a:avLst>
          </a:prstGeom>
          <a:solidFill>
            <a:srgbClr val="EBEBEB"/>
          </a:solidFill>
          <a:ln/>
        </p:spPr>
      </p:sp>
      <p:sp>
        <p:nvSpPr>
          <p:cNvPr id="16" name="Text 13"/>
          <p:cNvSpPr txBox="1"/>
          <p:nvPr/>
        </p:nvSpPr>
        <p:spPr>
          <a:xfrm>
            <a:off x="1929384" y="3749040"/>
            <a:ext cx="1426464" cy="777240"/>
          </a:xfrm>
          <a:prstGeom prst="rect">
            <a:avLst/>
          </a:prstGeom>
          <a:noFill/>
          <a:ln/>
        </p:spPr>
        <p:txBody>
          <a:bodyPr wrap="square" lIns="0" tIns="0" rIns="0" bIns="0" rtlCol="0" anchor="ctr"/>
          <a:lstStyle/>
          <a:p>
            <a:pPr algn="ctr" indent="0" marL="0">
              <a:buNone/>
            </a:pPr>
            <a:r>
              <a:rPr lang="en-US" sz="1600" b="1" dirty="0">
                <a:solidFill>
                  <a:srgbClr val="111111"/>
                </a:solidFill>
                <a:latin typeface="Microsoft YaHei" pitchFamily="34" charset="0"/>
                <a:ea typeface="Microsoft YaHei" pitchFamily="34" charset="-122"/>
                <a:cs typeface="Microsoft YaHei" pitchFamily="34" charset="-120"/>
              </a:rPr>
              <a:t>温度觉</a:t>
            </a:r>
            <a:endParaRPr lang="en-US" sz="1600" dirty="0"/>
          </a:p>
        </p:txBody>
      </p:sp>
      <p:sp>
        <p:nvSpPr>
          <p:cNvPr id="17" name="Shape 14"/>
          <p:cNvSpPr/>
          <p:nvPr/>
        </p:nvSpPr>
        <p:spPr>
          <a:xfrm>
            <a:off x="3447288" y="3749040"/>
            <a:ext cx="1426464" cy="777240"/>
          </a:xfrm>
          <a:prstGeom prst="roundRect">
            <a:avLst>
              <a:gd name="adj" fmla="val 11765"/>
            </a:avLst>
          </a:prstGeom>
          <a:solidFill>
            <a:srgbClr val="111111"/>
          </a:solidFill>
          <a:ln/>
        </p:spPr>
      </p:sp>
      <p:sp>
        <p:nvSpPr>
          <p:cNvPr id="18" name="Text 15"/>
          <p:cNvSpPr txBox="1"/>
          <p:nvPr/>
        </p:nvSpPr>
        <p:spPr>
          <a:xfrm>
            <a:off x="3447288" y="3749040"/>
            <a:ext cx="1426464" cy="777240"/>
          </a:xfrm>
          <a:prstGeom prst="rect">
            <a:avLst/>
          </a:prstGeom>
          <a:noFill/>
          <a:ln/>
        </p:spPr>
        <p:txBody>
          <a:bodyPr wrap="square" lIns="0" tIns="0" rIns="0" bIns="0" rtlCol="0" anchor="ctr"/>
          <a:lstStyle/>
          <a:p>
            <a:pPr algn="ctr" indent="0" marL="0">
              <a:buNone/>
            </a:pPr>
            <a:r>
              <a:rPr lang="en-US" sz="1600" b="1" dirty="0">
                <a:solidFill>
                  <a:srgbClr val="FFFFFF"/>
                </a:solidFill>
                <a:latin typeface="Microsoft YaHei" pitchFamily="34" charset="0"/>
                <a:ea typeface="Microsoft YaHei" pitchFamily="34" charset="-122"/>
                <a:cs typeface="Microsoft YaHei" pitchFamily="34" charset="-120"/>
              </a:rPr>
              <a:t>痛觉</a:t>
            </a:r>
            <a:endParaRPr lang="en-US" sz="16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 · 肤觉体验</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Somatosensation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49</a:t>
            </a:r>
            <a:endParaRPr lang="en-US" sz="750" dirty="0"/>
          </a:p>
        </p:txBody>
      </p:sp>
      <p:sp>
        <p:nvSpPr>
          <p:cNvPr id="11" name="Text 9"/>
          <p:cNvSpPr txBox="1"/>
          <p:nvPr/>
        </p:nvSpPr>
        <p:spPr>
          <a:xfrm>
            <a:off x="411480" y="1280160"/>
            <a:ext cx="4023360" cy="1463040"/>
          </a:xfrm>
          <a:prstGeom prst="rect">
            <a:avLst/>
          </a:prstGeom>
          <a:noFill/>
          <a:ln/>
        </p:spPr>
        <p:txBody>
          <a:bodyPr wrap="square" lIns="0" tIns="0" rIns="0" bIns="0" rtlCol="0" anchor="t"/>
          <a:lstStyle/>
          <a:p>
            <a:pPr indent="0" marL="0">
              <a:lnSpc>
                <a:spcPct val="140000"/>
              </a:lnSpc>
              <a:buNone/>
            </a:pPr>
            <a:r>
              <a:rPr lang="en-US" sz="1900" dirty="0">
                <a:solidFill>
                  <a:srgbClr val="111111"/>
                </a:solidFill>
                <a:latin typeface="Microsoft YaHei" pitchFamily="34" charset="0"/>
                <a:ea typeface="Microsoft YaHei" pitchFamily="34" charset="-122"/>
                <a:cs typeface="Microsoft YaHei" pitchFamily="34" charset="-120"/>
              </a:rPr>
              <a:t>Pinel等人在研究中发现：手、嘴唇和舌头是人类辨别肤觉信息的主要身体部位。</a:t>
            </a:r>
            <a:endParaRPr lang="en-US" sz="1900" dirty="0"/>
          </a:p>
        </p:txBody>
      </p:sp>
      <p:sp>
        <p:nvSpPr>
          <p:cNvPr id="12" name="Shape 10"/>
          <p:cNvSpPr/>
          <p:nvPr/>
        </p:nvSpPr>
        <p:spPr>
          <a:xfrm>
            <a:off x="411480" y="3611880"/>
            <a:ext cx="1252728" cy="914400"/>
          </a:xfrm>
          <a:prstGeom prst="roundRect">
            <a:avLst>
              <a:gd name="adj" fmla="val 10000"/>
            </a:avLst>
          </a:prstGeom>
          <a:solidFill>
            <a:srgbClr val="E4FF97"/>
          </a:solidFill>
          <a:ln/>
        </p:spPr>
      </p:sp>
      <p:sp>
        <p:nvSpPr>
          <p:cNvPr id="13" name="Text 11"/>
          <p:cNvSpPr txBox="1"/>
          <p:nvPr/>
        </p:nvSpPr>
        <p:spPr>
          <a:xfrm>
            <a:off x="411480" y="3611880"/>
            <a:ext cx="1252728" cy="914400"/>
          </a:xfrm>
          <a:prstGeom prst="rect">
            <a:avLst/>
          </a:prstGeom>
          <a:noFill/>
          <a:ln/>
        </p:spPr>
        <p:txBody>
          <a:bodyPr wrap="square" lIns="0" tIns="0" rIns="0" bIns="0" rtlCol="0" anchor="ctr"/>
          <a:lstStyle/>
          <a:p>
            <a:pPr algn="ctr" indent="0" marL="0">
              <a:buNone/>
            </a:pPr>
            <a:r>
              <a:rPr lang="en-US" sz="1800" b="1" dirty="0">
                <a:solidFill>
                  <a:srgbClr val="111111"/>
                </a:solidFill>
                <a:latin typeface="Microsoft YaHei" pitchFamily="34" charset="0"/>
                <a:ea typeface="Microsoft YaHei" pitchFamily="34" charset="-122"/>
                <a:cs typeface="Microsoft YaHei" pitchFamily="34" charset="-120"/>
              </a:rPr>
              <a:t>手</a:t>
            </a:r>
            <a:endParaRPr lang="en-US" sz="1800" dirty="0"/>
          </a:p>
        </p:txBody>
      </p:sp>
      <p:sp>
        <p:nvSpPr>
          <p:cNvPr id="14" name="Shape 12"/>
          <p:cNvSpPr/>
          <p:nvPr/>
        </p:nvSpPr>
        <p:spPr>
          <a:xfrm>
            <a:off x="1755648" y="3611880"/>
            <a:ext cx="1252728" cy="914400"/>
          </a:xfrm>
          <a:prstGeom prst="roundRect">
            <a:avLst>
              <a:gd name="adj" fmla="val 10000"/>
            </a:avLst>
          </a:prstGeom>
          <a:solidFill>
            <a:srgbClr val="EBEBEB"/>
          </a:solidFill>
          <a:ln/>
        </p:spPr>
      </p:sp>
      <p:sp>
        <p:nvSpPr>
          <p:cNvPr id="15" name="Text 13"/>
          <p:cNvSpPr txBox="1"/>
          <p:nvPr/>
        </p:nvSpPr>
        <p:spPr>
          <a:xfrm>
            <a:off x="1755648" y="3611880"/>
            <a:ext cx="1252728" cy="914400"/>
          </a:xfrm>
          <a:prstGeom prst="rect">
            <a:avLst/>
          </a:prstGeom>
          <a:noFill/>
          <a:ln/>
        </p:spPr>
        <p:txBody>
          <a:bodyPr wrap="square" lIns="0" tIns="0" rIns="0" bIns="0" rtlCol="0" anchor="ctr"/>
          <a:lstStyle/>
          <a:p>
            <a:pPr algn="ctr" indent="0" marL="0">
              <a:buNone/>
            </a:pPr>
            <a:r>
              <a:rPr lang="en-US" sz="1800" b="1" dirty="0">
                <a:solidFill>
                  <a:srgbClr val="111111"/>
                </a:solidFill>
                <a:latin typeface="Microsoft YaHei" pitchFamily="34" charset="0"/>
                <a:ea typeface="Microsoft YaHei" pitchFamily="34" charset="-122"/>
                <a:cs typeface="Microsoft YaHei" pitchFamily="34" charset="-120"/>
              </a:rPr>
              <a:t>嘴唇</a:t>
            </a:r>
            <a:endParaRPr lang="en-US" sz="1800" dirty="0"/>
          </a:p>
        </p:txBody>
      </p:sp>
      <p:sp>
        <p:nvSpPr>
          <p:cNvPr id="16" name="Shape 14"/>
          <p:cNvSpPr/>
          <p:nvPr/>
        </p:nvSpPr>
        <p:spPr>
          <a:xfrm>
            <a:off x="3099816" y="3611880"/>
            <a:ext cx="1252728" cy="914400"/>
          </a:xfrm>
          <a:prstGeom prst="roundRect">
            <a:avLst>
              <a:gd name="adj" fmla="val 10000"/>
            </a:avLst>
          </a:prstGeom>
          <a:solidFill>
            <a:srgbClr val="111111"/>
          </a:solidFill>
          <a:ln/>
        </p:spPr>
      </p:sp>
      <p:sp>
        <p:nvSpPr>
          <p:cNvPr id="17" name="Text 15"/>
          <p:cNvSpPr txBox="1"/>
          <p:nvPr/>
        </p:nvSpPr>
        <p:spPr>
          <a:xfrm>
            <a:off x="3099816" y="3611880"/>
            <a:ext cx="1252728" cy="914400"/>
          </a:xfrm>
          <a:prstGeom prst="rect">
            <a:avLst/>
          </a:prstGeom>
          <a:noFill/>
          <a:ln/>
        </p:spPr>
        <p:txBody>
          <a:bodyPr wrap="square" lIns="0" tIns="0" rIns="0" bIns="0" rtlCol="0" anchor="ctr"/>
          <a:lstStyle/>
          <a:p>
            <a:pPr algn="ctr" indent="0" marL="0">
              <a:buNone/>
            </a:pPr>
            <a:r>
              <a:rPr lang="en-US" sz="1800" b="1" dirty="0">
                <a:solidFill>
                  <a:srgbClr val="FFFFFF"/>
                </a:solidFill>
                <a:latin typeface="Microsoft YaHei" pitchFamily="34" charset="0"/>
                <a:ea typeface="Microsoft YaHei" pitchFamily="34" charset="-122"/>
                <a:cs typeface="Microsoft YaHei" pitchFamily="34" charset="-120"/>
              </a:rPr>
              <a:t>舌头</a:t>
            </a:r>
            <a:endParaRPr lang="en-US" sz="1800" dirty="0"/>
          </a:p>
        </p:txBody>
      </p:sp>
      <p:pic>
        <p:nvPicPr>
          <p:cNvPr id="18" name="Image 0" descr="p47_0">    </p:cNvPr>
          <p:cNvPicPr>
            <a:picLocks noChangeAspect="1"/>
          </p:cNvPicPr>
          <p:nvPr/>
        </p:nvPicPr>
        <p:blipFill>
          <a:blip r:embed="rId1"/>
          <a:stretch>
            <a:fillRect/>
          </a:stretch>
        </p:blipFill>
        <p:spPr>
          <a:xfrm>
            <a:off x="4754880" y="1279628"/>
            <a:ext cx="1938528" cy="3155743"/>
          </a:xfrm>
          <a:prstGeom prst="rect">
            <a:avLst/>
          </a:prstGeom>
        </p:spPr>
      </p:pic>
      <p:pic>
        <p:nvPicPr>
          <p:cNvPr id="19" name="Image 1" descr="p47_1">    </p:cNvPr>
          <p:cNvPicPr>
            <a:picLocks noChangeAspect="1"/>
          </p:cNvPicPr>
          <p:nvPr/>
        </p:nvPicPr>
        <p:blipFill>
          <a:blip r:embed="rId2"/>
          <a:stretch>
            <a:fillRect/>
          </a:stretch>
        </p:blipFill>
        <p:spPr>
          <a:xfrm>
            <a:off x="6793992" y="1250137"/>
            <a:ext cx="1938528" cy="321472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51206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51206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 · 肤觉体验</a:t>
            </a:r>
            <a:endParaRPr lang="en-US" sz="2400" dirty="0"/>
          </a:p>
        </p:txBody>
      </p:sp>
      <p:sp>
        <p:nvSpPr>
          <p:cNvPr id="4" name="Text 2"/>
          <p:cNvSpPr txBox="1"/>
          <p:nvPr/>
        </p:nvSpPr>
        <p:spPr>
          <a:xfrm>
            <a:off x="411480" y="758952"/>
            <a:ext cx="51206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Fingertip Sensitivity</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50</a:t>
            </a:r>
            <a:endParaRPr lang="en-US" sz="750" dirty="0"/>
          </a:p>
        </p:txBody>
      </p:sp>
      <p:pic>
        <p:nvPicPr>
          <p:cNvPr id="11" name="Image 0" descr="p48_0">    </p:cNvPr>
          <p:cNvPicPr>
            <a:picLocks noChangeAspect="1"/>
          </p:cNvPicPr>
          <p:nvPr/>
        </p:nvPicPr>
        <p:blipFill>
          <a:blip r:embed="rId1"/>
          <a:stretch>
            <a:fillRect/>
          </a:stretch>
        </p:blipFill>
        <p:spPr>
          <a:xfrm>
            <a:off x="5806440" y="0"/>
            <a:ext cx="3337560" cy="4636008"/>
          </a:xfrm>
          <a:prstGeom prst="rect">
            <a:avLst/>
          </a:prstGeom>
        </p:spPr>
      </p:pic>
      <p:sp>
        <p:nvSpPr>
          <p:cNvPr id="12" name="Text 9"/>
          <p:cNvSpPr txBox="1"/>
          <p:nvPr/>
        </p:nvSpPr>
        <p:spPr>
          <a:xfrm>
            <a:off x="411480" y="1234440"/>
            <a:ext cx="5120640" cy="1737360"/>
          </a:xfrm>
          <a:prstGeom prst="rect">
            <a:avLst/>
          </a:prstGeom>
          <a:noFill/>
          <a:ln/>
        </p:spPr>
        <p:txBody>
          <a:bodyPr wrap="square" lIns="0" tIns="0" rIns="0" bIns="0" rtlCol="0" anchor="t"/>
          <a:lstStyle/>
          <a:p>
            <a:pPr indent="0" marL="0">
              <a:lnSpc>
                <a:spcPct val="145000"/>
              </a:lnSpc>
              <a:buNone/>
            </a:pPr>
            <a:r>
              <a:rPr lang="en-US" sz="1500" dirty="0">
                <a:solidFill>
                  <a:srgbClr val="111111"/>
                </a:solidFill>
                <a:latin typeface="Microsoft YaHei" pitchFamily="34" charset="0"/>
                <a:ea typeface="Microsoft YaHei" pitchFamily="34" charset="-122"/>
                <a:cs typeface="Microsoft YaHei" pitchFamily="34" charset="-120"/>
              </a:rPr>
              <a:t>经研究证实：手指指腹是人体肤觉敏感度最高的身体部位，这意味着人们通过指腹能够更容易分辨物体表面“冷或暖”、“软或硬”或“光滑与粗糙”等表面特征。</a:t>
            </a:r>
            <a:endParaRPr lang="en-US" sz="1500" dirty="0"/>
          </a:p>
        </p:txBody>
      </p:sp>
      <p:sp>
        <p:nvSpPr>
          <p:cNvPr id="13" name="Shape 10"/>
          <p:cNvSpPr/>
          <p:nvPr/>
        </p:nvSpPr>
        <p:spPr>
          <a:xfrm>
            <a:off x="411480" y="3246120"/>
            <a:ext cx="1627632" cy="1280160"/>
          </a:xfrm>
          <a:prstGeom prst="roundRect">
            <a:avLst>
              <a:gd name="adj" fmla="val 7143"/>
            </a:avLst>
          </a:prstGeom>
          <a:solidFill>
            <a:srgbClr val="E4FF97"/>
          </a:solidFill>
          <a:ln/>
        </p:spPr>
      </p:sp>
      <p:sp>
        <p:nvSpPr>
          <p:cNvPr id="14" name="Text 11"/>
          <p:cNvSpPr txBox="1"/>
          <p:nvPr/>
        </p:nvSpPr>
        <p:spPr>
          <a:xfrm>
            <a:off x="411480" y="3246120"/>
            <a:ext cx="1627632" cy="1280160"/>
          </a:xfrm>
          <a:prstGeom prst="rect">
            <a:avLst/>
          </a:prstGeom>
          <a:noFill/>
          <a:ln/>
        </p:spPr>
        <p:txBody>
          <a:bodyPr wrap="square" lIns="0" tIns="0" rIns="0" bIns="0" rtlCol="0" anchor="ctr"/>
          <a:lstStyle/>
          <a:p>
            <a:pPr algn="ctr" indent="0" marL="0">
              <a:lnSpc>
                <a:spcPct val="120000"/>
              </a:lnSpc>
              <a:buNone/>
            </a:pPr>
            <a:r>
              <a:rPr lang="en-US" sz="1700" b="1" dirty="0">
                <a:solidFill>
                  <a:srgbClr val="111111"/>
                </a:solidFill>
                <a:latin typeface="Microsoft YaHei" pitchFamily="34" charset="0"/>
                <a:ea typeface="Microsoft YaHei" pitchFamily="34" charset="-122"/>
                <a:cs typeface="Microsoft YaHei" pitchFamily="34" charset="-120"/>
              </a:rPr>
              <a:t>冷</a:t>
            </a:r>
            <a:endParaRPr lang="en-US" sz="1700" dirty="0"/>
          </a:p>
          <a:p>
            <a:pPr algn="ctr" indent="0" marL="0">
              <a:lnSpc>
                <a:spcPct val="120000"/>
              </a:lnSpc>
              <a:buNone/>
            </a:pPr>
            <a:r>
              <a:rPr lang="en-US" sz="1700" b="1" dirty="0">
                <a:solidFill>
                  <a:srgbClr val="111111"/>
                </a:solidFill>
                <a:latin typeface="Microsoft YaHei" pitchFamily="34" charset="0"/>
                <a:ea typeface="Microsoft YaHei" pitchFamily="34" charset="-122"/>
                <a:cs typeface="Microsoft YaHei" pitchFamily="34" charset="-120"/>
              </a:rPr>
              <a:t>暖</a:t>
            </a:r>
            <a:endParaRPr lang="en-US" sz="1700" dirty="0"/>
          </a:p>
        </p:txBody>
      </p:sp>
      <p:sp>
        <p:nvSpPr>
          <p:cNvPr id="15" name="Shape 12"/>
          <p:cNvSpPr/>
          <p:nvPr/>
        </p:nvSpPr>
        <p:spPr>
          <a:xfrm>
            <a:off x="2148840" y="3246120"/>
            <a:ext cx="1627632" cy="1280160"/>
          </a:xfrm>
          <a:prstGeom prst="roundRect">
            <a:avLst>
              <a:gd name="adj" fmla="val 7143"/>
            </a:avLst>
          </a:prstGeom>
          <a:solidFill>
            <a:srgbClr val="EBEBEB"/>
          </a:solidFill>
          <a:ln/>
        </p:spPr>
      </p:sp>
      <p:sp>
        <p:nvSpPr>
          <p:cNvPr id="16" name="Text 13"/>
          <p:cNvSpPr txBox="1"/>
          <p:nvPr/>
        </p:nvSpPr>
        <p:spPr>
          <a:xfrm>
            <a:off x="2148840" y="3246120"/>
            <a:ext cx="1627632" cy="1280160"/>
          </a:xfrm>
          <a:prstGeom prst="rect">
            <a:avLst/>
          </a:prstGeom>
          <a:noFill/>
          <a:ln/>
        </p:spPr>
        <p:txBody>
          <a:bodyPr wrap="square" lIns="0" tIns="0" rIns="0" bIns="0" rtlCol="0" anchor="ctr"/>
          <a:lstStyle/>
          <a:p>
            <a:pPr algn="ctr" indent="0" marL="0">
              <a:lnSpc>
                <a:spcPct val="120000"/>
              </a:lnSpc>
              <a:buNone/>
            </a:pPr>
            <a:r>
              <a:rPr lang="en-US" sz="1700" b="1" dirty="0">
                <a:solidFill>
                  <a:srgbClr val="111111"/>
                </a:solidFill>
                <a:latin typeface="Microsoft YaHei" pitchFamily="34" charset="0"/>
                <a:ea typeface="Microsoft YaHei" pitchFamily="34" charset="-122"/>
                <a:cs typeface="Microsoft YaHei" pitchFamily="34" charset="-120"/>
              </a:rPr>
              <a:t>软</a:t>
            </a:r>
            <a:endParaRPr lang="en-US" sz="1700" dirty="0"/>
          </a:p>
          <a:p>
            <a:pPr algn="ctr" indent="0" marL="0">
              <a:lnSpc>
                <a:spcPct val="120000"/>
              </a:lnSpc>
              <a:buNone/>
            </a:pPr>
            <a:r>
              <a:rPr lang="en-US" sz="1700" b="1" dirty="0">
                <a:solidFill>
                  <a:srgbClr val="111111"/>
                </a:solidFill>
                <a:latin typeface="Microsoft YaHei" pitchFamily="34" charset="0"/>
                <a:ea typeface="Microsoft YaHei" pitchFamily="34" charset="-122"/>
                <a:cs typeface="Microsoft YaHei" pitchFamily="34" charset="-120"/>
              </a:rPr>
              <a:t>硬</a:t>
            </a:r>
            <a:endParaRPr lang="en-US" sz="1700" dirty="0"/>
          </a:p>
        </p:txBody>
      </p:sp>
      <p:sp>
        <p:nvSpPr>
          <p:cNvPr id="17" name="Shape 14"/>
          <p:cNvSpPr/>
          <p:nvPr/>
        </p:nvSpPr>
        <p:spPr>
          <a:xfrm>
            <a:off x="3886200" y="3246120"/>
            <a:ext cx="1627632" cy="1280160"/>
          </a:xfrm>
          <a:prstGeom prst="roundRect">
            <a:avLst>
              <a:gd name="adj" fmla="val 7143"/>
            </a:avLst>
          </a:prstGeom>
          <a:solidFill>
            <a:srgbClr val="111111"/>
          </a:solidFill>
          <a:ln/>
        </p:spPr>
      </p:sp>
      <p:sp>
        <p:nvSpPr>
          <p:cNvPr id="18" name="Text 15"/>
          <p:cNvSpPr txBox="1"/>
          <p:nvPr/>
        </p:nvSpPr>
        <p:spPr>
          <a:xfrm>
            <a:off x="3886200" y="3246120"/>
            <a:ext cx="1627632" cy="1280160"/>
          </a:xfrm>
          <a:prstGeom prst="rect">
            <a:avLst/>
          </a:prstGeom>
          <a:noFill/>
          <a:ln/>
        </p:spPr>
        <p:txBody>
          <a:bodyPr wrap="square" lIns="0" tIns="0" rIns="0" bIns="0" rtlCol="0" anchor="ctr"/>
          <a:lstStyle/>
          <a:p>
            <a:pPr algn="ctr" indent="0" marL="0">
              <a:lnSpc>
                <a:spcPct val="120000"/>
              </a:lnSpc>
              <a:buNone/>
            </a:pPr>
            <a:r>
              <a:rPr lang="en-US" sz="1700" b="1" dirty="0">
                <a:solidFill>
                  <a:srgbClr val="FFFFFF"/>
                </a:solidFill>
                <a:latin typeface="Microsoft YaHei" pitchFamily="34" charset="0"/>
                <a:ea typeface="Microsoft YaHei" pitchFamily="34" charset="-122"/>
                <a:cs typeface="Microsoft YaHei" pitchFamily="34" charset="-120"/>
              </a:rPr>
              <a:t>光滑</a:t>
            </a:r>
            <a:endParaRPr lang="en-US" sz="1700" dirty="0"/>
          </a:p>
          <a:p>
            <a:pPr algn="ctr" indent="0" marL="0">
              <a:lnSpc>
                <a:spcPct val="120000"/>
              </a:lnSpc>
              <a:buNone/>
            </a:pPr>
            <a:r>
              <a:rPr lang="en-US" sz="1700" b="1" dirty="0">
                <a:solidFill>
                  <a:srgbClr val="FFFFFF"/>
                </a:solidFill>
                <a:latin typeface="Microsoft YaHei" pitchFamily="34" charset="0"/>
                <a:ea typeface="Microsoft YaHei" pitchFamily="34" charset="-122"/>
                <a:cs typeface="Microsoft YaHei" pitchFamily="34" charset="-120"/>
              </a:rPr>
              <a:t>粗糙</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 Sensory Experience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51</a:t>
            </a:r>
            <a:endParaRPr lang="en-US" sz="750" dirty="0"/>
          </a:p>
        </p:txBody>
      </p:sp>
      <p:sp>
        <p:nvSpPr>
          <p:cNvPr id="11" name="Shape 9"/>
          <p:cNvSpPr/>
          <p:nvPr/>
        </p:nvSpPr>
        <p:spPr>
          <a:xfrm>
            <a:off x="411480" y="1188720"/>
            <a:ext cx="3200400" cy="3383280"/>
          </a:xfrm>
          <a:prstGeom prst="roundRect">
            <a:avLst>
              <a:gd name="adj" fmla="val 3429"/>
            </a:avLst>
          </a:prstGeom>
          <a:solidFill>
            <a:srgbClr val="F4F4F4"/>
          </a:solidFill>
          <a:ln/>
        </p:spPr>
      </p:sp>
      <p:sp>
        <p:nvSpPr>
          <p:cNvPr id="12" name="Text 10"/>
          <p:cNvSpPr txBox="1"/>
          <p:nvPr/>
        </p:nvSpPr>
        <p:spPr>
          <a:xfrm>
            <a:off x="640080" y="1188720"/>
            <a:ext cx="2743200" cy="3383280"/>
          </a:xfrm>
          <a:prstGeom prst="rect">
            <a:avLst/>
          </a:prstGeom>
          <a:noFill/>
          <a:ln/>
        </p:spPr>
        <p:txBody>
          <a:bodyPr wrap="square" lIns="0" tIns="0" rIns="0" bIns="0" rtlCol="0" anchor="ctr"/>
          <a:lstStyle/>
          <a:p>
            <a:pPr indent="0" marL="0">
              <a:lnSpc>
                <a:spcPct val="145000"/>
              </a:lnSpc>
              <a:buNone/>
            </a:pPr>
            <a:r>
              <a:rPr lang="en-US" sz="1250" dirty="0">
                <a:solidFill>
                  <a:srgbClr val="111111"/>
                </a:solidFill>
                <a:latin typeface="Microsoft YaHei" pitchFamily="34" charset="0"/>
                <a:ea typeface="Microsoft YaHei" pitchFamily="34" charset="-122"/>
                <a:cs typeface="Microsoft YaHei" pitchFamily="34" charset="-120"/>
              </a:rPr>
              <a:t>Johnson等人构建了一个用于描述产品设计中材料体验的通用词汇表。其中，材料美学体验（Aesthetic Experience）是感官体验的反应，其中包括与感受（feel）、质感（texture）、形态（form）、气味（smell）、光感（optics）、色彩（color）、味觉（taste）及听觉（sound）等内容。</a:t>
            </a:r>
            <a:endParaRPr lang="en-US" sz="1250" dirty="0"/>
          </a:p>
        </p:txBody>
      </p:sp>
      <p:sp>
        <p:nvSpPr>
          <p:cNvPr id="13" name="Shape 11"/>
          <p:cNvSpPr/>
          <p:nvPr/>
        </p:nvSpPr>
        <p:spPr>
          <a:xfrm>
            <a:off x="3749040" y="1188720"/>
            <a:ext cx="4983480" cy="3383280"/>
          </a:xfrm>
          <a:prstGeom prst="roundRect">
            <a:avLst>
              <a:gd name="adj" fmla="val 2703"/>
            </a:avLst>
          </a:prstGeom>
          <a:solidFill>
            <a:srgbClr val="FFFFFF"/>
          </a:solidFill>
          <a:ln w="9525">
            <a:solidFill>
              <a:srgbClr val="D0D0D0"/>
            </a:solidFill>
            <a:prstDash val="solid"/>
          </a:ln>
        </p:spPr>
      </p:sp>
      <p:pic>
        <p:nvPicPr>
          <p:cNvPr id="14" name="Image 0" descr="p49_0">    </p:cNvPr>
          <p:cNvPicPr>
            <a:picLocks noChangeAspect="1"/>
          </p:cNvPicPr>
          <p:nvPr/>
        </p:nvPicPr>
        <p:blipFill>
          <a:blip r:embed="rId1"/>
          <a:stretch>
            <a:fillRect/>
          </a:stretch>
        </p:blipFill>
        <p:spPr>
          <a:xfrm>
            <a:off x="3840480" y="1731570"/>
            <a:ext cx="4800600" cy="229758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材料感官体验</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Material Sensory Experience</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52</a:t>
            </a:r>
            <a:endParaRPr lang="en-US" sz="750" dirty="0"/>
          </a:p>
        </p:txBody>
      </p:sp>
      <p:sp>
        <p:nvSpPr>
          <p:cNvPr id="11" name="Text 9"/>
          <p:cNvSpPr txBox="1"/>
          <p:nvPr/>
        </p:nvSpPr>
        <p:spPr>
          <a:xfrm>
            <a:off x="411480" y="1188720"/>
            <a:ext cx="4572000" cy="3383280"/>
          </a:xfrm>
          <a:prstGeom prst="rect">
            <a:avLst/>
          </a:prstGeom>
          <a:noFill/>
          <a:ln/>
        </p:spPr>
        <p:txBody>
          <a:bodyPr wrap="square" lIns="0" tIns="0" rIns="0" bIns="0" rtlCol="0" anchor="ctr"/>
          <a:lstStyle/>
          <a:p>
            <a:pPr indent="0" marL="0">
              <a:lnSpc>
                <a:spcPct val="150000"/>
              </a:lnSpc>
              <a:buNone/>
            </a:pPr>
            <a:r>
              <a:rPr lang="en-US" sz="1350" dirty="0">
                <a:solidFill>
                  <a:srgbClr val="111111"/>
                </a:solidFill>
                <a:latin typeface="Microsoft YaHei" pitchFamily="34" charset="0"/>
                <a:ea typeface="Microsoft YaHei" pitchFamily="34" charset="-122"/>
                <a:cs typeface="Microsoft YaHei" pitchFamily="34" charset="-120"/>
              </a:rPr>
              <a:t>清华大学的左恒峰教授认为材料的主观体验指：人们通过感官系统所产生的对材料表面几何形貌特征和物理化学属性的整体印象。他们将材料的触觉体验划分为</a:t>
            </a:r>
            <a:pPr indent="0" marL="0">
              <a:lnSpc>
                <a:spcPct val="150000"/>
              </a:lnSpc>
              <a:buNone/>
            </a:pPr>
            <a:r>
              <a:rPr lang="en-US" sz="1350" b="1" dirty="0">
                <a:solidFill>
                  <a:srgbClr val="111111"/>
                </a:solidFill>
                <a:latin typeface="Microsoft YaHei" pitchFamily="34" charset="0"/>
                <a:ea typeface="Microsoft YaHei" pitchFamily="34" charset="-122"/>
                <a:cs typeface="Microsoft YaHei" pitchFamily="34" charset="-120"/>
              </a:rPr>
              <a:t>几何维度</a:t>
            </a:r>
            <a:pPr indent="0" marL="0">
              <a:lnSpc>
                <a:spcPct val="150000"/>
              </a:lnSpc>
              <a:buNone/>
            </a:pPr>
            <a:r>
              <a:rPr lang="en-US" sz="1350" dirty="0">
                <a:solidFill>
                  <a:srgbClr val="111111"/>
                </a:solidFill>
                <a:latin typeface="Microsoft YaHei" pitchFamily="34" charset="0"/>
                <a:ea typeface="Microsoft YaHei" pitchFamily="34" charset="-122"/>
                <a:cs typeface="Microsoft YaHei" pitchFamily="34" charset="-120"/>
              </a:rPr>
              <a:t>（geometrical dimension）、</a:t>
            </a:r>
            <a:pPr indent="0" marL="0">
              <a:lnSpc>
                <a:spcPct val="150000"/>
              </a:lnSpc>
              <a:buNone/>
            </a:pPr>
            <a:r>
              <a:rPr lang="en-US" sz="1350" b="1" dirty="0">
                <a:solidFill>
                  <a:srgbClr val="111111"/>
                </a:solidFill>
                <a:latin typeface="Microsoft YaHei" pitchFamily="34" charset="0"/>
                <a:ea typeface="Microsoft YaHei" pitchFamily="34" charset="-122"/>
                <a:cs typeface="Microsoft YaHei" pitchFamily="34" charset="-120"/>
              </a:rPr>
              <a:t>理化维度</a:t>
            </a:r>
            <a:pPr indent="0" marL="0">
              <a:lnSpc>
                <a:spcPct val="150000"/>
              </a:lnSpc>
              <a:buNone/>
            </a:pPr>
            <a:r>
              <a:rPr lang="en-US" sz="1350" dirty="0">
                <a:solidFill>
                  <a:srgbClr val="111111"/>
                </a:solidFill>
                <a:latin typeface="Microsoft YaHei" pitchFamily="34" charset="0"/>
                <a:ea typeface="Microsoft YaHei" pitchFamily="34" charset="-122"/>
                <a:cs typeface="Microsoft YaHei" pitchFamily="34" charset="-120"/>
              </a:rPr>
              <a:t>（physi-chemical dimension）、</a:t>
            </a:r>
            <a:pPr indent="0" marL="0">
              <a:lnSpc>
                <a:spcPct val="150000"/>
              </a:lnSpc>
              <a:buNone/>
            </a:pPr>
            <a:r>
              <a:rPr lang="en-US" sz="1350" b="1" dirty="0">
                <a:solidFill>
                  <a:srgbClr val="111111"/>
                </a:solidFill>
                <a:latin typeface="Microsoft YaHei" pitchFamily="34" charset="0"/>
                <a:ea typeface="Microsoft YaHei" pitchFamily="34" charset="-122"/>
                <a:cs typeface="Microsoft YaHei" pitchFamily="34" charset="-120"/>
              </a:rPr>
              <a:t>情感维度</a:t>
            </a:r>
            <a:pPr indent="0" marL="0">
              <a:lnSpc>
                <a:spcPct val="150000"/>
              </a:lnSpc>
              <a:buNone/>
            </a:pPr>
            <a:r>
              <a:rPr lang="en-US" sz="1350" dirty="0">
                <a:solidFill>
                  <a:srgbClr val="111111"/>
                </a:solidFill>
                <a:latin typeface="Microsoft YaHei" pitchFamily="34" charset="0"/>
                <a:ea typeface="Microsoft YaHei" pitchFamily="34" charset="-122"/>
                <a:cs typeface="Microsoft YaHei" pitchFamily="34" charset="-120"/>
              </a:rPr>
              <a:t>（emotional dimension）和</a:t>
            </a:r>
            <a:pPr indent="0" marL="0">
              <a:lnSpc>
                <a:spcPct val="150000"/>
              </a:lnSpc>
              <a:buNone/>
            </a:pPr>
            <a:r>
              <a:rPr lang="en-US" sz="1350" b="1" dirty="0">
                <a:solidFill>
                  <a:srgbClr val="111111"/>
                </a:solidFill>
                <a:latin typeface="Microsoft YaHei" pitchFamily="34" charset="0"/>
                <a:ea typeface="Microsoft YaHei" pitchFamily="34" charset="-122"/>
                <a:cs typeface="Microsoft YaHei" pitchFamily="34" charset="-120"/>
              </a:rPr>
              <a:t>关联维度</a:t>
            </a:r>
            <a:pPr indent="0" marL="0">
              <a:lnSpc>
                <a:spcPct val="150000"/>
              </a:lnSpc>
              <a:buNone/>
            </a:pPr>
            <a:r>
              <a:rPr lang="en-US" sz="1350" dirty="0">
                <a:solidFill>
                  <a:srgbClr val="111111"/>
                </a:solidFill>
                <a:latin typeface="Microsoft YaHei" pitchFamily="34" charset="0"/>
                <a:ea typeface="Microsoft YaHei" pitchFamily="34" charset="-122"/>
                <a:cs typeface="Microsoft YaHei" pitchFamily="34" charset="-120"/>
              </a:rPr>
              <a:t>（associative dimension）共四个部分。</a:t>
            </a:r>
            <a:endParaRPr lang="en-US" sz="1350" dirty="0"/>
          </a:p>
        </p:txBody>
      </p:sp>
      <p:sp>
        <p:nvSpPr>
          <p:cNvPr id="12" name="Shape 10"/>
          <p:cNvSpPr/>
          <p:nvPr/>
        </p:nvSpPr>
        <p:spPr>
          <a:xfrm>
            <a:off x="5212080" y="1188720"/>
            <a:ext cx="3520440" cy="3383280"/>
          </a:xfrm>
          <a:prstGeom prst="roundRect">
            <a:avLst>
              <a:gd name="adj" fmla="val 2703"/>
            </a:avLst>
          </a:prstGeom>
          <a:solidFill>
            <a:srgbClr val="E4FF97"/>
          </a:solidFill>
          <a:ln/>
        </p:spPr>
      </p:sp>
      <p:sp>
        <p:nvSpPr>
          <p:cNvPr id="13" name="Shape 11"/>
          <p:cNvSpPr/>
          <p:nvPr/>
        </p:nvSpPr>
        <p:spPr>
          <a:xfrm>
            <a:off x="5303520" y="1280160"/>
            <a:ext cx="3337560" cy="3200400"/>
          </a:xfrm>
          <a:prstGeom prst="roundRect">
            <a:avLst>
              <a:gd name="adj" fmla="val 2857"/>
            </a:avLst>
          </a:prstGeom>
          <a:solidFill>
            <a:srgbClr val="FFFFFF"/>
          </a:solidFill>
          <a:ln/>
        </p:spPr>
      </p:sp>
      <p:pic>
        <p:nvPicPr>
          <p:cNvPr id="14" name="Image 0" descr="p50_0">    </p:cNvPr>
          <p:cNvPicPr>
            <a:picLocks noChangeAspect="1"/>
          </p:cNvPicPr>
          <p:nvPr/>
        </p:nvPicPr>
        <p:blipFill>
          <a:blip r:embed="rId1"/>
          <a:stretch>
            <a:fillRect/>
          </a:stretch>
        </p:blipFill>
        <p:spPr>
          <a:xfrm>
            <a:off x="5453419" y="1325880"/>
            <a:ext cx="3037762" cy="310896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表征产品肤觉特征的材料物理量</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Surface Roughness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53</a:t>
            </a:r>
            <a:endParaRPr lang="en-US" sz="750" dirty="0"/>
          </a:p>
        </p:txBody>
      </p:sp>
      <p:sp>
        <p:nvSpPr>
          <p:cNvPr id="11" name="Text 9"/>
          <p:cNvSpPr txBox="1"/>
          <p:nvPr/>
        </p:nvSpPr>
        <p:spPr>
          <a:xfrm>
            <a:off x="411480" y="1143000"/>
            <a:ext cx="5897880" cy="960120"/>
          </a:xfrm>
          <a:prstGeom prst="rect">
            <a:avLst/>
          </a:prstGeom>
          <a:noFill/>
          <a:ln/>
        </p:spPr>
        <p:txBody>
          <a:bodyPr wrap="square" lIns="0" tIns="0" rIns="0" bIns="0" rtlCol="0" anchor="t"/>
          <a:lstStyle/>
          <a:p>
            <a:pPr indent="0" marL="0">
              <a:lnSpc>
                <a:spcPct val="135000"/>
              </a:lnSpc>
              <a:buNone/>
            </a:pPr>
            <a:r>
              <a:rPr lang="en-US" sz="1200" dirty="0">
                <a:solidFill>
                  <a:srgbClr val="111111"/>
                </a:solidFill>
                <a:latin typeface="Microsoft YaHei" pitchFamily="34" charset="0"/>
                <a:ea typeface="Microsoft YaHei" pitchFamily="34" charset="-122"/>
                <a:cs typeface="Microsoft YaHei" pitchFamily="34" charset="-120"/>
              </a:rPr>
              <a:t>材料的表面粗糙度（surface roughness）是材料表面形貌中的最为显著特征，引起的视觉及肤觉体验差异也最为明显。材料的表面粗糙度由材料表面的立体几何特征差异所导致，主要与以下物理量相关。</a:t>
            </a:r>
            <a:endParaRPr lang="en-US" sz="1200" dirty="0"/>
          </a:p>
        </p:txBody>
      </p:sp>
      <p:sp>
        <p:nvSpPr>
          <p:cNvPr id="12" name="Shape 10"/>
          <p:cNvSpPr/>
          <p:nvPr/>
        </p:nvSpPr>
        <p:spPr>
          <a:xfrm>
            <a:off x="411480" y="2194560"/>
            <a:ext cx="1892808" cy="2377440"/>
          </a:xfrm>
          <a:prstGeom prst="roundRect">
            <a:avLst>
              <a:gd name="adj" fmla="val 4831"/>
            </a:avLst>
          </a:prstGeom>
          <a:solidFill>
            <a:srgbClr val="E4FF97"/>
          </a:solidFill>
          <a:ln/>
        </p:spPr>
      </p:sp>
      <p:sp>
        <p:nvSpPr>
          <p:cNvPr id="13" name="Text 11"/>
          <p:cNvSpPr txBox="1"/>
          <p:nvPr/>
        </p:nvSpPr>
        <p:spPr>
          <a:xfrm>
            <a:off x="548640" y="2286000"/>
            <a:ext cx="1618488" cy="457200"/>
          </a:xfrm>
          <a:prstGeom prst="rect">
            <a:avLst/>
          </a:prstGeom>
          <a:noFill/>
          <a:ln/>
        </p:spPr>
        <p:txBody>
          <a:bodyPr wrap="square" lIns="0" tIns="0" rIns="0" bIns="0" rtlCol="0" anchor="ctr"/>
          <a:lstStyle/>
          <a:p>
            <a:pPr indent="0" marL="0">
              <a:buNone/>
            </a:pPr>
            <a:r>
              <a:rPr lang="en-US" sz="2000" b="1" dirty="0">
                <a:solidFill>
                  <a:srgbClr val="111111"/>
                </a:solidFill>
                <a:latin typeface="Arial" pitchFamily="34" charset="0"/>
                <a:ea typeface="Arial" pitchFamily="34" charset="-122"/>
                <a:cs typeface="Arial" pitchFamily="34" charset="-120"/>
              </a:rPr>
              <a:t>Ra</a:t>
            </a:r>
            <a:endParaRPr lang="en-US" sz="2000" dirty="0"/>
          </a:p>
        </p:txBody>
      </p:sp>
      <p:sp>
        <p:nvSpPr>
          <p:cNvPr id="14" name="Text 12"/>
          <p:cNvSpPr txBox="1"/>
          <p:nvPr/>
        </p:nvSpPr>
        <p:spPr>
          <a:xfrm>
            <a:off x="548640" y="2788920"/>
            <a:ext cx="1636776" cy="1737360"/>
          </a:xfrm>
          <a:prstGeom prst="rect">
            <a:avLst/>
          </a:prstGeom>
          <a:noFill/>
          <a:ln/>
        </p:spPr>
        <p:txBody>
          <a:bodyPr wrap="square" lIns="0" tIns="0" rIns="0" bIns="0" rtlCol="0" anchor="t"/>
          <a:lstStyle/>
          <a:p>
            <a:pPr indent="0" marL="0">
              <a:lnSpc>
                <a:spcPct val="130000"/>
              </a:lnSpc>
              <a:buNone/>
            </a:pPr>
            <a:r>
              <a:rPr lang="en-US" sz="950" dirty="0">
                <a:solidFill>
                  <a:srgbClr val="111111"/>
                </a:solidFill>
                <a:latin typeface="Microsoft YaHei" pitchFamily="34" charset="0"/>
                <a:ea typeface="Microsoft YaHei" pitchFamily="34" charset="-122"/>
                <a:cs typeface="Microsoft YaHei" pitchFamily="34" charset="-120"/>
              </a:rPr>
              <a:t>第一，与垂直方向表面凸起高度及凹陷深度的算数平均值（又被称为表面轮廓的算数平均偏差），即表面平均粗糙度（roughness average, Ra）相关；</a:t>
            </a:r>
            <a:endParaRPr lang="en-US" sz="950" dirty="0"/>
          </a:p>
        </p:txBody>
      </p:sp>
      <p:sp>
        <p:nvSpPr>
          <p:cNvPr id="15" name="Shape 13"/>
          <p:cNvSpPr/>
          <p:nvPr/>
        </p:nvSpPr>
        <p:spPr>
          <a:xfrm>
            <a:off x="2414016" y="2194560"/>
            <a:ext cx="1892808" cy="2377440"/>
          </a:xfrm>
          <a:prstGeom prst="roundRect">
            <a:avLst>
              <a:gd name="adj" fmla="val 4831"/>
            </a:avLst>
          </a:prstGeom>
          <a:solidFill>
            <a:srgbClr val="F4F4F4"/>
          </a:solidFill>
          <a:ln/>
        </p:spPr>
      </p:sp>
      <p:sp>
        <p:nvSpPr>
          <p:cNvPr id="16" name="Text 14"/>
          <p:cNvSpPr txBox="1"/>
          <p:nvPr/>
        </p:nvSpPr>
        <p:spPr>
          <a:xfrm>
            <a:off x="2551176" y="2286000"/>
            <a:ext cx="1618488" cy="457200"/>
          </a:xfrm>
          <a:prstGeom prst="rect">
            <a:avLst/>
          </a:prstGeom>
          <a:noFill/>
          <a:ln/>
        </p:spPr>
        <p:txBody>
          <a:bodyPr wrap="square" lIns="0" tIns="0" rIns="0" bIns="0" rtlCol="0" anchor="ctr"/>
          <a:lstStyle/>
          <a:p>
            <a:pPr indent="0" marL="0">
              <a:buNone/>
            </a:pPr>
            <a:r>
              <a:rPr lang="en-US" sz="2000" b="1" dirty="0">
                <a:solidFill>
                  <a:srgbClr val="111111"/>
                </a:solidFill>
                <a:latin typeface="Arial" pitchFamily="34" charset="0"/>
                <a:ea typeface="Arial" pitchFamily="34" charset="-122"/>
                <a:cs typeface="Arial" pitchFamily="34" charset="-120"/>
              </a:rPr>
              <a:t>Rsm</a:t>
            </a:r>
            <a:endParaRPr lang="en-US" sz="2000" dirty="0"/>
          </a:p>
        </p:txBody>
      </p:sp>
      <p:sp>
        <p:nvSpPr>
          <p:cNvPr id="17" name="Text 15"/>
          <p:cNvSpPr txBox="1"/>
          <p:nvPr/>
        </p:nvSpPr>
        <p:spPr>
          <a:xfrm>
            <a:off x="2551176" y="2788920"/>
            <a:ext cx="1636776" cy="1737360"/>
          </a:xfrm>
          <a:prstGeom prst="rect">
            <a:avLst/>
          </a:prstGeom>
          <a:noFill/>
          <a:ln/>
        </p:spPr>
        <p:txBody>
          <a:bodyPr wrap="square" lIns="0" tIns="0" rIns="0" bIns="0" rtlCol="0" anchor="t"/>
          <a:lstStyle/>
          <a:p>
            <a:pPr indent="0" marL="0">
              <a:lnSpc>
                <a:spcPct val="130000"/>
              </a:lnSpc>
              <a:buNone/>
            </a:pPr>
            <a:r>
              <a:rPr lang="en-US" sz="950" dirty="0">
                <a:solidFill>
                  <a:srgbClr val="111111"/>
                </a:solidFill>
                <a:latin typeface="Microsoft YaHei" pitchFamily="34" charset="0"/>
                <a:ea typeface="Microsoft YaHei" pitchFamily="34" charset="-122"/>
                <a:cs typeface="Microsoft YaHei" pitchFamily="34" charset="-120"/>
              </a:rPr>
              <a:t>第二，与用于描述材料表面一段距离内离开中心线的各个凸起之间在表面水平方向的物理量，即平均间距粗糙度（peak spacing, Rsm）相关；</a:t>
            </a:r>
            <a:endParaRPr lang="en-US" sz="950" dirty="0"/>
          </a:p>
        </p:txBody>
      </p:sp>
      <p:sp>
        <p:nvSpPr>
          <p:cNvPr id="18" name="Shape 16"/>
          <p:cNvSpPr/>
          <p:nvPr/>
        </p:nvSpPr>
        <p:spPr>
          <a:xfrm>
            <a:off x="4416552" y="2194560"/>
            <a:ext cx="1892808" cy="2377440"/>
          </a:xfrm>
          <a:prstGeom prst="roundRect">
            <a:avLst>
              <a:gd name="adj" fmla="val 4831"/>
            </a:avLst>
          </a:prstGeom>
          <a:solidFill>
            <a:srgbClr val="111111"/>
          </a:solidFill>
          <a:ln/>
        </p:spPr>
      </p:sp>
      <p:sp>
        <p:nvSpPr>
          <p:cNvPr id="19" name="Text 17"/>
          <p:cNvSpPr txBox="1"/>
          <p:nvPr/>
        </p:nvSpPr>
        <p:spPr>
          <a:xfrm>
            <a:off x="4553712" y="2286000"/>
            <a:ext cx="1618488" cy="45720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Hybrid</a:t>
            </a:r>
            <a:endParaRPr lang="en-US" sz="2000" dirty="0"/>
          </a:p>
        </p:txBody>
      </p:sp>
      <p:sp>
        <p:nvSpPr>
          <p:cNvPr id="20" name="Text 18"/>
          <p:cNvSpPr txBox="1"/>
          <p:nvPr/>
        </p:nvSpPr>
        <p:spPr>
          <a:xfrm>
            <a:off x="4553712" y="2788920"/>
            <a:ext cx="1636776" cy="1737360"/>
          </a:xfrm>
          <a:prstGeom prst="rect">
            <a:avLst/>
          </a:prstGeom>
          <a:noFill/>
          <a:ln/>
        </p:spPr>
        <p:txBody>
          <a:bodyPr wrap="square" lIns="0" tIns="0" rIns="0" bIns="0" rtlCol="0" anchor="t"/>
          <a:lstStyle/>
          <a:p>
            <a:pPr indent="0" marL="0">
              <a:lnSpc>
                <a:spcPct val="130000"/>
              </a:lnSpc>
              <a:buNone/>
            </a:pPr>
            <a:r>
              <a:rPr lang="en-US" sz="950" dirty="0">
                <a:solidFill>
                  <a:srgbClr val="FFFFFF"/>
                </a:solidFill>
                <a:latin typeface="Microsoft YaHei" pitchFamily="34" charset="0"/>
                <a:ea typeface="Microsoft YaHei" pitchFamily="34" charset="-122"/>
                <a:cs typeface="Microsoft YaHei" pitchFamily="34" charset="-120"/>
              </a:rPr>
              <a:t>第三，与由纵向尺度和水平尺度共同决定表面粗糙程度的混合参量（hybrid parameters）相关。</a:t>
            </a:r>
            <a:endParaRPr lang="en-US" sz="950" dirty="0"/>
          </a:p>
        </p:txBody>
      </p:sp>
      <p:pic>
        <p:nvPicPr>
          <p:cNvPr id="21" name="Image 0" descr="p51_1">    </p:cNvPr>
          <p:cNvPicPr>
            <a:picLocks noChangeAspect="1"/>
          </p:cNvPicPr>
          <p:nvPr/>
        </p:nvPicPr>
        <p:blipFill>
          <a:blip r:embed="rId1"/>
          <a:stretch>
            <a:fillRect/>
          </a:stretch>
        </p:blipFill>
        <p:spPr>
          <a:xfrm>
            <a:off x="6446520" y="1188720"/>
            <a:ext cx="2286000" cy="33832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表征产品肤觉特征的材料物理量</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Thermal Sensation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54</a:t>
            </a:r>
            <a:endParaRPr lang="en-US" sz="750" dirty="0"/>
          </a:p>
        </p:txBody>
      </p:sp>
      <p:sp>
        <p:nvSpPr>
          <p:cNvPr id="11" name="Text 9"/>
          <p:cNvSpPr txBox="1"/>
          <p:nvPr/>
        </p:nvSpPr>
        <p:spPr>
          <a:xfrm>
            <a:off x="411480" y="1188720"/>
            <a:ext cx="3657600" cy="3383280"/>
          </a:xfrm>
          <a:prstGeom prst="rect">
            <a:avLst/>
          </a:prstGeom>
          <a:noFill/>
          <a:ln/>
        </p:spPr>
        <p:txBody>
          <a:bodyPr wrap="square" lIns="0" tIns="0" rIns="0" bIns="0" rtlCol="0" anchor="ctr"/>
          <a:lstStyle/>
          <a:p>
            <a:pPr indent="0" marL="0">
              <a:lnSpc>
                <a:spcPct val="155000"/>
              </a:lnSpc>
              <a:buNone/>
            </a:pPr>
            <a:r>
              <a:rPr lang="en-US" sz="1700" dirty="0">
                <a:solidFill>
                  <a:srgbClr val="111111"/>
                </a:solidFill>
                <a:latin typeface="Microsoft YaHei" pitchFamily="34" charset="0"/>
                <a:ea typeface="Microsoft YaHei" pitchFamily="34" charset="-122"/>
                <a:cs typeface="Microsoft YaHei" pitchFamily="34" charset="-120"/>
              </a:rPr>
              <a:t>材料表面的“冷-热”差异，也是产品设计过程中需要重点关注的材料物理量，主要涉及</a:t>
            </a:r>
            <a:pPr indent="0" marL="0">
              <a:lnSpc>
                <a:spcPct val="155000"/>
              </a:lnSpc>
              <a:buNone/>
            </a:pPr>
            <a:r>
              <a:rPr lang="en-US" sz="1700" b="1" dirty="0">
                <a:solidFill>
                  <a:srgbClr val="111111"/>
                </a:solidFill>
                <a:highlight>
                  <a:srgbClr val="E4FF97"/>
                </a:highlight>
                <a:latin typeface="Microsoft YaHei" pitchFamily="34" charset="0"/>
                <a:ea typeface="Microsoft YaHei" pitchFamily="34" charset="-122"/>
                <a:cs typeface="Microsoft YaHei" pitchFamily="34" charset="-120"/>
              </a:rPr>
              <a:t>导热系数</a:t>
            </a:r>
            <a:pPr indent="0" marL="0">
              <a:lnSpc>
                <a:spcPct val="155000"/>
              </a:lnSpc>
              <a:buNone/>
            </a:pPr>
            <a:r>
              <a:rPr lang="en-US" sz="1700" dirty="0">
                <a:solidFill>
                  <a:srgbClr val="111111"/>
                </a:solidFill>
                <a:latin typeface="Microsoft YaHei" pitchFamily="34" charset="0"/>
                <a:ea typeface="Microsoft YaHei" pitchFamily="34" charset="-122"/>
                <a:cs typeface="Microsoft YaHei" pitchFamily="34" charset="-120"/>
              </a:rPr>
              <a:t>或</a:t>
            </a:r>
            <a:pPr indent="0" marL="0">
              <a:lnSpc>
                <a:spcPct val="155000"/>
              </a:lnSpc>
              <a:buNone/>
            </a:pPr>
            <a:r>
              <a:rPr lang="en-US" sz="1700" b="1" dirty="0">
                <a:solidFill>
                  <a:srgbClr val="111111"/>
                </a:solidFill>
                <a:highlight>
                  <a:srgbClr val="E4FF97"/>
                </a:highlight>
                <a:latin typeface="Microsoft YaHei" pitchFamily="34" charset="0"/>
                <a:ea typeface="Microsoft YaHei" pitchFamily="34" charset="-122"/>
                <a:cs typeface="Microsoft YaHei" pitchFamily="34" charset="-120"/>
              </a:rPr>
              <a:t>比热容</a:t>
            </a:r>
            <a:pPr indent="0" marL="0">
              <a:lnSpc>
                <a:spcPct val="155000"/>
              </a:lnSpc>
              <a:buNone/>
            </a:pPr>
            <a:r>
              <a:rPr lang="en-US" sz="1700" dirty="0">
                <a:solidFill>
                  <a:srgbClr val="111111"/>
                </a:solidFill>
                <a:latin typeface="Microsoft YaHei" pitchFamily="34" charset="0"/>
                <a:ea typeface="Microsoft YaHei" pitchFamily="34" charset="-122"/>
                <a:cs typeface="Microsoft YaHei" pitchFamily="34" charset="-120"/>
              </a:rPr>
              <a:t>等物理量。</a:t>
            </a:r>
            <a:endParaRPr lang="en-US" sz="1700" dirty="0"/>
          </a:p>
        </p:txBody>
      </p:sp>
      <p:pic>
        <p:nvPicPr>
          <p:cNvPr id="12" name="Image 0" descr="p52_2">    </p:cNvPr>
          <p:cNvPicPr>
            <a:picLocks noChangeAspect="1"/>
          </p:cNvPicPr>
          <p:nvPr/>
        </p:nvPicPr>
        <p:blipFill>
          <a:blip r:embed="rId1"/>
          <a:stretch>
            <a:fillRect/>
          </a:stretch>
        </p:blipFill>
        <p:spPr>
          <a:xfrm>
            <a:off x="4343400" y="1188720"/>
            <a:ext cx="2139696" cy="3383280"/>
          </a:xfrm>
          <a:prstGeom prst="rect">
            <a:avLst/>
          </a:prstGeom>
        </p:spPr>
      </p:pic>
      <p:pic>
        <p:nvPicPr>
          <p:cNvPr id="13" name="Image 1" descr="p52_1">    </p:cNvPr>
          <p:cNvPicPr>
            <a:picLocks noChangeAspect="1"/>
          </p:cNvPicPr>
          <p:nvPr/>
        </p:nvPicPr>
        <p:blipFill>
          <a:blip r:embed="rId2"/>
          <a:stretch>
            <a:fillRect/>
          </a:stretch>
        </p:blipFill>
        <p:spPr>
          <a:xfrm>
            <a:off x="6592824" y="1188720"/>
            <a:ext cx="2139696" cy="3383280"/>
          </a:xfrm>
          <a:prstGeom prst="rect">
            <a:avLst/>
          </a:prstGeom>
        </p:spPr>
      </p:pic>
      <p:sp>
        <p:nvSpPr>
          <p:cNvPr id="14" name="Shape 10"/>
          <p:cNvSpPr/>
          <p:nvPr/>
        </p:nvSpPr>
        <p:spPr>
          <a:xfrm>
            <a:off x="4343400" y="3977640"/>
            <a:ext cx="594360" cy="594360"/>
          </a:xfrm>
          <a:prstGeom prst="roundRect">
            <a:avLst>
              <a:gd name="adj" fmla="val 15385"/>
            </a:avLst>
          </a:prstGeom>
          <a:solidFill>
            <a:srgbClr val="FFFFFF"/>
          </a:solidFill>
          <a:ln/>
        </p:spPr>
      </p:sp>
      <p:sp>
        <p:nvSpPr>
          <p:cNvPr id="15" name="Text 11"/>
          <p:cNvSpPr txBox="1"/>
          <p:nvPr/>
        </p:nvSpPr>
        <p:spPr>
          <a:xfrm>
            <a:off x="4343400" y="3977640"/>
            <a:ext cx="594360" cy="594360"/>
          </a:xfrm>
          <a:prstGeom prst="rect">
            <a:avLst/>
          </a:prstGeom>
          <a:noFill/>
          <a:ln/>
        </p:spPr>
        <p:txBody>
          <a:bodyPr wrap="square" lIns="0" tIns="0" rIns="0" bIns="0" rtlCol="0" anchor="ctr"/>
          <a:lstStyle/>
          <a:p>
            <a:pPr algn="ctr" indent="0" marL="0">
              <a:buNone/>
            </a:pPr>
            <a:r>
              <a:rPr lang="en-US" sz="1800" b="1" dirty="0">
                <a:solidFill>
                  <a:srgbClr val="111111"/>
                </a:solidFill>
                <a:latin typeface="Microsoft YaHei" pitchFamily="34" charset="0"/>
                <a:ea typeface="Microsoft YaHei" pitchFamily="34" charset="-122"/>
                <a:cs typeface="Microsoft YaHei" pitchFamily="34" charset="-120"/>
              </a:rPr>
              <a:t>热</a:t>
            </a:r>
            <a:endParaRPr lang="en-US" sz="1800" dirty="0"/>
          </a:p>
        </p:txBody>
      </p:sp>
      <p:sp>
        <p:nvSpPr>
          <p:cNvPr id="16" name="Shape 12"/>
          <p:cNvSpPr/>
          <p:nvPr/>
        </p:nvSpPr>
        <p:spPr>
          <a:xfrm>
            <a:off x="6592824" y="3977640"/>
            <a:ext cx="594360" cy="594360"/>
          </a:xfrm>
          <a:prstGeom prst="roundRect">
            <a:avLst>
              <a:gd name="adj" fmla="val 15385"/>
            </a:avLst>
          </a:prstGeom>
          <a:solidFill>
            <a:srgbClr val="E4FF97"/>
          </a:solidFill>
          <a:ln/>
        </p:spPr>
      </p:sp>
      <p:sp>
        <p:nvSpPr>
          <p:cNvPr id="17" name="Text 13"/>
          <p:cNvSpPr txBox="1"/>
          <p:nvPr/>
        </p:nvSpPr>
        <p:spPr>
          <a:xfrm>
            <a:off x="6592824" y="3977640"/>
            <a:ext cx="594360" cy="594360"/>
          </a:xfrm>
          <a:prstGeom prst="rect">
            <a:avLst/>
          </a:prstGeom>
          <a:noFill/>
          <a:ln/>
        </p:spPr>
        <p:txBody>
          <a:bodyPr wrap="square" lIns="0" tIns="0" rIns="0" bIns="0" rtlCol="0" anchor="ctr"/>
          <a:lstStyle/>
          <a:p>
            <a:pPr algn="ctr" indent="0" marL="0">
              <a:buNone/>
            </a:pPr>
            <a:r>
              <a:rPr lang="en-US" sz="1800" b="1" dirty="0">
                <a:solidFill>
                  <a:srgbClr val="111111"/>
                </a:solidFill>
                <a:latin typeface="Microsoft YaHei" pitchFamily="34" charset="0"/>
                <a:ea typeface="Microsoft YaHei" pitchFamily="34" charset="-122"/>
                <a:cs typeface="Microsoft YaHei" pitchFamily="34" charset="-120"/>
              </a:rPr>
              <a:t>冷</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表征产品肤觉特征的材料物理量</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Young's Modulus &amp; Friction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55</a:t>
            </a:r>
            <a:endParaRPr lang="en-US" sz="750" dirty="0"/>
          </a:p>
        </p:txBody>
      </p:sp>
      <p:sp>
        <p:nvSpPr>
          <p:cNvPr id="11" name="Shape 9"/>
          <p:cNvSpPr/>
          <p:nvPr/>
        </p:nvSpPr>
        <p:spPr>
          <a:xfrm>
            <a:off x="411480" y="1188720"/>
            <a:ext cx="5120640" cy="1636776"/>
          </a:xfrm>
          <a:prstGeom prst="roundRect">
            <a:avLst>
              <a:gd name="adj" fmla="val 6704"/>
            </a:avLst>
          </a:prstGeom>
          <a:solidFill>
            <a:srgbClr val="F4F4F4"/>
          </a:solidFill>
          <a:ln/>
        </p:spPr>
      </p:sp>
      <p:sp>
        <p:nvSpPr>
          <p:cNvPr id="12" name="Shape 10"/>
          <p:cNvSpPr/>
          <p:nvPr/>
        </p:nvSpPr>
        <p:spPr>
          <a:xfrm>
            <a:off x="640080" y="1417320"/>
            <a:ext cx="164592" cy="164592"/>
          </a:xfrm>
          <a:prstGeom prst="rect">
            <a:avLst/>
          </a:prstGeom>
          <a:solidFill>
            <a:srgbClr val="E4FF97"/>
          </a:solidFill>
          <a:ln/>
        </p:spPr>
      </p:sp>
      <p:sp>
        <p:nvSpPr>
          <p:cNvPr id="13" name="Text 11"/>
          <p:cNvSpPr txBox="1"/>
          <p:nvPr/>
        </p:nvSpPr>
        <p:spPr>
          <a:xfrm>
            <a:off x="914400" y="1316736"/>
            <a:ext cx="448056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弹性模量  Young's modulus</a:t>
            </a:r>
            <a:endParaRPr lang="en-US" sz="1400" dirty="0"/>
          </a:p>
        </p:txBody>
      </p:sp>
      <p:sp>
        <p:nvSpPr>
          <p:cNvPr id="14" name="Text 12"/>
          <p:cNvSpPr txBox="1"/>
          <p:nvPr/>
        </p:nvSpPr>
        <p:spPr>
          <a:xfrm>
            <a:off x="640080" y="1755648"/>
            <a:ext cx="4709160" cy="100584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弹性模量又称为杨氏模量（Young's modulus），是材料变形后回弹的指标，其物理意义是产生100%弹性变形所需的应力，主要反映了材料的拉伸弹性和软硬程度。</a:t>
            </a:r>
            <a:endParaRPr lang="en-US" sz="1150" dirty="0"/>
          </a:p>
        </p:txBody>
      </p:sp>
      <p:sp>
        <p:nvSpPr>
          <p:cNvPr id="15" name="Shape 13"/>
          <p:cNvSpPr/>
          <p:nvPr/>
        </p:nvSpPr>
        <p:spPr>
          <a:xfrm>
            <a:off x="411480" y="2935224"/>
            <a:ext cx="5120640" cy="1636776"/>
          </a:xfrm>
          <a:prstGeom prst="roundRect">
            <a:avLst>
              <a:gd name="adj" fmla="val 6704"/>
            </a:avLst>
          </a:prstGeom>
          <a:solidFill>
            <a:srgbClr val="F4F4F4"/>
          </a:solidFill>
          <a:ln/>
        </p:spPr>
      </p:sp>
      <p:sp>
        <p:nvSpPr>
          <p:cNvPr id="16" name="Shape 14"/>
          <p:cNvSpPr/>
          <p:nvPr/>
        </p:nvSpPr>
        <p:spPr>
          <a:xfrm>
            <a:off x="640080" y="3163824"/>
            <a:ext cx="164592" cy="164592"/>
          </a:xfrm>
          <a:prstGeom prst="rect">
            <a:avLst/>
          </a:prstGeom>
          <a:solidFill>
            <a:srgbClr val="111111"/>
          </a:solidFill>
          <a:ln/>
        </p:spPr>
      </p:sp>
      <p:sp>
        <p:nvSpPr>
          <p:cNvPr id="17" name="Text 15"/>
          <p:cNvSpPr txBox="1"/>
          <p:nvPr/>
        </p:nvSpPr>
        <p:spPr>
          <a:xfrm>
            <a:off x="914400" y="3063240"/>
            <a:ext cx="4480560" cy="365760"/>
          </a:xfrm>
          <a:prstGeom prst="rect">
            <a:avLst/>
          </a:prstGeom>
          <a:noFill/>
          <a:ln/>
        </p:spPr>
        <p:txBody>
          <a:bodyPr wrap="square" lIns="0" tIns="0" rIns="0" bIns="0" rtlCol="0" anchor="ctr"/>
          <a:lstStyle/>
          <a:p>
            <a:pPr indent="0" marL="0">
              <a:buNone/>
            </a:pPr>
            <a:r>
              <a:rPr lang="en-US" sz="1400" b="1" dirty="0">
                <a:solidFill>
                  <a:srgbClr val="111111"/>
                </a:solidFill>
                <a:latin typeface="Microsoft YaHei" pitchFamily="34" charset="0"/>
                <a:ea typeface="Microsoft YaHei" pitchFamily="34" charset="-122"/>
                <a:cs typeface="Microsoft YaHei" pitchFamily="34" charset="-120"/>
              </a:rPr>
              <a:t>摩擦系数  coefficient of friction</a:t>
            </a:r>
            <a:endParaRPr lang="en-US" sz="1400" dirty="0"/>
          </a:p>
        </p:txBody>
      </p:sp>
      <p:sp>
        <p:nvSpPr>
          <p:cNvPr id="18" name="Text 16"/>
          <p:cNvSpPr txBox="1"/>
          <p:nvPr/>
        </p:nvSpPr>
        <p:spPr>
          <a:xfrm>
            <a:off x="640080" y="3502152"/>
            <a:ext cx="4709160" cy="1005840"/>
          </a:xfrm>
          <a:prstGeom prst="rect">
            <a:avLst/>
          </a:prstGeom>
          <a:noFill/>
          <a:ln/>
        </p:spPr>
        <p:txBody>
          <a:bodyPr wrap="square" lIns="0" tIns="0" rIns="0" bIns="0" rtlCol="0" anchor="t"/>
          <a:lstStyle/>
          <a:p>
            <a:pPr indent="0" marL="0">
              <a:lnSpc>
                <a:spcPct val="135000"/>
              </a:lnSpc>
              <a:buNone/>
            </a:pPr>
            <a:r>
              <a:rPr lang="en-US" sz="1150" dirty="0">
                <a:solidFill>
                  <a:srgbClr val="111111"/>
                </a:solidFill>
                <a:latin typeface="Microsoft YaHei" pitchFamily="34" charset="0"/>
                <a:ea typeface="Microsoft YaHei" pitchFamily="34" charset="-122"/>
                <a:cs typeface="Microsoft YaHei" pitchFamily="34" charset="-120"/>
              </a:rPr>
              <a:t>物体表面湿润（moist）、干燥（dry）、黏稠（sticky）及光滑（slippery）的肤觉体验都归因于指腹与材料表面纹理的摩擦水平，即摩擦系数（coefficient of friction）。</a:t>
            </a:r>
            <a:endParaRPr lang="en-US" sz="1150" dirty="0"/>
          </a:p>
        </p:txBody>
      </p:sp>
      <p:pic>
        <p:nvPicPr>
          <p:cNvPr id="19" name="Image 0" descr="p53_1">    </p:cNvPr>
          <p:cNvPicPr>
            <a:picLocks noChangeAspect="1"/>
          </p:cNvPicPr>
          <p:nvPr/>
        </p:nvPicPr>
        <p:blipFill>
          <a:blip r:embed="rId1"/>
          <a:stretch>
            <a:fillRect/>
          </a:stretch>
        </p:blipFill>
        <p:spPr>
          <a:xfrm>
            <a:off x="5715000" y="1188720"/>
            <a:ext cx="3017520" cy="338328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818888"/>
            <a:ext cx="77724" cy="77724"/>
          </a:xfrm>
          <a:prstGeom prst="ellipse">
            <a:avLst/>
          </a:prstGeom>
          <a:solidFill>
            <a:srgbClr val="4D49FC"/>
          </a:solidFill>
          <a:ln/>
        </p:spPr>
      </p:sp>
      <p:sp>
        <p:nvSpPr>
          <p:cNvPr id="3" name="Shape 1"/>
          <p:cNvSpPr/>
          <p:nvPr/>
        </p:nvSpPr>
        <p:spPr>
          <a:xfrm>
            <a:off x="507492" y="4818888"/>
            <a:ext cx="77724" cy="77724"/>
          </a:xfrm>
          <a:prstGeom prst="ellipse">
            <a:avLst/>
          </a:prstGeom>
          <a:solidFill>
            <a:srgbClr val="4D49FC"/>
          </a:solidFill>
          <a:ln/>
        </p:spPr>
      </p:sp>
      <p:sp>
        <p:nvSpPr>
          <p:cNvPr id="4" name="Shape 2"/>
          <p:cNvSpPr/>
          <p:nvPr/>
        </p:nvSpPr>
        <p:spPr>
          <a:xfrm>
            <a:off x="411480" y="4914900"/>
            <a:ext cx="77724" cy="77724"/>
          </a:xfrm>
          <a:prstGeom prst="ellipse">
            <a:avLst/>
          </a:prstGeom>
          <a:solidFill>
            <a:srgbClr val="4D49FC"/>
          </a:solidFill>
          <a:ln/>
        </p:spPr>
      </p:sp>
      <p:sp>
        <p:nvSpPr>
          <p:cNvPr id="5" name="Shape 3"/>
          <p:cNvSpPr/>
          <p:nvPr/>
        </p:nvSpPr>
        <p:spPr>
          <a:xfrm>
            <a:off x="507492" y="4914900"/>
            <a:ext cx="77724" cy="77724"/>
          </a:xfrm>
          <a:prstGeom prst="ellipse">
            <a:avLst/>
          </a:prstGeom>
          <a:solidFill>
            <a:srgbClr val="4D49FC"/>
          </a:solidFill>
          <a:ln/>
        </p:spPr>
      </p:sp>
      <p:sp>
        <p:nvSpPr>
          <p:cNvPr id="6" name="Text 4"/>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7" name="Text 5"/>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56</a:t>
            </a:r>
            <a:endParaRPr lang="en-US" sz="750" dirty="0"/>
          </a:p>
        </p:txBody>
      </p:sp>
      <p:pic>
        <p:nvPicPr>
          <p:cNvPr id="8" name="Image 0" descr="p54_0">    </p:cNvPr>
          <p:cNvPicPr>
            <a:picLocks noChangeAspect="1"/>
          </p:cNvPicPr>
          <p:nvPr/>
        </p:nvPicPr>
        <p:blipFill>
          <a:blip r:embed="rId1"/>
          <a:stretch>
            <a:fillRect/>
          </a:stretch>
        </p:blipFill>
        <p:spPr>
          <a:xfrm>
            <a:off x="5806440" y="0"/>
            <a:ext cx="3337560" cy="4636008"/>
          </a:xfrm>
          <a:prstGeom prst="rect">
            <a:avLst/>
          </a:prstGeom>
        </p:spPr>
      </p:pic>
      <p:sp>
        <p:nvSpPr>
          <p:cNvPr id="9" name="Shape 6"/>
          <p:cNvSpPr/>
          <p:nvPr/>
        </p:nvSpPr>
        <p:spPr>
          <a:xfrm>
            <a:off x="5806440" y="3931920"/>
            <a:ext cx="3337560" cy="704088"/>
          </a:xfrm>
          <a:prstGeom prst="roundRect">
            <a:avLst>
              <a:gd name="adj" fmla="val 12987"/>
            </a:avLst>
          </a:prstGeom>
          <a:solidFill>
            <a:srgbClr val="111111"/>
          </a:solidFill>
          <a:ln/>
        </p:spPr>
      </p:sp>
      <p:sp>
        <p:nvSpPr>
          <p:cNvPr id="10" name="Text 7"/>
          <p:cNvSpPr txBox="1"/>
          <p:nvPr/>
        </p:nvSpPr>
        <p:spPr>
          <a:xfrm>
            <a:off x="5989320" y="3986784"/>
            <a:ext cx="3017520" cy="59436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1801.04.19~1887.11.18</a:t>
            </a:r>
            <a:endParaRPr lang="en-US" sz="900" dirty="0"/>
          </a:p>
          <a:p>
            <a:pPr indent="0" marL="0">
              <a:buNone/>
            </a:pPr>
            <a:r>
              <a:rPr lang="en-US" sz="900" dirty="0">
                <a:solidFill>
                  <a:srgbClr val="FFFFFF"/>
                </a:solidFill>
                <a:latin typeface="Microsoft YaHei" pitchFamily="34" charset="0"/>
                <a:ea typeface="Microsoft YaHei" pitchFamily="34" charset="-122"/>
                <a:cs typeface="Microsoft YaHei" pitchFamily="34" charset="-120"/>
              </a:rPr>
              <a:t>德国哲学家、实验心理学家和物理学家</a:t>
            </a:r>
            <a:endParaRPr lang="en-US" sz="900" dirty="0"/>
          </a:p>
        </p:txBody>
      </p:sp>
      <p:sp>
        <p:nvSpPr>
          <p:cNvPr id="11" name="Text 8"/>
          <p:cNvSpPr txBox="1"/>
          <p:nvPr/>
        </p:nvSpPr>
        <p:spPr>
          <a:xfrm>
            <a:off x="411480" y="292608"/>
            <a:ext cx="5120640" cy="457200"/>
          </a:xfrm>
          <a:prstGeom prst="rect">
            <a:avLst/>
          </a:prstGeom>
          <a:noFill/>
          <a:ln/>
        </p:spPr>
        <p:txBody>
          <a:bodyPr wrap="square" lIns="0" tIns="0" rIns="0" bIns="0" rtlCol="0" anchor="ct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古斯塔夫·特奥多尔·费希纳</a:t>
            </a:r>
            <a:endParaRPr lang="en-US" sz="2400" dirty="0"/>
          </a:p>
        </p:txBody>
      </p:sp>
      <p:sp>
        <p:nvSpPr>
          <p:cNvPr id="12" name="Text 9"/>
          <p:cNvSpPr txBox="1"/>
          <p:nvPr/>
        </p:nvSpPr>
        <p:spPr>
          <a:xfrm>
            <a:off x="411480" y="749808"/>
            <a:ext cx="5120640" cy="256032"/>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Gustav Theodor Fechner</a:t>
            </a:r>
            <a:endParaRPr lang="en-US" sz="1100" dirty="0"/>
          </a:p>
        </p:txBody>
      </p:sp>
      <p:sp>
        <p:nvSpPr>
          <p:cNvPr id="13" name="Shape 10"/>
          <p:cNvSpPr/>
          <p:nvPr/>
        </p:nvSpPr>
        <p:spPr>
          <a:xfrm>
            <a:off x="411480" y="1234440"/>
            <a:ext cx="5120640" cy="1600200"/>
          </a:xfrm>
          <a:prstGeom prst="roundRect">
            <a:avLst>
              <a:gd name="adj" fmla="val 5714"/>
            </a:avLst>
          </a:prstGeom>
          <a:solidFill>
            <a:srgbClr val="E4FF97"/>
          </a:solidFill>
          <a:ln/>
        </p:spPr>
      </p:sp>
      <p:sp>
        <p:nvSpPr>
          <p:cNvPr id="14" name="Text 11"/>
          <p:cNvSpPr txBox="1"/>
          <p:nvPr/>
        </p:nvSpPr>
        <p:spPr>
          <a:xfrm>
            <a:off x="640080" y="1325880"/>
            <a:ext cx="4663440" cy="731520"/>
          </a:xfrm>
          <a:prstGeom prst="rect">
            <a:avLst/>
          </a:prstGeom>
          <a:noFill/>
          <a:ln/>
        </p:spPr>
        <p:txBody>
          <a:bodyPr wrap="square" lIns="0" tIns="0" rIns="0" bIns="0" rtlCol="0" anchor="ctr"/>
          <a:lstStyle/>
          <a:p>
            <a:pPr indent="0" marL="0">
              <a:buNone/>
            </a:pPr>
            <a:r>
              <a:rPr lang="en-US" sz="1500" b="1" dirty="0">
                <a:solidFill>
                  <a:srgbClr val="111111"/>
                </a:solidFill>
                <a:latin typeface="Microsoft YaHei" pitchFamily="34" charset="0"/>
                <a:ea typeface="Microsoft YaHei" pitchFamily="34" charset="-122"/>
                <a:cs typeface="Microsoft YaHei" pitchFamily="34" charset="-120"/>
              </a:rPr>
              <a:t>《心理物理学纲要》</a:t>
            </a:r>
            <a:endParaRPr lang="en-US" sz="1500" dirty="0"/>
          </a:p>
          <a:p>
            <a:pPr indent="0" marL="0">
              <a:buNone/>
            </a:pPr>
            <a:r>
              <a:rPr lang="en-US" sz="1500" i="1" dirty="0">
                <a:solidFill>
                  <a:srgbClr val="111111"/>
                </a:solidFill>
                <a:latin typeface="Arial" pitchFamily="34" charset="0"/>
                <a:ea typeface="Arial" pitchFamily="34" charset="-122"/>
                <a:cs typeface="Arial" pitchFamily="34" charset="-120"/>
              </a:rPr>
              <a:t>《Elemente der Psychophysik》</a:t>
            </a:r>
            <a:endParaRPr lang="en-US" sz="1500" dirty="0"/>
          </a:p>
        </p:txBody>
      </p:sp>
      <p:sp>
        <p:nvSpPr>
          <p:cNvPr id="15" name="Text 12"/>
          <p:cNvSpPr txBox="1"/>
          <p:nvPr/>
        </p:nvSpPr>
        <p:spPr>
          <a:xfrm>
            <a:off x="640080" y="2103120"/>
            <a:ext cx="4663440" cy="59436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为心理物理学的研究奠定了基础，被称为实验心理学的开端。</a:t>
            </a:r>
            <a:endParaRPr lang="en-US" sz="1300" dirty="0"/>
          </a:p>
        </p:txBody>
      </p:sp>
      <p:sp>
        <p:nvSpPr>
          <p:cNvPr id="16" name="Shape 13"/>
          <p:cNvSpPr/>
          <p:nvPr/>
        </p:nvSpPr>
        <p:spPr>
          <a:xfrm>
            <a:off x="411480" y="2971800"/>
            <a:ext cx="2505456" cy="1600200"/>
          </a:xfrm>
          <a:prstGeom prst="roundRect">
            <a:avLst>
              <a:gd name="adj" fmla="val 5714"/>
            </a:avLst>
          </a:prstGeom>
          <a:solidFill>
            <a:srgbClr val="F4F4F4"/>
          </a:solidFill>
          <a:ln/>
        </p:spPr>
      </p:sp>
      <p:sp>
        <p:nvSpPr>
          <p:cNvPr id="17" name="Text 14"/>
          <p:cNvSpPr txBox="1"/>
          <p:nvPr/>
        </p:nvSpPr>
        <p:spPr>
          <a:xfrm>
            <a:off x="612648" y="3108960"/>
            <a:ext cx="2103120" cy="411480"/>
          </a:xfrm>
          <a:prstGeom prst="rect">
            <a:avLst/>
          </a:prstGeom>
          <a:noFill/>
          <a:ln/>
        </p:spPr>
        <p:txBody>
          <a:bodyPr wrap="square" lIns="0" tIns="0" rIns="0" bIns="0" rtlCol="0" anchor="ctr"/>
          <a:lstStyle/>
          <a:p>
            <a:pPr indent="0" marL="0">
              <a:buNone/>
            </a:pPr>
            <a:r>
              <a:rPr lang="en-US" sz="1600" b="1" dirty="0">
                <a:solidFill>
                  <a:srgbClr val="111111"/>
                </a:solidFill>
                <a:latin typeface="Microsoft YaHei" pitchFamily="34" charset="0"/>
                <a:ea typeface="Microsoft YaHei" pitchFamily="34" charset="-122"/>
                <a:cs typeface="Microsoft YaHei" pitchFamily="34" charset="-120"/>
              </a:rPr>
              <a:t>第一卷</a:t>
            </a:r>
            <a:endParaRPr lang="en-US" sz="1600" dirty="0"/>
          </a:p>
        </p:txBody>
      </p:sp>
      <p:sp>
        <p:nvSpPr>
          <p:cNvPr id="18" name="Text 15"/>
          <p:cNvSpPr txBox="1"/>
          <p:nvPr/>
        </p:nvSpPr>
        <p:spPr>
          <a:xfrm>
            <a:off x="612648" y="3611880"/>
            <a:ext cx="2148840" cy="822960"/>
          </a:xfrm>
          <a:prstGeom prst="rect">
            <a:avLst/>
          </a:prstGeom>
          <a:noFill/>
          <a:ln/>
        </p:spPr>
        <p:txBody>
          <a:bodyPr wrap="square" lIns="0" tIns="0" rIns="0" bIns="0" rtlCol="0" anchor="t"/>
          <a:lstStyle/>
          <a:p>
            <a:pPr indent="0" marL="0">
              <a:lnSpc>
                <a:spcPct val="130000"/>
              </a:lnSpc>
              <a:buNone/>
            </a:pPr>
            <a:r>
              <a:rPr lang="en-US" sz="1200" dirty="0">
                <a:solidFill>
                  <a:srgbClr val="111111"/>
                </a:solidFill>
                <a:latin typeface="Microsoft YaHei" pitchFamily="34" charset="0"/>
                <a:ea typeface="Microsoft YaHei" pitchFamily="34" charset="-122"/>
                <a:cs typeface="Microsoft YaHei" pitchFamily="34" charset="-120"/>
              </a:rPr>
              <a:t>“外部心理学（outer psychophysics）”</a:t>
            </a:r>
            <a:endParaRPr lang="en-US" sz="1200" dirty="0"/>
          </a:p>
        </p:txBody>
      </p:sp>
      <p:sp>
        <p:nvSpPr>
          <p:cNvPr id="19" name="Shape 16"/>
          <p:cNvSpPr/>
          <p:nvPr/>
        </p:nvSpPr>
        <p:spPr>
          <a:xfrm>
            <a:off x="3026664" y="2971800"/>
            <a:ext cx="2505456" cy="1600200"/>
          </a:xfrm>
          <a:prstGeom prst="roundRect">
            <a:avLst>
              <a:gd name="adj" fmla="val 5714"/>
            </a:avLst>
          </a:prstGeom>
          <a:solidFill>
            <a:srgbClr val="111111"/>
          </a:solidFill>
          <a:ln/>
        </p:spPr>
      </p:sp>
      <p:sp>
        <p:nvSpPr>
          <p:cNvPr id="20" name="Text 17"/>
          <p:cNvSpPr txBox="1"/>
          <p:nvPr/>
        </p:nvSpPr>
        <p:spPr>
          <a:xfrm>
            <a:off x="3227832" y="3108960"/>
            <a:ext cx="2103120" cy="411480"/>
          </a:xfrm>
          <a:prstGeom prst="rect">
            <a:avLst/>
          </a:prstGeom>
          <a:noFill/>
          <a:ln/>
        </p:spPr>
        <p:txBody>
          <a:bodyPr wrap="square" lIns="0" tIns="0" rIns="0" bIns="0" rtlCol="0" anchor="ctr"/>
          <a:lstStyle/>
          <a:p>
            <a:pPr indent="0" marL="0">
              <a:buNone/>
            </a:pPr>
            <a:r>
              <a:rPr lang="en-US" sz="1600" b="1" dirty="0">
                <a:solidFill>
                  <a:srgbClr val="FFFFFF"/>
                </a:solidFill>
                <a:latin typeface="Microsoft YaHei" pitchFamily="34" charset="0"/>
                <a:ea typeface="Microsoft YaHei" pitchFamily="34" charset="-122"/>
                <a:cs typeface="Microsoft YaHei" pitchFamily="34" charset="-120"/>
              </a:rPr>
              <a:t>第二卷</a:t>
            </a:r>
            <a:endParaRPr lang="en-US" sz="1600" dirty="0"/>
          </a:p>
        </p:txBody>
      </p:sp>
      <p:sp>
        <p:nvSpPr>
          <p:cNvPr id="21" name="Text 18"/>
          <p:cNvSpPr txBox="1"/>
          <p:nvPr/>
        </p:nvSpPr>
        <p:spPr>
          <a:xfrm>
            <a:off x="3227832" y="3611880"/>
            <a:ext cx="2148840" cy="822960"/>
          </a:xfrm>
          <a:prstGeom prst="rect">
            <a:avLst/>
          </a:prstGeom>
          <a:noFill/>
          <a:ln/>
        </p:spPr>
        <p:txBody>
          <a:bodyPr wrap="square" lIns="0" tIns="0" rIns="0" bIns="0" rtlCol="0" anchor="t"/>
          <a:lstStyle/>
          <a:p>
            <a:pPr indent="0" marL="0">
              <a:lnSpc>
                <a:spcPct val="130000"/>
              </a:lnSpc>
              <a:buNone/>
            </a:pPr>
            <a:r>
              <a:rPr lang="en-US" sz="1200" dirty="0">
                <a:solidFill>
                  <a:srgbClr val="FFFFFF"/>
                </a:solidFill>
                <a:latin typeface="Microsoft YaHei" pitchFamily="34" charset="0"/>
                <a:ea typeface="Microsoft YaHei" pitchFamily="34" charset="-122"/>
                <a:cs typeface="Microsoft YaHei" pitchFamily="34" charset="-120"/>
              </a:rPr>
              <a:t>“内部心理学（inner psychophysics）”</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4D49FC"/>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E6E6FF"/>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FFFFFF"/>
                </a:solidFill>
                <a:latin typeface="Microsoft YaHei" pitchFamily="34" charset="0"/>
                <a:ea typeface="Microsoft YaHei" pitchFamily="34" charset="-122"/>
                <a:cs typeface="Microsoft YaHei" pitchFamily="34" charset="-120"/>
              </a:rPr>
              <a:t>感觉阈限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E6E6FF"/>
                </a:solidFill>
                <a:latin typeface="Arial" pitchFamily="34" charset="0"/>
                <a:ea typeface="Arial" pitchFamily="34" charset="-122"/>
                <a:cs typeface="Arial" pitchFamily="34" charset="-120"/>
              </a:rPr>
              <a:t>Sensory Threshold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E6E6FF"/>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E6E6FF"/>
                </a:solidFill>
                <a:latin typeface="Courier New" pitchFamily="34" charset="0"/>
                <a:ea typeface="Courier New" pitchFamily="34" charset="-122"/>
                <a:cs typeface="Courier New" pitchFamily="34" charset="-120"/>
              </a:rPr>
              <a:t>57</a:t>
            </a:r>
            <a:endParaRPr lang="en-US" sz="750" dirty="0"/>
          </a:p>
        </p:txBody>
      </p:sp>
      <p:sp>
        <p:nvSpPr>
          <p:cNvPr id="11" name="Text 9"/>
          <p:cNvSpPr txBox="1"/>
          <p:nvPr/>
        </p:nvSpPr>
        <p:spPr>
          <a:xfrm>
            <a:off x="411480" y="1371600"/>
            <a:ext cx="8321040" cy="1554480"/>
          </a:xfrm>
          <a:prstGeom prst="rect">
            <a:avLst/>
          </a:prstGeom>
          <a:noFill/>
          <a:ln/>
        </p:spPr>
        <p:txBody>
          <a:bodyPr wrap="square" lIns="0" tIns="0" rIns="0" bIns="0" rtlCol="0" anchor="t"/>
          <a:lstStyle/>
          <a:p>
            <a:pPr indent="0" marL="0">
              <a:lnSpc>
                <a:spcPct val="145000"/>
              </a:lnSpc>
              <a:buNone/>
            </a:pPr>
            <a:r>
              <a:rPr lang="en-US" sz="2200" dirty="0">
                <a:solidFill>
                  <a:srgbClr val="FFFFFF"/>
                </a:solidFill>
                <a:latin typeface="Microsoft YaHei" pitchFamily="34" charset="0"/>
                <a:ea typeface="Microsoft YaHei" pitchFamily="34" charset="-122"/>
                <a:cs typeface="Microsoft YaHei" pitchFamily="34" charset="-120"/>
              </a:rPr>
              <a:t>阈限（threshold）即“感觉阈限（sensory threshold）”是研究过程中作为重要的参数之一，它表达了感觉器官与感官范围临界点的相匹配的刺激强度。</a:t>
            </a:r>
            <a:endParaRPr lang="en-US" sz="2200" dirty="0"/>
          </a:p>
        </p:txBody>
      </p:sp>
      <p:sp>
        <p:nvSpPr>
          <p:cNvPr id="12" name="Shape 10"/>
          <p:cNvSpPr/>
          <p:nvPr/>
        </p:nvSpPr>
        <p:spPr>
          <a:xfrm>
            <a:off x="411480" y="3246120"/>
            <a:ext cx="457200" cy="64008"/>
          </a:xfrm>
          <a:prstGeom prst="rect">
            <a:avLst/>
          </a:prstGeom>
          <a:solidFill>
            <a:srgbClr val="E4FF97"/>
          </a:solidFill>
          <a:ln/>
        </p:spPr>
      </p:sp>
      <p:sp>
        <p:nvSpPr>
          <p:cNvPr id="13" name="Text 11"/>
          <p:cNvSpPr txBox="1"/>
          <p:nvPr/>
        </p:nvSpPr>
        <p:spPr>
          <a:xfrm>
            <a:off x="411480" y="3474720"/>
            <a:ext cx="8321040" cy="822960"/>
          </a:xfrm>
          <a:prstGeom prst="rect">
            <a:avLst/>
          </a:prstGeom>
          <a:noFill/>
          <a:ln/>
        </p:spPr>
        <p:txBody>
          <a:bodyPr wrap="square" lIns="0" tIns="0" rIns="0" bIns="0" rtlCol="0" anchor="t"/>
          <a:lstStyle/>
          <a:p>
            <a:pPr indent="0" marL="0">
              <a:lnSpc>
                <a:spcPct val="140000"/>
              </a:lnSpc>
              <a:buNone/>
            </a:pPr>
            <a:r>
              <a:rPr lang="en-US" sz="1350" dirty="0">
                <a:solidFill>
                  <a:srgbClr val="C8C8C8"/>
                </a:solidFill>
                <a:latin typeface="Microsoft YaHei" pitchFamily="34" charset="0"/>
                <a:ea typeface="Microsoft YaHei" pitchFamily="34" charset="-122"/>
                <a:cs typeface="Microsoft YaHei" pitchFamily="34" charset="-120"/>
              </a:rPr>
              <a:t>感觉通常依赖于人类大脑某些特定的加工过程，外部刺激通过神经元不断刺激大脑最终诱发相应的感觉。</a:t>
            </a:r>
            <a:endParaRPr lang="en-US" sz="13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感觉阈限</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Sensory Threshold</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58</a:t>
            </a:r>
            <a:endParaRPr lang="en-US" sz="750" dirty="0"/>
          </a:p>
        </p:txBody>
      </p:sp>
      <p:pic>
        <p:nvPicPr>
          <p:cNvPr id="11" name="Image 0" descr="p57_0">    </p:cNvPr>
          <p:cNvPicPr>
            <a:picLocks noChangeAspect="1"/>
          </p:cNvPicPr>
          <p:nvPr/>
        </p:nvPicPr>
        <p:blipFill>
          <a:blip r:embed="rId1"/>
          <a:stretch>
            <a:fillRect/>
          </a:stretch>
        </p:blipFill>
        <p:spPr>
          <a:xfrm>
            <a:off x="411480" y="1188720"/>
            <a:ext cx="2743200" cy="3383280"/>
          </a:xfrm>
          <a:prstGeom prst="rect">
            <a:avLst/>
          </a:prstGeom>
        </p:spPr>
      </p:pic>
      <p:sp>
        <p:nvSpPr>
          <p:cNvPr id="12" name="Shape 9"/>
          <p:cNvSpPr/>
          <p:nvPr/>
        </p:nvSpPr>
        <p:spPr>
          <a:xfrm>
            <a:off x="3291840" y="1188720"/>
            <a:ext cx="1005840" cy="603504"/>
          </a:xfrm>
          <a:prstGeom prst="roundRect">
            <a:avLst>
              <a:gd name="adj" fmla="val 15152"/>
            </a:avLst>
          </a:prstGeom>
          <a:solidFill>
            <a:srgbClr val="E4FF97"/>
          </a:solidFill>
          <a:ln/>
        </p:spPr>
      </p:sp>
      <p:sp>
        <p:nvSpPr>
          <p:cNvPr id="13" name="Text 10"/>
          <p:cNvSpPr txBox="1"/>
          <p:nvPr/>
        </p:nvSpPr>
        <p:spPr>
          <a:xfrm>
            <a:off x="3291840" y="1188720"/>
            <a:ext cx="1005840" cy="603504"/>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视觉</a:t>
            </a:r>
            <a:endParaRPr lang="en-US" sz="1400" dirty="0"/>
          </a:p>
        </p:txBody>
      </p:sp>
      <p:sp>
        <p:nvSpPr>
          <p:cNvPr id="14" name="Shape 11"/>
          <p:cNvSpPr/>
          <p:nvPr/>
        </p:nvSpPr>
        <p:spPr>
          <a:xfrm>
            <a:off x="4370832" y="1188720"/>
            <a:ext cx="4361688" cy="603504"/>
          </a:xfrm>
          <a:prstGeom prst="roundRect">
            <a:avLst>
              <a:gd name="adj" fmla="val 15152"/>
            </a:avLst>
          </a:prstGeom>
          <a:solidFill>
            <a:srgbClr val="F4F4F4"/>
          </a:solidFill>
          <a:ln/>
        </p:spPr>
      </p:sp>
      <p:sp>
        <p:nvSpPr>
          <p:cNvPr id="15" name="Text 12"/>
          <p:cNvSpPr txBox="1"/>
          <p:nvPr/>
        </p:nvSpPr>
        <p:spPr>
          <a:xfrm>
            <a:off x="4572000" y="1188720"/>
            <a:ext cx="4069080" cy="603504"/>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晴朗的夜晚能看见30英里外的烛光</a:t>
            </a:r>
            <a:endParaRPr lang="en-US" sz="1300" dirty="0"/>
          </a:p>
        </p:txBody>
      </p:sp>
      <p:sp>
        <p:nvSpPr>
          <p:cNvPr id="16" name="Shape 13"/>
          <p:cNvSpPr/>
          <p:nvPr/>
        </p:nvSpPr>
        <p:spPr>
          <a:xfrm>
            <a:off x="3291840" y="1892808"/>
            <a:ext cx="1005840" cy="603504"/>
          </a:xfrm>
          <a:prstGeom prst="roundRect">
            <a:avLst>
              <a:gd name="adj" fmla="val 15152"/>
            </a:avLst>
          </a:prstGeom>
          <a:solidFill>
            <a:srgbClr val="EBEBEB"/>
          </a:solidFill>
          <a:ln/>
        </p:spPr>
      </p:sp>
      <p:sp>
        <p:nvSpPr>
          <p:cNvPr id="17" name="Text 14"/>
          <p:cNvSpPr txBox="1"/>
          <p:nvPr/>
        </p:nvSpPr>
        <p:spPr>
          <a:xfrm>
            <a:off x="3291840" y="1892808"/>
            <a:ext cx="1005840" cy="603504"/>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听觉</a:t>
            </a:r>
            <a:endParaRPr lang="en-US" sz="1400" dirty="0"/>
          </a:p>
        </p:txBody>
      </p:sp>
      <p:sp>
        <p:nvSpPr>
          <p:cNvPr id="18" name="Shape 15"/>
          <p:cNvSpPr/>
          <p:nvPr/>
        </p:nvSpPr>
        <p:spPr>
          <a:xfrm>
            <a:off x="4370832" y="1892808"/>
            <a:ext cx="4361688" cy="603504"/>
          </a:xfrm>
          <a:prstGeom prst="roundRect">
            <a:avLst>
              <a:gd name="adj" fmla="val 15152"/>
            </a:avLst>
          </a:prstGeom>
          <a:solidFill>
            <a:srgbClr val="F4F4F4"/>
          </a:solidFill>
          <a:ln/>
        </p:spPr>
      </p:sp>
      <p:sp>
        <p:nvSpPr>
          <p:cNvPr id="19" name="Text 16"/>
          <p:cNvSpPr txBox="1"/>
          <p:nvPr/>
        </p:nvSpPr>
        <p:spPr>
          <a:xfrm>
            <a:off x="4572000" y="1892808"/>
            <a:ext cx="4069080" cy="603504"/>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距离手表20英尺能听见指针的走动声</a:t>
            </a:r>
            <a:endParaRPr lang="en-US" sz="1300" dirty="0"/>
          </a:p>
        </p:txBody>
      </p:sp>
      <p:sp>
        <p:nvSpPr>
          <p:cNvPr id="20" name="Shape 17"/>
          <p:cNvSpPr/>
          <p:nvPr/>
        </p:nvSpPr>
        <p:spPr>
          <a:xfrm>
            <a:off x="3291840" y="2596896"/>
            <a:ext cx="1005840" cy="603504"/>
          </a:xfrm>
          <a:prstGeom prst="roundRect">
            <a:avLst>
              <a:gd name="adj" fmla="val 15152"/>
            </a:avLst>
          </a:prstGeom>
          <a:solidFill>
            <a:srgbClr val="EBEBEB"/>
          </a:solidFill>
          <a:ln/>
        </p:spPr>
      </p:sp>
      <p:sp>
        <p:nvSpPr>
          <p:cNvPr id="21" name="Text 18"/>
          <p:cNvSpPr txBox="1"/>
          <p:nvPr/>
        </p:nvSpPr>
        <p:spPr>
          <a:xfrm>
            <a:off x="3291840" y="2596896"/>
            <a:ext cx="1005840" cy="603504"/>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味觉</a:t>
            </a:r>
            <a:endParaRPr lang="en-US" sz="1400" dirty="0"/>
          </a:p>
        </p:txBody>
      </p:sp>
      <p:sp>
        <p:nvSpPr>
          <p:cNvPr id="22" name="Shape 19"/>
          <p:cNvSpPr/>
          <p:nvPr/>
        </p:nvSpPr>
        <p:spPr>
          <a:xfrm>
            <a:off x="4370832" y="2596896"/>
            <a:ext cx="4361688" cy="603504"/>
          </a:xfrm>
          <a:prstGeom prst="roundRect">
            <a:avLst>
              <a:gd name="adj" fmla="val 15152"/>
            </a:avLst>
          </a:prstGeom>
          <a:solidFill>
            <a:srgbClr val="F4F4F4"/>
          </a:solidFill>
          <a:ln/>
        </p:spPr>
      </p:sp>
      <p:sp>
        <p:nvSpPr>
          <p:cNvPr id="23" name="Text 20"/>
          <p:cNvSpPr txBox="1"/>
          <p:nvPr/>
        </p:nvSpPr>
        <p:spPr>
          <a:xfrm>
            <a:off x="4572000" y="2596896"/>
            <a:ext cx="4069080" cy="603504"/>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一小勺糖需要配2加仑的水</a:t>
            </a:r>
            <a:endParaRPr lang="en-US" sz="1300" dirty="0"/>
          </a:p>
        </p:txBody>
      </p:sp>
      <p:sp>
        <p:nvSpPr>
          <p:cNvPr id="24" name="Shape 21"/>
          <p:cNvSpPr/>
          <p:nvPr/>
        </p:nvSpPr>
        <p:spPr>
          <a:xfrm>
            <a:off x="3291840" y="3300984"/>
            <a:ext cx="1005840" cy="603504"/>
          </a:xfrm>
          <a:prstGeom prst="roundRect">
            <a:avLst>
              <a:gd name="adj" fmla="val 15152"/>
            </a:avLst>
          </a:prstGeom>
          <a:solidFill>
            <a:srgbClr val="EBEBEB"/>
          </a:solidFill>
          <a:ln/>
        </p:spPr>
      </p:sp>
      <p:sp>
        <p:nvSpPr>
          <p:cNvPr id="25" name="Text 22"/>
          <p:cNvSpPr txBox="1"/>
          <p:nvPr/>
        </p:nvSpPr>
        <p:spPr>
          <a:xfrm>
            <a:off x="3291840" y="3300984"/>
            <a:ext cx="1005840" cy="603504"/>
          </a:xfrm>
          <a:prstGeom prst="rect">
            <a:avLst/>
          </a:prstGeom>
          <a:noFill/>
          <a:ln/>
        </p:spPr>
        <p:txBody>
          <a:bodyPr wrap="square" lIns="0" tIns="0" rIns="0" bIns="0" rtlCol="0" anchor="ctr"/>
          <a:lstStyle/>
          <a:p>
            <a:pPr algn="ctr" indent="0" marL="0">
              <a:buNone/>
            </a:pPr>
            <a:r>
              <a:rPr lang="en-US" sz="1400" b="1" dirty="0">
                <a:solidFill>
                  <a:srgbClr val="111111"/>
                </a:solidFill>
                <a:latin typeface="Microsoft YaHei" pitchFamily="34" charset="0"/>
                <a:ea typeface="Microsoft YaHei" pitchFamily="34" charset="-122"/>
                <a:cs typeface="Microsoft YaHei" pitchFamily="34" charset="-120"/>
              </a:rPr>
              <a:t>嗅觉</a:t>
            </a:r>
            <a:endParaRPr lang="en-US" sz="1400" dirty="0"/>
          </a:p>
        </p:txBody>
      </p:sp>
      <p:sp>
        <p:nvSpPr>
          <p:cNvPr id="26" name="Shape 23"/>
          <p:cNvSpPr/>
          <p:nvPr/>
        </p:nvSpPr>
        <p:spPr>
          <a:xfrm>
            <a:off x="4370832" y="3300984"/>
            <a:ext cx="4361688" cy="603504"/>
          </a:xfrm>
          <a:prstGeom prst="roundRect">
            <a:avLst>
              <a:gd name="adj" fmla="val 15152"/>
            </a:avLst>
          </a:prstGeom>
          <a:solidFill>
            <a:srgbClr val="F4F4F4"/>
          </a:solidFill>
          <a:ln/>
        </p:spPr>
      </p:sp>
      <p:sp>
        <p:nvSpPr>
          <p:cNvPr id="27" name="Text 24"/>
          <p:cNvSpPr txBox="1"/>
          <p:nvPr/>
        </p:nvSpPr>
        <p:spPr>
          <a:xfrm>
            <a:off x="4572000" y="3300984"/>
            <a:ext cx="4069080" cy="603504"/>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一滴香水在一间3室的房间中扩散</a:t>
            </a:r>
            <a:endParaRPr lang="en-US" sz="1300" dirty="0"/>
          </a:p>
        </p:txBody>
      </p:sp>
      <p:sp>
        <p:nvSpPr>
          <p:cNvPr id="28" name="Shape 25"/>
          <p:cNvSpPr/>
          <p:nvPr/>
        </p:nvSpPr>
        <p:spPr>
          <a:xfrm>
            <a:off x="3291840" y="4005072"/>
            <a:ext cx="1005840" cy="603504"/>
          </a:xfrm>
          <a:prstGeom prst="roundRect">
            <a:avLst>
              <a:gd name="adj" fmla="val 15152"/>
            </a:avLst>
          </a:prstGeom>
          <a:solidFill>
            <a:srgbClr val="111111"/>
          </a:solidFill>
          <a:ln/>
        </p:spPr>
      </p:sp>
      <p:sp>
        <p:nvSpPr>
          <p:cNvPr id="29" name="Text 26"/>
          <p:cNvSpPr txBox="1"/>
          <p:nvPr/>
        </p:nvSpPr>
        <p:spPr>
          <a:xfrm>
            <a:off x="3291840" y="4005072"/>
            <a:ext cx="100584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Microsoft YaHei" pitchFamily="34" charset="0"/>
                <a:ea typeface="Microsoft YaHei" pitchFamily="34" charset="-122"/>
                <a:cs typeface="Microsoft YaHei" pitchFamily="34" charset="-120"/>
              </a:rPr>
              <a:t>触觉</a:t>
            </a:r>
            <a:endParaRPr lang="en-US" sz="1400" dirty="0"/>
          </a:p>
        </p:txBody>
      </p:sp>
      <p:sp>
        <p:nvSpPr>
          <p:cNvPr id="30" name="Shape 27"/>
          <p:cNvSpPr/>
          <p:nvPr/>
        </p:nvSpPr>
        <p:spPr>
          <a:xfrm>
            <a:off x="4370832" y="4005072"/>
            <a:ext cx="4361688" cy="603504"/>
          </a:xfrm>
          <a:prstGeom prst="roundRect">
            <a:avLst>
              <a:gd name="adj" fmla="val 15152"/>
            </a:avLst>
          </a:prstGeom>
          <a:solidFill>
            <a:srgbClr val="F4F4F4"/>
          </a:solidFill>
          <a:ln/>
        </p:spPr>
      </p:sp>
      <p:sp>
        <p:nvSpPr>
          <p:cNvPr id="31" name="Text 28"/>
          <p:cNvSpPr txBox="1"/>
          <p:nvPr/>
        </p:nvSpPr>
        <p:spPr>
          <a:xfrm>
            <a:off x="4572000" y="4005072"/>
            <a:ext cx="4069080" cy="603504"/>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一片蜜蜂的翅膀从距离背部1厘米处掉落</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PART.2 产品设计中的材料感官体验</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心理物理学的测量定律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Psychophysical Laws</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59</a:t>
            </a:r>
            <a:endParaRPr lang="en-US" sz="750" dirty="0"/>
          </a:p>
        </p:txBody>
      </p:sp>
      <p:sp>
        <p:nvSpPr>
          <p:cNvPr id="11" name="Shape 9"/>
          <p:cNvSpPr/>
          <p:nvPr/>
        </p:nvSpPr>
        <p:spPr>
          <a:xfrm>
            <a:off x="411480" y="1188720"/>
            <a:ext cx="4105656" cy="3063240"/>
          </a:xfrm>
          <a:prstGeom prst="roundRect">
            <a:avLst>
              <a:gd name="adj" fmla="val 2985"/>
            </a:avLst>
          </a:prstGeom>
          <a:solidFill>
            <a:srgbClr val="E4FF97"/>
          </a:solidFill>
          <a:ln/>
        </p:spPr>
      </p:sp>
      <p:sp>
        <p:nvSpPr>
          <p:cNvPr id="12" name="Text 10"/>
          <p:cNvSpPr txBox="1"/>
          <p:nvPr/>
        </p:nvSpPr>
        <p:spPr>
          <a:xfrm>
            <a:off x="685800" y="1325880"/>
            <a:ext cx="3566160" cy="411480"/>
          </a:xfrm>
          <a:prstGeom prst="rect">
            <a:avLst/>
          </a:prstGeom>
          <a:noFill/>
          <a:ln/>
        </p:spPr>
        <p:txBody>
          <a:bodyPr wrap="square" lIns="0" tIns="0" rIns="0" bIns="0" rtlCol="0" anchor="ctr"/>
          <a:lstStyle/>
          <a:p>
            <a:pPr indent="0" marL="0">
              <a:buNone/>
            </a:pPr>
            <a:r>
              <a:rPr lang="en-US" sz="1700" b="1" dirty="0">
                <a:solidFill>
                  <a:srgbClr val="111111"/>
                </a:solidFill>
                <a:latin typeface="Microsoft YaHei" pitchFamily="34" charset="0"/>
                <a:ea typeface="Microsoft YaHei" pitchFamily="34" charset="-122"/>
                <a:cs typeface="Microsoft YaHei" pitchFamily="34" charset="-120"/>
              </a:rPr>
              <a:t>韦伯分数</a:t>
            </a:r>
            <a:endParaRPr lang="en-US" sz="1700" dirty="0"/>
          </a:p>
        </p:txBody>
      </p:sp>
      <p:sp>
        <p:nvSpPr>
          <p:cNvPr id="13" name="Text 11"/>
          <p:cNvSpPr txBox="1"/>
          <p:nvPr/>
        </p:nvSpPr>
        <p:spPr>
          <a:xfrm>
            <a:off x="685800" y="1737360"/>
            <a:ext cx="3566160" cy="274320"/>
          </a:xfrm>
          <a:prstGeom prst="rect">
            <a:avLst/>
          </a:prstGeom>
          <a:noFill/>
          <a:ln/>
        </p:spPr>
        <p:txBody>
          <a:bodyPr wrap="square" lIns="0" tIns="0" rIns="0" bIns="0" rtlCol="0" anchor="ctr"/>
          <a:lstStyle/>
          <a:p>
            <a:pPr indent="0" marL="0">
              <a:buNone/>
            </a:pPr>
            <a:r>
              <a:rPr lang="en-US" sz="1050" dirty="0">
                <a:solidFill>
                  <a:srgbClr val="111111"/>
                </a:solidFill>
                <a:latin typeface="Arial" pitchFamily="34" charset="0"/>
                <a:ea typeface="Arial" pitchFamily="34" charset="-122"/>
                <a:cs typeface="Arial" pitchFamily="34" charset="-120"/>
              </a:rPr>
              <a:t>Weber's fraction</a:t>
            </a:r>
            <a:endParaRPr lang="en-US" sz="1050" dirty="0"/>
          </a:p>
        </p:txBody>
      </p:sp>
      <p:sp>
        <p:nvSpPr>
          <p:cNvPr id="14" name="Text 12"/>
          <p:cNvSpPr txBox="1"/>
          <p:nvPr/>
        </p:nvSpPr>
        <p:spPr>
          <a:xfrm>
            <a:off x="685800" y="2148840"/>
            <a:ext cx="3566160" cy="731520"/>
          </a:xfrm>
          <a:prstGeom prst="rect">
            <a:avLst/>
          </a:prstGeom>
          <a:noFill/>
          <a:ln/>
        </p:spPr>
        <p:txBody>
          <a:bodyPr wrap="square" lIns="0" tIns="0" rIns="0" bIns="0" rtlCol="0" anchor="t"/>
          <a:lstStyle/>
          <a:p>
            <a:pPr indent="0" marL="0">
              <a:lnSpc>
                <a:spcPct val="135000"/>
              </a:lnSpc>
              <a:buNone/>
            </a:pPr>
            <a:r>
              <a:rPr lang="en-US" sz="1250" dirty="0">
                <a:solidFill>
                  <a:srgbClr val="111111"/>
                </a:solidFill>
                <a:latin typeface="Microsoft YaHei" pitchFamily="34" charset="0"/>
                <a:ea typeface="Microsoft YaHei" pitchFamily="34" charset="-122"/>
                <a:cs typeface="Microsoft YaHei" pitchFamily="34" charset="-120"/>
              </a:rPr>
              <a:t>差别阈限*和原来刺激强度的比例是一个常数，用公式表示就是</a:t>
            </a:r>
            <a:endParaRPr lang="en-US" sz="1250" dirty="0"/>
          </a:p>
        </p:txBody>
      </p:sp>
      <p:sp>
        <p:nvSpPr>
          <p:cNvPr id="15" name="Text 13"/>
          <p:cNvSpPr txBox="1"/>
          <p:nvPr/>
        </p:nvSpPr>
        <p:spPr>
          <a:xfrm>
            <a:off x="685800" y="3108960"/>
            <a:ext cx="3566160" cy="914400"/>
          </a:xfrm>
          <a:prstGeom prst="rect">
            <a:avLst/>
          </a:prstGeom>
          <a:noFill/>
          <a:ln/>
        </p:spPr>
        <p:txBody>
          <a:bodyPr wrap="square" lIns="0" tIns="0" rIns="0" bIns="0" rtlCol="0" anchor="ctr"/>
          <a:lstStyle/>
          <a:p>
            <a:pPr indent="0" marL="0">
              <a:buNone/>
            </a:pPr>
            <a:r>
              <a:rPr lang="en-US" sz="3400" b="1" dirty="0">
                <a:solidFill>
                  <a:srgbClr val="111111"/>
                </a:solidFill>
                <a:latin typeface="Arial" pitchFamily="34" charset="0"/>
                <a:ea typeface="Arial" pitchFamily="34" charset="-122"/>
                <a:cs typeface="Arial" pitchFamily="34" charset="-120"/>
              </a:rPr>
              <a:t>ΔI / I = K</a:t>
            </a:r>
            <a:endParaRPr lang="en-US" sz="3400" dirty="0"/>
          </a:p>
        </p:txBody>
      </p:sp>
      <p:sp>
        <p:nvSpPr>
          <p:cNvPr id="16" name="Shape 14"/>
          <p:cNvSpPr/>
          <p:nvPr/>
        </p:nvSpPr>
        <p:spPr>
          <a:xfrm>
            <a:off x="4626864" y="1188720"/>
            <a:ext cx="4105656" cy="3063240"/>
          </a:xfrm>
          <a:prstGeom prst="roundRect">
            <a:avLst>
              <a:gd name="adj" fmla="val 2985"/>
            </a:avLst>
          </a:prstGeom>
          <a:solidFill>
            <a:srgbClr val="111111"/>
          </a:solidFill>
          <a:ln/>
        </p:spPr>
      </p:sp>
      <p:sp>
        <p:nvSpPr>
          <p:cNvPr id="17" name="Text 15"/>
          <p:cNvSpPr txBox="1"/>
          <p:nvPr/>
        </p:nvSpPr>
        <p:spPr>
          <a:xfrm>
            <a:off x="4901184" y="1325880"/>
            <a:ext cx="3566160" cy="411480"/>
          </a:xfrm>
          <a:prstGeom prst="rect">
            <a:avLst/>
          </a:prstGeom>
          <a:noFill/>
          <a:ln/>
        </p:spPr>
        <p:txBody>
          <a:bodyPr wrap="square" lIns="0" tIns="0" rIns="0" bIns="0" rtlCol="0" anchor="ctr"/>
          <a:lstStyle/>
          <a:p>
            <a:pPr indent="0" marL="0">
              <a:buNone/>
            </a:pPr>
            <a:r>
              <a:rPr lang="en-US" sz="1700" b="1" dirty="0">
                <a:solidFill>
                  <a:srgbClr val="FFFFFF"/>
                </a:solidFill>
                <a:latin typeface="Microsoft YaHei" pitchFamily="34" charset="0"/>
                <a:ea typeface="Microsoft YaHei" pitchFamily="34" charset="-122"/>
                <a:cs typeface="Microsoft YaHei" pitchFamily="34" charset="-120"/>
              </a:rPr>
              <a:t>幂定律（史蒂文斯定律）</a:t>
            </a:r>
            <a:endParaRPr lang="en-US" sz="1700" dirty="0"/>
          </a:p>
        </p:txBody>
      </p:sp>
      <p:sp>
        <p:nvSpPr>
          <p:cNvPr id="18" name="Text 16"/>
          <p:cNvSpPr txBox="1"/>
          <p:nvPr/>
        </p:nvSpPr>
        <p:spPr>
          <a:xfrm>
            <a:off x="4901184" y="1737360"/>
            <a:ext cx="3566160" cy="274320"/>
          </a:xfrm>
          <a:prstGeom prst="rect">
            <a:avLst/>
          </a:prstGeom>
          <a:noFill/>
          <a:ln/>
        </p:spPr>
        <p:txBody>
          <a:bodyPr wrap="square" lIns="0" tIns="0" rIns="0" bIns="0" rtlCol="0" anchor="ctr"/>
          <a:lstStyle/>
          <a:p>
            <a:pPr indent="0" marL="0">
              <a:buNone/>
            </a:pPr>
            <a:r>
              <a:rPr lang="en-US" sz="1050" dirty="0">
                <a:solidFill>
                  <a:srgbClr val="FFFFFF"/>
                </a:solidFill>
                <a:latin typeface="Arial" pitchFamily="34" charset="0"/>
                <a:ea typeface="Arial" pitchFamily="34" charset="-122"/>
                <a:cs typeface="Arial" pitchFamily="34" charset="-120"/>
              </a:rPr>
              <a:t>Power function law</a:t>
            </a:r>
            <a:endParaRPr lang="en-US" sz="1050" dirty="0"/>
          </a:p>
        </p:txBody>
      </p:sp>
      <p:sp>
        <p:nvSpPr>
          <p:cNvPr id="19" name="Text 17"/>
          <p:cNvSpPr txBox="1"/>
          <p:nvPr/>
        </p:nvSpPr>
        <p:spPr>
          <a:xfrm>
            <a:off x="4901184" y="2148840"/>
            <a:ext cx="3566160" cy="731520"/>
          </a:xfrm>
          <a:prstGeom prst="rect">
            <a:avLst/>
          </a:prstGeom>
          <a:noFill/>
          <a:ln/>
        </p:spPr>
        <p:txBody>
          <a:bodyPr wrap="square" lIns="0" tIns="0" rIns="0" bIns="0" rtlCol="0" anchor="t"/>
          <a:lstStyle/>
          <a:p>
            <a:pPr indent="0" marL="0">
              <a:lnSpc>
                <a:spcPct val="135000"/>
              </a:lnSpc>
              <a:buNone/>
            </a:pPr>
            <a:r>
              <a:rPr lang="en-US" sz="1250" dirty="0">
                <a:solidFill>
                  <a:srgbClr val="FFFFFF"/>
                </a:solidFill>
                <a:latin typeface="Microsoft YaHei" pitchFamily="34" charset="0"/>
                <a:ea typeface="Microsoft YaHei" pitchFamily="34" charset="-122"/>
                <a:cs typeface="Microsoft YaHei" pitchFamily="34" charset="-120"/>
              </a:rPr>
              <a:t>心理量S，是物理量I（如线段的长度）的幂函数，用公式表示：</a:t>
            </a:r>
            <a:endParaRPr lang="en-US" sz="1250" dirty="0"/>
          </a:p>
        </p:txBody>
      </p:sp>
      <p:sp>
        <p:nvSpPr>
          <p:cNvPr id="20" name="Text 18"/>
          <p:cNvSpPr txBox="1"/>
          <p:nvPr/>
        </p:nvSpPr>
        <p:spPr>
          <a:xfrm>
            <a:off x="4901184" y="3108960"/>
            <a:ext cx="3566160" cy="914400"/>
          </a:xfrm>
          <a:prstGeom prst="rect">
            <a:avLst/>
          </a:prstGeom>
          <a:noFill/>
          <a:ln/>
        </p:spPr>
        <p:txBody>
          <a:bodyPr wrap="square" lIns="0" tIns="0" rIns="0" bIns="0" rtlCol="0" anchor="ctr"/>
          <a:lstStyle/>
          <a:p>
            <a:pPr indent="0" marL="0">
              <a:buNone/>
            </a:pPr>
            <a:r>
              <a:rPr lang="en-US" sz="3400" b="1" dirty="0">
                <a:solidFill>
                  <a:srgbClr val="E4FF97"/>
                </a:solidFill>
                <a:latin typeface="Arial" pitchFamily="34" charset="0"/>
                <a:ea typeface="Arial" pitchFamily="34" charset="-122"/>
                <a:cs typeface="Arial" pitchFamily="34" charset="-120"/>
              </a:rPr>
              <a:t>S = K · I</a:t>
            </a:r>
            <a:pPr indent="0" marL="0">
              <a:buNone/>
            </a:pPr>
            <a:r>
              <a:rPr lang="en-US" sz="3400" b="1" baseline="30000" dirty="0">
                <a:solidFill>
                  <a:srgbClr val="E4FF97"/>
                </a:solidFill>
                <a:latin typeface="Arial" pitchFamily="34" charset="0"/>
                <a:ea typeface="Arial" pitchFamily="34" charset="-122"/>
                <a:cs typeface="Arial" pitchFamily="34" charset="-120"/>
              </a:rPr>
              <a:t>n</a:t>
            </a:r>
            <a:endParaRPr lang="en-US" sz="3400" dirty="0"/>
          </a:p>
        </p:txBody>
      </p:sp>
      <p:sp>
        <p:nvSpPr>
          <p:cNvPr id="21" name="Text 19"/>
          <p:cNvSpPr txBox="1"/>
          <p:nvPr/>
        </p:nvSpPr>
        <p:spPr>
          <a:xfrm>
            <a:off x="411480" y="4389120"/>
            <a:ext cx="8321040" cy="182880"/>
          </a:xfrm>
          <a:prstGeom prst="rect">
            <a:avLst/>
          </a:prstGeom>
          <a:noFill/>
          <a:ln/>
        </p:spPr>
        <p:txBody>
          <a:bodyPr wrap="square" lIns="0" tIns="0" rIns="0" bIns="0" rtlCol="0" anchor="ctr"/>
          <a:lstStyle/>
          <a:p>
            <a:pPr indent="0" marL="0">
              <a:buNone/>
            </a:pPr>
            <a:r>
              <a:rPr lang="en-US" sz="750" dirty="0">
                <a:solidFill>
                  <a:srgbClr val="6B6B6B"/>
                </a:solidFill>
                <a:latin typeface="Microsoft YaHei" pitchFamily="34" charset="0"/>
                <a:ea typeface="Microsoft YaHei" pitchFamily="34" charset="-122"/>
                <a:cs typeface="Microsoft YaHei" pitchFamily="34" charset="-120"/>
              </a:rPr>
              <a:t>*差别阈限：是分辨两种同类物理量量值大小的测量值，针对该值的调查研究在度量感觉的历史中占据着极其重要的作用。</a:t>
            </a:r>
            <a:endParaRPr lang="en-US" sz="7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74320"/>
            <a:ext cx="5486400" cy="201168"/>
          </a:xfrm>
          <a:prstGeom prst="rect">
            <a:avLst/>
          </a:prstGeom>
          <a:noFill/>
          <a:ln/>
        </p:spPr>
        <p:txBody>
          <a:bodyPr wrap="square" lIns="0" tIns="0" rIns="0" bIns="0" rtlCol="0" anchor="t"/>
          <a:lstStyle/>
          <a:p>
            <a:pPr indent="0" marL="0">
              <a:buNone/>
            </a:pPr>
            <a:r>
              <a:rPr lang="en-US" sz="800" spc="150" kern="0" dirty="0">
                <a:solidFill>
                  <a:srgbClr val="6B6B6B"/>
                </a:solidFill>
                <a:latin typeface="Courier New" pitchFamily="34" charset="0"/>
                <a:ea typeface="Courier New" pitchFamily="34" charset="-122"/>
                <a:cs typeface="Courier New" pitchFamily="34" charset="-120"/>
              </a:rPr>
              <a:t>LESSON 01  ·  PART.3</a:t>
            </a:r>
            <a:endParaRPr lang="en-US" sz="800" dirty="0"/>
          </a:p>
        </p:txBody>
      </p:sp>
      <p:sp>
        <p:nvSpPr>
          <p:cNvPr id="3" name="Text 1"/>
          <p:cNvSpPr txBox="1"/>
          <p:nvPr/>
        </p:nvSpPr>
        <p:spPr>
          <a:xfrm>
            <a:off x="411480" y="502920"/>
            <a:ext cx="5943600" cy="1828800"/>
          </a:xfrm>
          <a:prstGeom prst="rect">
            <a:avLst/>
          </a:prstGeom>
          <a:noFill/>
          <a:ln/>
        </p:spPr>
        <p:txBody>
          <a:bodyPr wrap="square" lIns="0" tIns="0" rIns="0" bIns="0" rtlCol="0" anchor="t"/>
          <a:lstStyle/>
          <a:p>
            <a:pPr indent="0" marL="0">
              <a:lnSpc>
                <a:spcPct val="100000"/>
              </a:lnSpc>
              <a:buNone/>
            </a:pPr>
            <a:r>
              <a:rPr lang="en-US" sz="4600" dirty="0">
                <a:solidFill>
                  <a:srgbClr val="111111"/>
                </a:solidFill>
                <a:latin typeface="Microsoft YaHei" pitchFamily="34" charset="0"/>
                <a:ea typeface="Microsoft YaHei" pitchFamily="34" charset="-122"/>
                <a:cs typeface="Microsoft YaHei" pitchFamily="34" charset="-120"/>
              </a:rPr>
              <a:t>可供性</a:t>
            </a:r>
            <a:endParaRPr lang="en-US" sz="4600" dirty="0"/>
          </a:p>
          <a:p>
            <a:pPr indent="0" marL="0">
              <a:lnSpc>
                <a:spcPct val="100000"/>
              </a:lnSpc>
              <a:buNone/>
            </a:pPr>
            <a:r>
              <a:rPr lang="en-US" sz="4600" dirty="0">
                <a:solidFill>
                  <a:srgbClr val="111111"/>
                </a:solidFill>
                <a:latin typeface="Arial" pitchFamily="34" charset="0"/>
                <a:ea typeface="Arial" pitchFamily="34" charset="-122"/>
                <a:cs typeface="Arial" pitchFamily="34" charset="-120"/>
              </a:rPr>
              <a:t>Affordance</a:t>
            </a:r>
            <a:endParaRPr lang="en-US" sz="4600" dirty="0"/>
          </a:p>
        </p:txBody>
      </p:sp>
      <p:sp>
        <p:nvSpPr>
          <p:cNvPr id="4" name="Shape 2"/>
          <p:cNvSpPr/>
          <p:nvPr/>
        </p:nvSpPr>
        <p:spPr>
          <a:xfrm>
            <a:off x="411480" y="2514600"/>
            <a:ext cx="1188720" cy="457200"/>
          </a:xfrm>
          <a:prstGeom prst="rect">
            <a:avLst/>
          </a:prstGeom>
          <a:solidFill>
            <a:srgbClr val="FFC9C1"/>
          </a:solidFill>
          <a:ln/>
        </p:spPr>
      </p:sp>
      <p:sp>
        <p:nvSpPr>
          <p:cNvPr id="5" name="Text 3"/>
          <p:cNvSpPr txBox="1"/>
          <p:nvPr/>
        </p:nvSpPr>
        <p:spPr>
          <a:xfrm>
            <a:off x="411480" y="2514600"/>
            <a:ext cx="1188720" cy="457200"/>
          </a:xfrm>
          <a:prstGeom prst="rect">
            <a:avLst/>
          </a:prstGeom>
          <a:noFill/>
          <a:ln/>
        </p:spPr>
        <p:txBody>
          <a:bodyPr wrap="square" lIns="0" tIns="0" rIns="0" bIns="0" rtlCol="0" anchor="ctr"/>
          <a:lstStyle/>
          <a:p>
            <a:pPr algn="ctr" indent="0" marL="0">
              <a:buNone/>
            </a:pPr>
            <a:r>
              <a:rPr lang="en-US" sz="1600" dirty="0">
                <a:solidFill>
                  <a:srgbClr val="111111"/>
                </a:solidFill>
                <a:latin typeface="Arial" pitchFamily="34" charset="0"/>
                <a:ea typeface="Arial" pitchFamily="34" charset="-122"/>
                <a:cs typeface="Arial" pitchFamily="34" charset="-120"/>
              </a:rPr>
              <a:t>Part.3</a:t>
            </a:r>
            <a:endParaRPr lang="en-US" sz="1600" dirty="0"/>
          </a:p>
        </p:txBody>
      </p:sp>
      <p:pic>
        <p:nvPicPr>
          <p:cNvPr id="6" name="Image 0" descr="decorative collage">    </p:cNvPr>
          <p:cNvPicPr>
            <a:picLocks noChangeAspect="1"/>
          </p:cNvPicPr>
          <p:nvPr/>
        </p:nvPicPr>
        <p:blipFill>
          <a:blip r:embed="rId1"/>
          <a:stretch>
            <a:fillRect/>
          </a:stretch>
        </p:blipFill>
        <p:spPr>
          <a:xfrm>
            <a:off x="4754880" y="2841342"/>
            <a:ext cx="4206240" cy="2096418"/>
          </a:xfrm>
          <a:prstGeom prst="rect">
            <a:avLst/>
          </a:prstGeom>
        </p:spPr>
      </p:pic>
      <p:sp>
        <p:nvSpPr>
          <p:cNvPr id="7" name="Shape 4"/>
          <p:cNvSpPr/>
          <p:nvPr/>
        </p:nvSpPr>
        <p:spPr>
          <a:xfrm>
            <a:off x="411480" y="4818888"/>
            <a:ext cx="77724" cy="77724"/>
          </a:xfrm>
          <a:prstGeom prst="ellipse">
            <a:avLst/>
          </a:prstGeom>
          <a:solidFill>
            <a:srgbClr val="4D49FC"/>
          </a:solidFill>
          <a:ln/>
        </p:spPr>
      </p:sp>
      <p:sp>
        <p:nvSpPr>
          <p:cNvPr id="8" name="Shape 5"/>
          <p:cNvSpPr/>
          <p:nvPr/>
        </p:nvSpPr>
        <p:spPr>
          <a:xfrm>
            <a:off x="507492" y="4818888"/>
            <a:ext cx="77724" cy="77724"/>
          </a:xfrm>
          <a:prstGeom prst="ellipse">
            <a:avLst/>
          </a:prstGeom>
          <a:solidFill>
            <a:srgbClr val="4D49FC"/>
          </a:solidFill>
          <a:ln/>
        </p:spPr>
      </p:sp>
      <p:sp>
        <p:nvSpPr>
          <p:cNvPr id="9" name="Shape 6"/>
          <p:cNvSpPr/>
          <p:nvPr/>
        </p:nvSpPr>
        <p:spPr>
          <a:xfrm>
            <a:off x="411480" y="4914900"/>
            <a:ext cx="77724" cy="77724"/>
          </a:xfrm>
          <a:prstGeom prst="ellipse">
            <a:avLst/>
          </a:prstGeom>
          <a:solidFill>
            <a:srgbClr val="4D49FC"/>
          </a:solidFill>
          <a:ln/>
        </p:spPr>
      </p:sp>
      <p:sp>
        <p:nvSpPr>
          <p:cNvPr id="10" name="Shape 7"/>
          <p:cNvSpPr/>
          <p:nvPr/>
        </p:nvSpPr>
        <p:spPr>
          <a:xfrm>
            <a:off x="507492" y="4914900"/>
            <a:ext cx="77724" cy="77724"/>
          </a:xfrm>
          <a:prstGeom prst="ellipse">
            <a:avLst/>
          </a:prstGeom>
          <a:solidFill>
            <a:srgbClr val="4D49FC"/>
          </a:solidFill>
          <a:ln/>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11480" y="4818888"/>
            <a:ext cx="77724" cy="77724"/>
          </a:xfrm>
          <a:prstGeom prst="ellipse">
            <a:avLst/>
          </a:prstGeom>
          <a:solidFill>
            <a:srgbClr val="4D49FC"/>
          </a:solidFill>
          <a:ln/>
        </p:spPr>
      </p:sp>
      <p:sp>
        <p:nvSpPr>
          <p:cNvPr id="3" name="Shape 1"/>
          <p:cNvSpPr/>
          <p:nvPr/>
        </p:nvSpPr>
        <p:spPr>
          <a:xfrm>
            <a:off x="507492" y="4818888"/>
            <a:ext cx="77724" cy="77724"/>
          </a:xfrm>
          <a:prstGeom prst="ellipse">
            <a:avLst/>
          </a:prstGeom>
          <a:solidFill>
            <a:srgbClr val="4D49FC"/>
          </a:solidFill>
          <a:ln/>
        </p:spPr>
      </p:sp>
      <p:sp>
        <p:nvSpPr>
          <p:cNvPr id="4" name="Shape 2"/>
          <p:cNvSpPr/>
          <p:nvPr/>
        </p:nvSpPr>
        <p:spPr>
          <a:xfrm>
            <a:off x="411480" y="4914900"/>
            <a:ext cx="77724" cy="77724"/>
          </a:xfrm>
          <a:prstGeom prst="ellipse">
            <a:avLst/>
          </a:prstGeom>
          <a:solidFill>
            <a:srgbClr val="4D49FC"/>
          </a:solidFill>
          <a:ln/>
        </p:spPr>
      </p:sp>
      <p:sp>
        <p:nvSpPr>
          <p:cNvPr id="5" name="Shape 3"/>
          <p:cNvSpPr/>
          <p:nvPr/>
        </p:nvSpPr>
        <p:spPr>
          <a:xfrm>
            <a:off x="507492" y="4914900"/>
            <a:ext cx="77724" cy="77724"/>
          </a:xfrm>
          <a:prstGeom prst="ellipse">
            <a:avLst/>
          </a:prstGeom>
          <a:solidFill>
            <a:srgbClr val="4D49FC"/>
          </a:solidFill>
          <a:ln/>
        </p:spPr>
      </p:sp>
      <p:sp>
        <p:nvSpPr>
          <p:cNvPr id="6" name="Text 4"/>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7" name="Text 5"/>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61</a:t>
            </a:r>
            <a:endParaRPr lang="en-US" sz="750" dirty="0"/>
          </a:p>
        </p:txBody>
      </p:sp>
      <p:pic>
        <p:nvPicPr>
          <p:cNvPr id="8" name="Image 0" descr="p60_0">    </p:cNvPr>
          <p:cNvPicPr>
            <a:picLocks noChangeAspect="1"/>
          </p:cNvPicPr>
          <p:nvPr/>
        </p:nvPicPr>
        <p:blipFill>
          <a:blip r:embed="rId1"/>
          <a:stretch>
            <a:fillRect/>
          </a:stretch>
        </p:blipFill>
        <p:spPr>
          <a:xfrm>
            <a:off x="5806440" y="0"/>
            <a:ext cx="3337560" cy="4636008"/>
          </a:xfrm>
          <a:prstGeom prst="rect">
            <a:avLst/>
          </a:prstGeom>
        </p:spPr>
      </p:pic>
      <p:sp>
        <p:nvSpPr>
          <p:cNvPr id="9" name="Shape 6"/>
          <p:cNvSpPr/>
          <p:nvPr/>
        </p:nvSpPr>
        <p:spPr>
          <a:xfrm>
            <a:off x="5806440" y="3931920"/>
            <a:ext cx="3337560" cy="704088"/>
          </a:xfrm>
          <a:prstGeom prst="roundRect">
            <a:avLst>
              <a:gd name="adj" fmla="val 12987"/>
            </a:avLst>
          </a:prstGeom>
          <a:solidFill>
            <a:srgbClr val="111111"/>
          </a:solidFill>
          <a:ln/>
        </p:spPr>
      </p:sp>
      <p:sp>
        <p:nvSpPr>
          <p:cNvPr id="10" name="Text 7"/>
          <p:cNvSpPr txBox="1"/>
          <p:nvPr/>
        </p:nvSpPr>
        <p:spPr>
          <a:xfrm>
            <a:off x="5989320" y="3986784"/>
            <a:ext cx="3017520" cy="594360"/>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1904.01.27~1979.12.11</a:t>
            </a:r>
            <a:endParaRPr lang="en-US" sz="900" dirty="0"/>
          </a:p>
          <a:p>
            <a:pPr indent="0" marL="0">
              <a:buNone/>
            </a:pPr>
            <a:r>
              <a:rPr lang="en-US" sz="900" dirty="0">
                <a:solidFill>
                  <a:srgbClr val="FFFFFF"/>
                </a:solidFill>
                <a:latin typeface="Microsoft YaHei" pitchFamily="34" charset="0"/>
                <a:ea typeface="Microsoft YaHei" pitchFamily="34" charset="-122"/>
                <a:cs typeface="Microsoft YaHei" pitchFamily="34" charset="-120"/>
              </a:rPr>
              <a:t>美国心理学家，被认为是20世纪视知觉领域最重要的心理学家之一。</a:t>
            </a:r>
            <a:endParaRPr lang="en-US" sz="900" dirty="0"/>
          </a:p>
        </p:txBody>
      </p:sp>
      <p:sp>
        <p:nvSpPr>
          <p:cNvPr id="11" name="Text 8"/>
          <p:cNvSpPr txBox="1"/>
          <p:nvPr/>
        </p:nvSpPr>
        <p:spPr>
          <a:xfrm>
            <a:off x="411480" y="292608"/>
            <a:ext cx="5120640" cy="457200"/>
          </a:xfrm>
          <a:prstGeom prst="rect">
            <a:avLst/>
          </a:prstGeom>
          <a:noFill/>
          <a:ln/>
        </p:spPr>
        <p:txBody>
          <a:bodyPr wrap="square" lIns="0" tIns="0" rIns="0" bIns="0" rtlCol="0" anchor="ct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詹姆斯·杰罗姆·吉布森</a:t>
            </a:r>
            <a:endParaRPr lang="en-US" sz="2400" dirty="0"/>
          </a:p>
        </p:txBody>
      </p:sp>
      <p:sp>
        <p:nvSpPr>
          <p:cNvPr id="12" name="Text 9"/>
          <p:cNvSpPr txBox="1"/>
          <p:nvPr/>
        </p:nvSpPr>
        <p:spPr>
          <a:xfrm>
            <a:off x="411480" y="749808"/>
            <a:ext cx="5120640" cy="256032"/>
          </a:xfrm>
          <a:prstGeom prst="rect">
            <a:avLst/>
          </a:prstGeom>
          <a:noFill/>
          <a:ln/>
        </p:spPr>
        <p:txBody>
          <a:bodyPr wrap="square" lIns="0" tIns="0" rIns="0" bIns="0" rtlCol="0" anchor="ctr"/>
          <a:lstStyle/>
          <a:p>
            <a:pPr indent="0" marL="0">
              <a:buNone/>
            </a:pPr>
            <a:r>
              <a:rPr lang="en-US" sz="1100" dirty="0">
                <a:solidFill>
                  <a:srgbClr val="6B6B6B"/>
                </a:solidFill>
                <a:latin typeface="Arial" pitchFamily="34" charset="0"/>
                <a:ea typeface="Arial" pitchFamily="34" charset="-122"/>
                <a:cs typeface="Arial" pitchFamily="34" charset="-120"/>
              </a:rPr>
              <a:t>James Jerome Gibson</a:t>
            </a:r>
            <a:endParaRPr lang="en-US" sz="1100" dirty="0"/>
          </a:p>
        </p:txBody>
      </p:sp>
      <p:sp>
        <p:nvSpPr>
          <p:cNvPr id="13" name="Shape 10"/>
          <p:cNvSpPr/>
          <p:nvPr/>
        </p:nvSpPr>
        <p:spPr>
          <a:xfrm>
            <a:off x="411480" y="1234440"/>
            <a:ext cx="5120640" cy="3337560"/>
          </a:xfrm>
          <a:prstGeom prst="roundRect">
            <a:avLst>
              <a:gd name="adj" fmla="val 3288"/>
            </a:avLst>
          </a:prstGeom>
          <a:solidFill>
            <a:srgbClr val="F4F4F4"/>
          </a:solidFill>
          <a:ln/>
        </p:spPr>
      </p:sp>
      <p:sp>
        <p:nvSpPr>
          <p:cNvPr id="14" name="Shape 11"/>
          <p:cNvSpPr/>
          <p:nvPr/>
        </p:nvSpPr>
        <p:spPr>
          <a:xfrm>
            <a:off x="640080" y="1463040"/>
            <a:ext cx="365760" cy="365760"/>
          </a:xfrm>
          <a:prstGeom prst="rect">
            <a:avLst/>
          </a:prstGeom>
          <a:solidFill>
            <a:srgbClr val="FFC9C1"/>
          </a:solidFill>
          <a:ln/>
        </p:spPr>
      </p:sp>
      <p:sp>
        <p:nvSpPr>
          <p:cNvPr id="15" name="Text 12"/>
          <p:cNvSpPr txBox="1"/>
          <p:nvPr/>
        </p:nvSpPr>
        <p:spPr>
          <a:xfrm>
            <a:off x="640080" y="2011680"/>
            <a:ext cx="4663440" cy="2377440"/>
          </a:xfrm>
          <a:prstGeom prst="rect">
            <a:avLst/>
          </a:prstGeom>
          <a:noFill/>
          <a:ln/>
        </p:spPr>
        <p:txBody>
          <a:bodyPr wrap="square" lIns="0" tIns="0" rIns="0" bIns="0" rtlCol="0" anchor="t"/>
          <a:lstStyle/>
          <a:p>
            <a:pPr indent="0" marL="0">
              <a:lnSpc>
                <a:spcPct val="145000"/>
              </a:lnSpc>
              <a:spcAft>
                <a:spcPts val="1000"/>
              </a:spcAft>
              <a:buNone/>
            </a:pPr>
            <a:r>
              <a:rPr lang="en-US" sz="1350" dirty="0">
                <a:solidFill>
                  <a:srgbClr val="111111"/>
                </a:solidFill>
                <a:latin typeface="Microsoft YaHei" pitchFamily="34" charset="0"/>
                <a:ea typeface="Microsoft YaHei" pitchFamily="34" charset="-122"/>
                <a:cs typeface="Microsoft YaHei" pitchFamily="34" charset="-120"/>
              </a:rPr>
              <a:t>心理学家詹姆斯·杰罗姆·吉布森（1904-1979）引入了“示能性”一词来描述人与环境之间所有潜在的互动。</a:t>
            </a:r>
            <a:endParaRPr lang="en-US" sz="1350" dirty="0"/>
          </a:p>
          <a:p>
            <a:pPr indent="0" marL="0">
              <a:lnSpc>
                <a:spcPct val="145000"/>
              </a:lnSpc>
              <a:spcAft>
                <a:spcPts val="1000"/>
              </a:spcAft>
              <a:buNone/>
            </a:pPr>
            <a:r>
              <a:rPr lang="en-US" sz="1350" dirty="0">
                <a:solidFill>
                  <a:srgbClr val="111111"/>
                </a:solidFill>
                <a:latin typeface="Microsoft YaHei" pitchFamily="34" charset="0"/>
                <a:ea typeface="Microsoft YaHei" pitchFamily="34" charset="-122"/>
                <a:cs typeface="Microsoft YaHei" pitchFamily="34" charset="-120"/>
              </a:rPr>
              <a:t>吉布森的知觉理论认为知觉是人与外界接触的直接产物，它是外界物理能量变化的直接反映，不需要思维的中介过程。</a:t>
            </a:r>
            <a:endParaRPr lang="en-US" sz="13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PART.3 可供性 AFFORDANCE</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詹姆斯·杰罗姆·吉布森 · 可供性</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James Jerome Gibson</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62</a:t>
            </a:r>
            <a:endParaRPr lang="en-US" sz="750" dirty="0"/>
          </a:p>
        </p:txBody>
      </p:sp>
      <p:sp>
        <p:nvSpPr>
          <p:cNvPr id="11" name="Shape 9"/>
          <p:cNvSpPr/>
          <p:nvPr/>
        </p:nvSpPr>
        <p:spPr>
          <a:xfrm>
            <a:off x="411480" y="1188720"/>
            <a:ext cx="3931920" cy="3383280"/>
          </a:xfrm>
          <a:prstGeom prst="roundRect">
            <a:avLst>
              <a:gd name="adj" fmla="val 3243"/>
            </a:avLst>
          </a:prstGeom>
          <a:solidFill>
            <a:srgbClr val="F4F4F4"/>
          </a:solidFill>
          <a:ln/>
        </p:spPr>
      </p:sp>
      <p:sp>
        <p:nvSpPr>
          <p:cNvPr id="12" name="Text 10"/>
          <p:cNvSpPr txBox="1"/>
          <p:nvPr/>
        </p:nvSpPr>
        <p:spPr>
          <a:xfrm>
            <a:off x="640080" y="1188720"/>
            <a:ext cx="3474720" cy="3383280"/>
          </a:xfrm>
          <a:prstGeom prst="rect">
            <a:avLst/>
          </a:prstGeom>
          <a:noFill/>
          <a:ln/>
        </p:spPr>
        <p:txBody>
          <a:bodyPr wrap="square" lIns="0" tIns="0" rIns="0" bIns="0" rtlCol="0" anchor="ctr"/>
          <a:lstStyle/>
          <a:p>
            <a:pPr indent="0" marL="0">
              <a:lnSpc>
                <a:spcPct val="150000"/>
              </a:lnSpc>
              <a:buNone/>
            </a:pPr>
            <a:r>
              <a:rPr lang="en-US" sz="1300" dirty="0">
                <a:solidFill>
                  <a:srgbClr val="111111"/>
                </a:solidFill>
                <a:latin typeface="Microsoft YaHei" pitchFamily="34" charset="0"/>
                <a:ea typeface="Microsoft YaHei" pitchFamily="34" charset="-122"/>
                <a:cs typeface="Microsoft YaHei" pitchFamily="34" charset="-120"/>
              </a:rPr>
              <a:t>吉布森指出：环境的可供性是它为动物提供的东西，它提供或提供的东西，无论是好的还是坏的。吉布森的示能性概念指出了隐藏在环境中的所有行动可能性，而不管个人识别它们的能力如何。如所描述的:</a:t>
            </a:r>
            <a:endParaRPr lang="en-US" sz="1300" dirty="0"/>
          </a:p>
        </p:txBody>
      </p:sp>
      <p:sp>
        <p:nvSpPr>
          <p:cNvPr id="13" name="Shape 11"/>
          <p:cNvSpPr/>
          <p:nvPr/>
        </p:nvSpPr>
        <p:spPr>
          <a:xfrm>
            <a:off x="4453128" y="1188720"/>
            <a:ext cx="4279392" cy="1874520"/>
          </a:xfrm>
          <a:prstGeom prst="roundRect">
            <a:avLst>
              <a:gd name="adj" fmla="val 4878"/>
            </a:avLst>
          </a:prstGeom>
          <a:solidFill>
            <a:srgbClr val="FFC9C1"/>
          </a:solidFill>
          <a:ln/>
        </p:spPr>
      </p:sp>
      <p:sp>
        <p:nvSpPr>
          <p:cNvPr id="14" name="Text 12"/>
          <p:cNvSpPr txBox="1"/>
          <p:nvPr/>
        </p:nvSpPr>
        <p:spPr>
          <a:xfrm>
            <a:off x="4663440" y="1188720"/>
            <a:ext cx="3886200" cy="1874520"/>
          </a:xfrm>
          <a:prstGeom prst="rect">
            <a:avLst/>
          </a:prstGeom>
          <a:noFill/>
          <a:ln/>
        </p:spPr>
        <p:txBody>
          <a:bodyPr wrap="square" lIns="0" tIns="0" rIns="0" bIns="0" rtlCol="0" anchor="ctr"/>
          <a:lstStyle/>
          <a:p>
            <a:pPr indent="0" marL="0">
              <a:lnSpc>
                <a:spcPct val="140000"/>
              </a:lnSpc>
              <a:buNone/>
            </a:pPr>
            <a:r>
              <a:rPr lang="en-US" sz="1400" dirty="0">
                <a:solidFill>
                  <a:srgbClr val="111111"/>
                </a:solidFill>
                <a:latin typeface="Microsoft YaHei" pitchFamily="34" charset="0"/>
                <a:ea typeface="Microsoft YaHei" pitchFamily="34" charset="-122"/>
                <a:cs typeface="Microsoft YaHei" pitchFamily="34" charset="-120"/>
              </a:rPr>
              <a:t>关于环境的可供性的一个</a:t>
            </a:r>
            <a:pPr indent="0" marL="0">
              <a:lnSpc>
                <a:spcPct val="140000"/>
              </a:lnSpc>
              <a:buNone/>
            </a:pPr>
            <a:r>
              <a:rPr lang="en-US" sz="1400" b="1" dirty="0">
                <a:solidFill>
                  <a:srgbClr val="111111"/>
                </a:solidFill>
                <a:latin typeface="Microsoft YaHei" pitchFamily="34" charset="0"/>
                <a:ea typeface="Microsoft YaHei" pitchFamily="34" charset="-122"/>
                <a:cs typeface="Microsoft YaHei" pitchFamily="34" charset="-120"/>
              </a:rPr>
              <a:t>重要事实</a:t>
            </a:r>
            <a:pPr indent="0" marL="0">
              <a:lnSpc>
                <a:spcPct val="140000"/>
              </a:lnSpc>
              <a:buNone/>
            </a:pPr>
            <a:r>
              <a:rPr lang="en-US" sz="1400" dirty="0">
                <a:solidFill>
                  <a:srgbClr val="111111"/>
                </a:solidFill>
                <a:latin typeface="Microsoft YaHei" pitchFamily="34" charset="0"/>
                <a:ea typeface="Microsoft YaHei" pitchFamily="34" charset="-122"/>
                <a:cs typeface="Microsoft YaHei" pitchFamily="34" charset="-120"/>
              </a:rPr>
              <a:t>是：既不是客观属性，也不是主观属性；或者，如果你愿意的话，它既是客观属性，也是主观属性。</a:t>
            </a:r>
            <a:endParaRPr lang="en-US" sz="1400" dirty="0"/>
          </a:p>
        </p:txBody>
      </p:sp>
      <p:sp>
        <p:nvSpPr>
          <p:cNvPr id="15" name="Shape 13"/>
          <p:cNvSpPr/>
          <p:nvPr/>
        </p:nvSpPr>
        <p:spPr>
          <a:xfrm>
            <a:off x="4453128" y="3172968"/>
            <a:ext cx="4279392" cy="1399032"/>
          </a:xfrm>
          <a:prstGeom prst="roundRect">
            <a:avLst>
              <a:gd name="adj" fmla="val 6536"/>
            </a:avLst>
          </a:prstGeom>
          <a:solidFill>
            <a:srgbClr val="111111"/>
          </a:solidFill>
          <a:ln/>
        </p:spPr>
      </p:sp>
      <p:sp>
        <p:nvSpPr>
          <p:cNvPr id="16" name="Text 14"/>
          <p:cNvSpPr txBox="1"/>
          <p:nvPr/>
        </p:nvSpPr>
        <p:spPr>
          <a:xfrm>
            <a:off x="4663440" y="3172968"/>
            <a:ext cx="3886200" cy="1399032"/>
          </a:xfrm>
          <a:prstGeom prst="rect">
            <a:avLst/>
          </a:prstGeom>
          <a:noFill/>
          <a:ln/>
        </p:spPr>
        <p:txBody>
          <a:bodyPr wrap="square" lIns="0" tIns="0" rIns="0" bIns="0" rtlCol="0" anchor="ctr"/>
          <a:lstStyle/>
          <a:p>
            <a:pPr indent="0" marL="0">
              <a:lnSpc>
                <a:spcPct val="140000"/>
              </a:lnSpc>
              <a:buNone/>
            </a:pPr>
            <a:r>
              <a:rPr lang="en-US" sz="1250" dirty="0">
                <a:solidFill>
                  <a:srgbClr val="FFFFFF"/>
                </a:solidFill>
                <a:latin typeface="Microsoft YaHei" pitchFamily="34" charset="0"/>
                <a:ea typeface="Microsoft YaHei" pitchFamily="34" charset="-122"/>
                <a:cs typeface="Microsoft YaHei" pitchFamily="34" charset="-120"/>
              </a:rPr>
              <a:t>可供性跨越了主观-客观的二分法，帮助我们理解其不足。它既是环境的事实，也是行为的事实。它既是物理的，也是心理的，但两者都不是。</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PART.3 可供性 AFFORDANCE</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相关案例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Studies  ·  01</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63</a:t>
            </a:r>
            <a:endParaRPr lang="en-US" sz="750" dirty="0"/>
          </a:p>
        </p:txBody>
      </p:sp>
      <p:sp>
        <p:nvSpPr>
          <p:cNvPr id="11" name="Shape 9"/>
          <p:cNvSpPr/>
          <p:nvPr/>
        </p:nvSpPr>
        <p:spPr>
          <a:xfrm>
            <a:off x="411480" y="1188720"/>
            <a:ext cx="2700528" cy="3383280"/>
          </a:xfrm>
          <a:prstGeom prst="roundRect">
            <a:avLst>
              <a:gd name="adj" fmla="val 3386"/>
            </a:avLst>
          </a:prstGeom>
          <a:solidFill>
            <a:srgbClr val="FFFFFF"/>
          </a:solidFill>
          <a:ln w="9525">
            <a:solidFill>
              <a:srgbClr val="D0D0D0"/>
            </a:solidFill>
            <a:prstDash val="solid"/>
          </a:ln>
        </p:spPr>
      </p:sp>
      <p:pic>
        <p:nvPicPr>
          <p:cNvPr id="12" name="Image 0" descr="p62_0">    </p:cNvPr>
          <p:cNvPicPr>
            <a:picLocks noChangeAspect="1"/>
          </p:cNvPicPr>
          <p:nvPr/>
        </p:nvPicPr>
        <p:blipFill>
          <a:blip r:embed="rId1"/>
          <a:stretch>
            <a:fillRect/>
          </a:stretch>
        </p:blipFill>
        <p:spPr>
          <a:xfrm>
            <a:off x="921101" y="1298448"/>
            <a:ext cx="1681285" cy="3163824"/>
          </a:xfrm>
          <a:prstGeom prst="rect">
            <a:avLst/>
          </a:prstGeom>
        </p:spPr>
      </p:pic>
      <p:sp>
        <p:nvSpPr>
          <p:cNvPr id="13" name="Shape 10"/>
          <p:cNvSpPr/>
          <p:nvPr/>
        </p:nvSpPr>
        <p:spPr>
          <a:xfrm>
            <a:off x="3221736" y="1188720"/>
            <a:ext cx="2700528" cy="3383280"/>
          </a:xfrm>
          <a:prstGeom prst="roundRect">
            <a:avLst>
              <a:gd name="adj" fmla="val 3386"/>
            </a:avLst>
          </a:prstGeom>
          <a:solidFill>
            <a:srgbClr val="FFFFFF"/>
          </a:solidFill>
          <a:ln w="9525">
            <a:solidFill>
              <a:srgbClr val="D0D0D0"/>
            </a:solidFill>
            <a:prstDash val="solid"/>
          </a:ln>
        </p:spPr>
      </p:sp>
      <p:pic>
        <p:nvPicPr>
          <p:cNvPr id="14" name="Image 1" descr="p62_1">    </p:cNvPr>
          <p:cNvPicPr>
            <a:picLocks noChangeAspect="1"/>
          </p:cNvPicPr>
          <p:nvPr/>
        </p:nvPicPr>
        <p:blipFill>
          <a:blip r:embed="rId2"/>
          <a:stretch>
            <a:fillRect/>
          </a:stretch>
        </p:blipFill>
        <p:spPr>
          <a:xfrm>
            <a:off x="3331464" y="1384219"/>
            <a:ext cx="2481072" cy="2992282"/>
          </a:xfrm>
          <a:prstGeom prst="rect">
            <a:avLst/>
          </a:prstGeom>
        </p:spPr>
      </p:pic>
      <p:sp>
        <p:nvSpPr>
          <p:cNvPr id="15" name="Shape 11"/>
          <p:cNvSpPr/>
          <p:nvPr/>
        </p:nvSpPr>
        <p:spPr>
          <a:xfrm>
            <a:off x="6031992" y="1188720"/>
            <a:ext cx="2700528" cy="3383280"/>
          </a:xfrm>
          <a:prstGeom prst="roundRect">
            <a:avLst>
              <a:gd name="adj" fmla="val 3386"/>
            </a:avLst>
          </a:prstGeom>
          <a:solidFill>
            <a:srgbClr val="FFFFFF"/>
          </a:solidFill>
          <a:ln w="9525">
            <a:solidFill>
              <a:srgbClr val="D0D0D0"/>
            </a:solidFill>
            <a:prstDash val="solid"/>
          </a:ln>
        </p:spPr>
      </p:sp>
      <p:pic>
        <p:nvPicPr>
          <p:cNvPr id="16" name="Image 2" descr="p62_2">    </p:cNvPr>
          <p:cNvPicPr>
            <a:picLocks noChangeAspect="1"/>
          </p:cNvPicPr>
          <p:nvPr/>
        </p:nvPicPr>
        <p:blipFill>
          <a:blip r:embed="rId3"/>
          <a:stretch>
            <a:fillRect/>
          </a:stretch>
        </p:blipFill>
        <p:spPr>
          <a:xfrm>
            <a:off x="6405861" y="1298448"/>
            <a:ext cx="1952791" cy="3163824"/>
          </a:xfrm>
          <a:prstGeom prst="rect">
            <a:avLst/>
          </a:prstGeom>
        </p:spPr>
      </p:pic>
      <p:sp>
        <p:nvSpPr>
          <p:cNvPr id="17" name="Shape 12"/>
          <p:cNvSpPr/>
          <p:nvPr/>
        </p:nvSpPr>
        <p:spPr>
          <a:xfrm>
            <a:off x="411480" y="1188720"/>
            <a:ext cx="502920" cy="365760"/>
          </a:xfrm>
          <a:prstGeom prst="rect">
            <a:avLst/>
          </a:prstGeom>
          <a:solidFill>
            <a:srgbClr val="FFC9C1"/>
          </a:solidFill>
          <a:ln/>
        </p:spPr>
      </p:sp>
      <p:sp>
        <p:nvSpPr>
          <p:cNvPr id="18" name="Text 13"/>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01</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PART.3 可供性 AFFORDANCE</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相关案例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Studies  ·  02</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64</a:t>
            </a:r>
            <a:endParaRPr lang="en-US" sz="750" dirty="0"/>
          </a:p>
        </p:txBody>
      </p:sp>
      <p:sp>
        <p:nvSpPr>
          <p:cNvPr id="11" name="Shape 9"/>
          <p:cNvSpPr/>
          <p:nvPr/>
        </p:nvSpPr>
        <p:spPr>
          <a:xfrm>
            <a:off x="411480" y="1188720"/>
            <a:ext cx="2700528" cy="3383280"/>
          </a:xfrm>
          <a:prstGeom prst="roundRect">
            <a:avLst>
              <a:gd name="adj" fmla="val 3386"/>
            </a:avLst>
          </a:prstGeom>
          <a:solidFill>
            <a:srgbClr val="FFFFFF"/>
          </a:solidFill>
          <a:ln w="9525">
            <a:solidFill>
              <a:srgbClr val="D0D0D0"/>
            </a:solidFill>
            <a:prstDash val="solid"/>
          </a:ln>
        </p:spPr>
      </p:sp>
      <p:pic>
        <p:nvPicPr>
          <p:cNvPr id="12" name="Image 0" descr="p63_0">    </p:cNvPr>
          <p:cNvPicPr>
            <a:picLocks noChangeAspect="1"/>
          </p:cNvPicPr>
          <p:nvPr/>
        </p:nvPicPr>
        <p:blipFill>
          <a:blip r:embed="rId1"/>
          <a:stretch>
            <a:fillRect/>
          </a:stretch>
        </p:blipFill>
        <p:spPr>
          <a:xfrm>
            <a:off x="759956" y="1298448"/>
            <a:ext cx="2003576" cy="3163824"/>
          </a:xfrm>
          <a:prstGeom prst="rect">
            <a:avLst/>
          </a:prstGeom>
        </p:spPr>
      </p:pic>
      <p:sp>
        <p:nvSpPr>
          <p:cNvPr id="13" name="Shape 10"/>
          <p:cNvSpPr/>
          <p:nvPr/>
        </p:nvSpPr>
        <p:spPr>
          <a:xfrm>
            <a:off x="3221736" y="1188720"/>
            <a:ext cx="2700528" cy="3383280"/>
          </a:xfrm>
          <a:prstGeom prst="roundRect">
            <a:avLst>
              <a:gd name="adj" fmla="val 3386"/>
            </a:avLst>
          </a:prstGeom>
          <a:solidFill>
            <a:srgbClr val="FFFFFF"/>
          </a:solidFill>
          <a:ln w="9525">
            <a:solidFill>
              <a:srgbClr val="D0D0D0"/>
            </a:solidFill>
            <a:prstDash val="solid"/>
          </a:ln>
        </p:spPr>
      </p:sp>
      <p:pic>
        <p:nvPicPr>
          <p:cNvPr id="14" name="Image 1" descr="p63_1">    </p:cNvPr>
          <p:cNvPicPr>
            <a:picLocks noChangeAspect="1"/>
          </p:cNvPicPr>
          <p:nvPr/>
        </p:nvPicPr>
        <p:blipFill>
          <a:blip r:embed="rId2"/>
          <a:stretch>
            <a:fillRect/>
          </a:stretch>
        </p:blipFill>
        <p:spPr>
          <a:xfrm>
            <a:off x="3331464" y="1356202"/>
            <a:ext cx="2481072" cy="3048315"/>
          </a:xfrm>
          <a:prstGeom prst="rect">
            <a:avLst/>
          </a:prstGeom>
        </p:spPr>
      </p:pic>
      <p:sp>
        <p:nvSpPr>
          <p:cNvPr id="15" name="Shape 11"/>
          <p:cNvSpPr/>
          <p:nvPr/>
        </p:nvSpPr>
        <p:spPr>
          <a:xfrm>
            <a:off x="6031992" y="1188720"/>
            <a:ext cx="2700528" cy="3383280"/>
          </a:xfrm>
          <a:prstGeom prst="roundRect">
            <a:avLst>
              <a:gd name="adj" fmla="val 3386"/>
            </a:avLst>
          </a:prstGeom>
          <a:solidFill>
            <a:srgbClr val="FFFFFF"/>
          </a:solidFill>
          <a:ln w="9525">
            <a:solidFill>
              <a:srgbClr val="D0D0D0"/>
            </a:solidFill>
            <a:prstDash val="solid"/>
          </a:ln>
        </p:spPr>
      </p:sp>
      <p:pic>
        <p:nvPicPr>
          <p:cNvPr id="16" name="Image 2" descr="p63_2">    </p:cNvPr>
          <p:cNvPicPr>
            <a:picLocks noChangeAspect="1"/>
          </p:cNvPicPr>
          <p:nvPr/>
        </p:nvPicPr>
        <p:blipFill>
          <a:blip r:embed="rId3"/>
          <a:stretch>
            <a:fillRect/>
          </a:stretch>
        </p:blipFill>
        <p:spPr>
          <a:xfrm>
            <a:off x="6274677" y="1298448"/>
            <a:ext cx="2215158" cy="3163824"/>
          </a:xfrm>
          <a:prstGeom prst="rect">
            <a:avLst/>
          </a:prstGeom>
        </p:spPr>
      </p:pic>
      <p:sp>
        <p:nvSpPr>
          <p:cNvPr id="17" name="Shape 12"/>
          <p:cNvSpPr/>
          <p:nvPr/>
        </p:nvSpPr>
        <p:spPr>
          <a:xfrm>
            <a:off x="411480" y="1188720"/>
            <a:ext cx="502920" cy="365760"/>
          </a:xfrm>
          <a:prstGeom prst="rect">
            <a:avLst/>
          </a:prstGeom>
          <a:solidFill>
            <a:srgbClr val="FFC9C1"/>
          </a:solidFill>
          <a:ln/>
        </p:spPr>
      </p:sp>
      <p:sp>
        <p:nvSpPr>
          <p:cNvPr id="18" name="Text 13"/>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PART.3 可供性 AFFORDANCE</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相关案例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Studies  ·  03</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65</a:t>
            </a:r>
            <a:endParaRPr lang="en-US" sz="750" dirty="0"/>
          </a:p>
        </p:txBody>
      </p:sp>
      <p:sp>
        <p:nvSpPr>
          <p:cNvPr id="11" name="Shape 9"/>
          <p:cNvSpPr/>
          <p:nvPr/>
        </p:nvSpPr>
        <p:spPr>
          <a:xfrm>
            <a:off x="411480" y="1188720"/>
            <a:ext cx="4105656" cy="3383280"/>
          </a:xfrm>
          <a:prstGeom prst="roundRect">
            <a:avLst>
              <a:gd name="adj" fmla="val 2703"/>
            </a:avLst>
          </a:prstGeom>
          <a:solidFill>
            <a:srgbClr val="FFFFFF"/>
          </a:solidFill>
          <a:ln w="9525">
            <a:solidFill>
              <a:srgbClr val="D0D0D0"/>
            </a:solidFill>
            <a:prstDash val="solid"/>
          </a:ln>
        </p:spPr>
      </p:sp>
      <p:pic>
        <p:nvPicPr>
          <p:cNvPr id="12" name="Image 0" descr="p64_0">    </p:cNvPr>
          <p:cNvPicPr>
            <a:picLocks noChangeAspect="1"/>
          </p:cNvPicPr>
          <p:nvPr/>
        </p:nvPicPr>
        <p:blipFill>
          <a:blip r:embed="rId1"/>
          <a:stretch>
            <a:fillRect/>
          </a:stretch>
        </p:blipFill>
        <p:spPr>
          <a:xfrm>
            <a:off x="521208" y="1542348"/>
            <a:ext cx="3886200" cy="2676024"/>
          </a:xfrm>
          <a:prstGeom prst="rect">
            <a:avLst/>
          </a:prstGeom>
        </p:spPr>
      </p:pic>
      <p:sp>
        <p:nvSpPr>
          <p:cNvPr id="13" name="Shape 10"/>
          <p:cNvSpPr/>
          <p:nvPr/>
        </p:nvSpPr>
        <p:spPr>
          <a:xfrm>
            <a:off x="4626864" y="1188720"/>
            <a:ext cx="4105656" cy="3383280"/>
          </a:xfrm>
          <a:prstGeom prst="roundRect">
            <a:avLst>
              <a:gd name="adj" fmla="val 2703"/>
            </a:avLst>
          </a:prstGeom>
          <a:solidFill>
            <a:srgbClr val="FFFFFF"/>
          </a:solidFill>
          <a:ln w="9525">
            <a:solidFill>
              <a:srgbClr val="D0D0D0"/>
            </a:solidFill>
            <a:prstDash val="solid"/>
          </a:ln>
        </p:spPr>
      </p:sp>
      <p:pic>
        <p:nvPicPr>
          <p:cNvPr id="14" name="Image 1" descr="p64_1">    </p:cNvPr>
          <p:cNvPicPr>
            <a:picLocks noChangeAspect="1"/>
          </p:cNvPicPr>
          <p:nvPr/>
        </p:nvPicPr>
        <p:blipFill>
          <a:blip r:embed="rId2"/>
          <a:stretch>
            <a:fillRect/>
          </a:stretch>
        </p:blipFill>
        <p:spPr>
          <a:xfrm>
            <a:off x="5145613" y="1298448"/>
            <a:ext cx="3068158" cy="3163824"/>
          </a:xfrm>
          <a:prstGeom prst="rect">
            <a:avLst/>
          </a:prstGeom>
        </p:spPr>
      </p:pic>
      <p:sp>
        <p:nvSpPr>
          <p:cNvPr id="15" name="Shape 11"/>
          <p:cNvSpPr/>
          <p:nvPr/>
        </p:nvSpPr>
        <p:spPr>
          <a:xfrm>
            <a:off x="411480" y="1188720"/>
            <a:ext cx="502920" cy="365760"/>
          </a:xfrm>
          <a:prstGeom prst="rect">
            <a:avLst/>
          </a:prstGeom>
          <a:solidFill>
            <a:srgbClr val="FFC9C1"/>
          </a:solidFill>
          <a:ln/>
        </p:spPr>
      </p:sp>
      <p:sp>
        <p:nvSpPr>
          <p:cNvPr id="16" name="Text 12"/>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146304"/>
            <a:ext cx="8321040" cy="182880"/>
          </a:xfrm>
          <a:prstGeom prst="rect">
            <a:avLst/>
          </a:prstGeom>
          <a:noFill/>
          <a:ln/>
        </p:spPr>
        <p:txBody>
          <a:bodyPr wrap="square" lIns="0" tIns="0" rIns="0" bIns="0" rtlCol="0" anchor="ctr"/>
          <a:lstStyle/>
          <a:p>
            <a:pPr indent="0" marL="0">
              <a:buNone/>
            </a:pPr>
            <a:r>
              <a:rPr lang="en-US" sz="700" spc="100" kern="0" dirty="0">
                <a:solidFill>
                  <a:srgbClr val="6B6B6B"/>
                </a:solidFill>
                <a:latin typeface="Microsoft YaHei" pitchFamily="34" charset="0"/>
                <a:ea typeface="Microsoft YaHei" pitchFamily="34" charset="-122"/>
                <a:cs typeface="Microsoft YaHei" pitchFamily="34" charset="-120"/>
              </a:rPr>
              <a:t>PART.3 可供性 AFFORDANCE</a:t>
            </a:r>
            <a:endParaRPr lang="en-US" sz="700" dirty="0"/>
          </a:p>
        </p:txBody>
      </p:sp>
      <p:sp>
        <p:nvSpPr>
          <p:cNvPr id="3" name="Text 1"/>
          <p:cNvSpPr txBox="1"/>
          <p:nvPr/>
        </p:nvSpPr>
        <p:spPr>
          <a:xfrm>
            <a:off x="411480" y="329184"/>
            <a:ext cx="8321040" cy="420624"/>
          </a:xfrm>
          <a:prstGeom prst="rect">
            <a:avLst/>
          </a:prstGeom>
          <a:noFill/>
          <a:ln/>
        </p:spPr>
        <p:txBody>
          <a:bodyPr wrap="square" lIns="0" tIns="0" rIns="0" bIns="0" rtlCol="0" anchor="ctr">
            <a:normAutofit/>
          </a:bodyPr>
          <a:lstStyle/>
          <a:p>
            <a:pPr indent="0" marL="0">
              <a:buNone/>
            </a:pPr>
            <a:r>
              <a:rPr lang="en-US" sz="2400" dirty="0">
                <a:solidFill>
                  <a:srgbClr val="111111"/>
                </a:solidFill>
                <a:latin typeface="Microsoft YaHei" pitchFamily="34" charset="0"/>
                <a:ea typeface="Microsoft YaHei" pitchFamily="34" charset="-122"/>
                <a:cs typeface="Microsoft YaHei" pitchFamily="34" charset="-120"/>
              </a:rPr>
              <a:t>相关案例</a:t>
            </a:r>
            <a:endParaRPr lang="en-US" sz="2400" dirty="0"/>
          </a:p>
        </p:txBody>
      </p:sp>
      <p:sp>
        <p:nvSpPr>
          <p:cNvPr id="4" name="Text 2"/>
          <p:cNvSpPr txBox="1"/>
          <p:nvPr/>
        </p:nvSpPr>
        <p:spPr>
          <a:xfrm>
            <a:off x="411480" y="758952"/>
            <a:ext cx="8321040" cy="219456"/>
          </a:xfrm>
          <a:prstGeom prst="rect">
            <a:avLst/>
          </a:prstGeom>
          <a:noFill/>
          <a:ln/>
        </p:spPr>
        <p:txBody>
          <a:bodyPr wrap="square" lIns="0" tIns="0" rIns="0" bIns="0" rtlCol="0" anchor="ctr"/>
          <a:lstStyle/>
          <a:p>
            <a:pPr indent="0" marL="0">
              <a:buNone/>
            </a:pPr>
            <a:r>
              <a:rPr lang="en-US" sz="950" dirty="0">
                <a:solidFill>
                  <a:srgbClr val="6B6B6B"/>
                </a:solidFill>
                <a:latin typeface="Arial" pitchFamily="34" charset="0"/>
                <a:ea typeface="Arial" pitchFamily="34" charset="-122"/>
                <a:cs typeface="Arial" pitchFamily="34" charset="-120"/>
              </a:rPr>
              <a:t>Case Studies  ·  04</a:t>
            </a:r>
            <a:endParaRPr lang="en-US" sz="950" dirty="0"/>
          </a:p>
        </p:txBody>
      </p:sp>
      <p:sp>
        <p:nvSpPr>
          <p:cNvPr id="5" name="Shape 3"/>
          <p:cNvSpPr/>
          <p:nvPr/>
        </p:nvSpPr>
        <p:spPr>
          <a:xfrm>
            <a:off x="411480" y="4818888"/>
            <a:ext cx="77724" cy="77724"/>
          </a:xfrm>
          <a:prstGeom prst="ellipse">
            <a:avLst/>
          </a:prstGeom>
          <a:solidFill>
            <a:srgbClr val="4D49FC"/>
          </a:solidFill>
          <a:ln/>
        </p:spPr>
      </p:sp>
      <p:sp>
        <p:nvSpPr>
          <p:cNvPr id="6" name="Shape 4"/>
          <p:cNvSpPr/>
          <p:nvPr/>
        </p:nvSpPr>
        <p:spPr>
          <a:xfrm>
            <a:off x="507492" y="4818888"/>
            <a:ext cx="77724" cy="77724"/>
          </a:xfrm>
          <a:prstGeom prst="ellipse">
            <a:avLst/>
          </a:prstGeom>
          <a:solidFill>
            <a:srgbClr val="4D49FC"/>
          </a:solidFill>
          <a:ln/>
        </p:spPr>
      </p:sp>
      <p:sp>
        <p:nvSpPr>
          <p:cNvPr id="7" name="Shape 5"/>
          <p:cNvSpPr/>
          <p:nvPr/>
        </p:nvSpPr>
        <p:spPr>
          <a:xfrm>
            <a:off x="411480" y="4914900"/>
            <a:ext cx="77724" cy="77724"/>
          </a:xfrm>
          <a:prstGeom prst="ellipse">
            <a:avLst/>
          </a:prstGeom>
          <a:solidFill>
            <a:srgbClr val="4D49FC"/>
          </a:solidFill>
          <a:ln/>
        </p:spPr>
      </p:sp>
      <p:sp>
        <p:nvSpPr>
          <p:cNvPr id="8" name="Shape 6"/>
          <p:cNvSpPr/>
          <p:nvPr/>
        </p:nvSpPr>
        <p:spPr>
          <a:xfrm>
            <a:off x="507492" y="4914900"/>
            <a:ext cx="77724" cy="77724"/>
          </a:xfrm>
          <a:prstGeom prst="ellipse">
            <a:avLst/>
          </a:prstGeom>
          <a:solidFill>
            <a:srgbClr val="4D49FC"/>
          </a:solidFill>
          <a:ln/>
        </p:spPr>
      </p:sp>
      <p:sp>
        <p:nvSpPr>
          <p:cNvPr id="9" name="Text 7"/>
          <p:cNvSpPr txBox="1"/>
          <p:nvPr/>
        </p:nvSpPr>
        <p:spPr>
          <a:xfrm>
            <a:off x="658368" y="4791456"/>
            <a:ext cx="4389120" cy="219456"/>
          </a:xfrm>
          <a:prstGeom prst="rect">
            <a:avLst/>
          </a:prstGeom>
          <a:noFill/>
          <a:ln/>
        </p:spPr>
        <p:txBody>
          <a:bodyPr wrap="square" lIns="0" tIns="0" rIns="0" bIns="0" rtlCol="0" anchor="ctr"/>
          <a:lstStyle/>
          <a:p>
            <a:pPr indent="0" marL="0">
              <a:buNone/>
            </a:pPr>
            <a:r>
              <a:rPr lang="en-US" sz="700" spc="100" kern="0" dirty="0">
                <a:solidFill>
                  <a:srgbClr val="6B6B6B"/>
                </a:solidFill>
                <a:latin typeface="Courier New" pitchFamily="34" charset="0"/>
                <a:ea typeface="Courier New" pitchFamily="34" charset="-122"/>
                <a:cs typeface="Courier New" pitchFamily="34" charset="-120"/>
              </a:rPr>
              <a:t>MATERIALS &amp; EXPERIENCE  —  材料研究与产品设计</a:t>
            </a:r>
            <a:endParaRPr lang="en-US" sz="700" dirty="0"/>
          </a:p>
        </p:txBody>
      </p:sp>
      <p:sp>
        <p:nvSpPr>
          <p:cNvPr id="10" name="Text 8"/>
          <p:cNvSpPr txBox="1"/>
          <p:nvPr/>
        </p:nvSpPr>
        <p:spPr>
          <a:xfrm>
            <a:off x="8229600" y="4791456"/>
            <a:ext cx="502920" cy="219456"/>
          </a:xfrm>
          <a:prstGeom prst="rect">
            <a:avLst/>
          </a:prstGeom>
          <a:noFill/>
          <a:ln/>
        </p:spPr>
        <p:txBody>
          <a:bodyPr wrap="square" lIns="0" tIns="0" rIns="0" bIns="0" rtlCol="0" anchor="ctr"/>
          <a:lstStyle/>
          <a:p>
            <a:pPr algn="r" indent="0" marL="0">
              <a:buNone/>
            </a:pPr>
            <a:r>
              <a:rPr lang="en-US" sz="750" dirty="0">
                <a:solidFill>
                  <a:srgbClr val="6B6B6B"/>
                </a:solidFill>
                <a:latin typeface="Courier New" pitchFamily="34" charset="0"/>
                <a:ea typeface="Courier New" pitchFamily="34" charset="-122"/>
                <a:cs typeface="Courier New" pitchFamily="34" charset="-120"/>
              </a:rPr>
              <a:t>66</a:t>
            </a:r>
            <a:endParaRPr lang="en-US" sz="750" dirty="0"/>
          </a:p>
        </p:txBody>
      </p:sp>
      <p:sp>
        <p:nvSpPr>
          <p:cNvPr id="11" name="Shape 9"/>
          <p:cNvSpPr/>
          <p:nvPr/>
        </p:nvSpPr>
        <p:spPr>
          <a:xfrm>
            <a:off x="411480" y="1188720"/>
            <a:ext cx="4105656" cy="3383280"/>
          </a:xfrm>
          <a:prstGeom prst="roundRect">
            <a:avLst>
              <a:gd name="adj" fmla="val 2703"/>
            </a:avLst>
          </a:prstGeom>
          <a:solidFill>
            <a:srgbClr val="FFFFFF"/>
          </a:solidFill>
          <a:ln w="9525">
            <a:solidFill>
              <a:srgbClr val="D0D0D0"/>
            </a:solidFill>
            <a:prstDash val="solid"/>
          </a:ln>
        </p:spPr>
      </p:sp>
      <p:pic>
        <p:nvPicPr>
          <p:cNvPr id="12" name="Image 0" descr="p65_0">    </p:cNvPr>
          <p:cNvPicPr>
            <a:picLocks noChangeAspect="1"/>
          </p:cNvPicPr>
          <p:nvPr/>
        </p:nvPicPr>
        <p:blipFill>
          <a:blip r:embed="rId1"/>
          <a:stretch>
            <a:fillRect/>
          </a:stretch>
        </p:blipFill>
        <p:spPr>
          <a:xfrm>
            <a:off x="521208" y="1371421"/>
            <a:ext cx="3886200" cy="3017877"/>
          </a:xfrm>
          <a:prstGeom prst="rect">
            <a:avLst/>
          </a:prstGeom>
        </p:spPr>
      </p:pic>
      <p:sp>
        <p:nvSpPr>
          <p:cNvPr id="13" name="Shape 10"/>
          <p:cNvSpPr/>
          <p:nvPr/>
        </p:nvSpPr>
        <p:spPr>
          <a:xfrm>
            <a:off x="4626864" y="1188720"/>
            <a:ext cx="4105656" cy="3383280"/>
          </a:xfrm>
          <a:prstGeom prst="roundRect">
            <a:avLst>
              <a:gd name="adj" fmla="val 2703"/>
            </a:avLst>
          </a:prstGeom>
          <a:solidFill>
            <a:srgbClr val="FFFFFF"/>
          </a:solidFill>
          <a:ln w="9525">
            <a:solidFill>
              <a:srgbClr val="D0D0D0"/>
            </a:solidFill>
            <a:prstDash val="solid"/>
          </a:ln>
        </p:spPr>
      </p:sp>
      <p:pic>
        <p:nvPicPr>
          <p:cNvPr id="14" name="Image 1" descr="p65_1">    </p:cNvPr>
          <p:cNvPicPr>
            <a:picLocks noChangeAspect="1"/>
          </p:cNvPicPr>
          <p:nvPr/>
        </p:nvPicPr>
        <p:blipFill>
          <a:blip r:embed="rId2"/>
          <a:stretch>
            <a:fillRect/>
          </a:stretch>
        </p:blipFill>
        <p:spPr>
          <a:xfrm>
            <a:off x="5111687" y="1298448"/>
            <a:ext cx="3136010" cy="3163824"/>
          </a:xfrm>
          <a:prstGeom prst="rect">
            <a:avLst/>
          </a:prstGeom>
        </p:spPr>
      </p:pic>
      <p:sp>
        <p:nvSpPr>
          <p:cNvPr id="15" name="Shape 11"/>
          <p:cNvSpPr/>
          <p:nvPr/>
        </p:nvSpPr>
        <p:spPr>
          <a:xfrm>
            <a:off x="411480" y="1188720"/>
            <a:ext cx="502920" cy="365760"/>
          </a:xfrm>
          <a:prstGeom prst="rect">
            <a:avLst/>
          </a:prstGeom>
          <a:solidFill>
            <a:srgbClr val="FFC9C1"/>
          </a:solidFill>
          <a:ln/>
        </p:spPr>
      </p:sp>
      <p:sp>
        <p:nvSpPr>
          <p:cNvPr id="16" name="Text 12"/>
          <p:cNvSpPr txBox="1"/>
          <p:nvPr/>
        </p:nvSpPr>
        <p:spPr>
          <a:xfrm>
            <a:off x="411480" y="1188720"/>
            <a:ext cx="502920" cy="365760"/>
          </a:xfrm>
          <a:prstGeom prst="rect">
            <a:avLst/>
          </a:prstGeom>
          <a:noFill/>
          <a:ln/>
        </p:spPr>
        <p:txBody>
          <a:bodyPr wrap="square" lIns="0" tIns="0" rIns="0" bIns="0" rtlCol="0" anchor="ctr"/>
          <a:lstStyle/>
          <a:p>
            <a:pPr algn="ctr" indent="0" marL="0">
              <a:buNone/>
            </a:pPr>
            <a:r>
              <a:rPr lang="en-US" sz="1200" b="1" dirty="0">
                <a:solidFill>
                  <a:srgbClr val="111111"/>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22960" y="1143000"/>
            <a:ext cx="868680" cy="868680"/>
          </a:xfrm>
          <a:prstGeom prst="donut">
            <a:avLst/>
          </a:prstGeom>
          <a:solidFill>
            <a:srgbClr val="4D49FC"/>
          </a:solidFill>
          <a:ln/>
        </p:spPr>
      </p:sp>
      <p:sp>
        <p:nvSpPr>
          <p:cNvPr id="3" name="Shape 1"/>
          <p:cNvSpPr/>
          <p:nvPr/>
        </p:nvSpPr>
        <p:spPr>
          <a:xfrm>
            <a:off x="1783080" y="1143000"/>
            <a:ext cx="2103120" cy="868680"/>
          </a:xfrm>
          <a:prstGeom prst="roundRect">
            <a:avLst>
              <a:gd name="adj" fmla="val 16842"/>
            </a:avLst>
          </a:prstGeom>
          <a:solidFill>
            <a:srgbClr val="CB9FD2"/>
          </a:solidFill>
          <a:ln/>
        </p:spPr>
      </p:sp>
      <p:sp>
        <p:nvSpPr>
          <p:cNvPr id="4" name="Text 2"/>
          <p:cNvSpPr txBox="1"/>
          <p:nvPr/>
        </p:nvSpPr>
        <p:spPr>
          <a:xfrm>
            <a:off x="189280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谢谢</a:t>
            </a:r>
            <a:endParaRPr lang="en-US" sz="4400" dirty="0"/>
          </a:p>
        </p:txBody>
      </p:sp>
      <p:sp>
        <p:nvSpPr>
          <p:cNvPr id="5" name="Shape 3"/>
          <p:cNvSpPr/>
          <p:nvPr/>
        </p:nvSpPr>
        <p:spPr>
          <a:xfrm>
            <a:off x="4005072" y="1170432"/>
            <a:ext cx="822960" cy="822960"/>
          </a:xfrm>
          <a:prstGeom prst="star12">
            <a:avLst/>
          </a:prstGeom>
          <a:solidFill>
            <a:srgbClr val="FF3B30"/>
          </a:solidFill>
          <a:ln/>
        </p:spPr>
      </p:sp>
      <p:sp>
        <p:nvSpPr>
          <p:cNvPr id="6" name="Shape 4"/>
          <p:cNvSpPr/>
          <p:nvPr/>
        </p:nvSpPr>
        <p:spPr>
          <a:xfrm>
            <a:off x="4937760" y="1143000"/>
            <a:ext cx="2103120" cy="868680"/>
          </a:xfrm>
          <a:prstGeom prst="roundRect">
            <a:avLst>
              <a:gd name="adj" fmla="val 16842"/>
            </a:avLst>
          </a:prstGeom>
          <a:solidFill>
            <a:srgbClr val="C7F8FB"/>
          </a:solidFill>
          <a:ln/>
        </p:spPr>
      </p:sp>
      <p:sp>
        <p:nvSpPr>
          <p:cNvPr id="7" name="Text 5"/>
          <p:cNvSpPr txBox="1"/>
          <p:nvPr/>
        </p:nvSpPr>
        <p:spPr>
          <a:xfrm>
            <a:off x="5047488" y="1143000"/>
            <a:ext cx="188366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Microsoft YaHei" pitchFamily="34" charset="0"/>
                <a:ea typeface="Microsoft YaHei" pitchFamily="34" charset="-122"/>
                <a:cs typeface="Microsoft YaHei" pitchFamily="34" charset="-120"/>
              </a:rPr>
              <a:t>大家</a:t>
            </a:r>
            <a:endParaRPr lang="en-US" sz="4400" dirty="0"/>
          </a:p>
        </p:txBody>
      </p:sp>
      <p:sp>
        <p:nvSpPr>
          <p:cNvPr id="8" name="Shape 6"/>
          <p:cNvSpPr/>
          <p:nvPr/>
        </p:nvSpPr>
        <p:spPr>
          <a:xfrm>
            <a:off x="1783080" y="2148840"/>
            <a:ext cx="3566160" cy="868680"/>
          </a:xfrm>
          <a:prstGeom prst="roundRect">
            <a:avLst>
              <a:gd name="adj" fmla="val 16842"/>
            </a:avLst>
          </a:prstGeom>
          <a:solidFill>
            <a:srgbClr val="E4FF97"/>
          </a:solidFill>
          <a:ln/>
        </p:spPr>
      </p:sp>
      <p:sp>
        <p:nvSpPr>
          <p:cNvPr id="9" name="Text 7"/>
          <p:cNvSpPr txBox="1"/>
          <p:nvPr/>
        </p:nvSpPr>
        <p:spPr>
          <a:xfrm>
            <a:off x="1892808" y="2148840"/>
            <a:ext cx="3346704" cy="868680"/>
          </a:xfrm>
          <a:prstGeom prst="rect">
            <a:avLst/>
          </a:prstGeom>
          <a:noFill/>
          <a:ln/>
        </p:spPr>
        <p:txBody>
          <a:bodyPr wrap="square" lIns="0" tIns="0" rIns="0" bIns="0" rtlCol="0" anchor="ctr"/>
          <a:lstStyle/>
          <a:p>
            <a:pPr algn="ctr" indent="0" marL="0">
              <a:buNone/>
            </a:pPr>
            <a:r>
              <a:rPr lang="en-US" sz="4400" dirty="0">
                <a:solidFill>
                  <a:srgbClr val="111111"/>
                </a:solidFill>
                <a:latin typeface="Arial" pitchFamily="34" charset="0"/>
                <a:ea typeface="Arial" pitchFamily="34" charset="-122"/>
                <a:cs typeface="Arial" pitchFamily="34" charset="-120"/>
              </a:rPr>
              <a:t>THANKS</a:t>
            </a:r>
            <a:endParaRPr lang="en-US" sz="4400" dirty="0"/>
          </a:p>
        </p:txBody>
      </p:sp>
      <p:sp>
        <p:nvSpPr>
          <p:cNvPr id="10" name="Shape 8"/>
          <p:cNvSpPr/>
          <p:nvPr/>
        </p:nvSpPr>
        <p:spPr>
          <a:xfrm>
            <a:off x="5486400" y="2176272"/>
            <a:ext cx="822960" cy="822960"/>
          </a:xfrm>
          <a:prstGeom prst="star12">
            <a:avLst/>
          </a:prstGeom>
          <a:solidFill>
            <a:srgbClr val="8B5CF6"/>
          </a:solidFill>
          <a:ln/>
        </p:spPr>
      </p:sp>
      <p:sp>
        <p:nvSpPr>
          <p:cNvPr id="11" name="Text 9"/>
          <p:cNvSpPr txBox="1"/>
          <p:nvPr/>
        </p:nvSpPr>
        <p:spPr>
          <a:xfrm>
            <a:off x="1783080" y="3291840"/>
            <a:ext cx="5486400" cy="320040"/>
          </a:xfrm>
          <a:prstGeom prst="rect">
            <a:avLst/>
          </a:prstGeom>
          <a:noFill/>
          <a:ln/>
        </p:spPr>
        <p:txBody>
          <a:bodyPr wrap="square" lIns="0" tIns="0" rIns="0" bIns="0" rtlCol="0" anchor="ctr"/>
          <a:lstStyle/>
          <a:p>
            <a:pPr indent="0" marL="0">
              <a:buNone/>
            </a:pPr>
            <a:r>
              <a:rPr lang="en-US" sz="1300" dirty="0">
                <a:solidFill>
                  <a:srgbClr val="111111"/>
                </a:solidFill>
                <a:latin typeface="Microsoft YaHei" pitchFamily="34" charset="0"/>
                <a:ea typeface="Microsoft YaHei" pitchFamily="34" charset="-122"/>
                <a:cs typeface="Microsoft YaHei" pitchFamily="34" charset="-120"/>
              </a:rPr>
              <a:t>第1课  材料研究与产品设计</a:t>
            </a:r>
            <a:endParaRPr lang="en-US" sz="1300" dirty="0"/>
          </a:p>
        </p:txBody>
      </p:sp>
      <p:sp>
        <p:nvSpPr>
          <p:cNvPr id="12" name="Text 10"/>
          <p:cNvSpPr txBox="1"/>
          <p:nvPr/>
        </p:nvSpPr>
        <p:spPr>
          <a:xfrm>
            <a:off x="1783080" y="3611880"/>
            <a:ext cx="5486400" cy="274320"/>
          </a:xfrm>
          <a:prstGeom prst="rect">
            <a:avLst/>
          </a:prstGeom>
          <a:noFill/>
          <a:ln/>
        </p:spPr>
        <p:txBody>
          <a:bodyPr wrap="square" lIns="0" tIns="0" rIns="0" bIns="0" rtlCol="0" anchor="ctr"/>
          <a:lstStyle/>
          <a:p>
            <a:pPr indent="0" marL="0">
              <a:buNone/>
            </a:pPr>
            <a:r>
              <a:rPr lang="en-US" sz="1000" dirty="0">
                <a:solidFill>
                  <a:srgbClr val="6B6B6B"/>
                </a:solidFill>
                <a:latin typeface="Microsoft YaHei" pitchFamily="34" charset="0"/>
                <a:ea typeface="Microsoft YaHei" pitchFamily="34" charset="-122"/>
                <a:cs typeface="Microsoft YaHei" pitchFamily="34" charset="-120"/>
              </a:rPr>
              <a:t>工业设计学院  ·  张萌</a:t>
            </a:r>
            <a:endParaRPr lang="en-US" sz="1000" dirty="0"/>
          </a:p>
        </p:txBody>
      </p:sp>
      <p:sp>
        <p:nvSpPr>
          <p:cNvPr id="13" name="Shape 11"/>
          <p:cNvSpPr/>
          <p:nvPr/>
        </p:nvSpPr>
        <p:spPr>
          <a:xfrm>
            <a:off x="411480" y="4818888"/>
            <a:ext cx="77724" cy="77724"/>
          </a:xfrm>
          <a:prstGeom prst="ellipse">
            <a:avLst/>
          </a:prstGeom>
          <a:solidFill>
            <a:srgbClr val="4D49FC"/>
          </a:solidFill>
          <a:ln/>
        </p:spPr>
      </p:sp>
      <p:sp>
        <p:nvSpPr>
          <p:cNvPr id="14" name="Shape 12"/>
          <p:cNvSpPr/>
          <p:nvPr/>
        </p:nvSpPr>
        <p:spPr>
          <a:xfrm>
            <a:off x="507492" y="4818888"/>
            <a:ext cx="77724" cy="77724"/>
          </a:xfrm>
          <a:prstGeom prst="ellipse">
            <a:avLst/>
          </a:prstGeom>
          <a:solidFill>
            <a:srgbClr val="4D49FC"/>
          </a:solidFill>
          <a:ln/>
        </p:spPr>
      </p:sp>
      <p:sp>
        <p:nvSpPr>
          <p:cNvPr id="15" name="Shape 13"/>
          <p:cNvSpPr/>
          <p:nvPr/>
        </p:nvSpPr>
        <p:spPr>
          <a:xfrm>
            <a:off x="411480" y="4914900"/>
            <a:ext cx="77724" cy="77724"/>
          </a:xfrm>
          <a:prstGeom prst="ellipse">
            <a:avLst/>
          </a:prstGeom>
          <a:solidFill>
            <a:srgbClr val="4D49FC"/>
          </a:solidFill>
          <a:ln/>
        </p:spPr>
      </p:sp>
      <p:sp>
        <p:nvSpPr>
          <p:cNvPr id="16" name="Shape 14"/>
          <p:cNvSpPr/>
          <p:nvPr/>
        </p:nvSpPr>
        <p:spPr>
          <a:xfrm>
            <a:off x="507492" y="4914900"/>
            <a:ext cx="77724" cy="77724"/>
          </a:xfrm>
          <a:prstGeom prst="ellipse">
            <a:avLst/>
          </a:prstGeom>
          <a:solidFill>
            <a:srgbClr val="4D49F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&amp; Experience 材料研究与产品设计</dc:title>
  <dc:subject>PptxGenJS Presentation</dc:subject>
  <dc:creator>张萌</dc:creator>
  <cp:lastModifiedBy>张萌</cp:lastModifiedBy>
  <cp:revision>1</cp:revision>
  <dcterms:created xsi:type="dcterms:W3CDTF">2026-09-23T17:50:48Z</dcterms:created>
  <dcterms:modified xsi:type="dcterms:W3CDTF">2026-09-23T17:50:48Z</dcterms:modified>
</cp:coreProperties>
</file>