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本页为全课七种方法的回顾，每种方法后的一句话概括由整理时补充，便于课堂回顾，可按需修改。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jpe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MATERIALS &amp; EXPERIENCE  ·  材料研究与产品设计</a:t>
            </a:r>
            <a:endParaRPr lang="en-US" sz="800" dirty="0"/>
          </a:p>
        </p:txBody>
      </p:sp>
      <p:sp>
        <p:nvSpPr>
          <p:cNvPr id="3" name="Text 1"/>
          <p:cNvSpPr txBox="1"/>
          <p:nvPr/>
        </p:nvSpPr>
        <p:spPr>
          <a:xfrm>
            <a:off x="411480" y="502920"/>
            <a:ext cx="6583680" cy="1417320"/>
          </a:xfrm>
          <a:prstGeom prst="rect">
            <a:avLst/>
          </a:prstGeom>
          <a:noFill/>
          <a:ln/>
        </p:spPr>
        <p:txBody>
          <a:bodyPr wrap="square" lIns="0" tIns="0" rIns="0" bIns="0" rtlCol="0" anchor="t">
            <a:normAutofit/>
          </a:bodyPr>
          <a:lstStyle/>
          <a:p>
            <a:pPr indent="0" marL="0">
              <a:lnSpc>
                <a:spcPct val="95000"/>
              </a:lnSpc>
              <a:buNone/>
            </a:pPr>
            <a:r>
              <a:rPr lang="en-US" sz="5000" dirty="0">
                <a:solidFill>
                  <a:srgbClr val="111111"/>
                </a:solidFill>
                <a:latin typeface="Microsoft YaHei" pitchFamily="34" charset="0"/>
                <a:ea typeface="Microsoft YaHei" pitchFamily="34" charset="-122"/>
                <a:cs typeface="Microsoft YaHei" pitchFamily="34" charset="-120"/>
              </a:rPr>
              <a:t>用户研究方法（一）</a:t>
            </a:r>
            <a:endParaRPr lang="en-US" sz="5000" dirty="0"/>
          </a:p>
        </p:txBody>
      </p:sp>
      <p:sp>
        <p:nvSpPr>
          <p:cNvPr id="4" name="Text 2"/>
          <p:cNvSpPr txBox="1"/>
          <p:nvPr/>
        </p:nvSpPr>
        <p:spPr>
          <a:xfrm>
            <a:off x="411480" y="1874520"/>
            <a:ext cx="5943600" cy="365760"/>
          </a:xfrm>
          <a:prstGeom prst="rect">
            <a:avLst/>
          </a:prstGeom>
          <a:noFill/>
          <a:ln/>
        </p:spPr>
        <p:txBody>
          <a:bodyPr wrap="square" lIns="0" tIns="0" rIns="0" bIns="0" rtlCol="0" anchor="ctr"/>
          <a:lstStyle/>
          <a:p>
            <a:pPr indent="0" marL="0">
              <a:buNone/>
            </a:pPr>
            <a:r>
              <a:rPr lang="en-US" sz="1500" dirty="0">
                <a:solidFill>
                  <a:srgbClr val="111111"/>
                </a:solidFill>
                <a:latin typeface="Arial" pitchFamily="34" charset="0"/>
                <a:ea typeface="Arial" pitchFamily="34" charset="-122"/>
                <a:cs typeface="Arial" pitchFamily="34" charset="-120"/>
              </a:rPr>
              <a:t>User Research Methods · Part 1</a:t>
            </a:r>
            <a:endParaRPr lang="en-US" sz="1500" dirty="0"/>
          </a:p>
        </p:txBody>
      </p:sp>
      <p:pic>
        <p:nvPicPr>
          <p:cNvPr id="5" name="Image 0" descr="decorative collage">    </p:cNvPr>
          <p:cNvPicPr>
            <a:picLocks noChangeAspect="1"/>
          </p:cNvPicPr>
          <p:nvPr/>
        </p:nvPicPr>
        <p:blipFill>
          <a:blip r:embed="rId1"/>
          <a:stretch>
            <a:fillRect/>
          </a:stretch>
        </p:blipFill>
        <p:spPr>
          <a:xfrm>
            <a:off x="3869391" y="2514600"/>
            <a:ext cx="5274609" cy="2628900"/>
          </a:xfrm>
          <a:prstGeom prst="rect">
            <a:avLst/>
          </a:prstGeom>
        </p:spPr>
      </p:pic>
      <p:sp>
        <p:nvSpPr>
          <p:cNvPr id="6" name="Shape 3"/>
          <p:cNvSpPr/>
          <p:nvPr/>
        </p:nvSpPr>
        <p:spPr>
          <a:xfrm>
            <a:off x="411480" y="4270248"/>
            <a:ext cx="124358" cy="124358"/>
          </a:xfrm>
          <a:prstGeom prst="ellipse">
            <a:avLst/>
          </a:prstGeom>
          <a:solidFill>
            <a:srgbClr val="4D49FC"/>
          </a:solidFill>
          <a:ln/>
        </p:spPr>
      </p:sp>
      <p:sp>
        <p:nvSpPr>
          <p:cNvPr id="7" name="Shape 4"/>
          <p:cNvSpPr/>
          <p:nvPr/>
        </p:nvSpPr>
        <p:spPr>
          <a:xfrm>
            <a:off x="565099" y="4270248"/>
            <a:ext cx="124358" cy="124358"/>
          </a:xfrm>
          <a:prstGeom prst="ellipse">
            <a:avLst/>
          </a:prstGeom>
          <a:solidFill>
            <a:srgbClr val="4D49FC"/>
          </a:solidFill>
          <a:ln/>
        </p:spPr>
      </p:sp>
      <p:sp>
        <p:nvSpPr>
          <p:cNvPr id="8" name="Shape 5"/>
          <p:cNvSpPr/>
          <p:nvPr/>
        </p:nvSpPr>
        <p:spPr>
          <a:xfrm>
            <a:off x="411480" y="4423867"/>
            <a:ext cx="124358" cy="124358"/>
          </a:xfrm>
          <a:prstGeom prst="ellipse">
            <a:avLst/>
          </a:prstGeom>
          <a:solidFill>
            <a:srgbClr val="4D49FC"/>
          </a:solidFill>
          <a:ln/>
        </p:spPr>
      </p:sp>
      <p:sp>
        <p:nvSpPr>
          <p:cNvPr id="9" name="Shape 6"/>
          <p:cNvSpPr/>
          <p:nvPr/>
        </p:nvSpPr>
        <p:spPr>
          <a:xfrm>
            <a:off x="565099" y="4423867"/>
            <a:ext cx="124358" cy="124358"/>
          </a:xfrm>
          <a:prstGeom prst="ellipse">
            <a:avLst/>
          </a:prstGeom>
          <a:solidFill>
            <a:srgbClr val="4D49FC"/>
          </a:solidFill>
          <a:ln/>
        </p:spPr>
      </p:sp>
      <p:sp>
        <p:nvSpPr>
          <p:cNvPr id="10" name="Text 7"/>
          <p:cNvSpPr txBox="1"/>
          <p:nvPr/>
        </p:nvSpPr>
        <p:spPr>
          <a:xfrm>
            <a:off x="731520" y="4160520"/>
            <a:ext cx="2926080" cy="566928"/>
          </a:xfrm>
          <a:prstGeom prst="rect">
            <a:avLst/>
          </a:prstGeom>
          <a:noFill/>
          <a:ln/>
        </p:spPr>
        <p:txBody>
          <a:bodyPr wrap="square" lIns="0" tIns="0" rIns="0" bIns="0" rtlCol="0" anchor="ctr"/>
          <a:lstStyle/>
          <a:p>
            <a:pPr indent="0" marL="0">
              <a:lnSpc>
                <a:spcPct val="120000"/>
              </a:lnSpc>
              <a:buNone/>
            </a:pPr>
            <a:r>
              <a:rPr lang="en-US" sz="950" dirty="0">
                <a:solidFill>
                  <a:srgbClr val="111111"/>
                </a:solidFill>
                <a:latin typeface="Microsoft YaHei" pitchFamily="34" charset="0"/>
                <a:ea typeface="Microsoft YaHei" pitchFamily="34" charset="-122"/>
                <a:cs typeface="Microsoft YaHei" pitchFamily="34" charset="-120"/>
              </a:rPr>
              <a:t>湖北工业大学  工业设计学院</a:t>
            </a:r>
            <a:endParaRPr lang="en-US" sz="950" dirty="0"/>
          </a:p>
          <a:p>
            <a:pPr indent="0" marL="0">
              <a:lnSpc>
                <a:spcPct val="120000"/>
              </a:lnSpc>
              <a:buNone/>
            </a:pPr>
            <a:r>
              <a:rPr lang="en-US" sz="1300" dirty="0">
                <a:solidFill>
                  <a:srgbClr val="111111"/>
                </a:solidFill>
                <a:latin typeface="Microsoft YaHei" pitchFamily="34" charset="0"/>
                <a:ea typeface="Microsoft YaHei" pitchFamily="34" charset="-122"/>
                <a:cs typeface="Microsoft YaHei" pitchFamily="34" charset="-120"/>
              </a:rPr>
              <a:t>张萌</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目录</a:t>
            </a:r>
            <a:endParaRPr lang="en-US" sz="2400" dirty="0"/>
          </a:p>
        </p:txBody>
      </p:sp>
      <p:sp>
        <p:nvSpPr>
          <p:cNvPr id="3" name="Text 1"/>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Contents</a:t>
            </a:r>
            <a:endParaRPr lang="en-US" sz="950" dirty="0"/>
          </a:p>
        </p:txBody>
      </p:sp>
      <p:sp>
        <p:nvSpPr>
          <p:cNvPr id="4" name="Shape 2"/>
          <p:cNvSpPr/>
          <p:nvPr/>
        </p:nvSpPr>
        <p:spPr>
          <a:xfrm>
            <a:off x="411480" y="4818888"/>
            <a:ext cx="77724" cy="77724"/>
          </a:xfrm>
          <a:prstGeom prst="ellipse">
            <a:avLst/>
          </a:prstGeom>
          <a:solidFill>
            <a:srgbClr val="4D49FC"/>
          </a:solidFill>
          <a:ln/>
        </p:spPr>
      </p:sp>
      <p:sp>
        <p:nvSpPr>
          <p:cNvPr id="5" name="Shape 3"/>
          <p:cNvSpPr/>
          <p:nvPr/>
        </p:nvSpPr>
        <p:spPr>
          <a:xfrm>
            <a:off x="507492" y="4818888"/>
            <a:ext cx="77724" cy="77724"/>
          </a:xfrm>
          <a:prstGeom prst="ellipse">
            <a:avLst/>
          </a:prstGeom>
          <a:solidFill>
            <a:srgbClr val="4D49FC"/>
          </a:solidFill>
          <a:ln/>
        </p:spPr>
      </p:sp>
      <p:sp>
        <p:nvSpPr>
          <p:cNvPr id="6" name="Shape 4"/>
          <p:cNvSpPr/>
          <p:nvPr/>
        </p:nvSpPr>
        <p:spPr>
          <a:xfrm>
            <a:off x="411480" y="4914900"/>
            <a:ext cx="77724" cy="77724"/>
          </a:xfrm>
          <a:prstGeom prst="ellipse">
            <a:avLst/>
          </a:prstGeom>
          <a:solidFill>
            <a:srgbClr val="4D49FC"/>
          </a:solidFill>
          <a:ln/>
        </p:spPr>
      </p:sp>
      <p:sp>
        <p:nvSpPr>
          <p:cNvPr id="7" name="Shape 5"/>
          <p:cNvSpPr/>
          <p:nvPr/>
        </p:nvSpPr>
        <p:spPr>
          <a:xfrm>
            <a:off x="507492" y="4914900"/>
            <a:ext cx="77724" cy="77724"/>
          </a:xfrm>
          <a:prstGeom prst="ellipse">
            <a:avLst/>
          </a:prstGeom>
          <a:solidFill>
            <a:srgbClr val="4D49FC"/>
          </a:solidFill>
          <a:ln/>
        </p:spPr>
      </p:sp>
      <p:sp>
        <p:nvSpPr>
          <p:cNvPr id="8" name="Text 6"/>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9" name="Text 7"/>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02</a:t>
            </a:r>
            <a:endParaRPr lang="en-US" sz="750" dirty="0"/>
          </a:p>
        </p:txBody>
      </p:sp>
      <p:sp>
        <p:nvSpPr>
          <p:cNvPr id="10" name="Shape 8"/>
          <p:cNvSpPr/>
          <p:nvPr/>
        </p:nvSpPr>
        <p:spPr>
          <a:xfrm>
            <a:off x="411480" y="1188720"/>
            <a:ext cx="1110343" cy="3383280"/>
          </a:xfrm>
          <a:prstGeom prst="roundRect">
            <a:avLst>
              <a:gd name="adj" fmla="val 8235"/>
            </a:avLst>
          </a:prstGeom>
          <a:solidFill>
            <a:srgbClr val="C7F8FB"/>
          </a:solidFill>
          <a:ln/>
        </p:spPr>
      </p:sp>
      <p:sp>
        <p:nvSpPr>
          <p:cNvPr id="11" name="Text 9"/>
          <p:cNvSpPr txBox="1"/>
          <p:nvPr/>
        </p:nvSpPr>
        <p:spPr>
          <a:xfrm>
            <a:off x="548640" y="1325880"/>
            <a:ext cx="927463" cy="54864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01</a:t>
            </a:r>
            <a:endParaRPr lang="en-US" sz="2400" dirty="0"/>
          </a:p>
        </p:txBody>
      </p:sp>
      <p:sp>
        <p:nvSpPr>
          <p:cNvPr id="12" name="Text 10"/>
          <p:cNvSpPr txBox="1"/>
          <p:nvPr/>
        </p:nvSpPr>
        <p:spPr>
          <a:xfrm>
            <a:off x="548640" y="2651760"/>
            <a:ext cx="881743" cy="9144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观察法</a:t>
            </a:r>
            <a:endParaRPr lang="en-US" sz="1400" dirty="0"/>
          </a:p>
        </p:txBody>
      </p:sp>
      <p:sp>
        <p:nvSpPr>
          <p:cNvPr id="13" name="Text 11"/>
          <p:cNvSpPr txBox="1"/>
          <p:nvPr/>
        </p:nvSpPr>
        <p:spPr>
          <a:xfrm>
            <a:off x="548640" y="3703320"/>
            <a:ext cx="881743" cy="640080"/>
          </a:xfrm>
          <a:prstGeom prst="rect">
            <a:avLst/>
          </a:prstGeom>
          <a:noFill/>
          <a:ln/>
        </p:spPr>
        <p:txBody>
          <a:bodyPr wrap="square" lIns="0" tIns="0" rIns="0" bIns="0" rtlCol="0" anchor="t"/>
          <a:lstStyle/>
          <a:p>
            <a:pPr indent="0" marL="0">
              <a:buNone/>
            </a:pPr>
            <a:r>
              <a:rPr lang="en-US" sz="850" dirty="0">
                <a:solidFill>
                  <a:srgbClr val="111111"/>
                </a:solidFill>
                <a:latin typeface="Arial" pitchFamily="34" charset="0"/>
                <a:ea typeface="Arial" pitchFamily="34" charset="-122"/>
                <a:cs typeface="Arial" pitchFamily="34" charset="-120"/>
              </a:rPr>
              <a:t>Observation</a:t>
            </a:r>
            <a:endParaRPr lang="en-US" sz="850" dirty="0"/>
          </a:p>
        </p:txBody>
      </p:sp>
      <p:sp>
        <p:nvSpPr>
          <p:cNvPr id="14" name="Shape 12"/>
          <p:cNvSpPr/>
          <p:nvPr/>
        </p:nvSpPr>
        <p:spPr>
          <a:xfrm>
            <a:off x="1613263" y="1188720"/>
            <a:ext cx="1110343" cy="3383280"/>
          </a:xfrm>
          <a:prstGeom prst="roundRect">
            <a:avLst>
              <a:gd name="adj" fmla="val 8235"/>
            </a:avLst>
          </a:prstGeom>
          <a:solidFill>
            <a:srgbClr val="F4F4F4"/>
          </a:solidFill>
          <a:ln/>
        </p:spPr>
      </p:sp>
      <p:sp>
        <p:nvSpPr>
          <p:cNvPr id="15" name="Text 13"/>
          <p:cNvSpPr txBox="1"/>
          <p:nvPr/>
        </p:nvSpPr>
        <p:spPr>
          <a:xfrm>
            <a:off x="1750423" y="1325880"/>
            <a:ext cx="927463" cy="54864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02</a:t>
            </a:r>
            <a:endParaRPr lang="en-US" sz="2400" dirty="0"/>
          </a:p>
        </p:txBody>
      </p:sp>
      <p:sp>
        <p:nvSpPr>
          <p:cNvPr id="16" name="Text 14"/>
          <p:cNvSpPr txBox="1"/>
          <p:nvPr/>
        </p:nvSpPr>
        <p:spPr>
          <a:xfrm>
            <a:off x="1750423" y="2651760"/>
            <a:ext cx="881743" cy="9144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单人访谈法</a:t>
            </a:r>
            <a:endParaRPr lang="en-US" sz="1400" dirty="0"/>
          </a:p>
        </p:txBody>
      </p:sp>
      <p:sp>
        <p:nvSpPr>
          <p:cNvPr id="17" name="Text 15"/>
          <p:cNvSpPr txBox="1"/>
          <p:nvPr/>
        </p:nvSpPr>
        <p:spPr>
          <a:xfrm>
            <a:off x="1750423" y="3703320"/>
            <a:ext cx="881743" cy="640080"/>
          </a:xfrm>
          <a:prstGeom prst="rect">
            <a:avLst/>
          </a:prstGeom>
          <a:noFill/>
          <a:ln/>
        </p:spPr>
        <p:txBody>
          <a:bodyPr wrap="square" lIns="0" tIns="0" rIns="0" bIns="0" rtlCol="0" anchor="t"/>
          <a:lstStyle/>
          <a:p>
            <a:pPr indent="0" marL="0">
              <a:buNone/>
            </a:pPr>
            <a:r>
              <a:rPr lang="en-US" sz="850" dirty="0">
                <a:solidFill>
                  <a:srgbClr val="111111"/>
                </a:solidFill>
                <a:latin typeface="Arial" pitchFamily="34" charset="0"/>
                <a:ea typeface="Arial" pitchFamily="34" charset="-122"/>
                <a:cs typeface="Arial" pitchFamily="34" charset="-120"/>
              </a:rPr>
              <a:t>In-depth Interview</a:t>
            </a:r>
            <a:endParaRPr lang="en-US" sz="850" dirty="0"/>
          </a:p>
        </p:txBody>
      </p:sp>
      <p:sp>
        <p:nvSpPr>
          <p:cNvPr id="18" name="Shape 16"/>
          <p:cNvSpPr/>
          <p:nvPr/>
        </p:nvSpPr>
        <p:spPr>
          <a:xfrm>
            <a:off x="2815046" y="1188720"/>
            <a:ext cx="1110343" cy="3383280"/>
          </a:xfrm>
          <a:prstGeom prst="roundRect">
            <a:avLst>
              <a:gd name="adj" fmla="val 8235"/>
            </a:avLst>
          </a:prstGeom>
          <a:solidFill>
            <a:srgbClr val="EBEBEB"/>
          </a:solidFill>
          <a:ln/>
        </p:spPr>
      </p:sp>
      <p:sp>
        <p:nvSpPr>
          <p:cNvPr id="19" name="Text 17"/>
          <p:cNvSpPr txBox="1"/>
          <p:nvPr/>
        </p:nvSpPr>
        <p:spPr>
          <a:xfrm>
            <a:off x="2952206" y="1325880"/>
            <a:ext cx="927463" cy="54864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03</a:t>
            </a:r>
            <a:endParaRPr lang="en-US" sz="2400" dirty="0"/>
          </a:p>
        </p:txBody>
      </p:sp>
      <p:sp>
        <p:nvSpPr>
          <p:cNvPr id="20" name="Text 18"/>
          <p:cNvSpPr txBox="1"/>
          <p:nvPr/>
        </p:nvSpPr>
        <p:spPr>
          <a:xfrm>
            <a:off x="2952206" y="2651760"/>
            <a:ext cx="881743" cy="9144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焦点小组</a:t>
            </a:r>
            <a:endParaRPr lang="en-US" sz="1400" dirty="0"/>
          </a:p>
        </p:txBody>
      </p:sp>
      <p:sp>
        <p:nvSpPr>
          <p:cNvPr id="21" name="Text 19"/>
          <p:cNvSpPr txBox="1"/>
          <p:nvPr/>
        </p:nvSpPr>
        <p:spPr>
          <a:xfrm>
            <a:off x="2952206" y="3703320"/>
            <a:ext cx="881743" cy="640080"/>
          </a:xfrm>
          <a:prstGeom prst="rect">
            <a:avLst/>
          </a:prstGeom>
          <a:noFill/>
          <a:ln/>
        </p:spPr>
        <p:txBody>
          <a:bodyPr wrap="square" lIns="0" tIns="0" rIns="0" bIns="0" rtlCol="0" anchor="t"/>
          <a:lstStyle/>
          <a:p>
            <a:pPr indent="0" marL="0">
              <a:buNone/>
            </a:pPr>
            <a:r>
              <a:rPr lang="en-US" sz="850" dirty="0">
                <a:solidFill>
                  <a:srgbClr val="111111"/>
                </a:solidFill>
                <a:latin typeface="Arial" pitchFamily="34" charset="0"/>
                <a:ea typeface="Arial" pitchFamily="34" charset="-122"/>
                <a:cs typeface="Arial" pitchFamily="34" charset="-120"/>
              </a:rPr>
              <a:t>Focus Group</a:t>
            </a:r>
            <a:endParaRPr lang="en-US" sz="850" dirty="0"/>
          </a:p>
        </p:txBody>
      </p:sp>
      <p:sp>
        <p:nvSpPr>
          <p:cNvPr id="22" name="Shape 20"/>
          <p:cNvSpPr/>
          <p:nvPr/>
        </p:nvSpPr>
        <p:spPr>
          <a:xfrm>
            <a:off x="4016829" y="1188720"/>
            <a:ext cx="1110343" cy="3383280"/>
          </a:xfrm>
          <a:prstGeom prst="roundRect">
            <a:avLst>
              <a:gd name="adj" fmla="val 8235"/>
            </a:avLst>
          </a:prstGeom>
          <a:solidFill>
            <a:srgbClr val="111111"/>
          </a:solidFill>
          <a:ln/>
        </p:spPr>
      </p:sp>
      <p:sp>
        <p:nvSpPr>
          <p:cNvPr id="23" name="Text 21"/>
          <p:cNvSpPr txBox="1"/>
          <p:nvPr/>
        </p:nvSpPr>
        <p:spPr>
          <a:xfrm>
            <a:off x="4153989" y="1325880"/>
            <a:ext cx="927463" cy="548640"/>
          </a:xfrm>
          <a:prstGeom prst="rect">
            <a:avLst/>
          </a:prstGeom>
          <a:noFill/>
          <a:ln/>
        </p:spPr>
        <p:txBody>
          <a:bodyPr wrap="square" lIns="0" tIns="0" rIns="0" bIns="0" rtlCol="0" anchor="t"/>
          <a:lstStyle/>
          <a:p>
            <a:pPr indent="0" marL="0">
              <a:buNone/>
            </a:pPr>
            <a:r>
              <a:rPr lang="en-US" sz="2400" b="1" dirty="0">
                <a:solidFill>
                  <a:srgbClr val="C7F8FB"/>
                </a:solidFill>
                <a:latin typeface="Arial" pitchFamily="34" charset="0"/>
                <a:ea typeface="Arial" pitchFamily="34" charset="-122"/>
                <a:cs typeface="Arial" pitchFamily="34" charset="-120"/>
              </a:rPr>
              <a:t>04</a:t>
            </a:r>
            <a:endParaRPr lang="en-US" sz="2400" dirty="0"/>
          </a:p>
        </p:txBody>
      </p:sp>
      <p:sp>
        <p:nvSpPr>
          <p:cNvPr id="24" name="Text 22"/>
          <p:cNvSpPr txBox="1"/>
          <p:nvPr/>
        </p:nvSpPr>
        <p:spPr>
          <a:xfrm>
            <a:off x="4153989" y="2651760"/>
            <a:ext cx="881743" cy="91440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问卷法</a:t>
            </a:r>
            <a:endParaRPr lang="en-US" sz="1400" dirty="0"/>
          </a:p>
        </p:txBody>
      </p:sp>
      <p:sp>
        <p:nvSpPr>
          <p:cNvPr id="25" name="Text 23"/>
          <p:cNvSpPr txBox="1"/>
          <p:nvPr/>
        </p:nvSpPr>
        <p:spPr>
          <a:xfrm>
            <a:off x="4153989" y="3703320"/>
            <a:ext cx="881743" cy="640080"/>
          </a:xfrm>
          <a:prstGeom prst="rect">
            <a:avLst/>
          </a:prstGeom>
          <a:noFill/>
          <a:ln/>
        </p:spPr>
        <p:txBody>
          <a:bodyPr wrap="square" lIns="0" tIns="0" rIns="0" bIns="0" rtlCol="0" anchor="t"/>
          <a:lstStyle/>
          <a:p>
            <a:pPr indent="0" marL="0">
              <a:buNone/>
            </a:pPr>
            <a:r>
              <a:rPr lang="en-US" sz="850" dirty="0">
                <a:solidFill>
                  <a:srgbClr val="FFFFFF"/>
                </a:solidFill>
                <a:latin typeface="Arial" pitchFamily="34" charset="0"/>
                <a:ea typeface="Arial" pitchFamily="34" charset="-122"/>
                <a:cs typeface="Arial" pitchFamily="34" charset="-120"/>
              </a:rPr>
              <a:t>Questionnaire</a:t>
            </a:r>
            <a:endParaRPr lang="en-US" sz="850" dirty="0"/>
          </a:p>
        </p:txBody>
      </p:sp>
      <p:sp>
        <p:nvSpPr>
          <p:cNvPr id="26" name="Shape 24"/>
          <p:cNvSpPr/>
          <p:nvPr/>
        </p:nvSpPr>
        <p:spPr>
          <a:xfrm>
            <a:off x="5218611" y="1188720"/>
            <a:ext cx="1110343" cy="3383280"/>
          </a:xfrm>
          <a:prstGeom prst="roundRect">
            <a:avLst>
              <a:gd name="adj" fmla="val 8235"/>
            </a:avLst>
          </a:prstGeom>
          <a:solidFill>
            <a:srgbClr val="F4F4F4"/>
          </a:solidFill>
          <a:ln/>
        </p:spPr>
      </p:sp>
      <p:sp>
        <p:nvSpPr>
          <p:cNvPr id="27" name="Text 25"/>
          <p:cNvSpPr txBox="1"/>
          <p:nvPr/>
        </p:nvSpPr>
        <p:spPr>
          <a:xfrm>
            <a:off x="5355771" y="1325880"/>
            <a:ext cx="927463" cy="54864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05</a:t>
            </a:r>
            <a:endParaRPr lang="en-US" sz="2400" dirty="0"/>
          </a:p>
        </p:txBody>
      </p:sp>
      <p:sp>
        <p:nvSpPr>
          <p:cNvPr id="28" name="Text 26"/>
          <p:cNvSpPr txBox="1"/>
          <p:nvPr/>
        </p:nvSpPr>
        <p:spPr>
          <a:xfrm>
            <a:off x="5355771" y="2651760"/>
            <a:ext cx="881743" cy="9144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头脑风暴法</a:t>
            </a:r>
            <a:endParaRPr lang="en-US" sz="1400" dirty="0"/>
          </a:p>
        </p:txBody>
      </p:sp>
      <p:sp>
        <p:nvSpPr>
          <p:cNvPr id="29" name="Text 27"/>
          <p:cNvSpPr txBox="1"/>
          <p:nvPr/>
        </p:nvSpPr>
        <p:spPr>
          <a:xfrm>
            <a:off x="5355771" y="3703320"/>
            <a:ext cx="881743" cy="640080"/>
          </a:xfrm>
          <a:prstGeom prst="rect">
            <a:avLst/>
          </a:prstGeom>
          <a:noFill/>
          <a:ln/>
        </p:spPr>
        <p:txBody>
          <a:bodyPr wrap="square" lIns="0" tIns="0" rIns="0" bIns="0" rtlCol="0" anchor="t"/>
          <a:lstStyle/>
          <a:p>
            <a:pPr indent="0" marL="0">
              <a:buNone/>
            </a:pPr>
            <a:r>
              <a:rPr lang="en-US" sz="850" dirty="0">
                <a:solidFill>
                  <a:srgbClr val="111111"/>
                </a:solidFill>
                <a:latin typeface="Arial" pitchFamily="34" charset="0"/>
                <a:ea typeface="Arial" pitchFamily="34" charset="-122"/>
                <a:cs typeface="Arial" pitchFamily="34" charset="-120"/>
              </a:rPr>
              <a:t>Brainstorming</a:t>
            </a:r>
            <a:endParaRPr lang="en-US" sz="850" dirty="0"/>
          </a:p>
        </p:txBody>
      </p:sp>
      <p:sp>
        <p:nvSpPr>
          <p:cNvPr id="30" name="Shape 28"/>
          <p:cNvSpPr/>
          <p:nvPr/>
        </p:nvSpPr>
        <p:spPr>
          <a:xfrm>
            <a:off x="6420394" y="1188720"/>
            <a:ext cx="1110343" cy="3383280"/>
          </a:xfrm>
          <a:prstGeom prst="roundRect">
            <a:avLst>
              <a:gd name="adj" fmla="val 8235"/>
            </a:avLst>
          </a:prstGeom>
          <a:solidFill>
            <a:srgbClr val="EBEBEB"/>
          </a:solidFill>
          <a:ln/>
        </p:spPr>
      </p:sp>
      <p:sp>
        <p:nvSpPr>
          <p:cNvPr id="31" name="Text 29"/>
          <p:cNvSpPr txBox="1"/>
          <p:nvPr/>
        </p:nvSpPr>
        <p:spPr>
          <a:xfrm>
            <a:off x="6557554" y="1325880"/>
            <a:ext cx="927463" cy="54864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06</a:t>
            </a:r>
            <a:endParaRPr lang="en-US" sz="2400" dirty="0"/>
          </a:p>
        </p:txBody>
      </p:sp>
      <p:sp>
        <p:nvSpPr>
          <p:cNvPr id="32" name="Text 30"/>
          <p:cNvSpPr txBox="1"/>
          <p:nvPr/>
        </p:nvSpPr>
        <p:spPr>
          <a:xfrm>
            <a:off x="6557554" y="2651760"/>
            <a:ext cx="881743" cy="9144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自我陈述法</a:t>
            </a:r>
            <a:endParaRPr lang="en-US" sz="1400" dirty="0"/>
          </a:p>
        </p:txBody>
      </p:sp>
      <p:sp>
        <p:nvSpPr>
          <p:cNvPr id="33" name="Text 31"/>
          <p:cNvSpPr txBox="1"/>
          <p:nvPr/>
        </p:nvSpPr>
        <p:spPr>
          <a:xfrm>
            <a:off x="6557554" y="3703320"/>
            <a:ext cx="881743" cy="640080"/>
          </a:xfrm>
          <a:prstGeom prst="rect">
            <a:avLst/>
          </a:prstGeom>
          <a:noFill/>
          <a:ln/>
        </p:spPr>
        <p:txBody>
          <a:bodyPr wrap="square" lIns="0" tIns="0" rIns="0" bIns="0" rtlCol="0" anchor="t"/>
          <a:lstStyle/>
          <a:p>
            <a:pPr indent="0" marL="0">
              <a:buNone/>
            </a:pPr>
            <a:r>
              <a:rPr lang="en-US" sz="850" dirty="0">
                <a:solidFill>
                  <a:srgbClr val="111111"/>
                </a:solidFill>
                <a:latin typeface="Arial" pitchFamily="34" charset="0"/>
                <a:ea typeface="Arial" pitchFamily="34" charset="-122"/>
                <a:cs typeface="Arial" pitchFamily="34" charset="-120"/>
              </a:rPr>
              <a:t>Self-report / Diary</a:t>
            </a:r>
            <a:endParaRPr lang="en-US" sz="850" dirty="0"/>
          </a:p>
        </p:txBody>
      </p:sp>
      <p:sp>
        <p:nvSpPr>
          <p:cNvPr id="34" name="Shape 32"/>
          <p:cNvSpPr/>
          <p:nvPr/>
        </p:nvSpPr>
        <p:spPr>
          <a:xfrm>
            <a:off x="7622177" y="1188720"/>
            <a:ext cx="1110343" cy="3383280"/>
          </a:xfrm>
          <a:prstGeom prst="roundRect">
            <a:avLst>
              <a:gd name="adj" fmla="val 8235"/>
            </a:avLst>
          </a:prstGeom>
          <a:solidFill>
            <a:srgbClr val="C7F8FB"/>
          </a:solidFill>
          <a:ln/>
        </p:spPr>
      </p:sp>
      <p:sp>
        <p:nvSpPr>
          <p:cNvPr id="35" name="Text 33"/>
          <p:cNvSpPr txBox="1"/>
          <p:nvPr/>
        </p:nvSpPr>
        <p:spPr>
          <a:xfrm>
            <a:off x="7759337" y="1325880"/>
            <a:ext cx="927463" cy="54864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07</a:t>
            </a:r>
            <a:endParaRPr lang="en-US" sz="2400" dirty="0"/>
          </a:p>
        </p:txBody>
      </p:sp>
      <p:sp>
        <p:nvSpPr>
          <p:cNvPr id="36" name="Text 34"/>
          <p:cNvSpPr txBox="1"/>
          <p:nvPr/>
        </p:nvSpPr>
        <p:spPr>
          <a:xfrm>
            <a:off x="7759337" y="2651760"/>
            <a:ext cx="881743" cy="9144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现场试验法</a:t>
            </a:r>
            <a:endParaRPr lang="en-US" sz="1400" dirty="0"/>
          </a:p>
        </p:txBody>
      </p:sp>
      <p:sp>
        <p:nvSpPr>
          <p:cNvPr id="37" name="Text 35"/>
          <p:cNvSpPr txBox="1"/>
          <p:nvPr/>
        </p:nvSpPr>
        <p:spPr>
          <a:xfrm>
            <a:off x="7759337" y="3703320"/>
            <a:ext cx="881743" cy="640080"/>
          </a:xfrm>
          <a:prstGeom prst="rect">
            <a:avLst/>
          </a:prstGeom>
          <a:noFill/>
          <a:ln/>
        </p:spPr>
        <p:txBody>
          <a:bodyPr wrap="square" lIns="0" tIns="0" rIns="0" bIns="0" rtlCol="0" anchor="t"/>
          <a:lstStyle/>
          <a:p>
            <a:pPr indent="0" marL="0">
              <a:buNone/>
            </a:pPr>
            <a:r>
              <a:rPr lang="en-US" sz="850" dirty="0">
                <a:solidFill>
                  <a:srgbClr val="111111"/>
                </a:solidFill>
                <a:latin typeface="Arial" pitchFamily="34" charset="0"/>
                <a:ea typeface="Arial" pitchFamily="34" charset="-122"/>
                <a:cs typeface="Arial" pitchFamily="34" charset="-120"/>
              </a:rPr>
              <a:t>Field Experiment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PART 01</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观察法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Observation</a:t>
            </a:r>
            <a:endParaRPr lang="en-US" sz="1400" dirty="0"/>
          </a:p>
        </p:txBody>
      </p:sp>
      <p:sp>
        <p:nvSpPr>
          <p:cNvPr id="5" name="Shape 3"/>
          <p:cNvSpPr/>
          <p:nvPr/>
        </p:nvSpPr>
        <p:spPr>
          <a:xfrm>
            <a:off x="411480" y="2011680"/>
            <a:ext cx="457200" cy="603504"/>
          </a:xfrm>
          <a:prstGeom prst="rect">
            <a:avLst/>
          </a:prstGeom>
          <a:solidFill>
            <a:srgbClr val="C7F8FB"/>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什么是观察法</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观察法的4个维度</a:t>
            </a:r>
            <a:endParaRPr lang="en-US" sz="950" dirty="0"/>
          </a:p>
        </p:txBody>
      </p:sp>
      <p:sp>
        <p:nvSpPr>
          <p:cNvPr id="10" name="Shape 8"/>
          <p:cNvSpPr/>
          <p:nvPr/>
        </p:nvSpPr>
        <p:spPr>
          <a:xfrm>
            <a:off x="411480" y="2706624"/>
            <a:ext cx="457200" cy="457200"/>
          </a:xfrm>
          <a:prstGeom prst="rect">
            <a:avLst/>
          </a:prstGeom>
          <a:solidFill>
            <a:srgbClr val="FFC9C1"/>
          </a:solidFill>
          <a:ln/>
        </p:spPr>
      </p:sp>
      <p:sp>
        <p:nvSpPr>
          <p:cNvPr id="11" name="Text 9"/>
          <p:cNvSpPr txBox="1"/>
          <p:nvPr/>
        </p:nvSpPr>
        <p:spPr>
          <a:xfrm>
            <a:off x="411480" y="270662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457200"/>
          </a:xfrm>
          <a:prstGeom prst="rect">
            <a:avLst/>
          </a:prstGeom>
          <a:solidFill>
            <a:srgbClr val="F4F4F4"/>
          </a:solidFill>
          <a:ln/>
        </p:spPr>
      </p:sp>
      <p:sp>
        <p:nvSpPr>
          <p:cNvPr id="13" name="Text 11"/>
          <p:cNvSpPr txBox="1"/>
          <p:nvPr/>
        </p:nvSpPr>
        <p:spPr>
          <a:xfrm>
            <a:off x="1097280" y="270662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观察法的步骤</a:t>
            </a:r>
            <a:endParaRPr lang="en-US" sz="1350" dirty="0"/>
          </a:p>
        </p:txBody>
      </p:sp>
      <p:sp>
        <p:nvSpPr>
          <p:cNvPr id="14" name="Shape 12"/>
          <p:cNvSpPr/>
          <p:nvPr/>
        </p:nvSpPr>
        <p:spPr>
          <a:xfrm>
            <a:off x="411480" y="3255264"/>
            <a:ext cx="457200" cy="457200"/>
          </a:xfrm>
          <a:prstGeom prst="rect">
            <a:avLst/>
          </a:prstGeom>
          <a:solidFill>
            <a:srgbClr val="D9D4FF"/>
          </a:solidFill>
          <a:ln/>
        </p:spPr>
      </p:sp>
      <p:sp>
        <p:nvSpPr>
          <p:cNvPr id="15" name="Text 13"/>
          <p:cNvSpPr txBox="1"/>
          <p:nvPr/>
        </p:nvSpPr>
        <p:spPr>
          <a:xfrm>
            <a:off x="411480" y="325526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457200"/>
          </a:xfrm>
          <a:prstGeom prst="rect">
            <a:avLst/>
          </a:prstGeom>
          <a:solidFill>
            <a:srgbClr val="F4F4F4"/>
          </a:solidFill>
          <a:ln/>
        </p:spPr>
      </p:sp>
      <p:sp>
        <p:nvSpPr>
          <p:cNvPr id="17" name="Text 15"/>
          <p:cNvSpPr txBox="1"/>
          <p:nvPr/>
        </p:nvSpPr>
        <p:spPr>
          <a:xfrm>
            <a:off x="1097280" y="325526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观察法的优缺点</a:t>
            </a:r>
            <a:endParaRPr lang="en-US" sz="1350" dirty="0"/>
          </a:p>
        </p:txBody>
      </p:sp>
      <p:sp>
        <p:nvSpPr>
          <p:cNvPr id="18" name="Shape 16"/>
          <p:cNvSpPr/>
          <p:nvPr/>
        </p:nvSpPr>
        <p:spPr>
          <a:xfrm>
            <a:off x="411480" y="3803904"/>
            <a:ext cx="457200" cy="457200"/>
          </a:xfrm>
          <a:prstGeom prst="rect">
            <a:avLst/>
          </a:prstGeom>
          <a:solidFill>
            <a:srgbClr val="C9F5C0"/>
          </a:solidFill>
          <a:ln/>
        </p:spPr>
      </p:sp>
      <p:sp>
        <p:nvSpPr>
          <p:cNvPr id="19" name="Text 17"/>
          <p:cNvSpPr txBox="1"/>
          <p:nvPr/>
        </p:nvSpPr>
        <p:spPr>
          <a:xfrm>
            <a:off x="411480" y="380390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20" name="Shape 18"/>
          <p:cNvSpPr/>
          <p:nvPr/>
        </p:nvSpPr>
        <p:spPr>
          <a:xfrm>
            <a:off x="941832" y="3803904"/>
            <a:ext cx="4343400" cy="457200"/>
          </a:xfrm>
          <a:prstGeom prst="rect">
            <a:avLst/>
          </a:prstGeom>
          <a:solidFill>
            <a:srgbClr val="F4F4F4"/>
          </a:solidFill>
          <a:ln/>
        </p:spPr>
      </p:sp>
      <p:sp>
        <p:nvSpPr>
          <p:cNvPr id="21" name="Text 19"/>
          <p:cNvSpPr txBox="1"/>
          <p:nvPr/>
        </p:nvSpPr>
        <p:spPr>
          <a:xfrm>
            <a:off x="1097280" y="380390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应用案例：上海地铁使用者需求研究</a:t>
            </a:r>
            <a:endParaRPr lang="en-US" sz="1350" dirty="0"/>
          </a:p>
        </p:txBody>
      </p:sp>
      <p:sp>
        <p:nvSpPr>
          <p:cNvPr id="22" name="Shape 20"/>
          <p:cNvSpPr/>
          <p:nvPr/>
        </p:nvSpPr>
        <p:spPr>
          <a:xfrm>
            <a:off x="411480" y="4818888"/>
            <a:ext cx="77724" cy="77724"/>
          </a:xfrm>
          <a:prstGeom prst="ellipse">
            <a:avLst/>
          </a:prstGeom>
          <a:solidFill>
            <a:srgbClr val="4D49FC"/>
          </a:solidFill>
          <a:ln/>
        </p:spPr>
      </p:sp>
      <p:sp>
        <p:nvSpPr>
          <p:cNvPr id="23" name="Shape 21"/>
          <p:cNvSpPr/>
          <p:nvPr/>
        </p:nvSpPr>
        <p:spPr>
          <a:xfrm>
            <a:off x="507492" y="4818888"/>
            <a:ext cx="77724" cy="77724"/>
          </a:xfrm>
          <a:prstGeom prst="ellipse">
            <a:avLst/>
          </a:prstGeom>
          <a:solidFill>
            <a:srgbClr val="4D49FC"/>
          </a:solidFill>
          <a:ln/>
        </p:spPr>
      </p:sp>
      <p:sp>
        <p:nvSpPr>
          <p:cNvPr id="24" name="Shape 22"/>
          <p:cNvSpPr/>
          <p:nvPr/>
        </p:nvSpPr>
        <p:spPr>
          <a:xfrm>
            <a:off x="411480" y="4914900"/>
            <a:ext cx="77724" cy="77724"/>
          </a:xfrm>
          <a:prstGeom prst="ellipse">
            <a:avLst/>
          </a:prstGeom>
          <a:solidFill>
            <a:srgbClr val="4D49FC"/>
          </a:solidFill>
          <a:ln/>
        </p:spPr>
      </p:sp>
      <p:sp>
        <p:nvSpPr>
          <p:cNvPr id="25" name="Shape 23"/>
          <p:cNvSpPr/>
          <p:nvPr/>
        </p:nvSpPr>
        <p:spPr>
          <a:xfrm>
            <a:off x="507492" y="4914900"/>
            <a:ext cx="77724" cy="77724"/>
          </a:xfrm>
          <a:prstGeom prst="ellipse">
            <a:avLst/>
          </a:prstGeom>
          <a:solidFill>
            <a:srgbClr val="4D49FC"/>
          </a:solidFill>
          <a:ln/>
        </p:spPr>
      </p:sp>
      <p:sp>
        <p:nvSpPr>
          <p:cNvPr id="26" name="Text 24"/>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7" name="Text 25"/>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03</a:t>
            </a:r>
            <a:endParaRPr lang="en-US" sz="750" dirty="0"/>
          </a:p>
        </p:txBody>
      </p:sp>
      <p:pic>
        <p:nvPicPr>
          <p:cNvPr id="28" name="Image 0" descr="decorative collage">    </p:cNvPr>
          <p:cNvPicPr>
            <a:picLocks noChangeAspect="1"/>
          </p:cNvPicPr>
          <p:nvPr/>
        </p:nvPicPr>
        <p:blipFill>
          <a:blip r:embed="rId1"/>
          <a:stretch>
            <a:fillRect/>
          </a:stretch>
        </p:blipFill>
        <p:spPr>
          <a:xfrm>
            <a:off x="5740514" y="1783080"/>
            <a:ext cx="2992006" cy="2926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观察法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什么是观察法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is Observation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04</a:t>
            </a:r>
            <a:endParaRPr lang="en-US" sz="750" dirty="0"/>
          </a:p>
        </p:txBody>
      </p:sp>
      <p:sp>
        <p:nvSpPr>
          <p:cNvPr id="11" name="Shape 9"/>
          <p:cNvSpPr/>
          <p:nvPr/>
        </p:nvSpPr>
        <p:spPr>
          <a:xfrm>
            <a:off x="411480" y="1188720"/>
            <a:ext cx="2926080" cy="3383280"/>
          </a:xfrm>
          <a:prstGeom prst="roundRect">
            <a:avLst>
              <a:gd name="adj" fmla="val 3125"/>
            </a:avLst>
          </a:prstGeom>
          <a:solidFill>
            <a:srgbClr val="C7F8FB"/>
          </a:solidFill>
          <a:ln/>
        </p:spPr>
      </p:sp>
      <p:sp>
        <p:nvSpPr>
          <p:cNvPr id="12" name="Text 10"/>
          <p:cNvSpPr txBox="1"/>
          <p:nvPr/>
        </p:nvSpPr>
        <p:spPr>
          <a:xfrm>
            <a:off x="640080" y="1371600"/>
            <a:ext cx="2560320" cy="548640"/>
          </a:xfrm>
          <a:prstGeom prst="rect">
            <a:avLst/>
          </a:prstGeom>
          <a:noFill/>
          <a:ln/>
        </p:spPr>
        <p:txBody>
          <a:bodyPr wrap="square" lIns="0" tIns="0" rIns="0" bIns="0" rtlCol="0" anchor="t"/>
          <a:lstStyle/>
          <a:p>
            <a:pPr indent="0" marL="0">
              <a:buNone/>
            </a:pPr>
            <a:r>
              <a:rPr lang="en-US" sz="2400" b="1" dirty="0">
                <a:solidFill>
                  <a:srgbClr val="111111"/>
                </a:solidFill>
                <a:latin typeface="Microsoft YaHei" pitchFamily="34" charset="0"/>
                <a:ea typeface="Microsoft YaHei" pitchFamily="34" charset="-122"/>
                <a:cs typeface="Microsoft YaHei" pitchFamily="34" charset="-120"/>
              </a:rPr>
              <a:t>观察法</a:t>
            </a:r>
            <a:endParaRPr lang="en-US" sz="2400" dirty="0"/>
          </a:p>
        </p:txBody>
      </p:sp>
      <p:sp>
        <p:nvSpPr>
          <p:cNvPr id="13" name="Text 11"/>
          <p:cNvSpPr txBox="1"/>
          <p:nvPr/>
        </p:nvSpPr>
        <p:spPr>
          <a:xfrm>
            <a:off x="640080" y="2057400"/>
            <a:ext cx="2514600" cy="2423160"/>
          </a:xfrm>
          <a:prstGeom prst="rect">
            <a:avLst/>
          </a:prstGeom>
          <a:noFill/>
          <a:ln/>
        </p:spPr>
        <p:txBody>
          <a:bodyPr wrap="square" lIns="0" tIns="0" rIns="0" bIns="0" rtlCol="0" anchor="t"/>
          <a:lstStyle/>
          <a:p>
            <a:pPr indent="0" marL="0">
              <a:lnSpc>
                <a:spcPct val="145000"/>
              </a:lnSpc>
              <a:buNone/>
            </a:pPr>
            <a:r>
              <a:rPr lang="en-US" sz="1150" dirty="0">
                <a:solidFill>
                  <a:srgbClr val="111111"/>
                </a:solidFill>
                <a:latin typeface="Microsoft YaHei" pitchFamily="34" charset="0"/>
                <a:ea typeface="Microsoft YaHei" pitchFamily="34" charset="-122"/>
                <a:cs typeface="Microsoft YaHei" pitchFamily="34" charset="-120"/>
              </a:rPr>
              <a:t>通过直接观察用户行为来获取真实的用户体验数据，不依赖用户的自我报告，从而避免了主观反馈中的偏差。这种方法能够让研究者在自然情境中捕捉用户行为，为设计决策提供数据支持。</a:t>
            </a:r>
            <a:endParaRPr lang="en-US" sz="1150" dirty="0"/>
          </a:p>
        </p:txBody>
      </p:sp>
      <p:sp>
        <p:nvSpPr>
          <p:cNvPr id="14" name="Text 12"/>
          <p:cNvSpPr txBox="1"/>
          <p:nvPr/>
        </p:nvSpPr>
        <p:spPr>
          <a:xfrm>
            <a:off x="3474720" y="1097280"/>
            <a:ext cx="5212080" cy="274320"/>
          </a:xfrm>
          <a:prstGeom prst="rect">
            <a:avLst/>
          </a:prstGeom>
          <a:noFill/>
          <a:ln/>
        </p:spPr>
        <p:txBody>
          <a:bodyPr wrap="square" lIns="0" tIns="0" rIns="0" bIns="0" rtlCol="0" anchor="t"/>
          <a:lstStyle/>
          <a:p>
            <a:pPr indent="0" marL="0">
              <a:buNone/>
            </a:pPr>
            <a:r>
              <a:rPr lang="en-US" sz="1100" b="1" dirty="0">
                <a:solidFill>
                  <a:srgbClr val="6B6B6B"/>
                </a:solidFill>
                <a:latin typeface="Microsoft YaHei" pitchFamily="34" charset="0"/>
                <a:ea typeface="Microsoft YaHei" pitchFamily="34" charset="-122"/>
                <a:cs typeface="Microsoft YaHei" pitchFamily="34" charset="-120"/>
              </a:rPr>
              <a:t>观察法的 4 个维度</a:t>
            </a:r>
            <a:endParaRPr lang="en-US" sz="1100" dirty="0"/>
          </a:p>
        </p:txBody>
      </p:sp>
      <p:sp>
        <p:nvSpPr>
          <p:cNvPr id="15" name="Shape 13"/>
          <p:cNvSpPr/>
          <p:nvPr/>
        </p:nvSpPr>
        <p:spPr>
          <a:xfrm>
            <a:off x="3474720" y="1463040"/>
            <a:ext cx="2574036" cy="1499616"/>
          </a:xfrm>
          <a:prstGeom prst="roundRect">
            <a:avLst>
              <a:gd name="adj" fmla="val 6098"/>
            </a:avLst>
          </a:prstGeom>
          <a:solidFill>
            <a:srgbClr val="F4F4F4"/>
          </a:solidFill>
          <a:ln/>
        </p:spPr>
      </p:sp>
      <p:sp>
        <p:nvSpPr>
          <p:cNvPr id="16" name="Text 14"/>
          <p:cNvSpPr txBox="1"/>
          <p:nvPr/>
        </p:nvSpPr>
        <p:spPr>
          <a:xfrm>
            <a:off x="3639312" y="1554480"/>
            <a:ext cx="2299716" cy="347472"/>
          </a:xfrm>
          <a:prstGeom prst="rect">
            <a:avLst/>
          </a:prstGeom>
          <a:noFill/>
          <a:ln/>
        </p:spPr>
        <p:txBody>
          <a:bodyPr wrap="square" lIns="0" tIns="0" rIns="0" bIns="0" rtlCol="0" anchor="ctr"/>
          <a:lstStyle/>
          <a:p>
            <a:pPr indent="0" marL="0">
              <a:buNone/>
            </a:pPr>
            <a:r>
              <a:rPr lang="en-US" sz="1250" b="1" dirty="0">
                <a:solidFill>
                  <a:srgbClr val="111111"/>
                </a:solidFill>
                <a:latin typeface="Microsoft YaHei" pitchFamily="34" charset="0"/>
                <a:ea typeface="Microsoft YaHei" pitchFamily="34" charset="-122"/>
                <a:cs typeface="Microsoft YaHei" pitchFamily="34" charset="-120"/>
              </a:rPr>
              <a:t>参与观察 与 非参与观察</a:t>
            </a:r>
            <a:endParaRPr lang="en-US" sz="1250" dirty="0"/>
          </a:p>
        </p:txBody>
      </p:sp>
      <p:sp>
        <p:nvSpPr>
          <p:cNvPr id="17" name="Text 15"/>
          <p:cNvSpPr txBox="1"/>
          <p:nvPr/>
        </p:nvSpPr>
        <p:spPr>
          <a:xfrm>
            <a:off x="3639312" y="1920240"/>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111111"/>
                </a:solidFill>
                <a:latin typeface="Microsoft YaHei" pitchFamily="34" charset="0"/>
                <a:ea typeface="Microsoft YaHei" pitchFamily="34" charset="-122"/>
                <a:cs typeface="Microsoft YaHei" pitchFamily="34" charset="-120"/>
              </a:rPr>
              <a:t>参与观察要求研究者融入用户环境，亲身参与活动；非参与观察则保持旁观者角色，减少对用户的影响。</a:t>
            </a:r>
            <a:endParaRPr lang="en-US" sz="1000" dirty="0"/>
          </a:p>
        </p:txBody>
      </p:sp>
      <p:sp>
        <p:nvSpPr>
          <p:cNvPr id="18" name="Shape 16"/>
          <p:cNvSpPr/>
          <p:nvPr/>
        </p:nvSpPr>
        <p:spPr>
          <a:xfrm>
            <a:off x="6158484" y="1463040"/>
            <a:ext cx="2574036" cy="1499616"/>
          </a:xfrm>
          <a:prstGeom prst="roundRect">
            <a:avLst>
              <a:gd name="adj" fmla="val 6098"/>
            </a:avLst>
          </a:prstGeom>
          <a:solidFill>
            <a:srgbClr val="F4F4F4"/>
          </a:solidFill>
          <a:ln/>
        </p:spPr>
      </p:sp>
      <p:sp>
        <p:nvSpPr>
          <p:cNvPr id="19" name="Text 17"/>
          <p:cNvSpPr txBox="1"/>
          <p:nvPr/>
        </p:nvSpPr>
        <p:spPr>
          <a:xfrm>
            <a:off x="6323076" y="1554480"/>
            <a:ext cx="2299716" cy="347472"/>
          </a:xfrm>
          <a:prstGeom prst="rect">
            <a:avLst/>
          </a:prstGeom>
          <a:noFill/>
          <a:ln/>
        </p:spPr>
        <p:txBody>
          <a:bodyPr wrap="square" lIns="0" tIns="0" rIns="0" bIns="0" rtlCol="0" anchor="ctr"/>
          <a:lstStyle/>
          <a:p>
            <a:pPr indent="0" marL="0">
              <a:buNone/>
            </a:pPr>
            <a:r>
              <a:rPr lang="en-US" sz="1250" b="1" dirty="0">
                <a:solidFill>
                  <a:srgbClr val="111111"/>
                </a:solidFill>
                <a:latin typeface="Microsoft YaHei" pitchFamily="34" charset="0"/>
                <a:ea typeface="Microsoft YaHei" pitchFamily="34" charset="-122"/>
                <a:cs typeface="Microsoft YaHei" pitchFamily="34" charset="-120"/>
              </a:rPr>
              <a:t>结构化 与 非结构化观察</a:t>
            </a:r>
            <a:endParaRPr lang="en-US" sz="1250" dirty="0"/>
          </a:p>
        </p:txBody>
      </p:sp>
      <p:sp>
        <p:nvSpPr>
          <p:cNvPr id="20" name="Text 18"/>
          <p:cNvSpPr txBox="1"/>
          <p:nvPr/>
        </p:nvSpPr>
        <p:spPr>
          <a:xfrm>
            <a:off x="6323076" y="1920240"/>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111111"/>
                </a:solidFill>
                <a:latin typeface="Microsoft YaHei" pitchFamily="34" charset="0"/>
                <a:ea typeface="Microsoft YaHei" pitchFamily="34" charset="-122"/>
                <a:cs typeface="Microsoft YaHei" pitchFamily="34" charset="-120"/>
              </a:rPr>
              <a:t>结构化观察使用预设的行为观察清单，确保数据的可比性；非结构化观察则灵活开放，适合探索性的用户行为研究。</a:t>
            </a:r>
            <a:endParaRPr lang="en-US" sz="1000" dirty="0"/>
          </a:p>
        </p:txBody>
      </p:sp>
      <p:sp>
        <p:nvSpPr>
          <p:cNvPr id="21" name="Shape 19"/>
          <p:cNvSpPr/>
          <p:nvPr/>
        </p:nvSpPr>
        <p:spPr>
          <a:xfrm>
            <a:off x="3474720" y="3072384"/>
            <a:ext cx="2574036" cy="1499616"/>
          </a:xfrm>
          <a:prstGeom prst="roundRect">
            <a:avLst>
              <a:gd name="adj" fmla="val 6098"/>
            </a:avLst>
          </a:prstGeom>
          <a:solidFill>
            <a:srgbClr val="F4F4F4"/>
          </a:solidFill>
          <a:ln/>
        </p:spPr>
      </p:sp>
      <p:sp>
        <p:nvSpPr>
          <p:cNvPr id="22" name="Text 20"/>
          <p:cNvSpPr txBox="1"/>
          <p:nvPr/>
        </p:nvSpPr>
        <p:spPr>
          <a:xfrm>
            <a:off x="3639312" y="3163824"/>
            <a:ext cx="2299716" cy="347472"/>
          </a:xfrm>
          <a:prstGeom prst="rect">
            <a:avLst/>
          </a:prstGeom>
          <a:noFill/>
          <a:ln/>
        </p:spPr>
        <p:txBody>
          <a:bodyPr wrap="square" lIns="0" tIns="0" rIns="0" bIns="0" rtlCol="0" anchor="ctr"/>
          <a:lstStyle/>
          <a:p>
            <a:pPr indent="0" marL="0">
              <a:buNone/>
            </a:pPr>
            <a:r>
              <a:rPr lang="en-US" sz="1250" b="1" dirty="0">
                <a:solidFill>
                  <a:srgbClr val="111111"/>
                </a:solidFill>
                <a:latin typeface="Microsoft YaHei" pitchFamily="34" charset="0"/>
                <a:ea typeface="Microsoft YaHei" pitchFamily="34" charset="-122"/>
                <a:cs typeface="Microsoft YaHei" pitchFamily="34" charset="-120"/>
              </a:rPr>
              <a:t>直接 与 间接观察</a:t>
            </a:r>
            <a:endParaRPr lang="en-US" sz="1250" dirty="0"/>
          </a:p>
        </p:txBody>
      </p:sp>
      <p:sp>
        <p:nvSpPr>
          <p:cNvPr id="23" name="Text 21"/>
          <p:cNvSpPr txBox="1"/>
          <p:nvPr/>
        </p:nvSpPr>
        <p:spPr>
          <a:xfrm>
            <a:off x="3639312" y="3529584"/>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111111"/>
                </a:solidFill>
                <a:latin typeface="Microsoft YaHei" pitchFamily="34" charset="0"/>
                <a:ea typeface="Microsoft YaHei" pitchFamily="34" charset="-122"/>
                <a:cs typeface="Microsoft YaHei" pitchFamily="34" charset="-120"/>
              </a:rPr>
              <a:t>直接观察由研究者实时记录用户行为；间接观察使用视频等设备记录，便于多次分析。</a:t>
            </a:r>
            <a:endParaRPr lang="en-US" sz="1000" dirty="0"/>
          </a:p>
        </p:txBody>
      </p:sp>
      <p:sp>
        <p:nvSpPr>
          <p:cNvPr id="24" name="Shape 22"/>
          <p:cNvSpPr/>
          <p:nvPr/>
        </p:nvSpPr>
        <p:spPr>
          <a:xfrm>
            <a:off x="6158484" y="3072384"/>
            <a:ext cx="2574036" cy="1499616"/>
          </a:xfrm>
          <a:prstGeom prst="roundRect">
            <a:avLst>
              <a:gd name="adj" fmla="val 6098"/>
            </a:avLst>
          </a:prstGeom>
          <a:solidFill>
            <a:srgbClr val="111111"/>
          </a:solidFill>
          <a:ln/>
        </p:spPr>
      </p:sp>
      <p:sp>
        <p:nvSpPr>
          <p:cNvPr id="25" name="Text 23"/>
          <p:cNvSpPr txBox="1"/>
          <p:nvPr/>
        </p:nvSpPr>
        <p:spPr>
          <a:xfrm>
            <a:off x="6323076" y="3163824"/>
            <a:ext cx="2299716" cy="347472"/>
          </a:xfrm>
          <a:prstGeom prst="rect">
            <a:avLst/>
          </a:prstGeom>
          <a:noFill/>
          <a:ln/>
        </p:spPr>
        <p:txBody>
          <a:bodyPr wrap="square" lIns="0" tIns="0" rIns="0" bIns="0" rtlCol="0" anchor="ctr"/>
          <a:lstStyle/>
          <a:p>
            <a:pPr indent="0" marL="0">
              <a:buNone/>
            </a:pPr>
            <a:r>
              <a:rPr lang="en-US" sz="1250" b="1" dirty="0">
                <a:solidFill>
                  <a:srgbClr val="FFFFFF"/>
                </a:solidFill>
                <a:latin typeface="Microsoft YaHei" pitchFamily="34" charset="0"/>
                <a:ea typeface="Microsoft YaHei" pitchFamily="34" charset="-122"/>
                <a:cs typeface="Microsoft YaHei" pitchFamily="34" charset="-120"/>
              </a:rPr>
              <a:t>实验性 与 非实验性观察</a:t>
            </a:r>
            <a:endParaRPr lang="en-US" sz="1250" dirty="0"/>
          </a:p>
        </p:txBody>
      </p:sp>
      <p:sp>
        <p:nvSpPr>
          <p:cNvPr id="26" name="Text 24"/>
          <p:cNvSpPr txBox="1"/>
          <p:nvPr/>
        </p:nvSpPr>
        <p:spPr>
          <a:xfrm>
            <a:off x="6323076" y="3529584"/>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FFFFFF"/>
                </a:solidFill>
                <a:latin typeface="Microsoft YaHei" pitchFamily="34" charset="0"/>
                <a:ea typeface="Microsoft YaHei" pitchFamily="34" charset="-122"/>
                <a:cs typeface="Microsoft YaHei" pitchFamily="34" charset="-120"/>
              </a:rPr>
              <a:t>实验性观察在控制环境中进行，有助于研究特定变量的影响；非实验性观察在自然环境中进行，重视真实行为的观察。</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观察法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观察法的步骤</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Steps of Observation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05</a:t>
            </a:r>
            <a:endParaRPr lang="en-US" sz="750" dirty="0"/>
          </a:p>
        </p:txBody>
      </p:sp>
      <p:sp>
        <p:nvSpPr>
          <p:cNvPr id="11" name="Shape 9"/>
          <p:cNvSpPr/>
          <p:nvPr/>
        </p:nvSpPr>
        <p:spPr>
          <a:xfrm>
            <a:off x="411480" y="1188720"/>
            <a:ext cx="1803197" cy="566928"/>
          </a:xfrm>
          <a:prstGeom prst="homePlate">
            <a:avLst/>
          </a:prstGeom>
          <a:solidFill>
            <a:srgbClr val="EBEBEB"/>
          </a:solidFill>
          <a:ln/>
        </p:spPr>
      </p:sp>
      <p:sp>
        <p:nvSpPr>
          <p:cNvPr id="12" name="Text 10"/>
          <p:cNvSpPr txBox="1"/>
          <p:nvPr/>
        </p:nvSpPr>
        <p:spPr>
          <a:xfrm>
            <a:off x="548640" y="1188720"/>
            <a:ext cx="139171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Shape 11"/>
          <p:cNvSpPr/>
          <p:nvPr/>
        </p:nvSpPr>
        <p:spPr>
          <a:xfrm>
            <a:off x="2040941" y="1188720"/>
            <a:ext cx="1803197" cy="566928"/>
          </a:xfrm>
          <a:prstGeom prst="chevron">
            <a:avLst/>
          </a:prstGeom>
          <a:solidFill>
            <a:srgbClr val="F4F4F4"/>
          </a:solidFill>
          <a:ln/>
        </p:spPr>
      </p:sp>
      <p:sp>
        <p:nvSpPr>
          <p:cNvPr id="14" name="Text 12"/>
          <p:cNvSpPr txBox="1"/>
          <p:nvPr/>
        </p:nvSpPr>
        <p:spPr>
          <a:xfrm>
            <a:off x="2360981"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5" name="Shape 13"/>
          <p:cNvSpPr/>
          <p:nvPr/>
        </p:nvSpPr>
        <p:spPr>
          <a:xfrm>
            <a:off x="3670402" y="1188720"/>
            <a:ext cx="1803197" cy="566928"/>
          </a:xfrm>
          <a:prstGeom prst="chevron">
            <a:avLst/>
          </a:prstGeom>
          <a:solidFill>
            <a:srgbClr val="EBEBEB"/>
          </a:solidFill>
          <a:ln/>
        </p:spPr>
      </p:sp>
      <p:sp>
        <p:nvSpPr>
          <p:cNvPr id="16" name="Text 14"/>
          <p:cNvSpPr txBox="1"/>
          <p:nvPr/>
        </p:nvSpPr>
        <p:spPr>
          <a:xfrm>
            <a:off x="3990442"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03</a:t>
            </a:r>
            <a:endParaRPr lang="en-US" sz="1400" dirty="0"/>
          </a:p>
        </p:txBody>
      </p:sp>
      <p:sp>
        <p:nvSpPr>
          <p:cNvPr id="17" name="Shape 15"/>
          <p:cNvSpPr/>
          <p:nvPr/>
        </p:nvSpPr>
        <p:spPr>
          <a:xfrm>
            <a:off x="5299862" y="1188720"/>
            <a:ext cx="1803197" cy="566928"/>
          </a:xfrm>
          <a:prstGeom prst="chevron">
            <a:avLst/>
          </a:prstGeom>
          <a:solidFill>
            <a:srgbClr val="F4F4F4"/>
          </a:solidFill>
          <a:ln/>
        </p:spPr>
      </p:sp>
      <p:sp>
        <p:nvSpPr>
          <p:cNvPr id="18" name="Text 16"/>
          <p:cNvSpPr txBox="1"/>
          <p:nvPr/>
        </p:nvSpPr>
        <p:spPr>
          <a:xfrm>
            <a:off x="5619902"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04</a:t>
            </a:r>
            <a:endParaRPr lang="en-US" sz="1400" dirty="0"/>
          </a:p>
        </p:txBody>
      </p:sp>
      <p:sp>
        <p:nvSpPr>
          <p:cNvPr id="19" name="Shape 17"/>
          <p:cNvSpPr/>
          <p:nvPr/>
        </p:nvSpPr>
        <p:spPr>
          <a:xfrm>
            <a:off x="6929323" y="1188720"/>
            <a:ext cx="1803197" cy="566928"/>
          </a:xfrm>
          <a:prstGeom prst="chevron">
            <a:avLst/>
          </a:prstGeom>
          <a:solidFill>
            <a:srgbClr val="C7F8FB"/>
          </a:solidFill>
          <a:ln/>
        </p:spPr>
      </p:sp>
      <p:sp>
        <p:nvSpPr>
          <p:cNvPr id="20" name="Text 18"/>
          <p:cNvSpPr txBox="1"/>
          <p:nvPr/>
        </p:nvSpPr>
        <p:spPr>
          <a:xfrm>
            <a:off x="7249363" y="1188720"/>
            <a:ext cx="1208837"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Arial" pitchFamily="34" charset="0"/>
                <a:ea typeface="Arial" pitchFamily="34" charset="-122"/>
                <a:cs typeface="Arial" pitchFamily="34" charset="-120"/>
              </a:rPr>
              <a:t>05</a:t>
            </a:r>
            <a:endParaRPr lang="en-US" sz="1400" dirty="0"/>
          </a:p>
        </p:txBody>
      </p:sp>
      <p:sp>
        <p:nvSpPr>
          <p:cNvPr id="21" name="Shape 19"/>
          <p:cNvSpPr/>
          <p:nvPr/>
        </p:nvSpPr>
        <p:spPr>
          <a:xfrm>
            <a:off x="411480" y="1920240"/>
            <a:ext cx="1576426" cy="2651760"/>
          </a:xfrm>
          <a:prstGeom prst="roundRect">
            <a:avLst>
              <a:gd name="adj" fmla="val 5800"/>
            </a:avLst>
          </a:prstGeom>
          <a:solidFill>
            <a:srgbClr val="F4F4F4"/>
          </a:solidFill>
          <a:ln/>
        </p:spPr>
      </p:sp>
      <p:sp>
        <p:nvSpPr>
          <p:cNvPr id="22" name="Text 20"/>
          <p:cNvSpPr txBox="1"/>
          <p:nvPr/>
        </p:nvSpPr>
        <p:spPr>
          <a:xfrm>
            <a:off x="576072" y="2057400"/>
            <a:ext cx="1302106"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设定目标</a:t>
            </a:r>
            <a:endParaRPr lang="en-US" sz="1600" dirty="0"/>
          </a:p>
        </p:txBody>
      </p:sp>
      <p:sp>
        <p:nvSpPr>
          <p:cNvPr id="23" name="Text 21"/>
          <p:cNvSpPr txBox="1"/>
          <p:nvPr/>
        </p:nvSpPr>
        <p:spPr>
          <a:xfrm>
            <a:off x="576072"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设定明确的观察目标，理解研究所需的具体数据。</a:t>
            </a:r>
            <a:endParaRPr lang="en-US" sz="1300" dirty="0"/>
          </a:p>
        </p:txBody>
      </p:sp>
      <p:sp>
        <p:nvSpPr>
          <p:cNvPr id="24" name="Shape 22"/>
          <p:cNvSpPr/>
          <p:nvPr/>
        </p:nvSpPr>
        <p:spPr>
          <a:xfrm>
            <a:off x="2097634" y="1920240"/>
            <a:ext cx="1576426" cy="2651760"/>
          </a:xfrm>
          <a:prstGeom prst="roundRect">
            <a:avLst>
              <a:gd name="adj" fmla="val 5800"/>
            </a:avLst>
          </a:prstGeom>
          <a:solidFill>
            <a:srgbClr val="F4F4F4"/>
          </a:solidFill>
          <a:ln/>
        </p:spPr>
      </p:sp>
      <p:sp>
        <p:nvSpPr>
          <p:cNvPr id="25" name="Text 23"/>
          <p:cNvSpPr txBox="1"/>
          <p:nvPr/>
        </p:nvSpPr>
        <p:spPr>
          <a:xfrm>
            <a:off x="2262226" y="2057400"/>
            <a:ext cx="1302106"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选择对象</a:t>
            </a:r>
            <a:endParaRPr lang="en-US" sz="1600" dirty="0"/>
          </a:p>
        </p:txBody>
      </p:sp>
      <p:sp>
        <p:nvSpPr>
          <p:cNvPr id="26" name="Text 24"/>
          <p:cNvSpPr txBox="1"/>
          <p:nvPr/>
        </p:nvSpPr>
        <p:spPr>
          <a:xfrm>
            <a:off x="2262226"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选择合适的观察对象，确保样本的代表性。</a:t>
            </a:r>
            <a:endParaRPr lang="en-US" sz="1300" dirty="0"/>
          </a:p>
        </p:txBody>
      </p:sp>
      <p:sp>
        <p:nvSpPr>
          <p:cNvPr id="27" name="Shape 25"/>
          <p:cNvSpPr/>
          <p:nvPr/>
        </p:nvSpPr>
        <p:spPr>
          <a:xfrm>
            <a:off x="3783787" y="1920240"/>
            <a:ext cx="1576426" cy="2651760"/>
          </a:xfrm>
          <a:prstGeom prst="roundRect">
            <a:avLst>
              <a:gd name="adj" fmla="val 5800"/>
            </a:avLst>
          </a:prstGeom>
          <a:solidFill>
            <a:srgbClr val="F4F4F4"/>
          </a:solidFill>
          <a:ln/>
        </p:spPr>
      </p:sp>
      <p:sp>
        <p:nvSpPr>
          <p:cNvPr id="28" name="Text 26"/>
          <p:cNvSpPr txBox="1"/>
          <p:nvPr/>
        </p:nvSpPr>
        <p:spPr>
          <a:xfrm>
            <a:off x="3948379" y="2057400"/>
            <a:ext cx="1302106"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制定指标</a:t>
            </a:r>
            <a:endParaRPr lang="en-US" sz="1600" dirty="0"/>
          </a:p>
        </p:txBody>
      </p:sp>
      <p:sp>
        <p:nvSpPr>
          <p:cNvPr id="29" name="Text 27"/>
          <p:cNvSpPr txBox="1"/>
          <p:nvPr/>
        </p:nvSpPr>
        <p:spPr>
          <a:xfrm>
            <a:off x="3948379"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制定观察指标，如用户完成任务的时间、错误类型等。</a:t>
            </a:r>
            <a:endParaRPr lang="en-US" sz="1300" dirty="0"/>
          </a:p>
        </p:txBody>
      </p:sp>
      <p:sp>
        <p:nvSpPr>
          <p:cNvPr id="30" name="Shape 28"/>
          <p:cNvSpPr/>
          <p:nvPr/>
        </p:nvSpPr>
        <p:spPr>
          <a:xfrm>
            <a:off x="5469941" y="1920240"/>
            <a:ext cx="1576426" cy="2651760"/>
          </a:xfrm>
          <a:prstGeom prst="roundRect">
            <a:avLst>
              <a:gd name="adj" fmla="val 5800"/>
            </a:avLst>
          </a:prstGeom>
          <a:solidFill>
            <a:srgbClr val="F4F4F4"/>
          </a:solidFill>
          <a:ln/>
        </p:spPr>
      </p:sp>
      <p:sp>
        <p:nvSpPr>
          <p:cNvPr id="31" name="Text 29"/>
          <p:cNvSpPr txBox="1"/>
          <p:nvPr/>
        </p:nvSpPr>
        <p:spPr>
          <a:xfrm>
            <a:off x="5634533" y="2057400"/>
            <a:ext cx="1302106"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记录数据</a:t>
            </a:r>
            <a:endParaRPr lang="en-US" sz="1600" dirty="0"/>
          </a:p>
        </p:txBody>
      </p:sp>
      <p:sp>
        <p:nvSpPr>
          <p:cNvPr id="32" name="Text 30"/>
          <p:cNvSpPr txBox="1"/>
          <p:nvPr/>
        </p:nvSpPr>
        <p:spPr>
          <a:xfrm>
            <a:off x="5634533"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详细记录观察数据，捕捉用户在任务中的具体反应。</a:t>
            </a:r>
            <a:endParaRPr lang="en-US" sz="1300" dirty="0"/>
          </a:p>
        </p:txBody>
      </p:sp>
      <p:sp>
        <p:nvSpPr>
          <p:cNvPr id="33" name="Shape 31"/>
          <p:cNvSpPr/>
          <p:nvPr/>
        </p:nvSpPr>
        <p:spPr>
          <a:xfrm>
            <a:off x="7156094" y="1920240"/>
            <a:ext cx="1576426" cy="2651760"/>
          </a:xfrm>
          <a:prstGeom prst="roundRect">
            <a:avLst>
              <a:gd name="adj" fmla="val 5800"/>
            </a:avLst>
          </a:prstGeom>
          <a:solidFill>
            <a:srgbClr val="111111"/>
          </a:solidFill>
          <a:ln/>
        </p:spPr>
      </p:sp>
      <p:sp>
        <p:nvSpPr>
          <p:cNvPr id="34" name="Text 32"/>
          <p:cNvSpPr txBox="1"/>
          <p:nvPr/>
        </p:nvSpPr>
        <p:spPr>
          <a:xfrm>
            <a:off x="7320686" y="2057400"/>
            <a:ext cx="1302106"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分析结论</a:t>
            </a:r>
            <a:endParaRPr lang="en-US" sz="1600" dirty="0"/>
          </a:p>
        </p:txBody>
      </p:sp>
      <p:sp>
        <p:nvSpPr>
          <p:cNvPr id="35" name="Text 33"/>
          <p:cNvSpPr txBox="1"/>
          <p:nvPr/>
        </p:nvSpPr>
        <p:spPr>
          <a:xfrm>
            <a:off x="7320686"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Microsoft YaHei" pitchFamily="34" charset="0"/>
                <a:ea typeface="Microsoft YaHei" pitchFamily="34" charset="-122"/>
                <a:cs typeface="Microsoft YaHei" pitchFamily="34" charset="-120"/>
              </a:rPr>
              <a:t>分析数据并得出结论，以支持设计改进。</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观察法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观察法的优缺点</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Pros &amp; Cons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06</a:t>
            </a:r>
            <a:endParaRPr lang="en-US" sz="750" dirty="0"/>
          </a:p>
        </p:txBody>
      </p:sp>
      <p:sp>
        <p:nvSpPr>
          <p:cNvPr id="11" name="Shape 9"/>
          <p:cNvSpPr/>
          <p:nvPr/>
        </p:nvSpPr>
        <p:spPr>
          <a:xfrm>
            <a:off x="411480" y="1188720"/>
            <a:ext cx="4105656" cy="3383280"/>
          </a:xfrm>
          <a:prstGeom prst="roundRect">
            <a:avLst>
              <a:gd name="adj" fmla="val 2703"/>
            </a:avLst>
          </a:prstGeom>
          <a:solidFill>
            <a:srgbClr val="C7F8FB"/>
          </a:solidFill>
          <a:ln/>
        </p:spPr>
      </p:sp>
      <p:sp>
        <p:nvSpPr>
          <p:cNvPr id="12" name="Text 10"/>
          <p:cNvSpPr txBox="1"/>
          <p:nvPr/>
        </p:nvSpPr>
        <p:spPr>
          <a:xfrm>
            <a:off x="685800" y="1234440"/>
            <a:ext cx="1097280" cy="1097280"/>
          </a:xfrm>
          <a:prstGeom prst="rect">
            <a:avLst/>
          </a:prstGeom>
          <a:noFill/>
          <a:ln/>
        </p:spPr>
        <p:txBody>
          <a:bodyPr wrap="square" lIns="0" tIns="0" rIns="0" bIns="0" rtlCol="0" anchor="t"/>
          <a:lstStyle/>
          <a:p>
            <a:pPr indent="0" marL="0">
              <a:buNone/>
            </a:pPr>
            <a:r>
              <a:rPr lang="en-US" sz="6400" b="1" dirty="0">
                <a:solidFill>
                  <a:srgbClr val="111111"/>
                </a:solidFill>
                <a:latin typeface="Arial" pitchFamily="34" charset="0"/>
                <a:ea typeface="Arial" pitchFamily="34" charset="-122"/>
                <a:cs typeface="Arial" pitchFamily="34" charset="-120"/>
              </a:rPr>
              <a:t>+</a:t>
            </a:r>
            <a:endParaRPr lang="en-US" sz="6400" dirty="0"/>
          </a:p>
        </p:txBody>
      </p:sp>
      <p:sp>
        <p:nvSpPr>
          <p:cNvPr id="13" name="Text 11"/>
          <p:cNvSpPr txBox="1"/>
          <p:nvPr/>
        </p:nvSpPr>
        <p:spPr>
          <a:xfrm>
            <a:off x="685800" y="2377440"/>
            <a:ext cx="3566160" cy="502920"/>
          </a:xfrm>
          <a:prstGeom prst="rect">
            <a:avLst/>
          </a:prstGeom>
          <a:noFill/>
          <a:ln/>
        </p:spPr>
        <p:txBody>
          <a:bodyPr wrap="square" lIns="0" tIns="0" rIns="0" bIns="0" rtlCol="0" anchor="ctr"/>
          <a:lstStyle/>
          <a:p>
            <a:pPr indent="0" marL="0">
              <a:buNone/>
            </a:pPr>
            <a:r>
              <a:rPr lang="en-US" sz="2400" b="1" dirty="0">
                <a:solidFill>
                  <a:srgbClr val="111111"/>
                </a:solidFill>
                <a:latin typeface="Microsoft YaHei" pitchFamily="34" charset="0"/>
                <a:ea typeface="Microsoft YaHei" pitchFamily="34" charset="-122"/>
                <a:cs typeface="Microsoft YaHei" pitchFamily="34" charset="-120"/>
              </a:rPr>
              <a:t>优势</a:t>
            </a:r>
            <a:endParaRPr lang="en-US" sz="2400" dirty="0"/>
          </a:p>
        </p:txBody>
      </p:sp>
      <p:sp>
        <p:nvSpPr>
          <p:cNvPr id="14" name="Text 12"/>
          <p:cNvSpPr txBox="1"/>
          <p:nvPr/>
        </p:nvSpPr>
        <p:spPr>
          <a:xfrm>
            <a:off x="685800" y="2971800"/>
            <a:ext cx="3566160" cy="1463040"/>
          </a:xfrm>
          <a:prstGeom prst="rect">
            <a:avLst/>
          </a:prstGeom>
          <a:noFill/>
          <a:ln/>
        </p:spPr>
        <p:txBody>
          <a:bodyPr wrap="square" lIns="0" tIns="0" rIns="0" bIns="0" rtlCol="0" anchor="t"/>
          <a:lstStyle/>
          <a:p>
            <a:pPr indent="0" marL="0">
              <a:lnSpc>
                <a:spcPct val="150000"/>
              </a:lnSpc>
              <a:buNone/>
            </a:pPr>
            <a:r>
              <a:rPr lang="en-US" sz="1500" dirty="0">
                <a:solidFill>
                  <a:srgbClr val="111111"/>
                </a:solidFill>
                <a:latin typeface="Microsoft YaHei" pitchFamily="34" charset="0"/>
                <a:ea typeface="Microsoft YaHei" pitchFamily="34" charset="-122"/>
                <a:cs typeface="Microsoft YaHei" pitchFamily="34" charset="-120"/>
              </a:rPr>
              <a:t>观察法的优势在于能够获取用户的真实反应，而非依赖主观反馈，因此数据的真实性较高。</a:t>
            </a:r>
            <a:endParaRPr lang="en-US" sz="1500" dirty="0"/>
          </a:p>
        </p:txBody>
      </p:sp>
      <p:sp>
        <p:nvSpPr>
          <p:cNvPr id="15" name="Shape 13"/>
          <p:cNvSpPr/>
          <p:nvPr/>
        </p:nvSpPr>
        <p:spPr>
          <a:xfrm>
            <a:off x="4626864" y="1188720"/>
            <a:ext cx="4105656" cy="3383280"/>
          </a:xfrm>
          <a:prstGeom prst="roundRect">
            <a:avLst>
              <a:gd name="adj" fmla="val 2703"/>
            </a:avLst>
          </a:prstGeom>
          <a:solidFill>
            <a:srgbClr val="111111"/>
          </a:solidFill>
          <a:ln/>
        </p:spPr>
      </p:sp>
      <p:sp>
        <p:nvSpPr>
          <p:cNvPr id="16" name="Text 14"/>
          <p:cNvSpPr txBox="1"/>
          <p:nvPr/>
        </p:nvSpPr>
        <p:spPr>
          <a:xfrm>
            <a:off x="4901184" y="1234440"/>
            <a:ext cx="1097280" cy="1097280"/>
          </a:xfrm>
          <a:prstGeom prst="rect">
            <a:avLst/>
          </a:prstGeom>
          <a:noFill/>
          <a:ln/>
        </p:spPr>
        <p:txBody>
          <a:bodyPr wrap="square" lIns="0" tIns="0" rIns="0" bIns="0" rtlCol="0" anchor="t"/>
          <a:lstStyle/>
          <a:p>
            <a:pPr indent="0" marL="0">
              <a:buNone/>
            </a:pPr>
            <a:r>
              <a:rPr lang="en-US" sz="6400" b="1" dirty="0">
                <a:solidFill>
                  <a:srgbClr val="C7F8FB"/>
                </a:solidFill>
                <a:latin typeface="Arial" pitchFamily="34" charset="0"/>
                <a:ea typeface="Arial" pitchFamily="34" charset="-122"/>
                <a:cs typeface="Arial" pitchFamily="34" charset="-120"/>
              </a:rPr>
              <a:t>−</a:t>
            </a:r>
            <a:endParaRPr lang="en-US" sz="6400" dirty="0"/>
          </a:p>
        </p:txBody>
      </p:sp>
      <p:sp>
        <p:nvSpPr>
          <p:cNvPr id="17" name="Text 15"/>
          <p:cNvSpPr txBox="1"/>
          <p:nvPr/>
        </p:nvSpPr>
        <p:spPr>
          <a:xfrm>
            <a:off x="4901184" y="2377440"/>
            <a:ext cx="3566160" cy="50292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不足</a:t>
            </a:r>
            <a:endParaRPr lang="en-US" sz="2400" dirty="0"/>
          </a:p>
        </p:txBody>
      </p:sp>
      <p:sp>
        <p:nvSpPr>
          <p:cNvPr id="18" name="Text 16"/>
          <p:cNvSpPr txBox="1"/>
          <p:nvPr/>
        </p:nvSpPr>
        <p:spPr>
          <a:xfrm>
            <a:off x="4901184" y="2971800"/>
            <a:ext cx="3566160" cy="146304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观察法的不足之处，如耗时长、成本较高，数据分析复杂等。</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观察法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应用案例 ——“上海地铁使用者需求研究”项目</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Study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07</a:t>
            </a:r>
            <a:endParaRPr lang="en-US" sz="750" dirty="0"/>
          </a:p>
        </p:txBody>
      </p:sp>
      <p:pic>
        <p:nvPicPr>
          <p:cNvPr id="11" name="Image 0" descr="p07_0">    </p:cNvPr>
          <p:cNvPicPr>
            <a:picLocks noChangeAspect="1"/>
          </p:cNvPicPr>
          <p:nvPr/>
        </p:nvPicPr>
        <p:blipFill>
          <a:blip r:embed="rId1"/>
          <a:stretch>
            <a:fillRect/>
          </a:stretch>
        </p:blipFill>
        <p:spPr>
          <a:xfrm>
            <a:off x="411480" y="1188720"/>
            <a:ext cx="3291840" cy="3383280"/>
          </a:xfrm>
          <a:prstGeom prst="rect">
            <a:avLst/>
          </a:prstGeom>
        </p:spPr>
      </p:pic>
      <p:sp>
        <p:nvSpPr>
          <p:cNvPr id="12" name="Shape 9"/>
          <p:cNvSpPr/>
          <p:nvPr/>
        </p:nvSpPr>
        <p:spPr>
          <a:xfrm>
            <a:off x="3813048" y="1188720"/>
            <a:ext cx="4919472" cy="1636776"/>
          </a:xfrm>
          <a:prstGeom prst="roundRect">
            <a:avLst>
              <a:gd name="adj" fmla="val 5587"/>
            </a:avLst>
          </a:prstGeom>
          <a:solidFill>
            <a:srgbClr val="F4F4F4"/>
          </a:solidFill>
          <a:ln/>
        </p:spPr>
      </p:sp>
      <p:sp>
        <p:nvSpPr>
          <p:cNvPr id="13" name="Text 10"/>
          <p:cNvSpPr txBox="1"/>
          <p:nvPr/>
        </p:nvSpPr>
        <p:spPr>
          <a:xfrm>
            <a:off x="404164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4" name="Text 11"/>
          <p:cNvSpPr txBox="1"/>
          <p:nvPr/>
        </p:nvSpPr>
        <p:spPr>
          <a:xfrm>
            <a:off x="4041648" y="1673352"/>
            <a:ext cx="450799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观察法的应用</a:t>
            </a:r>
            <a:endParaRPr lang="en-US" sz="1500" dirty="0"/>
          </a:p>
        </p:txBody>
      </p:sp>
      <p:sp>
        <p:nvSpPr>
          <p:cNvPr id="15" name="Text 12"/>
          <p:cNvSpPr txBox="1"/>
          <p:nvPr/>
        </p:nvSpPr>
        <p:spPr>
          <a:xfrm>
            <a:off x="4041648" y="2130552"/>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150" dirty="0">
                <a:solidFill>
                  <a:srgbClr val="111111"/>
                </a:solidFill>
                <a:latin typeface="Microsoft YaHei" pitchFamily="34" charset="0"/>
                <a:ea typeface="Microsoft YaHei" pitchFamily="34" charset="-122"/>
                <a:cs typeface="Microsoft YaHei" pitchFamily="34" charset="-120"/>
              </a:rPr>
              <a:t>在上海地铁需求研究中，观察法用于分析乘客的行为模式。</a:t>
            </a:r>
            <a:endParaRPr lang="en-US" sz="1150" dirty="0"/>
          </a:p>
        </p:txBody>
      </p:sp>
      <p:sp>
        <p:nvSpPr>
          <p:cNvPr id="16" name="Shape 13"/>
          <p:cNvSpPr/>
          <p:nvPr/>
        </p:nvSpPr>
        <p:spPr>
          <a:xfrm>
            <a:off x="3813048" y="2935224"/>
            <a:ext cx="4919472" cy="1636776"/>
          </a:xfrm>
          <a:prstGeom prst="roundRect">
            <a:avLst>
              <a:gd name="adj" fmla="val 5587"/>
            </a:avLst>
          </a:prstGeom>
          <a:solidFill>
            <a:srgbClr val="C7F8FB"/>
          </a:solidFill>
          <a:ln/>
        </p:spPr>
      </p:sp>
      <p:sp>
        <p:nvSpPr>
          <p:cNvPr id="17" name="Text 14"/>
          <p:cNvSpPr txBox="1"/>
          <p:nvPr/>
        </p:nvSpPr>
        <p:spPr>
          <a:xfrm>
            <a:off x="4041648"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8" name="Text 15"/>
          <p:cNvSpPr txBox="1"/>
          <p:nvPr/>
        </p:nvSpPr>
        <p:spPr>
          <a:xfrm>
            <a:off x="4041648" y="3419856"/>
            <a:ext cx="450799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研究发现</a:t>
            </a:r>
            <a:endParaRPr lang="en-US" sz="1500" dirty="0"/>
          </a:p>
        </p:txBody>
      </p:sp>
      <p:sp>
        <p:nvSpPr>
          <p:cNvPr id="19" name="Text 16"/>
          <p:cNvSpPr txBox="1"/>
          <p:nvPr/>
        </p:nvSpPr>
        <p:spPr>
          <a:xfrm>
            <a:off x="4041648" y="3877056"/>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150" dirty="0">
                <a:solidFill>
                  <a:srgbClr val="111111"/>
                </a:solidFill>
                <a:latin typeface="Microsoft YaHei" pitchFamily="34" charset="0"/>
                <a:ea typeface="Microsoft YaHei" pitchFamily="34" charset="-122"/>
                <a:cs typeface="Microsoft YaHei" pitchFamily="34" charset="-120"/>
              </a:rPr>
              <a:t>研究人员通过非参与观察记录了乘客的购票、候车等行为，发现了指引系统的设计缺陷，为优化乘客体验提供了实用建议。</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PART 02</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单人访谈法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In-depth Interview</a:t>
            </a:r>
            <a:endParaRPr lang="en-US" sz="1400" dirty="0"/>
          </a:p>
        </p:txBody>
      </p:sp>
      <p:sp>
        <p:nvSpPr>
          <p:cNvPr id="5" name="Shape 3"/>
          <p:cNvSpPr/>
          <p:nvPr/>
        </p:nvSpPr>
        <p:spPr>
          <a:xfrm>
            <a:off x="411480" y="2011680"/>
            <a:ext cx="457200" cy="457200"/>
          </a:xfrm>
          <a:prstGeom prst="rect">
            <a:avLst/>
          </a:prstGeom>
          <a:solidFill>
            <a:srgbClr val="E4FF97"/>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什么是单人访谈法</a:t>
            </a:r>
            <a:endParaRPr lang="en-US" sz="1350" dirty="0"/>
          </a:p>
        </p:txBody>
      </p:sp>
      <p:sp>
        <p:nvSpPr>
          <p:cNvPr id="9" name="Shape 7"/>
          <p:cNvSpPr/>
          <p:nvPr/>
        </p:nvSpPr>
        <p:spPr>
          <a:xfrm>
            <a:off x="411480" y="2560320"/>
            <a:ext cx="457200" cy="457200"/>
          </a:xfrm>
          <a:prstGeom prst="rect">
            <a:avLst/>
          </a:prstGeom>
          <a:solidFill>
            <a:srgbClr val="D9D4FF"/>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招募 · 访谈结构 · 访谈类型</a:t>
            </a:r>
            <a:endParaRPr lang="en-US" sz="1350" dirty="0"/>
          </a:p>
        </p:txBody>
      </p:sp>
      <p:sp>
        <p:nvSpPr>
          <p:cNvPr id="13" name="Shape 11"/>
          <p:cNvSpPr/>
          <p:nvPr/>
        </p:nvSpPr>
        <p:spPr>
          <a:xfrm>
            <a:off x="411480" y="3108960"/>
            <a:ext cx="457200" cy="457200"/>
          </a:xfrm>
          <a:prstGeom prst="rect">
            <a:avLst/>
          </a:prstGeom>
          <a:solidFill>
            <a:srgbClr val="C9F5C0"/>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访谈技巧 · 访谈环境 · 记录访谈</a:t>
            </a:r>
            <a:endParaRPr lang="en-US" sz="1350" dirty="0"/>
          </a:p>
        </p:txBody>
      </p:sp>
      <p:sp>
        <p:nvSpPr>
          <p:cNvPr id="17" name="Shape 15"/>
          <p:cNvSpPr/>
          <p:nvPr/>
        </p:nvSpPr>
        <p:spPr>
          <a:xfrm>
            <a:off x="411480" y="3657600"/>
            <a:ext cx="457200" cy="457200"/>
          </a:xfrm>
          <a:prstGeom prst="rect">
            <a:avLst/>
          </a:prstGeom>
          <a:solidFill>
            <a:srgbClr val="FFE3A3"/>
          </a:solidFill>
          <a:ln/>
        </p:spPr>
      </p:sp>
      <p:sp>
        <p:nvSpPr>
          <p:cNvPr id="18" name="Text 16"/>
          <p:cNvSpPr txBox="1"/>
          <p:nvPr/>
        </p:nvSpPr>
        <p:spPr>
          <a:xfrm>
            <a:off x="411480" y="365760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19" name="Shape 17"/>
          <p:cNvSpPr/>
          <p:nvPr/>
        </p:nvSpPr>
        <p:spPr>
          <a:xfrm>
            <a:off x="941832" y="3657600"/>
            <a:ext cx="4343400" cy="457200"/>
          </a:xfrm>
          <a:prstGeom prst="rect">
            <a:avLst/>
          </a:prstGeom>
          <a:solidFill>
            <a:srgbClr val="F4F4F4"/>
          </a:solidFill>
          <a:ln/>
        </p:spPr>
      </p:sp>
      <p:sp>
        <p:nvSpPr>
          <p:cNvPr id="20" name="Text 18"/>
          <p:cNvSpPr txBox="1"/>
          <p:nvPr/>
        </p:nvSpPr>
        <p:spPr>
          <a:xfrm>
            <a:off x="1097280" y="365760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案例</a:t>
            </a:r>
            <a:endParaRPr lang="en-US" sz="1350" dirty="0"/>
          </a:p>
        </p:txBody>
      </p:sp>
      <p:sp>
        <p:nvSpPr>
          <p:cNvPr id="21" name="Shape 19"/>
          <p:cNvSpPr/>
          <p:nvPr/>
        </p:nvSpPr>
        <p:spPr>
          <a:xfrm>
            <a:off x="411480" y="4818888"/>
            <a:ext cx="77724" cy="77724"/>
          </a:xfrm>
          <a:prstGeom prst="ellipse">
            <a:avLst/>
          </a:prstGeom>
          <a:solidFill>
            <a:srgbClr val="4D49FC"/>
          </a:solidFill>
          <a:ln/>
        </p:spPr>
      </p:sp>
      <p:sp>
        <p:nvSpPr>
          <p:cNvPr id="22" name="Shape 20"/>
          <p:cNvSpPr/>
          <p:nvPr/>
        </p:nvSpPr>
        <p:spPr>
          <a:xfrm>
            <a:off x="507492" y="4818888"/>
            <a:ext cx="77724" cy="77724"/>
          </a:xfrm>
          <a:prstGeom prst="ellipse">
            <a:avLst/>
          </a:prstGeom>
          <a:solidFill>
            <a:srgbClr val="4D49FC"/>
          </a:solidFill>
          <a:ln/>
        </p:spPr>
      </p:sp>
      <p:sp>
        <p:nvSpPr>
          <p:cNvPr id="23" name="Shape 21"/>
          <p:cNvSpPr/>
          <p:nvPr/>
        </p:nvSpPr>
        <p:spPr>
          <a:xfrm>
            <a:off x="411480" y="4914900"/>
            <a:ext cx="77724" cy="77724"/>
          </a:xfrm>
          <a:prstGeom prst="ellipse">
            <a:avLst/>
          </a:prstGeom>
          <a:solidFill>
            <a:srgbClr val="4D49FC"/>
          </a:solidFill>
          <a:ln/>
        </p:spPr>
      </p:sp>
      <p:sp>
        <p:nvSpPr>
          <p:cNvPr id="24" name="Shape 22"/>
          <p:cNvSpPr/>
          <p:nvPr/>
        </p:nvSpPr>
        <p:spPr>
          <a:xfrm>
            <a:off x="507492" y="4914900"/>
            <a:ext cx="77724" cy="77724"/>
          </a:xfrm>
          <a:prstGeom prst="ellipse">
            <a:avLst/>
          </a:prstGeom>
          <a:solidFill>
            <a:srgbClr val="4D49FC"/>
          </a:solidFill>
          <a:ln/>
        </p:spPr>
      </p:sp>
      <p:sp>
        <p:nvSpPr>
          <p:cNvPr id="25" name="Text 23"/>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6" name="Text 24"/>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08</a:t>
            </a:r>
            <a:endParaRPr lang="en-US" sz="750" dirty="0"/>
          </a:p>
        </p:txBody>
      </p:sp>
      <p:pic>
        <p:nvPicPr>
          <p:cNvPr id="27" name="Image 0" descr="decorative collage">    </p:cNvPr>
          <p:cNvPicPr>
            <a:picLocks noChangeAspect="1"/>
          </p:cNvPicPr>
          <p:nvPr/>
        </p:nvPicPr>
        <p:blipFill>
          <a:blip r:embed="rId1"/>
          <a:stretch>
            <a:fillRect/>
          </a:stretch>
        </p:blipFill>
        <p:spPr>
          <a:xfrm>
            <a:off x="5577840" y="3191384"/>
            <a:ext cx="3154680" cy="15177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D49FC"/>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E6E6FF"/>
                </a:solidFill>
                <a:latin typeface="Microsoft YaHei" pitchFamily="34" charset="0"/>
                <a:ea typeface="Microsoft YaHei" pitchFamily="34" charset="-122"/>
                <a:cs typeface="Microsoft YaHei" pitchFamily="34" charset="-120"/>
              </a:rPr>
              <a:t>02 单人访谈法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什么是单人访谈法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E6E6FF"/>
                </a:solidFill>
                <a:latin typeface="Arial" pitchFamily="34" charset="0"/>
                <a:ea typeface="Arial" pitchFamily="34" charset="-122"/>
                <a:cs typeface="Arial" pitchFamily="34" charset="-120"/>
              </a:rPr>
              <a:t>What is an In-depth Interview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E6E6FF"/>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E6E6FF"/>
                </a:solidFill>
                <a:latin typeface="Courier New" pitchFamily="34" charset="0"/>
                <a:ea typeface="Courier New" pitchFamily="34" charset="-122"/>
                <a:cs typeface="Courier New" pitchFamily="34" charset="-120"/>
              </a:rPr>
              <a:t>09</a:t>
            </a:r>
            <a:endParaRPr lang="en-US" sz="750" dirty="0"/>
          </a:p>
        </p:txBody>
      </p:sp>
      <p:sp>
        <p:nvSpPr>
          <p:cNvPr id="11" name="Text 9"/>
          <p:cNvSpPr txBox="1"/>
          <p:nvPr/>
        </p:nvSpPr>
        <p:spPr>
          <a:xfrm>
            <a:off x="411480" y="1280160"/>
            <a:ext cx="3657600" cy="822960"/>
          </a:xfrm>
          <a:prstGeom prst="rect">
            <a:avLst/>
          </a:prstGeom>
          <a:noFill/>
          <a:ln/>
        </p:spPr>
        <p:txBody>
          <a:bodyPr wrap="square" lIns="0" tIns="0" rIns="0" bIns="0" rtlCol="0" anchor="t"/>
          <a:lstStyle/>
          <a:p>
            <a:pPr indent="0" marL="0">
              <a:buNone/>
            </a:pPr>
            <a:r>
              <a:rPr lang="en-US" sz="4400" b="1" dirty="0">
                <a:solidFill>
                  <a:srgbClr val="E4FF97"/>
                </a:solidFill>
                <a:latin typeface="Microsoft YaHei" pitchFamily="34" charset="0"/>
                <a:ea typeface="Microsoft YaHei" pitchFamily="34" charset="-122"/>
                <a:cs typeface="Microsoft YaHei" pitchFamily="34" charset="-120"/>
              </a:rPr>
              <a:t>一对一</a:t>
            </a:r>
            <a:endParaRPr lang="en-US" sz="4400" dirty="0"/>
          </a:p>
        </p:txBody>
      </p:sp>
      <p:sp>
        <p:nvSpPr>
          <p:cNvPr id="12" name="Text 10"/>
          <p:cNvSpPr txBox="1"/>
          <p:nvPr/>
        </p:nvSpPr>
        <p:spPr>
          <a:xfrm>
            <a:off x="411480" y="2240280"/>
            <a:ext cx="4754880" cy="2011680"/>
          </a:xfrm>
          <a:prstGeom prst="rect">
            <a:avLst/>
          </a:prstGeom>
          <a:noFill/>
          <a:ln/>
        </p:spPr>
        <p:txBody>
          <a:bodyPr wrap="square" lIns="0" tIns="0" rIns="0" bIns="0" rtlCol="0" anchor="t"/>
          <a:lstStyle/>
          <a:p>
            <a:pPr indent="0" marL="0">
              <a:lnSpc>
                <a:spcPct val="160000"/>
              </a:lnSpc>
              <a:buNone/>
            </a:pPr>
            <a:r>
              <a:rPr lang="en-US" sz="1600" dirty="0">
                <a:solidFill>
                  <a:srgbClr val="FFFFFF"/>
                </a:solidFill>
                <a:latin typeface="Microsoft YaHei" pitchFamily="34" charset="0"/>
                <a:ea typeface="Microsoft YaHei" pitchFamily="34" charset="-122"/>
                <a:cs typeface="Microsoft YaHei" pitchFamily="34" charset="-120"/>
              </a:rPr>
              <a:t>单人访谈法是与用户一对一交流，以深入了解其需求和体验。通过访谈，研究者能够获取用户对产品的详细反馈，识别其使用习惯和潜在需求。</a:t>
            </a:r>
            <a:endParaRPr lang="en-US" sz="1600" dirty="0"/>
          </a:p>
        </p:txBody>
      </p:sp>
      <p:sp>
        <p:nvSpPr>
          <p:cNvPr id="13" name="Shape 11"/>
          <p:cNvSpPr/>
          <p:nvPr/>
        </p:nvSpPr>
        <p:spPr>
          <a:xfrm>
            <a:off x="5486400" y="1188720"/>
            <a:ext cx="3246120" cy="3383280"/>
          </a:xfrm>
          <a:prstGeom prst="roundRect">
            <a:avLst>
              <a:gd name="adj" fmla="val 2817"/>
            </a:avLst>
          </a:prstGeom>
          <a:solidFill>
            <a:srgbClr val="FFFFFF"/>
          </a:solidFill>
          <a:ln/>
        </p:spPr>
      </p:sp>
      <p:pic>
        <p:nvPicPr>
          <p:cNvPr id="14" name="Image 0" descr="p12_0">    </p:cNvPr>
          <p:cNvPicPr>
            <a:picLocks noChangeAspect="1"/>
          </p:cNvPicPr>
          <p:nvPr/>
        </p:nvPicPr>
        <p:blipFill>
          <a:blip r:embed="rId1"/>
          <a:stretch>
            <a:fillRect/>
          </a:stretch>
        </p:blipFill>
        <p:spPr>
          <a:xfrm>
            <a:off x="5623560" y="1765935"/>
            <a:ext cx="2971800" cy="2228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单人访谈法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招募 · 访谈结构</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Recruitment &amp; Interview Structure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10</a:t>
            </a:r>
            <a:endParaRPr lang="en-US" sz="750" dirty="0"/>
          </a:p>
        </p:txBody>
      </p:sp>
      <p:sp>
        <p:nvSpPr>
          <p:cNvPr id="11" name="Shape 9"/>
          <p:cNvSpPr/>
          <p:nvPr/>
        </p:nvSpPr>
        <p:spPr>
          <a:xfrm>
            <a:off x="411480" y="1188720"/>
            <a:ext cx="4105656" cy="3383280"/>
          </a:xfrm>
          <a:prstGeom prst="roundRect">
            <a:avLst>
              <a:gd name="adj" fmla="val 2703"/>
            </a:avLst>
          </a:prstGeom>
          <a:solidFill>
            <a:srgbClr val="E4FF97"/>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3" name="Text 11"/>
          <p:cNvSpPr txBox="1"/>
          <p:nvPr/>
        </p:nvSpPr>
        <p:spPr>
          <a:xfrm>
            <a:off x="640080" y="2176272"/>
            <a:ext cx="3694176" cy="384048"/>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招募</a:t>
            </a:r>
            <a:endParaRPr lang="en-US" sz="2000" dirty="0"/>
          </a:p>
        </p:txBody>
      </p:sp>
      <p:sp>
        <p:nvSpPr>
          <p:cNvPr id="14" name="Text 12"/>
          <p:cNvSpPr txBox="1"/>
          <p:nvPr/>
        </p:nvSpPr>
        <p:spPr>
          <a:xfrm>
            <a:off x="640080" y="2633472"/>
            <a:ext cx="3694176" cy="18470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招募合适的用户是访谈的基础。研究者需选择有代表性的用户，并明确访谈内容和保密政策，以确保数据的真实性和多样性。</a:t>
            </a:r>
            <a:endParaRPr lang="en-US" sz="1400" dirty="0"/>
          </a:p>
        </p:txBody>
      </p:sp>
      <p:sp>
        <p:nvSpPr>
          <p:cNvPr id="15" name="Shape 13"/>
          <p:cNvSpPr/>
          <p:nvPr/>
        </p:nvSpPr>
        <p:spPr>
          <a:xfrm>
            <a:off x="4626864" y="1188720"/>
            <a:ext cx="4105656" cy="3383280"/>
          </a:xfrm>
          <a:prstGeom prst="roundRect">
            <a:avLst>
              <a:gd name="adj" fmla="val 2703"/>
            </a:avLst>
          </a:prstGeom>
          <a:solidFill>
            <a:srgbClr val="F4F4F4"/>
          </a:solidFill>
          <a:ln/>
        </p:spPr>
      </p:sp>
      <p:sp>
        <p:nvSpPr>
          <p:cNvPr id="16" name="Text 14"/>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7" name="Text 15"/>
          <p:cNvSpPr txBox="1"/>
          <p:nvPr/>
        </p:nvSpPr>
        <p:spPr>
          <a:xfrm>
            <a:off x="4855464" y="2176272"/>
            <a:ext cx="3694176" cy="384048"/>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访谈结构</a:t>
            </a:r>
            <a:endParaRPr lang="en-US" sz="2000" dirty="0"/>
          </a:p>
        </p:txBody>
      </p:sp>
      <p:sp>
        <p:nvSpPr>
          <p:cNvPr id="18" name="Text 16"/>
          <p:cNvSpPr txBox="1"/>
          <p:nvPr/>
        </p:nvSpPr>
        <p:spPr>
          <a:xfrm>
            <a:off x="4855464" y="2633472"/>
            <a:ext cx="3694176" cy="18470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访谈可以采用开放式、半结构化和结构化形式。开放式访谈让用户自由表达；半结构化访谈兼顾灵活性和系统性；结构化访谈适合标准化数据的采集。</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单人访谈法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访谈类型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Types of Interview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11</a:t>
            </a:r>
            <a:endParaRPr lang="en-US" sz="750" dirty="0"/>
          </a:p>
        </p:txBody>
      </p:sp>
      <p:pic>
        <p:nvPicPr>
          <p:cNvPr id="11" name="Image 0" descr="p12_2">    </p:cNvPr>
          <p:cNvPicPr>
            <a:picLocks noChangeAspect="1"/>
          </p:cNvPicPr>
          <p:nvPr/>
        </p:nvPicPr>
        <p:blipFill>
          <a:blip r:embed="rId1"/>
          <a:stretch>
            <a:fillRect/>
          </a:stretch>
        </p:blipFill>
        <p:spPr>
          <a:xfrm>
            <a:off x="411480" y="1188720"/>
            <a:ext cx="2743200" cy="1636776"/>
          </a:xfrm>
          <a:prstGeom prst="rect">
            <a:avLst/>
          </a:prstGeom>
        </p:spPr>
      </p:pic>
      <p:pic>
        <p:nvPicPr>
          <p:cNvPr id="12" name="Image 1" descr="p12_3">    </p:cNvPr>
          <p:cNvPicPr>
            <a:picLocks noChangeAspect="1"/>
          </p:cNvPicPr>
          <p:nvPr/>
        </p:nvPicPr>
        <p:blipFill>
          <a:blip r:embed="rId2"/>
          <a:stretch>
            <a:fillRect/>
          </a:stretch>
        </p:blipFill>
        <p:spPr>
          <a:xfrm>
            <a:off x="411480" y="2935224"/>
            <a:ext cx="2743200" cy="1636776"/>
          </a:xfrm>
          <a:prstGeom prst="rect">
            <a:avLst/>
          </a:prstGeom>
        </p:spPr>
      </p:pic>
      <p:sp>
        <p:nvSpPr>
          <p:cNvPr id="13" name="Shape 9"/>
          <p:cNvSpPr/>
          <p:nvPr/>
        </p:nvSpPr>
        <p:spPr>
          <a:xfrm>
            <a:off x="3264408" y="1188720"/>
            <a:ext cx="2679192" cy="2468880"/>
          </a:xfrm>
          <a:prstGeom prst="roundRect">
            <a:avLst>
              <a:gd name="adj" fmla="val 3704"/>
            </a:avLst>
          </a:prstGeom>
          <a:solidFill>
            <a:srgbClr val="E4FF97"/>
          </a:solidFill>
          <a:ln/>
        </p:spPr>
      </p:sp>
      <p:sp>
        <p:nvSpPr>
          <p:cNvPr id="14" name="Text 10"/>
          <p:cNvSpPr txBox="1"/>
          <p:nvPr/>
        </p:nvSpPr>
        <p:spPr>
          <a:xfrm>
            <a:off x="3493008" y="1325880"/>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01</a:t>
            </a:r>
            <a:endParaRPr lang="en-US" sz="2000" dirty="0"/>
          </a:p>
        </p:txBody>
      </p:sp>
      <p:sp>
        <p:nvSpPr>
          <p:cNvPr id="15" name="Text 11"/>
          <p:cNvSpPr txBox="1"/>
          <p:nvPr/>
        </p:nvSpPr>
        <p:spPr>
          <a:xfrm>
            <a:off x="3493008" y="2011680"/>
            <a:ext cx="2286000" cy="45720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深度访谈</a:t>
            </a:r>
            <a:endParaRPr lang="en-US" sz="2000" dirty="0"/>
          </a:p>
        </p:txBody>
      </p:sp>
      <p:sp>
        <p:nvSpPr>
          <p:cNvPr id="16" name="Text 12"/>
          <p:cNvSpPr txBox="1"/>
          <p:nvPr/>
        </p:nvSpPr>
        <p:spPr>
          <a:xfrm>
            <a:off x="3493008" y="2560320"/>
            <a:ext cx="2286000" cy="1005840"/>
          </a:xfrm>
          <a:prstGeom prst="rect">
            <a:avLst/>
          </a:prstGeom>
          <a:noFill/>
          <a:ln/>
        </p:spPr>
        <p:txBody>
          <a:bodyPr wrap="square" lIns="0" tIns="0" rIns="0" bIns="0" rtlCol="0" anchor="t"/>
          <a:lstStyle/>
          <a:p>
            <a:pPr indent="0" marL="0">
              <a:lnSpc>
                <a:spcPct val="140000"/>
              </a:lnSpc>
              <a:buNone/>
            </a:pPr>
            <a:r>
              <a:rPr lang="en-US" sz="1350" dirty="0">
                <a:solidFill>
                  <a:srgbClr val="111111"/>
                </a:solidFill>
                <a:latin typeface="Microsoft YaHei" pitchFamily="34" charset="0"/>
                <a:ea typeface="Microsoft YaHei" pitchFamily="34" charset="-122"/>
                <a:cs typeface="Microsoft YaHei" pitchFamily="34" charset="-120"/>
              </a:rPr>
              <a:t>适合探讨复杂话题，时间较长。</a:t>
            </a:r>
            <a:endParaRPr lang="en-US" sz="1350" dirty="0"/>
          </a:p>
        </p:txBody>
      </p:sp>
      <p:sp>
        <p:nvSpPr>
          <p:cNvPr id="17" name="Shape 13"/>
          <p:cNvSpPr/>
          <p:nvPr/>
        </p:nvSpPr>
        <p:spPr>
          <a:xfrm>
            <a:off x="6053328" y="1188720"/>
            <a:ext cx="2679192" cy="2468880"/>
          </a:xfrm>
          <a:prstGeom prst="roundRect">
            <a:avLst>
              <a:gd name="adj" fmla="val 3704"/>
            </a:avLst>
          </a:prstGeom>
          <a:solidFill>
            <a:srgbClr val="111111"/>
          </a:solidFill>
          <a:ln/>
        </p:spPr>
      </p:sp>
      <p:sp>
        <p:nvSpPr>
          <p:cNvPr id="18" name="Text 14"/>
          <p:cNvSpPr txBox="1"/>
          <p:nvPr/>
        </p:nvSpPr>
        <p:spPr>
          <a:xfrm>
            <a:off x="6281928" y="1325880"/>
            <a:ext cx="914400" cy="457200"/>
          </a:xfrm>
          <a:prstGeom prst="rect">
            <a:avLst/>
          </a:prstGeom>
          <a:noFill/>
          <a:ln/>
        </p:spPr>
        <p:txBody>
          <a:bodyPr wrap="square" lIns="0" tIns="0" rIns="0" bIns="0" rtlCol="0" anchor="t"/>
          <a:lstStyle/>
          <a:p>
            <a:pPr indent="0" marL="0">
              <a:buNone/>
            </a:pPr>
            <a:r>
              <a:rPr lang="en-US" sz="2000" b="1" dirty="0">
                <a:solidFill>
                  <a:srgbClr val="E4FF97"/>
                </a:solidFill>
                <a:latin typeface="Arial" pitchFamily="34" charset="0"/>
                <a:ea typeface="Arial" pitchFamily="34" charset="-122"/>
                <a:cs typeface="Arial" pitchFamily="34" charset="-120"/>
              </a:rPr>
              <a:t>02</a:t>
            </a:r>
            <a:endParaRPr lang="en-US" sz="2000" dirty="0"/>
          </a:p>
        </p:txBody>
      </p:sp>
      <p:sp>
        <p:nvSpPr>
          <p:cNvPr id="19" name="Text 15"/>
          <p:cNvSpPr txBox="1"/>
          <p:nvPr/>
        </p:nvSpPr>
        <p:spPr>
          <a:xfrm>
            <a:off x="6281928" y="2011680"/>
            <a:ext cx="2286000" cy="45720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简短访谈</a:t>
            </a:r>
            <a:endParaRPr lang="en-US" sz="2000" dirty="0"/>
          </a:p>
        </p:txBody>
      </p:sp>
      <p:sp>
        <p:nvSpPr>
          <p:cNvPr id="20" name="Text 16"/>
          <p:cNvSpPr txBox="1"/>
          <p:nvPr/>
        </p:nvSpPr>
        <p:spPr>
          <a:xfrm>
            <a:off x="6281928" y="2560320"/>
            <a:ext cx="2286000" cy="1005840"/>
          </a:xfrm>
          <a:prstGeom prst="rect">
            <a:avLst/>
          </a:prstGeom>
          <a:noFill/>
          <a:ln/>
        </p:spPr>
        <p:txBody>
          <a:bodyPr wrap="square" lIns="0" tIns="0" rIns="0" bIns="0" rtlCol="0" anchor="t"/>
          <a:lstStyle/>
          <a:p>
            <a:pPr indent="0" marL="0">
              <a:lnSpc>
                <a:spcPct val="140000"/>
              </a:lnSpc>
              <a:buNone/>
            </a:pPr>
            <a:r>
              <a:rPr lang="en-US" sz="1350" dirty="0">
                <a:solidFill>
                  <a:srgbClr val="FFFFFF"/>
                </a:solidFill>
                <a:latin typeface="Microsoft YaHei" pitchFamily="34" charset="0"/>
                <a:ea typeface="Microsoft YaHei" pitchFamily="34" charset="-122"/>
                <a:cs typeface="Microsoft YaHei" pitchFamily="34" charset="-120"/>
              </a:rPr>
              <a:t>聚焦特定问题，通常用于验证性研究。</a:t>
            </a:r>
            <a:endParaRPr lang="en-US" sz="1350" dirty="0"/>
          </a:p>
        </p:txBody>
      </p:sp>
      <p:sp>
        <p:nvSpPr>
          <p:cNvPr id="21" name="Shape 17"/>
          <p:cNvSpPr/>
          <p:nvPr/>
        </p:nvSpPr>
        <p:spPr>
          <a:xfrm>
            <a:off x="3264408" y="3767328"/>
            <a:ext cx="5468112" cy="804672"/>
          </a:xfrm>
          <a:prstGeom prst="roundRect">
            <a:avLst>
              <a:gd name="adj" fmla="val 11364"/>
            </a:avLst>
          </a:prstGeom>
          <a:solidFill>
            <a:srgbClr val="F4F4F4"/>
          </a:solidFill>
          <a:ln/>
        </p:spPr>
      </p:sp>
      <p:sp>
        <p:nvSpPr>
          <p:cNvPr id="22" name="Text 18"/>
          <p:cNvSpPr txBox="1"/>
          <p:nvPr/>
        </p:nvSpPr>
        <p:spPr>
          <a:xfrm>
            <a:off x="3493008" y="3767328"/>
            <a:ext cx="5029200" cy="804672"/>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单人访谈分为深度访谈和简短访谈。</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单人访谈法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访谈技巧 · 访谈环境 · 记录访谈</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Skills, Setting &amp; Recording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12</a:t>
            </a:r>
            <a:endParaRPr lang="en-US" sz="750" dirty="0"/>
          </a:p>
        </p:txBody>
      </p:sp>
      <p:sp>
        <p:nvSpPr>
          <p:cNvPr id="11" name="Shape 9"/>
          <p:cNvSpPr/>
          <p:nvPr/>
        </p:nvSpPr>
        <p:spPr>
          <a:xfrm>
            <a:off x="411480" y="1188720"/>
            <a:ext cx="2700528" cy="3383280"/>
          </a:xfrm>
          <a:prstGeom prst="roundRect">
            <a:avLst>
              <a:gd name="adj" fmla="val 3386"/>
            </a:avLst>
          </a:prstGeom>
          <a:solidFill>
            <a:srgbClr val="E4FF97"/>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600" b="1" dirty="0">
                <a:solidFill>
                  <a:srgbClr val="111111"/>
                </a:solidFill>
                <a:latin typeface="Arial" pitchFamily="34" charset="0"/>
                <a:ea typeface="Arial" pitchFamily="34" charset="-122"/>
                <a:cs typeface="Arial" pitchFamily="34" charset="-120"/>
              </a:rPr>
              <a:t>01</a:t>
            </a:r>
            <a:endParaRPr lang="en-US" sz="2600" dirty="0"/>
          </a:p>
        </p:txBody>
      </p:sp>
      <p:sp>
        <p:nvSpPr>
          <p:cNvPr id="13" name="Text 11"/>
          <p:cNvSpPr txBox="1"/>
          <p:nvPr/>
        </p:nvSpPr>
        <p:spPr>
          <a:xfrm>
            <a:off x="640080" y="2084832"/>
            <a:ext cx="2289048" cy="384048"/>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访谈技巧</a:t>
            </a:r>
            <a:endParaRPr lang="en-US" sz="1800" dirty="0"/>
          </a:p>
        </p:txBody>
      </p:sp>
      <p:sp>
        <p:nvSpPr>
          <p:cNvPr id="14" name="Text 12"/>
          <p:cNvSpPr txBox="1"/>
          <p:nvPr/>
        </p:nvSpPr>
        <p:spPr>
          <a:xfrm>
            <a:off x="640080" y="2542032"/>
            <a:ext cx="2289048" cy="193852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111111"/>
                </a:solidFill>
                <a:latin typeface="Microsoft YaHei" pitchFamily="34" charset="0"/>
                <a:ea typeface="Microsoft YaHei" pitchFamily="34" charset="-122"/>
                <a:cs typeface="Microsoft YaHei" pitchFamily="34" charset="-120"/>
              </a:rPr>
              <a:t>访谈技巧包括倾听、提问和反馈。研究者在访谈中应鼓励用户自由表达，避免打断，同时通过适当反馈引导用户深入思考。</a:t>
            </a:r>
            <a:endParaRPr lang="en-US" sz="1300" dirty="0"/>
          </a:p>
        </p:txBody>
      </p:sp>
      <p:sp>
        <p:nvSpPr>
          <p:cNvPr id="15" name="Shape 13"/>
          <p:cNvSpPr/>
          <p:nvPr/>
        </p:nvSpPr>
        <p:spPr>
          <a:xfrm>
            <a:off x="3221736" y="1188720"/>
            <a:ext cx="2700528" cy="3383280"/>
          </a:xfrm>
          <a:prstGeom prst="roundRect">
            <a:avLst>
              <a:gd name="adj" fmla="val 3386"/>
            </a:avLst>
          </a:prstGeom>
          <a:solidFill>
            <a:srgbClr val="F4F4F4"/>
          </a:solidFill>
          <a:ln/>
        </p:spPr>
      </p:sp>
      <p:sp>
        <p:nvSpPr>
          <p:cNvPr id="16" name="Text 14"/>
          <p:cNvSpPr txBox="1"/>
          <p:nvPr/>
        </p:nvSpPr>
        <p:spPr>
          <a:xfrm>
            <a:off x="3450336" y="1353312"/>
            <a:ext cx="914400" cy="411480"/>
          </a:xfrm>
          <a:prstGeom prst="rect">
            <a:avLst/>
          </a:prstGeom>
          <a:noFill/>
          <a:ln/>
        </p:spPr>
        <p:txBody>
          <a:bodyPr wrap="square" lIns="0" tIns="0" rIns="0" bIns="0" rtlCol="0" anchor="t"/>
          <a:lstStyle/>
          <a:p>
            <a:pPr indent="0" marL="0">
              <a:buNone/>
            </a:pPr>
            <a:r>
              <a:rPr lang="en-US" sz="2600" b="1" dirty="0">
                <a:solidFill>
                  <a:srgbClr val="111111"/>
                </a:solidFill>
                <a:latin typeface="Arial" pitchFamily="34" charset="0"/>
                <a:ea typeface="Arial" pitchFamily="34" charset="-122"/>
                <a:cs typeface="Arial" pitchFamily="34" charset="-120"/>
              </a:rPr>
              <a:t>02</a:t>
            </a:r>
            <a:endParaRPr lang="en-US" sz="2600" dirty="0"/>
          </a:p>
        </p:txBody>
      </p:sp>
      <p:sp>
        <p:nvSpPr>
          <p:cNvPr id="17" name="Text 15"/>
          <p:cNvSpPr txBox="1"/>
          <p:nvPr/>
        </p:nvSpPr>
        <p:spPr>
          <a:xfrm>
            <a:off x="3450336" y="2084832"/>
            <a:ext cx="2289048" cy="384048"/>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访谈环境</a:t>
            </a:r>
            <a:endParaRPr lang="en-US" sz="1800" dirty="0"/>
          </a:p>
        </p:txBody>
      </p:sp>
      <p:sp>
        <p:nvSpPr>
          <p:cNvPr id="18" name="Text 16"/>
          <p:cNvSpPr txBox="1"/>
          <p:nvPr/>
        </p:nvSpPr>
        <p:spPr>
          <a:xfrm>
            <a:off x="3450336" y="2542032"/>
            <a:ext cx="2289048" cy="193852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111111"/>
                </a:solidFill>
                <a:latin typeface="Microsoft YaHei" pitchFamily="34" charset="0"/>
                <a:ea typeface="Microsoft YaHei" pitchFamily="34" charset="-122"/>
                <a:cs typeface="Microsoft YaHei" pitchFamily="34" charset="-120"/>
              </a:rPr>
              <a:t>访谈环境应安静、私密，以便用户能够无干扰地进行讨论。选择合适的场所如办公室、用户家中或线上平台，确保用户的参与度。</a:t>
            </a:r>
            <a:endParaRPr lang="en-US" sz="1300" dirty="0"/>
          </a:p>
        </p:txBody>
      </p:sp>
      <p:sp>
        <p:nvSpPr>
          <p:cNvPr id="19" name="Shape 17"/>
          <p:cNvSpPr/>
          <p:nvPr/>
        </p:nvSpPr>
        <p:spPr>
          <a:xfrm>
            <a:off x="6031992" y="1188720"/>
            <a:ext cx="2700528" cy="3383280"/>
          </a:xfrm>
          <a:prstGeom prst="roundRect">
            <a:avLst>
              <a:gd name="adj" fmla="val 3386"/>
            </a:avLst>
          </a:prstGeom>
          <a:solidFill>
            <a:srgbClr val="111111"/>
          </a:solidFill>
          <a:ln/>
        </p:spPr>
      </p:sp>
      <p:sp>
        <p:nvSpPr>
          <p:cNvPr id="20" name="Text 18"/>
          <p:cNvSpPr txBox="1"/>
          <p:nvPr/>
        </p:nvSpPr>
        <p:spPr>
          <a:xfrm>
            <a:off x="6260592" y="1353312"/>
            <a:ext cx="914400" cy="411480"/>
          </a:xfrm>
          <a:prstGeom prst="rect">
            <a:avLst/>
          </a:prstGeom>
          <a:noFill/>
          <a:ln/>
        </p:spPr>
        <p:txBody>
          <a:bodyPr wrap="square" lIns="0" tIns="0" rIns="0" bIns="0" rtlCol="0" anchor="t"/>
          <a:lstStyle/>
          <a:p>
            <a:pPr indent="0" marL="0">
              <a:buNone/>
            </a:pPr>
            <a:r>
              <a:rPr lang="en-US" sz="2600" b="1" dirty="0">
                <a:solidFill>
                  <a:srgbClr val="E4FF97"/>
                </a:solidFill>
                <a:latin typeface="Arial" pitchFamily="34" charset="0"/>
                <a:ea typeface="Arial" pitchFamily="34" charset="-122"/>
                <a:cs typeface="Arial" pitchFamily="34" charset="-120"/>
              </a:rPr>
              <a:t>03</a:t>
            </a:r>
            <a:endParaRPr lang="en-US" sz="2600" dirty="0"/>
          </a:p>
        </p:txBody>
      </p:sp>
      <p:sp>
        <p:nvSpPr>
          <p:cNvPr id="21" name="Text 19"/>
          <p:cNvSpPr txBox="1"/>
          <p:nvPr/>
        </p:nvSpPr>
        <p:spPr>
          <a:xfrm>
            <a:off x="6260592" y="2084832"/>
            <a:ext cx="2289048" cy="384048"/>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记录访谈</a:t>
            </a:r>
            <a:endParaRPr lang="en-US" sz="1800" dirty="0"/>
          </a:p>
        </p:txBody>
      </p:sp>
      <p:sp>
        <p:nvSpPr>
          <p:cNvPr id="22" name="Text 20"/>
          <p:cNvSpPr txBox="1"/>
          <p:nvPr/>
        </p:nvSpPr>
        <p:spPr>
          <a:xfrm>
            <a:off x="6260592" y="2542032"/>
            <a:ext cx="2289048" cy="193852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FFFFFF"/>
                </a:solidFill>
                <a:latin typeface="Microsoft YaHei" pitchFamily="34" charset="0"/>
                <a:ea typeface="Microsoft YaHei" pitchFamily="34" charset="-122"/>
                <a:cs typeface="Microsoft YaHei" pitchFamily="34" charset="-120"/>
              </a:rPr>
              <a:t>访谈数据可以通过录音、笔记等方式记录，确保后续分析的完整性。研究者需在访谈前取得用户的录音许可，以确保隐私保护。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单人访谈法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Study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13</a:t>
            </a:r>
            <a:endParaRPr lang="en-US" sz="750" dirty="0"/>
          </a:p>
        </p:txBody>
      </p:sp>
      <p:sp>
        <p:nvSpPr>
          <p:cNvPr id="11" name="Shape 9"/>
          <p:cNvSpPr/>
          <p:nvPr/>
        </p:nvSpPr>
        <p:spPr>
          <a:xfrm>
            <a:off x="411480" y="1188720"/>
            <a:ext cx="8321040" cy="3383280"/>
          </a:xfrm>
          <a:prstGeom prst="roundRect">
            <a:avLst>
              <a:gd name="adj" fmla="val 2703"/>
            </a:avLst>
          </a:prstGeom>
          <a:solidFill>
            <a:srgbClr val="F4F4F4"/>
          </a:solidFill>
          <a:ln/>
        </p:spPr>
      </p:sp>
      <p:sp>
        <p:nvSpPr>
          <p:cNvPr id="12" name="Shape 10"/>
          <p:cNvSpPr/>
          <p:nvPr/>
        </p:nvSpPr>
        <p:spPr>
          <a:xfrm>
            <a:off x="411480" y="1188720"/>
            <a:ext cx="2743200" cy="3383280"/>
          </a:xfrm>
          <a:prstGeom prst="roundRect">
            <a:avLst>
              <a:gd name="adj" fmla="val 3333"/>
            </a:avLst>
          </a:prstGeom>
          <a:solidFill>
            <a:srgbClr val="E4FF97"/>
          </a:solidFill>
          <a:ln/>
        </p:spPr>
      </p:sp>
      <p:sp>
        <p:nvSpPr>
          <p:cNvPr id="13" name="Text 11"/>
          <p:cNvSpPr txBox="1"/>
          <p:nvPr/>
        </p:nvSpPr>
        <p:spPr>
          <a:xfrm>
            <a:off x="640080" y="1371600"/>
            <a:ext cx="2286000" cy="73152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CASE</a:t>
            </a:r>
            <a:endParaRPr lang="en-US" sz="3600" dirty="0"/>
          </a:p>
        </p:txBody>
      </p:sp>
      <p:sp>
        <p:nvSpPr>
          <p:cNvPr id="14" name="Text 12"/>
          <p:cNvSpPr txBox="1"/>
          <p:nvPr/>
        </p:nvSpPr>
        <p:spPr>
          <a:xfrm>
            <a:off x="640080" y="3840480"/>
            <a:ext cx="2286000" cy="457200"/>
          </a:xfrm>
          <a:prstGeom prst="rect">
            <a:avLst/>
          </a:prstGeom>
          <a:noFill/>
          <a:ln/>
        </p:spPr>
        <p:txBody>
          <a:bodyPr wrap="square" lIns="0" tIns="0" rIns="0" bIns="0" rtlCol="0" anchor="b"/>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单人访谈法</a:t>
            </a:r>
            <a:endParaRPr lang="en-US" sz="1600" dirty="0"/>
          </a:p>
        </p:txBody>
      </p:sp>
      <p:sp>
        <p:nvSpPr>
          <p:cNvPr id="15" name="Text 13"/>
          <p:cNvSpPr txBox="1"/>
          <p:nvPr/>
        </p:nvSpPr>
        <p:spPr>
          <a:xfrm>
            <a:off x="3474720" y="1188720"/>
            <a:ext cx="4983480" cy="3383280"/>
          </a:xfrm>
          <a:prstGeom prst="rect">
            <a:avLst/>
          </a:prstGeom>
          <a:noFill/>
          <a:ln/>
        </p:spPr>
        <p:txBody>
          <a:bodyPr wrap="square" lIns="0" tIns="0" rIns="0" bIns="0" rtlCol="0" anchor="ctr"/>
          <a:lstStyle/>
          <a:p>
            <a:pPr indent="0" marL="0">
              <a:lnSpc>
                <a:spcPct val="160000"/>
              </a:lnSpc>
              <a:buNone/>
            </a:pPr>
            <a:r>
              <a:rPr lang="en-US" sz="2000" dirty="0">
                <a:solidFill>
                  <a:srgbClr val="111111"/>
                </a:solidFill>
                <a:latin typeface="Microsoft YaHei" pitchFamily="34" charset="0"/>
                <a:ea typeface="Microsoft YaHei" pitchFamily="34" charset="-122"/>
                <a:cs typeface="Microsoft YaHei" pitchFamily="34" charset="-120"/>
              </a:rPr>
              <a:t>某产品的用户需求收集采用了单人访谈法，通过与用户的交流，发现了用户在使用过程中的</a:t>
            </a:r>
            <a:pPr indent="0" marL="0">
              <a:lnSpc>
                <a:spcPct val="160000"/>
              </a:lnSpc>
              <a:buNone/>
            </a:pPr>
            <a:r>
              <a:rPr lang="en-US" sz="2000" b="1" dirty="0">
                <a:solidFill>
                  <a:srgbClr val="111111"/>
                </a:solidFill>
                <a:highlight>
                  <a:srgbClr val="E4FF97"/>
                </a:highlight>
                <a:latin typeface="Microsoft YaHei" pitchFamily="34" charset="0"/>
                <a:ea typeface="Microsoft YaHei" pitchFamily="34" charset="-122"/>
                <a:cs typeface="Microsoft YaHei" pitchFamily="34" charset="-120"/>
              </a:rPr>
              <a:t>痛点</a:t>
            </a:r>
            <a:pPr indent="0" marL="0">
              <a:lnSpc>
                <a:spcPct val="160000"/>
              </a:lnSpc>
              <a:buNone/>
            </a:pPr>
            <a:r>
              <a:rPr lang="en-US" sz="2000" dirty="0">
                <a:solidFill>
                  <a:srgbClr val="111111"/>
                </a:solidFill>
                <a:latin typeface="Microsoft YaHei" pitchFamily="34" charset="0"/>
                <a:ea typeface="Microsoft YaHei" pitchFamily="34" charset="-122"/>
                <a:cs typeface="Microsoft YaHei" pitchFamily="34" charset="-120"/>
              </a:rPr>
              <a:t>，优化了产品功能。</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PART 03</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焦点小组</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Focus Group</a:t>
            </a:r>
            <a:endParaRPr lang="en-US" sz="1400" dirty="0"/>
          </a:p>
        </p:txBody>
      </p:sp>
      <p:sp>
        <p:nvSpPr>
          <p:cNvPr id="5" name="Shape 3"/>
          <p:cNvSpPr/>
          <p:nvPr/>
        </p:nvSpPr>
        <p:spPr>
          <a:xfrm>
            <a:off x="411480" y="2011680"/>
            <a:ext cx="457200" cy="603504"/>
          </a:xfrm>
          <a:prstGeom prst="rect">
            <a:avLst/>
          </a:prstGeom>
          <a:solidFill>
            <a:srgbClr val="FFC9C1"/>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什么是焦点小组</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焦点小组的特点 · 结构</a:t>
            </a:r>
            <a:endParaRPr lang="en-US" sz="950" dirty="0"/>
          </a:p>
        </p:txBody>
      </p:sp>
      <p:sp>
        <p:nvSpPr>
          <p:cNvPr id="10" name="Shape 8"/>
          <p:cNvSpPr/>
          <p:nvPr/>
        </p:nvSpPr>
        <p:spPr>
          <a:xfrm>
            <a:off x="411480" y="2706624"/>
            <a:ext cx="457200" cy="457200"/>
          </a:xfrm>
          <a:prstGeom prst="rect">
            <a:avLst/>
          </a:prstGeom>
          <a:solidFill>
            <a:srgbClr val="C9F5C0"/>
          </a:solidFill>
          <a:ln/>
        </p:spPr>
      </p:sp>
      <p:sp>
        <p:nvSpPr>
          <p:cNvPr id="11" name="Text 9"/>
          <p:cNvSpPr txBox="1"/>
          <p:nvPr/>
        </p:nvSpPr>
        <p:spPr>
          <a:xfrm>
            <a:off x="411480" y="270662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457200"/>
          </a:xfrm>
          <a:prstGeom prst="rect">
            <a:avLst/>
          </a:prstGeom>
          <a:solidFill>
            <a:srgbClr val="F4F4F4"/>
          </a:solidFill>
          <a:ln/>
        </p:spPr>
      </p:sp>
      <p:sp>
        <p:nvSpPr>
          <p:cNvPr id="13" name="Text 11"/>
          <p:cNvSpPr txBox="1"/>
          <p:nvPr/>
        </p:nvSpPr>
        <p:spPr>
          <a:xfrm>
            <a:off x="1097280" y="270662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研究主题和目标用户 · 访谈大纲 · 访谈场所</a:t>
            </a:r>
            <a:endParaRPr lang="en-US" sz="1350" dirty="0"/>
          </a:p>
        </p:txBody>
      </p:sp>
      <p:sp>
        <p:nvSpPr>
          <p:cNvPr id="14" name="Shape 12"/>
          <p:cNvSpPr/>
          <p:nvPr/>
        </p:nvSpPr>
        <p:spPr>
          <a:xfrm>
            <a:off x="411480" y="3255264"/>
            <a:ext cx="457200" cy="457200"/>
          </a:xfrm>
          <a:prstGeom prst="rect">
            <a:avLst/>
          </a:prstGeom>
          <a:solidFill>
            <a:srgbClr val="FFE3A3"/>
          </a:solidFill>
          <a:ln/>
        </p:spPr>
      </p:sp>
      <p:sp>
        <p:nvSpPr>
          <p:cNvPr id="15" name="Text 13"/>
          <p:cNvSpPr txBox="1"/>
          <p:nvPr/>
        </p:nvSpPr>
        <p:spPr>
          <a:xfrm>
            <a:off x="411480" y="325526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457200"/>
          </a:xfrm>
          <a:prstGeom prst="rect">
            <a:avLst/>
          </a:prstGeom>
          <a:solidFill>
            <a:srgbClr val="F4F4F4"/>
          </a:solidFill>
          <a:ln/>
        </p:spPr>
      </p:sp>
      <p:sp>
        <p:nvSpPr>
          <p:cNvPr id="17" name="Text 15"/>
          <p:cNvSpPr txBox="1"/>
          <p:nvPr/>
        </p:nvSpPr>
        <p:spPr>
          <a:xfrm>
            <a:off x="1097280" y="325526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主持人技巧 · 记录和分析 · 常见问题</a:t>
            </a:r>
            <a:endParaRPr lang="en-US" sz="1350" dirty="0"/>
          </a:p>
        </p:txBody>
      </p:sp>
      <p:sp>
        <p:nvSpPr>
          <p:cNvPr id="18" name="Shape 16"/>
          <p:cNvSpPr/>
          <p:nvPr/>
        </p:nvSpPr>
        <p:spPr>
          <a:xfrm>
            <a:off x="411480" y="3803904"/>
            <a:ext cx="457200" cy="457200"/>
          </a:xfrm>
          <a:prstGeom prst="rect">
            <a:avLst/>
          </a:prstGeom>
          <a:solidFill>
            <a:srgbClr val="C7F8FB"/>
          </a:solidFill>
          <a:ln/>
        </p:spPr>
      </p:sp>
      <p:sp>
        <p:nvSpPr>
          <p:cNvPr id="19" name="Text 17"/>
          <p:cNvSpPr txBox="1"/>
          <p:nvPr/>
        </p:nvSpPr>
        <p:spPr>
          <a:xfrm>
            <a:off x="411480" y="380390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20" name="Shape 18"/>
          <p:cNvSpPr/>
          <p:nvPr/>
        </p:nvSpPr>
        <p:spPr>
          <a:xfrm>
            <a:off x="941832" y="3803904"/>
            <a:ext cx="4343400" cy="457200"/>
          </a:xfrm>
          <a:prstGeom prst="rect">
            <a:avLst/>
          </a:prstGeom>
          <a:solidFill>
            <a:srgbClr val="F4F4F4"/>
          </a:solidFill>
          <a:ln/>
        </p:spPr>
      </p:sp>
      <p:sp>
        <p:nvSpPr>
          <p:cNvPr id="21" name="Text 19"/>
          <p:cNvSpPr txBox="1"/>
          <p:nvPr/>
        </p:nvSpPr>
        <p:spPr>
          <a:xfrm>
            <a:off x="1097280" y="380390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应用案例</a:t>
            </a:r>
            <a:endParaRPr lang="en-US" sz="1350" dirty="0"/>
          </a:p>
        </p:txBody>
      </p:sp>
      <p:sp>
        <p:nvSpPr>
          <p:cNvPr id="22" name="Shape 20"/>
          <p:cNvSpPr/>
          <p:nvPr/>
        </p:nvSpPr>
        <p:spPr>
          <a:xfrm>
            <a:off x="411480" y="4818888"/>
            <a:ext cx="77724" cy="77724"/>
          </a:xfrm>
          <a:prstGeom prst="ellipse">
            <a:avLst/>
          </a:prstGeom>
          <a:solidFill>
            <a:srgbClr val="4D49FC"/>
          </a:solidFill>
          <a:ln/>
        </p:spPr>
      </p:sp>
      <p:sp>
        <p:nvSpPr>
          <p:cNvPr id="23" name="Shape 21"/>
          <p:cNvSpPr/>
          <p:nvPr/>
        </p:nvSpPr>
        <p:spPr>
          <a:xfrm>
            <a:off x="507492" y="4818888"/>
            <a:ext cx="77724" cy="77724"/>
          </a:xfrm>
          <a:prstGeom prst="ellipse">
            <a:avLst/>
          </a:prstGeom>
          <a:solidFill>
            <a:srgbClr val="4D49FC"/>
          </a:solidFill>
          <a:ln/>
        </p:spPr>
      </p:sp>
      <p:sp>
        <p:nvSpPr>
          <p:cNvPr id="24" name="Shape 22"/>
          <p:cNvSpPr/>
          <p:nvPr/>
        </p:nvSpPr>
        <p:spPr>
          <a:xfrm>
            <a:off x="411480" y="4914900"/>
            <a:ext cx="77724" cy="77724"/>
          </a:xfrm>
          <a:prstGeom prst="ellipse">
            <a:avLst/>
          </a:prstGeom>
          <a:solidFill>
            <a:srgbClr val="4D49FC"/>
          </a:solidFill>
          <a:ln/>
        </p:spPr>
      </p:sp>
      <p:sp>
        <p:nvSpPr>
          <p:cNvPr id="25" name="Shape 23"/>
          <p:cNvSpPr/>
          <p:nvPr/>
        </p:nvSpPr>
        <p:spPr>
          <a:xfrm>
            <a:off x="507492" y="4914900"/>
            <a:ext cx="77724" cy="77724"/>
          </a:xfrm>
          <a:prstGeom prst="ellipse">
            <a:avLst/>
          </a:prstGeom>
          <a:solidFill>
            <a:srgbClr val="4D49FC"/>
          </a:solidFill>
          <a:ln/>
        </p:spPr>
      </p:sp>
      <p:sp>
        <p:nvSpPr>
          <p:cNvPr id="26" name="Text 24"/>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7" name="Text 25"/>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14</a:t>
            </a:r>
            <a:endParaRPr lang="en-US" sz="750" dirty="0"/>
          </a:p>
        </p:txBody>
      </p:sp>
      <p:pic>
        <p:nvPicPr>
          <p:cNvPr id="28" name="Image 0" descr="decorative collage">    </p:cNvPr>
          <p:cNvPicPr>
            <a:picLocks noChangeAspect="1"/>
          </p:cNvPicPr>
          <p:nvPr/>
        </p:nvPicPr>
        <p:blipFill>
          <a:blip r:embed="rId1"/>
          <a:stretch>
            <a:fillRect/>
          </a:stretch>
        </p:blipFill>
        <p:spPr>
          <a:xfrm>
            <a:off x="5577840" y="2601565"/>
            <a:ext cx="3154680" cy="21075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焦点小组</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什么是焦点小组</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is a Focus Group</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15</a:t>
            </a:r>
            <a:endParaRPr lang="en-US" sz="750" dirty="0"/>
          </a:p>
        </p:txBody>
      </p:sp>
      <p:sp>
        <p:nvSpPr>
          <p:cNvPr id="11" name="Shape 9"/>
          <p:cNvSpPr/>
          <p:nvPr/>
        </p:nvSpPr>
        <p:spPr>
          <a:xfrm>
            <a:off x="411480" y="1188720"/>
            <a:ext cx="3931920" cy="3383280"/>
          </a:xfrm>
          <a:prstGeom prst="roundRect">
            <a:avLst>
              <a:gd name="adj" fmla="val 2703"/>
            </a:avLst>
          </a:prstGeom>
          <a:solidFill>
            <a:srgbClr val="FFC9C1"/>
          </a:solidFill>
          <a:ln/>
        </p:spPr>
      </p:sp>
      <p:sp>
        <p:nvSpPr>
          <p:cNvPr id="12" name="Text 10"/>
          <p:cNvSpPr txBox="1"/>
          <p:nvPr/>
        </p:nvSpPr>
        <p:spPr>
          <a:xfrm>
            <a:off x="685800" y="1371600"/>
            <a:ext cx="3474720" cy="640080"/>
          </a:xfrm>
          <a:prstGeom prst="rect">
            <a:avLst/>
          </a:prstGeom>
          <a:noFill/>
          <a:ln/>
        </p:spPr>
        <p:txBody>
          <a:bodyPr wrap="square" lIns="0" tIns="0" rIns="0" bIns="0" rtlCol="0" anchor="t"/>
          <a:lstStyle/>
          <a:p>
            <a:pPr indent="0" marL="0">
              <a:buNone/>
            </a:pPr>
            <a:r>
              <a:rPr lang="en-US" sz="2600" b="1" dirty="0">
                <a:solidFill>
                  <a:srgbClr val="111111"/>
                </a:solidFill>
                <a:latin typeface="Microsoft YaHei" pitchFamily="34" charset="0"/>
                <a:ea typeface="Microsoft YaHei" pitchFamily="34" charset="-122"/>
                <a:cs typeface="Microsoft YaHei" pitchFamily="34" charset="-120"/>
              </a:rPr>
              <a:t>焦点小组</a:t>
            </a:r>
            <a:endParaRPr lang="en-US" sz="2600" dirty="0"/>
          </a:p>
        </p:txBody>
      </p:sp>
      <p:sp>
        <p:nvSpPr>
          <p:cNvPr id="13" name="Text 11"/>
          <p:cNvSpPr txBox="1"/>
          <p:nvPr/>
        </p:nvSpPr>
        <p:spPr>
          <a:xfrm>
            <a:off x="685800" y="2194560"/>
            <a:ext cx="3429000" cy="2194560"/>
          </a:xfrm>
          <a:prstGeom prst="rect">
            <a:avLst/>
          </a:prstGeom>
          <a:noFill/>
          <a:ln/>
        </p:spPr>
        <p:txBody>
          <a:bodyPr wrap="square" lIns="0" tIns="0" rIns="0" bIns="0" rtlCol="0" anchor="t"/>
          <a:lstStyle/>
          <a:p>
            <a:pPr indent="0" marL="0">
              <a:lnSpc>
                <a:spcPct val="155000"/>
              </a:lnSpc>
              <a:buNone/>
            </a:pPr>
            <a:r>
              <a:rPr lang="en-US" sz="1500" dirty="0">
                <a:solidFill>
                  <a:srgbClr val="111111"/>
                </a:solidFill>
                <a:latin typeface="Microsoft YaHei" pitchFamily="34" charset="0"/>
                <a:ea typeface="Microsoft YaHei" pitchFamily="34" charset="-122"/>
                <a:cs typeface="Microsoft YaHei" pitchFamily="34" charset="-120"/>
              </a:rPr>
              <a:t>焦点小组是一种小组讨论方法，研究者引导用户围绕特定主题进行讨论，收集用户的多样化反馈，适合探索性研究和概念评估。</a:t>
            </a:r>
            <a:endParaRPr lang="en-US" sz="1500" dirty="0"/>
          </a:p>
        </p:txBody>
      </p:sp>
      <p:pic>
        <p:nvPicPr>
          <p:cNvPr id="14" name="Image 0" descr="p18_1">    </p:cNvPr>
          <p:cNvPicPr>
            <a:picLocks noChangeAspect="1"/>
          </p:cNvPicPr>
          <p:nvPr/>
        </p:nvPicPr>
        <p:blipFill>
          <a:blip r:embed="rId1"/>
          <a:stretch>
            <a:fillRect/>
          </a:stretch>
        </p:blipFill>
        <p:spPr>
          <a:xfrm>
            <a:off x="4453128" y="1188720"/>
            <a:ext cx="4279392" cy="3383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焦点小组</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焦点小组的特点 · 结构</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Features &amp; Structure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16</a:t>
            </a:r>
            <a:endParaRPr lang="en-US" sz="750" dirty="0"/>
          </a:p>
        </p:txBody>
      </p:sp>
      <p:pic>
        <p:nvPicPr>
          <p:cNvPr id="11" name="Image 0" descr="p19_2">    </p:cNvPr>
          <p:cNvPicPr>
            <a:picLocks noChangeAspect="1"/>
          </p:cNvPicPr>
          <p:nvPr/>
        </p:nvPicPr>
        <p:blipFill>
          <a:blip r:embed="rId1"/>
          <a:stretch>
            <a:fillRect/>
          </a:stretch>
        </p:blipFill>
        <p:spPr>
          <a:xfrm>
            <a:off x="411480" y="1188720"/>
            <a:ext cx="3017520" cy="3383280"/>
          </a:xfrm>
          <a:prstGeom prst="rect">
            <a:avLst/>
          </a:prstGeom>
        </p:spPr>
      </p:pic>
      <p:sp>
        <p:nvSpPr>
          <p:cNvPr id="12" name="Shape 9"/>
          <p:cNvSpPr/>
          <p:nvPr/>
        </p:nvSpPr>
        <p:spPr>
          <a:xfrm>
            <a:off x="3538728" y="1188720"/>
            <a:ext cx="5193792" cy="1636776"/>
          </a:xfrm>
          <a:prstGeom prst="roundRect">
            <a:avLst>
              <a:gd name="adj" fmla="val 5587"/>
            </a:avLst>
          </a:prstGeom>
          <a:solidFill>
            <a:srgbClr val="F4F4F4"/>
          </a:solidFill>
          <a:ln/>
        </p:spPr>
      </p:sp>
      <p:sp>
        <p:nvSpPr>
          <p:cNvPr id="13" name="Text 10"/>
          <p:cNvSpPr txBox="1"/>
          <p:nvPr/>
        </p:nvSpPr>
        <p:spPr>
          <a:xfrm>
            <a:off x="376732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4" name="Text 11"/>
          <p:cNvSpPr txBox="1"/>
          <p:nvPr/>
        </p:nvSpPr>
        <p:spPr>
          <a:xfrm>
            <a:off x="3767328" y="1673352"/>
            <a:ext cx="478231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焦点小组的特点</a:t>
            </a:r>
            <a:endParaRPr lang="en-US" sz="1500" dirty="0"/>
          </a:p>
        </p:txBody>
      </p:sp>
      <p:sp>
        <p:nvSpPr>
          <p:cNvPr id="15" name="Text 12"/>
          <p:cNvSpPr txBox="1"/>
          <p:nvPr/>
        </p:nvSpPr>
        <p:spPr>
          <a:xfrm>
            <a:off x="3767328"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111111"/>
                </a:solidFill>
                <a:latin typeface="Microsoft YaHei" pitchFamily="34" charset="0"/>
                <a:ea typeface="Microsoft YaHei" pitchFamily="34" charset="-122"/>
                <a:cs typeface="Microsoft YaHei" pitchFamily="34" charset="-120"/>
              </a:rPr>
              <a:t>焦点小组的互动性强，用户之间的讨论能够激发更多想法，为研究提供丰富的反馈。同时，该方法适合短时间内获取大量信息，但需主持人具备控场能力。</a:t>
            </a:r>
            <a:endParaRPr lang="en-US" sz="1200" dirty="0"/>
          </a:p>
        </p:txBody>
      </p:sp>
      <p:sp>
        <p:nvSpPr>
          <p:cNvPr id="16" name="Shape 13"/>
          <p:cNvSpPr/>
          <p:nvPr/>
        </p:nvSpPr>
        <p:spPr>
          <a:xfrm>
            <a:off x="3538728" y="2935224"/>
            <a:ext cx="5193792" cy="1636776"/>
          </a:xfrm>
          <a:prstGeom prst="roundRect">
            <a:avLst>
              <a:gd name="adj" fmla="val 5587"/>
            </a:avLst>
          </a:prstGeom>
          <a:solidFill>
            <a:srgbClr val="111111"/>
          </a:solidFill>
          <a:ln/>
        </p:spPr>
      </p:sp>
      <p:sp>
        <p:nvSpPr>
          <p:cNvPr id="17" name="Text 14"/>
          <p:cNvSpPr txBox="1"/>
          <p:nvPr/>
        </p:nvSpPr>
        <p:spPr>
          <a:xfrm>
            <a:off x="3767328" y="3099816"/>
            <a:ext cx="914400" cy="411480"/>
          </a:xfrm>
          <a:prstGeom prst="rect">
            <a:avLst/>
          </a:prstGeom>
          <a:noFill/>
          <a:ln/>
        </p:spPr>
        <p:txBody>
          <a:bodyPr wrap="square" lIns="0" tIns="0" rIns="0" bIns="0" rtlCol="0" anchor="t"/>
          <a:lstStyle/>
          <a:p>
            <a:pPr indent="0" marL="0">
              <a:buNone/>
            </a:pPr>
            <a:r>
              <a:rPr lang="en-US" sz="1400" b="1" dirty="0">
                <a:solidFill>
                  <a:srgbClr val="FFC9C1"/>
                </a:solidFill>
                <a:latin typeface="Arial" pitchFamily="34" charset="0"/>
                <a:ea typeface="Arial" pitchFamily="34" charset="-122"/>
                <a:cs typeface="Arial" pitchFamily="34" charset="-120"/>
              </a:rPr>
              <a:t>02</a:t>
            </a:r>
            <a:endParaRPr lang="en-US" sz="1400" dirty="0"/>
          </a:p>
        </p:txBody>
      </p:sp>
      <p:sp>
        <p:nvSpPr>
          <p:cNvPr id="18" name="Text 15"/>
          <p:cNvSpPr txBox="1"/>
          <p:nvPr/>
        </p:nvSpPr>
        <p:spPr>
          <a:xfrm>
            <a:off x="3767328" y="3419856"/>
            <a:ext cx="478231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焦点小组的结构</a:t>
            </a:r>
            <a:endParaRPr lang="en-US" sz="1500" dirty="0"/>
          </a:p>
        </p:txBody>
      </p:sp>
      <p:sp>
        <p:nvSpPr>
          <p:cNvPr id="19" name="Text 16"/>
          <p:cNvSpPr txBox="1"/>
          <p:nvPr/>
        </p:nvSpPr>
        <p:spPr>
          <a:xfrm>
            <a:off x="3767328"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FFFFFF"/>
                </a:solidFill>
                <a:latin typeface="Microsoft YaHei" pitchFamily="34" charset="0"/>
                <a:ea typeface="Microsoft YaHei" pitchFamily="34" charset="-122"/>
                <a:cs typeface="Microsoft YaHei" pitchFamily="34" charset="-120"/>
              </a:rPr>
              <a:t>焦点小组的结构包括预设问题和自由讨论，确保数据的系统性和互动性。</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焦点小组</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研究主题和目标用户 · 访谈大纲 · 访谈场所</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Planning a Focus Group</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17</a:t>
            </a:r>
            <a:endParaRPr lang="en-US" sz="750" dirty="0"/>
          </a:p>
        </p:txBody>
      </p:sp>
      <p:sp>
        <p:nvSpPr>
          <p:cNvPr id="11" name="Shape 9"/>
          <p:cNvSpPr/>
          <p:nvPr/>
        </p:nvSpPr>
        <p:spPr>
          <a:xfrm>
            <a:off x="411480" y="1188720"/>
            <a:ext cx="2700528" cy="3383280"/>
          </a:xfrm>
          <a:prstGeom prst="roundRect">
            <a:avLst>
              <a:gd name="adj" fmla="val 3386"/>
            </a:avLst>
          </a:prstGeom>
          <a:solidFill>
            <a:srgbClr val="FFC9C1"/>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01</a:t>
            </a:r>
            <a:endParaRPr lang="en-US" sz="2400" dirty="0"/>
          </a:p>
        </p:txBody>
      </p:sp>
      <p:sp>
        <p:nvSpPr>
          <p:cNvPr id="13" name="Text 11"/>
          <p:cNvSpPr txBox="1"/>
          <p:nvPr/>
        </p:nvSpPr>
        <p:spPr>
          <a:xfrm>
            <a:off x="640080" y="2039112"/>
            <a:ext cx="2289048"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研究主题和目标用户</a:t>
            </a:r>
            <a:endParaRPr lang="en-US" sz="1600" dirty="0"/>
          </a:p>
        </p:txBody>
      </p:sp>
      <p:sp>
        <p:nvSpPr>
          <p:cNvPr id="14" name="Text 12"/>
          <p:cNvSpPr txBox="1"/>
          <p:nvPr/>
        </p:nvSpPr>
        <p:spPr>
          <a:xfrm>
            <a:off x="640080" y="2496312"/>
            <a:ext cx="2289048" cy="198424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在组织焦点小组之前，研究者首先需要明确研究主题和目标用户。</a:t>
            </a:r>
            <a:endParaRPr lang="en-US" sz="1250" dirty="0"/>
          </a:p>
          <a:p>
            <a:pPr marL="152400" indent="-152400">
              <a:lnSpc>
                <a:spcPct val="135000"/>
              </a:lnSpc>
              <a:spcAft>
                <a:spcPts val="5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研究主题是焦点小组讨论的核心，例如新产品的用户需求、界面设计的易用性等。</a:t>
            </a:r>
            <a:endParaRPr lang="en-US" sz="1250" dirty="0"/>
          </a:p>
        </p:txBody>
      </p:sp>
      <p:sp>
        <p:nvSpPr>
          <p:cNvPr id="15" name="Shape 13"/>
          <p:cNvSpPr/>
          <p:nvPr/>
        </p:nvSpPr>
        <p:spPr>
          <a:xfrm>
            <a:off x="3221736" y="1188720"/>
            <a:ext cx="2700528" cy="3383280"/>
          </a:xfrm>
          <a:prstGeom prst="roundRect">
            <a:avLst>
              <a:gd name="adj" fmla="val 3386"/>
            </a:avLst>
          </a:prstGeom>
          <a:solidFill>
            <a:srgbClr val="F4F4F4"/>
          </a:solidFill>
          <a:ln/>
        </p:spPr>
      </p:sp>
      <p:sp>
        <p:nvSpPr>
          <p:cNvPr id="16" name="Text 14"/>
          <p:cNvSpPr txBox="1"/>
          <p:nvPr/>
        </p:nvSpPr>
        <p:spPr>
          <a:xfrm>
            <a:off x="3450336" y="1353312"/>
            <a:ext cx="914400" cy="41148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02</a:t>
            </a:r>
            <a:endParaRPr lang="en-US" sz="2400" dirty="0"/>
          </a:p>
        </p:txBody>
      </p:sp>
      <p:sp>
        <p:nvSpPr>
          <p:cNvPr id="17" name="Text 15"/>
          <p:cNvSpPr txBox="1"/>
          <p:nvPr/>
        </p:nvSpPr>
        <p:spPr>
          <a:xfrm>
            <a:off x="3450336" y="2039112"/>
            <a:ext cx="2289048"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访谈大纲</a:t>
            </a:r>
            <a:endParaRPr lang="en-US" sz="1600" dirty="0"/>
          </a:p>
        </p:txBody>
      </p:sp>
      <p:sp>
        <p:nvSpPr>
          <p:cNvPr id="18" name="Text 16"/>
          <p:cNvSpPr txBox="1"/>
          <p:nvPr/>
        </p:nvSpPr>
        <p:spPr>
          <a:xfrm>
            <a:off x="3450336" y="2496312"/>
            <a:ext cx="2289048" cy="198424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111111"/>
                </a:solidFill>
                <a:latin typeface="Microsoft YaHei" pitchFamily="34" charset="0"/>
                <a:ea typeface="Microsoft YaHei" pitchFamily="34" charset="-122"/>
                <a:cs typeface="Microsoft YaHei" pitchFamily="34" charset="-120"/>
              </a:rPr>
              <a:t>访谈大纲是焦点小组讨论的基本框架，通常包括引导性问题和深度挖掘问题。</a:t>
            </a:r>
            <a:endParaRPr lang="en-US" sz="1250" dirty="0"/>
          </a:p>
        </p:txBody>
      </p:sp>
      <p:sp>
        <p:nvSpPr>
          <p:cNvPr id="19" name="Shape 17"/>
          <p:cNvSpPr/>
          <p:nvPr/>
        </p:nvSpPr>
        <p:spPr>
          <a:xfrm>
            <a:off x="6031992" y="1188720"/>
            <a:ext cx="2700528" cy="3383280"/>
          </a:xfrm>
          <a:prstGeom prst="roundRect">
            <a:avLst>
              <a:gd name="adj" fmla="val 3386"/>
            </a:avLst>
          </a:prstGeom>
          <a:solidFill>
            <a:srgbClr val="EBEBEB"/>
          </a:solidFill>
          <a:ln/>
        </p:spPr>
      </p:sp>
      <p:sp>
        <p:nvSpPr>
          <p:cNvPr id="20" name="Text 18"/>
          <p:cNvSpPr txBox="1"/>
          <p:nvPr/>
        </p:nvSpPr>
        <p:spPr>
          <a:xfrm>
            <a:off x="6260592" y="1353312"/>
            <a:ext cx="914400" cy="411480"/>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03</a:t>
            </a:r>
            <a:endParaRPr lang="en-US" sz="2400" dirty="0"/>
          </a:p>
        </p:txBody>
      </p:sp>
      <p:sp>
        <p:nvSpPr>
          <p:cNvPr id="21" name="Text 19"/>
          <p:cNvSpPr txBox="1"/>
          <p:nvPr/>
        </p:nvSpPr>
        <p:spPr>
          <a:xfrm>
            <a:off x="6260592" y="2039112"/>
            <a:ext cx="2289048"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访谈场所</a:t>
            </a:r>
            <a:endParaRPr lang="en-US" sz="1600" dirty="0"/>
          </a:p>
        </p:txBody>
      </p:sp>
      <p:sp>
        <p:nvSpPr>
          <p:cNvPr id="22" name="Text 20"/>
          <p:cNvSpPr txBox="1"/>
          <p:nvPr/>
        </p:nvSpPr>
        <p:spPr>
          <a:xfrm>
            <a:off x="6260592" y="2496312"/>
            <a:ext cx="2289048" cy="198424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111111"/>
                </a:solidFill>
                <a:latin typeface="Microsoft YaHei" pitchFamily="34" charset="0"/>
                <a:ea typeface="Microsoft YaHei" pitchFamily="34" charset="-122"/>
                <a:cs typeface="Microsoft YaHei" pitchFamily="34" charset="-120"/>
              </a:rPr>
              <a:t>访谈场所的选择对于焦点小组的讨论效果至关重要。理想的访谈场所应当安静、私密，以便用户能够无干扰地进行讨论。</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焦点小组</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主持人技巧 · 记录和分析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Moderation &amp; Recording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18</a:t>
            </a:r>
            <a:endParaRPr lang="en-US" sz="750" dirty="0"/>
          </a:p>
        </p:txBody>
      </p:sp>
      <p:pic>
        <p:nvPicPr>
          <p:cNvPr id="11" name="Image 0" descr="p24_0">    </p:cNvPr>
          <p:cNvPicPr>
            <a:picLocks noChangeAspect="1"/>
          </p:cNvPicPr>
          <p:nvPr/>
        </p:nvPicPr>
        <p:blipFill>
          <a:blip r:embed="rId1"/>
          <a:stretch>
            <a:fillRect/>
          </a:stretch>
        </p:blipFill>
        <p:spPr>
          <a:xfrm>
            <a:off x="411480" y="1188720"/>
            <a:ext cx="2651760" cy="3383280"/>
          </a:xfrm>
          <a:prstGeom prst="rect">
            <a:avLst/>
          </a:prstGeom>
        </p:spPr>
      </p:pic>
      <p:sp>
        <p:nvSpPr>
          <p:cNvPr id="12" name="Shape 9"/>
          <p:cNvSpPr/>
          <p:nvPr/>
        </p:nvSpPr>
        <p:spPr>
          <a:xfrm>
            <a:off x="3172968" y="1188720"/>
            <a:ext cx="2743200" cy="3383280"/>
          </a:xfrm>
          <a:prstGeom prst="roundRect">
            <a:avLst>
              <a:gd name="adj" fmla="val 3333"/>
            </a:avLst>
          </a:prstGeom>
          <a:solidFill>
            <a:srgbClr val="FFC9C1"/>
          </a:solidFill>
          <a:ln/>
        </p:spPr>
      </p:sp>
      <p:sp>
        <p:nvSpPr>
          <p:cNvPr id="13" name="Text 10"/>
          <p:cNvSpPr txBox="1"/>
          <p:nvPr/>
        </p:nvSpPr>
        <p:spPr>
          <a:xfrm>
            <a:off x="3401568" y="1353312"/>
            <a:ext cx="914400" cy="41148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4" name="Text 11"/>
          <p:cNvSpPr txBox="1"/>
          <p:nvPr/>
        </p:nvSpPr>
        <p:spPr>
          <a:xfrm>
            <a:off x="3401568" y="2176272"/>
            <a:ext cx="2331720" cy="384048"/>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主持人技巧</a:t>
            </a:r>
            <a:endParaRPr lang="en-US" sz="1700" dirty="0"/>
          </a:p>
        </p:txBody>
      </p:sp>
      <p:sp>
        <p:nvSpPr>
          <p:cNvPr id="15" name="Text 12"/>
          <p:cNvSpPr txBox="1"/>
          <p:nvPr/>
        </p:nvSpPr>
        <p:spPr>
          <a:xfrm>
            <a:off x="3401568" y="2633472"/>
            <a:ext cx="2331720" cy="184708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111111"/>
                </a:solidFill>
                <a:latin typeface="Microsoft YaHei" pitchFamily="34" charset="0"/>
                <a:ea typeface="Microsoft YaHei" pitchFamily="34" charset="-122"/>
                <a:cs typeface="Microsoft YaHei" pitchFamily="34" charset="-120"/>
              </a:rPr>
              <a:t>焦点小组的主持人不仅负责提出问题，还需具备一定的引导技巧，以维持讨论的有序性。</a:t>
            </a:r>
            <a:endParaRPr lang="en-US" sz="1300" dirty="0"/>
          </a:p>
        </p:txBody>
      </p:sp>
      <p:sp>
        <p:nvSpPr>
          <p:cNvPr id="16" name="Shape 13"/>
          <p:cNvSpPr/>
          <p:nvPr/>
        </p:nvSpPr>
        <p:spPr>
          <a:xfrm>
            <a:off x="6025896" y="1188720"/>
            <a:ext cx="2706624" cy="3383280"/>
          </a:xfrm>
          <a:prstGeom prst="roundRect">
            <a:avLst>
              <a:gd name="adj" fmla="val 3378"/>
            </a:avLst>
          </a:prstGeom>
          <a:solidFill>
            <a:srgbClr val="111111"/>
          </a:solidFill>
          <a:ln/>
        </p:spPr>
      </p:sp>
      <p:sp>
        <p:nvSpPr>
          <p:cNvPr id="17" name="Text 14"/>
          <p:cNvSpPr txBox="1"/>
          <p:nvPr/>
        </p:nvSpPr>
        <p:spPr>
          <a:xfrm>
            <a:off x="6254496" y="1353312"/>
            <a:ext cx="914400" cy="411480"/>
          </a:xfrm>
          <a:prstGeom prst="rect">
            <a:avLst/>
          </a:prstGeom>
          <a:noFill/>
          <a:ln/>
        </p:spPr>
        <p:txBody>
          <a:bodyPr wrap="square" lIns="0" tIns="0" rIns="0" bIns="0" rtlCol="0" anchor="t"/>
          <a:lstStyle/>
          <a:p>
            <a:pPr indent="0" marL="0">
              <a:buNone/>
            </a:pPr>
            <a:r>
              <a:rPr lang="en-US" sz="2200" b="1" dirty="0">
                <a:solidFill>
                  <a:srgbClr val="FFC9C1"/>
                </a:solidFill>
                <a:latin typeface="Arial" pitchFamily="34" charset="0"/>
                <a:ea typeface="Arial" pitchFamily="34" charset="-122"/>
                <a:cs typeface="Arial" pitchFamily="34" charset="-120"/>
              </a:rPr>
              <a:t>02</a:t>
            </a:r>
            <a:endParaRPr lang="en-US" sz="2200" dirty="0"/>
          </a:p>
        </p:txBody>
      </p:sp>
      <p:sp>
        <p:nvSpPr>
          <p:cNvPr id="18" name="Text 15"/>
          <p:cNvSpPr txBox="1"/>
          <p:nvPr/>
        </p:nvSpPr>
        <p:spPr>
          <a:xfrm>
            <a:off x="6254496" y="2176272"/>
            <a:ext cx="2286000" cy="384048"/>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记录和分析</a:t>
            </a:r>
            <a:endParaRPr lang="en-US" sz="1700" dirty="0"/>
          </a:p>
        </p:txBody>
      </p:sp>
      <p:sp>
        <p:nvSpPr>
          <p:cNvPr id="19" name="Text 16"/>
          <p:cNvSpPr txBox="1"/>
          <p:nvPr/>
        </p:nvSpPr>
        <p:spPr>
          <a:xfrm>
            <a:off x="6254496" y="2633472"/>
            <a:ext cx="2286000" cy="182880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Microsoft YaHei" pitchFamily="34" charset="0"/>
                <a:ea typeface="Microsoft YaHei" pitchFamily="34" charset="-122"/>
                <a:cs typeface="Microsoft YaHei" pitchFamily="34" charset="-120"/>
              </a:rPr>
              <a:t>焦点小组讨论的记录可以通过录音、录像或文字记录方式完成，以便在后续分析中完整保留讨论细节。</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焦点小组</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常见问题 · 应用案例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Pitfalls &amp; Case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19</a:t>
            </a:r>
            <a:endParaRPr lang="en-US" sz="750" dirty="0"/>
          </a:p>
        </p:txBody>
      </p:sp>
      <p:sp>
        <p:nvSpPr>
          <p:cNvPr id="11" name="Shape 9"/>
          <p:cNvSpPr/>
          <p:nvPr/>
        </p:nvSpPr>
        <p:spPr>
          <a:xfrm>
            <a:off x="411480" y="1188720"/>
            <a:ext cx="4105656" cy="3383280"/>
          </a:xfrm>
          <a:prstGeom prst="roundRect">
            <a:avLst>
              <a:gd name="adj" fmla="val 2703"/>
            </a:avLst>
          </a:prstGeom>
          <a:solidFill>
            <a:srgbClr val="111111"/>
          </a:solidFill>
          <a:ln/>
        </p:spPr>
      </p:sp>
      <p:sp>
        <p:nvSpPr>
          <p:cNvPr id="12" name="Text 10"/>
          <p:cNvSpPr txBox="1"/>
          <p:nvPr/>
        </p:nvSpPr>
        <p:spPr>
          <a:xfrm>
            <a:off x="685800" y="1371600"/>
            <a:ext cx="3566160" cy="502920"/>
          </a:xfrm>
          <a:prstGeom prst="rect">
            <a:avLst/>
          </a:prstGeom>
          <a:noFill/>
          <a:ln/>
        </p:spPr>
        <p:txBody>
          <a:bodyPr wrap="square" lIns="0" tIns="0" rIns="0" bIns="0" rtlCol="0" anchor="t"/>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常见问题</a:t>
            </a:r>
            <a:endParaRPr lang="en-US" sz="2000" dirty="0"/>
          </a:p>
        </p:txBody>
      </p:sp>
      <p:sp>
        <p:nvSpPr>
          <p:cNvPr id="13" name="Text 11"/>
          <p:cNvSpPr txBox="1"/>
          <p:nvPr/>
        </p:nvSpPr>
        <p:spPr>
          <a:xfrm>
            <a:off x="685800" y="1920240"/>
            <a:ext cx="3566160" cy="365760"/>
          </a:xfrm>
          <a:prstGeom prst="rect">
            <a:avLst/>
          </a:prstGeom>
          <a:noFill/>
          <a:ln/>
        </p:spPr>
        <p:txBody>
          <a:bodyPr wrap="square" lIns="0" tIns="0" rIns="0" bIns="0" rtlCol="0" anchor="t"/>
          <a:lstStyle/>
          <a:p>
            <a:pPr indent="0" marL="0">
              <a:buNone/>
            </a:pPr>
            <a:r>
              <a:rPr lang="en-US" sz="1250" dirty="0">
                <a:solidFill>
                  <a:srgbClr val="C8C8C8"/>
                </a:solidFill>
                <a:latin typeface="Microsoft YaHei" pitchFamily="34" charset="0"/>
                <a:ea typeface="Microsoft YaHei" pitchFamily="34" charset="-122"/>
                <a:cs typeface="Microsoft YaHei" pitchFamily="34" charset="-120"/>
              </a:rPr>
              <a:t>焦点小组讨论中常见的问题包括：</a:t>
            </a:r>
            <a:endParaRPr lang="en-US" sz="1250" dirty="0"/>
          </a:p>
        </p:txBody>
      </p:sp>
      <p:sp>
        <p:nvSpPr>
          <p:cNvPr id="14" name="Shape 12"/>
          <p:cNvSpPr/>
          <p:nvPr/>
        </p:nvSpPr>
        <p:spPr>
          <a:xfrm>
            <a:off x="685800" y="2423160"/>
            <a:ext cx="3566160" cy="548640"/>
          </a:xfrm>
          <a:prstGeom prst="roundRect">
            <a:avLst>
              <a:gd name="adj" fmla="val 16667"/>
            </a:avLst>
          </a:prstGeom>
          <a:solidFill>
            <a:srgbClr val="FFC9C1"/>
          </a:solidFill>
          <a:ln/>
        </p:spPr>
      </p:sp>
      <p:sp>
        <p:nvSpPr>
          <p:cNvPr id="15" name="Text 13"/>
          <p:cNvSpPr txBox="1"/>
          <p:nvPr/>
        </p:nvSpPr>
        <p:spPr>
          <a:xfrm>
            <a:off x="868680" y="2423160"/>
            <a:ext cx="3291840" cy="54864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群体效应</a:t>
            </a:r>
            <a:endParaRPr lang="en-US" sz="1500" dirty="0"/>
          </a:p>
        </p:txBody>
      </p:sp>
      <p:sp>
        <p:nvSpPr>
          <p:cNvPr id="16" name="Shape 14"/>
          <p:cNvSpPr/>
          <p:nvPr/>
        </p:nvSpPr>
        <p:spPr>
          <a:xfrm>
            <a:off x="685800" y="3081528"/>
            <a:ext cx="3566160" cy="548640"/>
          </a:xfrm>
          <a:prstGeom prst="roundRect">
            <a:avLst>
              <a:gd name="adj" fmla="val 16667"/>
            </a:avLst>
          </a:prstGeom>
          <a:solidFill>
            <a:srgbClr val="2B2B2B"/>
          </a:solidFill>
          <a:ln/>
        </p:spPr>
      </p:sp>
      <p:sp>
        <p:nvSpPr>
          <p:cNvPr id="17" name="Text 15"/>
          <p:cNvSpPr txBox="1"/>
          <p:nvPr/>
        </p:nvSpPr>
        <p:spPr>
          <a:xfrm>
            <a:off x="868680" y="3081528"/>
            <a:ext cx="3291840" cy="54864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偏见引导</a:t>
            </a:r>
            <a:endParaRPr lang="en-US" sz="1500" dirty="0"/>
          </a:p>
        </p:txBody>
      </p:sp>
      <p:sp>
        <p:nvSpPr>
          <p:cNvPr id="18" name="Shape 16"/>
          <p:cNvSpPr/>
          <p:nvPr/>
        </p:nvSpPr>
        <p:spPr>
          <a:xfrm>
            <a:off x="685800" y="3739896"/>
            <a:ext cx="3566160" cy="548640"/>
          </a:xfrm>
          <a:prstGeom prst="roundRect">
            <a:avLst>
              <a:gd name="adj" fmla="val 16667"/>
            </a:avLst>
          </a:prstGeom>
          <a:solidFill>
            <a:srgbClr val="2B2B2B"/>
          </a:solidFill>
          <a:ln/>
        </p:spPr>
      </p:sp>
      <p:sp>
        <p:nvSpPr>
          <p:cNvPr id="19" name="Text 17"/>
          <p:cNvSpPr txBox="1"/>
          <p:nvPr/>
        </p:nvSpPr>
        <p:spPr>
          <a:xfrm>
            <a:off x="868680" y="3739896"/>
            <a:ext cx="3291840" cy="54864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讨论偏离主题</a:t>
            </a:r>
            <a:endParaRPr lang="en-US" sz="1500" dirty="0"/>
          </a:p>
        </p:txBody>
      </p:sp>
      <p:sp>
        <p:nvSpPr>
          <p:cNvPr id="20" name="Shape 18"/>
          <p:cNvSpPr/>
          <p:nvPr/>
        </p:nvSpPr>
        <p:spPr>
          <a:xfrm>
            <a:off x="4626864" y="1188720"/>
            <a:ext cx="4105656" cy="3383280"/>
          </a:xfrm>
          <a:prstGeom prst="roundRect">
            <a:avLst>
              <a:gd name="adj" fmla="val 2703"/>
            </a:avLst>
          </a:prstGeom>
          <a:solidFill>
            <a:srgbClr val="FFC9C1"/>
          </a:solidFill>
          <a:ln/>
        </p:spPr>
      </p:sp>
      <p:sp>
        <p:nvSpPr>
          <p:cNvPr id="21" name="Text 19"/>
          <p:cNvSpPr txBox="1"/>
          <p:nvPr/>
        </p:nvSpPr>
        <p:spPr>
          <a:xfrm>
            <a:off x="4901184" y="1371600"/>
            <a:ext cx="3566160" cy="502920"/>
          </a:xfrm>
          <a:prstGeom prst="rect">
            <a:avLst/>
          </a:prstGeom>
          <a:noFill/>
          <a:ln/>
        </p:spPr>
        <p:txBody>
          <a:bodyPr wrap="square" lIns="0" tIns="0" rIns="0" bIns="0" rtlCol="0" anchor="t"/>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应用案例</a:t>
            </a:r>
            <a:endParaRPr lang="en-US" sz="2000" dirty="0"/>
          </a:p>
        </p:txBody>
      </p:sp>
      <p:sp>
        <p:nvSpPr>
          <p:cNvPr id="22" name="Text 20"/>
          <p:cNvSpPr txBox="1"/>
          <p:nvPr/>
        </p:nvSpPr>
        <p:spPr>
          <a:xfrm>
            <a:off x="4901184" y="2011680"/>
            <a:ext cx="3566160" cy="2468880"/>
          </a:xfrm>
          <a:prstGeom prst="rect">
            <a:avLst/>
          </a:prstGeom>
          <a:noFill/>
          <a:ln/>
        </p:spPr>
        <p:txBody>
          <a:bodyPr wrap="square" lIns="0" tIns="0" rIns="0" bIns="0" rtlCol="0" anchor="t"/>
          <a:lstStyle/>
          <a:p>
            <a:pPr indent="0" marL="0">
              <a:lnSpc>
                <a:spcPct val="150000"/>
              </a:lnSpc>
              <a:spcAft>
                <a:spcPts val="800"/>
              </a:spcAft>
              <a:buNone/>
            </a:pPr>
            <a:r>
              <a:rPr lang="en-US" sz="1350" dirty="0">
                <a:solidFill>
                  <a:srgbClr val="111111"/>
                </a:solidFill>
                <a:latin typeface="Microsoft YaHei" pitchFamily="34" charset="0"/>
                <a:ea typeface="Microsoft YaHei" pitchFamily="34" charset="-122"/>
                <a:cs typeface="Microsoft YaHei" pitchFamily="34" charset="-120"/>
              </a:rPr>
              <a:t>在某产品开发项目中，焦点小组用于收集用户对新界面设计的反馈。</a:t>
            </a:r>
            <a:endParaRPr lang="en-US" sz="1350" dirty="0"/>
          </a:p>
          <a:p>
            <a:pPr indent="0" marL="0">
              <a:lnSpc>
                <a:spcPct val="150000"/>
              </a:lnSpc>
              <a:spcAft>
                <a:spcPts val="800"/>
              </a:spcAft>
              <a:buNone/>
            </a:pPr>
            <a:r>
              <a:rPr lang="en-US" sz="1350" dirty="0">
                <a:solidFill>
                  <a:srgbClr val="111111"/>
                </a:solidFill>
                <a:latin typeface="Microsoft YaHei" pitchFamily="34" charset="0"/>
                <a:ea typeface="Microsoft YaHei" pitchFamily="34" charset="-122"/>
                <a:cs typeface="Microsoft YaHei" pitchFamily="34" charset="-120"/>
              </a:rPr>
              <a:t>通过群体讨论，研究者发现了用户在使用界面时的常见问题，例如按钮位置不明显、导航不直观等。</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PART 04</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问卷法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Questionnaire</a:t>
            </a:r>
            <a:endParaRPr lang="en-US" sz="1400" dirty="0"/>
          </a:p>
        </p:txBody>
      </p:sp>
      <p:sp>
        <p:nvSpPr>
          <p:cNvPr id="5" name="Shape 3"/>
          <p:cNvSpPr/>
          <p:nvPr/>
        </p:nvSpPr>
        <p:spPr>
          <a:xfrm>
            <a:off x="411480" y="2011680"/>
            <a:ext cx="457200" cy="457200"/>
          </a:xfrm>
          <a:prstGeom prst="rect">
            <a:avLst/>
          </a:prstGeom>
          <a:solidFill>
            <a:srgbClr val="D9D4FF"/>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问卷法概述</a:t>
            </a:r>
            <a:endParaRPr lang="en-US" sz="1350" dirty="0"/>
          </a:p>
        </p:txBody>
      </p:sp>
      <p:sp>
        <p:nvSpPr>
          <p:cNvPr id="9" name="Shape 7"/>
          <p:cNvSpPr/>
          <p:nvPr/>
        </p:nvSpPr>
        <p:spPr>
          <a:xfrm>
            <a:off x="411480" y="2560320"/>
            <a:ext cx="457200" cy="457200"/>
          </a:xfrm>
          <a:prstGeom prst="rect">
            <a:avLst/>
          </a:prstGeom>
          <a:solidFill>
            <a:srgbClr val="FFE3A3"/>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问卷的分类 · 问卷的结构</a:t>
            </a:r>
            <a:endParaRPr lang="en-US" sz="1350" dirty="0"/>
          </a:p>
        </p:txBody>
      </p:sp>
      <p:sp>
        <p:nvSpPr>
          <p:cNvPr id="13" name="Shape 11"/>
          <p:cNvSpPr/>
          <p:nvPr/>
        </p:nvSpPr>
        <p:spPr>
          <a:xfrm>
            <a:off x="411480" y="3108960"/>
            <a:ext cx="457200" cy="457200"/>
          </a:xfrm>
          <a:prstGeom prst="rect">
            <a:avLst/>
          </a:prstGeom>
          <a:solidFill>
            <a:srgbClr val="C7F8FB"/>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问卷设计</a:t>
            </a:r>
            <a:endParaRPr lang="en-US" sz="1350" dirty="0"/>
          </a:p>
        </p:txBody>
      </p:sp>
      <p:sp>
        <p:nvSpPr>
          <p:cNvPr id="17" name="Shape 15"/>
          <p:cNvSpPr/>
          <p:nvPr/>
        </p:nvSpPr>
        <p:spPr>
          <a:xfrm>
            <a:off x="411480" y="3657600"/>
            <a:ext cx="457200" cy="457200"/>
          </a:xfrm>
          <a:prstGeom prst="rect">
            <a:avLst/>
          </a:prstGeom>
          <a:solidFill>
            <a:srgbClr val="E4FF97"/>
          </a:solidFill>
          <a:ln/>
        </p:spPr>
      </p:sp>
      <p:sp>
        <p:nvSpPr>
          <p:cNvPr id="18" name="Text 16"/>
          <p:cNvSpPr txBox="1"/>
          <p:nvPr/>
        </p:nvSpPr>
        <p:spPr>
          <a:xfrm>
            <a:off x="411480" y="365760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19" name="Shape 17"/>
          <p:cNvSpPr/>
          <p:nvPr/>
        </p:nvSpPr>
        <p:spPr>
          <a:xfrm>
            <a:off x="941832" y="3657600"/>
            <a:ext cx="4343400" cy="457200"/>
          </a:xfrm>
          <a:prstGeom prst="rect">
            <a:avLst/>
          </a:prstGeom>
          <a:solidFill>
            <a:srgbClr val="F4F4F4"/>
          </a:solidFill>
          <a:ln/>
        </p:spPr>
      </p:sp>
      <p:sp>
        <p:nvSpPr>
          <p:cNvPr id="20" name="Text 18"/>
          <p:cNvSpPr txBox="1"/>
          <p:nvPr/>
        </p:nvSpPr>
        <p:spPr>
          <a:xfrm>
            <a:off x="1097280" y="365760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问卷的实施与数据分析</a:t>
            </a:r>
            <a:endParaRPr lang="en-US" sz="1350" dirty="0"/>
          </a:p>
        </p:txBody>
      </p:sp>
      <p:sp>
        <p:nvSpPr>
          <p:cNvPr id="21" name="Shape 19"/>
          <p:cNvSpPr/>
          <p:nvPr/>
        </p:nvSpPr>
        <p:spPr>
          <a:xfrm>
            <a:off x="411480" y="4818888"/>
            <a:ext cx="77724" cy="77724"/>
          </a:xfrm>
          <a:prstGeom prst="ellipse">
            <a:avLst/>
          </a:prstGeom>
          <a:solidFill>
            <a:srgbClr val="4D49FC"/>
          </a:solidFill>
          <a:ln/>
        </p:spPr>
      </p:sp>
      <p:sp>
        <p:nvSpPr>
          <p:cNvPr id="22" name="Shape 20"/>
          <p:cNvSpPr/>
          <p:nvPr/>
        </p:nvSpPr>
        <p:spPr>
          <a:xfrm>
            <a:off x="507492" y="4818888"/>
            <a:ext cx="77724" cy="77724"/>
          </a:xfrm>
          <a:prstGeom prst="ellipse">
            <a:avLst/>
          </a:prstGeom>
          <a:solidFill>
            <a:srgbClr val="4D49FC"/>
          </a:solidFill>
          <a:ln/>
        </p:spPr>
      </p:sp>
      <p:sp>
        <p:nvSpPr>
          <p:cNvPr id="23" name="Shape 21"/>
          <p:cNvSpPr/>
          <p:nvPr/>
        </p:nvSpPr>
        <p:spPr>
          <a:xfrm>
            <a:off x="411480" y="4914900"/>
            <a:ext cx="77724" cy="77724"/>
          </a:xfrm>
          <a:prstGeom prst="ellipse">
            <a:avLst/>
          </a:prstGeom>
          <a:solidFill>
            <a:srgbClr val="4D49FC"/>
          </a:solidFill>
          <a:ln/>
        </p:spPr>
      </p:sp>
      <p:sp>
        <p:nvSpPr>
          <p:cNvPr id="24" name="Shape 22"/>
          <p:cNvSpPr/>
          <p:nvPr/>
        </p:nvSpPr>
        <p:spPr>
          <a:xfrm>
            <a:off x="507492" y="4914900"/>
            <a:ext cx="77724" cy="77724"/>
          </a:xfrm>
          <a:prstGeom prst="ellipse">
            <a:avLst/>
          </a:prstGeom>
          <a:solidFill>
            <a:srgbClr val="4D49FC"/>
          </a:solidFill>
          <a:ln/>
        </p:spPr>
      </p:sp>
      <p:sp>
        <p:nvSpPr>
          <p:cNvPr id="25" name="Text 23"/>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6" name="Text 24"/>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20</a:t>
            </a:r>
            <a:endParaRPr lang="en-US" sz="750" dirty="0"/>
          </a:p>
        </p:txBody>
      </p:sp>
      <p:pic>
        <p:nvPicPr>
          <p:cNvPr id="27" name="Image 0" descr="decorative collage">    </p:cNvPr>
          <p:cNvPicPr>
            <a:picLocks noChangeAspect="1"/>
          </p:cNvPicPr>
          <p:nvPr/>
        </p:nvPicPr>
        <p:blipFill>
          <a:blip r:embed="rId1"/>
          <a:stretch>
            <a:fillRect/>
          </a:stretch>
        </p:blipFill>
        <p:spPr>
          <a:xfrm>
            <a:off x="5577840" y="2122170"/>
            <a:ext cx="3154680" cy="25869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问卷法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问卷法概述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Overview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21</a:t>
            </a:r>
            <a:endParaRPr lang="en-US" sz="750" dirty="0"/>
          </a:p>
        </p:txBody>
      </p:sp>
      <p:sp>
        <p:nvSpPr>
          <p:cNvPr id="11" name="Shape 9"/>
          <p:cNvSpPr/>
          <p:nvPr/>
        </p:nvSpPr>
        <p:spPr>
          <a:xfrm>
            <a:off x="411480" y="1188720"/>
            <a:ext cx="6035040" cy="1636776"/>
          </a:xfrm>
          <a:prstGeom prst="roundRect">
            <a:avLst>
              <a:gd name="adj" fmla="val 5587"/>
            </a:avLst>
          </a:prstGeom>
          <a:solidFill>
            <a:srgbClr val="D9D4FF"/>
          </a:solidFill>
          <a:ln/>
        </p:spPr>
      </p:sp>
      <p:sp>
        <p:nvSpPr>
          <p:cNvPr id="12" name="Text 10"/>
          <p:cNvSpPr txBox="1"/>
          <p:nvPr/>
        </p:nvSpPr>
        <p:spPr>
          <a:xfrm>
            <a:off x="640080" y="1353312"/>
            <a:ext cx="5623560"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问卷法的定义与特点</a:t>
            </a:r>
            <a:endParaRPr lang="en-US" sz="1500" dirty="0"/>
          </a:p>
        </p:txBody>
      </p:sp>
      <p:sp>
        <p:nvSpPr>
          <p:cNvPr id="13" name="Text 11"/>
          <p:cNvSpPr txBox="1"/>
          <p:nvPr/>
        </p:nvSpPr>
        <p:spPr>
          <a:xfrm>
            <a:off x="640080" y="1810512"/>
            <a:ext cx="5623560"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问卷法是一种通过设计和分发问卷收集用户反馈的研究方法，具有高效、便捷、易于量化的特点。</a:t>
            </a:r>
            <a:endParaRPr lang="en-US" sz="1100" dirty="0"/>
          </a:p>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问卷法广泛应用于市场调查、用户满意度评估、产品需求分析等方面。</a:t>
            </a:r>
            <a:endParaRPr lang="en-US" sz="1100" dirty="0"/>
          </a:p>
        </p:txBody>
      </p:sp>
      <p:sp>
        <p:nvSpPr>
          <p:cNvPr id="14" name="Shape 12"/>
          <p:cNvSpPr/>
          <p:nvPr/>
        </p:nvSpPr>
        <p:spPr>
          <a:xfrm>
            <a:off x="411480" y="2935224"/>
            <a:ext cx="6035040" cy="1636776"/>
          </a:xfrm>
          <a:prstGeom prst="roundRect">
            <a:avLst>
              <a:gd name="adj" fmla="val 5587"/>
            </a:avLst>
          </a:prstGeom>
          <a:solidFill>
            <a:srgbClr val="F4F4F4"/>
          </a:solidFill>
          <a:ln/>
        </p:spPr>
      </p:sp>
      <p:sp>
        <p:nvSpPr>
          <p:cNvPr id="15" name="Text 13"/>
          <p:cNvSpPr txBox="1"/>
          <p:nvPr/>
        </p:nvSpPr>
        <p:spPr>
          <a:xfrm>
            <a:off x="640080" y="3099816"/>
            <a:ext cx="5623560"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问卷法的优势与局限</a:t>
            </a:r>
            <a:endParaRPr lang="en-US" sz="1500" dirty="0"/>
          </a:p>
        </p:txBody>
      </p:sp>
      <p:sp>
        <p:nvSpPr>
          <p:cNvPr id="16" name="Text 14"/>
          <p:cNvSpPr txBox="1"/>
          <p:nvPr/>
        </p:nvSpPr>
        <p:spPr>
          <a:xfrm>
            <a:off x="640080" y="3557016"/>
            <a:ext cx="5623560"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问卷法可以同时向大量用户收集反馈，数据处理较为简单，适合进行统计分析。</a:t>
            </a:r>
            <a:endParaRPr lang="en-US" sz="1100" dirty="0"/>
          </a:p>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问卷法的局限在于用户可能会由于回答疲劳而敷衍作答，导致数据质量下降。</a:t>
            </a:r>
            <a:endParaRPr lang="en-US" sz="1100" dirty="0"/>
          </a:p>
        </p:txBody>
      </p:sp>
      <p:pic>
        <p:nvPicPr>
          <p:cNvPr id="17" name="Image 0" descr="p29_0">    </p:cNvPr>
          <p:cNvPicPr>
            <a:picLocks noChangeAspect="1"/>
          </p:cNvPicPr>
          <p:nvPr/>
        </p:nvPicPr>
        <p:blipFill>
          <a:blip r:embed="rId1"/>
          <a:stretch>
            <a:fillRect/>
          </a:stretch>
        </p:blipFill>
        <p:spPr>
          <a:xfrm>
            <a:off x="6556248" y="1188720"/>
            <a:ext cx="2176272" cy="33832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问卷法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问卷的分类</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Types of Questionnaire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22</a:t>
            </a:r>
            <a:endParaRPr lang="en-US" sz="750" dirty="0"/>
          </a:p>
        </p:txBody>
      </p:sp>
      <p:sp>
        <p:nvSpPr>
          <p:cNvPr id="11" name="Shape 9"/>
          <p:cNvSpPr/>
          <p:nvPr/>
        </p:nvSpPr>
        <p:spPr>
          <a:xfrm>
            <a:off x="411480" y="1188720"/>
            <a:ext cx="2700528" cy="3383280"/>
          </a:xfrm>
          <a:prstGeom prst="roundRect">
            <a:avLst>
              <a:gd name="adj" fmla="val 3386"/>
            </a:avLst>
          </a:prstGeom>
          <a:solidFill>
            <a:srgbClr val="D9D4FF"/>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3" name="Text 11"/>
          <p:cNvSpPr txBox="1"/>
          <p:nvPr/>
        </p:nvSpPr>
        <p:spPr>
          <a:xfrm>
            <a:off x="640080" y="1947672"/>
            <a:ext cx="2289048"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开放式 与 封闭式</a:t>
            </a:r>
            <a:endParaRPr lang="en-US" sz="1600" dirty="0"/>
          </a:p>
        </p:txBody>
      </p:sp>
      <p:sp>
        <p:nvSpPr>
          <p:cNvPr id="14" name="Text 12"/>
          <p:cNvSpPr txBox="1"/>
          <p:nvPr/>
        </p:nvSpPr>
        <p:spPr>
          <a:xfrm>
            <a:off x="640080" y="2404872"/>
            <a:ext cx="2289048"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111111"/>
                </a:solidFill>
                <a:latin typeface="Microsoft YaHei" pitchFamily="34" charset="0"/>
                <a:ea typeface="Microsoft YaHei" pitchFamily="34" charset="-122"/>
                <a:cs typeface="Microsoft YaHei" pitchFamily="34" charset="-120"/>
              </a:rPr>
              <a:t>开放式问卷让用户自由回答，适合收集用户的详细意见和情感反馈。</a:t>
            </a:r>
            <a:endParaRPr lang="en-US" sz="1200" dirty="0"/>
          </a:p>
          <a:p>
            <a:pPr marL="152400" indent="-152400">
              <a:lnSpc>
                <a:spcPct val="135000"/>
              </a:lnSpc>
              <a:spcAft>
                <a:spcPts val="500"/>
              </a:spcAft>
              <a:buSzPct val="100000"/>
              <a:buChar char="•"/>
            </a:pPr>
            <a:r>
              <a:rPr lang="en-US" sz="1200" dirty="0">
                <a:solidFill>
                  <a:srgbClr val="111111"/>
                </a:solidFill>
                <a:latin typeface="Microsoft YaHei" pitchFamily="34" charset="0"/>
                <a:ea typeface="Microsoft YaHei" pitchFamily="34" charset="-122"/>
                <a:cs typeface="Microsoft YaHei" pitchFamily="34" charset="-120"/>
              </a:rPr>
              <a:t>封闭式问卷提供固定选项，便于量化数据分析，包括单选题、多选题、排序题等。</a:t>
            </a:r>
            <a:endParaRPr lang="en-US" sz="1200" dirty="0"/>
          </a:p>
        </p:txBody>
      </p:sp>
      <p:sp>
        <p:nvSpPr>
          <p:cNvPr id="15" name="Shape 13"/>
          <p:cNvSpPr/>
          <p:nvPr/>
        </p:nvSpPr>
        <p:spPr>
          <a:xfrm>
            <a:off x="3221736" y="1188720"/>
            <a:ext cx="2700528" cy="3383280"/>
          </a:xfrm>
          <a:prstGeom prst="roundRect">
            <a:avLst>
              <a:gd name="adj" fmla="val 3386"/>
            </a:avLst>
          </a:prstGeom>
          <a:solidFill>
            <a:srgbClr val="F4F4F4"/>
          </a:solidFill>
          <a:ln/>
        </p:spPr>
      </p:sp>
      <p:sp>
        <p:nvSpPr>
          <p:cNvPr id="16" name="Text 14"/>
          <p:cNvSpPr txBox="1"/>
          <p:nvPr/>
        </p:nvSpPr>
        <p:spPr>
          <a:xfrm>
            <a:off x="3450336" y="1353312"/>
            <a:ext cx="914400" cy="41148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02</a:t>
            </a:r>
            <a:endParaRPr lang="en-US" sz="2200" dirty="0"/>
          </a:p>
        </p:txBody>
      </p:sp>
      <p:sp>
        <p:nvSpPr>
          <p:cNvPr id="17" name="Text 15"/>
          <p:cNvSpPr txBox="1"/>
          <p:nvPr/>
        </p:nvSpPr>
        <p:spPr>
          <a:xfrm>
            <a:off x="3450336" y="1947672"/>
            <a:ext cx="2289048"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自填式 与 访谈式</a:t>
            </a:r>
            <a:endParaRPr lang="en-US" sz="1600" dirty="0"/>
          </a:p>
        </p:txBody>
      </p:sp>
      <p:sp>
        <p:nvSpPr>
          <p:cNvPr id="18" name="Text 16"/>
          <p:cNvSpPr txBox="1"/>
          <p:nvPr/>
        </p:nvSpPr>
        <p:spPr>
          <a:xfrm>
            <a:off x="3450336" y="2404872"/>
            <a:ext cx="2289048"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111111"/>
                </a:solidFill>
                <a:latin typeface="Microsoft YaHei" pitchFamily="34" charset="0"/>
                <a:ea typeface="Microsoft YaHei" pitchFamily="34" charset="-122"/>
                <a:cs typeface="Microsoft YaHei" pitchFamily="34" charset="-120"/>
              </a:rPr>
              <a:t>自填式问卷适合大规模调查，用户自行填写。</a:t>
            </a:r>
            <a:endParaRPr lang="en-US" sz="1200" dirty="0"/>
          </a:p>
          <a:p>
            <a:pPr marL="152400" indent="-152400">
              <a:lnSpc>
                <a:spcPct val="135000"/>
              </a:lnSpc>
              <a:spcAft>
                <a:spcPts val="500"/>
              </a:spcAft>
              <a:buSzPct val="100000"/>
              <a:buChar char="•"/>
            </a:pPr>
            <a:r>
              <a:rPr lang="en-US" sz="1200" dirty="0">
                <a:solidFill>
                  <a:srgbClr val="111111"/>
                </a:solidFill>
                <a:latin typeface="Microsoft YaHei" pitchFamily="34" charset="0"/>
                <a:ea typeface="Microsoft YaHei" pitchFamily="34" charset="-122"/>
                <a:cs typeface="Microsoft YaHei" pitchFamily="34" charset="-120"/>
              </a:rPr>
              <a:t>访谈式问卷由访谈人员引导用户回答，适合深入调查。</a:t>
            </a:r>
            <a:endParaRPr lang="en-US" sz="1200" dirty="0"/>
          </a:p>
        </p:txBody>
      </p:sp>
      <p:sp>
        <p:nvSpPr>
          <p:cNvPr id="19" name="Shape 17"/>
          <p:cNvSpPr/>
          <p:nvPr/>
        </p:nvSpPr>
        <p:spPr>
          <a:xfrm>
            <a:off x="6031992" y="1188720"/>
            <a:ext cx="2700528" cy="3383280"/>
          </a:xfrm>
          <a:prstGeom prst="roundRect">
            <a:avLst>
              <a:gd name="adj" fmla="val 3386"/>
            </a:avLst>
          </a:prstGeom>
          <a:solidFill>
            <a:srgbClr val="111111"/>
          </a:solidFill>
          <a:ln/>
        </p:spPr>
      </p:sp>
      <p:sp>
        <p:nvSpPr>
          <p:cNvPr id="20" name="Text 18"/>
          <p:cNvSpPr txBox="1"/>
          <p:nvPr/>
        </p:nvSpPr>
        <p:spPr>
          <a:xfrm>
            <a:off x="6260592" y="1353312"/>
            <a:ext cx="914400" cy="411480"/>
          </a:xfrm>
          <a:prstGeom prst="rect">
            <a:avLst/>
          </a:prstGeom>
          <a:noFill/>
          <a:ln/>
        </p:spPr>
        <p:txBody>
          <a:bodyPr wrap="square" lIns="0" tIns="0" rIns="0" bIns="0" rtlCol="0" anchor="t"/>
          <a:lstStyle/>
          <a:p>
            <a:pPr indent="0" marL="0">
              <a:buNone/>
            </a:pPr>
            <a:r>
              <a:rPr lang="en-US" sz="2200" b="1" dirty="0">
                <a:solidFill>
                  <a:srgbClr val="D9D4FF"/>
                </a:solidFill>
                <a:latin typeface="Arial" pitchFamily="34" charset="0"/>
                <a:ea typeface="Arial" pitchFamily="34" charset="-122"/>
                <a:cs typeface="Arial" pitchFamily="34" charset="-120"/>
              </a:rPr>
              <a:t>03</a:t>
            </a:r>
            <a:endParaRPr lang="en-US" sz="2200" dirty="0"/>
          </a:p>
        </p:txBody>
      </p:sp>
      <p:sp>
        <p:nvSpPr>
          <p:cNvPr id="21" name="Text 19"/>
          <p:cNvSpPr txBox="1"/>
          <p:nvPr/>
        </p:nvSpPr>
        <p:spPr>
          <a:xfrm>
            <a:off x="6260592" y="1947672"/>
            <a:ext cx="2289048"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调查性 与 诊断性</a:t>
            </a:r>
            <a:endParaRPr lang="en-US" sz="1600" dirty="0"/>
          </a:p>
        </p:txBody>
      </p:sp>
      <p:sp>
        <p:nvSpPr>
          <p:cNvPr id="22" name="Text 20"/>
          <p:cNvSpPr txBox="1"/>
          <p:nvPr/>
        </p:nvSpPr>
        <p:spPr>
          <a:xfrm>
            <a:off x="6260592" y="2404872"/>
            <a:ext cx="2289048"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调查性问卷用于了解用户的基本需求和偏好。</a:t>
            </a:r>
            <a:endParaRPr lang="en-US" sz="1200" dirty="0"/>
          </a:p>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诊断性问卷用于发现用户在使用产品过程中的具体问题。</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问卷法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问卷的结构</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Structure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23</a:t>
            </a:r>
            <a:endParaRPr lang="en-US" sz="750" dirty="0"/>
          </a:p>
        </p:txBody>
      </p:sp>
      <p:pic>
        <p:nvPicPr>
          <p:cNvPr id="11" name="Image 0" descr="p31_1">    </p:cNvPr>
          <p:cNvPicPr>
            <a:picLocks noChangeAspect="1"/>
          </p:cNvPicPr>
          <p:nvPr/>
        </p:nvPicPr>
        <p:blipFill>
          <a:blip r:embed="rId1"/>
          <a:stretch>
            <a:fillRect/>
          </a:stretch>
        </p:blipFill>
        <p:spPr>
          <a:xfrm>
            <a:off x="411480" y="1188720"/>
            <a:ext cx="3017520" cy="1636776"/>
          </a:xfrm>
          <a:prstGeom prst="rect">
            <a:avLst/>
          </a:prstGeom>
        </p:spPr>
      </p:pic>
      <p:pic>
        <p:nvPicPr>
          <p:cNvPr id="12" name="Image 1" descr="p31_4">    </p:cNvPr>
          <p:cNvPicPr>
            <a:picLocks noChangeAspect="1"/>
          </p:cNvPicPr>
          <p:nvPr/>
        </p:nvPicPr>
        <p:blipFill>
          <a:blip r:embed="rId2"/>
          <a:stretch>
            <a:fillRect/>
          </a:stretch>
        </p:blipFill>
        <p:spPr>
          <a:xfrm>
            <a:off x="411480" y="2935224"/>
            <a:ext cx="3017520" cy="1636776"/>
          </a:xfrm>
          <a:prstGeom prst="rect">
            <a:avLst/>
          </a:prstGeom>
        </p:spPr>
      </p:pic>
      <p:sp>
        <p:nvSpPr>
          <p:cNvPr id="13" name="Shape 9"/>
          <p:cNvSpPr/>
          <p:nvPr/>
        </p:nvSpPr>
        <p:spPr>
          <a:xfrm>
            <a:off x="3538728" y="1188720"/>
            <a:ext cx="5193792" cy="749808"/>
          </a:xfrm>
          <a:prstGeom prst="roundRect">
            <a:avLst>
              <a:gd name="adj" fmla="val 12195"/>
            </a:avLst>
          </a:prstGeom>
          <a:solidFill>
            <a:srgbClr val="F4F4F4"/>
          </a:solidFill>
          <a:ln/>
        </p:spPr>
      </p:sp>
      <p:sp>
        <p:nvSpPr>
          <p:cNvPr id="14" name="Text 10"/>
          <p:cNvSpPr txBox="1"/>
          <p:nvPr/>
        </p:nvSpPr>
        <p:spPr>
          <a:xfrm>
            <a:off x="3703320" y="1188720"/>
            <a:ext cx="548640" cy="749808"/>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01</a:t>
            </a:r>
            <a:endParaRPr lang="en-US" sz="1600" dirty="0"/>
          </a:p>
        </p:txBody>
      </p:sp>
      <p:sp>
        <p:nvSpPr>
          <p:cNvPr id="15" name="Text 11"/>
          <p:cNvSpPr txBox="1"/>
          <p:nvPr/>
        </p:nvSpPr>
        <p:spPr>
          <a:xfrm>
            <a:off x="4251960" y="1188720"/>
            <a:ext cx="1188720" cy="749808"/>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问卷标题</a:t>
            </a:r>
            <a:endParaRPr lang="en-US" sz="1400" dirty="0"/>
          </a:p>
        </p:txBody>
      </p:sp>
      <p:sp>
        <p:nvSpPr>
          <p:cNvPr id="16" name="Text 12"/>
          <p:cNvSpPr txBox="1"/>
          <p:nvPr/>
        </p:nvSpPr>
        <p:spPr>
          <a:xfrm>
            <a:off x="5440680" y="1188720"/>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111111"/>
                </a:solidFill>
                <a:latin typeface="Microsoft YaHei" pitchFamily="34" charset="0"/>
                <a:ea typeface="Microsoft YaHei" pitchFamily="34" charset="-122"/>
                <a:cs typeface="Microsoft YaHei" pitchFamily="34" charset="-120"/>
              </a:rPr>
              <a:t>简洁明了地概述问卷的主题。</a:t>
            </a:r>
            <a:endParaRPr lang="en-US" sz="1150" dirty="0"/>
          </a:p>
        </p:txBody>
      </p:sp>
      <p:sp>
        <p:nvSpPr>
          <p:cNvPr id="17" name="Shape 13"/>
          <p:cNvSpPr/>
          <p:nvPr/>
        </p:nvSpPr>
        <p:spPr>
          <a:xfrm>
            <a:off x="3538728" y="2048256"/>
            <a:ext cx="5193792" cy="749808"/>
          </a:xfrm>
          <a:prstGeom prst="roundRect">
            <a:avLst>
              <a:gd name="adj" fmla="val 12195"/>
            </a:avLst>
          </a:prstGeom>
          <a:solidFill>
            <a:srgbClr val="F4F4F4"/>
          </a:solidFill>
          <a:ln/>
        </p:spPr>
      </p:sp>
      <p:sp>
        <p:nvSpPr>
          <p:cNvPr id="18" name="Text 14"/>
          <p:cNvSpPr txBox="1"/>
          <p:nvPr/>
        </p:nvSpPr>
        <p:spPr>
          <a:xfrm>
            <a:off x="3703320" y="2048256"/>
            <a:ext cx="548640" cy="749808"/>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02</a:t>
            </a:r>
            <a:endParaRPr lang="en-US" sz="1600" dirty="0"/>
          </a:p>
        </p:txBody>
      </p:sp>
      <p:sp>
        <p:nvSpPr>
          <p:cNvPr id="19" name="Text 15"/>
          <p:cNvSpPr txBox="1"/>
          <p:nvPr/>
        </p:nvSpPr>
        <p:spPr>
          <a:xfrm>
            <a:off x="4251960" y="2048256"/>
            <a:ext cx="1188720" cy="749808"/>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前言</a:t>
            </a:r>
            <a:endParaRPr lang="en-US" sz="1400" dirty="0"/>
          </a:p>
        </p:txBody>
      </p:sp>
      <p:sp>
        <p:nvSpPr>
          <p:cNvPr id="20" name="Text 16"/>
          <p:cNvSpPr txBox="1"/>
          <p:nvPr/>
        </p:nvSpPr>
        <p:spPr>
          <a:xfrm>
            <a:off x="5440680" y="2048256"/>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111111"/>
                </a:solidFill>
                <a:latin typeface="Microsoft YaHei" pitchFamily="34" charset="0"/>
                <a:ea typeface="Microsoft YaHei" pitchFamily="34" charset="-122"/>
                <a:cs typeface="Microsoft YaHei" pitchFamily="34" charset="-120"/>
              </a:rPr>
              <a:t>介绍问卷的目的和填写方法，使用户了解填写问卷的必要性和价值。</a:t>
            </a:r>
            <a:endParaRPr lang="en-US" sz="1150" dirty="0"/>
          </a:p>
        </p:txBody>
      </p:sp>
      <p:sp>
        <p:nvSpPr>
          <p:cNvPr id="21" name="Shape 17"/>
          <p:cNvSpPr/>
          <p:nvPr/>
        </p:nvSpPr>
        <p:spPr>
          <a:xfrm>
            <a:off x="3538728" y="2907792"/>
            <a:ext cx="5193792" cy="749808"/>
          </a:xfrm>
          <a:prstGeom prst="roundRect">
            <a:avLst>
              <a:gd name="adj" fmla="val 12195"/>
            </a:avLst>
          </a:prstGeom>
          <a:solidFill>
            <a:srgbClr val="D9D4FF"/>
          </a:solidFill>
          <a:ln/>
        </p:spPr>
      </p:sp>
      <p:sp>
        <p:nvSpPr>
          <p:cNvPr id="22" name="Text 18"/>
          <p:cNvSpPr txBox="1"/>
          <p:nvPr/>
        </p:nvSpPr>
        <p:spPr>
          <a:xfrm>
            <a:off x="3703320" y="2907792"/>
            <a:ext cx="548640" cy="749808"/>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03</a:t>
            </a:r>
            <a:endParaRPr lang="en-US" sz="1600" dirty="0"/>
          </a:p>
        </p:txBody>
      </p:sp>
      <p:sp>
        <p:nvSpPr>
          <p:cNvPr id="23" name="Text 19"/>
          <p:cNvSpPr txBox="1"/>
          <p:nvPr/>
        </p:nvSpPr>
        <p:spPr>
          <a:xfrm>
            <a:off x="4251960" y="2907792"/>
            <a:ext cx="1188720" cy="749808"/>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问题部分</a:t>
            </a:r>
            <a:endParaRPr lang="en-US" sz="1400" dirty="0"/>
          </a:p>
        </p:txBody>
      </p:sp>
      <p:sp>
        <p:nvSpPr>
          <p:cNvPr id="24" name="Text 20"/>
          <p:cNvSpPr txBox="1"/>
          <p:nvPr/>
        </p:nvSpPr>
        <p:spPr>
          <a:xfrm>
            <a:off x="5440680" y="2907792"/>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111111"/>
                </a:solidFill>
                <a:latin typeface="Microsoft YaHei" pitchFamily="34" charset="0"/>
                <a:ea typeface="Microsoft YaHei" pitchFamily="34" charset="-122"/>
                <a:cs typeface="Microsoft YaHei" pitchFamily="34" charset="-120"/>
              </a:rPr>
              <a:t>问卷的核心，包含一系列围绕研究主题的问题。</a:t>
            </a:r>
            <a:endParaRPr lang="en-US" sz="1150" dirty="0"/>
          </a:p>
        </p:txBody>
      </p:sp>
      <p:sp>
        <p:nvSpPr>
          <p:cNvPr id="25" name="Shape 21"/>
          <p:cNvSpPr/>
          <p:nvPr/>
        </p:nvSpPr>
        <p:spPr>
          <a:xfrm>
            <a:off x="3538728" y="3767328"/>
            <a:ext cx="5193792" cy="749808"/>
          </a:xfrm>
          <a:prstGeom prst="roundRect">
            <a:avLst>
              <a:gd name="adj" fmla="val 12195"/>
            </a:avLst>
          </a:prstGeom>
          <a:solidFill>
            <a:srgbClr val="111111"/>
          </a:solidFill>
          <a:ln/>
        </p:spPr>
      </p:sp>
      <p:sp>
        <p:nvSpPr>
          <p:cNvPr id="26" name="Text 22"/>
          <p:cNvSpPr txBox="1"/>
          <p:nvPr/>
        </p:nvSpPr>
        <p:spPr>
          <a:xfrm>
            <a:off x="3703320" y="3767328"/>
            <a:ext cx="548640" cy="749808"/>
          </a:xfrm>
          <a:prstGeom prst="rect">
            <a:avLst/>
          </a:prstGeom>
          <a:noFill/>
          <a:ln/>
        </p:spPr>
        <p:txBody>
          <a:bodyPr wrap="square" lIns="0" tIns="0" rIns="0" bIns="0" rtlCol="0" anchor="ctr"/>
          <a:lstStyle/>
          <a:p>
            <a:pPr indent="0" marL="0">
              <a:buNone/>
            </a:pPr>
            <a:r>
              <a:rPr lang="en-US" sz="1600" b="1" dirty="0">
                <a:solidFill>
                  <a:srgbClr val="D9D4FF"/>
                </a:solidFill>
                <a:latin typeface="Arial" pitchFamily="34" charset="0"/>
                <a:ea typeface="Arial" pitchFamily="34" charset="-122"/>
                <a:cs typeface="Arial" pitchFamily="34" charset="-120"/>
              </a:rPr>
              <a:t>04</a:t>
            </a:r>
            <a:endParaRPr lang="en-US" sz="1600" dirty="0"/>
          </a:p>
        </p:txBody>
      </p:sp>
      <p:sp>
        <p:nvSpPr>
          <p:cNvPr id="27" name="Text 23"/>
          <p:cNvSpPr txBox="1"/>
          <p:nvPr/>
        </p:nvSpPr>
        <p:spPr>
          <a:xfrm>
            <a:off x="4251960" y="3767328"/>
            <a:ext cx="1188720" cy="749808"/>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结束语</a:t>
            </a:r>
            <a:endParaRPr lang="en-US" sz="1400" dirty="0"/>
          </a:p>
        </p:txBody>
      </p:sp>
      <p:sp>
        <p:nvSpPr>
          <p:cNvPr id="28" name="Text 24"/>
          <p:cNvSpPr txBox="1"/>
          <p:nvPr/>
        </p:nvSpPr>
        <p:spPr>
          <a:xfrm>
            <a:off x="5440680" y="3767328"/>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Microsoft YaHei" pitchFamily="34" charset="0"/>
                <a:ea typeface="Microsoft YaHei" pitchFamily="34" charset="-122"/>
                <a:cs typeface="Microsoft YaHei" pitchFamily="34" charset="-120"/>
              </a:rPr>
              <a:t>表达对用户参与的感谢，增强用户的参与感。</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问卷法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问卷设计</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Designing Questions &amp; Answers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24</a:t>
            </a:r>
            <a:endParaRPr lang="en-US" sz="750" dirty="0"/>
          </a:p>
        </p:txBody>
      </p:sp>
      <p:sp>
        <p:nvSpPr>
          <p:cNvPr id="11" name="Shape 9"/>
          <p:cNvSpPr/>
          <p:nvPr/>
        </p:nvSpPr>
        <p:spPr>
          <a:xfrm>
            <a:off x="411480" y="1188720"/>
            <a:ext cx="4105656" cy="3383280"/>
          </a:xfrm>
          <a:prstGeom prst="roundRect">
            <a:avLst>
              <a:gd name="adj" fmla="val 2703"/>
            </a:avLst>
          </a:prstGeom>
          <a:solidFill>
            <a:srgbClr val="D9D4FF"/>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3" name="Text 11"/>
          <p:cNvSpPr txBox="1"/>
          <p:nvPr/>
        </p:nvSpPr>
        <p:spPr>
          <a:xfrm>
            <a:off x="640080" y="1947672"/>
            <a:ext cx="3694176" cy="384048"/>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问题设计的原则</a:t>
            </a:r>
            <a:endParaRPr lang="en-US" sz="1800" dirty="0"/>
          </a:p>
        </p:txBody>
      </p:sp>
      <p:sp>
        <p:nvSpPr>
          <p:cNvPr id="14" name="Text 12"/>
          <p:cNvSpPr txBox="1"/>
          <p:nvPr/>
        </p:nvSpPr>
        <p:spPr>
          <a:xfrm>
            <a:off x="640080"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避免使用模棱两可、引导性或专业性过强的语言。</a:t>
            </a:r>
            <a:endParaRPr lang="en-US" sz="1300" dirty="0"/>
          </a:p>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避免出现“双重问题”和负面问题，以免用户混淆。</a:t>
            </a:r>
            <a:endParaRPr lang="en-US" sz="1300" dirty="0"/>
          </a:p>
        </p:txBody>
      </p:sp>
      <p:sp>
        <p:nvSpPr>
          <p:cNvPr id="15" name="Shape 13"/>
          <p:cNvSpPr/>
          <p:nvPr/>
        </p:nvSpPr>
        <p:spPr>
          <a:xfrm>
            <a:off x="4626864" y="1188720"/>
            <a:ext cx="4105656" cy="3383280"/>
          </a:xfrm>
          <a:prstGeom prst="roundRect">
            <a:avLst>
              <a:gd name="adj" fmla="val 2703"/>
            </a:avLst>
          </a:prstGeom>
          <a:solidFill>
            <a:srgbClr val="111111"/>
          </a:solidFill>
          <a:ln/>
        </p:spPr>
      </p:sp>
      <p:sp>
        <p:nvSpPr>
          <p:cNvPr id="16" name="Text 14"/>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2200" b="1" dirty="0">
                <a:solidFill>
                  <a:srgbClr val="D9D4FF"/>
                </a:solidFill>
                <a:latin typeface="Arial" pitchFamily="34" charset="0"/>
                <a:ea typeface="Arial" pitchFamily="34" charset="-122"/>
                <a:cs typeface="Arial" pitchFamily="34" charset="-120"/>
              </a:rPr>
              <a:t>02</a:t>
            </a:r>
            <a:endParaRPr lang="en-US" sz="2200" dirty="0"/>
          </a:p>
        </p:txBody>
      </p:sp>
      <p:sp>
        <p:nvSpPr>
          <p:cNvPr id="17" name="Text 15"/>
          <p:cNvSpPr txBox="1"/>
          <p:nvPr/>
        </p:nvSpPr>
        <p:spPr>
          <a:xfrm>
            <a:off x="4855464" y="1947672"/>
            <a:ext cx="3694176" cy="384048"/>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答案设计的要求</a:t>
            </a:r>
            <a:endParaRPr lang="en-US" sz="1800" dirty="0"/>
          </a:p>
        </p:txBody>
      </p:sp>
      <p:sp>
        <p:nvSpPr>
          <p:cNvPr id="18" name="Text 16"/>
          <p:cNvSpPr txBox="1"/>
          <p:nvPr/>
        </p:nvSpPr>
        <p:spPr>
          <a:xfrm>
            <a:off x="4855464"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确保所有可能答案都在选项中体现，避免用户因找不到合适的答案而产生困惑。</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答案选项应避免过多，一般不超过 5-7 个选项。</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答案的顺序应避免引导性，通常建议随机排列，减少用户的选择偏差。</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问卷法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问卷的实施与数据分析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Distribution &amp; Analysis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25</a:t>
            </a:r>
            <a:endParaRPr lang="en-US" sz="750" dirty="0"/>
          </a:p>
        </p:txBody>
      </p:sp>
      <p:sp>
        <p:nvSpPr>
          <p:cNvPr id="11" name="Shape 9"/>
          <p:cNvSpPr/>
          <p:nvPr/>
        </p:nvSpPr>
        <p:spPr>
          <a:xfrm>
            <a:off x="411480" y="1188720"/>
            <a:ext cx="2210562" cy="502920"/>
          </a:xfrm>
          <a:prstGeom prst="homePlate">
            <a:avLst/>
          </a:prstGeom>
          <a:solidFill>
            <a:srgbClr val="EBEBEB"/>
          </a:solidFill>
          <a:ln/>
        </p:spPr>
      </p:sp>
      <p:sp>
        <p:nvSpPr>
          <p:cNvPr id="12" name="Text 10"/>
          <p:cNvSpPr txBox="1"/>
          <p:nvPr/>
        </p:nvSpPr>
        <p:spPr>
          <a:xfrm>
            <a:off x="548640" y="1188720"/>
            <a:ext cx="1799082" cy="50292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分发</a:t>
            </a:r>
            <a:endParaRPr lang="en-US" sz="1400" dirty="0"/>
          </a:p>
        </p:txBody>
      </p:sp>
      <p:sp>
        <p:nvSpPr>
          <p:cNvPr id="13" name="Shape 11"/>
          <p:cNvSpPr/>
          <p:nvPr/>
        </p:nvSpPr>
        <p:spPr>
          <a:xfrm>
            <a:off x="2448306" y="1188720"/>
            <a:ext cx="2210562" cy="502920"/>
          </a:xfrm>
          <a:prstGeom prst="chevron">
            <a:avLst/>
          </a:prstGeom>
          <a:solidFill>
            <a:srgbClr val="F4F4F4"/>
          </a:solidFill>
          <a:ln/>
        </p:spPr>
      </p:sp>
      <p:sp>
        <p:nvSpPr>
          <p:cNvPr id="14" name="Text 12"/>
          <p:cNvSpPr txBox="1"/>
          <p:nvPr/>
        </p:nvSpPr>
        <p:spPr>
          <a:xfrm>
            <a:off x="2768346" y="1188720"/>
            <a:ext cx="1616202" cy="50292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回收</a:t>
            </a:r>
            <a:endParaRPr lang="en-US" sz="1400" dirty="0"/>
          </a:p>
        </p:txBody>
      </p:sp>
      <p:sp>
        <p:nvSpPr>
          <p:cNvPr id="15" name="Shape 13"/>
          <p:cNvSpPr/>
          <p:nvPr/>
        </p:nvSpPr>
        <p:spPr>
          <a:xfrm>
            <a:off x="4485132" y="1188720"/>
            <a:ext cx="2210562" cy="502920"/>
          </a:xfrm>
          <a:prstGeom prst="chevron">
            <a:avLst/>
          </a:prstGeom>
          <a:solidFill>
            <a:srgbClr val="EBEBEB"/>
          </a:solidFill>
          <a:ln/>
        </p:spPr>
      </p:sp>
      <p:sp>
        <p:nvSpPr>
          <p:cNvPr id="16" name="Text 14"/>
          <p:cNvSpPr txBox="1"/>
          <p:nvPr/>
        </p:nvSpPr>
        <p:spPr>
          <a:xfrm>
            <a:off x="4805172" y="1188720"/>
            <a:ext cx="1616202" cy="50292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统计分析</a:t>
            </a:r>
            <a:endParaRPr lang="en-US" sz="1400" dirty="0"/>
          </a:p>
        </p:txBody>
      </p:sp>
      <p:sp>
        <p:nvSpPr>
          <p:cNvPr id="17" name="Shape 15"/>
          <p:cNvSpPr/>
          <p:nvPr/>
        </p:nvSpPr>
        <p:spPr>
          <a:xfrm>
            <a:off x="6521958" y="1188720"/>
            <a:ext cx="2210562" cy="502920"/>
          </a:xfrm>
          <a:prstGeom prst="chevron">
            <a:avLst/>
          </a:prstGeom>
          <a:solidFill>
            <a:srgbClr val="D9D4FF"/>
          </a:solidFill>
          <a:ln/>
        </p:spPr>
      </p:sp>
      <p:sp>
        <p:nvSpPr>
          <p:cNvPr id="18" name="Text 16"/>
          <p:cNvSpPr txBox="1"/>
          <p:nvPr/>
        </p:nvSpPr>
        <p:spPr>
          <a:xfrm>
            <a:off x="6841998" y="1188720"/>
            <a:ext cx="1616202" cy="50292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可视化</a:t>
            </a:r>
            <a:endParaRPr lang="en-US" sz="1400" dirty="0"/>
          </a:p>
        </p:txBody>
      </p:sp>
      <p:sp>
        <p:nvSpPr>
          <p:cNvPr id="19" name="Shape 17"/>
          <p:cNvSpPr/>
          <p:nvPr/>
        </p:nvSpPr>
        <p:spPr>
          <a:xfrm>
            <a:off x="411480" y="1828800"/>
            <a:ext cx="4105656" cy="2743200"/>
          </a:xfrm>
          <a:prstGeom prst="roundRect">
            <a:avLst>
              <a:gd name="adj" fmla="val 3333"/>
            </a:avLst>
          </a:prstGeom>
          <a:solidFill>
            <a:srgbClr val="F4F4F4"/>
          </a:solidFill>
          <a:ln/>
        </p:spPr>
      </p:sp>
      <p:sp>
        <p:nvSpPr>
          <p:cNvPr id="20" name="Text 18"/>
          <p:cNvSpPr txBox="1"/>
          <p:nvPr/>
        </p:nvSpPr>
        <p:spPr>
          <a:xfrm>
            <a:off x="640080" y="199339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21" name="Text 19"/>
          <p:cNvSpPr txBox="1"/>
          <p:nvPr/>
        </p:nvSpPr>
        <p:spPr>
          <a:xfrm>
            <a:off x="640080" y="2313432"/>
            <a:ext cx="3694176"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问卷的分发与回收</a:t>
            </a:r>
            <a:endParaRPr lang="en-US" sz="1500" dirty="0"/>
          </a:p>
        </p:txBody>
      </p:sp>
      <p:sp>
        <p:nvSpPr>
          <p:cNvPr id="22" name="Text 20"/>
          <p:cNvSpPr txBox="1"/>
          <p:nvPr/>
        </p:nvSpPr>
        <p:spPr>
          <a:xfrm>
            <a:off x="640080" y="2770632"/>
            <a:ext cx="3694176" cy="170992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111111"/>
                </a:solidFill>
                <a:latin typeface="Microsoft YaHei" pitchFamily="34" charset="0"/>
                <a:ea typeface="Microsoft YaHei" pitchFamily="34" charset="-122"/>
                <a:cs typeface="Microsoft YaHei" pitchFamily="34" charset="-120"/>
              </a:rPr>
              <a:t>通过邮件、社交媒体、在线问卷平台等方式分发问卷，确保问卷覆盖到广泛的目标用户群体。</a:t>
            </a:r>
            <a:endParaRPr lang="en-US" sz="1200" dirty="0"/>
          </a:p>
          <a:p>
            <a:pPr marL="152400" indent="-152400">
              <a:lnSpc>
                <a:spcPct val="135000"/>
              </a:lnSpc>
              <a:spcAft>
                <a:spcPts val="500"/>
              </a:spcAft>
              <a:buSzPct val="100000"/>
              <a:buChar char="•"/>
            </a:pPr>
            <a:r>
              <a:rPr lang="en-US" sz="1200" dirty="0">
                <a:solidFill>
                  <a:srgbClr val="111111"/>
                </a:solidFill>
                <a:latin typeface="Microsoft YaHei" pitchFamily="34" charset="0"/>
                <a:ea typeface="Microsoft YaHei" pitchFamily="34" charset="-122"/>
                <a:cs typeface="Microsoft YaHei" pitchFamily="34" charset="-120"/>
              </a:rPr>
              <a:t>在问卷收集过程中，跟踪问卷的完成情况，必要时提醒用户完成问卷，以提高问卷的回收率。</a:t>
            </a:r>
            <a:endParaRPr lang="en-US" sz="1200" dirty="0"/>
          </a:p>
        </p:txBody>
      </p:sp>
      <p:sp>
        <p:nvSpPr>
          <p:cNvPr id="23" name="Shape 21"/>
          <p:cNvSpPr/>
          <p:nvPr/>
        </p:nvSpPr>
        <p:spPr>
          <a:xfrm>
            <a:off x="4626864" y="1828800"/>
            <a:ext cx="4105656" cy="2743200"/>
          </a:xfrm>
          <a:prstGeom prst="roundRect">
            <a:avLst>
              <a:gd name="adj" fmla="val 3333"/>
            </a:avLst>
          </a:prstGeom>
          <a:solidFill>
            <a:srgbClr val="111111"/>
          </a:solidFill>
          <a:ln/>
        </p:spPr>
      </p:sp>
      <p:sp>
        <p:nvSpPr>
          <p:cNvPr id="24" name="Text 22"/>
          <p:cNvSpPr txBox="1"/>
          <p:nvPr/>
        </p:nvSpPr>
        <p:spPr>
          <a:xfrm>
            <a:off x="4855464" y="1993392"/>
            <a:ext cx="914400" cy="411480"/>
          </a:xfrm>
          <a:prstGeom prst="rect">
            <a:avLst/>
          </a:prstGeom>
          <a:noFill/>
          <a:ln/>
        </p:spPr>
        <p:txBody>
          <a:bodyPr wrap="square" lIns="0" tIns="0" rIns="0" bIns="0" rtlCol="0" anchor="t"/>
          <a:lstStyle/>
          <a:p>
            <a:pPr indent="0" marL="0">
              <a:buNone/>
            </a:pPr>
            <a:r>
              <a:rPr lang="en-US" sz="1400" b="1" dirty="0">
                <a:solidFill>
                  <a:srgbClr val="D9D4FF"/>
                </a:solidFill>
                <a:latin typeface="Arial" pitchFamily="34" charset="0"/>
                <a:ea typeface="Arial" pitchFamily="34" charset="-122"/>
                <a:cs typeface="Arial" pitchFamily="34" charset="-120"/>
              </a:rPr>
              <a:t>02</a:t>
            </a:r>
            <a:endParaRPr lang="en-US" sz="1400" dirty="0"/>
          </a:p>
        </p:txBody>
      </p:sp>
      <p:sp>
        <p:nvSpPr>
          <p:cNvPr id="25" name="Text 23"/>
          <p:cNvSpPr txBox="1"/>
          <p:nvPr/>
        </p:nvSpPr>
        <p:spPr>
          <a:xfrm>
            <a:off x="4855464" y="2313432"/>
            <a:ext cx="3694176"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问卷的数据分析</a:t>
            </a:r>
            <a:endParaRPr lang="en-US" sz="1500" dirty="0"/>
          </a:p>
        </p:txBody>
      </p:sp>
      <p:sp>
        <p:nvSpPr>
          <p:cNvPr id="26" name="Text 24"/>
          <p:cNvSpPr txBox="1"/>
          <p:nvPr/>
        </p:nvSpPr>
        <p:spPr>
          <a:xfrm>
            <a:off x="4855464" y="2770632"/>
            <a:ext cx="3694176" cy="170992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使用统计工具进行数据处理，常用方法包括频率分析、交叉分析、回归分析等。</a:t>
            </a:r>
            <a:endParaRPr lang="en-US" sz="1200" dirty="0"/>
          </a:p>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数据分析结束后，将结果可视化展示，以便于解读和沟通。</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PART 05</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头脑风暴法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Brainstorming</a:t>
            </a:r>
            <a:endParaRPr lang="en-US" sz="1400" dirty="0"/>
          </a:p>
        </p:txBody>
      </p:sp>
      <p:sp>
        <p:nvSpPr>
          <p:cNvPr id="5" name="Shape 3"/>
          <p:cNvSpPr/>
          <p:nvPr/>
        </p:nvSpPr>
        <p:spPr>
          <a:xfrm>
            <a:off x="411480" y="2011680"/>
            <a:ext cx="457200" cy="457200"/>
          </a:xfrm>
          <a:prstGeom prst="rect">
            <a:avLst/>
          </a:prstGeom>
          <a:solidFill>
            <a:srgbClr val="C9F5C0"/>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头脑风暴法概述</a:t>
            </a:r>
            <a:endParaRPr lang="en-US" sz="1350" dirty="0"/>
          </a:p>
        </p:txBody>
      </p:sp>
      <p:sp>
        <p:nvSpPr>
          <p:cNvPr id="9" name="Shape 7"/>
          <p:cNvSpPr/>
          <p:nvPr/>
        </p:nvSpPr>
        <p:spPr>
          <a:xfrm>
            <a:off x="411480" y="2560320"/>
            <a:ext cx="457200" cy="457200"/>
          </a:xfrm>
          <a:prstGeom prst="rect">
            <a:avLst/>
          </a:prstGeom>
          <a:solidFill>
            <a:srgbClr val="C7F8FB"/>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头脑风暴法的分类</a:t>
            </a:r>
            <a:endParaRPr lang="en-US" sz="1350" dirty="0"/>
          </a:p>
        </p:txBody>
      </p:sp>
      <p:sp>
        <p:nvSpPr>
          <p:cNvPr id="13" name="Shape 11"/>
          <p:cNvSpPr/>
          <p:nvPr/>
        </p:nvSpPr>
        <p:spPr>
          <a:xfrm>
            <a:off x="411480" y="3108960"/>
            <a:ext cx="457200" cy="457200"/>
          </a:xfrm>
          <a:prstGeom prst="rect">
            <a:avLst/>
          </a:prstGeom>
          <a:solidFill>
            <a:srgbClr val="E4FF97"/>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头脑风暴法的操作流程</a:t>
            </a:r>
            <a:endParaRPr lang="en-US" sz="1350" dirty="0"/>
          </a:p>
        </p:txBody>
      </p:sp>
      <p:sp>
        <p:nvSpPr>
          <p:cNvPr id="17" name="Shape 15"/>
          <p:cNvSpPr/>
          <p:nvPr/>
        </p:nvSpPr>
        <p:spPr>
          <a:xfrm>
            <a:off x="411480" y="3657600"/>
            <a:ext cx="457200" cy="457200"/>
          </a:xfrm>
          <a:prstGeom prst="rect">
            <a:avLst/>
          </a:prstGeom>
          <a:solidFill>
            <a:srgbClr val="FFC9C1"/>
          </a:solidFill>
          <a:ln/>
        </p:spPr>
      </p:sp>
      <p:sp>
        <p:nvSpPr>
          <p:cNvPr id="18" name="Text 16"/>
          <p:cNvSpPr txBox="1"/>
          <p:nvPr/>
        </p:nvSpPr>
        <p:spPr>
          <a:xfrm>
            <a:off x="411480" y="365760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19" name="Shape 17"/>
          <p:cNvSpPr/>
          <p:nvPr/>
        </p:nvSpPr>
        <p:spPr>
          <a:xfrm>
            <a:off x="941832" y="3657600"/>
            <a:ext cx="4343400" cy="457200"/>
          </a:xfrm>
          <a:prstGeom prst="rect">
            <a:avLst/>
          </a:prstGeom>
          <a:solidFill>
            <a:srgbClr val="F4F4F4"/>
          </a:solidFill>
          <a:ln/>
        </p:spPr>
      </p:sp>
      <p:sp>
        <p:nvSpPr>
          <p:cNvPr id="20" name="Text 18"/>
          <p:cNvSpPr txBox="1"/>
          <p:nvPr/>
        </p:nvSpPr>
        <p:spPr>
          <a:xfrm>
            <a:off x="1097280" y="365760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原则与支持工具——思维导图</a:t>
            </a:r>
            <a:endParaRPr lang="en-US" sz="1350" dirty="0"/>
          </a:p>
        </p:txBody>
      </p:sp>
      <p:sp>
        <p:nvSpPr>
          <p:cNvPr id="21" name="Shape 19"/>
          <p:cNvSpPr/>
          <p:nvPr/>
        </p:nvSpPr>
        <p:spPr>
          <a:xfrm>
            <a:off x="411480" y="4818888"/>
            <a:ext cx="77724" cy="77724"/>
          </a:xfrm>
          <a:prstGeom prst="ellipse">
            <a:avLst/>
          </a:prstGeom>
          <a:solidFill>
            <a:srgbClr val="4D49FC"/>
          </a:solidFill>
          <a:ln/>
        </p:spPr>
      </p:sp>
      <p:sp>
        <p:nvSpPr>
          <p:cNvPr id="22" name="Shape 20"/>
          <p:cNvSpPr/>
          <p:nvPr/>
        </p:nvSpPr>
        <p:spPr>
          <a:xfrm>
            <a:off x="507492" y="4818888"/>
            <a:ext cx="77724" cy="77724"/>
          </a:xfrm>
          <a:prstGeom prst="ellipse">
            <a:avLst/>
          </a:prstGeom>
          <a:solidFill>
            <a:srgbClr val="4D49FC"/>
          </a:solidFill>
          <a:ln/>
        </p:spPr>
      </p:sp>
      <p:sp>
        <p:nvSpPr>
          <p:cNvPr id="23" name="Shape 21"/>
          <p:cNvSpPr/>
          <p:nvPr/>
        </p:nvSpPr>
        <p:spPr>
          <a:xfrm>
            <a:off x="411480" y="4914900"/>
            <a:ext cx="77724" cy="77724"/>
          </a:xfrm>
          <a:prstGeom prst="ellipse">
            <a:avLst/>
          </a:prstGeom>
          <a:solidFill>
            <a:srgbClr val="4D49FC"/>
          </a:solidFill>
          <a:ln/>
        </p:spPr>
      </p:sp>
      <p:sp>
        <p:nvSpPr>
          <p:cNvPr id="24" name="Shape 22"/>
          <p:cNvSpPr/>
          <p:nvPr/>
        </p:nvSpPr>
        <p:spPr>
          <a:xfrm>
            <a:off x="507492" y="4914900"/>
            <a:ext cx="77724" cy="77724"/>
          </a:xfrm>
          <a:prstGeom prst="ellipse">
            <a:avLst/>
          </a:prstGeom>
          <a:solidFill>
            <a:srgbClr val="4D49FC"/>
          </a:solidFill>
          <a:ln/>
        </p:spPr>
      </p:sp>
      <p:sp>
        <p:nvSpPr>
          <p:cNvPr id="25" name="Text 23"/>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6" name="Text 24"/>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26</a:t>
            </a:r>
            <a:endParaRPr lang="en-US" sz="750" dirty="0"/>
          </a:p>
        </p:txBody>
      </p:sp>
      <p:pic>
        <p:nvPicPr>
          <p:cNvPr id="27" name="Image 0" descr="decorative collage">    </p:cNvPr>
          <p:cNvPicPr>
            <a:picLocks noChangeAspect="1"/>
          </p:cNvPicPr>
          <p:nvPr/>
        </p:nvPicPr>
        <p:blipFill>
          <a:blip r:embed="rId1"/>
          <a:stretch>
            <a:fillRect/>
          </a:stretch>
        </p:blipFill>
        <p:spPr>
          <a:xfrm>
            <a:off x="5740909" y="1783080"/>
            <a:ext cx="2991611" cy="29260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头脑风暴法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头脑风暴法概述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Overview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27</a:t>
            </a:r>
            <a:endParaRPr lang="en-US" sz="750" dirty="0"/>
          </a:p>
        </p:txBody>
      </p:sp>
      <p:sp>
        <p:nvSpPr>
          <p:cNvPr id="11" name="Shape 9"/>
          <p:cNvSpPr/>
          <p:nvPr/>
        </p:nvSpPr>
        <p:spPr>
          <a:xfrm>
            <a:off x="411480" y="1188720"/>
            <a:ext cx="2743200" cy="3383280"/>
          </a:xfrm>
          <a:prstGeom prst="roundRect">
            <a:avLst>
              <a:gd name="adj" fmla="val 3333"/>
            </a:avLst>
          </a:prstGeom>
          <a:solidFill>
            <a:srgbClr val="C9F5C0"/>
          </a:solidFill>
          <a:ln/>
        </p:spPr>
      </p:sp>
      <p:sp>
        <p:nvSpPr>
          <p:cNvPr id="12" name="Text 10"/>
          <p:cNvSpPr txBox="1"/>
          <p:nvPr/>
        </p:nvSpPr>
        <p:spPr>
          <a:xfrm>
            <a:off x="640080" y="1371600"/>
            <a:ext cx="2331720" cy="914400"/>
          </a:xfrm>
          <a:prstGeom prst="rect">
            <a:avLst/>
          </a:prstGeom>
          <a:noFill/>
          <a:ln/>
        </p:spPr>
        <p:txBody>
          <a:bodyPr wrap="square" lIns="0" tIns="0" rIns="0" bIns="0" rtlCol="0" anchor="t"/>
          <a:lstStyle/>
          <a:p>
            <a:pPr indent="0" marL="0">
              <a:buNone/>
            </a:pPr>
            <a:r>
              <a:rPr lang="en-US" sz="4000" b="1" dirty="0">
                <a:solidFill>
                  <a:srgbClr val="111111"/>
                </a:solidFill>
                <a:latin typeface="Microsoft YaHei" pitchFamily="34" charset="0"/>
                <a:ea typeface="Microsoft YaHei" pitchFamily="34" charset="-122"/>
                <a:cs typeface="Microsoft YaHei" pitchFamily="34" charset="-120"/>
              </a:rPr>
              <a:t>量</a:t>
            </a:r>
            <a:pPr indent="0" marL="0">
              <a:buNone/>
            </a:pPr>
            <a:r>
              <a:rPr lang="en-US" sz="4000" b="1" dirty="0">
                <a:solidFill>
                  <a:srgbClr val="111111"/>
                </a:solidFill>
                <a:latin typeface="Arial" pitchFamily="34" charset="0"/>
                <a:ea typeface="Arial" pitchFamily="34" charset="-122"/>
                <a:cs typeface="Arial" pitchFamily="34" charset="-120"/>
              </a:rPr>
              <a:t> &gt; </a:t>
            </a:r>
            <a:pPr indent="0" marL="0">
              <a:buNone/>
            </a:pPr>
            <a:r>
              <a:rPr lang="en-US" sz="4000" b="1" dirty="0">
                <a:solidFill>
                  <a:srgbClr val="111111"/>
                </a:solidFill>
                <a:latin typeface="Microsoft YaHei" pitchFamily="34" charset="0"/>
                <a:ea typeface="Microsoft YaHei" pitchFamily="34" charset="-122"/>
                <a:cs typeface="Microsoft YaHei" pitchFamily="34" charset="-120"/>
              </a:rPr>
              <a:t>质</a:t>
            </a:r>
            <a:endParaRPr lang="en-US" sz="4000" dirty="0"/>
          </a:p>
        </p:txBody>
      </p:sp>
      <p:sp>
        <p:nvSpPr>
          <p:cNvPr id="13" name="Text 11"/>
          <p:cNvSpPr txBox="1"/>
          <p:nvPr/>
        </p:nvSpPr>
        <p:spPr>
          <a:xfrm>
            <a:off x="640080" y="2834640"/>
            <a:ext cx="2331720" cy="1645920"/>
          </a:xfrm>
          <a:prstGeom prst="rect">
            <a:avLst/>
          </a:prstGeom>
          <a:noFill/>
          <a:ln/>
        </p:spPr>
        <p:txBody>
          <a:bodyPr wrap="square" lIns="0" tIns="0" rIns="0" bIns="0" rtlCol="0" anchor="t"/>
          <a:lstStyle/>
          <a:p>
            <a:pPr indent="0" marL="0">
              <a:lnSpc>
                <a:spcPct val="145000"/>
              </a:lnSpc>
              <a:buNone/>
            </a:pPr>
            <a:r>
              <a:rPr lang="en-US" sz="1250" dirty="0">
                <a:solidFill>
                  <a:srgbClr val="111111"/>
                </a:solidFill>
                <a:latin typeface="Microsoft YaHei" pitchFamily="34" charset="0"/>
                <a:ea typeface="Microsoft YaHei" pitchFamily="34" charset="-122"/>
                <a:cs typeface="Microsoft YaHei" pitchFamily="34" charset="-120"/>
              </a:rPr>
              <a:t>头脑风暴法倡导“量大于质”，即在初期阶段收集尽可能多的想法，之后再进行筛选和评价。</a:t>
            </a:r>
            <a:endParaRPr lang="en-US" sz="1250" dirty="0"/>
          </a:p>
        </p:txBody>
      </p:sp>
      <p:sp>
        <p:nvSpPr>
          <p:cNvPr id="14" name="Shape 12"/>
          <p:cNvSpPr/>
          <p:nvPr/>
        </p:nvSpPr>
        <p:spPr>
          <a:xfrm>
            <a:off x="3264408" y="1188720"/>
            <a:ext cx="5468112" cy="1636776"/>
          </a:xfrm>
          <a:prstGeom prst="roundRect">
            <a:avLst>
              <a:gd name="adj" fmla="val 5587"/>
            </a:avLst>
          </a:prstGeom>
          <a:solidFill>
            <a:srgbClr val="F4F4F4"/>
          </a:solidFill>
          <a:ln/>
        </p:spPr>
      </p:sp>
      <p:sp>
        <p:nvSpPr>
          <p:cNvPr id="15" name="Text 13"/>
          <p:cNvSpPr txBox="1"/>
          <p:nvPr/>
        </p:nvSpPr>
        <p:spPr>
          <a:xfrm>
            <a:off x="3493008" y="1353312"/>
            <a:ext cx="5056632" cy="384048"/>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定义与特点</a:t>
            </a:r>
            <a:endParaRPr lang="en-US" sz="1400" dirty="0"/>
          </a:p>
        </p:txBody>
      </p:sp>
      <p:sp>
        <p:nvSpPr>
          <p:cNvPr id="16" name="Text 14"/>
          <p:cNvSpPr txBox="1"/>
          <p:nvPr/>
        </p:nvSpPr>
        <p:spPr>
          <a:xfrm>
            <a:off x="3493008" y="1810512"/>
            <a:ext cx="5056632" cy="923544"/>
          </a:xfrm>
          <a:prstGeom prst="rect">
            <a:avLst/>
          </a:prstGeom>
          <a:noFill/>
          <a:ln/>
        </p:spPr>
        <p:txBody>
          <a:bodyPr wrap="square" lIns="0" tIns="0" rIns="0" bIns="0" rtlCol="0" anchor="t"/>
          <a:lstStyle/>
          <a:p>
            <a:pPr indent="0" marL="0">
              <a:lnSpc>
                <a:spcPct val="135000"/>
              </a:lnSpc>
              <a:spcAft>
                <a:spcPts val="500"/>
              </a:spcAft>
              <a:buNone/>
            </a:pPr>
            <a:r>
              <a:rPr lang="en-US" sz="1050" dirty="0">
                <a:solidFill>
                  <a:srgbClr val="111111"/>
                </a:solidFill>
                <a:latin typeface="Microsoft YaHei" pitchFamily="34" charset="0"/>
                <a:ea typeface="Microsoft YaHei" pitchFamily="34" charset="-122"/>
                <a:cs typeface="Microsoft YaHei" pitchFamily="34" charset="-120"/>
              </a:rPr>
              <a:t>头脑风暴法是一种让参与者通过自由表达想法来激发创新思维的集体讨论方式。</a:t>
            </a:r>
            <a:endParaRPr lang="en-US" sz="1050" dirty="0"/>
          </a:p>
        </p:txBody>
      </p:sp>
      <p:sp>
        <p:nvSpPr>
          <p:cNvPr id="17" name="Shape 15"/>
          <p:cNvSpPr/>
          <p:nvPr/>
        </p:nvSpPr>
        <p:spPr>
          <a:xfrm>
            <a:off x="3264408" y="2935224"/>
            <a:ext cx="5468112" cy="1636776"/>
          </a:xfrm>
          <a:prstGeom prst="roundRect">
            <a:avLst>
              <a:gd name="adj" fmla="val 5587"/>
            </a:avLst>
          </a:prstGeom>
          <a:solidFill>
            <a:srgbClr val="111111"/>
          </a:solidFill>
          <a:ln/>
        </p:spPr>
      </p:sp>
      <p:sp>
        <p:nvSpPr>
          <p:cNvPr id="18" name="Text 16"/>
          <p:cNvSpPr txBox="1"/>
          <p:nvPr/>
        </p:nvSpPr>
        <p:spPr>
          <a:xfrm>
            <a:off x="3493008" y="3099816"/>
            <a:ext cx="5056632" cy="384048"/>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优势与局限</a:t>
            </a:r>
            <a:endParaRPr lang="en-US" sz="1400" dirty="0"/>
          </a:p>
        </p:txBody>
      </p:sp>
      <p:sp>
        <p:nvSpPr>
          <p:cNvPr id="19" name="Text 17"/>
          <p:cNvSpPr txBox="1"/>
          <p:nvPr/>
        </p:nvSpPr>
        <p:spPr>
          <a:xfrm>
            <a:off x="3493008" y="3557016"/>
            <a:ext cx="5056632"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头脑风暴法能够激发团队成员的创造力，在短时间内产生大量的想法。</a:t>
            </a:r>
            <a:endParaRPr lang="en-US" sz="1050" dirty="0"/>
          </a:p>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头脑风暴法的局限在于对主持人的引导能力要求较高，且团队中的个别成员可能会主导讨论。</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头脑风暴法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头脑风暴法的分类</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Types of Brainstorming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28</a:t>
            </a:r>
            <a:endParaRPr lang="en-US" sz="750" dirty="0"/>
          </a:p>
        </p:txBody>
      </p:sp>
      <p:sp>
        <p:nvSpPr>
          <p:cNvPr id="11" name="Shape 9"/>
          <p:cNvSpPr/>
          <p:nvPr/>
        </p:nvSpPr>
        <p:spPr>
          <a:xfrm>
            <a:off x="411480" y="1188720"/>
            <a:ext cx="4105656" cy="1636776"/>
          </a:xfrm>
          <a:prstGeom prst="roundRect">
            <a:avLst>
              <a:gd name="adj" fmla="val 5587"/>
            </a:avLst>
          </a:prstGeom>
          <a:solidFill>
            <a:srgbClr val="C9F5C0"/>
          </a:solidFill>
          <a:ln/>
        </p:spPr>
      </p:sp>
      <p:sp>
        <p:nvSpPr>
          <p:cNvPr id="12" name="Text 10"/>
          <p:cNvSpPr txBox="1"/>
          <p:nvPr/>
        </p:nvSpPr>
        <p:spPr>
          <a:xfrm>
            <a:off x="640080" y="1371600"/>
            <a:ext cx="1645920" cy="640080"/>
          </a:xfrm>
          <a:prstGeom prst="rect">
            <a:avLst/>
          </a:prstGeom>
          <a:noFill/>
          <a:ln/>
        </p:spPr>
        <p:txBody>
          <a:bodyPr wrap="square" lIns="0" tIns="0" rIns="0" bIns="0" rtlCol="0" anchor="t"/>
          <a:lstStyle/>
          <a:p>
            <a:pPr indent="0" marL="0">
              <a:buNone/>
            </a:pPr>
            <a:r>
              <a:rPr lang="en-US" sz="2400" b="1" dirty="0">
                <a:solidFill>
                  <a:srgbClr val="111111"/>
                </a:solidFill>
                <a:latin typeface="Microsoft YaHei" pitchFamily="34" charset="0"/>
                <a:ea typeface="Microsoft YaHei" pitchFamily="34" charset="-122"/>
                <a:cs typeface="Microsoft YaHei" pitchFamily="34" charset="-120"/>
              </a:rPr>
              <a:t>开放式</a:t>
            </a:r>
            <a:endParaRPr lang="en-US" sz="2400" dirty="0"/>
          </a:p>
        </p:txBody>
      </p:sp>
      <p:sp>
        <p:nvSpPr>
          <p:cNvPr id="13" name="Text 11"/>
          <p:cNvSpPr txBox="1"/>
          <p:nvPr/>
        </p:nvSpPr>
        <p:spPr>
          <a:xfrm>
            <a:off x="640080" y="1965960"/>
            <a:ext cx="1645920" cy="320040"/>
          </a:xfrm>
          <a:prstGeom prst="rect">
            <a:avLst/>
          </a:prstGeom>
          <a:noFill/>
          <a:ln/>
        </p:spPr>
        <p:txBody>
          <a:bodyPr wrap="square" lIns="0" tIns="0" rIns="0" bIns="0" rtlCol="0" anchor="t"/>
          <a:lstStyle/>
          <a:p>
            <a:pPr indent="0" marL="0">
              <a:buNone/>
            </a:pPr>
            <a:r>
              <a:rPr lang="en-US" sz="1100" dirty="0">
                <a:solidFill>
                  <a:srgbClr val="6B6B6B"/>
                </a:solidFill>
                <a:latin typeface="Microsoft YaHei" pitchFamily="34" charset="0"/>
                <a:ea typeface="Microsoft YaHei" pitchFamily="34" charset="-122"/>
                <a:cs typeface="Microsoft YaHei" pitchFamily="34" charset="-120"/>
              </a:rPr>
              <a:t>头脑风暴</a:t>
            </a:r>
            <a:endParaRPr lang="en-US" sz="1100" dirty="0"/>
          </a:p>
        </p:txBody>
      </p:sp>
      <p:sp>
        <p:nvSpPr>
          <p:cNvPr id="14" name="Text 12"/>
          <p:cNvSpPr txBox="1"/>
          <p:nvPr/>
        </p:nvSpPr>
        <p:spPr>
          <a:xfrm>
            <a:off x="2331720" y="1371600"/>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让参与者自由发挥，适合在没有明确方向的情况下进行。</a:t>
            </a:r>
            <a:endParaRPr lang="en-US" sz="1300" dirty="0"/>
          </a:p>
        </p:txBody>
      </p:sp>
      <p:sp>
        <p:nvSpPr>
          <p:cNvPr id="15" name="Shape 13"/>
          <p:cNvSpPr/>
          <p:nvPr/>
        </p:nvSpPr>
        <p:spPr>
          <a:xfrm>
            <a:off x="4626864" y="1188720"/>
            <a:ext cx="4105656" cy="1636776"/>
          </a:xfrm>
          <a:prstGeom prst="roundRect">
            <a:avLst>
              <a:gd name="adj" fmla="val 5587"/>
            </a:avLst>
          </a:prstGeom>
          <a:solidFill>
            <a:srgbClr val="F4F4F4"/>
          </a:solidFill>
          <a:ln/>
        </p:spPr>
      </p:sp>
      <p:sp>
        <p:nvSpPr>
          <p:cNvPr id="16" name="Text 14"/>
          <p:cNvSpPr txBox="1"/>
          <p:nvPr/>
        </p:nvSpPr>
        <p:spPr>
          <a:xfrm>
            <a:off x="4855464" y="1371600"/>
            <a:ext cx="1645920" cy="640080"/>
          </a:xfrm>
          <a:prstGeom prst="rect">
            <a:avLst/>
          </a:prstGeom>
          <a:noFill/>
          <a:ln/>
        </p:spPr>
        <p:txBody>
          <a:bodyPr wrap="square" lIns="0" tIns="0" rIns="0" bIns="0" rtlCol="0" anchor="t"/>
          <a:lstStyle/>
          <a:p>
            <a:pPr indent="0" marL="0">
              <a:buNone/>
            </a:pPr>
            <a:r>
              <a:rPr lang="en-US" sz="2400" b="1" dirty="0">
                <a:solidFill>
                  <a:srgbClr val="111111"/>
                </a:solidFill>
                <a:latin typeface="Microsoft YaHei" pitchFamily="34" charset="0"/>
                <a:ea typeface="Microsoft YaHei" pitchFamily="34" charset="-122"/>
                <a:cs typeface="Microsoft YaHei" pitchFamily="34" charset="-120"/>
              </a:rPr>
              <a:t>封闭式</a:t>
            </a:r>
            <a:endParaRPr lang="en-US" sz="2400" dirty="0"/>
          </a:p>
        </p:txBody>
      </p:sp>
      <p:sp>
        <p:nvSpPr>
          <p:cNvPr id="17" name="Text 15"/>
          <p:cNvSpPr txBox="1"/>
          <p:nvPr/>
        </p:nvSpPr>
        <p:spPr>
          <a:xfrm>
            <a:off x="4855464" y="1965960"/>
            <a:ext cx="1645920" cy="320040"/>
          </a:xfrm>
          <a:prstGeom prst="rect">
            <a:avLst/>
          </a:prstGeom>
          <a:noFill/>
          <a:ln/>
        </p:spPr>
        <p:txBody>
          <a:bodyPr wrap="square" lIns="0" tIns="0" rIns="0" bIns="0" rtlCol="0" anchor="t"/>
          <a:lstStyle/>
          <a:p>
            <a:pPr indent="0" marL="0">
              <a:buNone/>
            </a:pPr>
            <a:r>
              <a:rPr lang="en-US" sz="1100" dirty="0">
                <a:solidFill>
                  <a:srgbClr val="6B6B6B"/>
                </a:solidFill>
                <a:latin typeface="Microsoft YaHei" pitchFamily="34" charset="0"/>
                <a:ea typeface="Microsoft YaHei" pitchFamily="34" charset="-122"/>
                <a:cs typeface="Microsoft YaHei" pitchFamily="34" charset="-120"/>
              </a:rPr>
              <a:t>头脑风暴</a:t>
            </a:r>
            <a:endParaRPr lang="en-US" sz="1100" dirty="0"/>
          </a:p>
        </p:txBody>
      </p:sp>
      <p:sp>
        <p:nvSpPr>
          <p:cNvPr id="18" name="Text 16"/>
          <p:cNvSpPr txBox="1"/>
          <p:nvPr/>
        </p:nvSpPr>
        <p:spPr>
          <a:xfrm>
            <a:off x="6547104" y="1371600"/>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围绕具体问题进行，适合有明确目标的讨论。</a:t>
            </a:r>
            <a:endParaRPr lang="en-US" sz="1300" dirty="0"/>
          </a:p>
        </p:txBody>
      </p:sp>
      <p:sp>
        <p:nvSpPr>
          <p:cNvPr id="19" name="Shape 17"/>
          <p:cNvSpPr/>
          <p:nvPr/>
        </p:nvSpPr>
        <p:spPr>
          <a:xfrm>
            <a:off x="411480" y="2935224"/>
            <a:ext cx="4105656" cy="1636776"/>
          </a:xfrm>
          <a:prstGeom prst="roundRect">
            <a:avLst>
              <a:gd name="adj" fmla="val 5587"/>
            </a:avLst>
          </a:prstGeom>
          <a:solidFill>
            <a:srgbClr val="EBEBEB"/>
          </a:solidFill>
          <a:ln/>
        </p:spPr>
      </p:sp>
      <p:sp>
        <p:nvSpPr>
          <p:cNvPr id="20" name="Text 18"/>
          <p:cNvSpPr txBox="1"/>
          <p:nvPr/>
        </p:nvSpPr>
        <p:spPr>
          <a:xfrm>
            <a:off x="640080" y="3118104"/>
            <a:ext cx="1645920" cy="640080"/>
          </a:xfrm>
          <a:prstGeom prst="rect">
            <a:avLst/>
          </a:prstGeom>
          <a:noFill/>
          <a:ln/>
        </p:spPr>
        <p:txBody>
          <a:bodyPr wrap="square" lIns="0" tIns="0" rIns="0" bIns="0" rtlCol="0" anchor="t"/>
          <a:lstStyle/>
          <a:p>
            <a:pPr indent="0" marL="0">
              <a:buNone/>
            </a:pPr>
            <a:r>
              <a:rPr lang="en-US" sz="2400" b="1" dirty="0">
                <a:solidFill>
                  <a:srgbClr val="111111"/>
                </a:solidFill>
                <a:latin typeface="Microsoft YaHei" pitchFamily="34" charset="0"/>
                <a:ea typeface="Microsoft YaHei" pitchFamily="34" charset="-122"/>
                <a:cs typeface="Microsoft YaHei" pitchFamily="34" charset="-120"/>
              </a:rPr>
              <a:t>在线</a:t>
            </a:r>
            <a:endParaRPr lang="en-US" sz="2400" dirty="0"/>
          </a:p>
        </p:txBody>
      </p:sp>
      <p:sp>
        <p:nvSpPr>
          <p:cNvPr id="21" name="Text 19"/>
          <p:cNvSpPr txBox="1"/>
          <p:nvPr/>
        </p:nvSpPr>
        <p:spPr>
          <a:xfrm>
            <a:off x="640080" y="3712464"/>
            <a:ext cx="1645920" cy="320040"/>
          </a:xfrm>
          <a:prstGeom prst="rect">
            <a:avLst/>
          </a:prstGeom>
          <a:noFill/>
          <a:ln/>
        </p:spPr>
        <p:txBody>
          <a:bodyPr wrap="square" lIns="0" tIns="0" rIns="0" bIns="0" rtlCol="0" anchor="t"/>
          <a:lstStyle/>
          <a:p>
            <a:pPr indent="0" marL="0">
              <a:buNone/>
            </a:pPr>
            <a:r>
              <a:rPr lang="en-US" sz="1100" dirty="0">
                <a:solidFill>
                  <a:srgbClr val="6B6B6B"/>
                </a:solidFill>
                <a:latin typeface="Microsoft YaHei" pitchFamily="34" charset="0"/>
                <a:ea typeface="Microsoft YaHei" pitchFamily="34" charset="-122"/>
                <a:cs typeface="Microsoft YaHei" pitchFamily="34" charset="-120"/>
              </a:rPr>
              <a:t>头脑风暴</a:t>
            </a:r>
            <a:endParaRPr lang="en-US" sz="1100" dirty="0"/>
          </a:p>
        </p:txBody>
      </p:sp>
      <p:sp>
        <p:nvSpPr>
          <p:cNvPr id="22" name="Text 20"/>
          <p:cNvSpPr txBox="1"/>
          <p:nvPr/>
        </p:nvSpPr>
        <p:spPr>
          <a:xfrm>
            <a:off x="2331720" y="3118104"/>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适合远程团队，通过在线平台进行讨论。</a:t>
            </a:r>
            <a:endParaRPr lang="en-US" sz="1300" dirty="0"/>
          </a:p>
        </p:txBody>
      </p:sp>
      <p:sp>
        <p:nvSpPr>
          <p:cNvPr id="23" name="Shape 21"/>
          <p:cNvSpPr/>
          <p:nvPr/>
        </p:nvSpPr>
        <p:spPr>
          <a:xfrm>
            <a:off x="4626864" y="2935224"/>
            <a:ext cx="4105656" cy="1636776"/>
          </a:xfrm>
          <a:prstGeom prst="roundRect">
            <a:avLst>
              <a:gd name="adj" fmla="val 5587"/>
            </a:avLst>
          </a:prstGeom>
          <a:solidFill>
            <a:srgbClr val="111111"/>
          </a:solidFill>
          <a:ln/>
        </p:spPr>
      </p:sp>
      <p:sp>
        <p:nvSpPr>
          <p:cNvPr id="24" name="Text 22"/>
          <p:cNvSpPr txBox="1"/>
          <p:nvPr/>
        </p:nvSpPr>
        <p:spPr>
          <a:xfrm>
            <a:off x="4855464" y="3118104"/>
            <a:ext cx="1645920" cy="640080"/>
          </a:xfrm>
          <a:prstGeom prst="rect">
            <a:avLst/>
          </a:prstGeom>
          <a:noFill/>
          <a:ln/>
        </p:spPr>
        <p:txBody>
          <a:bodyPr wrap="square" lIns="0" tIns="0" rIns="0" bIns="0"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分组</a:t>
            </a:r>
            <a:endParaRPr lang="en-US" sz="2400" dirty="0"/>
          </a:p>
        </p:txBody>
      </p:sp>
      <p:sp>
        <p:nvSpPr>
          <p:cNvPr id="25" name="Text 23"/>
          <p:cNvSpPr txBox="1"/>
          <p:nvPr/>
        </p:nvSpPr>
        <p:spPr>
          <a:xfrm>
            <a:off x="4855464" y="3712464"/>
            <a:ext cx="1645920" cy="320040"/>
          </a:xfrm>
          <a:prstGeom prst="rect">
            <a:avLst/>
          </a:prstGeom>
          <a:noFill/>
          <a:ln/>
        </p:spPr>
        <p:txBody>
          <a:bodyPr wrap="square" lIns="0" tIns="0" rIns="0" bIns="0" rtlCol="0" anchor="t"/>
          <a:lstStyle/>
          <a:p>
            <a:pPr indent="0" marL="0">
              <a:buNone/>
            </a:pPr>
            <a:r>
              <a:rPr lang="en-US" sz="1100" dirty="0">
                <a:solidFill>
                  <a:srgbClr val="C9F5C0"/>
                </a:solidFill>
                <a:latin typeface="Microsoft YaHei" pitchFamily="34" charset="0"/>
                <a:ea typeface="Microsoft YaHei" pitchFamily="34" charset="-122"/>
                <a:cs typeface="Microsoft YaHei" pitchFamily="34" charset="-120"/>
              </a:rPr>
              <a:t>头脑风暴</a:t>
            </a:r>
            <a:endParaRPr lang="en-US" sz="1100" dirty="0"/>
          </a:p>
        </p:txBody>
      </p:sp>
      <p:sp>
        <p:nvSpPr>
          <p:cNvPr id="26" name="Text 24"/>
          <p:cNvSpPr txBox="1"/>
          <p:nvPr/>
        </p:nvSpPr>
        <p:spPr>
          <a:xfrm>
            <a:off x="6547104" y="3118104"/>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FFFFFF"/>
                </a:solidFill>
                <a:latin typeface="Microsoft YaHei" pitchFamily="34" charset="0"/>
                <a:ea typeface="Microsoft YaHei" pitchFamily="34" charset="-122"/>
                <a:cs typeface="Microsoft YaHei" pitchFamily="34" charset="-120"/>
              </a:rPr>
              <a:t>将团队成员分成小组，各自进行头脑风暴，最后汇总想法。</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头脑风暴法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头脑风暴法的操作流程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Process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29</a:t>
            </a:r>
            <a:endParaRPr lang="en-US" sz="750" dirty="0"/>
          </a:p>
        </p:txBody>
      </p:sp>
      <p:sp>
        <p:nvSpPr>
          <p:cNvPr id="11" name="Shape 9"/>
          <p:cNvSpPr/>
          <p:nvPr/>
        </p:nvSpPr>
        <p:spPr>
          <a:xfrm>
            <a:off x="411480" y="1188720"/>
            <a:ext cx="2210562" cy="548640"/>
          </a:xfrm>
          <a:prstGeom prst="homePlate">
            <a:avLst/>
          </a:prstGeom>
          <a:solidFill>
            <a:srgbClr val="EBEBEB"/>
          </a:solidFill>
          <a:ln/>
        </p:spPr>
      </p:sp>
      <p:sp>
        <p:nvSpPr>
          <p:cNvPr id="12" name="Text 10"/>
          <p:cNvSpPr txBox="1"/>
          <p:nvPr/>
        </p:nvSpPr>
        <p:spPr>
          <a:xfrm>
            <a:off x="548640" y="1188720"/>
            <a:ext cx="179908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提出问题</a:t>
            </a:r>
            <a:endParaRPr lang="en-US" sz="1400" dirty="0"/>
          </a:p>
        </p:txBody>
      </p:sp>
      <p:sp>
        <p:nvSpPr>
          <p:cNvPr id="13" name="Shape 11"/>
          <p:cNvSpPr/>
          <p:nvPr/>
        </p:nvSpPr>
        <p:spPr>
          <a:xfrm>
            <a:off x="2448306" y="1188720"/>
            <a:ext cx="2210562" cy="548640"/>
          </a:xfrm>
          <a:prstGeom prst="chevron">
            <a:avLst/>
          </a:prstGeom>
          <a:solidFill>
            <a:srgbClr val="F4F4F4"/>
          </a:solidFill>
          <a:ln/>
        </p:spPr>
      </p:sp>
      <p:sp>
        <p:nvSpPr>
          <p:cNvPr id="14" name="Text 12"/>
          <p:cNvSpPr txBox="1"/>
          <p:nvPr/>
        </p:nvSpPr>
        <p:spPr>
          <a:xfrm>
            <a:off x="2768346"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自由发言</a:t>
            </a:r>
            <a:endParaRPr lang="en-US" sz="1400" dirty="0"/>
          </a:p>
        </p:txBody>
      </p:sp>
      <p:sp>
        <p:nvSpPr>
          <p:cNvPr id="15" name="Shape 13"/>
          <p:cNvSpPr/>
          <p:nvPr/>
        </p:nvSpPr>
        <p:spPr>
          <a:xfrm>
            <a:off x="4485132" y="1188720"/>
            <a:ext cx="2210562" cy="548640"/>
          </a:xfrm>
          <a:prstGeom prst="chevron">
            <a:avLst/>
          </a:prstGeom>
          <a:solidFill>
            <a:srgbClr val="EBEBEB"/>
          </a:solidFill>
          <a:ln/>
        </p:spPr>
      </p:sp>
      <p:sp>
        <p:nvSpPr>
          <p:cNvPr id="16" name="Text 14"/>
          <p:cNvSpPr txBox="1"/>
          <p:nvPr/>
        </p:nvSpPr>
        <p:spPr>
          <a:xfrm>
            <a:off x="4805172"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总结整理</a:t>
            </a:r>
            <a:endParaRPr lang="en-US" sz="1400" dirty="0"/>
          </a:p>
        </p:txBody>
      </p:sp>
      <p:sp>
        <p:nvSpPr>
          <p:cNvPr id="17" name="Shape 15"/>
          <p:cNvSpPr/>
          <p:nvPr/>
        </p:nvSpPr>
        <p:spPr>
          <a:xfrm>
            <a:off x="6521958" y="1188720"/>
            <a:ext cx="2210562" cy="548640"/>
          </a:xfrm>
          <a:prstGeom prst="chevron">
            <a:avLst/>
          </a:prstGeom>
          <a:solidFill>
            <a:srgbClr val="C9F5C0"/>
          </a:solidFill>
          <a:ln/>
        </p:spPr>
      </p:sp>
      <p:sp>
        <p:nvSpPr>
          <p:cNvPr id="18" name="Text 16"/>
          <p:cNvSpPr txBox="1"/>
          <p:nvPr/>
        </p:nvSpPr>
        <p:spPr>
          <a:xfrm>
            <a:off x="6841998"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筛选评估</a:t>
            </a:r>
            <a:endParaRPr lang="en-US" sz="1400" dirty="0"/>
          </a:p>
        </p:txBody>
      </p:sp>
      <p:sp>
        <p:nvSpPr>
          <p:cNvPr id="19" name="Shape 17"/>
          <p:cNvSpPr/>
          <p:nvPr/>
        </p:nvSpPr>
        <p:spPr>
          <a:xfrm>
            <a:off x="411480" y="1874520"/>
            <a:ext cx="4105656" cy="2697480"/>
          </a:xfrm>
          <a:prstGeom prst="roundRect">
            <a:avLst>
              <a:gd name="adj" fmla="val 3390"/>
            </a:avLst>
          </a:prstGeom>
          <a:solidFill>
            <a:srgbClr val="F4F4F4"/>
          </a:solidFill>
          <a:ln/>
        </p:spPr>
      </p:sp>
      <p:sp>
        <p:nvSpPr>
          <p:cNvPr id="20" name="Text 18"/>
          <p:cNvSpPr txBox="1"/>
          <p:nvPr/>
        </p:nvSpPr>
        <p:spPr>
          <a:xfrm>
            <a:off x="640080" y="20391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21" name="Text 19"/>
          <p:cNvSpPr txBox="1"/>
          <p:nvPr/>
        </p:nvSpPr>
        <p:spPr>
          <a:xfrm>
            <a:off x="640080" y="2359152"/>
            <a:ext cx="3694176"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提出问题与自由发言</a:t>
            </a:r>
            <a:endParaRPr lang="en-US" sz="1600" dirty="0"/>
          </a:p>
        </p:txBody>
      </p:sp>
      <p:sp>
        <p:nvSpPr>
          <p:cNvPr id="22" name="Text 20"/>
          <p:cNvSpPr txBox="1"/>
          <p:nvPr/>
        </p:nvSpPr>
        <p:spPr>
          <a:xfrm>
            <a:off x="640080"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主持人提出一个核心问题或挑战，激发参与者的思考。</a:t>
            </a:r>
            <a:endParaRPr lang="en-US" sz="1300" dirty="0"/>
          </a:p>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参与者在规定时间内自由发言，提出尽可能多的想法。</a:t>
            </a:r>
            <a:endParaRPr lang="en-US" sz="1300" dirty="0"/>
          </a:p>
        </p:txBody>
      </p:sp>
      <p:sp>
        <p:nvSpPr>
          <p:cNvPr id="23" name="Shape 21"/>
          <p:cNvSpPr/>
          <p:nvPr/>
        </p:nvSpPr>
        <p:spPr>
          <a:xfrm>
            <a:off x="4626864" y="1874520"/>
            <a:ext cx="4105656" cy="2697480"/>
          </a:xfrm>
          <a:prstGeom prst="roundRect">
            <a:avLst>
              <a:gd name="adj" fmla="val 3390"/>
            </a:avLst>
          </a:prstGeom>
          <a:solidFill>
            <a:srgbClr val="111111"/>
          </a:solidFill>
          <a:ln/>
        </p:spPr>
      </p:sp>
      <p:sp>
        <p:nvSpPr>
          <p:cNvPr id="24" name="Text 22"/>
          <p:cNvSpPr txBox="1"/>
          <p:nvPr/>
        </p:nvSpPr>
        <p:spPr>
          <a:xfrm>
            <a:off x="4855464" y="2039112"/>
            <a:ext cx="914400" cy="411480"/>
          </a:xfrm>
          <a:prstGeom prst="rect">
            <a:avLst/>
          </a:prstGeom>
          <a:noFill/>
          <a:ln/>
        </p:spPr>
        <p:txBody>
          <a:bodyPr wrap="square" lIns="0" tIns="0" rIns="0" bIns="0" rtlCol="0" anchor="t"/>
          <a:lstStyle/>
          <a:p>
            <a:pPr indent="0" marL="0">
              <a:buNone/>
            </a:pPr>
            <a:r>
              <a:rPr lang="en-US" sz="1400" b="1" dirty="0">
                <a:solidFill>
                  <a:srgbClr val="C9F5C0"/>
                </a:solidFill>
                <a:latin typeface="Arial" pitchFamily="34" charset="0"/>
                <a:ea typeface="Arial" pitchFamily="34" charset="-122"/>
                <a:cs typeface="Arial" pitchFamily="34" charset="-120"/>
              </a:rPr>
              <a:t>02</a:t>
            </a:r>
            <a:endParaRPr lang="en-US" sz="1400" dirty="0"/>
          </a:p>
        </p:txBody>
      </p:sp>
      <p:sp>
        <p:nvSpPr>
          <p:cNvPr id="25" name="Text 23"/>
          <p:cNvSpPr txBox="1"/>
          <p:nvPr/>
        </p:nvSpPr>
        <p:spPr>
          <a:xfrm>
            <a:off x="4855464" y="2359152"/>
            <a:ext cx="3694176"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总结整理与筛选评估</a:t>
            </a:r>
            <a:endParaRPr lang="en-US" sz="1600" dirty="0"/>
          </a:p>
        </p:txBody>
      </p:sp>
      <p:sp>
        <p:nvSpPr>
          <p:cNvPr id="26" name="Text 24"/>
          <p:cNvSpPr txBox="1"/>
          <p:nvPr/>
        </p:nvSpPr>
        <p:spPr>
          <a:xfrm>
            <a:off x="4855464"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主持人对所有想法进行记录并总结，确保没有遗漏。</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团队根据可行性和创新性对想法进行筛选，选出最佳方案。</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头脑风暴法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头脑风暴法的原则与支持工具</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Principles &amp; Mind Maps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30</a:t>
            </a:r>
            <a:endParaRPr lang="en-US" sz="750" dirty="0"/>
          </a:p>
        </p:txBody>
      </p:sp>
      <p:sp>
        <p:nvSpPr>
          <p:cNvPr id="11" name="Text 9"/>
          <p:cNvSpPr txBox="1"/>
          <p:nvPr/>
        </p:nvSpPr>
        <p:spPr>
          <a:xfrm>
            <a:off x="411480" y="1097280"/>
            <a:ext cx="4114800" cy="320040"/>
          </a:xfrm>
          <a:prstGeom prst="rect">
            <a:avLst/>
          </a:prstGeom>
          <a:noFill/>
          <a:ln/>
        </p:spPr>
        <p:txBody>
          <a:bodyPr wrap="square" lIns="0" tIns="0" rIns="0" bIns="0" rtlCol="0" anchor="t"/>
          <a:lstStyle/>
          <a:p>
            <a:pPr indent="0" marL="0">
              <a:buNone/>
            </a:pPr>
            <a:r>
              <a:rPr lang="en-US" sz="1200" b="1" dirty="0">
                <a:solidFill>
                  <a:srgbClr val="6B6B6B"/>
                </a:solidFill>
                <a:latin typeface="Microsoft YaHei" pitchFamily="34" charset="0"/>
                <a:ea typeface="Microsoft YaHei" pitchFamily="34" charset="-122"/>
                <a:cs typeface="Microsoft YaHei" pitchFamily="34" charset="-120"/>
              </a:rPr>
              <a:t>头脑风暴法的原则</a:t>
            </a:r>
            <a:endParaRPr lang="en-US" sz="1200" dirty="0"/>
          </a:p>
        </p:txBody>
      </p:sp>
      <p:sp>
        <p:nvSpPr>
          <p:cNvPr id="12" name="Shape 10"/>
          <p:cNvSpPr/>
          <p:nvPr/>
        </p:nvSpPr>
        <p:spPr>
          <a:xfrm>
            <a:off x="411480" y="1463040"/>
            <a:ext cx="4480560" cy="694944"/>
          </a:xfrm>
          <a:prstGeom prst="roundRect">
            <a:avLst>
              <a:gd name="adj" fmla="val 13158"/>
            </a:avLst>
          </a:prstGeom>
          <a:solidFill>
            <a:srgbClr val="C9F5C0"/>
          </a:solidFill>
          <a:ln/>
        </p:spPr>
      </p:sp>
      <p:sp>
        <p:nvSpPr>
          <p:cNvPr id="13" name="Text 11"/>
          <p:cNvSpPr txBox="1"/>
          <p:nvPr/>
        </p:nvSpPr>
        <p:spPr>
          <a:xfrm>
            <a:off x="566928" y="1463040"/>
            <a:ext cx="548640" cy="694944"/>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01</a:t>
            </a:r>
            <a:endParaRPr lang="en-US" sz="1600" dirty="0"/>
          </a:p>
        </p:txBody>
      </p:sp>
      <p:sp>
        <p:nvSpPr>
          <p:cNvPr id="14" name="Text 12"/>
          <p:cNvSpPr txBox="1"/>
          <p:nvPr/>
        </p:nvSpPr>
        <p:spPr>
          <a:xfrm>
            <a:off x="1143000" y="1463040"/>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111111"/>
                </a:solidFill>
                <a:latin typeface="Microsoft YaHei" pitchFamily="34" charset="0"/>
                <a:ea typeface="Microsoft YaHei" pitchFamily="34" charset="-122"/>
                <a:cs typeface="Microsoft YaHei" pitchFamily="34" charset="-120"/>
              </a:rPr>
              <a:t>避免批评，鼓励大胆提出任何想法。</a:t>
            </a:r>
            <a:endParaRPr lang="en-US" sz="1250" dirty="0"/>
          </a:p>
        </p:txBody>
      </p:sp>
      <p:sp>
        <p:nvSpPr>
          <p:cNvPr id="15" name="Shape 13"/>
          <p:cNvSpPr/>
          <p:nvPr/>
        </p:nvSpPr>
        <p:spPr>
          <a:xfrm>
            <a:off x="411480" y="2249424"/>
            <a:ext cx="4480560" cy="694944"/>
          </a:xfrm>
          <a:prstGeom prst="roundRect">
            <a:avLst>
              <a:gd name="adj" fmla="val 13158"/>
            </a:avLst>
          </a:prstGeom>
          <a:solidFill>
            <a:srgbClr val="F4F4F4"/>
          </a:solidFill>
          <a:ln/>
        </p:spPr>
      </p:sp>
      <p:sp>
        <p:nvSpPr>
          <p:cNvPr id="16" name="Text 14"/>
          <p:cNvSpPr txBox="1"/>
          <p:nvPr/>
        </p:nvSpPr>
        <p:spPr>
          <a:xfrm>
            <a:off x="566928" y="2249424"/>
            <a:ext cx="548640" cy="694944"/>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02</a:t>
            </a:r>
            <a:endParaRPr lang="en-US" sz="1600" dirty="0"/>
          </a:p>
        </p:txBody>
      </p:sp>
      <p:sp>
        <p:nvSpPr>
          <p:cNvPr id="17" name="Text 15"/>
          <p:cNvSpPr txBox="1"/>
          <p:nvPr/>
        </p:nvSpPr>
        <p:spPr>
          <a:xfrm>
            <a:off x="1143000" y="2249424"/>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111111"/>
                </a:solidFill>
                <a:latin typeface="Microsoft YaHei" pitchFamily="34" charset="0"/>
                <a:ea typeface="Microsoft YaHei" pitchFamily="34" charset="-122"/>
                <a:cs typeface="Microsoft YaHei" pitchFamily="34" charset="-120"/>
              </a:rPr>
              <a:t>量大于质，尽可能多地产生创意。</a:t>
            </a:r>
            <a:endParaRPr lang="en-US" sz="1250" dirty="0"/>
          </a:p>
        </p:txBody>
      </p:sp>
      <p:sp>
        <p:nvSpPr>
          <p:cNvPr id="18" name="Shape 16"/>
          <p:cNvSpPr/>
          <p:nvPr/>
        </p:nvSpPr>
        <p:spPr>
          <a:xfrm>
            <a:off x="411480" y="3035808"/>
            <a:ext cx="4480560" cy="694944"/>
          </a:xfrm>
          <a:prstGeom prst="roundRect">
            <a:avLst>
              <a:gd name="adj" fmla="val 13158"/>
            </a:avLst>
          </a:prstGeom>
          <a:solidFill>
            <a:srgbClr val="F4F4F4"/>
          </a:solidFill>
          <a:ln/>
        </p:spPr>
      </p:sp>
      <p:sp>
        <p:nvSpPr>
          <p:cNvPr id="19" name="Text 17"/>
          <p:cNvSpPr txBox="1"/>
          <p:nvPr/>
        </p:nvSpPr>
        <p:spPr>
          <a:xfrm>
            <a:off x="566928" y="3035808"/>
            <a:ext cx="548640" cy="694944"/>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03</a:t>
            </a:r>
            <a:endParaRPr lang="en-US" sz="1600" dirty="0"/>
          </a:p>
        </p:txBody>
      </p:sp>
      <p:sp>
        <p:nvSpPr>
          <p:cNvPr id="20" name="Text 18"/>
          <p:cNvSpPr txBox="1"/>
          <p:nvPr/>
        </p:nvSpPr>
        <p:spPr>
          <a:xfrm>
            <a:off x="1143000" y="3035808"/>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111111"/>
                </a:solidFill>
                <a:latin typeface="Microsoft YaHei" pitchFamily="34" charset="0"/>
                <a:ea typeface="Microsoft YaHei" pitchFamily="34" charset="-122"/>
                <a:cs typeface="Microsoft YaHei" pitchFamily="34" charset="-120"/>
              </a:rPr>
              <a:t>鼓励大胆设想，不受传统或常规思维的限制。</a:t>
            </a:r>
            <a:endParaRPr lang="en-US" sz="1250" dirty="0"/>
          </a:p>
        </p:txBody>
      </p:sp>
      <p:sp>
        <p:nvSpPr>
          <p:cNvPr id="21" name="Shape 19"/>
          <p:cNvSpPr/>
          <p:nvPr/>
        </p:nvSpPr>
        <p:spPr>
          <a:xfrm>
            <a:off x="411480" y="3822192"/>
            <a:ext cx="4480560" cy="694944"/>
          </a:xfrm>
          <a:prstGeom prst="roundRect">
            <a:avLst>
              <a:gd name="adj" fmla="val 13158"/>
            </a:avLst>
          </a:prstGeom>
          <a:solidFill>
            <a:srgbClr val="F4F4F4"/>
          </a:solidFill>
          <a:ln/>
        </p:spPr>
      </p:sp>
      <p:sp>
        <p:nvSpPr>
          <p:cNvPr id="22" name="Text 20"/>
          <p:cNvSpPr txBox="1"/>
          <p:nvPr/>
        </p:nvSpPr>
        <p:spPr>
          <a:xfrm>
            <a:off x="566928" y="3822192"/>
            <a:ext cx="548640" cy="694944"/>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04</a:t>
            </a:r>
            <a:endParaRPr lang="en-US" sz="1600" dirty="0"/>
          </a:p>
        </p:txBody>
      </p:sp>
      <p:sp>
        <p:nvSpPr>
          <p:cNvPr id="23" name="Text 21"/>
          <p:cNvSpPr txBox="1"/>
          <p:nvPr/>
        </p:nvSpPr>
        <p:spPr>
          <a:xfrm>
            <a:off x="1143000" y="3822192"/>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111111"/>
                </a:solidFill>
                <a:latin typeface="Microsoft YaHei" pitchFamily="34" charset="0"/>
                <a:ea typeface="Microsoft YaHei" pitchFamily="34" charset="-122"/>
                <a:cs typeface="Microsoft YaHei" pitchFamily="34" charset="-120"/>
              </a:rPr>
              <a:t>构建在他人想法之上，互相启发来延伸、丰富已有的想法。</a:t>
            </a:r>
            <a:endParaRPr lang="en-US" sz="1250" dirty="0"/>
          </a:p>
        </p:txBody>
      </p:sp>
      <p:sp>
        <p:nvSpPr>
          <p:cNvPr id="24" name="Shape 22"/>
          <p:cNvSpPr/>
          <p:nvPr/>
        </p:nvSpPr>
        <p:spPr>
          <a:xfrm>
            <a:off x="5001768" y="1188720"/>
            <a:ext cx="3730752" cy="3383280"/>
          </a:xfrm>
          <a:prstGeom prst="roundRect">
            <a:avLst>
              <a:gd name="adj" fmla="val 2703"/>
            </a:avLst>
          </a:prstGeom>
          <a:solidFill>
            <a:srgbClr val="111111"/>
          </a:solidFill>
          <a:ln/>
        </p:spPr>
      </p:sp>
      <p:sp>
        <p:nvSpPr>
          <p:cNvPr id="25" name="Text 23"/>
          <p:cNvSpPr txBox="1"/>
          <p:nvPr/>
        </p:nvSpPr>
        <p:spPr>
          <a:xfrm>
            <a:off x="5230368" y="1325880"/>
            <a:ext cx="3291840" cy="365760"/>
          </a:xfrm>
          <a:prstGeom prst="rect">
            <a:avLst/>
          </a:prstGeom>
          <a:noFill/>
          <a:ln/>
        </p:spPr>
        <p:txBody>
          <a:bodyPr wrap="square" lIns="0" tIns="0" rIns="0" bIns="0" rtlCol="0" anchor="t"/>
          <a:lstStyle/>
          <a:p>
            <a:pPr indent="0" marL="0">
              <a:buNone/>
            </a:pPr>
            <a:r>
              <a:rPr lang="en-US" sz="1200" b="1" dirty="0">
                <a:solidFill>
                  <a:srgbClr val="C9F5C0"/>
                </a:solidFill>
                <a:latin typeface="Microsoft YaHei" pitchFamily="34" charset="0"/>
                <a:ea typeface="Microsoft YaHei" pitchFamily="34" charset="-122"/>
                <a:cs typeface="Microsoft YaHei" pitchFamily="34" charset="-120"/>
              </a:rPr>
              <a:t>支持工具</a:t>
            </a:r>
            <a:endParaRPr lang="en-US" sz="1200" dirty="0"/>
          </a:p>
        </p:txBody>
      </p:sp>
      <p:sp>
        <p:nvSpPr>
          <p:cNvPr id="26" name="Text 24"/>
          <p:cNvSpPr txBox="1"/>
          <p:nvPr/>
        </p:nvSpPr>
        <p:spPr>
          <a:xfrm>
            <a:off x="5230368" y="1691640"/>
            <a:ext cx="3291840" cy="548640"/>
          </a:xfrm>
          <a:prstGeom prst="rect">
            <a:avLst/>
          </a:prstGeom>
          <a:noFill/>
          <a:ln/>
        </p:spPr>
        <p:txBody>
          <a:bodyPr wrap="square" lIns="0" tIns="0" rIns="0" bIns="0"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思维导图</a:t>
            </a:r>
            <a:endParaRPr lang="en-US" sz="2400" dirty="0"/>
          </a:p>
        </p:txBody>
      </p:sp>
      <p:sp>
        <p:nvSpPr>
          <p:cNvPr id="27" name="Shape 25"/>
          <p:cNvSpPr/>
          <p:nvPr/>
        </p:nvSpPr>
        <p:spPr>
          <a:xfrm>
            <a:off x="5669280" y="2468880"/>
            <a:ext cx="1188720" cy="320040"/>
          </a:xfrm>
          <a:prstGeom prst="line">
            <a:avLst/>
          </a:prstGeom>
          <a:noFill/>
          <a:ln w="19050">
            <a:solidFill>
              <a:srgbClr val="C9F5C0"/>
            </a:solidFill>
            <a:prstDash val="solid"/>
          </a:ln>
        </p:spPr>
      </p:sp>
      <p:sp>
        <p:nvSpPr>
          <p:cNvPr id="28" name="Shape 26"/>
          <p:cNvSpPr/>
          <p:nvPr/>
        </p:nvSpPr>
        <p:spPr>
          <a:xfrm>
            <a:off x="5394960" y="2377440"/>
            <a:ext cx="548640" cy="182880"/>
          </a:xfrm>
          <a:prstGeom prst="roundRect">
            <a:avLst>
              <a:gd name="adj" fmla="val 50000"/>
            </a:avLst>
          </a:prstGeom>
          <a:solidFill>
            <a:srgbClr val="EBEBEB"/>
          </a:solidFill>
          <a:ln/>
        </p:spPr>
      </p:sp>
      <p:sp>
        <p:nvSpPr>
          <p:cNvPr id="29" name="Shape 27"/>
          <p:cNvSpPr/>
          <p:nvPr/>
        </p:nvSpPr>
        <p:spPr>
          <a:xfrm flipV="1">
            <a:off x="6858000" y="2468880"/>
            <a:ext cx="1097280" cy="320040"/>
          </a:xfrm>
          <a:prstGeom prst="line">
            <a:avLst/>
          </a:prstGeom>
          <a:noFill/>
          <a:ln w="19050">
            <a:solidFill>
              <a:srgbClr val="C9F5C0"/>
            </a:solidFill>
            <a:prstDash val="solid"/>
          </a:ln>
        </p:spPr>
      </p:sp>
      <p:sp>
        <p:nvSpPr>
          <p:cNvPr id="30" name="Shape 28"/>
          <p:cNvSpPr/>
          <p:nvPr/>
        </p:nvSpPr>
        <p:spPr>
          <a:xfrm>
            <a:off x="7680960" y="2377440"/>
            <a:ext cx="548640" cy="182880"/>
          </a:xfrm>
          <a:prstGeom prst="roundRect">
            <a:avLst>
              <a:gd name="adj" fmla="val 50000"/>
            </a:avLst>
          </a:prstGeom>
          <a:solidFill>
            <a:srgbClr val="EBEBEB"/>
          </a:solidFill>
          <a:ln/>
        </p:spPr>
      </p:sp>
      <p:sp>
        <p:nvSpPr>
          <p:cNvPr id="31" name="Shape 29"/>
          <p:cNvSpPr/>
          <p:nvPr/>
        </p:nvSpPr>
        <p:spPr>
          <a:xfrm flipV="1">
            <a:off x="5669280" y="2788920"/>
            <a:ext cx="1188720" cy="320040"/>
          </a:xfrm>
          <a:prstGeom prst="line">
            <a:avLst/>
          </a:prstGeom>
          <a:noFill/>
          <a:ln w="19050">
            <a:solidFill>
              <a:srgbClr val="C9F5C0"/>
            </a:solidFill>
            <a:prstDash val="solid"/>
          </a:ln>
        </p:spPr>
      </p:sp>
      <p:sp>
        <p:nvSpPr>
          <p:cNvPr id="32" name="Shape 30"/>
          <p:cNvSpPr/>
          <p:nvPr/>
        </p:nvSpPr>
        <p:spPr>
          <a:xfrm>
            <a:off x="5394960" y="3017520"/>
            <a:ext cx="548640" cy="182880"/>
          </a:xfrm>
          <a:prstGeom prst="roundRect">
            <a:avLst>
              <a:gd name="adj" fmla="val 50000"/>
            </a:avLst>
          </a:prstGeom>
          <a:solidFill>
            <a:srgbClr val="EBEBEB"/>
          </a:solidFill>
          <a:ln/>
        </p:spPr>
      </p:sp>
      <p:sp>
        <p:nvSpPr>
          <p:cNvPr id="33" name="Shape 31"/>
          <p:cNvSpPr/>
          <p:nvPr/>
        </p:nvSpPr>
        <p:spPr>
          <a:xfrm>
            <a:off x="6858000" y="2788920"/>
            <a:ext cx="1097280" cy="320040"/>
          </a:xfrm>
          <a:prstGeom prst="line">
            <a:avLst/>
          </a:prstGeom>
          <a:noFill/>
          <a:ln w="19050">
            <a:solidFill>
              <a:srgbClr val="C9F5C0"/>
            </a:solidFill>
            <a:prstDash val="solid"/>
          </a:ln>
        </p:spPr>
      </p:sp>
      <p:sp>
        <p:nvSpPr>
          <p:cNvPr id="34" name="Shape 32"/>
          <p:cNvSpPr/>
          <p:nvPr/>
        </p:nvSpPr>
        <p:spPr>
          <a:xfrm>
            <a:off x="7680960" y="3017520"/>
            <a:ext cx="548640" cy="182880"/>
          </a:xfrm>
          <a:prstGeom prst="roundRect">
            <a:avLst>
              <a:gd name="adj" fmla="val 50000"/>
            </a:avLst>
          </a:prstGeom>
          <a:solidFill>
            <a:srgbClr val="EBEBEB"/>
          </a:solidFill>
          <a:ln/>
        </p:spPr>
      </p:sp>
      <p:sp>
        <p:nvSpPr>
          <p:cNvPr id="35" name="Shape 33"/>
          <p:cNvSpPr/>
          <p:nvPr/>
        </p:nvSpPr>
        <p:spPr>
          <a:xfrm>
            <a:off x="6583680" y="2514600"/>
            <a:ext cx="548640" cy="548640"/>
          </a:xfrm>
          <a:prstGeom prst="ellipse">
            <a:avLst/>
          </a:prstGeom>
          <a:solidFill>
            <a:srgbClr val="C9F5C0"/>
          </a:solidFill>
          <a:ln/>
        </p:spPr>
      </p:sp>
      <p:sp>
        <p:nvSpPr>
          <p:cNvPr id="36" name="Text 34"/>
          <p:cNvSpPr txBox="1"/>
          <p:nvPr/>
        </p:nvSpPr>
        <p:spPr>
          <a:xfrm>
            <a:off x="5230368" y="3291840"/>
            <a:ext cx="3291840" cy="1234440"/>
          </a:xfrm>
          <a:prstGeom prst="rect">
            <a:avLst/>
          </a:prstGeom>
          <a:noFill/>
          <a:ln/>
        </p:spPr>
        <p:txBody>
          <a:bodyPr wrap="square" lIns="0" tIns="0" rIns="0" bIns="0" rtlCol="0" anchor="t"/>
          <a:lstStyle/>
          <a:p>
            <a:pPr indent="0" marL="0">
              <a:lnSpc>
                <a:spcPct val="130000"/>
              </a:lnSpc>
              <a:spcAft>
                <a:spcPts val="300"/>
              </a:spcAft>
              <a:buNone/>
            </a:pPr>
            <a:r>
              <a:rPr lang="en-US" sz="1050" dirty="0">
                <a:solidFill>
                  <a:srgbClr val="FFFFFF"/>
                </a:solidFill>
                <a:latin typeface="Microsoft YaHei" pitchFamily="34" charset="0"/>
                <a:ea typeface="Microsoft YaHei" pitchFamily="34" charset="-122"/>
                <a:cs typeface="Microsoft YaHei" pitchFamily="34" charset="-120"/>
              </a:rPr>
              <a:t>思维导图是一种可视化的工具，能够帮助团队在头脑风暴过程中更好地组织和呈现想法。</a:t>
            </a:r>
            <a:endParaRPr lang="en-US" sz="1050" dirty="0"/>
          </a:p>
          <a:p>
            <a:pPr indent="0" marL="0">
              <a:lnSpc>
                <a:spcPct val="130000"/>
              </a:lnSpc>
              <a:spcAft>
                <a:spcPts val="300"/>
              </a:spcAft>
              <a:buNone/>
            </a:pPr>
            <a:r>
              <a:rPr lang="en-US" sz="1050" dirty="0">
                <a:solidFill>
                  <a:srgbClr val="FFFFFF"/>
                </a:solidFill>
                <a:latin typeface="Microsoft YaHei" pitchFamily="34" charset="0"/>
                <a:ea typeface="Microsoft YaHei" pitchFamily="34" charset="-122"/>
                <a:cs typeface="Microsoft YaHei" pitchFamily="34" charset="-120"/>
              </a:rPr>
              <a:t>思维导图不仅能帮助梳理讨论内容，还可以作为记录和后续分析的工具。</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PART 06</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自我陈述法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Self-report / Diary Study</a:t>
            </a:r>
            <a:endParaRPr lang="en-US" sz="1400" dirty="0"/>
          </a:p>
        </p:txBody>
      </p:sp>
      <p:sp>
        <p:nvSpPr>
          <p:cNvPr id="5" name="Shape 3"/>
          <p:cNvSpPr/>
          <p:nvPr/>
        </p:nvSpPr>
        <p:spPr>
          <a:xfrm>
            <a:off x="411480" y="2011680"/>
            <a:ext cx="457200" cy="457200"/>
          </a:xfrm>
          <a:prstGeom prst="rect">
            <a:avLst/>
          </a:prstGeom>
          <a:solidFill>
            <a:srgbClr val="FFE3A3"/>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自我陈述法概述</a:t>
            </a:r>
            <a:endParaRPr lang="en-US" sz="1350" dirty="0"/>
          </a:p>
        </p:txBody>
      </p:sp>
      <p:sp>
        <p:nvSpPr>
          <p:cNvPr id="9" name="Shape 7"/>
          <p:cNvSpPr/>
          <p:nvPr/>
        </p:nvSpPr>
        <p:spPr>
          <a:xfrm>
            <a:off x="411480" y="2560320"/>
            <a:ext cx="457200" cy="457200"/>
          </a:xfrm>
          <a:prstGeom prst="rect">
            <a:avLst/>
          </a:prstGeom>
          <a:solidFill>
            <a:srgbClr val="E4FF97"/>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自我陈述法与其他用户研究方法</a:t>
            </a:r>
            <a:endParaRPr lang="en-US" sz="1350" dirty="0"/>
          </a:p>
        </p:txBody>
      </p:sp>
      <p:sp>
        <p:nvSpPr>
          <p:cNvPr id="13" name="Shape 11"/>
          <p:cNvSpPr/>
          <p:nvPr/>
        </p:nvSpPr>
        <p:spPr>
          <a:xfrm>
            <a:off x="411480" y="3108960"/>
            <a:ext cx="457200" cy="603504"/>
          </a:xfrm>
          <a:prstGeom prst="rect">
            <a:avLst/>
          </a:prstGeom>
          <a:solidFill>
            <a:srgbClr val="FFC9C1"/>
          </a:solidFill>
          <a:ln/>
        </p:spPr>
      </p:sp>
      <p:sp>
        <p:nvSpPr>
          <p:cNvPr id="14" name="Text 12"/>
          <p:cNvSpPr txBox="1"/>
          <p:nvPr/>
        </p:nvSpPr>
        <p:spPr>
          <a:xfrm>
            <a:off x="411480" y="310896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603504"/>
          </a:xfrm>
          <a:prstGeom prst="roundRect">
            <a:avLst>
              <a:gd name="adj" fmla="val 15152"/>
            </a:avLst>
          </a:prstGeom>
          <a:solidFill>
            <a:srgbClr val="F4F4F4"/>
          </a:solidFill>
          <a:ln/>
        </p:spPr>
      </p:sp>
      <p:sp>
        <p:nvSpPr>
          <p:cNvPr id="16" name="Text 14"/>
          <p:cNvSpPr txBox="1"/>
          <p:nvPr/>
        </p:nvSpPr>
        <p:spPr>
          <a:xfrm>
            <a:off x="1097280" y="315468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自我陈述法的反馈收集</a:t>
            </a:r>
            <a:endParaRPr lang="en-US" sz="1350" dirty="0"/>
          </a:p>
        </p:txBody>
      </p:sp>
      <p:sp>
        <p:nvSpPr>
          <p:cNvPr id="17" name="Text 15"/>
          <p:cNvSpPr txBox="1"/>
          <p:nvPr/>
        </p:nvSpPr>
        <p:spPr>
          <a:xfrm>
            <a:off x="1097280" y="343814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记录方式 · 编码分析</a:t>
            </a:r>
            <a:endParaRPr lang="en-US" sz="950" dirty="0"/>
          </a:p>
        </p:txBody>
      </p:sp>
      <p:sp>
        <p:nvSpPr>
          <p:cNvPr id="18" name="Shape 16"/>
          <p:cNvSpPr/>
          <p:nvPr/>
        </p:nvSpPr>
        <p:spPr>
          <a:xfrm>
            <a:off x="411480" y="4818888"/>
            <a:ext cx="77724" cy="77724"/>
          </a:xfrm>
          <a:prstGeom prst="ellipse">
            <a:avLst/>
          </a:prstGeom>
          <a:solidFill>
            <a:srgbClr val="4D49FC"/>
          </a:solidFill>
          <a:ln/>
        </p:spPr>
      </p:sp>
      <p:sp>
        <p:nvSpPr>
          <p:cNvPr id="19" name="Shape 17"/>
          <p:cNvSpPr/>
          <p:nvPr/>
        </p:nvSpPr>
        <p:spPr>
          <a:xfrm>
            <a:off x="507492" y="4818888"/>
            <a:ext cx="77724" cy="77724"/>
          </a:xfrm>
          <a:prstGeom prst="ellipse">
            <a:avLst/>
          </a:prstGeom>
          <a:solidFill>
            <a:srgbClr val="4D49FC"/>
          </a:solidFill>
          <a:ln/>
        </p:spPr>
      </p:sp>
      <p:sp>
        <p:nvSpPr>
          <p:cNvPr id="20" name="Shape 18"/>
          <p:cNvSpPr/>
          <p:nvPr/>
        </p:nvSpPr>
        <p:spPr>
          <a:xfrm>
            <a:off x="411480" y="4914900"/>
            <a:ext cx="77724" cy="77724"/>
          </a:xfrm>
          <a:prstGeom prst="ellipse">
            <a:avLst/>
          </a:prstGeom>
          <a:solidFill>
            <a:srgbClr val="4D49FC"/>
          </a:solidFill>
          <a:ln/>
        </p:spPr>
      </p:sp>
      <p:sp>
        <p:nvSpPr>
          <p:cNvPr id="21" name="Shape 19"/>
          <p:cNvSpPr/>
          <p:nvPr/>
        </p:nvSpPr>
        <p:spPr>
          <a:xfrm>
            <a:off x="507492" y="4914900"/>
            <a:ext cx="77724" cy="77724"/>
          </a:xfrm>
          <a:prstGeom prst="ellipse">
            <a:avLst/>
          </a:prstGeom>
          <a:solidFill>
            <a:srgbClr val="4D49FC"/>
          </a:solidFill>
          <a:ln/>
        </p:spPr>
      </p:sp>
      <p:sp>
        <p:nvSpPr>
          <p:cNvPr id="22" name="Text 20"/>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3" name="Text 21"/>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31</a:t>
            </a:r>
            <a:endParaRPr lang="en-US" sz="750" dirty="0"/>
          </a:p>
        </p:txBody>
      </p:sp>
      <p:pic>
        <p:nvPicPr>
          <p:cNvPr id="24" name="Image 0" descr="decorative collage">    </p:cNvPr>
          <p:cNvPicPr>
            <a:picLocks noChangeAspect="1"/>
          </p:cNvPicPr>
          <p:nvPr/>
        </p:nvPicPr>
        <p:blipFill>
          <a:blip r:embed="rId1"/>
          <a:stretch>
            <a:fillRect/>
          </a:stretch>
        </p:blipFill>
        <p:spPr>
          <a:xfrm>
            <a:off x="5577840" y="3136847"/>
            <a:ext cx="3154680" cy="157231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06 自我陈述法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自我陈述法概述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Overview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32</a:t>
            </a:r>
            <a:endParaRPr lang="en-US" sz="750" dirty="0"/>
          </a:p>
        </p:txBody>
      </p:sp>
      <p:sp>
        <p:nvSpPr>
          <p:cNvPr id="11" name="Shape 9"/>
          <p:cNvSpPr/>
          <p:nvPr/>
        </p:nvSpPr>
        <p:spPr>
          <a:xfrm>
            <a:off x="411480" y="1188720"/>
            <a:ext cx="4105656" cy="3383280"/>
          </a:xfrm>
          <a:prstGeom prst="roundRect">
            <a:avLst>
              <a:gd name="adj" fmla="val 2703"/>
            </a:avLst>
          </a:prstGeom>
          <a:solidFill>
            <a:srgbClr val="FFE3A3"/>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3" name="Text 11"/>
          <p:cNvSpPr txBox="1"/>
          <p:nvPr/>
        </p:nvSpPr>
        <p:spPr>
          <a:xfrm>
            <a:off x="640080" y="1947672"/>
            <a:ext cx="3694176" cy="384048"/>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定义与特点</a:t>
            </a:r>
            <a:endParaRPr lang="en-US" sz="1800" dirty="0"/>
          </a:p>
        </p:txBody>
      </p:sp>
      <p:sp>
        <p:nvSpPr>
          <p:cNvPr id="14" name="Text 12"/>
          <p:cNvSpPr txBox="1"/>
          <p:nvPr/>
        </p:nvSpPr>
        <p:spPr>
          <a:xfrm>
            <a:off x="640080"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自我陈述法是一种让用户自我记录其日常行为、情感和体验的研究方法。</a:t>
            </a:r>
            <a:endParaRPr lang="en-US" sz="1300" dirty="0"/>
          </a:p>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自我陈述法能够捕捉到用户在特定情境下的细节体验，尤其适合长时间跟踪用户的使用习惯和情绪变化。</a:t>
            </a:r>
            <a:endParaRPr lang="en-US" sz="1300" dirty="0"/>
          </a:p>
        </p:txBody>
      </p:sp>
      <p:sp>
        <p:nvSpPr>
          <p:cNvPr id="15" name="Shape 13"/>
          <p:cNvSpPr/>
          <p:nvPr/>
        </p:nvSpPr>
        <p:spPr>
          <a:xfrm>
            <a:off x="4626864" y="1188720"/>
            <a:ext cx="4105656" cy="3383280"/>
          </a:xfrm>
          <a:prstGeom prst="roundRect">
            <a:avLst>
              <a:gd name="adj" fmla="val 2703"/>
            </a:avLst>
          </a:prstGeom>
          <a:solidFill>
            <a:srgbClr val="F4F4F4"/>
          </a:solidFill>
          <a:ln/>
        </p:spPr>
      </p:sp>
      <p:sp>
        <p:nvSpPr>
          <p:cNvPr id="16" name="Text 14"/>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02</a:t>
            </a:r>
            <a:endParaRPr lang="en-US" sz="2200" dirty="0"/>
          </a:p>
        </p:txBody>
      </p:sp>
      <p:sp>
        <p:nvSpPr>
          <p:cNvPr id="17" name="Text 15"/>
          <p:cNvSpPr txBox="1"/>
          <p:nvPr/>
        </p:nvSpPr>
        <p:spPr>
          <a:xfrm>
            <a:off x="4855464" y="1947672"/>
            <a:ext cx="3694176" cy="384048"/>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优势与局限</a:t>
            </a:r>
            <a:endParaRPr lang="en-US" sz="1800" dirty="0"/>
          </a:p>
        </p:txBody>
      </p:sp>
      <p:sp>
        <p:nvSpPr>
          <p:cNvPr id="18" name="Text 16"/>
          <p:cNvSpPr txBox="1"/>
          <p:nvPr/>
        </p:nvSpPr>
        <p:spPr>
          <a:xfrm>
            <a:off x="4855464"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自我陈述法的优点在于能够让用户在自然环境中记录真实感受，尤其适合捕捉长时间使用中的情感变化。</a:t>
            </a:r>
            <a:endParaRPr lang="en-US" sz="1300" dirty="0"/>
          </a:p>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自我陈述法的局限在于用户的参与度和记录质量难以控制，有时会出现记录不完整、遗漏重要细节等情况。</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06 自我陈述法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自我陈述法与其他用户研究方法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Compared with Other Methods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33</a:t>
            </a:r>
            <a:endParaRPr lang="en-US" sz="750" dirty="0"/>
          </a:p>
        </p:txBody>
      </p:sp>
      <p:sp>
        <p:nvSpPr>
          <p:cNvPr id="11" name="Shape 9"/>
          <p:cNvSpPr/>
          <p:nvPr/>
        </p:nvSpPr>
        <p:spPr>
          <a:xfrm>
            <a:off x="411480" y="1188720"/>
            <a:ext cx="4105656" cy="3383280"/>
          </a:xfrm>
          <a:prstGeom prst="roundRect">
            <a:avLst>
              <a:gd name="adj" fmla="val 2703"/>
            </a:avLst>
          </a:prstGeom>
          <a:solidFill>
            <a:srgbClr val="F4F4F4"/>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3" name="Text 11"/>
          <p:cNvSpPr txBox="1"/>
          <p:nvPr/>
        </p:nvSpPr>
        <p:spPr>
          <a:xfrm>
            <a:off x="640080" y="1947672"/>
            <a:ext cx="3694176" cy="384048"/>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与访谈、观察法的比较</a:t>
            </a:r>
            <a:endParaRPr lang="en-US" sz="1800" dirty="0"/>
          </a:p>
        </p:txBody>
      </p:sp>
      <p:sp>
        <p:nvSpPr>
          <p:cNvPr id="14" name="Text 12"/>
          <p:cNvSpPr txBox="1"/>
          <p:nvPr/>
        </p:nvSpPr>
        <p:spPr>
          <a:xfrm>
            <a:off x="640080"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自我陈述法与访谈、观察法相比，具有更高的灵活性和长时间记录的优势。</a:t>
            </a:r>
            <a:endParaRPr lang="en-US" sz="1300" dirty="0"/>
          </a:p>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自我陈述法常用于与其他研究方法结合使用，为定性研究提供丰富的数据。</a:t>
            </a:r>
            <a:endParaRPr lang="en-US" sz="1300" dirty="0"/>
          </a:p>
        </p:txBody>
      </p:sp>
      <p:sp>
        <p:nvSpPr>
          <p:cNvPr id="15" name="Shape 13"/>
          <p:cNvSpPr/>
          <p:nvPr/>
        </p:nvSpPr>
        <p:spPr>
          <a:xfrm>
            <a:off x="4626864" y="1188720"/>
            <a:ext cx="4105656" cy="3383280"/>
          </a:xfrm>
          <a:prstGeom prst="roundRect">
            <a:avLst>
              <a:gd name="adj" fmla="val 2703"/>
            </a:avLst>
          </a:prstGeom>
          <a:solidFill>
            <a:srgbClr val="111111"/>
          </a:solidFill>
          <a:ln/>
        </p:spPr>
      </p:sp>
      <p:sp>
        <p:nvSpPr>
          <p:cNvPr id="16" name="Text 14"/>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2200" b="1" dirty="0">
                <a:solidFill>
                  <a:srgbClr val="FFE3A3"/>
                </a:solidFill>
                <a:latin typeface="Arial" pitchFamily="34" charset="0"/>
                <a:ea typeface="Arial" pitchFamily="34" charset="-122"/>
                <a:cs typeface="Arial" pitchFamily="34" charset="-120"/>
              </a:rPr>
              <a:t>02</a:t>
            </a:r>
            <a:endParaRPr lang="en-US" sz="2200" dirty="0"/>
          </a:p>
        </p:txBody>
      </p:sp>
      <p:sp>
        <p:nvSpPr>
          <p:cNvPr id="17" name="Text 15"/>
          <p:cNvSpPr txBox="1"/>
          <p:nvPr/>
        </p:nvSpPr>
        <p:spPr>
          <a:xfrm>
            <a:off x="4855464" y="1947672"/>
            <a:ext cx="3694176" cy="384048"/>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适用条件</a:t>
            </a:r>
            <a:endParaRPr lang="en-US" sz="1800" dirty="0"/>
          </a:p>
        </p:txBody>
      </p:sp>
      <p:sp>
        <p:nvSpPr>
          <p:cNvPr id="18" name="Text 16"/>
          <p:cNvSpPr txBox="1"/>
          <p:nvPr/>
        </p:nvSpPr>
        <p:spPr>
          <a:xfrm>
            <a:off x="4855464"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自我陈述法适用于那些难以通过单次访谈或观察法收集到的长时间体验数据。</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特别是在涉及隐私、情感体验的研究中，自我陈述法因其不受时间和场所限制的特点，能够让用户更真实地表达自己。</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06 自我陈述法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自我陈述法的反馈收集</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Collecting Self-reports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34</a:t>
            </a:r>
            <a:endParaRPr lang="en-US" sz="750" dirty="0"/>
          </a:p>
        </p:txBody>
      </p:sp>
      <p:sp>
        <p:nvSpPr>
          <p:cNvPr id="11" name="Shape 9"/>
          <p:cNvSpPr/>
          <p:nvPr/>
        </p:nvSpPr>
        <p:spPr>
          <a:xfrm>
            <a:off x="411480" y="1188720"/>
            <a:ext cx="2210562" cy="548640"/>
          </a:xfrm>
          <a:prstGeom prst="homePlate">
            <a:avLst/>
          </a:prstGeom>
          <a:solidFill>
            <a:srgbClr val="EBEBEB"/>
          </a:solidFill>
          <a:ln/>
        </p:spPr>
      </p:sp>
      <p:sp>
        <p:nvSpPr>
          <p:cNvPr id="12" name="Text 10"/>
          <p:cNvSpPr txBox="1"/>
          <p:nvPr/>
        </p:nvSpPr>
        <p:spPr>
          <a:xfrm>
            <a:off x="548640" y="1188720"/>
            <a:ext cx="179908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用户记录</a:t>
            </a:r>
            <a:endParaRPr lang="en-US" sz="1400" dirty="0"/>
          </a:p>
        </p:txBody>
      </p:sp>
      <p:sp>
        <p:nvSpPr>
          <p:cNvPr id="13" name="Shape 11"/>
          <p:cNvSpPr/>
          <p:nvPr/>
        </p:nvSpPr>
        <p:spPr>
          <a:xfrm>
            <a:off x="2448306" y="1188720"/>
            <a:ext cx="2210562" cy="548640"/>
          </a:xfrm>
          <a:prstGeom prst="chevron">
            <a:avLst/>
          </a:prstGeom>
          <a:solidFill>
            <a:srgbClr val="F4F4F4"/>
          </a:solidFill>
          <a:ln/>
        </p:spPr>
      </p:sp>
      <p:sp>
        <p:nvSpPr>
          <p:cNvPr id="14" name="Text 12"/>
          <p:cNvSpPr txBox="1"/>
          <p:nvPr/>
        </p:nvSpPr>
        <p:spPr>
          <a:xfrm>
            <a:off x="2768346"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定期收集</a:t>
            </a:r>
            <a:endParaRPr lang="en-US" sz="1400" dirty="0"/>
          </a:p>
        </p:txBody>
      </p:sp>
      <p:sp>
        <p:nvSpPr>
          <p:cNvPr id="15" name="Shape 13"/>
          <p:cNvSpPr/>
          <p:nvPr/>
        </p:nvSpPr>
        <p:spPr>
          <a:xfrm>
            <a:off x="4485132" y="1188720"/>
            <a:ext cx="2210562" cy="548640"/>
          </a:xfrm>
          <a:prstGeom prst="chevron">
            <a:avLst/>
          </a:prstGeom>
          <a:solidFill>
            <a:srgbClr val="FFE3A3"/>
          </a:solidFill>
          <a:ln/>
        </p:spPr>
      </p:sp>
      <p:sp>
        <p:nvSpPr>
          <p:cNvPr id="16" name="Text 14"/>
          <p:cNvSpPr txBox="1"/>
          <p:nvPr/>
        </p:nvSpPr>
        <p:spPr>
          <a:xfrm>
            <a:off x="4805172"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编码分析</a:t>
            </a:r>
            <a:endParaRPr lang="en-US" sz="1400" dirty="0"/>
          </a:p>
        </p:txBody>
      </p:sp>
      <p:sp>
        <p:nvSpPr>
          <p:cNvPr id="17" name="Shape 15"/>
          <p:cNvSpPr/>
          <p:nvPr/>
        </p:nvSpPr>
        <p:spPr>
          <a:xfrm>
            <a:off x="6521958" y="1188720"/>
            <a:ext cx="2210562" cy="548640"/>
          </a:xfrm>
          <a:prstGeom prst="chevron">
            <a:avLst/>
          </a:prstGeom>
          <a:solidFill>
            <a:srgbClr val="111111"/>
          </a:solidFill>
          <a:ln/>
        </p:spPr>
      </p:sp>
      <p:sp>
        <p:nvSpPr>
          <p:cNvPr id="18" name="Text 16"/>
          <p:cNvSpPr txBox="1"/>
          <p:nvPr/>
        </p:nvSpPr>
        <p:spPr>
          <a:xfrm>
            <a:off x="6841998" y="1188720"/>
            <a:ext cx="1616202"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结合其他方法</a:t>
            </a:r>
            <a:endParaRPr lang="en-US" sz="1400" dirty="0"/>
          </a:p>
        </p:txBody>
      </p:sp>
      <p:sp>
        <p:nvSpPr>
          <p:cNvPr id="19" name="Shape 17"/>
          <p:cNvSpPr/>
          <p:nvPr/>
        </p:nvSpPr>
        <p:spPr>
          <a:xfrm>
            <a:off x="411480" y="1874520"/>
            <a:ext cx="4105656" cy="2697480"/>
          </a:xfrm>
          <a:prstGeom prst="roundRect">
            <a:avLst>
              <a:gd name="adj" fmla="val 3390"/>
            </a:avLst>
          </a:prstGeom>
          <a:solidFill>
            <a:srgbClr val="F4F4F4"/>
          </a:solidFill>
          <a:ln/>
        </p:spPr>
      </p:sp>
      <p:sp>
        <p:nvSpPr>
          <p:cNvPr id="20" name="Text 18"/>
          <p:cNvSpPr txBox="1"/>
          <p:nvPr/>
        </p:nvSpPr>
        <p:spPr>
          <a:xfrm>
            <a:off x="640080" y="20391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21" name="Text 19"/>
          <p:cNvSpPr txBox="1"/>
          <p:nvPr/>
        </p:nvSpPr>
        <p:spPr>
          <a:xfrm>
            <a:off x="640080" y="2359152"/>
            <a:ext cx="3694176"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记录方式</a:t>
            </a:r>
            <a:endParaRPr lang="en-US" sz="1600" dirty="0"/>
          </a:p>
        </p:txBody>
      </p:sp>
      <p:sp>
        <p:nvSpPr>
          <p:cNvPr id="22" name="Text 20"/>
          <p:cNvSpPr txBox="1"/>
          <p:nvPr/>
        </p:nvSpPr>
        <p:spPr>
          <a:xfrm>
            <a:off x="640080"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用户可以通过书写日记、录制视频等方式记录其日常使用情况。</a:t>
            </a:r>
            <a:endParaRPr lang="en-US" sz="1300" dirty="0"/>
          </a:p>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研究者会定期收集用户的记录，检查是否有遗漏或需要补充的部分。</a:t>
            </a:r>
            <a:endParaRPr lang="en-US" sz="1300" dirty="0"/>
          </a:p>
        </p:txBody>
      </p:sp>
      <p:sp>
        <p:nvSpPr>
          <p:cNvPr id="23" name="Shape 21"/>
          <p:cNvSpPr/>
          <p:nvPr/>
        </p:nvSpPr>
        <p:spPr>
          <a:xfrm>
            <a:off x="4626864" y="1874520"/>
            <a:ext cx="4105656" cy="2697480"/>
          </a:xfrm>
          <a:prstGeom prst="roundRect">
            <a:avLst>
              <a:gd name="adj" fmla="val 3390"/>
            </a:avLst>
          </a:prstGeom>
          <a:solidFill>
            <a:srgbClr val="FFE3A3"/>
          </a:solidFill>
          <a:ln/>
        </p:spPr>
      </p:sp>
      <p:sp>
        <p:nvSpPr>
          <p:cNvPr id="24" name="Text 22"/>
          <p:cNvSpPr txBox="1"/>
          <p:nvPr/>
        </p:nvSpPr>
        <p:spPr>
          <a:xfrm>
            <a:off x="4855464" y="20391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25" name="Text 23"/>
          <p:cNvSpPr txBox="1"/>
          <p:nvPr/>
        </p:nvSpPr>
        <p:spPr>
          <a:xfrm>
            <a:off x="4855464" y="2359152"/>
            <a:ext cx="3694176"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编码分析</a:t>
            </a:r>
            <a:endParaRPr lang="en-US" sz="1600" dirty="0"/>
          </a:p>
        </p:txBody>
      </p:sp>
      <p:sp>
        <p:nvSpPr>
          <p:cNvPr id="26" name="Text 24"/>
          <p:cNvSpPr txBox="1"/>
          <p:nvPr/>
        </p:nvSpPr>
        <p:spPr>
          <a:xfrm>
            <a:off x="4855464"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研究者会对这些自我陈述进行编码分析，从中提取出用户的行为模式和情绪变化。</a:t>
            </a:r>
            <a:endParaRPr lang="en-US" sz="1300" dirty="0"/>
          </a:p>
          <a:p>
            <a:pPr marL="152400" indent="-152400">
              <a:lnSpc>
                <a:spcPct val="135000"/>
              </a:lnSpc>
              <a:spcAft>
                <a:spcPts val="5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自我陈述法可以与访谈和观察法结合使用，以获取更全面的数据。</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05  ·  PART 07</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现场试验法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Field Experiment</a:t>
            </a:r>
            <a:endParaRPr lang="en-US" sz="1400" dirty="0"/>
          </a:p>
        </p:txBody>
      </p:sp>
      <p:sp>
        <p:nvSpPr>
          <p:cNvPr id="5" name="Shape 3"/>
          <p:cNvSpPr/>
          <p:nvPr/>
        </p:nvSpPr>
        <p:spPr>
          <a:xfrm>
            <a:off x="411480" y="2011680"/>
            <a:ext cx="457200" cy="603504"/>
          </a:xfrm>
          <a:prstGeom prst="rect">
            <a:avLst/>
          </a:prstGeom>
          <a:solidFill>
            <a:srgbClr val="C7F8FB"/>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现场试验法概述</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定义与特点 · 分类</a:t>
            </a:r>
            <a:endParaRPr lang="en-US" sz="950" dirty="0"/>
          </a:p>
        </p:txBody>
      </p:sp>
      <p:sp>
        <p:nvSpPr>
          <p:cNvPr id="10" name="Shape 8"/>
          <p:cNvSpPr/>
          <p:nvPr/>
        </p:nvSpPr>
        <p:spPr>
          <a:xfrm>
            <a:off x="411480" y="2706624"/>
            <a:ext cx="457200" cy="457200"/>
          </a:xfrm>
          <a:prstGeom prst="rect">
            <a:avLst/>
          </a:prstGeom>
          <a:solidFill>
            <a:srgbClr val="FFC9C1"/>
          </a:solidFill>
          <a:ln/>
        </p:spPr>
      </p:sp>
      <p:sp>
        <p:nvSpPr>
          <p:cNvPr id="11" name="Text 9"/>
          <p:cNvSpPr txBox="1"/>
          <p:nvPr/>
        </p:nvSpPr>
        <p:spPr>
          <a:xfrm>
            <a:off x="411480" y="270662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457200"/>
          </a:xfrm>
          <a:prstGeom prst="rect">
            <a:avLst/>
          </a:prstGeom>
          <a:solidFill>
            <a:srgbClr val="F4F4F4"/>
          </a:solidFill>
          <a:ln/>
        </p:spPr>
      </p:sp>
      <p:sp>
        <p:nvSpPr>
          <p:cNvPr id="13" name="Text 11"/>
          <p:cNvSpPr txBox="1"/>
          <p:nvPr/>
        </p:nvSpPr>
        <p:spPr>
          <a:xfrm>
            <a:off x="1097280" y="270662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现场试验法的操作流程</a:t>
            </a:r>
            <a:endParaRPr lang="en-US" sz="1350" dirty="0"/>
          </a:p>
        </p:txBody>
      </p:sp>
      <p:sp>
        <p:nvSpPr>
          <p:cNvPr id="14" name="Shape 12"/>
          <p:cNvSpPr/>
          <p:nvPr/>
        </p:nvSpPr>
        <p:spPr>
          <a:xfrm>
            <a:off x="411480" y="3255264"/>
            <a:ext cx="457200" cy="457200"/>
          </a:xfrm>
          <a:prstGeom prst="rect">
            <a:avLst/>
          </a:prstGeom>
          <a:solidFill>
            <a:srgbClr val="D9D4FF"/>
          </a:solidFill>
          <a:ln/>
        </p:spPr>
      </p:sp>
      <p:sp>
        <p:nvSpPr>
          <p:cNvPr id="15" name="Text 13"/>
          <p:cNvSpPr txBox="1"/>
          <p:nvPr/>
        </p:nvSpPr>
        <p:spPr>
          <a:xfrm>
            <a:off x="411480" y="325526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457200"/>
          </a:xfrm>
          <a:prstGeom prst="rect">
            <a:avLst/>
          </a:prstGeom>
          <a:solidFill>
            <a:srgbClr val="F4F4F4"/>
          </a:solidFill>
          <a:ln/>
        </p:spPr>
      </p:sp>
      <p:sp>
        <p:nvSpPr>
          <p:cNvPr id="17" name="Text 15"/>
          <p:cNvSpPr txBox="1"/>
          <p:nvPr/>
        </p:nvSpPr>
        <p:spPr>
          <a:xfrm>
            <a:off x="1097280" y="325526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现场试验法的案例与应用</a:t>
            </a:r>
            <a:endParaRPr lang="en-US" sz="1350" dirty="0"/>
          </a:p>
        </p:txBody>
      </p:sp>
      <p:sp>
        <p:nvSpPr>
          <p:cNvPr id="18" name="Shape 16"/>
          <p:cNvSpPr/>
          <p:nvPr/>
        </p:nvSpPr>
        <p:spPr>
          <a:xfrm>
            <a:off x="411480" y="4818888"/>
            <a:ext cx="77724" cy="77724"/>
          </a:xfrm>
          <a:prstGeom prst="ellipse">
            <a:avLst/>
          </a:prstGeom>
          <a:solidFill>
            <a:srgbClr val="4D49FC"/>
          </a:solidFill>
          <a:ln/>
        </p:spPr>
      </p:sp>
      <p:sp>
        <p:nvSpPr>
          <p:cNvPr id="19" name="Shape 17"/>
          <p:cNvSpPr/>
          <p:nvPr/>
        </p:nvSpPr>
        <p:spPr>
          <a:xfrm>
            <a:off x="507492" y="4818888"/>
            <a:ext cx="77724" cy="77724"/>
          </a:xfrm>
          <a:prstGeom prst="ellipse">
            <a:avLst/>
          </a:prstGeom>
          <a:solidFill>
            <a:srgbClr val="4D49FC"/>
          </a:solidFill>
          <a:ln/>
        </p:spPr>
      </p:sp>
      <p:sp>
        <p:nvSpPr>
          <p:cNvPr id="20" name="Shape 18"/>
          <p:cNvSpPr/>
          <p:nvPr/>
        </p:nvSpPr>
        <p:spPr>
          <a:xfrm>
            <a:off x="411480" y="4914900"/>
            <a:ext cx="77724" cy="77724"/>
          </a:xfrm>
          <a:prstGeom prst="ellipse">
            <a:avLst/>
          </a:prstGeom>
          <a:solidFill>
            <a:srgbClr val="4D49FC"/>
          </a:solidFill>
          <a:ln/>
        </p:spPr>
      </p:sp>
      <p:sp>
        <p:nvSpPr>
          <p:cNvPr id="21" name="Shape 19"/>
          <p:cNvSpPr/>
          <p:nvPr/>
        </p:nvSpPr>
        <p:spPr>
          <a:xfrm>
            <a:off x="507492" y="4914900"/>
            <a:ext cx="77724" cy="77724"/>
          </a:xfrm>
          <a:prstGeom prst="ellipse">
            <a:avLst/>
          </a:prstGeom>
          <a:solidFill>
            <a:srgbClr val="4D49FC"/>
          </a:solidFill>
          <a:ln/>
        </p:spPr>
      </p:sp>
      <p:sp>
        <p:nvSpPr>
          <p:cNvPr id="22" name="Text 20"/>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3" name="Text 21"/>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35</a:t>
            </a:r>
            <a:endParaRPr lang="en-US" sz="750" dirty="0"/>
          </a:p>
        </p:txBody>
      </p:sp>
      <p:pic>
        <p:nvPicPr>
          <p:cNvPr id="24" name="Image 0" descr="decorative collage">    </p:cNvPr>
          <p:cNvPicPr>
            <a:picLocks noChangeAspect="1"/>
          </p:cNvPicPr>
          <p:nvPr/>
        </p:nvPicPr>
        <p:blipFill>
          <a:blip r:embed="rId1"/>
          <a:stretch>
            <a:fillRect/>
          </a:stretch>
        </p:blipFill>
        <p:spPr>
          <a:xfrm>
            <a:off x="5740514" y="1783080"/>
            <a:ext cx="2992006" cy="29260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07 现场试验法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现场试验法概述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Overview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36</a:t>
            </a:r>
            <a:endParaRPr lang="en-US" sz="750" dirty="0"/>
          </a:p>
        </p:txBody>
      </p:sp>
      <p:sp>
        <p:nvSpPr>
          <p:cNvPr id="11" name="Shape 9"/>
          <p:cNvSpPr/>
          <p:nvPr/>
        </p:nvSpPr>
        <p:spPr>
          <a:xfrm>
            <a:off x="411480" y="1188720"/>
            <a:ext cx="4105656" cy="3383280"/>
          </a:xfrm>
          <a:prstGeom prst="roundRect">
            <a:avLst>
              <a:gd name="adj" fmla="val 2703"/>
            </a:avLst>
          </a:prstGeom>
          <a:solidFill>
            <a:srgbClr val="C7F8FB"/>
          </a:solidFill>
          <a:ln/>
        </p:spPr>
      </p:sp>
      <p:sp>
        <p:nvSpPr>
          <p:cNvPr id="12" name="Text 10"/>
          <p:cNvSpPr txBox="1"/>
          <p:nvPr/>
        </p:nvSpPr>
        <p:spPr>
          <a:xfrm>
            <a:off x="685800" y="1371600"/>
            <a:ext cx="3566160" cy="457200"/>
          </a:xfrm>
          <a:prstGeom prst="rect">
            <a:avLst/>
          </a:prstGeom>
          <a:noFill/>
          <a:ln/>
        </p:spPr>
        <p:txBody>
          <a:bodyPr wrap="square" lIns="0" tIns="0" rIns="0" bIns="0" rtlCol="0" anchor="t"/>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定义与特点</a:t>
            </a:r>
            <a:endParaRPr lang="en-US" sz="1800" dirty="0"/>
          </a:p>
        </p:txBody>
      </p:sp>
      <p:sp>
        <p:nvSpPr>
          <p:cNvPr id="13" name="Text 11"/>
          <p:cNvSpPr txBox="1"/>
          <p:nvPr/>
        </p:nvSpPr>
        <p:spPr>
          <a:xfrm>
            <a:off x="685800" y="1920240"/>
            <a:ext cx="3566160" cy="2560320"/>
          </a:xfrm>
          <a:prstGeom prst="rect">
            <a:avLst/>
          </a:prstGeom>
          <a:noFill/>
          <a:ln/>
        </p:spPr>
        <p:txBody>
          <a:bodyPr wrap="square" lIns="0" tIns="0" rIns="0" bIns="0" rtlCol="0" anchor="t"/>
          <a:lstStyle/>
          <a:p>
            <a:pPr indent="0" marL="0">
              <a:lnSpc>
                <a:spcPct val="145000"/>
              </a:lnSpc>
              <a:spcAft>
                <a:spcPts val="600"/>
              </a:spcAft>
              <a:buNone/>
            </a:pPr>
            <a:r>
              <a:rPr lang="en-US" sz="1200" dirty="0">
                <a:solidFill>
                  <a:srgbClr val="111111"/>
                </a:solidFill>
                <a:latin typeface="Microsoft YaHei" pitchFamily="34" charset="0"/>
                <a:ea typeface="Microsoft YaHei" pitchFamily="34" charset="-122"/>
                <a:cs typeface="Microsoft YaHei" pitchFamily="34" charset="-120"/>
              </a:rPr>
              <a:t>现场试验法是一种在真实环境中进行的实验研究方法，研究者通过在用户的日常环境中观察其行为，从而收集有关产品使用的真实反馈。</a:t>
            </a:r>
            <a:endParaRPr lang="en-US" sz="1200" dirty="0"/>
          </a:p>
          <a:p>
            <a:pPr indent="0" marL="0">
              <a:lnSpc>
                <a:spcPct val="145000"/>
              </a:lnSpc>
              <a:spcAft>
                <a:spcPts val="600"/>
              </a:spcAft>
              <a:buNone/>
            </a:pPr>
            <a:r>
              <a:rPr lang="en-US" sz="1200" dirty="0">
                <a:solidFill>
                  <a:srgbClr val="111111"/>
                </a:solidFill>
                <a:latin typeface="Microsoft YaHei" pitchFamily="34" charset="0"/>
                <a:ea typeface="Microsoft YaHei" pitchFamily="34" charset="-122"/>
                <a:cs typeface="Microsoft YaHei" pitchFamily="34" charset="-120"/>
              </a:rPr>
              <a:t>现场试验法注重获取用户的自然反应，与实验室环境中的研究相比，这种方法的数据更贴近用户的实际生活情况。</a:t>
            </a:r>
            <a:endParaRPr lang="en-US" sz="1200" dirty="0"/>
          </a:p>
        </p:txBody>
      </p:sp>
      <p:sp>
        <p:nvSpPr>
          <p:cNvPr id="14" name="Shape 12"/>
          <p:cNvSpPr/>
          <p:nvPr/>
        </p:nvSpPr>
        <p:spPr>
          <a:xfrm>
            <a:off x="4626864" y="1188720"/>
            <a:ext cx="4105656" cy="1636776"/>
          </a:xfrm>
          <a:prstGeom prst="roundRect">
            <a:avLst>
              <a:gd name="adj" fmla="val 5587"/>
            </a:avLst>
          </a:prstGeom>
          <a:solidFill>
            <a:srgbClr val="F4F4F4"/>
          </a:solidFill>
          <a:ln/>
        </p:spPr>
      </p:sp>
      <p:sp>
        <p:nvSpPr>
          <p:cNvPr id="15" name="Text 13"/>
          <p:cNvSpPr txBox="1"/>
          <p:nvPr/>
        </p:nvSpPr>
        <p:spPr>
          <a:xfrm>
            <a:off x="4855464" y="1298448"/>
            <a:ext cx="3657600" cy="274320"/>
          </a:xfrm>
          <a:prstGeom prst="rect">
            <a:avLst/>
          </a:prstGeom>
          <a:noFill/>
          <a:ln/>
        </p:spPr>
        <p:txBody>
          <a:bodyPr wrap="square" lIns="0" tIns="0" rIns="0" bIns="0" rtlCol="0" anchor="t"/>
          <a:lstStyle/>
          <a:p>
            <a:pPr indent="0" marL="0">
              <a:buNone/>
            </a:pPr>
            <a:r>
              <a:rPr lang="en-US" sz="950" b="1" dirty="0">
                <a:solidFill>
                  <a:srgbClr val="6B6B6B"/>
                </a:solidFill>
                <a:latin typeface="Microsoft YaHei" pitchFamily="34" charset="0"/>
                <a:ea typeface="Microsoft YaHei" pitchFamily="34" charset="-122"/>
                <a:cs typeface="Microsoft YaHei" pitchFamily="34" charset="-120"/>
              </a:rPr>
              <a:t>现场试验法的分类  01</a:t>
            </a:r>
            <a:endParaRPr lang="en-US" sz="950" dirty="0"/>
          </a:p>
        </p:txBody>
      </p:sp>
      <p:sp>
        <p:nvSpPr>
          <p:cNvPr id="16" name="Text 14"/>
          <p:cNvSpPr txBox="1"/>
          <p:nvPr/>
        </p:nvSpPr>
        <p:spPr>
          <a:xfrm>
            <a:off x="4855464" y="1600200"/>
            <a:ext cx="3657600"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控制性试验</a:t>
            </a:r>
            <a:endParaRPr lang="en-US" sz="1700" dirty="0"/>
          </a:p>
        </p:txBody>
      </p:sp>
      <p:sp>
        <p:nvSpPr>
          <p:cNvPr id="17" name="Text 15"/>
          <p:cNvSpPr txBox="1"/>
          <p:nvPr/>
        </p:nvSpPr>
        <p:spPr>
          <a:xfrm>
            <a:off x="4855464" y="2057400"/>
            <a:ext cx="3657600" cy="731520"/>
          </a:xfrm>
          <a:prstGeom prst="rect">
            <a:avLst/>
          </a:prstGeom>
          <a:noFill/>
          <a:ln/>
        </p:spPr>
        <p:txBody>
          <a:bodyPr wrap="square" lIns="0" tIns="0" rIns="0" bIns="0" rtlCol="0" anchor="t"/>
          <a:lstStyle/>
          <a:p>
            <a:pPr indent="0" marL="0">
              <a:lnSpc>
                <a:spcPct val="130000"/>
              </a:lnSpc>
              <a:buNone/>
            </a:pPr>
            <a:r>
              <a:rPr lang="en-US" sz="1200" dirty="0">
                <a:solidFill>
                  <a:srgbClr val="111111"/>
                </a:solidFill>
                <a:latin typeface="Microsoft YaHei" pitchFamily="34" charset="0"/>
                <a:ea typeface="Microsoft YaHei" pitchFamily="34" charset="-122"/>
                <a:cs typeface="Microsoft YaHei" pitchFamily="34" charset="-120"/>
              </a:rPr>
              <a:t>在真实环境中对部分变量进行控制，例如让用户在指定情况下完成任务。</a:t>
            </a:r>
            <a:endParaRPr lang="en-US" sz="1200" dirty="0"/>
          </a:p>
        </p:txBody>
      </p:sp>
      <p:sp>
        <p:nvSpPr>
          <p:cNvPr id="18" name="Shape 16"/>
          <p:cNvSpPr/>
          <p:nvPr/>
        </p:nvSpPr>
        <p:spPr>
          <a:xfrm>
            <a:off x="4626864" y="2935224"/>
            <a:ext cx="4105656" cy="1636776"/>
          </a:xfrm>
          <a:prstGeom prst="roundRect">
            <a:avLst>
              <a:gd name="adj" fmla="val 5587"/>
            </a:avLst>
          </a:prstGeom>
          <a:solidFill>
            <a:srgbClr val="111111"/>
          </a:solidFill>
          <a:ln/>
        </p:spPr>
      </p:sp>
      <p:sp>
        <p:nvSpPr>
          <p:cNvPr id="19" name="Text 17"/>
          <p:cNvSpPr txBox="1"/>
          <p:nvPr/>
        </p:nvSpPr>
        <p:spPr>
          <a:xfrm>
            <a:off x="4855464" y="3044952"/>
            <a:ext cx="3657600" cy="274320"/>
          </a:xfrm>
          <a:prstGeom prst="rect">
            <a:avLst/>
          </a:prstGeom>
          <a:noFill/>
          <a:ln/>
        </p:spPr>
        <p:txBody>
          <a:bodyPr wrap="square" lIns="0" tIns="0" rIns="0" bIns="0" rtlCol="0" anchor="t"/>
          <a:lstStyle/>
          <a:p>
            <a:pPr indent="0" marL="0">
              <a:buNone/>
            </a:pPr>
            <a:r>
              <a:rPr lang="en-US" sz="950" b="1" dirty="0">
                <a:solidFill>
                  <a:srgbClr val="C7F8FB"/>
                </a:solidFill>
                <a:latin typeface="Microsoft YaHei" pitchFamily="34" charset="0"/>
                <a:ea typeface="Microsoft YaHei" pitchFamily="34" charset="-122"/>
                <a:cs typeface="Microsoft YaHei" pitchFamily="34" charset="-120"/>
              </a:rPr>
              <a:t>现场试验法的分类  02</a:t>
            </a:r>
            <a:endParaRPr lang="en-US" sz="950" dirty="0"/>
          </a:p>
        </p:txBody>
      </p:sp>
      <p:sp>
        <p:nvSpPr>
          <p:cNvPr id="20" name="Text 18"/>
          <p:cNvSpPr txBox="1"/>
          <p:nvPr/>
        </p:nvSpPr>
        <p:spPr>
          <a:xfrm>
            <a:off x="4855464" y="3346704"/>
            <a:ext cx="3657600"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自然性试验</a:t>
            </a:r>
            <a:endParaRPr lang="en-US" sz="1700" dirty="0"/>
          </a:p>
        </p:txBody>
      </p:sp>
      <p:sp>
        <p:nvSpPr>
          <p:cNvPr id="21" name="Text 19"/>
          <p:cNvSpPr txBox="1"/>
          <p:nvPr/>
        </p:nvSpPr>
        <p:spPr>
          <a:xfrm>
            <a:off x="4855464" y="3803904"/>
            <a:ext cx="3657600" cy="73152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不对变量进行控制，完全在用户的自然环境下观察，适合用于探讨用户的自然行为模式。</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07 现场试验法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现场试验法的操作流程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Process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37</a:t>
            </a:r>
            <a:endParaRPr lang="en-US" sz="750" dirty="0"/>
          </a:p>
        </p:txBody>
      </p:sp>
      <p:pic>
        <p:nvPicPr>
          <p:cNvPr id="11" name="Image 0" descr="p45_2">    </p:cNvPr>
          <p:cNvPicPr>
            <a:picLocks noChangeAspect="1"/>
          </p:cNvPicPr>
          <p:nvPr/>
        </p:nvPicPr>
        <p:blipFill>
          <a:blip r:embed="rId1"/>
          <a:stretch>
            <a:fillRect/>
          </a:stretch>
        </p:blipFill>
        <p:spPr>
          <a:xfrm>
            <a:off x="411480" y="1188720"/>
            <a:ext cx="2194560" cy="1636776"/>
          </a:xfrm>
          <a:prstGeom prst="rect">
            <a:avLst/>
          </a:prstGeom>
        </p:spPr>
      </p:pic>
      <p:pic>
        <p:nvPicPr>
          <p:cNvPr id="12" name="Image 1" descr="p45_4">    </p:cNvPr>
          <p:cNvPicPr>
            <a:picLocks noChangeAspect="1"/>
          </p:cNvPicPr>
          <p:nvPr/>
        </p:nvPicPr>
        <p:blipFill>
          <a:blip r:embed="rId2"/>
          <a:stretch>
            <a:fillRect/>
          </a:stretch>
        </p:blipFill>
        <p:spPr>
          <a:xfrm>
            <a:off x="411480" y="2935224"/>
            <a:ext cx="2194560" cy="1636776"/>
          </a:xfrm>
          <a:prstGeom prst="rect">
            <a:avLst/>
          </a:prstGeom>
        </p:spPr>
      </p:pic>
      <p:sp>
        <p:nvSpPr>
          <p:cNvPr id="13" name="Shape 9"/>
          <p:cNvSpPr/>
          <p:nvPr/>
        </p:nvSpPr>
        <p:spPr>
          <a:xfrm>
            <a:off x="2715768" y="1188720"/>
            <a:ext cx="6016752" cy="1636776"/>
          </a:xfrm>
          <a:prstGeom prst="roundRect">
            <a:avLst>
              <a:gd name="adj" fmla="val 5587"/>
            </a:avLst>
          </a:prstGeom>
          <a:solidFill>
            <a:srgbClr val="C7F8FB"/>
          </a:solidFill>
          <a:ln/>
        </p:spPr>
      </p:sp>
      <p:sp>
        <p:nvSpPr>
          <p:cNvPr id="14" name="Text 10"/>
          <p:cNvSpPr txBox="1"/>
          <p:nvPr/>
        </p:nvSpPr>
        <p:spPr>
          <a:xfrm>
            <a:off x="294436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5" name="Text 11"/>
          <p:cNvSpPr txBox="1"/>
          <p:nvPr/>
        </p:nvSpPr>
        <p:spPr>
          <a:xfrm>
            <a:off x="2944368" y="1655064"/>
            <a:ext cx="5605272" cy="384048"/>
          </a:xfrm>
          <a:prstGeom prst="rect">
            <a:avLst/>
          </a:prstGeom>
          <a:noFill/>
          <a:ln/>
        </p:spPr>
        <p:txBody>
          <a:bodyPr wrap="square" lIns="0" tIns="0" rIns="0" bIns="0" rtlCol="0" anchor="ctr"/>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确定研究目标与选择场景</a:t>
            </a:r>
            <a:endParaRPr lang="en-US" sz="1450" dirty="0"/>
          </a:p>
        </p:txBody>
      </p:sp>
      <p:sp>
        <p:nvSpPr>
          <p:cNvPr id="16" name="Text 12"/>
          <p:cNvSpPr txBox="1"/>
          <p:nvPr/>
        </p:nvSpPr>
        <p:spPr>
          <a:xfrm>
            <a:off x="2944368" y="2112264"/>
            <a:ext cx="5605272" cy="621792"/>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研究者首先需要明确研究的具体目标，如观察用户在购物中心使用支付应用的习惯。</a:t>
            </a:r>
            <a:endParaRPr lang="en-US" sz="1100" dirty="0"/>
          </a:p>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选择合适的场景，如超市、地铁站等，并准备好相关试验材料，如记录表、摄像设备等。</a:t>
            </a:r>
            <a:endParaRPr lang="en-US" sz="1100" dirty="0"/>
          </a:p>
        </p:txBody>
      </p:sp>
      <p:sp>
        <p:nvSpPr>
          <p:cNvPr id="17" name="Shape 13"/>
          <p:cNvSpPr/>
          <p:nvPr/>
        </p:nvSpPr>
        <p:spPr>
          <a:xfrm>
            <a:off x="2715768" y="2935224"/>
            <a:ext cx="6016752" cy="1636776"/>
          </a:xfrm>
          <a:prstGeom prst="roundRect">
            <a:avLst>
              <a:gd name="adj" fmla="val 5587"/>
            </a:avLst>
          </a:prstGeom>
          <a:solidFill>
            <a:srgbClr val="F4F4F4"/>
          </a:solidFill>
          <a:ln/>
        </p:spPr>
      </p:sp>
      <p:sp>
        <p:nvSpPr>
          <p:cNvPr id="18" name="Text 14"/>
          <p:cNvSpPr txBox="1"/>
          <p:nvPr/>
        </p:nvSpPr>
        <p:spPr>
          <a:xfrm>
            <a:off x="2944368"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9" name="Text 15"/>
          <p:cNvSpPr txBox="1"/>
          <p:nvPr/>
        </p:nvSpPr>
        <p:spPr>
          <a:xfrm>
            <a:off x="2944368" y="3401568"/>
            <a:ext cx="5605272" cy="384048"/>
          </a:xfrm>
          <a:prstGeom prst="rect">
            <a:avLst/>
          </a:prstGeom>
          <a:noFill/>
          <a:ln/>
        </p:spPr>
        <p:txBody>
          <a:bodyPr wrap="square" lIns="0" tIns="0" rIns="0" bIns="0" rtlCol="0" anchor="ctr"/>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实施试验与数据分析</a:t>
            </a:r>
            <a:endParaRPr lang="en-US" sz="1450" dirty="0"/>
          </a:p>
        </p:txBody>
      </p:sp>
      <p:sp>
        <p:nvSpPr>
          <p:cNvPr id="20" name="Text 16"/>
          <p:cNvSpPr txBox="1"/>
          <p:nvPr/>
        </p:nvSpPr>
        <p:spPr>
          <a:xfrm>
            <a:off x="2944368" y="3858768"/>
            <a:ext cx="5605272" cy="621792"/>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试验实施时，研究者需尽量减少对用户行为的干扰，以获得真实的行为数据。</a:t>
            </a:r>
            <a:endParaRPr lang="en-US" sz="1100" dirty="0"/>
          </a:p>
          <a:p>
            <a:pPr marL="152400" indent="-152400">
              <a:lnSpc>
                <a:spcPct val="135000"/>
              </a:lnSpc>
              <a:spcAft>
                <a:spcPts val="500"/>
              </a:spcAft>
              <a:buSzPct val="100000"/>
              <a:buChar char="•"/>
            </a:pPr>
            <a:r>
              <a:rPr lang="en-US" sz="1100" dirty="0">
                <a:solidFill>
                  <a:srgbClr val="111111"/>
                </a:solidFill>
                <a:latin typeface="Microsoft YaHei" pitchFamily="34" charset="0"/>
                <a:ea typeface="Microsoft YaHei" pitchFamily="34" charset="-122"/>
                <a:cs typeface="Microsoft YaHei" pitchFamily="34" charset="-120"/>
              </a:rPr>
              <a:t>数据收集后，研究者通过对行为数据的统计分析，提取出用户的行为模式和常见问题。</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07 现场试验法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现场试验法的案例与应用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&amp; Application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38</a:t>
            </a:r>
            <a:endParaRPr lang="en-US" sz="750" dirty="0"/>
          </a:p>
        </p:txBody>
      </p:sp>
      <p:pic>
        <p:nvPicPr>
          <p:cNvPr id="11" name="Image 0" descr="p46_0">    </p:cNvPr>
          <p:cNvPicPr>
            <a:picLocks noChangeAspect="1"/>
          </p:cNvPicPr>
          <p:nvPr/>
        </p:nvPicPr>
        <p:blipFill>
          <a:blip r:embed="rId1"/>
          <a:stretch>
            <a:fillRect/>
          </a:stretch>
        </p:blipFill>
        <p:spPr>
          <a:xfrm>
            <a:off x="411480" y="1188720"/>
            <a:ext cx="3017520" cy="3383280"/>
          </a:xfrm>
          <a:prstGeom prst="rect">
            <a:avLst/>
          </a:prstGeom>
        </p:spPr>
      </p:pic>
      <p:sp>
        <p:nvSpPr>
          <p:cNvPr id="12" name="Shape 9"/>
          <p:cNvSpPr/>
          <p:nvPr/>
        </p:nvSpPr>
        <p:spPr>
          <a:xfrm>
            <a:off x="3538728" y="1188720"/>
            <a:ext cx="5193792" cy="1636776"/>
          </a:xfrm>
          <a:prstGeom prst="roundRect">
            <a:avLst>
              <a:gd name="adj" fmla="val 5587"/>
            </a:avLst>
          </a:prstGeom>
          <a:solidFill>
            <a:srgbClr val="111111"/>
          </a:solidFill>
          <a:ln/>
        </p:spPr>
      </p:sp>
      <p:sp>
        <p:nvSpPr>
          <p:cNvPr id="13" name="Text 10"/>
          <p:cNvSpPr txBox="1"/>
          <p:nvPr/>
        </p:nvSpPr>
        <p:spPr>
          <a:xfrm>
            <a:off x="3767328" y="1353312"/>
            <a:ext cx="4782312" cy="384048"/>
          </a:xfrm>
          <a:prstGeom prst="rect">
            <a:avLst/>
          </a:prstGeom>
          <a:noFill/>
          <a:ln/>
        </p:spPr>
        <p:txBody>
          <a:bodyPr wrap="square" lIns="0" tIns="0" rIns="0" bIns="0" rtlCol="0" anchor="ctr"/>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现场试验法的案例</a:t>
            </a:r>
            <a:endParaRPr lang="en-US" sz="1450" dirty="0"/>
          </a:p>
        </p:txBody>
      </p:sp>
      <p:sp>
        <p:nvSpPr>
          <p:cNvPr id="14" name="Text 11"/>
          <p:cNvSpPr txBox="1"/>
          <p:nvPr/>
        </p:nvSpPr>
        <p:spPr>
          <a:xfrm>
            <a:off x="3767328" y="1810512"/>
            <a:ext cx="4782312"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在某金融服务公司的一项用户研究中，研究者在真实的银行营业厅观察用户在自助终端上完成不同交易的情况。</a:t>
            </a:r>
            <a:endParaRPr lang="en-US" sz="1050" dirty="0"/>
          </a:p>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通过观察用户在取款、转账等操作中的行为，研究者发现了用户在界面导航和操作确认方面的困惑。</a:t>
            </a:r>
            <a:endParaRPr lang="en-US" sz="1050" dirty="0"/>
          </a:p>
        </p:txBody>
      </p:sp>
      <p:sp>
        <p:nvSpPr>
          <p:cNvPr id="15" name="Shape 12"/>
          <p:cNvSpPr/>
          <p:nvPr/>
        </p:nvSpPr>
        <p:spPr>
          <a:xfrm>
            <a:off x="3538728" y="2935224"/>
            <a:ext cx="5193792" cy="1636776"/>
          </a:xfrm>
          <a:prstGeom prst="roundRect">
            <a:avLst>
              <a:gd name="adj" fmla="val 5587"/>
            </a:avLst>
          </a:prstGeom>
          <a:solidFill>
            <a:srgbClr val="F4F4F4"/>
          </a:solidFill>
          <a:ln/>
        </p:spPr>
      </p:sp>
      <p:sp>
        <p:nvSpPr>
          <p:cNvPr id="16" name="Text 13"/>
          <p:cNvSpPr txBox="1"/>
          <p:nvPr/>
        </p:nvSpPr>
        <p:spPr>
          <a:xfrm>
            <a:off x="3767328" y="3099816"/>
            <a:ext cx="4782312" cy="384048"/>
          </a:xfrm>
          <a:prstGeom prst="rect">
            <a:avLst/>
          </a:prstGeom>
          <a:noFill/>
          <a:ln/>
        </p:spPr>
        <p:txBody>
          <a:bodyPr wrap="square" lIns="0" tIns="0" rIns="0" bIns="0" rtlCol="0" anchor="ctr"/>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现场试验法的应用</a:t>
            </a:r>
            <a:endParaRPr lang="en-US" sz="1450" dirty="0"/>
          </a:p>
        </p:txBody>
      </p:sp>
      <p:sp>
        <p:nvSpPr>
          <p:cNvPr id="17" name="Text 14"/>
          <p:cNvSpPr txBox="1"/>
          <p:nvPr/>
        </p:nvSpPr>
        <p:spPr>
          <a:xfrm>
            <a:off x="3767328" y="3557016"/>
            <a:ext cx="4782312"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现场试验法特别适用于研究用户在特定场景下的行为模式，例如在交通、教育、医疗等实际场景中的用户体验研究。</a:t>
            </a:r>
            <a:endParaRPr lang="en-US" sz="1050" dirty="0"/>
          </a:p>
          <a:p>
            <a:pPr marL="152400" indent="-152400">
              <a:lnSpc>
                <a:spcPct val="135000"/>
              </a:lnSpc>
              <a:spcAft>
                <a:spcPts val="500"/>
              </a:spcAft>
              <a:buSzPct val="100000"/>
              <a:buChar char="•"/>
            </a:pPr>
            <a:r>
              <a:rPr lang="en-US" sz="1050" dirty="0">
                <a:solidFill>
                  <a:srgbClr val="111111"/>
                </a:solidFill>
                <a:latin typeface="Microsoft YaHei" pitchFamily="34" charset="0"/>
                <a:ea typeface="Microsoft YaHei" pitchFamily="34" charset="-122"/>
                <a:cs typeface="Microsoft YaHei" pitchFamily="34" charset="-120"/>
              </a:rPr>
              <a:t>现场试验法的数据更贴近用户的实际生活情况，有助于研究者更好地了解用户的需求和行为。</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七种用户研究方法一览</a:t>
            </a:r>
            <a:endParaRPr lang="en-US" sz="2400" dirty="0"/>
          </a:p>
        </p:txBody>
      </p:sp>
      <p:sp>
        <p:nvSpPr>
          <p:cNvPr id="3" name="Text 1"/>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Summary</a:t>
            </a:r>
            <a:endParaRPr lang="en-US" sz="950" dirty="0"/>
          </a:p>
        </p:txBody>
      </p:sp>
      <p:sp>
        <p:nvSpPr>
          <p:cNvPr id="4" name="Shape 2"/>
          <p:cNvSpPr/>
          <p:nvPr/>
        </p:nvSpPr>
        <p:spPr>
          <a:xfrm>
            <a:off x="411480" y="4818888"/>
            <a:ext cx="77724" cy="77724"/>
          </a:xfrm>
          <a:prstGeom prst="ellipse">
            <a:avLst/>
          </a:prstGeom>
          <a:solidFill>
            <a:srgbClr val="4D49FC"/>
          </a:solidFill>
          <a:ln/>
        </p:spPr>
      </p:sp>
      <p:sp>
        <p:nvSpPr>
          <p:cNvPr id="5" name="Shape 3"/>
          <p:cNvSpPr/>
          <p:nvPr/>
        </p:nvSpPr>
        <p:spPr>
          <a:xfrm>
            <a:off x="507492" y="4818888"/>
            <a:ext cx="77724" cy="77724"/>
          </a:xfrm>
          <a:prstGeom prst="ellipse">
            <a:avLst/>
          </a:prstGeom>
          <a:solidFill>
            <a:srgbClr val="4D49FC"/>
          </a:solidFill>
          <a:ln/>
        </p:spPr>
      </p:sp>
      <p:sp>
        <p:nvSpPr>
          <p:cNvPr id="6" name="Shape 4"/>
          <p:cNvSpPr/>
          <p:nvPr/>
        </p:nvSpPr>
        <p:spPr>
          <a:xfrm>
            <a:off x="411480" y="4914900"/>
            <a:ext cx="77724" cy="77724"/>
          </a:xfrm>
          <a:prstGeom prst="ellipse">
            <a:avLst/>
          </a:prstGeom>
          <a:solidFill>
            <a:srgbClr val="4D49FC"/>
          </a:solidFill>
          <a:ln/>
        </p:spPr>
      </p:sp>
      <p:sp>
        <p:nvSpPr>
          <p:cNvPr id="7" name="Shape 5"/>
          <p:cNvSpPr/>
          <p:nvPr/>
        </p:nvSpPr>
        <p:spPr>
          <a:xfrm>
            <a:off x="507492" y="4914900"/>
            <a:ext cx="77724" cy="77724"/>
          </a:xfrm>
          <a:prstGeom prst="ellipse">
            <a:avLst/>
          </a:prstGeom>
          <a:solidFill>
            <a:srgbClr val="4D49FC"/>
          </a:solidFill>
          <a:ln/>
        </p:spPr>
      </p:sp>
      <p:sp>
        <p:nvSpPr>
          <p:cNvPr id="8" name="Text 6"/>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9" name="Text 7"/>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39</a:t>
            </a:r>
            <a:endParaRPr lang="en-US" sz="750" dirty="0"/>
          </a:p>
        </p:txBody>
      </p:sp>
      <p:sp>
        <p:nvSpPr>
          <p:cNvPr id="10" name="Shape 8"/>
          <p:cNvSpPr/>
          <p:nvPr/>
        </p:nvSpPr>
        <p:spPr>
          <a:xfrm>
            <a:off x="411480" y="1188720"/>
            <a:ext cx="1110343" cy="3383280"/>
          </a:xfrm>
          <a:prstGeom prst="roundRect">
            <a:avLst>
              <a:gd name="adj" fmla="val 8235"/>
            </a:avLst>
          </a:prstGeom>
          <a:solidFill>
            <a:srgbClr val="C7F8FB"/>
          </a:solidFill>
          <a:ln/>
        </p:spPr>
      </p:sp>
      <p:sp>
        <p:nvSpPr>
          <p:cNvPr id="11" name="Text 9"/>
          <p:cNvSpPr txBox="1"/>
          <p:nvPr/>
        </p:nvSpPr>
        <p:spPr>
          <a:xfrm>
            <a:off x="548640" y="1325880"/>
            <a:ext cx="927463" cy="54864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2" name="Text 10"/>
          <p:cNvSpPr txBox="1"/>
          <p:nvPr/>
        </p:nvSpPr>
        <p:spPr>
          <a:xfrm>
            <a:off x="548640" y="2468880"/>
            <a:ext cx="881743" cy="82296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观察法</a:t>
            </a:r>
            <a:endParaRPr lang="en-US" sz="1400" dirty="0"/>
          </a:p>
        </p:txBody>
      </p:sp>
      <p:sp>
        <p:nvSpPr>
          <p:cNvPr id="13" name="Text 11"/>
          <p:cNvSpPr txBox="1"/>
          <p:nvPr/>
        </p:nvSpPr>
        <p:spPr>
          <a:xfrm>
            <a:off x="548640"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看用户做了什么</a:t>
            </a:r>
            <a:endParaRPr lang="en-US" sz="1100" dirty="0"/>
          </a:p>
        </p:txBody>
      </p:sp>
      <p:sp>
        <p:nvSpPr>
          <p:cNvPr id="14" name="Shape 12"/>
          <p:cNvSpPr/>
          <p:nvPr/>
        </p:nvSpPr>
        <p:spPr>
          <a:xfrm>
            <a:off x="1613263" y="1188720"/>
            <a:ext cx="1110343" cy="3383280"/>
          </a:xfrm>
          <a:prstGeom prst="roundRect">
            <a:avLst>
              <a:gd name="adj" fmla="val 8235"/>
            </a:avLst>
          </a:prstGeom>
          <a:solidFill>
            <a:srgbClr val="F4F4F4"/>
          </a:solidFill>
          <a:ln/>
        </p:spPr>
      </p:sp>
      <p:sp>
        <p:nvSpPr>
          <p:cNvPr id="15" name="Text 13"/>
          <p:cNvSpPr txBox="1"/>
          <p:nvPr/>
        </p:nvSpPr>
        <p:spPr>
          <a:xfrm>
            <a:off x="1750423" y="1325880"/>
            <a:ext cx="927463" cy="54864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02</a:t>
            </a:r>
            <a:endParaRPr lang="en-US" sz="2200" dirty="0"/>
          </a:p>
        </p:txBody>
      </p:sp>
      <p:sp>
        <p:nvSpPr>
          <p:cNvPr id="16" name="Text 14"/>
          <p:cNvSpPr txBox="1"/>
          <p:nvPr/>
        </p:nvSpPr>
        <p:spPr>
          <a:xfrm>
            <a:off x="1750423" y="2468880"/>
            <a:ext cx="881743" cy="82296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单人访谈法</a:t>
            </a:r>
            <a:endParaRPr lang="en-US" sz="1400" dirty="0"/>
          </a:p>
        </p:txBody>
      </p:sp>
      <p:sp>
        <p:nvSpPr>
          <p:cNvPr id="17" name="Text 15"/>
          <p:cNvSpPr txBox="1"/>
          <p:nvPr/>
        </p:nvSpPr>
        <p:spPr>
          <a:xfrm>
            <a:off x="1750423"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一对一深入了解</a:t>
            </a:r>
            <a:endParaRPr lang="en-US" sz="1100" dirty="0"/>
          </a:p>
        </p:txBody>
      </p:sp>
      <p:sp>
        <p:nvSpPr>
          <p:cNvPr id="18" name="Shape 16"/>
          <p:cNvSpPr/>
          <p:nvPr/>
        </p:nvSpPr>
        <p:spPr>
          <a:xfrm>
            <a:off x="2815046" y="1188720"/>
            <a:ext cx="1110343" cy="3383280"/>
          </a:xfrm>
          <a:prstGeom prst="roundRect">
            <a:avLst>
              <a:gd name="adj" fmla="val 8235"/>
            </a:avLst>
          </a:prstGeom>
          <a:solidFill>
            <a:srgbClr val="EBEBEB"/>
          </a:solidFill>
          <a:ln/>
        </p:spPr>
      </p:sp>
      <p:sp>
        <p:nvSpPr>
          <p:cNvPr id="19" name="Text 17"/>
          <p:cNvSpPr txBox="1"/>
          <p:nvPr/>
        </p:nvSpPr>
        <p:spPr>
          <a:xfrm>
            <a:off x="2952206" y="1325880"/>
            <a:ext cx="927463" cy="54864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03</a:t>
            </a:r>
            <a:endParaRPr lang="en-US" sz="2200" dirty="0"/>
          </a:p>
        </p:txBody>
      </p:sp>
      <p:sp>
        <p:nvSpPr>
          <p:cNvPr id="20" name="Text 18"/>
          <p:cNvSpPr txBox="1"/>
          <p:nvPr/>
        </p:nvSpPr>
        <p:spPr>
          <a:xfrm>
            <a:off x="2952206" y="2468880"/>
            <a:ext cx="881743" cy="82296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焦点小组</a:t>
            </a:r>
            <a:endParaRPr lang="en-US" sz="1400" dirty="0"/>
          </a:p>
        </p:txBody>
      </p:sp>
      <p:sp>
        <p:nvSpPr>
          <p:cNvPr id="21" name="Text 19"/>
          <p:cNvSpPr txBox="1"/>
          <p:nvPr/>
        </p:nvSpPr>
        <p:spPr>
          <a:xfrm>
            <a:off x="2952206"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小组讨论多样反馈</a:t>
            </a:r>
            <a:endParaRPr lang="en-US" sz="1100" dirty="0"/>
          </a:p>
        </p:txBody>
      </p:sp>
      <p:sp>
        <p:nvSpPr>
          <p:cNvPr id="22" name="Shape 20"/>
          <p:cNvSpPr/>
          <p:nvPr/>
        </p:nvSpPr>
        <p:spPr>
          <a:xfrm>
            <a:off x="4016829" y="1188720"/>
            <a:ext cx="1110343" cy="3383280"/>
          </a:xfrm>
          <a:prstGeom prst="roundRect">
            <a:avLst>
              <a:gd name="adj" fmla="val 8235"/>
            </a:avLst>
          </a:prstGeom>
          <a:solidFill>
            <a:srgbClr val="111111"/>
          </a:solidFill>
          <a:ln/>
        </p:spPr>
      </p:sp>
      <p:sp>
        <p:nvSpPr>
          <p:cNvPr id="23" name="Text 21"/>
          <p:cNvSpPr txBox="1"/>
          <p:nvPr/>
        </p:nvSpPr>
        <p:spPr>
          <a:xfrm>
            <a:off x="4153989" y="1325880"/>
            <a:ext cx="927463" cy="548640"/>
          </a:xfrm>
          <a:prstGeom prst="rect">
            <a:avLst/>
          </a:prstGeom>
          <a:noFill/>
          <a:ln/>
        </p:spPr>
        <p:txBody>
          <a:bodyPr wrap="square" lIns="0" tIns="0" rIns="0" bIns="0" rtlCol="0" anchor="t"/>
          <a:lstStyle/>
          <a:p>
            <a:pPr indent="0" marL="0">
              <a:buNone/>
            </a:pPr>
            <a:r>
              <a:rPr lang="en-US" sz="2200" b="1" dirty="0">
                <a:solidFill>
                  <a:srgbClr val="C7F8FB"/>
                </a:solidFill>
                <a:latin typeface="Arial" pitchFamily="34" charset="0"/>
                <a:ea typeface="Arial" pitchFamily="34" charset="-122"/>
                <a:cs typeface="Arial" pitchFamily="34" charset="-120"/>
              </a:rPr>
              <a:t>04</a:t>
            </a:r>
            <a:endParaRPr lang="en-US" sz="2200" dirty="0"/>
          </a:p>
        </p:txBody>
      </p:sp>
      <p:sp>
        <p:nvSpPr>
          <p:cNvPr id="24" name="Text 22"/>
          <p:cNvSpPr txBox="1"/>
          <p:nvPr/>
        </p:nvSpPr>
        <p:spPr>
          <a:xfrm>
            <a:off x="4153989" y="2468880"/>
            <a:ext cx="881743" cy="82296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问卷法</a:t>
            </a:r>
            <a:endParaRPr lang="en-US" sz="1400" dirty="0"/>
          </a:p>
        </p:txBody>
      </p:sp>
      <p:sp>
        <p:nvSpPr>
          <p:cNvPr id="25" name="Text 23"/>
          <p:cNvSpPr txBox="1"/>
          <p:nvPr/>
        </p:nvSpPr>
        <p:spPr>
          <a:xfrm>
            <a:off x="4153989"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大规模量化收集</a:t>
            </a:r>
            <a:endParaRPr lang="en-US" sz="1100" dirty="0"/>
          </a:p>
        </p:txBody>
      </p:sp>
      <p:sp>
        <p:nvSpPr>
          <p:cNvPr id="26" name="Shape 24"/>
          <p:cNvSpPr/>
          <p:nvPr/>
        </p:nvSpPr>
        <p:spPr>
          <a:xfrm>
            <a:off x="5218611" y="1188720"/>
            <a:ext cx="1110343" cy="3383280"/>
          </a:xfrm>
          <a:prstGeom prst="roundRect">
            <a:avLst>
              <a:gd name="adj" fmla="val 8235"/>
            </a:avLst>
          </a:prstGeom>
          <a:solidFill>
            <a:srgbClr val="F4F4F4"/>
          </a:solidFill>
          <a:ln/>
        </p:spPr>
      </p:sp>
      <p:sp>
        <p:nvSpPr>
          <p:cNvPr id="27" name="Text 25"/>
          <p:cNvSpPr txBox="1"/>
          <p:nvPr/>
        </p:nvSpPr>
        <p:spPr>
          <a:xfrm>
            <a:off x="5355771" y="1325880"/>
            <a:ext cx="927463" cy="54864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05</a:t>
            </a:r>
            <a:endParaRPr lang="en-US" sz="2200" dirty="0"/>
          </a:p>
        </p:txBody>
      </p:sp>
      <p:sp>
        <p:nvSpPr>
          <p:cNvPr id="28" name="Text 26"/>
          <p:cNvSpPr txBox="1"/>
          <p:nvPr/>
        </p:nvSpPr>
        <p:spPr>
          <a:xfrm>
            <a:off x="5355771" y="2468880"/>
            <a:ext cx="881743" cy="82296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头脑风暴法</a:t>
            </a:r>
            <a:endParaRPr lang="en-US" sz="1400" dirty="0"/>
          </a:p>
        </p:txBody>
      </p:sp>
      <p:sp>
        <p:nvSpPr>
          <p:cNvPr id="29" name="Text 27"/>
          <p:cNvSpPr txBox="1"/>
          <p:nvPr/>
        </p:nvSpPr>
        <p:spPr>
          <a:xfrm>
            <a:off x="5355771"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集体激发创意</a:t>
            </a:r>
            <a:endParaRPr lang="en-US" sz="1100" dirty="0"/>
          </a:p>
        </p:txBody>
      </p:sp>
      <p:sp>
        <p:nvSpPr>
          <p:cNvPr id="30" name="Shape 28"/>
          <p:cNvSpPr/>
          <p:nvPr/>
        </p:nvSpPr>
        <p:spPr>
          <a:xfrm>
            <a:off x="6420394" y="1188720"/>
            <a:ext cx="1110343" cy="3383280"/>
          </a:xfrm>
          <a:prstGeom prst="roundRect">
            <a:avLst>
              <a:gd name="adj" fmla="val 8235"/>
            </a:avLst>
          </a:prstGeom>
          <a:solidFill>
            <a:srgbClr val="EBEBEB"/>
          </a:solidFill>
          <a:ln/>
        </p:spPr>
      </p:sp>
      <p:sp>
        <p:nvSpPr>
          <p:cNvPr id="31" name="Text 29"/>
          <p:cNvSpPr txBox="1"/>
          <p:nvPr/>
        </p:nvSpPr>
        <p:spPr>
          <a:xfrm>
            <a:off x="6557554" y="1325880"/>
            <a:ext cx="927463" cy="54864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06</a:t>
            </a:r>
            <a:endParaRPr lang="en-US" sz="2200" dirty="0"/>
          </a:p>
        </p:txBody>
      </p:sp>
      <p:sp>
        <p:nvSpPr>
          <p:cNvPr id="32" name="Text 30"/>
          <p:cNvSpPr txBox="1"/>
          <p:nvPr/>
        </p:nvSpPr>
        <p:spPr>
          <a:xfrm>
            <a:off x="6557554" y="2468880"/>
            <a:ext cx="881743" cy="82296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自我陈述法</a:t>
            </a:r>
            <a:endParaRPr lang="en-US" sz="1400" dirty="0"/>
          </a:p>
        </p:txBody>
      </p:sp>
      <p:sp>
        <p:nvSpPr>
          <p:cNvPr id="33" name="Text 31"/>
          <p:cNvSpPr txBox="1"/>
          <p:nvPr/>
        </p:nvSpPr>
        <p:spPr>
          <a:xfrm>
            <a:off x="6557554"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用户长期自我记录</a:t>
            </a:r>
            <a:endParaRPr lang="en-US" sz="1100" dirty="0"/>
          </a:p>
        </p:txBody>
      </p:sp>
      <p:sp>
        <p:nvSpPr>
          <p:cNvPr id="34" name="Shape 32"/>
          <p:cNvSpPr/>
          <p:nvPr/>
        </p:nvSpPr>
        <p:spPr>
          <a:xfrm>
            <a:off x="7622177" y="1188720"/>
            <a:ext cx="1110343" cy="3383280"/>
          </a:xfrm>
          <a:prstGeom prst="roundRect">
            <a:avLst>
              <a:gd name="adj" fmla="val 8235"/>
            </a:avLst>
          </a:prstGeom>
          <a:solidFill>
            <a:srgbClr val="C7F8FB"/>
          </a:solidFill>
          <a:ln/>
        </p:spPr>
      </p:sp>
      <p:sp>
        <p:nvSpPr>
          <p:cNvPr id="35" name="Text 33"/>
          <p:cNvSpPr txBox="1"/>
          <p:nvPr/>
        </p:nvSpPr>
        <p:spPr>
          <a:xfrm>
            <a:off x="7759337" y="1325880"/>
            <a:ext cx="927463" cy="54864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07</a:t>
            </a:r>
            <a:endParaRPr lang="en-US" sz="2200" dirty="0"/>
          </a:p>
        </p:txBody>
      </p:sp>
      <p:sp>
        <p:nvSpPr>
          <p:cNvPr id="36" name="Text 34"/>
          <p:cNvSpPr txBox="1"/>
          <p:nvPr/>
        </p:nvSpPr>
        <p:spPr>
          <a:xfrm>
            <a:off x="7759337" y="2468880"/>
            <a:ext cx="881743" cy="82296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现场试验法</a:t>
            </a:r>
            <a:endParaRPr lang="en-US" sz="1400" dirty="0"/>
          </a:p>
        </p:txBody>
      </p:sp>
      <p:sp>
        <p:nvSpPr>
          <p:cNvPr id="37" name="Text 35"/>
          <p:cNvSpPr txBox="1"/>
          <p:nvPr/>
        </p:nvSpPr>
        <p:spPr>
          <a:xfrm>
            <a:off x="7759337"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真实环境中试验</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143000"/>
            <a:ext cx="868680" cy="868680"/>
          </a:xfrm>
          <a:prstGeom prst="donut">
            <a:avLst/>
          </a:prstGeom>
          <a:solidFill>
            <a:srgbClr val="4D49FC"/>
          </a:solidFill>
          <a:ln/>
        </p:spPr>
      </p:sp>
      <p:sp>
        <p:nvSpPr>
          <p:cNvPr id="3" name="Shape 1"/>
          <p:cNvSpPr/>
          <p:nvPr/>
        </p:nvSpPr>
        <p:spPr>
          <a:xfrm>
            <a:off x="1783080" y="1143000"/>
            <a:ext cx="2103120" cy="868680"/>
          </a:xfrm>
          <a:prstGeom prst="roundRect">
            <a:avLst>
              <a:gd name="adj" fmla="val 16842"/>
            </a:avLst>
          </a:prstGeom>
          <a:solidFill>
            <a:srgbClr val="CB9FD2"/>
          </a:solidFill>
          <a:ln/>
        </p:spPr>
      </p:sp>
      <p:sp>
        <p:nvSpPr>
          <p:cNvPr id="4" name="Text 2"/>
          <p:cNvSpPr txBox="1"/>
          <p:nvPr/>
        </p:nvSpPr>
        <p:spPr>
          <a:xfrm>
            <a:off x="189280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谢谢</a:t>
            </a:r>
            <a:endParaRPr lang="en-US" sz="4400" dirty="0"/>
          </a:p>
        </p:txBody>
      </p:sp>
      <p:sp>
        <p:nvSpPr>
          <p:cNvPr id="5" name="Shape 3"/>
          <p:cNvSpPr/>
          <p:nvPr/>
        </p:nvSpPr>
        <p:spPr>
          <a:xfrm>
            <a:off x="4005072" y="1170432"/>
            <a:ext cx="822960" cy="822960"/>
          </a:xfrm>
          <a:prstGeom prst="star12">
            <a:avLst/>
          </a:prstGeom>
          <a:solidFill>
            <a:srgbClr val="FF3B30"/>
          </a:solidFill>
          <a:ln/>
        </p:spPr>
      </p:sp>
      <p:sp>
        <p:nvSpPr>
          <p:cNvPr id="6" name="Shape 4"/>
          <p:cNvSpPr/>
          <p:nvPr/>
        </p:nvSpPr>
        <p:spPr>
          <a:xfrm>
            <a:off x="4937760" y="1143000"/>
            <a:ext cx="2103120" cy="868680"/>
          </a:xfrm>
          <a:prstGeom prst="roundRect">
            <a:avLst>
              <a:gd name="adj" fmla="val 16842"/>
            </a:avLst>
          </a:prstGeom>
          <a:solidFill>
            <a:srgbClr val="C7F8FB"/>
          </a:solidFill>
          <a:ln/>
        </p:spPr>
      </p:sp>
      <p:sp>
        <p:nvSpPr>
          <p:cNvPr id="7" name="Text 5"/>
          <p:cNvSpPr txBox="1"/>
          <p:nvPr/>
        </p:nvSpPr>
        <p:spPr>
          <a:xfrm>
            <a:off x="504748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大家</a:t>
            </a:r>
            <a:endParaRPr lang="en-US" sz="4400" dirty="0"/>
          </a:p>
        </p:txBody>
      </p:sp>
      <p:sp>
        <p:nvSpPr>
          <p:cNvPr id="8" name="Shape 6"/>
          <p:cNvSpPr/>
          <p:nvPr/>
        </p:nvSpPr>
        <p:spPr>
          <a:xfrm>
            <a:off x="1783080" y="2148840"/>
            <a:ext cx="3566160" cy="868680"/>
          </a:xfrm>
          <a:prstGeom prst="roundRect">
            <a:avLst>
              <a:gd name="adj" fmla="val 16842"/>
            </a:avLst>
          </a:prstGeom>
          <a:solidFill>
            <a:srgbClr val="E4FF97"/>
          </a:solidFill>
          <a:ln/>
        </p:spPr>
      </p:sp>
      <p:sp>
        <p:nvSpPr>
          <p:cNvPr id="9" name="Text 7"/>
          <p:cNvSpPr txBox="1"/>
          <p:nvPr/>
        </p:nvSpPr>
        <p:spPr>
          <a:xfrm>
            <a:off x="1892808" y="2148840"/>
            <a:ext cx="334670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Arial" pitchFamily="34" charset="0"/>
                <a:ea typeface="Arial" pitchFamily="34" charset="-122"/>
                <a:cs typeface="Arial" pitchFamily="34" charset="-120"/>
              </a:rPr>
              <a:t>THANKS</a:t>
            </a:r>
            <a:endParaRPr lang="en-US" sz="4400" dirty="0"/>
          </a:p>
        </p:txBody>
      </p:sp>
      <p:sp>
        <p:nvSpPr>
          <p:cNvPr id="10" name="Shape 8"/>
          <p:cNvSpPr/>
          <p:nvPr/>
        </p:nvSpPr>
        <p:spPr>
          <a:xfrm>
            <a:off x="5486400" y="2176272"/>
            <a:ext cx="822960" cy="822960"/>
          </a:xfrm>
          <a:prstGeom prst="star12">
            <a:avLst/>
          </a:prstGeom>
          <a:solidFill>
            <a:srgbClr val="8B5CF6"/>
          </a:solidFill>
          <a:ln/>
        </p:spPr>
      </p:sp>
      <p:sp>
        <p:nvSpPr>
          <p:cNvPr id="11" name="Text 9"/>
          <p:cNvSpPr txBox="1"/>
          <p:nvPr/>
        </p:nvSpPr>
        <p:spPr>
          <a:xfrm>
            <a:off x="1783080" y="3291840"/>
            <a:ext cx="5486400" cy="32004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第5课  用户研究方法（一）</a:t>
            </a:r>
            <a:endParaRPr lang="en-US" sz="1300" dirty="0"/>
          </a:p>
        </p:txBody>
      </p:sp>
      <p:sp>
        <p:nvSpPr>
          <p:cNvPr id="12" name="Text 10"/>
          <p:cNvSpPr txBox="1"/>
          <p:nvPr/>
        </p:nvSpPr>
        <p:spPr>
          <a:xfrm>
            <a:off x="1783080" y="361188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Microsoft YaHei" pitchFamily="34" charset="0"/>
                <a:ea typeface="Microsoft YaHei" pitchFamily="34" charset="-122"/>
                <a:cs typeface="Microsoft YaHei" pitchFamily="34" charset="-120"/>
              </a:rPr>
              <a:t>湖北工业大学工业设计学院  ·  张萌</a:t>
            </a:r>
            <a:endParaRPr lang="en-US" sz="1000" dirty="0"/>
          </a:p>
        </p:txBody>
      </p:sp>
      <p:sp>
        <p:nvSpPr>
          <p:cNvPr id="13" name="Shape 11"/>
          <p:cNvSpPr/>
          <p:nvPr/>
        </p:nvSpPr>
        <p:spPr>
          <a:xfrm>
            <a:off x="411480" y="4818888"/>
            <a:ext cx="77724" cy="77724"/>
          </a:xfrm>
          <a:prstGeom prst="ellipse">
            <a:avLst/>
          </a:prstGeom>
          <a:solidFill>
            <a:srgbClr val="4D49FC"/>
          </a:solidFill>
          <a:ln/>
        </p:spPr>
      </p:sp>
      <p:sp>
        <p:nvSpPr>
          <p:cNvPr id="14" name="Shape 12"/>
          <p:cNvSpPr/>
          <p:nvPr/>
        </p:nvSpPr>
        <p:spPr>
          <a:xfrm>
            <a:off x="507492" y="4818888"/>
            <a:ext cx="77724" cy="77724"/>
          </a:xfrm>
          <a:prstGeom prst="ellipse">
            <a:avLst/>
          </a:prstGeom>
          <a:solidFill>
            <a:srgbClr val="4D49FC"/>
          </a:solidFill>
          <a:ln/>
        </p:spPr>
      </p:sp>
      <p:sp>
        <p:nvSpPr>
          <p:cNvPr id="15" name="Shape 13"/>
          <p:cNvSpPr/>
          <p:nvPr/>
        </p:nvSpPr>
        <p:spPr>
          <a:xfrm>
            <a:off x="411480" y="4914900"/>
            <a:ext cx="77724" cy="77724"/>
          </a:xfrm>
          <a:prstGeom prst="ellipse">
            <a:avLst/>
          </a:prstGeom>
          <a:solidFill>
            <a:srgbClr val="4D49FC"/>
          </a:solidFill>
          <a:ln/>
        </p:spPr>
      </p:sp>
      <p:sp>
        <p:nvSpPr>
          <p:cNvPr id="16" name="Shape 14"/>
          <p:cNvSpPr/>
          <p:nvPr/>
        </p:nvSpPr>
        <p:spPr>
          <a:xfrm>
            <a:off x="507492" y="4914900"/>
            <a:ext cx="77724" cy="77724"/>
          </a:xfrm>
          <a:prstGeom prst="ellipse">
            <a:avLst/>
          </a:prstGeom>
          <a:solidFill>
            <a:srgbClr val="4D49F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第5课 用户研究方法（一）</dc:title>
  <dc:subject>PptxGenJS Presentation</dc:subject>
  <dc:creator>张萌</dc:creator>
  <cp:lastModifiedBy>张萌</cp:lastModifiedBy>
  <cp:revision>1</cp:revision>
  <dcterms:created xsi:type="dcterms:W3CDTF">2026-09-23T17:50:55Z</dcterms:created>
  <dcterms:modified xsi:type="dcterms:W3CDTF">2026-09-23T17:50:55Z</dcterms:modified>
</cp:coreProperties>
</file>