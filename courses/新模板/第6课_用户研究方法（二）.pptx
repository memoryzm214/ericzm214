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c:v>
                </c:pt>
              </c:strCache>
            </c:strRef>
          </c:tx>
          <c:spPr>
            <a:solidFill>
              <a:srgbClr val="C9F5C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C9F5C0"/>
              </a:solidFill>
              <a:effectLst/>
            </c:spPr>
          </c:dPt>
          <c:dPt>
            <c:idx val="1"/>
            <c:invertIfNegative val="0"/>
            <c:bubble3D val="0"/>
            <c:spPr>
              <a:solidFill>
                <a:srgbClr val="111111"/>
              </a:solidFill>
              <a:effectLst/>
            </c:spPr>
          </c:dPt>
          <c:dPt>
            <c:idx val="2"/>
            <c:invertIfNegative val="0"/>
            <c:bubble3D val="0"/>
            <c:spPr>
              <a:solidFill>
                <a:srgbClr val="C9F5C0"/>
              </a:solidFill>
              <a:effectLst/>
            </c:spPr>
          </c:dPt>
          <c:dPt>
            <c:idx val="3"/>
            <c:invertIfNegative val="0"/>
            <c:bubble3D val="0"/>
            <c:spPr>
              <a:solidFill>
                <a:srgbClr val="111111"/>
              </a:solidFill>
              <a:effectLst/>
            </c:spPr>
          </c:dPt>
          <c:cat>
            <c:multiLvlStrRef>
              <c:f>Sheet1!$A$2:$A$5</c:f>
              <c:multiLvlStrCache>
                <c:ptCount val="4"/>
                <c:lvl>
                  <c:pt idx="0">
                    <c:v>A</c:v>
                  </c:pt>
                  <c:pt idx="1">
                    <c:v>B</c:v>
                  </c:pt>
                  <c:pt idx="2">
                    <c:v>C</c:v>
                  </c:pt>
                  <c:pt idx="3">
                    <c:v>D</c:v>
                  </c:pt>
                </c:lvl>
              </c:multiLvlStrCache>
            </c:multiLvlStrRef>
          </c:cat>
          <c:val>
            <c:numRef>
              <c:f>Sheet1!$B$2:$B$5</c:f>
              <c:numCache>
                <c:formatCode>General</c:formatCode>
                <c:ptCount val="4"/>
                <c:pt idx="0">
                  <c:v>4</c:v>
                </c:pt>
                <c:pt idx="1">
                  <c:v>2.5</c:v>
                </c:pt>
                <c:pt idx="2">
                  <c:v>3.4</c:v>
                </c:pt>
                <c:pt idx="3">
                  <c:v>1.8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c:v>
                </c:pt>
              </c:strCache>
            </c:strRef>
          </c:tx>
          <c:spPr>
            <a:solidFill>
              <a:srgbClr val="111111"/>
            </a:solidFill>
            <a:ln w="31750" cap="flat">
              <a:solidFill>
                <a:srgbClr val="11111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11111"/>
              </a:solidFill>
              <a:ln w="9525" cap="flat">
                <a:solidFill>
                  <a:srgbClr val="111111"/>
                </a:solidFill>
                <a:prstDash val="solid"/>
                <a:round/>
              </a:ln>
              <a:effectLst/>
            </c:spPr>
          </c:marker>
          <c:cat>
            <c:multiLvlStrRef>
              <c:f>Sheet1!$A$2:$A$6</c:f>
              <c:multiLvlStrCache>
                <c:ptCount val="5"/>
                <c:lvl>
                  <c:pt idx="0">
                    <c:v>1</c:v>
                  </c:pt>
                  <c:pt idx="1">
                    <c:v>2</c:v>
                  </c:pt>
                  <c:pt idx="2">
                    <c:v>3</c:v>
                  </c:pt>
                  <c:pt idx="3">
                    <c:v>4</c:v>
                  </c:pt>
                  <c:pt idx="4">
                    <c:v>5</c:v>
                  </c:pt>
                </c:lvl>
              </c:multiLvlStrCache>
            </c:multiLvlStrRef>
          </c:cat>
          <c:val>
            <c:numRef>
              <c:f>Sheet1!$B$2:$B$6</c:f>
              <c:numCache>
                <c:formatCode>General</c:formatCode>
                <c:ptCount val="5"/>
                <c:pt idx="0">
                  <c:v>2</c:v>
                </c:pt>
                <c:pt idx="1">
                  <c:v>2.8</c:v>
                </c:pt>
                <c:pt idx="2">
                  <c:v>2.4</c:v>
                </c:pt>
                <c:pt idx="3">
                  <c:v>3.8</c:v>
                </c:pt>
                <c:pt idx="4">
                  <c:v>4.5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c:v>
                </c:pt>
              </c:strCache>
            </c:strRef>
          </c:tx>
          <c:spPr>
            <a:solidFill>
              <a:schemeClr val="accent1"/>
            </a:solidFill>
            <a:ln w="9525" cap="flat">
              <a:solidFill>
                <a:srgbClr val="F9F9F9"/>
              </a:solidFill>
              <a:prstDash val="solid"/>
              <a:round/>
            </a:ln>
            <a:effectLst/>
          </c:spPr>
          <c:dPt>
            <c:idx val="0"/>
            <c:bubble3D val="0"/>
            <c:spPr>
              <a:solidFill>
                <a:srgbClr val="C9F5C0"/>
              </a:solidFill>
              <a:ln w="25400" cap="flat">
                <a:solidFill>
                  <a:srgbClr val="FFFFFF"/>
                </a:solidFill>
                <a:prstDash val="solid"/>
                <a:round/>
              </a:ln>
              <a:effectLst/>
            </c:spPr>
          </c:dPt>
          <c:dPt>
            <c:idx val="1"/>
            <c:bubble3D val="0"/>
            <c:spPr>
              <a:solidFill>
                <a:srgbClr val="111111"/>
              </a:solidFill>
              <a:ln w="25400" cap="flat">
                <a:solidFill>
                  <a:srgbClr val="FFFFFF"/>
                </a:solidFill>
                <a:prstDash val="solid"/>
                <a:round/>
              </a:ln>
              <a:effectLst/>
            </c:spPr>
          </c:dPt>
          <c:dPt>
            <c:idx val="2"/>
            <c:bubble3D val="0"/>
            <c:spPr>
              <a:solidFill>
                <a:srgbClr val="EBEBEB"/>
              </a:solidFill>
              <a:ln w="254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A</c:v>
                </c:pt>
                <c:pt idx="1">
                  <c:v>B</c:v>
                </c:pt>
                <c:pt idx="2">
                  <c:v>C</c:v>
                </c:pt>
              </c:strCache>
            </c:strRef>
          </c:cat>
          <c:val>
            <c:numRef>
              <c:f>Sheet1!$B$2:$B$4</c:f>
              <c:numCache>
                <c:ptCount val="3"/>
                <c:pt idx="0">
                  <c:v>55</c:v>
                </c:pt>
                <c:pt idx="1">
                  <c:v>30</c:v>
                </c:pt>
                <c:pt idx="2">
                  <c:v>15</c:v>
                </c:pt>
              </c:numCache>
            </c:numRef>
          </c:val>
        </c:ser>
        <c:firstSliceAng val="0"/>
        <c:holeSize val="50"/>
      </c:doughnutChart>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Y</c:v>
                </c:pt>
              </c:strCache>
            </c:strRef>
          </c:tx>
          <c:spPr>
            <a:solidFill>
              <a:srgbClr val="111111"/>
            </a:solidFill>
            <a:ln>
              <a:noFill/>
            </a:ln>
            <a:effectLst/>
          </c:spPr>
          <c:marker>
            <c:symbol val="circle"/>
            <c:size val="8"/>
            <c:spPr>
              <a:solidFill>
                <a:srgbClr val="111111"/>
              </a:solidFill>
              <a:ln w="9525" cap="flat">
                <a:solidFill>
                  <a:srgbClr val="111111"/>
                </a:solidFill>
                <a:prstDash val="solid"/>
                <a:round/>
              </a:ln>
              <a:effectLst/>
            </c:spPr>
          </c:marker>
          <c:xVal>
            <c:numRef>
              <c:f>Sheet1!$A$2:$A$8</c:f>
              <c:numCache>
                <c:formatCode>General</c:formatCode>
                <c:ptCount val="7"/>
                <c:pt idx="0">
                  <c:v>1</c:v>
                </c:pt>
                <c:pt idx="1">
                  <c:v>2</c:v>
                </c:pt>
                <c:pt idx="2">
                  <c:v>2.5</c:v>
                </c:pt>
                <c:pt idx="3">
                  <c:v>3</c:v>
                </c:pt>
                <c:pt idx="4">
                  <c:v>3.6</c:v>
                </c:pt>
                <c:pt idx="5">
                  <c:v>4.2</c:v>
                </c:pt>
                <c:pt idx="6">
                  <c:v>4.8</c:v>
                </c:pt>
              </c:numCache>
            </c:numRef>
          </c:xVal>
          <c:yVal>
            <c:numRef>
              <c:f>Sheet1!$B$2:$B$8</c:f>
              <c:numCache>
                <c:formatCode>General</c:formatCode>
                <c:ptCount val="7"/>
                <c:pt idx="0">
                  <c:v>1.2</c:v>
                </c:pt>
                <c:pt idx="1">
                  <c:v>1.8</c:v>
                </c:pt>
                <c:pt idx="2">
                  <c:v>2.6</c:v>
                </c:pt>
                <c:pt idx="3">
                  <c:v>2.4</c:v>
                </c:pt>
                <c:pt idx="4">
                  <c:v>3.3</c:v>
                </c:pt>
                <c:pt idx="5">
                  <c:v>3.6</c:v>
                </c:pt>
                <c:pt idx="6">
                  <c:v>4.4</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scaling>
        <c:delete val="1"/>
        <c:axPos val="b"/>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valAx>
      <c:valAx>
        <c:axId val="2094734552"/>
        <c:scaling>
          <c:orientation val="minMax"/>
        </c:scaling>
        <c:delete val="1"/>
        <c:axPos val="l"/>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c:v>
                </c:pt>
              </c:strCache>
            </c:strRef>
          </c:tx>
          <c:spPr>
            <a:solidFill>
              <a:srgbClr val="C9F5C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C9F5C0"/>
              </a:solidFill>
              <a:effectLst/>
            </c:spPr>
          </c:dPt>
          <c:dPt>
            <c:idx val="1"/>
            <c:invertIfNegative val="0"/>
            <c:bubble3D val="0"/>
            <c:spPr>
              <a:solidFill>
                <a:srgbClr val="111111"/>
              </a:solidFill>
              <a:effectLst/>
            </c:spPr>
          </c:dPt>
          <c:dPt>
            <c:idx val="2"/>
            <c:invertIfNegative val="0"/>
            <c:bubble3D val="0"/>
            <c:spPr>
              <a:solidFill>
                <a:srgbClr val="C9F5C0"/>
              </a:solidFill>
              <a:effectLst/>
            </c:spPr>
          </c:dPt>
          <c:cat>
            <c:multiLvlStrRef>
              <c:f>Sheet1!$A$2:$A$4</c:f>
              <c:multiLvlStrCache>
                <c:ptCount val="3"/>
                <c:lvl>
                  <c:pt idx="0">
                    <c:v>A</c:v>
                  </c:pt>
                  <c:pt idx="1">
                    <c:v>B</c:v>
                  </c:pt>
                  <c:pt idx="2">
                    <c:v>C</c:v>
                  </c:pt>
                </c:lvl>
              </c:multiLvlStrCache>
            </c:multiLvlStrRef>
          </c:cat>
          <c:val>
            <c:numRef>
              <c:f>Sheet1!$B$2:$B$4</c:f>
              <c:numCache>
                <c:formatCode>General</c:formatCode>
                <c:ptCount val="3"/>
                <c:pt idx="0">
                  <c:v>4.2</c:v>
                </c:pt>
                <c:pt idx="1">
                  <c:v>3.1</c:v>
                </c:pt>
                <c:pt idx="2">
                  <c:v>3.8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c:v>
                </c:pt>
              </c:strCache>
            </c:strRef>
          </c:tx>
          <c:spPr>
            <a:solidFill>
              <a:srgbClr val="111111"/>
            </a:solidFill>
            <a:ln w="31750" cap="flat">
              <a:solidFill>
                <a:srgbClr val="11111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111111"/>
              </a:solidFill>
              <a:ln w="9525" cap="flat">
                <a:solidFill>
                  <a:srgbClr val="111111"/>
                </a:solidFill>
                <a:prstDash val="solid"/>
                <a:round/>
              </a:ln>
              <a:effectLst/>
            </c:spPr>
          </c:marker>
          <c:cat>
            <c:multiLvlStrRef>
              <c:f>Sheet1!$A$2:$A$7</c:f>
              <c:multiLvlStrCache>
                <c:ptCount val="6"/>
                <c:lvl>
                  <c:pt idx="0">
                    <c:v>1</c:v>
                  </c:pt>
                  <c:pt idx="1">
                    <c:v>2</c:v>
                  </c:pt>
                  <c:pt idx="2">
                    <c:v>3</c:v>
                  </c:pt>
                  <c:pt idx="3">
                    <c:v>4</c:v>
                  </c:pt>
                  <c:pt idx="4">
                    <c:v>5</c:v>
                  </c:pt>
                  <c:pt idx="5">
                    <c:v>6</c:v>
                  </c:pt>
                </c:lvl>
              </c:multiLvlStrCache>
            </c:multiLvlStrRef>
          </c:cat>
          <c:val>
            <c:numRef>
              <c:f>Sheet1!$B$2:$B$7</c:f>
              <c:numCache>
                <c:formatCode>General</c:formatCode>
                <c:ptCount val="6"/>
                <c:pt idx="0">
                  <c:v>60</c:v>
                </c:pt>
                <c:pt idx="1">
                  <c:v>55</c:v>
                </c:pt>
                <c:pt idx="2">
                  <c:v>52</c:v>
                </c:pt>
                <c:pt idx="3">
                  <c:v>54</c:v>
                </c:pt>
                <c:pt idx="4">
                  <c:v>50</c:v>
                </c:pt>
                <c:pt idx="5">
                  <c:v>48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c:v>
                </c:pt>
              </c:strCache>
            </c:strRef>
          </c:tx>
          <c:spPr>
            <a:solidFill>
              <a:schemeClr val="accent1"/>
            </a:solidFill>
            <a:ln w="9525" cap="flat">
              <a:solidFill>
                <a:srgbClr val="F9F9F9"/>
              </a:solidFill>
              <a:prstDash val="solid"/>
              <a:round/>
            </a:ln>
            <a:effectLst/>
          </c:spPr>
          <c:dPt>
            <c:idx val="0"/>
            <c:bubble3D val="0"/>
            <c:spPr>
              <a:solidFill>
                <a:srgbClr val="C9F5C0"/>
              </a:solidFill>
              <a:ln w="25400" cap="flat">
                <a:solidFill>
                  <a:srgbClr val="FFFFFF"/>
                </a:solidFill>
                <a:prstDash val="solid"/>
                <a:round/>
              </a:ln>
              <a:effectLst/>
            </c:spPr>
          </c:dPt>
          <c:dPt>
            <c:idx val="1"/>
            <c:bubble3D val="0"/>
            <c:spPr>
              <a:solidFill>
                <a:srgbClr val="111111"/>
              </a:solidFill>
              <a:ln w="254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年轻</c:v>
                </c:pt>
                <c:pt idx="1">
                  <c:v>其他</c:v>
                </c:pt>
              </c:strCache>
            </c:strRef>
          </c:cat>
          <c:val>
            <c:numRef>
              <c:f>Sheet1!$B$2:$B$3</c:f>
              <c:numCache>
                <c:ptCount val="2"/>
                <c:pt idx="0">
                  <c:v>68</c:v>
                </c:pt>
                <c:pt idx="1">
                  <c:v>32</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Y</c:v>
                </c:pt>
              </c:strCache>
            </c:strRef>
          </c:tx>
          <c:spPr>
            <a:solidFill>
              <a:srgbClr val="111111"/>
            </a:solidFill>
            <a:ln>
              <a:noFill/>
            </a:ln>
            <a:effectLst/>
          </c:spPr>
          <c:marker>
            <c:symbol val="circle"/>
            <c:size val="7"/>
            <c:spPr>
              <a:solidFill>
                <a:srgbClr val="111111"/>
              </a:solidFill>
              <a:ln w="9525" cap="flat">
                <a:solidFill>
                  <a:srgbClr val="111111"/>
                </a:solidFill>
                <a:prstDash val="solid"/>
                <a:round/>
              </a:ln>
              <a:effectLst/>
            </c:spPr>
          </c:marker>
          <c:xVal>
            <c:numRef>
              <c:f>Sheet1!$A$2:$A$8</c:f>
              <c:numCache>
                <c:formatCode>General</c:formatCode>
                <c:ptCount val="7"/>
                <c:pt idx="0">
                  <c:v>1</c:v>
                </c:pt>
                <c:pt idx="1">
                  <c:v>1.8</c:v>
                </c:pt>
                <c:pt idx="2">
                  <c:v>2.4</c:v>
                </c:pt>
                <c:pt idx="3">
                  <c:v>3</c:v>
                </c:pt>
                <c:pt idx="4">
                  <c:v>3.5</c:v>
                </c:pt>
                <c:pt idx="5">
                  <c:v>4.1</c:v>
                </c:pt>
                <c:pt idx="6">
                  <c:v>4.7</c:v>
                </c:pt>
              </c:numCache>
            </c:numRef>
          </c:xVal>
          <c:yVal>
            <c:numRef>
              <c:f>Sheet1!$B$2:$B$8</c:f>
              <c:numCache>
                <c:formatCode>General</c:formatCode>
                <c:ptCount val="7"/>
                <c:pt idx="0">
                  <c:v>1</c:v>
                </c:pt>
                <c:pt idx="1">
                  <c:v>1.6</c:v>
                </c:pt>
                <c:pt idx="2">
                  <c:v>2.5</c:v>
                </c:pt>
                <c:pt idx="3">
                  <c:v>2.7</c:v>
                </c:pt>
                <c:pt idx="4">
                  <c:v>3.4</c:v>
                </c:pt>
                <c:pt idx="5">
                  <c:v>3.8</c:v>
                </c:pt>
                <c:pt idx="6">
                  <c:v>4.5</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scaling>
        <c:delete val="1"/>
        <c:axPos val="b"/>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valAx>
      <c:valAx>
        <c:axId val="2094734552"/>
        <c:scaling>
          <c:orientation val="minMax"/>
        </c:scaling>
        <c:delete val="1"/>
        <c:axPos val="l"/>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【原文】情景故事通常包含用户的背景信息、情境设定、任务流程和用户的情绪反应。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左侧模型卡为示意图形，按原文列出的四项内容（基本信息、目标、行为、痛点）绘制。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【原文】情景故事板通常包含四个要素：情境、用户、任务和情绪。情境是指用户使用产品的环境，用户是指故事的主角。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上方三格为故事板分镜示意，可替换为项目的实际故事板画面。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四张小图为示意数据，仅用于说明四种关系的图形表达。
【原文】
大小关系：在进行数据对比分析时，大小关系是重要的考量因素。例如，比较不同设计方案的用户满意度分数。
趋势变化：趋势变化分析是通过观察数据随时间的变化来预测未来发展方向。例如，通过分析过去几个月的用户留存率。
占比：占比分析用于研究不同部分在整体中的比例关系。例如，产品的用户群体中，年轻用户占比高。
相关性：相关性分析是研究两个或多个变量之间的关系。例如，界面易用性与用户粘性的正相关关系。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左侧坐标图为知觉图示意：两条轴代表用户感知的两个维度，圆点代表不同品牌/产品在用户心目中的位置。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左侧为鱼骨图结构示意：鱼头为待分析的问题，各条鱼骨为可能的原因类别。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jpe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e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eg"/><Relationship Id="rId2" Type="http://schemas.openxmlformats.org/officeDocument/2006/relationships/image" Target="../media/image-29-2.jpe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chart" Target="/ppt/charts/chart4.xml"/><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eg"/><Relationship Id="rId2" Type="http://schemas.openxmlformats.org/officeDocument/2006/relationships/image" Target="../media/image-33-2.jpe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chart" Target="/ppt/charts/chart7.xml"/><Relationship Id="rId4" Type="http://schemas.openxmlformats.org/officeDocument/2006/relationships/chart" Target="/ppt/charts/chart8.xml"/><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eg"/><Relationship Id="rId2" Type="http://schemas.openxmlformats.org/officeDocument/2006/relationships/image" Target="../media/image-35-2.jpe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eg"/><Relationship Id="rId2" Type="http://schemas.openxmlformats.org/officeDocument/2006/relationships/image" Target="../media/image-37-2.jpe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eg"/><Relationship Id="rId2" Type="http://schemas.openxmlformats.org/officeDocument/2006/relationships/image" Target="../media/image-38-2.jpe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eg"/><Relationship Id="rId2" Type="http://schemas.openxmlformats.org/officeDocument/2006/relationships/image" Target="../media/image-41-2.jpe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8229600" cy="201168"/>
          </a:xfrm>
          <a:prstGeom prst="rect">
            <a:avLst/>
          </a:prstGeom>
          <a:noFill/>
          <a:ln/>
        </p:spPr>
        <p:txBody>
          <a:bodyPr wrap="square" lIns="0" tIns="0" rIns="0" bIns="0" rtlCol="0" anchor="t"/>
          <a:lstStyle/>
          <a:p>
            <a:pPr indent="0" marL="0">
              <a:buNone/>
            </a:pPr>
            <a:r>
              <a:rPr lang="en-US" sz="800" spc="150" kern="0" dirty="0">
                <a:solidFill>
                  <a:srgbClr val="6B6B6B"/>
                </a:solidFill>
                <a:latin typeface="Courier New" pitchFamily="34" charset="0"/>
                <a:ea typeface="Courier New" pitchFamily="34" charset="-122"/>
                <a:cs typeface="Courier New" pitchFamily="34" charset="-120"/>
              </a:rPr>
              <a:t>LESSON 06  ·  MATERIALS &amp; EXPERIENCE  ·  材料研究与产品设计</a:t>
            </a:r>
            <a:endParaRPr lang="en-US" sz="800" dirty="0"/>
          </a:p>
        </p:txBody>
      </p:sp>
      <p:sp>
        <p:nvSpPr>
          <p:cNvPr id="3" name="Text 1"/>
          <p:cNvSpPr txBox="1"/>
          <p:nvPr/>
        </p:nvSpPr>
        <p:spPr>
          <a:xfrm>
            <a:off x="411480" y="502920"/>
            <a:ext cx="6583680" cy="1417320"/>
          </a:xfrm>
          <a:prstGeom prst="rect">
            <a:avLst/>
          </a:prstGeom>
          <a:noFill/>
          <a:ln/>
        </p:spPr>
        <p:txBody>
          <a:bodyPr wrap="square" lIns="0" tIns="0" rIns="0" bIns="0" rtlCol="0" anchor="t">
            <a:normAutofit/>
          </a:bodyPr>
          <a:lstStyle/>
          <a:p>
            <a:pPr indent="0" marL="0">
              <a:lnSpc>
                <a:spcPct val="95000"/>
              </a:lnSpc>
              <a:buNone/>
            </a:pPr>
            <a:r>
              <a:rPr lang="en-US" sz="5000" dirty="0">
                <a:solidFill>
                  <a:srgbClr val="111111"/>
                </a:solidFill>
                <a:latin typeface="Microsoft YaHei" pitchFamily="34" charset="0"/>
                <a:ea typeface="Microsoft YaHei" pitchFamily="34" charset="-122"/>
                <a:cs typeface="Microsoft YaHei" pitchFamily="34" charset="-120"/>
              </a:rPr>
              <a:t>用户研究方法（二）</a:t>
            </a:r>
            <a:endParaRPr lang="en-US" sz="5000" dirty="0"/>
          </a:p>
        </p:txBody>
      </p:sp>
      <p:sp>
        <p:nvSpPr>
          <p:cNvPr id="4" name="Text 2"/>
          <p:cNvSpPr txBox="1"/>
          <p:nvPr/>
        </p:nvSpPr>
        <p:spPr>
          <a:xfrm>
            <a:off x="411480" y="1874520"/>
            <a:ext cx="5943600" cy="365760"/>
          </a:xfrm>
          <a:prstGeom prst="rect">
            <a:avLst/>
          </a:prstGeom>
          <a:noFill/>
          <a:ln/>
        </p:spPr>
        <p:txBody>
          <a:bodyPr wrap="square" lIns="0" tIns="0" rIns="0" bIns="0" rtlCol="0" anchor="ctr"/>
          <a:lstStyle/>
          <a:p>
            <a:pPr indent="0" marL="0">
              <a:buNone/>
            </a:pPr>
            <a:r>
              <a:rPr lang="en-US" sz="1500" dirty="0">
                <a:solidFill>
                  <a:srgbClr val="111111"/>
                </a:solidFill>
                <a:latin typeface="Arial" pitchFamily="34" charset="0"/>
                <a:ea typeface="Arial" pitchFamily="34" charset="-122"/>
                <a:cs typeface="Arial" pitchFamily="34" charset="-120"/>
              </a:rPr>
              <a:t>User Research Methods · Part 2</a:t>
            </a:r>
            <a:endParaRPr lang="en-US" sz="1500" dirty="0"/>
          </a:p>
        </p:txBody>
      </p:sp>
      <p:pic>
        <p:nvPicPr>
          <p:cNvPr id="5" name="Image 0" descr="decorative collage">    </p:cNvPr>
          <p:cNvPicPr>
            <a:picLocks noChangeAspect="1"/>
          </p:cNvPicPr>
          <p:nvPr/>
        </p:nvPicPr>
        <p:blipFill>
          <a:blip r:embed="rId1"/>
          <a:stretch>
            <a:fillRect/>
          </a:stretch>
        </p:blipFill>
        <p:spPr>
          <a:xfrm>
            <a:off x="3869391" y="2514600"/>
            <a:ext cx="5274609" cy="2628900"/>
          </a:xfrm>
          <a:prstGeom prst="rect">
            <a:avLst/>
          </a:prstGeom>
        </p:spPr>
      </p:pic>
      <p:sp>
        <p:nvSpPr>
          <p:cNvPr id="6" name="Shape 3"/>
          <p:cNvSpPr/>
          <p:nvPr/>
        </p:nvSpPr>
        <p:spPr>
          <a:xfrm>
            <a:off x="411480" y="4270248"/>
            <a:ext cx="124358" cy="124358"/>
          </a:xfrm>
          <a:prstGeom prst="ellipse">
            <a:avLst/>
          </a:prstGeom>
          <a:solidFill>
            <a:srgbClr val="4D49FC"/>
          </a:solidFill>
          <a:ln/>
        </p:spPr>
      </p:sp>
      <p:sp>
        <p:nvSpPr>
          <p:cNvPr id="7" name="Shape 4"/>
          <p:cNvSpPr/>
          <p:nvPr/>
        </p:nvSpPr>
        <p:spPr>
          <a:xfrm>
            <a:off x="565099" y="4270248"/>
            <a:ext cx="124358" cy="124358"/>
          </a:xfrm>
          <a:prstGeom prst="ellipse">
            <a:avLst/>
          </a:prstGeom>
          <a:solidFill>
            <a:srgbClr val="4D49FC"/>
          </a:solidFill>
          <a:ln/>
        </p:spPr>
      </p:sp>
      <p:sp>
        <p:nvSpPr>
          <p:cNvPr id="8" name="Shape 5"/>
          <p:cNvSpPr/>
          <p:nvPr/>
        </p:nvSpPr>
        <p:spPr>
          <a:xfrm>
            <a:off x="411480" y="4423867"/>
            <a:ext cx="124358" cy="124358"/>
          </a:xfrm>
          <a:prstGeom prst="ellipse">
            <a:avLst/>
          </a:prstGeom>
          <a:solidFill>
            <a:srgbClr val="4D49FC"/>
          </a:solidFill>
          <a:ln/>
        </p:spPr>
      </p:sp>
      <p:sp>
        <p:nvSpPr>
          <p:cNvPr id="9" name="Shape 6"/>
          <p:cNvSpPr/>
          <p:nvPr/>
        </p:nvSpPr>
        <p:spPr>
          <a:xfrm>
            <a:off x="565099" y="4423867"/>
            <a:ext cx="124358" cy="124358"/>
          </a:xfrm>
          <a:prstGeom prst="ellipse">
            <a:avLst/>
          </a:prstGeom>
          <a:solidFill>
            <a:srgbClr val="4D49FC"/>
          </a:solidFill>
          <a:ln/>
        </p:spPr>
      </p:sp>
      <p:sp>
        <p:nvSpPr>
          <p:cNvPr id="10" name="Text 7"/>
          <p:cNvSpPr txBox="1"/>
          <p:nvPr/>
        </p:nvSpPr>
        <p:spPr>
          <a:xfrm>
            <a:off x="731520" y="4160520"/>
            <a:ext cx="2926080" cy="566928"/>
          </a:xfrm>
          <a:prstGeom prst="rect">
            <a:avLst/>
          </a:prstGeom>
          <a:noFill/>
          <a:ln/>
        </p:spPr>
        <p:txBody>
          <a:bodyPr wrap="square" lIns="0" tIns="0" rIns="0" bIns="0" rtlCol="0" anchor="ctr"/>
          <a:lstStyle/>
          <a:p>
            <a:pPr indent="0" marL="0">
              <a:lnSpc>
                <a:spcPct val="120000"/>
              </a:lnSpc>
              <a:buNone/>
            </a:pPr>
            <a:r>
              <a:rPr lang="en-US" sz="950" dirty="0">
                <a:solidFill>
                  <a:srgbClr val="111111"/>
                </a:solidFill>
                <a:latin typeface="Microsoft YaHei" pitchFamily="34" charset="0"/>
                <a:ea typeface="Microsoft YaHei" pitchFamily="34" charset="-122"/>
                <a:cs typeface="Microsoft YaHei" pitchFamily="34" charset="-120"/>
              </a:rPr>
              <a:t>湖北工业大学  工业设计学院</a:t>
            </a:r>
            <a:endParaRPr lang="en-US" sz="950" dirty="0"/>
          </a:p>
          <a:p>
            <a:pPr indent="0" marL="0">
              <a:lnSpc>
                <a:spcPct val="120000"/>
              </a:lnSpc>
              <a:buNone/>
            </a:pPr>
            <a:r>
              <a:rPr lang="en-US" sz="1300" dirty="0">
                <a:solidFill>
                  <a:srgbClr val="111111"/>
                </a:solidFill>
                <a:latin typeface="Microsoft YaHei" pitchFamily="34" charset="0"/>
                <a:ea typeface="Microsoft YaHei" pitchFamily="34" charset="-122"/>
                <a:cs typeface="Microsoft YaHei" pitchFamily="34" charset="-120"/>
              </a:rPr>
              <a:t>张萌</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目录</a:t>
            </a:r>
            <a:endParaRPr lang="en-US" sz="2400" dirty="0"/>
          </a:p>
        </p:txBody>
      </p:sp>
      <p:sp>
        <p:nvSpPr>
          <p:cNvPr id="3" name="Text 1"/>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Contents</a:t>
            </a:r>
            <a:endParaRPr lang="en-US" sz="950" dirty="0"/>
          </a:p>
        </p:txBody>
      </p:sp>
      <p:sp>
        <p:nvSpPr>
          <p:cNvPr id="4" name="Shape 2"/>
          <p:cNvSpPr/>
          <p:nvPr/>
        </p:nvSpPr>
        <p:spPr>
          <a:xfrm>
            <a:off x="411480" y="4818888"/>
            <a:ext cx="77724" cy="77724"/>
          </a:xfrm>
          <a:prstGeom prst="ellipse">
            <a:avLst/>
          </a:prstGeom>
          <a:solidFill>
            <a:srgbClr val="4D49FC"/>
          </a:solidFill>
          <a:ln/>
        </p:spPr>
      </p:sp>
      <p:sp>
        <p:nvSpPr>
          <p:cNvPr id="5" name="Shape 3"/>
          <p:cNvSpPr/>
          <p:nvPr/>
        </p:nvSpPr>
        <p:spPr>
          <a:xfrm>
            <a:off x="507492" y="4818888"/>
            <a:ext cx="77724" cy="77724"/>
          </a:xfrm>
          <a:prstGeom prst="ellipse">
            <a:avLst/>
          </a:prstGeom>
          <a:solidFill>
            <a:srgbClr val="4D49FC"/>
          </a:solidFill>
          <a:ln/>
        </p:spPr>
      </p:sp>
      <p:sp>
        <p:nvSpPr>
          <p:cNvPr id="6" name="Shape 4"/>
          <p:cNvSpPr/>
          <p:nvPr/>
        </p:nvSpPr>
        <p:spPr>
          <a:xfrm>
            <a:off x="411480" y="4914900"/>
            <a:ext cx="77724" cy="77724"/>
          </a:xfrm>
          <a:prstGeom prst="ellipse">
            <a:avLst/>
          </a:prstGeom>
          <a:solidFill>
            <a:srgbClr val="4D49FC"/>
          </a:solidFill>
          <a:ln/>
        </p:spPr>
      </p:sp>
      <p:sp>
        <p:nvSpPr>
          <p:cNvPr id="7" name="Shape 5"/>
          <p:cNvSpPr/>
          <p:nvPr/>
        </p:nvSpPr>
        <p:spPr>
          <a:xfrm>
            <a:off x="507492" y="4914900"/>
            <a:ext cx="77724" cy="77724"/>
          </a:xfrm>
          <a:prstGeom prst="ellipse">
            <a:avLst/>
          </a:prstGeom>
          <a:solidFill>
            <a:srgbClr val="4D49FC"/>
          </a:solidFill>
          <a:ln/>
        </p:spPr>
      </p:sp>
      <p:sp>
        <p:nvSpPr>
          <p:cNvPr id="8" name="Text 6"/>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9" name="Text 7"/>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02</a:t>
            </a:r>
            <a:endParaRPr lang="en-US" sz="750" dirty="0"/>
          </a:p>
        </p:txBody>
      </p:sp>
      <p:sp>
        <p:nvSpPr>
          <p:cNvPr id="10" name="Shape 8"/>
          <p:cNvSpPr/>
          <p:nvPr/>
        </p:nvSpPr>
        <p:spPr>
          <a:xfrm>
            <a:off x="411480" y="1188720"/>
            <a:ext cx="1481328" cy="3383280"/>
          </a:xfrm>
          <a:prstGeom prst="roundRect">
            <a:avLst>
              <a:gd name="adj" fmla="val 6173"/>
            </a:avLst>
          </a:prstGeom>
          <a:solidFill>
            <a:srgbClr val="C7F8FB"/>
          </a:solidFill>
          <a:ln/>
        </p:spPr>
      </p:sp>
      <p:sp>
        <p:nvSpPr>
          <p:cNvPr id="11" name="Text 9"/>
          <p:cNvSpPr txBox="1"/>
          <p:nvPr/>
        </p:nvSpPr>
        <p:spPr>
          <a:xfrm>
            <a:off x="576072" y="1325880"/>
            <a:ext cx="1207008" cy="640080"/>
          </a:xfrm>
          <a:prstGeom prst="rect">
            <a:avLst/>
          </a:prstGeom>
          <a:noFill/>
          <a:ln/>
        </p:spPr>
        <p:txBody>
          <a:bodyPr wrap="square" lIns="0" tIns="0" rIns="0" bIns="0" rtlCol="0" anchor="t"/>
          <a:lstStyle/>
          <a:p>
            <a:pPr indent="0" marL="0">
              <a:buNone/>
            </a:pPr>
            <a:r>
              <a:rPr lang="en-US" sz="2800" b="1" dirty="0">
                <a:solidFill>
                  <a:srgbClr val="111111"/>
                </a:solidFill>
                <a:latin typeface="Arial" pitchFamily="34" charset="0"/>
                <a:ea typeface="Arial" pitchFamily="34" charset="-122"/>
                <a:cs typeface="Arial" pitchFamily="34" charset="-120"/>
              </a:rPr>
              <a:t>01</a:t>
            </a:r>
            <a:endParaRPr lang="en-US" sz="2800" dirty="0"/>
          </a:p>
        </p:txBody>
      </p:sp>
      <p:sp>
        <p:nvSpPr>
          <p:cNvPr id="12" name="Text 10"/>
          <p:cNvSpPr txBox="1"/>
          <p:nvPr/>
        </p:nvSpPr>
        <p:spPr>
          <a:xfrm>
            <a:off x="576072" y="2103120"/>
            <a:ext cx="1207008" cy="731520"/>
          </a:xfrm>
          <a:prstGeom prst="rect">
            <a:avLst/>
          </a:prstGeom>
          <a:noFill/>
          <a:ln/>
        </p:spPr>
        <p:txBody>
          <a:bodyPr wrap="square" lIns="0" tIns="0" rIns="0" bIns="0" rtlCol="0" anchor="b"/>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情景分析法</a:t>
            </a:r>
            <a:endParaRPr lang="en-US" sz="1500" dirty="0"/>
          </a:p>
        </p:txBody>
      </p:sp>
      <p:sp>
        <p:nvSpPr>
          <p:cNvPr id="13" name="Text 11"/>
          <p:cNvSpPr txBox="1"/>
          <p:nvPr/>
        </p:nvSpPr>
        <p:spPr>
          <a:xfrm>
            <a:off x="576072" y="2880360"/>
            <a:ext cx="1207008" cy="320040"/>
          </a:xfrm>
          <a:prstGeom prst="rect">
            <a:avLst/>
          </a:prstGeom>
          <a:noFill/>
          <a:ln/>
        </p:spPr>
        <p:txBody>
          <a:bodyPr wrap="square" lIns="0" tIns="0" rIns="0" bIns="0" rtlCol="0" anchor="t"/>
          <a:lstStyle/>
          <a:p>
            <a:pPr indent="0" marL="0">
              <a:buNone/>
            </a:pPr>
            <a:r>
              <a:rPr lang="en-US" sz="900" dirty="0">
                <a:solidFill>
                  <a:srgbClr val="6B6B6B"/>
                </a:solidFill>
                <a:latin typeface="Arial" pitchFamily="34" charset="0"/>
                <a:ea typeface="Arial" pitchFamily="34" charset="-122"/>
                <a:cs typeface="Arial" pitchFamily="34" charset="-120"/>
              </a:rPr>
              <a:t>Scenario Analysis</a:t>
            </a:r>
            <a:endParaRPr lang="en-US" sz="900" dirty="0"/>
          </a:p>
        </p:txBody>
      </p:sp>
      <p:sp>
        <p:nvSpPr>
          <p:cNvPr id="14" name="Shape 12"/>
          <p:cNvSpPr/>
          <p:nvPr/>
        </p:nvSpPr>
        <p:spPr>
          <a:xfrm>
            <a:off x="1984248" y="1188720"/>
            <a:ext cx="1481328" cy="3383280"/>
          </a:xfrm>
          <a:prstGeom prst="roundRect">
            <a:avLst>
              <a:gd name="adj" fmla="val 6173"/>
            </a:avLst>
          </a:prstGeom>
          <a:solidFill>
            <a:srgbClr val="F4F4F4"/>
          </a:solidFill>
          <a:ln/>
        </p:spPr>
      </p:sp>
      <p:sp>
        <p:nvSpPr>
          <p:cNvPr id="15" name="Text 13"/>
          <p:cNvSpPr txBox="1"/>
          <p:nvPr/>
        </p:nvSpPr>
        <p:spPr>
          <a:xfrm>
            <a:off x="2148840" y="1325880"/>
            <a:ext cx="1207008" cy="640080"/>
          </a:xfrm>
          <a:prstGeom prst="rect">
            <a:avLst/>
          </a:prstGeom>
          <a:noFill/>
          <a:ln/>
        </p:spPr>
        <p:txBody>
          <a:bodyPr wrap="square" lIns="0" tIns="0" rIns="0" bIns="0" rtlCol="0" anchor="t"/>
          <a:lstStyle/>
          <a:p>
            <a:pPr indent="0" marL="0">
              <a:buNone/>
            </a:pPr>
            <a:r>
              <a:rPr lang="en-US" sz="2800" b="1" dirty="0">
                <a:solidFill>
                  <a:srgbClr val="111111"/>
                </a:solidFill>
                <a:latin typeface="Arial" pitchFamily="34" charset="0"/>
                <a:ea typeface="Arial" pitchFamily="34" charset="-122"/>
                <a:cs typeface="Arial" pitchFamily="34" charset="-120"/>
              </a:rPr>
              <a:t>02</a:t>
            </a:r>
            <a:endParaRPr lang="en-US" sz="2800" dirty="0"/>
          </a:p>
        </p:txBody>
      </p:sp>
      <p:sp>
        <p:nvSpPr>
          <p:cNvPr id="16" name="Text 14"/>
          <p:cNvSpPr txBox="1"/>
          <p:nvPr/>
        </p:nvSpPr>
        <p:spPr>
          <a:xfrm>
            <a:off x="2148840" y="2103120"/>
            <a:ext cx="1207008" cy="731520"/>
          </a:xfrm>
          <a:prstGeom prst="rect">
            <a:avLst/>
          </a:prstGeom>
          <a:noFill/>
          <a:ln/>
        </p:spPr>
        <p:txBody>
          <a:bodyPr wrap="square" lIns="0" tIns="0" rIns="0" bIns="0" rtlCol="0" anchor="b"/>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人物角色法</a:t>
            </a:r>
            <a:endParaRPr lang="en-US" sz="1500" dirty="0"/>
          </a:p>
        </p:txBody>
      </p:sp>
      <p:sp>
        <p:nvSpPr>
          <p:cNvPr id="17" name="Text 15"/>
          <p:cNvSpPr txBox="1"/>
          <p:nvPr/>
        </p:nvSpPr>
        <p:spPr>
          <a:xfrm>
            <a:off x="2148840" y="2880360"/>
            <a:ext cx="1207008" cy="320040"/>
          </a:xfrm>
          <a:prstGeom prst="rect">
            <a:avLst/>
          </a:prstGeom>
          <a:noFill/>
          <a:ln/>
        </p:spPr>
        <p:txBody>
          <a:bodyPr wrap="square" lIns="0" tIns="0" rIns="0" bIns="0" rtlCol="0" anchor="t"/>
          <a:lstStyle/>
          <a:p>
            <a:pPr indent="0" marL="0">
              <a:buNone/>
            </a:pPr>
            <a:r>
              <a:rPr lang="en-US" sz="900" dirty="0">
                <a:solidFill>
                  <a:srgbClr val="6B6B6B"/>
                </a:solidFill>
                <a:latin typeface="Arial" pitchFamily="34" charset="0"/>
                <a:ea typeface="Arial" pitchFamily="34" charset="-122"/>
                <a:cs typeface="Arial" pitchFamily="34" charset="-120"/>
              </a:rPr>
              <a:t>Personas</a:t>
            </a:r>
            <a:endParaRPr lang="en-US" sz="900" dirty="0"/>
          </a:p>
        </p:txBody>
      </p:sp>
      <p:sp>
        <p:nvSpPr>
          <p:cNvPr id="18" name="Shape 16"/>
          <p:cNvSpPr/>
          <p:nvPr/>
        </p:nvSpPr>
        <p:spPr>
          <a:xfrm>
            <a:off x="3557016" y="1188720"/>
            <a:ext cx="1481328" cy="3383280"/>
          </a:xfrm>
          <a:prstGeom prst="roundRect">
            <a:avLst>
              <a:gd name="adj" fmla="val 6173"/>
            </a:avLst>
          </a:prstGeom>
          <a:solidFill>
            <a:srgbClr val="EBEBEB"/>
          </a:solidFill>
          <a:ln/>
        </p:spPr>
      </p:sp>
      <p:sp>
        <p:nvSpPr>
          <p:cNvPr id="19" name="Text 17"/>
          <p:cNvSpPr txBox="1"/>
          <p:nvPr/>
        </p:nvSpPr>
        <p:spPr>
          <a:xfrm>
            <a:off x="3721608" y="1325880"/>
            <a:ext cx="1207008" cy="640080"/>
          </a:xfrm>
          <a:prstGeom prst="rect">
            <a:avLst/>
          </a:prstGeom>
          <a:noFill/>
          <a:ln/>
        </p:spPr>
        <p:txBody>
          <a:bodyPr wrap="square" lIns="0" tIns="0" rIns="0" bIns="0" rtlCol="0" anchor="t"/>
          <a:lstStyle/>
          <a:p>
            <a:pPr indent="0" marL="0">
              <a:buNone/>
            </a:pPr>
            <a:r>
              <a:rPr lang="en-US" sz="2800" b="1" dirty="0">
                <a:solidFill>
                  <a:srgbClr val="111111"/>
                </a:solidFill>
                <a:latin typeface="Arial" pitchFamily="34" charset="0"/>
                <a:ea typeface="Arial" pitchFamily="34" charset="-122"/>
                <a:cs typeface="Arial" pitchFamily="34" charset="-120"/>
              </a:rPr>
              <a:t>03</a:t>
            </a:r>
            <a:endParaRPr lang="en-US" sz="2800" dirty="0"/>
          </a:p>
        </p:txBody>
      </p:sp>
      <p:sp>
        <p:nvSpPr>
          <p:cNvPr id="20" name="Text 18"/>
          <p:cNvSpPr txBox="1"/>
          <p:nvPr/>
        </p:nvSpPr>
        <p:spPr>
          <a:xfrm>
            <a:off x="3721608" y="2103120"/>
            <a:ext cx="1207008" cy="731520"/>
          </a:xfrm>
          <a:prstGeom prst="rect">
            <a:avLst/>
          </a:prstGeom>
          <a:noFill/>
          <a:ln/>
        </p:spPr>
        <p:txBody>
          <a:bodyPr wrap="square" lIns="0" tIns="0" rIns="0" bIns="0" rtlCol="0" anchor="b"/>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故事板</a:t>
            </a:r>
            <a:endParaRPr lang="en-US" sz="1500" dirty="0"/>
          </a:p>
        </p:txBody>
      </p:sp>
      <p:sp>
        <p:nvSpPr>
          <p:cNvPr id="21" name="Text 19"/>
          <p:cNvSpPr txBox="1"/>
          <p:nvPr/>
        </p:nvSpPr>
        <p:spPr>
          <a:xfrm>
            <a:off x="3721608" y="2880360"/>
            <a:ext cx="1207008" cy="320040"/>
          </a:xfrm>
          <a:prstGeom prst="rect">
            <a:avLst/>
          </a:prstGeom>
          <a:noFill/>
          <a:ln/>
        </p:spPr>
        <p:txBody>
          <a:bodyPr wrap="square" lIns="0" tIns="0" rIns="0" bIns="0" rtlCol="0" anchor="t"/>
          <a:lstStyle/>
          <a:p>
            <a:pPr indent="0" marL="0">
              <a:buNone/>
            </a:pPr>
            <a:r>
              <a:rPr lang="en-US" sz="900" dirty="0">
                <a:solidFill>
                  <a:srgbClr val="6B6B6B"/>
                </a:solidFill>
                <a:latin typeface="Arial" pitchFamily="34" charset="0"/>
                <a:ea typeface="Arial" pitchFamily="34" charset="-122"/>
                <a:cs typeface="Arial" pitchFamily="34" charset="-120"/>
              </a:rPr>
              <a:t>Storyboard</a:t>
            </a:r>
            <a:endParaRPr lang="en-US" sz="900" dirty="0"/>
          </a:p>
        </p:txBody>
      </p:sp>
      <p:sp>
        <p:nvSpPr>
          <p:cNvPr id="22" name="Shape 20"/>
          <p:cNvSpPr/>
          <p:nvPr/>
        </p:nvSpPr>
        <p:spPr>
          <a:xfrm>
            <a:off x="5129784" y="1188720"/>
            <a:ext cx="1481328" cy="3383280"/>
          </a:xfrm>
          <a:prstGeom prst="roundRect">
            <a:avLst>
              <a:gd name="adj" fmla="val 6173"/>
            </a:avLst>
          </a:prstGeom>
          <a:solidFill>
            <a:srgbClr val="F4F4F4"/>
          </a:solidFill>
          <a:ln/>
        </p:spPr>
      </p:sp>
      <p:sp>
        <p:nvSpPr>
          <p:cNvPr id="23" name="Text 21"/>
          <p:cNvSpPr txBox="1"/>
          <p:nvPr/>
        </p:nvSpPr>
        <p:spPr>
          <a:xfrm>
            <a:off x="5294376" y="1325880"/>
            <a:ext cx="1207008" cy="640080"/>
          </a:xfrm>
          <a:prstGeom prst="rect">
            <a:avLst/>
          </a:prstGeom>
          <a:noFill/>
          <a:ln/>
        </p:spPr>
        <p:txBody>
          <a:bodyPr wrap="square" lIns="0" tIns="0" rIns="0" bIns="0" rtlCol="0" anchor="t"/>
          <a:lstStyle/>
          <a:p>
            <a:pPr indent="0" marL="0">
              <a:buNone/>
            </a:pPr>
            <a:r>
              <a:rPr lang="en-US" sz="2800" b="1" dirty="0">
                <a:solidFill>
                  <a:srgbClr val="111111"/>
                </a:solidFill>
                <a:latin typeface="Arial" pitchFamily="34" charset="0"/>
                <a:ea typeface="Arial" pitchFamily="34" charset="-122"/>
                <a:cs typeface="Arial" pitchFamily="34" charset="-120"/>
              </a:rPr>
              <a:t>04</a:t>
            </a:r>
            <a:endParaRPr lang="en-US" sz="2800" dirty="0"/>
          </a:p>
        </p:txBody>
      </p:sp>
      <p:sp>
        <p:nvSpPr>
          <p:cNvPr id="24" name="Text 22"/>
          <p:cNvSpPr txBox="1"/>
          <p:nvPr/>
        </p:nvSpPr>
        <p:spPr>
          <a:xfrm>
            <a:off x="5294376" y="2103120"/>
            <a:ext cx="1207008" cy="731520"/>
          </a:xfrm>
          <a:prstGeom prst="rect">
            <a:avLst/>
          </a:prstGeom>
          <a:noFill/>
          <a:ln/>
        </p:spPr>
        <p:txBody>
          <a:bodyPr wrap="square" lIns="0" tIns="0" rIns="0" bIns="0" rtlCol="0" anchor="b"/>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可用性测试</a:t>
            </a:r>
            <a:endParaRPr lang="en-US" sz="1500" dirty="0"/>
          </a:p>
        </p:txBody>
      </p:sp>
      <p:sp>
        <p:nvSpPr>
          <p:cNvPr id="25" name="Text 23"/>
          <p:cNvSpPr txBox="1"/>
          <p:nvPr/>
        </p:nvSpPr>
        <p:spPr>
          <a:xfrm>
            <a:off x="5294376" y="2880360"/>
            <a:ext cx="1207008" cy="320040"/>
          </a:xfrm>
          <a:prstGeom prst="rect">
            <a:avLst/>
          </a:prstGeom>
          <a:noFill/>
          <a:ln/>
        </p:spPr>
        <p:txBody>
          <a:bodyPr wrap="square" lIns="0" tIns="0" rIns="0" bIns="0" rtlCol="0" anchor="t"/>
          <a:lstStyle/>
          <a:p>
            <a:pPr indent="0" marL="0">
              <a:buNone/>
            </a:pPr>
            <a:r>
              <a:rPr lang="en-US" sz="900" dirty="0">
                <a:solidFill>
                  <a:srgbClr val="6B6B6B"/>
                </a:solidFill>
                <a:latin typeface="Arial" pitchFamily="34" charset="0"/>
                <a:ea typeface="Arial" pitchFamily="34" charset="-122"/>
                <a:cs typeface="Arial" pitchFamily="34" charset="-120"/>
              </a:rPr>
              <a:t>Usability Testing</a:t>
            </a:r>
            <a:endParaRPr lang="en-US" sz="900" dirty="0"/>
          </a:p>
        </p:txBody>
      </p:sp>
      <p:sp>
        <p:nvSpPr>
          <p:cNvPr id="26" name="Shape 24"/>
          <p:cNvSpPr/>
          <p:nvPr/>
        </p:nvSpPr>
        <p:spPr>
          <a:xfrm>
            <a:off x="6702552" y="1188720"/>
            <a:ext cx="1956816" cy="3383280"/>
          </a:xfrm>
          <a:prstGeom prst="roundRect">
            <a:avLst>
              <a:gd name="adj" fmla="val 4673"/>
            </a:avLst>
          </a:prstGeom>
          <a:solidFill>
            <a:srgbClr val="111111"/>
          </a:solidFill>
          <a:ln/>
        </p:spPr>
      </p:sp>
      <p:sp>
        <p:nvSpPr>
          <p:cNvPr id="27" name="Text 25"/>
          <p:cNvSpPr txBox="1"/>
          <p:nvPr/>
        </p:nvSpPr>
        <p:spPr>
          <a:xfrm>
            <a:off x="6867144" y="1325880"/>
            <a:ext cx="1682496" cy="640080"/>
          </a:xfrm>
          <a:prstGeom prst="rect">
            <a:avLst/>
          </a:prstGeom>
          <a:noFill/>
          <a:ln/>
        </p:spPr>
        <p:txBody>
          <a:bodyPr wrap="square" lIns="0" tIns="0" rIns="0" bIns="0" rtlCol="0" anchor="t"/>
          <a:lstStyle/>
          <a:p>
            <a:pPr indent="0" marL="0">
              <a:buNone/>
            </a:pPr>
            <a:r>
              <a:rPr lang="en-US" sz="2800" b="1" dirty="0">
                <a:solidFill>
                  <a:srgbClr val="C7F8FB"/>
                </a:solidFill>
                <a:latin typeface="Arial" pitchFamily="34" charset="0"/>
                <a:ea typeface="Arial" pitchFamily="34" charset="-122"/>
                <a:cs typeface="Arial" pitchFamily="34" charset="-120"/>
              </a:rPr>
              <a:t>05</a:t>
            </a:r>
            <a:endParaRPr lang="en-US" sz="2800" dirty="0"/>
          </a:p>
        </p:txBody>
      </p:sp>
      <p:sp>
        <p:nvSpPr>
          <p:cNvPr id="28" name="Text 26"/>
          <p:cNvSpPr txBox="1"/>
          <p:nvPr/>
        </p:nvSpPr>
        <p:spPr>
          <a:xfrm>
            <a:off x="6867144" y="2103120"/>
            <a:ext cx="1682496" cy="731520"/>
          </a:xfrm>
          <a:prstGeom prst="rect">
            <a:avLst/>
          </a:prstGeom>
          <a:noFill/>
          <a:ln/>
        </p:spPr>
        <p:txBody>
          <a:bodyPr wrap="square" lIns="0" tIns="0" rIns="0" bIns="0" rtlCol="0" anchor="b"/>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调研中的数据分析法</a:t>
            </a:r>
            <a:endParaRPr lang="en-US" sz="1500" dirty="0"/>
          </a:p>
        </p:txBody>
      </p:sp>
      <p:sp>
        <p:nvSpPr>
          <p:cNvPr id="29" name="Text 27"/>
          <p:cNvSpPr txBox="1"/>
          <p:nvPr/>
        </p:nvSpPr>
        <p:spPr>
          <a:xfrm>
            <a:off x="6867144" y="2880360"/>
            <a:ext cx="1682496" cy="320040"/>
          </a:xfrm>
          <a:prstGeom prst="rect">
            <a:avLst/>
          </a:prstGeom>
          <a:noFill/>
          <a:ln/>
        </p:spPr>
        <p:txBody>
          <a:bodyPr wrap="square" lIns="0" tIns="0" rIns="0" bIns="0" rtlCol="0" anchor="t"/>
          <a:lstStyle/>
          <a:p>
            <a:pPr indent="0" marL="0">
              <a:buNone/>
            </a:pPr>
            <a:r>
              <a:rPr lang="en-US" sz="900" dirty="0">
                <a:solidFill>
                  <a:srgbClr val="C7F8FB"/>
                </a:solidFill>
                <a:latin typeface="Arial" pitchFamily="34" charset="0"/>
                <a:ea typeface="Arial" pitchFamily="34" charset="-122"/>
                <a:cs typeface="Arial" pitchFamily="34" charset="-120"/>
              </a:rPr>
              <a:t>Data Analysis</a:t>
            </a:r>
            <a:endParaRPr lang="en-US" sz="900" dirty="0"/>
          </a:p>
        </p:txBody>
      </p:sp>
      <p:sp>
        <p:nvSpPr>
          <p:cNvPr id="30" name="Text 28"/>
          <p:cNvSpPr txBox="1"/>
          <p:nvPr/>
        </p:nvSpPr>
        <p:spPr>
          <a:xfrm>
            <a:off x="6867144" y="3291840"/>
            <a:ext cx="1682496" cy="1097280"/>
          </a:xfrm>
          <a:prstGeom prst="rect">
            <a:avLst/>
          </a:prstGeom>
          <a:noFill/>
          <a:ln/>
        </p:spPr>
        <p:txBody>
          <a:bodyPr wrap="square" lIns="0" tIns="0" rIns="0" bIns="0" rtlCol="0" anchor="t"/>
          <a:lstStyle/>
          <a:p>
            <a:pPr indent="0" marL="0">
              <a:spcAft>
                <a:spcPts val="400"/>
              </a:spcAft>
              <a:buNone/>
            </a:pPr>
            <a:r>
              <a:rPr lang="en-US" sz="1100" dirty="0">
                <a:solidFill>
                  <a:srgbClr val="FFFFFF"/>
                </a:solidFill>
                <a:latin typeface="Microsoft YaHei" pitchFamily="34" charset="0"/>
                <a:ea typeface="Microsoft YaHei" pitchFamily="34" charset="-122"/>
                <a:cs typeface="Microsoft YaHei" pitchFamily="34" charset="-120"/>
              </a:rPr>
              <a:t>A  数据对比分析</a:t>
            </a:r>
            <a:endParaRPr lang="en-US" sz="1100" dirty="0"/>
          </a:p>
          <a:p>
            <a:pPr indent="0" marL="0">
              <a:spcAft>
                <a:spcPts val="400"/>
              </a:spcAft>
              <a:buNone/>
            </a:pPr>
            <a:r>
              <a:rPr lang="en-US" sz="1100" dirty="0">
                <a:solidFill>
                  <a:srgbClr val="FFFFFF"/>
                </a:solidFill>
                <a:latin typeface="Microsoft YaHei" pitchFamily="34" charset="0"/>
                <a:ea typeface="Microsoft YaHei" pitchFamily="34" charset="-122"/>
                <a:cs typeface="Microsoft YaHei" pitchFamily="34" charset="-120"/>
              </a:rPr>
              <a:t>B  知觉图、鱼骨图</a:t>
            </a:r>
            <a:endParaRPr lang="en-US" sz="1100" dirty="0"/>
          </a:p>
          <a:p>
            <a:pPr indent="0" marL="0">
              <a:spcAft>
                <a:spcPts val="400"/>
              </a:spcAft>
              <a:buNone/>
            </a:pPr>
            <a:r>
              <a:rPr lang="en-US" sz="1100" dirty="0">
                <a:solidFill>
                  <a:srgbClr val="FFFFFF"/>
                </a:solidFill>
                <a:latin typeface="Microsoft YaHei" pitchFamily="34" charset="0"/>
                <a:ea typeface="Microsoft YaHei" pitchFamily="34" charset="-122"/>
                <a:cs typeface="Microsoft YaHei" pitchFamily="34" charset="-120"/>
              </a:rPr>
              <a:t>C  卡片归纳分类法</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5486400" cy="201168"/>
          </a:xfrm>
          <a:prstGeom prst="rect">
            <a:avLst/>
          </a:prstGeom>
          <a:noFill/>
          <a:ln/>
        </p:spPr>
        <p:txBody>
          <a:bodyPr wrap="square" lIns="0" tIns="0" rIns="0" bIns="0" rtlCol="0" anchor="ctr"/>
          <a:lstStyle/>
          <a:p>
            <a:pPr indent="0" marL="0">
              <a:buNone/>
            </a:pPr>
            <a:r>
              <a:rPr lang="en-US" sz="800" spc="150" kern="0" dirty="0">
                <a:solidFill>
                  <a:srgbClr val="6B6B6B"/>
                </a:solidFill>
                <a:latin typeface="Courier New" pitchFamily="34" charset="0"/>
                <a:ea typeface="Courier New" pitchFamily="34" charset="-122"/>
                <a:cs typeface="Courier New" pitchFamily="34" charset="-120"/>
              </a:rPr>
              <a:t>LESSON 06  ·  PART 01</a:t>
            </a:r>
            <a:endParaRPr lang="en-US" sz="800" dirty="0"/>
          </a:p>
        </p:txBody>
      </p:sp>
      <p:sp>
        <p:nvSpPr>
          <p:cNvPr id="3" name="Text 1"/>
          <p:cNvSpPr txBox="1"/>
          <p:nvPr/>
        </p:nvSpPr>
        <p:spPr>
          <a:xfrm>
            <a:off x="411480" y="502920"/>
            <a:ext cx="8321040" cy="868680"/>
          </a:xfrm>
          <a:prstGeom prst="rect">
            <a:avLst/>
          </a:prstGeom>
          <a:noFill/>
          <a:ln/>
        </p:spPr>
        <p:txBody>
          <a:bodyPr wrap="square" lIns="0" tIns="0" rIns="0" bIns="0" rtlCol="0" anchor="ctr">
            <a:normAutofit/>
          </a:bodyPr>
          <a:lstStyle/>
          <a:p>
            <a:pPr indent="0" marL="0">
              <a:buNone/>
            </a:pPr>
            <a:r>
              <a:rPr lang="en-US" sz="4400" dirty="0">
                <a:solidFill>
                  <a:srgbClr val="111111"/>
                </a:solidFill>
                <a:latin typeface="Microsoft YaHei" pitchFamily="34" charset="0"/>
                <a:ea typeface="Microsoft YaHei" pitchFamily="34" charset="-122"/>
                <a:cs typeface="Microsoft YaHei" pitchFamily="34" charset="-120"/>
              </a:rPr>
              <a:t>情景分析法</a:t>
            </a:r>
            <a:endParaRPr lang="en-US" sz="4400" dirty="0"/>
          </a:p>
        </p:txBody>
      </p:sp>
      <p:sp>
        <p:nvSpPr>
          <p:cNvPr id="4" name="Text 2"/>
          <p:cNvSpPr txBox="1"/>
          <p:nvPr/>
        </p:nvSpPr>
        <p:spPr>
          <a:xfrm>
            <a:off x="411480" y="1325880"/>
            <a:ext cx="5943600" cy="32004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Scenario Analysis</a:t>
            </a:r>
            <a:endParaRPr lang="en-US" sz="1400" dirty="0"/>
          </a:p>
        </p:txBody>
      </p:sp>
      <p:sp>
        <p:nvSpPr>
          <p:cNvPr id="5" name="Shape 3"/>
          <p:cNvSpPr/>
          <p:nvPr/>
        </p:nvSpPr>
        <p:spPr>
          <a:xfrm>
            <a:off x="411480" y="2011680"/>
            <a:ext cx="457200" cy="457200"/>
          </a:xfrm>
          <a:prstGeom prst="rect">
            <a:avLst/>
          </a:prstGeom>
          <a:solidFill>
            <a:srgbClr val="C7F8FB"/>
          </a:solidFill>
          <a:ln/>
        </p:spPr>
      </p:sp>
      <p:sp>
        <p:nvSpPr>
          <p:cNvPr id="6" name="Text 4"/>
          <p:cNvSpPr txBox="1"/>
          <p:nvPr/>
        </p:nvSpPr>
        <p:spPr>
          <a:xfrm>
            <a:off x="411480" y="201168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1</a:t>
            </a:r>
            <a:endParaRPr lang="en-US" sz="1500" dirty="0"/>
          </a:p>
        </p:txBody>
      </p:sp>
      <p:sp>
        <p:nvSpPr>
          <p:cNvPr id="7" name="Shape 5"/>
          <p:cNvSpPr/>
          <p:nvPr/>
        </p:nvSpPr>
        <p:spPr>
          <a:xfrm>
            <a:off x="941832" y="2011680"/>
            <a:ext cx="4343400" cy="457200"/>
          </a:xfrm>
          <a:prstGeom prst="rect">
            <a:avLst/>
          </a:prstGeom>
          <a:solidFill>
            <a:srgbClr val="F4F4F4"/>
          </a:solidFill>
          <a:ln/>
        </p:spPr>
      </p:sp>
      <p:sp>
        <p:nvSpPr>
          <p:cNvPr id="8" name="Text 6"/>
          <p:cNvSpPr txBox="1"/>
          <p:nvPr/>
        </p:nvSpPr>
        <p:spPr>
          <a:xfrm>
            <a:off x="1097280" y="201168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什么是情景分析法</a:t>
            </a:r>
            <a:endParaRPr lang="en-US" sz="1350" dirty="0"/>
          </a:p>
        </p:txBody>
      </p:sp>
      <p:sp>
        <p:nvSpPr>
          <p:cNvPr id="9" name="Shape 7"/>
          <p:cNvSpPr/>
          <p:nvPr/>
        </p:nvSpPr>
        <p:spPr>
          <a:xfrm>
            <a:off x="411480" y="2560320"/>
            <a:ext cx="457200" cy="457200"/>
          </a:xfrm>
          <a:prstGeom prst="rect">
            <a:avLst/>
          </a:prstGeom>
          <a:solidFill>
            <a:srgbClr val="FFC9C1"/>
          </a:solidFill>
          <a:ln/>
        </p:spPr>
      </p:sp>
      <p:sp>
        <p:nvSpPr>
          <p:cNvPr id="10" name="Text 8"/>
          <p:cNvSpPr txBox="1"/>
          <p:nvPr/>
        </p:nvSpPr>
        <p:spPr>
          <a:xfrm>
            <a:off x="411480" y="256032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2</a:t>
            </a:r>
            <a:endParaRPr lang="en-US" sz="1500" dirty="0"/>
          </a:p>
        </p:txBody>
      </p:sp>
      <p:sp>
        <p:nvSpPr>
          <p:cNvPr id="11" name="Shape 9"/>
          <p:cNvSpPr/>
          <p:nvPr/>
        </p:nvSpPr>
        <p:spPr>
          <a:xfrm>
            <a:off x="941832" y="2560320"/>
            <a:ext cx="4343400" cy="457200"/>
          </a:xfrm>
          <a:prstGeom prst="rect">
            <a:avLst/>
          </a:prstGeom>
          <a:solidFill>
            <a:srgbClr val="F4F4F4"/>
          </a:solidFill>
          <a:ln/>
        </p:spPr>
      </p:sp>
      <p:sp>
        <p:nvSpPr>
          <p:cNvPr id="12" name="Text 10"/>
          <p:cNvSpPr txBox="1"/>
          <p:nvPr/>
        </p:nvSpPr>
        <p:spPr>
          <a:xfrm>
            <a:off x="1097280" y="256032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情景分析法的应用 · 撰写情景故事</a:t>
            </a:r>
            <a:endParaRPr lang="en-US" sz="1350" dirty="0"/>
          </a:p>
        </p:txBody>
      </p:sp>
      <p:sp>
        <p:nvSpPr>
          <p:cNvPr id="13" name="Shape 11"/>
          <p:cNvSpPr/>
          <p:nvPr/>
        </p:nvSpPr>
        <p:spPr>
          <a:xfrm>
            <a:off x="411480" y="3108960"/>
            <a:ext cx="457200" cy="457200"/>
          </a:xfrm>
          <a:prstGeom prst="rect">
            <a:avLst/>
          </a:prstGeom>
          <a:solidFill>
            <a:srgbClr val="D9D4FF"/>
          </a:solidFill>
          <a:ln/>
        </p:spPr>
      </p:sp>
      <p:sp>
        <p:nvSpPr>
          <p:cNvPr id="14" name="Text 12"/>
          <p:cNvSpPr txBox="1"/>
          <p:nvPr/>
        </p:nvSpPr>
        <p:spPr>
          <a:xfrm>
            <a:off x="411480" y="310896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3</a:t>
            </a:r>
            <a:endParaRPr lang="en-US" sz="1500" dirty="0"/>
          </a:p>
        </p:txBody>
      </p:sp>
      <p:sp>
        <p:nvSpPr>
          <p:cNvPr id="15" name="Shape 13"/>
          <p:cNvSpPr/>
          <p:nvPr/>
        </p:nvSpPr>
        <p:spPr>
          <a:xfrm>
            <a:off x="941832" y="3108960"/>
            <a:ext cx="4343400" cy="457200"/>
          </a:xfrm>
          <a:prstGeom prst="rect">
            <a:avLst/>
          </a:prstGeom>
          <a:solidFill>
            <a:srgbClr val="F4F4F4"/>
          </a:solidFill>
          <a:ln/>
        </p:spPr>
      </p:sp>
      <p:sp>
        <p:nvSpPr>
          <p:cNvPr id="16" name="Text 14"/>
          <p:cNvSpPr txBox="1"/>
          <p:nvPr/>
        </p:nvSpPr>
        <p:spPr>
          <a:xfrm>
            <a:off x="1097280" y="310896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B端产品在使用情景法上的注意事项</a:t>
            </a:r>
            <a:endParaRPr lang="en-US" sz="1350" dirty="0"/>
          </a:p>
        </p:txBody>
      </p:sp>
      <p:sp>
        <p:nvSpPr>
          <p:cNvPr id="17" name="Shape 15"/>
          <p:cNvSpPr/>
          <p:nvPr/>
        </p:nvSpPr>
        <p:spPr>
          <a:xfrm>
            <a:off x="411480" y="3657600"/>
            <a:ext cx="457200" cy="457200"/>
          </a:xfrm>
          <a:prstGeom prst="rect">
            <a:avLst/>
          </a:prstGeom>
          <a:solidFill>
            <a:srgbClr val="C9F5C0"/>
          </a:solidFill>
          <a:ln/>
        </p:spPr>
      </p:sp>
      <p:sp>
        <p:nvSpPr>
          <p:cNvPr id="18" name="Text 16"/>
          <p:cNvSpPr txBox="1"/>
          <p:nvPr/>
        </p:nvSpPr>
        <p:spPr>
          <a:xfrm>
            <a:off x="411480" y="365760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4</a:t>
            </a:r>
            <a:endParaRPr lang="en-US" sz="1500" dirty="0"/>
          </a:p>
        </p:txBody>
      </p:sp>
      <p:sp>
        <p:nvSpPr>
          <p:cNvPr id="19" name="Shape 17"/>
          <p:cNvSpPr/>
          <p:nvPr/>
        </p:nvSpPr>
        <p:spPr>
          <a:xfrm>
            <a:off x="941832" y="3657600"/>
            <a:ext cx="4343400" cy="457200"/>
          </a:xfrm>
          <a:prstGeom prst="rect">
            <a:avLst/>
          </a:prstGeom>
          <a:solidFill>
            <a:srgbClr val="F4F4F4"/>
          </a:solidFill>
          <a:ln/>
        </p:spPr>
      </p:sp>
      <p:sp>
        <p:nvSpPr>
          <p:cNvPr id="20" name="Text 18"/>
          <p:cNvSpPr txBox="1"/>
          <p:nvPr/>
        </p:nvSpPr>
        <p:spPr>
          <a:xfrm>
            <a:off x="1097280" y="365760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情景法的优缺点</a:t>
            </a:r>
            <a:endParaRPr lang="en-US" sz="1350" dirty="0"/>
          </a:p>
        </p:txBody>
      </p:sp>
      <p:sp>
        <p:nvSpPr>
          <p:cNvPr id="21" name="Shape 19"/>
          <p:cNvSpPr/>
          <p:nvPr/>
        </p:nvSpPr>
        <p:spPr>
          <a:xfrm>
            <a:off x="411480" y="4818888"/>
            <a:ext cx="77724" cy="77724"/>
          </a:xfrm>
          <a:prstGeom prst="ellipse">
            <a:avLst/>
          </a:prstGeom>
          <a:solidFill>
            <a:srgbClr val="4D49FC"/>
          </a:solidFill>
          <a:ln/>
        </p:spPr>
      </p:sp>
      <p:sp>
        <p:nvSpPr>
          <p:cNvPr id="22" name="Shape 20"/>
          <p:cNvSpPr/>
          <p:nvPr/>
        </p:nvSpPr>
        <p:spPr>
          <a:xfrm>
            <a:off x="507492" y="4818888"/>
            <a:ext cx="77724" cy="77724"/>
          </a:xfrm>
          <a:prstGeom prst="ellipse">
            <a:avLst/>
          </a:prstGeom>
          <a:solidFill>
            <a:srgbClr val="4D49FC"/>
          </a:solidFill>
          <a:ln/>
        </p:spPr>
      </p:sp>
      <p:sp>
        <p:nvSpPr>
          <p:cNvPr id="23" name="Shape 21"/>
          <p:cNvSpPr/>
          <p:nvPr/>
        </p:nvSpPr>
        <p:spPr>
          <a:xfrm>
            <a:off x="411480" y="4914900"/>
            <a:ext cx="77724" cy="77724"/>
          </a:xfrm>
          <a:prstGeom prst="ellipse">
            <a:avLst/>
          </a:prstGeom>
          <a:solidFill>
            <a:srgbClr val="4D49FC"/>
          </a:solidFill>
          <a:ln/>
        </p:spPr>
      </p:sp>
      <p:sp>
        <p:nvSpPr>
          <p:cNvPr id="24" name="Shape 22"/>
          <p:cNvSpPr/>
          <p:nvPr/>
        </p:nvSpPr>
        <p:spPr>
          <a:xfrm>
            <a:off x="507492" y="4914900"/>
            <a:ext cx="77724" cy="77724"/>
          </a:xfrm>
          <a:prstGeom prst="ellipse">
            <a:avLst/>
          </a:prstGeom>
          <a:solidFill>
            <a:srgbClr val="4D49FC"/>
          </a:solidFill>
          <a:ln/>
        </p:spPr>
      </p:sp>
      <p:sp>
        <p:nvSpPr>
          <p:cNvPr id="25" name="Text 23"/>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26" name="Text 24"/>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03</a:t>
            </a:r>
            <a:endParaRPr lang="en-US" sz="750" dirty="0"/>
          </a:p>
        </p:txBody>
      </p:sp>
      <p:pic>
        <p:nvPicPr>
          <p:cNvPr id="27" name="Image 0" descr="decorative collage">    </p:cNvPr>
          <p:cNvPicPr>
            <a:picLocks noChangeAspect="1"/>
          </p:cNvPicPr>
          <p:nvPr/>
        </p:nvPicPr>
        <p:blipFill>
          <a:blip r:embed="rId1"/>
          <a:stretch>
            <a:fillRect/>
          </a:stretch>
        </p:blipFill>
        <p:spPr>
          <a:xfrm>
            <a:off x="5740514" y="1783080"/>
            <a:ext cx="2992006" cy="29260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情景分析法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什么是情景分析法</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What is Scenario Analysis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04</a:t>
            </a:r>
            <a:endParaRPr lang="en-US" sz="750" dirty="0"/>
          </a:p>
        </p:txBody>
      </p:sp>
      <p:sp>
        <p:nvSpPr>
          <p:cNvPr id="11" name="Shape 9"/>
          <p:cNvSpPr/>
          <p:nvPr/>
        </p:nvSpPr>
        <p:spPr>
          <a:xfrm>
            <a:off x="3813048" y="1188720"/>
            <a:ext cx="4919472" cy="1636776"/>
          </a:xfrm>
          <a:prstGeom prst="roundRect">
            <a:avLst>
              <a:gd name="adj" fmla="val 5587"/>
            </a:avLst>
          </a:prstGeom>
          <a:solidFill>
            <a:srgbClr val="C7F8FB"/>
          </a:solidFill>
          <a:ln/>
        </p:spPr>
      </p:sp>
      <p:sp>
        <p:nvSpPr>
          <p:cNvPr id="12" name="Text 10"/>
          <p:cNvSpPr txBox="1"/>
          <p:nvPr/>
        </p:nvSpPr>
        <p:spPr>
          <a:xfrm>
            <a:off x="4041648" y="1353312"/>
            <a:ext cx="914400" cy="411480"/>
          </a:xfrm>
          <a:prstGeom prst="rect">
            <a:avLst/>
          </a:prstGeom>
          <a:noFill/>
          <a:ln/>
        </p:spPr>
        <p:txBody>
          <a:bodyPr wrap="square" lIns="0" tIns="0" rIns="0" bIns="0" rtlCol="0" anchor="t"/>
          <a:lstStyle/>
          <a:p>
            <a:pPr indent="0" marL="0">
              <a:buNone/>
            </a:pPr>
            <a:r>
              <a:rPr lang="en-US" sz="1400" b="1" dirty="0">
                <a:solidFill>
                  <a:srgbClr val="111111"/>
                </a:solidFill>
                <a:latin typeface="Arial" pitchFamily="34" charset="0"/>
                <a:ea typeface="Arial" pitchFamily="34" charset="-122"/>
                <a:cs typeface="Arial" pitchFamily="34" charset="-120"/>
              </a:rPr>
              <a:t>01</a:t>
            </a:r>
            <a:endParaRPr lang="en-US" sz="1400" dirty="0"/>
          </a:p>
        </p:txBody>
      </p:sp>
      <p:sp>
        <p:nvSpPr>
          <p:cNvPr id="13" name="Text 11"/>
          <p:cNvSpPr txBox="1"/>
          <p:nvPr/>
        </p:nvSpPr>
        <p:spPr>
          <a:xfrm>
            <a:off x="4041648" y="1673352"/>
            <a:ext cx="4507992" cy="384048"/>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情景分析法的定义</a:t>
            </a:r>
            <a:endParaRPr lang="en-US" sz="1600" dirty="0"/>
          </a:p>
        </p:txBody>
      </p:sp>
      <p:sp>
        <p:nvSpPr>
          <p:cNvPr id="14" name="Text 12"/>
          <p:cNvSpPr txBox="1"/>
          <p:nvPr/>
        </p:nvSpPr>
        <p:spPr>
          <a:xfrm>
            <a:off x="4041648" y="2130552"/>
            <a:ext cx="4507992" cy="603504"/>
          </a:xfrm>
          <a:prstGeom prst="rect">
            <a:avLst/>
          </a:prstGeom>
          <a:noFill/>
          <a:ln/>
        </p:spPr>
        <p:txBody>
          <a:bodyPr wrap="square" lIns="0" tIns="0" rIns="0" bIns="0" rtlCol="0" anchor="t"/>
          <a:lstStyle/>
          <a:p>
            <a:pPr indent="0" marL="0">
              <a:lnSpc>
                <a:spcPct val="135000"/>
              </a:lnSpc>
              <a:spcAft>
                <a:spcPts val="500"/>
              </a:spcAft>
              <a:buNone/>
            </a:pPr>
            <a:r>
              <a:rPr lang="en-US" sz="1400" dirty="0">
                <a:solidFill>
                  <a:srgbClr val="111111"/>
                </a:solidFill>
                <a:latin typeface="Microsoft YaHei" pitchFamily="34" charset="0"/>
                <a:ea typeface="Microsoft YaHei" pitchFamily="34" charset="-122"/>
                <a:cs typeface="Microsoft YaHei" pitchFamily="34" charset="-120"/>
              </a:rPr>
              <a:t>情景分析法是一种通过构建和描述用户在特定情境中使用产品的过程来分析用户行为的方法。</a:t>
            </a:r>
            <a:endParaRPr lang="en-US" sz="1400" dirty="0"/>
          </a:p>
        </p:txBody>
      </p:sp>
      <p:sp>
        <p:nvSpPr>
          <p:cNvPr id="15" name="Shape 13"/>
          <p:cNvSpPr/>
          <p:nvPr/>
        </p:nvSpPr>
        <p:spPr>
          <a:xfrm>
            <a:off x="3813048" y="2935224"/>
            <a:ext cx="4919472" cy="1636776"/>
          </a:xfrm>
          <a:prstGeom prst="roundRect">
            <a:avLst>
              <a:gd name="adj" fmla="val 5587"/>
            </a:avLst>
          </a:prstGeom>
          <a:solidFill>
            <a:srgbClr val="F4F4F4"/>
          </a:solidFill>
          <a:ln/>
        </p:spPr>
      </p:sp>
      <p:sp>
        <p:nvSpPr>
          <p:cNvPr id="16" name="Text 14"/>
          <p:cNvSpPr txBox="1"/>
          <p:nvPr/>
        </p:nvSpPr>
        <p:spPr>
          <a:xfrm>
            <a:off x="4041648" y="3099816"/>
            <a:ext cx="914400" cy="411480"/>
          </a:xfrm>
          <a:prstGeom prst="rect">
            <a:avLst/>
          </a:prstGeom>
          <a:noFill/>
          <a:ln/>
        </p:spPr>
        <p:txBody>
          <a:bodyPr wrap="square" lIns="0" tIns="0" rIns="0" bIns="0" rtlCol="0" anchor="t"/>
          <a:lstStyle/>
          <a:p>
            <a:pPr indent="0" marL="0">
              <a:buNone/>
            </a:pPr>
            <a:r>
              <a:rPr lang="en-US" sz="1400" b="1" dirty="0">
                <a:solidFill>
                  <a:srgbClr val="111111"/>
                </a:solidFill>
                <a:latin typeface="Arial" pitchFamily="34" charset="0"/>
                <a:ea typeface="Arial" pitchFamily="34" charset="-122"/>
                <a:cs typeface="Arial" pitchFamily="34" charset="-120"/>
              </a:rPr>
              <a:t>02</a:t>
            </a:r>
            <a:endParaRPr lang="en-US" sz="1400" dirty="0"/>
          </a:p>
        </p:txBody>
      </p:sp>
      <p:sp>
        <p:nvSpPr>
          <p:cNvPr id="17" name="Text 15"/>
          <p:cNvSpPr txBox="1"/>
          <p:nvPr/>
        </p:nvSpPr>
        <p:spPr>
          <a:xfrm>
            <a:off x="4041648" y="3419856"/>
            <a:ext cx="4507992" cy="384048"/>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情景分析法的核心</a:t>
            </a:r>
            <a:endParaRPr lang="en-US" sz="1600" dirty="0"/>
          </a:p>
        </p:txBody>
      </p:sp>
      <p:sp>
        <p:nvSpPr>
          <p:cNvPr id="18" name="Text 16"/>
          <p:cNvSpPr txBox="1"/>
          <p:nvPr/>
        </p:nvSpPr>
        <p:spPr>
          <a:xfrm>
            <a:off x="4041648" y="3877056"/>
            <a:ext cx="4507992" cy="603504"/>
          </a:xfrm>
          <a:prstGeom prst="rect">
            <a:avLst/>
          </a:prstGeom>
          <a:noFill/>
          <a:ln/>
        </p:spPr>
        <p:txBody>
          <a:bodyPr wrap="square" lIns="0" tIns="0" rIns="0" bIns="0" rtlCol="0" anchor="t"/>
          <a:lstStyle/>
          <a:p>
            <a:pPr indent="0" marL="0">
              <a:lnSpc>
                <a:spcPct val="135000"/>
              </a:lnSpc>
              <a:spcAft>
                <a:spcPts val="500"/>
              </a:spcAft>
              <a:buNone/>
            </a:pPr>
            <a:r>
              <a:rPr lang="en-US" sz="1400" dirty="0">
                <a:solidFill>
                  <a:srgbClr val="111111"/>
                </a:solidFill>
                <a:latin typeface="Microsoft YaHei" pitchFamily="34" charset="0"/>
                <a:ea typeface="Microsoft YaHei" pitchFamily="34" charset="-122"/>
                <a:cs typeface="Microsoft YaHei" pitchFamily="34" charset="-120"/>
              </a:rPr>
              <a:t>情景分析法的核心在于将用户置于真实或模拟的使用场景中，以观察其自然的行为反应。</a:t>
            </a:r>
            <a:endParaRPr lang="en-US" sz="1400" dirty="0"/>
          </a:p>
        </p:txBody>
      </p:sp>
      <p:pic>
        <p:nvPicPr>
          <p:cNvPr id="19" name="Image 0" descr="p04_5">    </p:cNvPr>
          <p:cNvPicPr>
            <a:picLocks noChangeAspect="1"/>
          </p:cNvPicPr>
          <p:nvPr/>
        </p:nvPicPr>
        <p:blipFill>
          <a:blip r:embed="rId1"/>
          <a:stretch>
            <a:fillRect/>
          </a:stretch>
        </p:blipFill>
        <p:spPr>
          <a:xfrm>
            <a:off x="411480" y="1188720"/>
            <a:ext cx="3291840" cy="33832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情景分析法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情景分析法的应用</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Applications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05</a:t>
            </a:r>
            <a:endParaRPr lang="en-US" sz="750" dirty="0"/>
          </a:p>
        </p:txBody>
      </p:sp>
      <p:sp>
        <p:nvSpPr>
          <p:cNvPr id="11" name="Shape 9"/>
          <p:cNvSpPr/>
          <p:nvPr/>
        </p:nvSpPr>
        <p:spPr>
          <a:xfrm>
            <a:off x="3813048" y="1188720"/>
            <a:ext cx="4919472" cy="1636776"/>
          </a:xfrm>
          <a:prstGeom prst="roundRect">
            <a:avLst>
              <a:gd name="adj" fmla="val 5587"/>
            </a:avLst>
          </a:prstGeom>
          <a:solidFill>
            <a:srgbClr val="F4F4F4"/>
          </a:solidFill>
          <a:ln/>
        </p:spPr>
      </p:sp>
      <p:sp>
        <p:nvSpPr>
          <p:cNvPr id="12" name="Text 10"/>
          <p:cNvSpPr txBox="1"/>
          <p:nvPr/>
        </p:nvSpPr>
        <p:spPr>
          <a:xfrm>
            <a:off x="4041648" y="1353312"/>
            <a:ext cx="914400" cy="411480"/>
          </a:xfrm>
          <a:prstGeom prst="rect">
            <a:avLst/>
          </a:prstGeom>
          <a:noFill/>
          <a:ln/>
        </p:spPr>
        <p:txBody>
          <a:bodyPr wrap="square" lIns="0" tIns="0" rIns="0" bIns="0" rtlCol="0" anchor="t"/>
          <a:lstStyle/>
          <a:p>
            <a:pPr indent="0" marL="0">
              <a:buNone/>
            </a:pPr>
            <a:r>
              <a:rPr lang="en-US" sz="1400" b="1" dirty="0">
                <a:solidFill>
                  <a:srgbClr val="111111"/>
                </a:solidFill>
                <a:latin typeface="Arial" pitchFamily="34" charset="0"/>
                <a:ea typeface="Arial" pitchFamily="34" charset="-122"/>
                <a:cs typeface="Arial" pitchFamily="34" charset="-120"/>
              </a:rPr>
              <a:t>01</a:t>
            </a:r>
            <a:endParaRPr lang="en-US" sz="1400" dirty="0"/>
          </a:p>
        </p:txBody>
      </p:sp>
      <p:sp>
        <p:nvSpPr>
          <p:cNvPr id="13" name="Text 11"/>
          <p:cNvSpPr txBox="1"/>
          <p:nvPr/>
        </p:nvSpPr>
        <p:spPr>
          <a:xfrm>
            <a:off x="4041648" y="1673352"/>
            <a:ext cx="4507992" cy="384048"/>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情景分析法的应用范围</a:t>
            </a:r>
            <a:endParaRPr lang="en-US" sz="1600" dirty="0"/>
          </a:p>
        </p:txBody>
      </p:sp>
      <p:sp>
        <p:nvSpPr>
          <p:cNvPr id="14" name="Text 12"/>
          <p:cNvSpPr txBox="1"/>
          <p:nvPr/>
        </p:nvSpPr>
        <p:spPr>
          <a:xfrm>
            <a:off x="4041648" y="2130552"/>
            <a:ext cx="4507992" cy="603504"/>
          </a:xfrm>
          <a:prstGeom prst="rect">
            <a:avLst/>
          </a:prstGeom>
          <a:noFill/>
          <a:ln/>
        </p:spPr>
        <p:txBody>
          <a:bodyPr wrap="square" lIns="0" tIns="0" rIns="0" bIns="0" rtlCol="0" anchor="t"/>
          <a:lstStyle/>
          <a:p>
            <a:pPr indent="0" marL="0">
              <a:lnSpc>
                <a:spcPct val="135000"/>
              </a:lnSpc>
              <a:spcAft>
                <a:spcPts val="500"/>
              </a:spcAft>
              <a:buNone/>
            </a:pPr>
            <a:r>
              <a:rPr lang="en-US" sz="1350" dirty="0">
                <a:solidFill>
                  <a:srgbClr val="111111"/>
                </a:solidFill>
                <a:latin typeface="Microsoft YaHei" pitchFamily="34" charset="0"/>
                <a:ea typeface="Microsoft YaHei" pitchFamily="34" charset="-122"/>
                <a:cs typeface="Microsoft YaHei" pitchFamily="34" charset="-120"/>
              </a:rPr>
              <a:t>情景分析法的应用范围非常广泛，从产品设计到服务优化，均可使用情景分析来探索用户需求。</a:t>
            </a:r>
            <a:endParaRPr lang="en-US" sz="1350" dirty="0"/>
          </a:p>
        </p:txBody>
      </p:sp>
      <p:sp>
        <p:nvSpPr>
          <p:cNvPr id="15" name="Shape 13"/>
          <p:cNvSpPr/>
          <p:nvPr/>
        </p:nvSpPr>
        <p:spPr>
          <a:xfrm>
            <a:off x="3813048" y="2935224"/>
            <a:ext cx="4919472" cy="1636776"/>
          </a:xfrm>
          <a:prstGeom prst="roundRect">
            <a:avLst>
              <a:gd name="adj" fmla="val 5587"/>
            </a:avLst>
          </a:prstGeom>
          <a:solidFill>
            <a:srgbClr val="111111"/>
          </a:solidFill>
          <a:ln/>
        </p:spPr>
      </p:sp>
      <p:sp>
        <p:nvSpPr>
          <p:cNvPr id="16" name="Text 14"/>
          <p:cNvSpPr txBox="1"/>
          <p:nvPr/>
        </p:nvSpPr>
        <p:spPr>
          <a:xfrm>
            <a:off x="4041648" y="3099816"/>
            <a:ext cx="914400" cy="411480"/>
          </a:xfrm>
          <a:prstGeom prst="rect">
            <a:avLst/>
          </a:prstGeom>
          <a:noFill/>
          <a:ln/>
        </p:spPr>
        <p:txBody>
          <a:bodyPr wrap="square" lIns="0" tIns="0" rIns="0" bIns="0" rtlCol="0" anchor="t"/>
          <a:lstStyle/>
          <a:p>
            <a:pPr indent="0" marL="0">
              <a:buNone/>
            </a:pPr>
            <a:r>
              <a:rPr lang="en-US" sz="1400" b="1" dirty="0">
                <a:solidFill>
                  <a:srgbClr val="C7F8FB"/>
                </a:solidFill>
                <a:latin typeface="Arial" pitchFamily="34" charset="0"/>
                <a:ea typeface="Arial" pitchFamily="34" charset="-122"/>
                <a:cs typeface="Arial" pitchFamily="34" charset="-120"/>
              </a:rPr>
              <a:t>02</a:t>
            </a:r>
            <a:endParaRPr lang="en-US" sz="1400" dirty="0"/>
          </a:p>
        </p:txBody>
      </p:sp>
      <p:sp>
        <p:nvSpPr>
          <p:cNvPr id="17" name="Text 15"/>
          <p:cNvSpPr txBox="1"/>
          <p:nvPr/>
        </p:nvSpPr>
        <p:spPr>
          <a:xfrm>
            <a:off x="4041648" y="3419856"/>
            <a:ext cx="4507992" cy="384048"/>
          </a:xfrm>
          <a:prstGeom prst="rect">
            <a:avLst/>
          </a:prstGeom>
          <a:noFill/>
          <a:ln/>
        </p:spPr>
        <p:txBody>
          <a:bodyPr wrap="square" lIns="0" tIns="0" rIns="0" bIns="0"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情景分析法在产品设计中的应用</a:t>
            </a:r>
            <a:endParaRPr lang="en-US" sz="1600" dirty="0"/>
          </a:p>
        </p:txBody>
      </p:sp>
      <p:sp>
        <p:nvSpPr>
          <p:cNvPr id="18" name="Text 16"/>
          <p:cNvSpPr txBox="1"/>
          <p:nvPr/>
        </p:nvSpPr>
        <p:spPr>
          <a:xfrm>
            <a:off x="4041648" y="3877056"/>
            <a:ext cx="4507992" cy="603504"/>
          </a:xfrm>
          <a:prstGeom prst="rect">
            <a:avLst/>
          </a:prstGeom>
          <a:noFill/>
          <a:ln/>
        </p:spPr>
        <p:txBody>
          <a:bodyPr wrap="square" lIns="0" tIns="0" rIns="0" bIns="0" rtlCol="0" anchor="t"/>
          <a:lstStyle/>
          <a:p>
            <a:pPr indent="0" marL="0">
              <a:lnSpc>
                <a:spcPct val="135000"/>
              </a:lnSpc>
              <a:spcAft>
                <a:spcPts val="500"/>
              </a:spcAft>
              <a:buNone/>
            </a:pPr>
            <a:r>
              <a:rPr lang="en-US" sz="1350" dirty="0">
                <a:solidFill>
                  <a:srgbClr val="FFFFFF"/>
                </a:solidFill>
                <a:latin typeface="Microsoft YaHei" pitchFamily="34" charset="0"/>
                <a:ea typeface="Microsoft YaHei" pitchFamily="34" charset="-122"/>
                <a:cs typeface="Microsoft YaHei" pitchFamily="34" charset="-120"/>
              </a:rPr>
              <a:t>例如，在一个移动应用的设计中，研究者可以通过情景分析法模拟用户在地铁、家中等场所使用应用的过程。</a:t>
            </a:r>
            <a:endParaRPr lang="en-US" sz="1350" dirty="0"/>
          </a:p>
        </p:txBody>
      </p:sp>
      <p:pic>
        <p:nvPicPr>
          <p:cNvPr id="19" name="Image 0" descr="p05_0">    </p:cNvPr>
          <p:cNvPicPr>
            <a:picLocks noChangeAspect="1"/>
          </p:cNvPicPr>
          <p:nvPr/>
        </p:nvPicPr>
        <p:blipFill>
          <a:blip r:embed="rId1"/>
          <a:stretch>
            <a:fillRect/>
          </a:stretch>
        </p:blipFill>
        <p:spPr>
          <a:xfrm>
            <a:off x="411480" y="1188720"/>
            <a:ext cx="3291840" cy="33832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情景分析法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撰写情景故事</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Writing Scenario Stories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06</a:t>
            </a:r>
            <a:endParaRPr lang="en-US" sz="750" dirty="0"/>
          </a:p>
        </p:txBody>
      </p:sp>
      <p:pic>
        <p:nvPicPr>
          <p:cNvPr id="11" name="Image 0" descr="p06_0">    </p:cNvPr>
          <p:cNvPicPr>
            <a:picLocks noChangeAspect="1"/>
          </p:cNvPicPr>
          <p:nvPr/>
        </p:nvPicPr>
        <p:blipFill>
          <a:blip r:embed="rId1"/>
          <a:stretch>
            <a:fillRect/>
          </a:stretch>
        </p:blipFill>
        <p:spPr>
          <a:xfrm>
            <a:off x="6400800" y="1282922"/>
            <a:ext cx="2331720" cy="3194876"/>
          </a:xfrm>
          <a:prstGeom prst="rect">
            <a:avLst/>
          </a:prstGeom>
        </p:spPr>
      </p:pic>
      <p:sp>
        <p:nvSpPr>
          <p:cNvPr id="12" name="Shape 9"/>
          <p:cNvSpPr/>
          <p:nvPr/>
        </p:nvSpPr>
        <p:spPr>
          <a:xfrm>
            <a:off x="411480" y="1188720"/>
            <a:ext cx="5852160" cy="1463040"/>
          </a:xfrm>
          <a:prstGeom prst="roundRect">
            <a:avLst>
              <a:gd name="adj" fmla="val 6250"/>
            </a:avLst>
          </a:prstGeom>
          <a:solidFill>
            <a:srgbClr val="111111"/>
          </a:solidFill>
          <a:ln/>
        </p:spPr>
      </p:sp>
      <p:sp>
        <p:nvSpPr>
          <p:cNvPr id="13" name="Text 10"/>
          <p:cNvSpPr txBox="1"/>
          <p:nvPr/>
        </p:nvSpPr>
        <p:spPr>
          <a:xfrm>
            <a:off x="685800" y="1298448"/>
            <a:ext cx="5303520" cy="365760"/>
          </a:xfrm>
          <a:prstGeom prst="rect">
            <a:avLst/>
          </a:prstGeom>
          <a:noFill/>
          <a:ln/>
        </p:spPr>
        <p:txBody>
          <a:bodyPr wrap="square" lIns="0" tIns="0" rIns="0" bIns="0" rtlCol="0" anchor="ctr"/>
          <a:lstStyle/>
          <a:p>
            <a:pPr indent="0" marL="0">
              <a:buNone/>
            </a:pPr>
            <a:r>
              <a:rPr lang="en-US" sz="1500" b="1" dirty="0">
                <a:solidFill>
                  <a:srgbClr val="C7F8FB"/>
                </a:solidFill>
                <a:latin typeface="Microsoft YaHei" pitchFamily="34" charset="0"/>
                <a:ea typeface="Microsoft YaHei" pitchFamily="34" charset="-122"/>
                <a:cs typeface="Microsoft YaHei" pitchFamily="34" charset="-120"/>
              </a:rPr>
              <a:t>情景故事的重要性</a:t>
            </a:r>
            <a:endParaRPr lang="en-US" sz="1500" dirty="0"/>
          </a:p>
        </p:txBody>
      </p:sp>
      <p:sp>
        <p:nvSpPr>
          <p:cNvPr id="14" name="Text 11"/>
          <p:cNvSpPr txBox="1"/>
          <p:nvPr/>
        </p:nvSpPr>
        <p:spPr>
          <a:xfrm>
            <a:off x="685800" y="1737360"/>
            <a:ext cx="5303520" cy="822960"/>
          </a:xfrm>
          <a:prstGeom prst="rect">
            <a:avLst/>
          </a:prstGeom>
          <a:noFill/>
          <a:ln/>
        </p:spPr>
        <p:txBody>
          <a:bodyPr wrap="square" lIns="0" tIns="0" rIns="0" bIns="0" rtlCol="0" anchor="t"/>
          <a:lstStyle/>
          <a:p>
            <a:pPr indent="0" marL="0">
              <a:lnSpc>
                <a:spcPct val="140000"/>
              </a:lnSpc>
              <a:buNone/>
            </a:pPr>
            <a:r>
              <a:rPr lang="en-US" sz="1300" dirty="0">
                <a:solidFill>
                  <a:srgbClr val="FFFFFF"/>
                </a:solidFill>
                <a:latin typeface="Microsoft YaHei" pitchFamily="34" charset="0"/>
                <a:ea typeface="Microsoft YaHei" pitchFamily="34" charset="-122"/>
                <a:cs typeface="Microsoft YaHei" pitchFamily="34" charset="-120"/>
              </a:rPr>
              <a:t>情景故事是情景分析法的重要组成部分，通过生动描述用户在特定情境下的使用过程。</a:t>
            </a:r>
            <a:endParaRPr lang="en-US" sz="1300" dirty="0"/>
          </a:p>
        </p:txBody>
      </p:sp>
      <p:sp>
        <p:nvSpPr>
          <p:cNvPr id="15" name="Text 12"/>
          <p:cNvSpPr txBox="1"/>
          <p:nvPr/>
        </p:nvSpPr>
        <p:spPr>
          <a:xfrm>
            <a:off x="411480" y="2761488"/>
            <a:ext cx="5852160" cy="320040"/>
          </a:xfrm>
          <a:prstGeom prst="rect">
            <a:avLst/>
          </a:prstGeom>
          <a:noFill/>
          <a:ln/>
        </p:spPr>
        <p:txBody>
          <a:bodyPr wrap="square" lIns="0" tIns="0" rIns="0" bIns="0" rtlCol="0" anchor="t"/>
          <a:lstStyle/>
          <a:p>
            <a:pPr indent="0" marL="0">
              <a:buNone/>
            </a:pPr>
            <a:r>
              <a:rPr lang="en-US" sz="1200" b="1" dirty="0">
                <a:solidFill>
                  <a:srgbClr val="6B6B6B"/>
                </a:solidFill>
                <a:latin typeface="Microsoft YaHei" pitchFamily="34" charset="0"/>
                <a:ea typeface="Microsoft YaHei" pitchFamily="34" charset="-122"/>
                <a:cs typeface="Microsoft YaHei" pitchFamily="34" charset="-120"/>
              </a:rPr>
              <a:t>情景故事的构成</a:t>
            </a:r>
            <a:endParaRPr lang="en-US" sz="1200" dirty="0"/>
          </a:p>
        </p:txBody>
      </p:sp>
      <p:sp>
        <p:nvSpPr>
          <p:cNvPr id="16" name="Shape 13"/>
          <p:cNvSpPr/>
          <p:nvPr/>
        </p:nvSpPr>
        <p:spPr>
          <a:xfrm>
            <a:off x="411480" y="3127248"/>
            <a:ext cx="1380744" cy="1444752"/>
          </a:xfrm>
          <a:prstGeom prst="roundRect">
            <a:avLst>
              <a:gd name="adj" fmla="val 6623"/>
            </a:avLst>
          </a:prstGeom>
          <a:solidFill>
            <a:srgbClr val="C7F8FB"/>
          </a:solidFill>
          <a:ln/>
        </p:spPr>
      </p:sp>
      <p:sp>
        <p:nvSpPr>
          <p:cNvPr id="17" name="Text 14"/>
          <p:cNvSpPr txBox="1"/>
          <p:nvPr/>
        </p:nvSpPr>
        <p:spPr>
          <a:xfrm>
            <a:off x="548640" y="3218688"/>
            <a:ext cx="914400" cy="365760"/>
          </a:xfrm>
          <a:prstGeom prst="rect">
            <a:avLst/>
          </a:prstGeom>
          <a:noFill/>
          <a:ln/>
        </p:spPr>
        <p:txBody>
          <a:bodyPr wrap="square" lIns="0" tIns="0" rIns="0" bIns="0" rtlCol="0" anchor="t"/>
          <a:lstStyle/>
          <a:p>
            <a:pPr indent="0" marL="0">
              <a:buNone/>
            </a:pPr>
            <a:r>
              <a:rPr lang="en-US" sz="1600" b="1" dirty="0">
                <a:solidFill>
                  <a:srgbClr val="111111"/>
                </a:solidFill>
                <a:latin typeface="Arial" pitchFamily="34" charset="0"/>
                <a:ea typeface="Arial" pitchFamily="34" charset="-122"/>
                <a:cs typeface="Arial" pitchFamily="34" charset="-120"/>
              </a:rPr>
              <a:t>01</a:t>
            </a:r>
            <a:endParaRPr lang="en-US" sz="1600" dirty="0"/>
          </a:p>
        </p:txBody>
      </p:sp>
      <p:sp>
        <p:nvSpPr>
          <p:cNvPr id="18" name="Text 15"/>
          <p:cNvSpPr txBox="1"/>
          <p:nvPr/>
        </p:nvSpPr>
        <p:spPr>
          <a:xfrm>
            <a:off x="548640" y="3657600"/>
            <a:ext cx="1152144" cy="777240"/>
          </a:xfrm>
          <a:prstGeom prst="rect">
            <a:avLst/>
          </a:prstGeom>
          <a:noFill/>
          <a:ln/>
        </p:spPr>
        <p:txBody>
          <a:bodyPr wrap="square" lIns="0" tIns="0" rIns="0" bIns="0" rtlCol="0" anchor="b"/>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用户的背景信息</a:t>
            </a:r>
            <a:endParaRPr lang="en-US" sz="1400" dirty="0"/>
          </a:p>
        </p:txBody>
      </p:sp>
      <p:sp>
        <p:nvSpPr>
          <p:cNvPr id="19" name="Shape 16"/>
          <p:cNvSpPr/>
          <p:nvPr/>
        </p:nvSpPr>
        <p:spPr>
          <a:xfrm>
            <a:off x="1901952" y="3127248"/>
            <a:ext cx="1380744" cy="1444752"/>
          </a:xfrm>
          <a:prstGeom prst="roundRect">
            <a:avLst>
              <a:gd name="adj" fmla="val 6623"/>
            </a:avLst>
          </a:prstGeom>
          <a:solidFill>
            <a:srgbClr val="F4F4F4"/>
          </a:solidFill>
          <a:ln/>
        </p:spPr>
      </p:sp>
      <p:sp>
        <p:nvSpPr>
          <p:cNvPr id="20" name="Text 17"/>
          <p:cNvSpPr txBox="1"/>
          <p:nvPr/>
        </p:nvSpPr>
        <p:spPr>
          <a:xfrm>
            <a:off x="2039112" y="3218688"/>
            <a:ext cx="914400" cy="365760"/>
          </a:xfrm>
          <a:prstGeom prst="rect">
            <a:avLst/>
          </a:prstGeom>
          <a:noFill/>
          <a:ln/>
        </p:spPr>
        <p:txBody>
          <a:bodyPr wrap="square" lIns="0" tIns="0" rIns="0" bIns="0" rtlCol="0" anchor="t"/>
          <a:lstStyle/>
          <a:p>
            <a:pPr indent="0" marL="0">
              <a:buNone/>
            </a:pPr>
            <a:r>
              <a:rPr lang="en-US" sz="1600" b="1" dirty="0">
                <a:solidFill>
                  <a:srgbClr val="111111"/>
                </a:solidFill>
                <a:latin typeface="Arial" pitchFamily="34" charset="0"/>
                <a:ea typeface="Arial" pitchFamily="34" charset="-122"/>
                <a:cs typeface="Arial" pitchFamily="34" charset="-120"/>
              </a:rPr>
              <a:t>02</a:t>
            </a:r>
            <a:endParaRPr lang="en-US" sz="1600" dirty="0"/>
          </a:p>
        </p:txBody>
      </p:sp>
      <p:sp>
        <p:nvSpPr>
          <p:cNvPr id="21" name="Text 18"/>
          <p:cNvSpPr txBox="1"/>
          <p:nvPr/>
        </p:nvSpPr>
        <p:spPr>
          <a:xfrm>
            <a:off x="2039112" y="3657600"/>
            <a:ext cx="1152144" cy="777240"/>
          </a:xfrm>
          <a:prstGeom prst="rect">
            <a:avLst/>
          </a:prstGeom>
          <a:noFill/>
          <a:ln/>
        </p:spPr>
        <p:txBody>
          <a:bodyPr wrap="square" lIns="0" tIns="0" rIns="0" bIns="0" rtlCol="0" anchor="b"/>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情境设定</a:t>
            </a:r>
            <a:endParaRPr lang="en-US" sz="1400" dirty="0"/>
          </a:p>
        </p:txBody>
      </p:sp>
      <p:sp>
        <p:nvSpPr>
          <p:cNvPr id="22" name="Shape 19"/>
          <p:cNvSpPr/>
          <p:nvPr/>
        </p:nvSpPr>
        <p:spPr>
          <a:xfrm>
            <a:off x="3392424" y="3127248"/>
            <a:ext cx="1380744" cy="1444752"/>
          </a:xfrm>
          <a:prstGeom prst="roundRect">
            <a:avLst>
              <a:gd name="adj" fmla="val 6623"/>
            </a:avLst>
          </a:prstGeom>
          <a:solidFill>
            <a:srgbClr val="EBEBEB"/>
          </a:solidFill>
          <a:ln/>
        </p:spPr>
      </p:sp>
      <p:sp>
        <p:nvSpPr>
          <p:cNvPr id="23" name="Text 20"/>
          <p:cNvSpPr txBox="1"/>
          <p:nvPr/>
        </p:nvSpPr>
        <p:spPr>
          <a:xfrm>
            <a:off x="3529584" y="3218688"/>
            <a:ext cx="914400" cy="365760"/>
          </a:xfrm>
          <a:prstGeom prst="rect">
            <a:avLst/>
          </a:prstGeom>
          <a:noFill/>
          <a:ln/>
        </p:spPr>
        <p:txBody>
          <a:bodyPr wrap="square" lIns="0" tIns="0" rIns="0" bIns="0" rtlCol="0" anchor="t"/>
          <a:lstStyle/>
          <a:p>
            <a:pPr indent="0" marL="0">
              <a:buNone/>
            </a:pPr>
            <a:r>
              <a:rPr lang="en-US" sz="1600" b="1" dirty="0">
                <a:solidFill>
                  <a:srgbClr val="111111"/>
                </a:solidFill>
                <a:latin typeface="Arial" pitchFamily="34" charset="0"/>
                <a:ea typeface="Arial" pitchFamily="34" charset="-122"/>
                <a:cs typeface="Arial" pitchFamily="34" charset="-120"/>
              </a:rPr>
              <a:t>03</a:t>
            </a:r>
            <a:endParaRPr lang="en-US" sz="1600" dirty="0"/>
          </a:p>
        </p:txBody>
      </p:sp>
      <p:sp>
        <p:nvSpPr>
          <p:cNvPr id="24" name="Text 21"/>
          <p:cNvSpPr txBox="1"/>
          <p:nvPr/>
        </p:nvSpPr>
        <p:spPr>
          <a:xfrm>
            <a:off x="3529584" y="3657600"/>
            <a:ext cx="1152144" cy="777240"/>
          </a:xfrm>
          <a:prstGeom prst="rect">
            <a:avLst/>
          </a:prstGeom>
          <a:noFill/>
          <a:ln/>
        </p:spPr>
        <p:txBody>
          <a:bodyPr wrap="square" lIns="0" tIns="0" rIns="0" bIns="0" rtlCol="0" anchor="b"/>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任务流程</a:t>
            </a:r>
            <a:endParaRPr lang="en-US" sz="1400" dirty="0"/>
          </a:p>
        </p:txBody>
      </p:sp>
      <p:sp>
        <p:nvSpPr>
          <p:cNvPr id="25" name="Shape 22"/>
          <p:cNvSpPr/>
          <p:nvPr/>
        </p:nvSpPr>
        <p:spPr>
          <a:xfrm>
            <a:off x="4882896" y="3127248"/>
            <a:ext cx="1380744" cy="1444752"/>
          </a:xfrm>
          <a:prstGeom prst="roundRect">
            <a:avLst>
              <a:gd name="adj" fmla="val 6623"/>
            </a:avLst>
          </a:prstGeom>
          <a:solidFill>
            <a:srgbClr val="F4F4F4"/>
          </a:solidFill>
          <a:ln/>
        </p:spPr>
      </p:sp>
      <p:sp>
        <p:nvSpPr>
          <p:cNvPr id="26" name="Text 23"/>
          <p:cNvSpPr txBox="1"/>
          <p:nvPr/>
        </p:nvSpPr>
        <p:spPr>
          <a:xfrm>
            <a:off x="5020056" y="3218688"/>
            <a:ext cx="914400" cy="365760"/>
          </a:xfrm>
          <a:prstGeom prst="rect">
            <a:avLst/>
          </a:prstGeom>
          <a:noFill/>
          <a:ln/>
        </p:spPr>
        <p:txBody>
          <a:bodyPr wrap="square" lIns="0" tIns="0" rIns="0" bIns="0" rtlCol="0" anchor="t"/>
          <a:lstStyle/>
          <a:p>
            <a:pPr indent="0" marL="0">
              <a:buNone/>
            </a:pPr>
            <a:r>
              <a:rPr lang="en-US" sz="1600" b="1" dirty="0">
                <a:solidFill>
                  <a:srgbClr val="111111"/>
                </a:solidFill>
                <a:latin typeface="Arial" pitchFamily="34" charset="0"/>
                <a:ea typeface="Arial" pitchFamily="34" charset="-122"/>
                <a:cs typeface="Arial" pitchFamily="34" charset="-120"/>
              </a:rPr>
              <a:t>04</a:t>
            </a:r>
            <a:endParaRPr lang="en-US" sz="1600" dirty="0"/>
          </a:p>
        </p:txBody>
      </p:sp>
      <p:sp>
        <p:nvSpPr>
          <p:cNvPr id="27" name="Text 24"/>
          <p:cNvSpPr txBox="1"/>
          <p:nvPr/>
        </p:nvSpPr>
        <p:spPr>
          <a:xfrm>
            <a:off x="5020056" y="3657600"/>
            <a:ext cx="1152144" cy="777240"/>
          </a:xfrm>
          <a:prstGeom prst="rect">
            <a:avLst/>
          </a:prstGeom>
          <a:noFill/>
          <a:ln/>
        </p:spPr>
        <p:txBody>
          <a:bodyPr wrap="square" lIns="0" tIns="0" rIns="0" bIns="0" rtlCol="0" anchor="b"/>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用户的情绪反应</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情景分析法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B端产品在使用情景法上的注意事项</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Scenario Analysis for B2B Products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07</a:t>
            </a:r>
            <a:endParaRPr lang="en-US" sz="750" dirty="0"/>
          </a:p>
        </p:txBody>
      </p:sp>
      <p:sp>
        <p:nvSpPr>
          <p:cNvPr id="11" name="Shape 9"/>
          <p:cNvSpPr/>
          <p:nvPr/>
        </p:nvSpPr>
        <p:spPr>
          <a:xfrm>
            <a:off x="411480" y="1188720"/>
            <a:ext cx="5394960" cy="1636776"/>
          </a:xfrm>
          <a:prstGeom prst="roundRect">
            <a:avLst>
              <a:gd name="adj" fmla="val 5587"/>
            </a:avLst>
          </a:prstGeom>
          <a:solidFill>
            <a:srgbClr val="F4F4F4"/>
          </a:solidFill>
          <a:ln/>
        </p:spPr>
      </p:sp>
      <p:sp>
        <p:nvSpPr>
          <p:cNvPr id="12" name="Text 10"/>
          <p:cNvSpPr txBox="1"/>
          <p:nvPr/>
        </p:nvSpPr>
        <p:spPr>
          <a:xfrm>
            <a:off x="640080" y="1353312"/>
            <a:ext cx="914400" cy="411480"/>
          </a:xfrm>
          <a:prstGeom prst="rect">
            <a:avLst/>
          </a:prstGeom>
          <a:noFill/>
          <a:ln/>
        </p:spPr>
        <p:txBody>
          <a:bodyPr wrap="square" lIns="0" tIns="0" rIns="0" bIns="0" rtlCol="0" anchor="t"/>
          <a:lstStyle/>
          <a:p>
            <a:pPr indent="0" marL="0">
              <a:buNone/>
            </a:pPr>
            <a:r>
              <a:rPr lang="en-US" sz="1400" b="1" dirty="0">
                <a:solidFill>
                  <a:srgbClr val="111111"/>
                </a:solidFill>
                <a:latin typeface="Arial" pitchFamily="34" charset="0"/>
                <a:ea typeface="Arial" pitchFamily="34" charset="-122"/>
                <a:cs typeface="Arial" pitchFamily="34" charset="-120"/>
              </a:rPr>
              <a:t>01</a:t>
            </a:r>
            <a:endParaRPr lang="en-US" sz="1400" dirty="0"/>
          </a:p>
        </p:txBody>
      </p:sp>
      <p:sp>
        <p:nvSpPr>
          <p:cNvPr id="13" name="Text 11"/>
          <p:cNvSpPr txBox="1"/>
          <p:nvPr/>
        </p:nvSpPr>
        <p:spPr>
          <a:xfrm>
            <a:off x="640080" y="1673352"/>
            <a:ext cx="4983480" cy="384048"/>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B端产品的特殊需求</a:t>
            </a:r>
            <a:endParaRPr lang="en-US" sz="1600" dirty="0"/>
          </a:p>
        </p:txBody>
      </p:sp>
      <p:sp>
        <p:nvSpPr>
          <p:cNvPr id="14" name="Text 12"/>
          <p:cNvSpPr txBox="1"/>
          <p:nvPr/>
        </p:nvSpPr>
        <p:spPr>
          <a:xfrm>
            <a:off x="640080" y="2130552"/>
            <a:ext cx="4983480" cy="603504"/>
          </a:xfrm>
          <a:prstGeom prst="rect">
            <a:avLst/>
          </a:prstGeom>
          <a:noFill/>
          <a:ln/>
        </p:spPr>
        <p:txBody>
          <a:bodyPr wrap="square" lIns="0" tIns="0" rIns="0" bIns="0" rtlCol="0" anchor="t"/>
          <a:lstStyle/>
          <a:p>
            <a:pPr indent="0" marL="0">
              <a:lnSpc>
                <a:spcPct val="135000"/>
              </a:lnSpc>
              <a:spcAft>
                <a:spcPts val="500"/>
              </a:spcAft>
              <a:buNone/>
            </a:pPr>
            <a:r>
              <a:rPr lang="en-US" sz="1350" dirty="0">
                <a:solidFill>
                  <a:srgbClr val="111111"/>
                </a:solidFill>
                <a:latin typeface="Microsoft YaHei" pitchFamily="34" charset="0"/>
                <a:ea typeface="Microsoft YaHei" pitchFamily="34" charset="-122"/>
                <a:cs typeface="Microsoft YaHei" pitchFamily="34" charset="-120"/>
              </a:rPr>
              <a:t>在B端产品的情景分析中，需要考虑到B端用户的特殊需求，如业务流程的复杂性和专业性。</a:t>
            </a:r>
            <a:endParaRPr lang="en-US" sz="1350" dirty="0"/>
          </a:p>
        </p:txBody>
      </p:sp>
      <p:sp>
        <p:nvSpPr>
          <p:cNvPr id="15" name="Shape 13"/>
          <p:cNvSpPr/>
          <p:nvPr/>
        </p:nvSpPr>
        <p:spPr>
          <a:xfrm>
            <a:off x="411480" y="2935224"/>
            <a:ext cx="5394960" cy="1636776"/>
          </a:xfrm>
          <a:prstGeom prst="roundRect">
            <a:avLst>
              <a:gd name="adj" fmla="val 5587"/>
            </a:avLst>
          </a:prstGeom>
          <a:solidFill>
            <a:srgbClr val="C7F8FB"/>
          </a:solidFill>
          <a:ln/>
        </p:spPr>
      </p:sp>
      <p:sp>
        <p:nvSpPr>
          <p:cNvPr id="16" name="Text 14"/>
          <p:cNvSpPr txBox="1"/>
          <p:nvPr/>
        </p:nvSpPr>
        <p:spPr>
          <a:xfrm>
            <a:off x="640080" y="3099816"/>
            <a:ext cx="914400" cy="411480"/>
          </a:xfrm>
          <a:prstGeom prst="rect">
            <a:avLst/>
          </a:prstGeom>
          <a:noFill/>
          <a:ln/>
        </p:spPr>
        <p:txBody>
          <a:bodyPr wrap="square" lIns="0" tIns="0" rIns="0" bIns="0" rtlCol="0" anchor="t"/>
          <a:lstStyle/>
          <a:p>
            <a:pPr indent="0" marL="0">
              <a:buNone/>
            </a:pPr>
            <a:r>
              <a:rPr lang="en-US" sz="1400" b="1" dirty="0">
                <a:solidFill>
                  <a:srgbClr val="111111"/>
                </a:solidFill>
                <a:latin typeface="Arial" pitchFamily="34" charset="0"/>
                <a:ea typeface="Arial" pitchFamily="34" charset="-122"/>
                <a:cs typeface="Arial" pitchFamily="34" charset="-120"/>
              </a:rPr>
              <a:t>02</a:t>
            </a:r>
            <a:endParaRPr lang="en-US" sz="1400" dirty="0"/>
          </a:p>
        </p:txBody>
      </p:sp>
      <p:sp>
        <p:nvSpPr>
          <p:cNvPr id="17" name="Text 15"/>
          <p:cNvSpPr txBox="1"/>
          <p:nvPr/>
        </p:nvSpPr>
        <p:spPr>
          <a:xfrm>
            <a:off x="640080" y="3419856"/>
            <a:ext cx="4983480" cy="384048"/>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B端情景分析的实施</a:t>
            </a:r>
            <a:endParaRPr lang="en-US" sz="1600" dirty="0"/>
          </a:p>
        </p:txBody>
      </p:sp>
      <p:sp>
        <p:nvSpPr>
          <p:cNvPr id="18" name="Text 16"/>
          <p:cNvSpPr txBox="1"/>
          <p:nvPr/>
        </p:nvSpPr>
        <p:spPr>
          <a:xfrm>
            <a:off x="640080" y="3877056"/>
            <a:ext cx="4983480" cy="603504"/>
          </a:xfrm>
          <a:prstGeom prst="rect">
            <a:avLst/>
          </a:prstGeom>
          <a:noFill/>
          <a:ln/>
        </p:spPr>
        <p:txBody>
          <a:bodyPr wrap="square" lIns="0" tIns="0" rIns="0" bIns="0" rtlCol="0" anchor="t"/>
          <a:lstStyle/>
          <a:p>
            <a:pPr indent="0" marL="0">
              <a:lnSpc>
                <a:spcPct val="135000"/>
              </a:lnSpc>
              <a:spcAft>
                <a:spcPts val="500"/>
              </a:spcAft>
              <a:buNone/>
            </a:pPr>
            <a:r>
              <a:rPr lang="en-US" sz="1350" dirty="0">
                <a:solidFill>
                  <a:srgbClr val="111111"/>
                </a:solidFill>
                <a:latin typeface="Microsoft YaHei" pitchFamily="34" charset="0"/>
                <a:ea typeface="Microsoft YaHei" pitchFamily="34" charset="-122"/>
                <a:cs typeface="Microsoft YaHei" pitchFamily="34" charset="-120"/>
              </a:rPr>
              <a:t>因此，B端情景分析通常需包含详细的任务描述和多层次的情境设置。</a:t>
            </a:r>
            <a:endParaRPr lang="en-US" sz="1350" dirty="0"/>
          </a:p>
        </p:txBody>
      </p:sp>
      <p:pic>
        <p:nvPicPr>
          <p:cNvPr id="19" name="Image 0" descr="p07_8">    </p:cNvPr>
          <p:cNvPicPr>
            <a:picLocks noChangeAspect="1"/>
          </p:cNvPicPr>
          <p:nvPr/>
        </p:nvPicPr>
        <p:blipFill>
          <a:blip r:embed="rId1"/>
          <a:stretch>
            <a:fillRect/>
          </a:stretch>
        </p:blipFill>
        <p:spPr>
          <a:xfrm>
            <a:off x="5916168" y="1188720"/>
            <a:ext cx="2816352" cy="1636776"/>
          </a:xfrm>
          <a:prstGeom prst="rect">
            <a:avLst/>
          </a:prstGeom>
        </p:spPr>
      </p:pic>
      <p:pic>
        <p:nvPicPr>
          <p:cNvPr id="20" name="Image 1" descr="p07_10">    </p:cNvPr>
          <p:cNvPicPr>
            <a:picLocks noChangeAspect="1"/>
          </p:cNvPicPr>
          <p:nvPr/>
        </p:nvPicPr>
        <p:blipFill>
          <a:blip r:embed="rId2"/>
          <a:stretch>
            <a:fillRect/>
          </a:stretch>
        </p:blipFill>
        <p:spPr>
          <a:xfrm>
            <a:off x="5916168" y="2935224"/>
            <a:ext cx="2816352" cy="163677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01 情景分析法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情景法的优缺点</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Pros &amp; Cons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08</a:t>
            </a:r>
            <a:endParaRPr lang="en-US" sz="750" dirty="0"/>
          </a:p>
        </p:txBody>
      </p:sp>
      <p:sp>
        <p:nvSpPr>
          <p:cNvPr id="11" name="Shape 9"/>
          <p:cNvSpPr/>
          <p:nvPr/>
        </p:nvSpPr>
        <p:spPr>
          <a:xfrm>
            <a:off x="411480" y="1188720"/>
            <a:ext cx="4105656" cy="3383280"/>
          </a:xfrm>
          <a:prstGeom prst="roundRect">
            <a:avLst>
              <a:gd name="adj" fmla="val 2703"/>
            </a:avLst>
          </a:prstGeom>
          <a:solidFill>
            <a:srgbClr val="C7F8FB"/>
          </a:solidFill>
          <a:ln/>
        </p:spPr>
      </p:sp>
      <p:sp>
        <p:nvSpPr>
          <p:cNvPr id="12" name="Text 10"/>
          <p:cNvSpPr txBox="1"/>
          <p:nvPr/>
        </p:nvSpPr>
        <p:spPr>
          <a:xfrm>
            <a:off x="685800" y="1280160"/>
            <a:ext cx="1371600" cy="1005840"/>
          </a:xfrm>
          <a:prstGeom prst="rect">
            <a:avLst/>
          </a:prstGeom>
          <a:noFill/>
          <a:ln/>
        </p:spPr>
        <p:txBody>
          <a:bodyPr wrap="square" lIns="0" tIns="0" rIns="0" bIns="0" rtlCol="0" anchor="t"/>
          <a:lstStyle/>
          <a:p>
            <a:pPr indent="0" marL="0">
              <a:buNone/>
            </a:pPr>
            <a:r>
              <a:rPr lang="en-US" sz="6000" b="1" dirty="0">
                <a:solidFill>
                  <a:srgbClr val="111111"/>
                </a:solidFill>
                <a:latin typeface="Arial" pitchFamily="34" charset="0"/>
                <a:ea typeface="Arial" pitchFamily="34" charset="-122"/>
                <a:cs typeface="Arial" pitchFamily="34" charset="-120"/>
              </a:rPr>
              <a:t>+</a:t>
            </a:r>
            <a:endParaRPr lang="en-US" sz="6000" dirty="0"/>
          </a:p>
        </p:txBody>
      </p:sp>
      <p:sp>
        <p:nvSpPr>
          <p:cNvPr id="13" name="Text 11"/>
          <p:cNvSpPr txBox="1"/>
          <p:nvPr/>
        </p:nvSpPr>
        <p:spPr>
          <a:xfrm>
            <a:off x="685800" y="2377440"/>
            <a:ext cx="3566160" cy="502920"/>
          </a:xfrm>
          <a:prstGeom prst="rect">
            <a:avLst/>
          </a:prstGeom>
          <a:noFill/>
          <a:ln/>
        </p:spPr>
        <p:txBody>
          <a:bodyPr wrap="square" lIns="0" tIns="0" rIns="0" bIns="0" rtlCol="0" anchor="ctr"/>
          <a:lstStyle/>
          <a:p>
            <a:pPr indent="0" marL="0">
              <a:buNone/>
            </a:pPr>
            <a:r>
              <a:rPr lang="en-US" sz="2000" b="1" dirty="0">
                <a:solidFill>
                  <a:srgbClr val="111111"/>
                </a:solidFill>
                <a:latin typeface="Microsoft YaHei" pitchFamily="34" charset="0"/>
                <a:ea typeface="Microsoft YaHei" pitchFamily="34" charset="-122"/>
                <a:cs typeface="Microsoft YaHei" pitchFamily="34" charset="-120"/>
              </a:rPr>
              <a:t>情景分析法的优点</a:t>
            </a:r>
            <a:endParaRPr lang="en-US" sz="2000" dirty="0"/>
          </a:p>
        </p:txBody>
      </p:sp>
      <p:sp>
        <p:nvSpPr>
          <p:cNvPr id="14" name="Text 12"/>
          <p:cNvSpPr txBox="1"/>
          <p:nvPr/>
        </p:nvSpPr>
        <p:spPr>
          <a:xfrm>
            <a:off x="685800" y="2971800"/>
            <a:ext cx="3566160" cy="1508760"/>
          </a:xfrm>
          <a:prstGeom prst="rect">
            <a:avLst/>
          </a:prstGeom>
          <a:noFill/>
          <a:ln/>
        </p:spPr>
        <p:txBody>
          <a:bodyPr wrap="square" lIns="0" tIns="0" rIns="0" bIns="0" rtlCol="0" anchor="t"/>
          <a:lstStyle/>
          <a:p>
            <a:pPr indent="0" marL="0">
              <a:lnSpc>
                <a:spcPct val="150000"/>
              </a:lnSpc>
              <a:buNone/>
            </a:pPr>
            <a:r>
              <a:rPr lang="en-US" sz="1500" dirty="0">
                <a:solidFill>
                  <a:srgbClr val="111111"/>
                </a:solidFill>
                <a:latin typeface="Microsoft YaHei" pitchFamily="34" charset="0"/>
                <a:ea typeface="Microsoft YaHei" pitchFamily="34" charset="-122"/>
                <a:cs typeface="Microsoft YaHei" pitchFamily="34" charset="-120"/>
              </a:rPr>
              <a:t>情景分析法的优点在于能够深度还原用户的使用情境，为设计决策提供强有力的依据。</a:t>
            </a:r>
            <a:endParaRPr lang="en-US" sz="1500" dirty="0"/>
          </a:p>
        </p:txBody>
      </p:sp>
      <p:sp>
        <p:nvSpPr>
          <p:cNvPr id="15" name="Shape 13"/>
          <p:cNvSpPr/>
          <p:nvPr/>
        </p:nvSpPr>
        <p:spPr>
          <a:xfrm>
            <a:off x="4626864" y="1188720"/>
            <a:ext cx="4105656" cy="3383280"/>
          </a:xfrm>
          <a:prstGeom prst="roundRect">
            <a:avLst>
              <a:gd name="adj" fmla="val 2703"/>
            </a:avLst>
          </a:prstGeom>
          <a:solidFill>
            <a:srgbClr val="111111"/>
          </a:solidFill>
          <a:ln/>
        </p:spPr>
      </p:sp>
      <p:sp>
        <p:nvSpPr>
          <p:cNvPr id="16" name="Text 14"/>
          <p:cNvSpPr txBox="1"/>
          <p:nvPr/>
        </p:nvSpPr>
        <p:spPr>
          <a:xfrm>
            <a:off x="4901184" y="1280160"/>
            <a:ext cx="1371600" cy="1005840"/>
          </a:xfrm>
          <a:prstGeom prst="rect">
            <a:avLst/>
          </a:prstGeom>
          <a:noFill/>
          <a:ln/>
        </p:spPr>
        <p:txBody>
          <a:bodyPr wrap="square" lIns="0" tIns="0" rIns="0" bIns="0" rtlCol="0" anchor="t"/>
          <a:lstStyle/>
          <a:p>
            <a:pPr indent="0" marL="0">
              <a:buNone/>
            </a:pPr>
            <a:r>
              <a:rPr lang="en-US" sz="6000" b="1" dirty="0">
                <a:solidFill>
                  <a:srgbClr val="C7F8FB"/>
                </a:solidFill>
                <a:latin typeface="Arial" pitchFamily="34" charset="0"/>
                <a:ea typeface="Arial" pitchFamily="34" charset="-122"/>
                <a:cs typeface="Arial" pitchFamily="34" charset="-120"/>
              </a:rPr>
              <a:t>−</a:t>
            </a:r>
            <a:endParaRPr lang="en-US" sz="6000" dirty="0"/>
          </a:p>
        </p:txBody>
      </p:sp>
      <p:sp>
        <p:nvSpPr>
          <p:cNvPr id="17" name="Text 15"/>
          <p:cNvSpPr txBox="1"/>
          <p:nvPr/>
        </p:nvSpPr>
        <p:spPr>
          <a:xfrm>
            <a:off x="4901184" y="2377440"/>
            <a:ext cx="3566160" cy="502920"/>
          </a:xfrm>
          <a:prstGeom prst="rect">
            <a:avLst/>
          </a:prstGeom>
          <a:noFill/>
          <a:ln/>
        </p:spPr>
        <p:txBody>
          <a:bodyPr wrap="square" lIns="0" tIns="0" rIns="0" bIns="0" rtlCol="0" anchor="ctr"/>
          <a:lstStyle/>
          <a:p>
            <a:pPr indent="0" marL="0">
              <a:buNone/>
            </a:pPr>
            <a:r>
              <a:rPr lang="en-US" sz="2000" b="1" dirty="0">
                <a:solidFill>
                  <a:srgbClr val="FFFFFF"/>
                </a:solidFill>
                <a:latin typeface="Microsoft YaHei" pitchFamily="34" charset="0"/>
                <a:ea typeface="Microsoft YaHei" pitchFamily="34" charset="-122"/>
                <a:cs typeface="Microsoft YaHei" pitchFamily="34" charset="-120"/>
              </a:rPr>
              <a:t>情景分析法的缺点</a:t>
            </a:r>
            <a:endParaRPr lang="en-US" sz="2000" dirty="0"/>
          </a:p>
        </p:txBody>
      </p:sp>
      <p:sp>
        <p:nvSpPr>
          <p:cNvPr id="18" name="Text 16"/>
          <p:cNvSpPr txBox="1"/>
          <p:nvPr/>
        </p:nvSpPr>
        <p:spPr>
          <a:xfrm>
            <a:off x="4901184" y="2971800"/>
            <a:ext cx="3566160" cy="1508760"/>
          </a:xfrm>
          <a:prstGeom prst="rect">
            <a:avLst/>
          </a:prstGeom>
          <a:noFill/>
          <a:ln/>
        </p:spPr>
        <p:txBody>
          <a:bodyPr wrap="square" lIns="0" tIns="0" rIns="0" bIns="0" rtlCol="0" anchor="t"/>
          <a:lstStyle/>
          <a:p>
            <a:pPr indent="0" marL="0">
              <a:lnSpc>
                <a:spcPct val="150000"/>
              </a:lnSpc>
              <a:buNone/>
            </a:pPr>
            <a:r>
              <a:rPr lang="en-US" sz="1500" dirty="0">
                <a:solidFill>
                  <a:srgbClr val="FFFFFF"/>
                </a:solidFill>
                <a:latin typeface="Microsoft YaHei" pitchFamily="34" charset="0"/>
                <a:ea typeface="Microsoft YaHei" pitchFamily="34" charset="-122"/>
                <a:cs typeface="Microsoft YaHei" pitchFamily="34" charset="-120"/>
              </a:rPr>
              <a:t>情景分析法也存在一定的缺陷，如耗时较长、需要大量的前期调研来支持情景设定。</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5486400" cy="201168"/>
          </a:xfrm>
          <a:prstGeom prst="rect">
            <a:avLst/>
          </a:prstGeom>
          <a:noFill/>
          <a:ln/>
        </p:spPr>
        <p:txBody>
          <a:bodyPr wrap="square" lIns="0" tIns="0" rIns="0" bIns="0" rtlCol="0" anchor="ctr"/>
          <a:lstStyle/>
          <a:p>
            <a:pPr indent="0" marL="0">
              <a:buNone/>
            </a:pPr>
            <a:r>
              <a:rPr lang="en-US" sz="800" spc="150" kern="0" dirty="0">
                <a:solidFill>
                  <a:srgbClr val="6B6B6B"/>
                </a:solidFill>
                <a:latin typeface="Courier New" pitchFamily="34" charset="0"/>
                <a:ea typeface="Courier New" pitchFamily="34" charset="-122"/>
                <a:cs typeface="Courier New" pitchFamily="34" charset="-120"/>
              </a:rPr>
              <a:t>LESSON 06  ·  PART 02</a:t>
            </a:r>
            <a:endParaRPr lang="en-US" sz="800" dirty="0"/>
          </a:p>
        </p:txBody>
      </p:sp>
      <p:sp>
        <p:nvSpPr>
          <p:cNvPr id="3" name="Text 1"/>
          <p:cNvSpPr txBox="1"/>
          <p:nvPr/>
        </p:nvSpPr>
        <p:spPr>
          <a:xfrm>
            <a:off x="411480" y="502920"/>
            <a:ext cx="8321040" cy="868680"/>
          </a:xfrm>
          <a:prstGeom prst="rect">
            <a:avLst/>
          </a:prstGeom>
          <a:noFill/>
          <a:ln/>
        </p:spPr>
        <p:txBody>
          <a:bodyPr wrap="square" lIns="0" tIns="0" rIns="0" bIns="0" rtlCol="0" anchor="ctr">
            <a:normAutofit/>
          </a:bodyPr>
          <a:lstStyle/>
          <a:p>
            <a:pPr indent="0" marL="0">
              <a:buNone/>
            </a:pPr>
            <a:r>
              <a:rPr lang="en-US" sz="4400" dirty="0">
                <a:solidFill>
                  <a:srgbClr val="111111"/>
                </a:solidFill>
                <a:latin typeface="Microsoft YaHei" pitchFamily="34" charset="0"/>
                <a:ea typeface="Microsoft YaHei" pitchFamily="34" charset="-122"/>
                <a:cs typeface="Microsoft YaHei" pitchFamily="34" charset="-120"/>
              </a:rPr>
              <a:t>人物角色法</a:t>
            </a:r>
            <a:endParaRPr lang="en-US" sz="4400" dirty="0"/>
          </a:p>
        </p:txBody>
      </p:sp>
      <p:sp>
        <p:nvSpPr>
          <p:cNvPr id="4" name="Text 2"/>
          <p:cNvSpPr txBox="1"/>
          <p:nvPr/>
        </p:nvSpPr>
        <p:spPr>
          <a:xfrm>
            <a:off x="411480" y="1325880"/>
            <a:ext cx="5943600" cy="32004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Personas</a:t>
            </a:r>
            <a:endParaRPr lang="en-US" sz="1400" dirty="0"/>
          </a:p>
        </p:txBody>
      </p:sp>
      <p:sp>
        <p:nvSpPr>
          <p:cNvPr id="5" name="Shape 3"/>
          <p:cNvSpPr/>
          <p:nvPr/>
        </p:nvSpPr>
        <p:spPr>
          <a:xfrm>
            <a:off x="411480" y="2011680"/>
            <a:ext cx="457200" cy="457200"/>
          </a:xfrm>
          <a:prstGeom prst="rect">
            <a:avLst/>
          </a:prstGeom>
          <a:solidFill>
            <a:srgbClr val="E4FF97"/>
          </a:solidFill>
          <a:ln/>
        </p:spPr>
      </p:sp>
      <p:sp>
        <p:nvSpPr>
          <p:cNvPr id="6" name="Text 4"/>
          <p:cNvSpPr txBox="1"/>
          <p:nvPr/>
        </p:nvSpPr>
        <p:spPr>
          <a:xfrm>
            <a:off x="411480" y="201168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1</a:t>
            </a:r>
            <a:endParaRPr lang="en-US" sz="1500" dirty="0"/>
          </a:p>
        </p:txBody>
      </p:sp>
      <p:sp>
        <p:nvSpPr>
          <p:cNvPr id="7" name="Shape 5"/>
          <p:cNvSpPr/>
          <p:nvPr/>
        </p:nvSpPr>
        <p:spPr>
          <a:xfrm>
            <a:off x="941832" y="2011680"/>
            <a:ext cx="4343400" cy="457200"/>
          </a:xfrm>
          <a:prstGeom prst="rect">
            <a:avLst/>
          </a:prstGeom>
          <a:solidFill>
            <a:srgbClr val="F4F4F4"/>
          </a:solidFill>
          <a:ln/>
        </p:spPr>
      </p:sp>
      <p:sp>
        <p:nvSpPr>
          <p:cNvPr id="8" name="Text 6"/>
          <p:cNvSpPr txBox="1"/>
          <p:nvPr/>
        </p:nvSpPr>
        <p:spPr>
          <a:xfrm>
            <a:off x="1097280" y="201168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什么是人物角色法</a:t>
            </a:r>
            <a:endParaRPr lang="en-US" sz="1350" dirty="0"/>
          </a:p>
        </p:txBody>
      </p:sp>
      <p:sp>
        <p:nvSpPr>
          <p:cNvPr id="9" name="Shape 7"/>
          <p:cNvSpPr/>
          <p:nvPr/>
        </p:nvSpPr>
        <p:spPr>
          <a:xfrm>
            <a:off x="411480" y="2560320"/>
            <a:ext cx="457200" cy="457200"/>
          </a:xfrm>
          <a:prstGeom prst="rect">
            <a:avLst/>
          </a:prstGeom>
          <a:solidFill>
            <a:srgbClr val="D9D4FF"/>
          </a:solidFill>
          <a:ln/>
        </p:spPr>
      </p:sp>
      <p:sp>
        <p:nvSpPr>
          <p:cNvPr id="10" name="Text 8"/>
          <p:cNvSpPr txBox="1"/>
          <p:nvPr/>
        </p:nvSpPr>
        <p:spPr>
          <a:xfrm>
            <a:off x="411480" y="256032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2</a:t>
            </a:r>
            <a:endParaRPr lang="en-US" sz="1500" dirty="0"/>
          </a:p>
        </p:txBody>
      </p:sp>
      <p:sp>
        <p:nvSpPr>
          <p:cNvPr id="11" name="Shape 9"/>
          <p:cNvSpPr/>
          <p:nvPr/>
        </p:nvSpPr>
        <p:spPr>
          <a:xfrm>
            <a:off x="941832" y="2560320"/>
            <a:ext cx="4343400" cy="457200"/>
          </a:xfrm>
          <a:prstGeom prst="rect">
            <a:avLst/>
          </a:prstGeom>
          <a:solidFill>
            <a:srgbClr val="F4F4F4"/>
          </a:solidFill>
          <a:ln/>
        </p:spPr>
      </p:sp>
      <p:sp>
        <p:nvSpPr>
          <p:cNvPr id="12" name="Text 10"/>
          <p:cNvSpPr txBox="1"/>
          <p:nvPr/>
        </p:nvSpPr>
        <p:spPr>
          <a:xfrm>
            <a:off x="1097280" y="256032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人物角色法的类型和比较 · 步骤</a:t>
            </a:r>
            <a:endParaRPr lang="en-US" sz="1350" dirty="0"/>
          </a:p>
        </p:txBody>
      </p:sp>
      <p:sp>
        <p:nvSpPr>
          <p:cNvPr id="13" name="Shape 11"/>
          <p:cNvSpPr/>
          <p:nvPr/>
        </p:nvSpPr>
        <p:spPr>
          <a:xfrm>
            <a:off x="411480" y="3108960"/>
            <a:ext cx="457200" cy="457200"/>
          </a:xfrm>
          <a:prstGeom prst="rect">
            <a:avLst/>
          </a:prstGeom>
          <a:solidFill>
            <a:srgbClr val="C9F5C0"/>
          </a:solidFill>
          <a:ln/>
        </p:spPr>
      </p:sp>
      <p:sp>
        <p:nvSpPr>
          <p:cNvPr id="14" name="Text 12"/>
          <p:cNvSpPr txBox="1"/>
          <p:nvPr/>
        </p:nvSpPr>
        <p:spPr>
          <a:xfrm>
            <a:off x="411480" y="310896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3</a:t>
            </a:r>
            <a:endParaRPr lang="en-US" sz="1500" dirty="0"/>
          </a:p>
        </p:txBody>
      </p:sp>
      <p:sp>
        <p:nvSpPr>
          <p:cNvPr id="15" name="Shape 13"/>
          <p:cNvSpPr/>
          <p:nvPr/>
        </p:nvSpPr>
        <p:spPr>
          <a:xfrm>
            <a:off x="941832" y="3108960"/>
            <a:ext cx="4343400" cy="457200"/>
          </a:xfrm>
          <a:prstGeom prst="rect">
            <a:avLst/>
          </a:prstGeom>
          <a:solidFill>
            <a:srgbClr val="F4F4F4"/>
          </a:solidFill>
          <a:ln/>
        </p:spPr>
      </p:sp>
      <p:sp>
        <p:nvSpPr>
          <p:cNvPr id="16" name="Text 14"/>
          <p:cNvSpPr txBox="1"/>
          <p:nvPr/>
        </p:nvSpPr>
        <p:spPr>
          <a:xfrm>
            <a:off x="1097280" y="310896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人物角色法模型卡 · 优缺点</a:t>
            </a:r>
            <a:endParaRPr lang="en-US" sz="1350" dirty="0"/>
          </a:p>
        </p:txBody>
      </p:sp>
      <p:sp>
        <p:nvSpPr>
          <p:cNvPr id="17" name="Shape 15"/>
          <p:cNvSpPr/>
          <p:nvPr/>
        </p:nvSpPr>
        <p:spPr>
          <a:xfrm>
            <a:off x="411480" y="3657600"/>
            <a:ext cx="457200" cy="457200"/>
          </a:xfrm>
          <a:prstGeom prst="rect">
            <a:avLst/>
          </a:prstGeom>
          <a:solidFill>
            <a:srgbClr val="FFE3A3"/>
          </a:solidFill>
          <a:ln/>
        </p:spPr>
      </p:sp>
      <p:sp>
        <p:nvSpPr>
          <p:cNvPr id="18" name="Text 16"/>
          <p:cNvSpPr txBox="1"/>
          <p:nvPr/>
        </p:nvSpPr>
        <p:spPr>
          <a:xfrm>
            <a:off x="411480" y="365760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4</a:t>
            </a:r>
            <a:endParaRPr lang="en-US" sz="1500" dirty="0"/>
          </a:p>
        </p:txBody>
      </p:sp>
      <p:sp>
        <p:nvSpPr>
          <p:cNvPr id="19" name="Shape 17"/>
          <p:cNvSpPr/>
          <p:nvPr/>
        </p:nvSpPr>
        <p:spPr>
          <a:xfrm>
            <a:off x="941832" y="3657600"/>
            <a:ext cx="4343400" cy="457200"/>
          </a:xfrm>
          <a:prstGeom prst="rect">
            <a:avLst/>
          </a:prstGeom>
          <a:solidFill>
            <a:srgbClr val="F4F4F4"/>
          </a:solidFill>
          <a:ln/>
        </p:spPr>
      </p:sp>
      <p:sp>
        <p:nvSpPr>
          <p:cNvPr id="20" name="Text 18"/>
          <p:cNvSpPr txBox="1"/>
          <p:nvPr/>
        </p:nvSpPr>
        <p:spPr>
          <a:xfrm>
            <a:off x="1097280" y="365760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应用案例</a:t>
            </a:r>
            <a:endParaRPr lang="en-US" sz="1350" dirty="0"/>
          </a:p>
        </p:txBody>
      </p:sp>
      <p:sp>
        <p:nvSpPr>
          <p:cNvPr id="21" name="Shape 19"/>
          <p:cNvSpPr/>
          <p:nvPr/>
        </p:nvSpPr>
        <p:spPr>
          <a:xfrm>
            <a:off x="411480" y="4818888"/>
            <a:ext cx="77724" cy="77724"/>
          </a:xfrm>
          <a:prstGeom prst="ellipse">
            <a:avLst/>
          </a:prstGeom>
          <a:solidFill>
            <a:srgbClr val="4D49FC"/>
          </a:solidFill>
          <a:ln/>
        </p:spPr>
      </p:sp>
      <p:sp>
        <p:nvSpPr>
          <p:cNvPr id="22" name="Shape 20"/>
          <p:cNvSpPr/>
          <p:nvPr/>
        </p:nvSpPr>
        <p:spPr>
          <a:xfrm>
            <a:off x="507492" y="4818888"/>
            <a:ext cx="77724" cy="77724"/>
          </a:xfrm>
          <a:prstGeom prst="ellipse">
            <a:avLst/>
          </a:prstGeom>
          <a:solidFill>
            <a:srgbClr val="4D49FC"/>
          </a:solidFill>
          <a:ln/>
        </p:spPr>
      </p:sp>
      <p:sp>
        <p:nvSpPr>
          <p:cNvPr id="23" name="Shape 21"/>
          <p:cNvSpPr/>
          <p:nvPr/>
        </p:nvSpPr>
        <p:spPr>
          <a:xfrm>
            <a:off x="411480" y="4914900"/>
            <a:ext cx="77724" cy="77724"/>
          </a:xfrm>
          <a:prstGeom prst="ellipse">
            <a:avLst/>
          </a:prstGeom>
          <a:solidFill>
            <a:srgbClr val="4D49FC"/>
          </a:solidFill>
          <a:ln/>
        </p:spPr>
      </p:sp>
      <p:sp>
        <p:nvSpPr>
          <p:cNvPr id="24" name="Shape 22"/>
          <p:cNvSpPr/>
          <p:nvPr/>
        </p:nvSpPr>
        <p:spPr>
          <a:xfrm>
            <a:off x="507492" y="4914900"/>
            <a:ext cx="77724" cy="77724"/>
          </a:xfrm>
          <a:prstGeom prst="ellipse">
            <a:avLst/>
          </a:prstGeom>
          <a:solidFill>
            <a:srgbClr val="4D49FC"/>
          </a:solidFill>
          <a:ln/>
        </p:spPr>
      </p:sp>
      <p:sp>
        <p:nvSpPr>
          <p:cNvPr id="25" name="Text 23"/>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26" name="Text 24"/>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09</a:t>
            </a:r>
            <a:endParaRPr lang="en-US" sz="750" dirty="0"/>
          </a:p>
        </p:txBody>
      </p:sp>
      <p:pic>
        <p:nvPicPr>
          <p:cNvPr id="27" name="Image 0" descr="decorative collage">    </p:cNvPr>
          <p:cNvPicPr>
            <a:picLocks noChangeAspect="1"/>
          </p:cNvPicPr>
          <p:nvPr/>
        </p:nvPicPr>
        <p:blipFill>
          <a:blip r:embed="rId1"/>
          <a:stretch>
            <a:fillRect/>
          </a:stretch>
        </p:blipFill>
        <p:spPr>
          <a:xfrm>
            <a:off x="5577840" y="3191384"/>
            <a:ext cx="3154680" cy="151777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02 人物角色法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什么是人物角色法</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What are Personas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10</a:t>
            </a:r>
            <a:endParaRPr lang="en-US" sz="750" dirty="0"/>
          </a:p>
        </p:txBody>
      </p:sp>
      <p:sp>
        <p:nvSpPr>
          <p:cNvPr id="11" name="Shape 9"/>
          <p:cNvSpPr/>
          <p:nvPr/>
        </p:nvSpPr>
        <p:spPr>
          <a:xfrm>
            <a:off x="411480" y="1188720"/>
            <a:ext cx="8321040" cy="1600200"/>
          </a:xfrm>
          <a:prstGeom prst="roundRect">
            <a:avLst>
              <a:gd name="adj" fmla="val 5714"/>
            </a:avLst>
          </a:prstGeom>
          <a:solidFill>
            <a:srgbClr val="FFFFFF"/>
          </a:solidFill>
          <a:ln w="9525">
            <a:solidFill>
              <a:srgbClr val="D0D0D0"/>
            </a:solidFill>
            <a:prstDash val="solid"/>
          </a:ln>
        </p:spPr>
      </p:sp>
      <p:pic>
        <p:nvPicPr>
          <p:cNvPr id="12" name="Image 0" descr="p10_0">    </p:cNvPr>
          <p:cNvPicPr>
            <a:picLocks noChangeAspect="1"/>
          </p:cNvPicPr>
          <p:nvPr/>
        </p:nvPicPr>
        <p:blipFill>
          <a:blip r:embed="rId1"/>
          <a:stretch>
            <a:fillRect/>
          </a:stretch>
        </p:blipFill>
        <p:spPr>
          <a:xfrm>
            <a:off x="1765426" y="1280160"/>
            <a:ext cx="5613149" cy="1417320"/>
          </a:xfrm>
          <a:prstGeom prst="rect">
            <a:avLst/>
          </a:prstGeom>
        </p:spPr>
      </p:pic>
      <p:sp>
        <p:nvSpPr>
          <p:cNvPr id="13" name="Shape 10"/>
          <p:cNvSpPr/>
          <p:nvPr/>
        </p:nvSpPr>
        <p:spPr>
          <a:xfrm>
            <a:off x="411480" y="2898648"/>
            <a:ext cx="4105656" cy="1673352"/>
          </a:xfrm>
          <a:prstGeom prst="roundRect">
            <a:avLst>
              <a:gd name="adj" fmla="val 5464"/>
            </a:avLst>
          </a:prstGeom>
          <a:solidFill>
            <a:srgbClr val="E4FF97"/>
          </a:solidFill>
          <a:ln/>
        </p:spPr>
      </p:sp>
      <p:sp>
        <p:nvSpPr>
          <p:cNvPr id="14" name="Text 11"/>
          <p:cNvSpPr txBox="1"/>
          <p:nvPr/>
        </p:nvSpPr>
        <p:spPr>
          <a:xfrm>
            <a:off x="640080" y="2990088"/>
            <a:ext cx="3657600" cy="384048"/>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人物角色法的定义</a:t>
            </a:r>
            <a:endParaRPr lang="en-US" sz="1600" dirty="0"/>
          </a:p>
        </p:txBody>
      </p:sp>
      <p:sp>
        <p:nvSpPr>
          <p:cNvPr id="15" name="Text 12"/>
          <p:cNvSpPr txBox="1"/>
          <p:nvPr/>
        </p:nvSpPr>
        <p:spPr>
          <a:xfrm>
            <a:off x="640080" y="3429000"/>
            <a:ext cx="3657600" cy="1051560"/>
          </a:xfrm>
          <a:prstGeom prst="rect">
            <a:avLst/>
          </a:prstGeom>
          <a:noFill/>
          <a:ln/>
        </p:spPr>
        <p:txBody>
          <a:bodyPr wrap="square" lIns="0" tIns="0" rIns="0" bIns="0" rtlCol="0" anchor="t"/>
          <a:lstStyle/>
          <a:p>
            <a:pPr indent="0" marL="0">
              <a:lnSpc>
                <a:spcPct val="140000"/>
              </a:lnSpc>
              <a:buNone/>
            </a:pPr>
            <a:r>
              <a:rPr lang="en-US" sz="1300" dirty="0">
                <a:solidFill>
                  <a:srgbClr val="111111"/>
                </a:solidFill>
                <a:latin typeface="Microsoft YaHei" pitchFamily="34" charset="0"/>
                <a:ea typeface="Microsoft YaHei" pitchFamily="34" charset="-122"/>
                <a:cs typeface="Microsoft YaHei" pitchFamily="34" charset="-120"/>
              </a:rPr>
              <a:t>人物角色法是通过构建典型用户角色来模拟和分析用户需求的方法。</a:t>
            </a:r>
            <a:endParaRPr lang="en-US" sz="1300" dirty="0"/>
          </a:p>
        </p:txBody>
      </p:sp>
      <p:sp>
        <p:nvSpPr>
          <p:cNvPr id="16" name="Shape 13"/>
          <p:cNvSpPr/>
          <p:nvPr/>
        </p:nvSpPr>
        <p:spPr>
          <a:xfrm>
            <a:off x="4626864" y="2898648"/>
            <a:ext cx="4105656" cy="1673352"/>
          </a:xfrm>
          <a:prstGeom prst="roundRect">
            <a:avLst>
              <a:gd name="adj" fmla="val 5464"/>
            </a:avLst>
          </a:prstGeom>
          <a:solidFill>
            <a:srgbClr val="111111"/>
          </a:solidFill>
          <a:ln/>
        </p:spPr>
      </p:sp>
      <p:sp>
        <p:nvSpPr>
          <p:cNvPr id="17" name="Text 14"/>
          <p:cNvSpPr txBox="1"/>
          <p:nvPr/>
        </p:nvSpPr>
        <p:spPr>
          <a:xfrm>
            <a:off x="4855464" y="2990088"/>
            <a:ext cx="3657600" cy="384048"/>
          </a:xfrm>
          <a:prstGeom prst="rect">
            <a:avLst/>
          </a:prstGeom>
          <a:noFill/>
          <a:ln/>
        </p:spPr>
        <p:txBody>
          <a:bodyPr wrap="square" lIns="0" tIns="0" rIns="0" bIns="0"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人物角色法的目的</a:t>
            </a:r>
            <a:endParaRPr lang="en-US" sz="1600" dirty="0"/>
          </a:p>
        </p:txBody>
      </p:sp>
      <p:sp>
        <p:nvSpPr>
          <p:cNvPr id="18" name="Text 15"/>
          <p:cNvSpPr txBox="1"/>
          <p:nvPr/>
        </p:nvSpPr>
        <p:spPr>
          <a:xfrm>
            <a:off x="4855464" y="3429000"/>
            <a:ext cx="3657600" cy="1051560"/>
          </a:xfrm>
          <a:prstGeom prst="rect">
            <a:avLst/>
          </a:prstGeom>
          <a:noFill/>
          <a:ln/>
        </p:spPr>
        <p:txBody>
          <a:bodyPr wrap="square" lIns="0" tIns="0" rIns="0" bIns="0" rtlCol="0" anchor="t"/>
          <a:lstStyle/>
          <a:p>
            <a:pPr indent="0" marL="0">
              <a:lnSpc>
                <a:spcPct val="140000"/>
              </a:lnSpc>
              <a:buNone/>
            </a:pPr>
            <a:r>
              <a:rPr lang="en-US" sz="1300" dirty="0">
                <a:solidFill>
                  <a:srgbClr val="FFFFFF"/>
                </a:solidFill>
                <a:latin typeface="Microsoft YaHei" pitchFamily="34" charset="0"/>
                <a:ea typeface="Microsoft YaHei" pitchFamily="34" charset="-122"/>
                <a:cs typeface="Microsoft YaHei" pitchFamily="34" charset="-120"/>
              </a:rPr>
              <a:t>每个角色通常包含用户的基本信息、需求、目标、行为模式等内容。</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02 人物角色法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人物角色法的类型和比较</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Types of Personas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11</a:t>
            </a:r>
            <a:endParaRPr lang="en-US" sz="750" dirty="0"/>
          </a:p>
        </p:txBody>
      </p:sp>
      <p:sp>
        <p:nvSpPr>
          <p:cNvPr id="11" name="Text 9"/>
          <p:cNvSpPr txBox="1"/>
          <p:nvPr/>
        </p:nvSpPr>
        <p:spPr>
          <a:xfrm>
            <a:off x="411480" y="1143000"/>
            <a:ext cx="8321040" cy="365760"/>
          </a:xfrm>
          <a:prstGeom prst="rect">
            <a:avLst/>
          </a:prstGeom>
          <a:noFill/>
          <a:ln/>
        </p:spPr>
        <p:txBody>
          <a:bodyPr wrap="square" lIns="0" tIns="0" rIns="0" bIns="0" rtlCol="0" anchor="t"/>
          <a:lstStyle/>
          <a:p>
            <a:pPr indent="0" marL="0">
              <a:buNone/>
            </a:pPr>
            <a:r>
              <a:rPr lang="en-US" sz="1300" dirty="0">
                <a:solidFill>
                  <a:srgbClr val="111111"/>
                </a:solidFill>
                <a:latin typeface="Microsoft YaHei" pitchFamily="34" charset="0"/>
                <a:ea typeface="Microsoft YaHei" pitchFamily="34" charset="-122"/>
                <a:cs typeface="Microsoft YaHei" pitchFamily="34" charset="-120"/>
              </a:rPr>
              <a:t>人物角色法可以分为多个类型，包括：</a:t>
            </a:r>
            <a:endParaRPr lang="en-US" sz="1300" dirty="0"/>
          </a:p>
        </p:txBody>
      </p:sp>
      <p:sp>
        <p:nvSpPr>
          <p:cNvPr id="12" name="Shape 10"/>
          <p:cNvSpPr/>
          <p:nvPr/>
        </p:nvSpPr>
        <p:spPr>
          <a:xfrm>
            <a:off x="411480" y="1600200"/>
            <a:ext cx="2700528" cy="1234440"/>
          </a:xfrm>
          <a:prstGeom prst="roundRect">
            <a:avLst>
              <a:gd name="adj" fmla="val 7407"/>
            </a:avLst>
          </a:prstGeom>
          <a:solidFill>
            <a:srgbClr val="E4FF97"/>
          </a:solidFill>
          <a:ln/>
        </p:spPr>
      </p:sp>
      <p:sp>
        <p:nvSpPr>
          <p:cNvPr id="13" name="Text 11"/>
          <p:cNvSpPr txBox="1"/>
          <p:nvPr/>
        </p:nvSpPr>
        <p:spPr>
          <a:xfrm>
            <a:off x="640080" y="1691640"/>
            <a:ext cx="2334768" cy="548640"/>
          </a:xfrm>
          <a:prstGeom prst="rect">
            <a:avLst/>
          </a:prstGeom>
          <a:noFill/>
          <a:ln/>
        </p:spPr>
        <p:txBody>
          <a:bodyPr wrap="square" lIns="0" tIns="0" rIns="0" bIns="0" rtlCol="0" anchor="ctr"/>
          <a:lstStyle/>
          <a:p>
            <a:pPr indent="0" marL="0">
              <a:buNone/>
            </a:pPr>
            <a:r>
              <a:rPr lang="en-US" sz="2000" b="1" dirty="0">
                <a:solidFill>
                  <a:srgbClr val="111111"/>
                </a:solidFill>
                <a:latin typeface="Microsoft YaHei" pitchFamily="34" charset="0"/>
                <a:ea typeface="Microsoft YaHei" pitchFamily="34" charset="-122"/>
                <a:cs typeface="Microsoft YaHei" pitchFamily="34" charset="-120"/>
              </a:rPr>
              <a:t>用户角色</a:t>
            </a:r>
            <a:endParaRPr lang="en-US" sz="2000" dirty="0"/>
          </a:p>
        </p:txBody>
      </p:sp>
      <p:sp>
        <p:nvSpPr>
          <p:cNvPr id="14" name="Text 12"/>
          <p:cNvSpPr txBox="1"/>
          <p:nvPr/>
        </p:nvSpPr>
        <p:spPr>
          <a:xfrm>
            <a:off x="640080" y="2240280"/>
            <a:ext cx="2334768" cy="365760"/>
          </a:xfrm>
          <a:prstGeom prst="rect">
            <a:avLst/>
          </a:prstGeom>
          <a:noFill/>
          <a:ln/>
        </p:spPr>
        <p:txBody>
          <a:bodyPr wrap="square" lIns="0" tIns="0" rIns="0" bIns="0" rtlCol="0" anchor="t"/>
          <a:lstStyle/>
          <a:p>
            <a:pPr indent="0" marL="0">
              <a:buNone/>
            </a:pPr>
            <a:r>
              <a:rPr lang="en-US" sz="1100" dirty="0">
                <a:solidFill>
                  <a:srgbClr val="6B6B6B"/>
                </a:solidFill>
                <a:latin typeface="Arial" pitchFamily="34" charset="0"/>
                <a:ea typeface="Arial" pitchFamily="34" charset="-122"/>
                <a:cs typeface="Arial" pitchFamily="34" charset="-120"/>
              </a:rPr>
              <a:t>User Persona</a:t>
            </a:r>
            <a:endParaRPr lang="en-US" sz="1100" dirty="0"/>
          </a:p>
        </p:txBody>
      </p:sp>
      <p:sp>
        <p:nvSpPr>
          <p:cNvPr id="15" name="Shape 13"/>
          <p:cNvSpPr/>
          <p:nvPr/>
        </p:nvSpPr>
        <p:spPr>
          <a:xfrm>
            <a:off x="3221736" y="1600200"/>
            <a:ext cx="2700528" cy="1234440"/>
          </a:xfrm>
          <a:prstGeom prst="roundRect">
            <a:avLst>
              <a:gd name="adj" fmla="val 7407"/>
            </a:avLst>
          </a:prstGeom>
          <a:solidFill>
            <a:srgbClr val="F4F4F4"/>
          </a:solidFill>
          <a:ln/>
        </p:spPr>
      </p:sp>
      <p:sp>
        <p:nvSpPr>
          <p:cNvPr id="16" name="Text 14"/>
          <p:cNvSpPr txBox="1"/>
          <p:nvPr/>
        </p:nvSpPr>
        <p:spPr>
          <a:xfrm>
            <a:off x="3450336" y="1691640"/>
            <a:ext cx="2334768" cy="548640"/>
          </a:xfrm>
          <a:prstGeom prst="rect">
            <a:avLst/>
          </a:prstGeom>
          <a:noFill/>
          <a:ln/>
        </p:spPr>
        <p:txBody>
          <a:bodyPr wrap="square" lIns="0" tIns="0" rIns="0" bIns="0" rtlCol="0" anchor="ctr"/>
          <a:lstStyle/>
          <a:p>
            <a:pPr indent="0" marL="0">
              <a:buNone/>
            </a:pPr>
            <a:r>
              <a:rPr lang="en-US" sz="2000" b="1" dirty="0">
                <a:solidFill>
                  <a:srgbClr val="111111"/>
                </a:solidFill>
                <a:latin typeface="Microsoft YaHei" pitchFamily="34" charset="0"/>
                <a:ea typeface="Microsoft YaHei" pitchFamily="34" charset="-122"/>
                <a:cs typeface="Microsoft YaHei" pitchFamily="34" charset="-120"/>
              </a:rPr>
              <a:t>买家角色</a:t>
            </a:r>
            <a:endParaRPr lang="en-US" sz="2000" dirty="0"/>
          </a:p>
        </p:txBody>
      </p:sp>
      <p:sp>
        <p:nvSpPr>
          <p:cNvPr id="17" name="Text 15"/>
          <p:cNvSpPr txBox="1"/>
          <p:nvPr/>
        </p:nvSpPr>
        <p:spPr>
          <a:xfrm>
            <a:off x="3450336" y="2240280"/>
            <a:ext cx="2334768" cy="365760"/>
          </a:xfrm>
          <a:prstGeom prst="rect">
            <a:avLst/>
          </a:prstGeom>
          <a:noFill/>
          <a:ln/>
        </p:spPr>
        <p:txBody>
          <a:bodyPr wrap="square" lIns="0" tIns="0" rIns="0" bIns="0" rtlCol="0" anchor="t"/>
          <a:lstStyle/>
          <a:p>
            <a:pPr indent="0" marL="0">
              <a:buNone/>
            </a:pPr>
            <a:r>
              <a:rPr lang="en-US" sz="1100" dirty="0">
                <a:solidFill>
                  <a:srgbClr val="6B6B6B"/>
                </a:solidFill>
                <a:latin typeface="Arial" pitchFamily="34" charset="0"/>
                <a:ea typeface="Arial" pitchFamily="34" charset="-122"/>
                <a:cs typeface="Arial" pitchFamily="34" charset="-120"/>
              </a:rPr>
              <a:t>Buyer Persona</a:t>
            </a:r>
            <a:endParaRPr lang="en-US" sz="1100" dirty="0"/>
          </a:p>
        </p:txBody>
      </p:sp>
      <p:sp>
        <p:nvSpPr>
          <p:cNvPr id="18" name="Shape 16"/>
          <p:cNvSpPr/>
          <p:nvPr/>
        </p:nvSpPr>
        <p:spPr>
          <a:xfrm>
            <a:off x="6031992" y="1600200"/>
            <a:ext cx="2700528" cy="1234440"/>
          </a:xfrm>
          <a:prstGeom prst="roundRect">
            <a:avLst>
              <a:gd name="adj" fmla="val 7407"/>
            </a:avLst>
          </a:prstGeom>
          <a:solidFill>
            <a:srgbClr val="EBEBEB"/>
          </a:solidFill>
          <a:ln/>
        </p:spPr>
      </p:sp>
      <p:sp>
        <p:nvSpPr>
          <p:cNvPr id="19" name="Text 17"/>
          <p:cNvSpPr txBox="1"/>
          <p:nvPr/>
        </p:nvSpPr>
        <p:spPr>
          <a:xfrm>
            <a:off x="6260592" y="1691640"/>
            <a:ext cx="2334768" cy="548640"/>
          </a:xfrm>
          <a:prstGeom prst="rect">
            <a:avLst/>
          </a:prstGeom>
          <a:noFill/>
          <a:ln/>
        </p:spPr>
        <p:txBody>
          <a:bodyPr wrap="square" lIns="0" tIns="0" rIns="0" bIns="0" rtlCol="0" anchor="ctr"/>
          <a:lstStyle/>
          <a:p>
            <a:pPr indent="0" marL="0">
              <a:buNone/>
            </a:pPr>
            <a:r>
              <a:rPr lang="en-US" sz="2000" b="1" dirty="0">
                <a:solidFill>
                  <a:srgbClr val="111111"/>
                </a:solidFill>
                <a:latin typeface="Microsoft YaHei" pitchFamily="34" charset="0"/>
                <a:ea typeface="Microsoft YaHei" pitchFamily="34" charset="-122"/>
                <a:cs typeface="Microsoft YaHei" pitchFamily="34" charset="-120"/>
              </a:rPr>
              <a:t>影响者角色</a:t>
            </a:r>
            <a:endParaRPr lang="en-US" sz="2000" dirty="0"/>
          </a:p>
        </p:txBody>
      </p:sp>
      <p:sp>
        <p:nvSpPr>
          <p:cNvPr id="20" name="Text 18"/>
          <p:cNvSpPr txBox="1"/>
          <p:nvPr/>
        </p:nvSpPr>
        <p:spPr>
          <a:xfrm>
            <a:off x="6260592" y="2240280"/>
            <a:ext cx="2334768" cy="365760"/>
          </a:xfrm>
          <a:prstGeom prst="rect">
            <a:avLst/>
          </a:prstGeom>
          <a:noFill/>
          <a:ln/>
        </p:spPr>
        <p:txBody>
          <a:bodyPr wrap="square" lIns="0" tIns="0" rIns="0" bIns="0" rtlCol="0" anchor="t"/>
          <a:lstStyle/>
          <a:p>
            <a:pPr indent="0" marL="0">
              <a:buNone/>
            </a:pPr>
            <a:r>
              <a:rPr lang="en-US" sz="1100" dirty="0">
                <a:solidFill>
                  <a:srgbClr val="6B6B6B"/>
                </a:solidFill>
                <a:latin typeface="Arial" pitchFamily="34" charset="0"/>
                <a:ea typeface="Arial" pitchFamily="34" charset="-122"/>
                <a:cs typeface="Arial" pitchFamily="34" charset="-120"/>
              </a:rPr>
              <a:t>Influencer Persona</a:t>
            </a:r>
            <a:endParaRPr lang="en-US" sz="1100" dirty="0"/>
          </a:p>
        </p:txBody>
      </p:sp>
      <p:sp>
        <p:nvSpPr>
          <p:cNvPr id="21" name="Shape 19"/>
          <p:cNvSpPr/>
          <p:nvPr/>
        </p:nvSpPr>
        <p:spPr>
          <a:xfrm>
            <a:off x="411480" y="2944368"/>
            <a:ext cx="8321040" cy="1627632"/>
          </a:xfrm>
          <a:prstGeom prst="roundRect">
            <a:avLst>
              <a:gd name="adj" fmla="val 5618"/>
            </a:avLst>
          </a:prstGeom>
          <a:solidFill>
            <a:srgbClr val="111111"/>
          </a:solidFill>
          <a:ln/>
        </p:spPr>
      </p:sp>
      <p:sp>
        <p:nvSpPr>
          <p:cNvPr id="22" name="Text 20"/>
          <p:cNvSpPr txBox="1"/>
          <p:nvPr/>
        </p:nvSpPr>
        <p:spPr>
          <a:xfrm>
            <a:off x="685800" y="3063240"/>
            <a:ext cx="7772400" cy="365760"/>
          </a:xfrm>
          <a:prstGeom prst="rect">
            <a:avLst/>
          </a:prstGeom>
          <a:noFill/>
          <a:ln/>
        </p:spPr>
        <p:txBody>
          <a:bodyPr wrap="square" lIns="0" tIns="0" rIns="0" bIns="0" rtlCol="0" anchor="ctr"/>
          <a:lstStyle/>
          <a:p>
            <a:pPr indent="0" marL="0">
              <a:buNone/>
            </a:pPr>
            <a:r>
              <a:rPr lang="en-US" sz="1500" b="1" dirty="0">
                <a:solidFill>
                  <a:srgbClr val="E4FF97"/>
                </a:solidFill>
                <a:latin typeface="Microsoft YaHei" pitchFamily="34" charset="0"/>
                <a:ea typeface="Microsoft YaHei" pitchFamily="34" charset="-122"/>
                <a:cs typeface="Microsoft YaHei" pitchFamily="34" charset="-120"/>
              </a:rPr>
              <a:t>不同类型角色的关注点</a:t>
            </a:r>
            <a:endParaRPr lang="en-US" sz="1500" dirty="0"/>
          </a:p>
        </p:txBody>
      </p:sp>
      <p:sp>
        <p:nvSpPr>
          <p:cNvPr id="23" name="Text 21"/>
          <p:cNvSpPr txBox="1"/>
          <p:nvPr/>
        </p:nvSpPr>
        <p:spPr>
          <a:xfrm>
            <a:off x="685800" y="3520440"/>
            <a:ext cx="7772400" cy="822960"/>
          </a:xfrm>
          <a:prstGeom prst="rect">
            <a:avLst/>
          </a:prstGeom>
          <a:noFill/>
          <a:ln/>
        </p:spPr>
        <p:txBody>
          <a:bodyPr wrap="square" lIns="0" tIns="0" rIns="0" bIns="0" rtlCol="0" anchor="ctr"/>
          <a:lstStyle/>
          <a:p>
            <a:pPr indent="0" marL="0">
              <a:buNone/>
            </a:pPr>
            <a:r>
              <a:rPr lang="en-US" sz="1600" dirty="0">
                <a:solidFill>
                  <a:srgbClr val="FFFFFF"/>
                </a:solidFill>
                <a:latin typeface="Microsoft YaHei" pitchFamily="34" charset="0"/>
                <a:ea typeface="Microsoft YaHei" pitchFamily="34" charset="-122"/>
                <a:cs typeface="Microsoft YaHei" pitchFamily="34" charset="-120"/>
              </a:rPr>
              <a:t>用户角色代表典型的最终用户，关注他们的使用需求和痛点。</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02 人物角色法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人物角色法的步骤</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Creating Personas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12</a:t>
            </a:r>
            <a:endParaRPr lang="en-US" sz="750" dirty="0"/>
          </a:p>
        </p:txBody>
      </p:sp>
      <p:sp>
        <p:nvSpPr>
          <p:cNvPr id="11" name="Shape 9"/>
          <p:cNvSpPr/>
          <p:nvPr/>
        </p:nvSpPr>
        <p:spPr>
          <a:xfrm>
            <a:off x="411480" y="1188720"/>
            <a:ext cx="2210562" cy="566928"/>
          </a:xfrm>
          <a:prstGeom prst="homePlate">
            <a:avLst/>
          </a:prstGeom>
          <a:solidFill>
            <a:srgbClr val="EBEBEB"/>
          </a:solidFill>
          <a:ln/>
        </p:spPr>
      </p:sp>
      <p:sp>
        <p:nvSpPr>
          <p:cNvPr id="12" name="Text 10"/>
          <p:cNvSpPr txBox="1"/>
          <p:nvPr/>
        </p:nvSpPr>
        <p:spPr>
          <a:xfrm>
            <a:off x="548640" y="1188720"/>
            <a:ext cx="1799082" cy="566928"/>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收集用户数据</a:t>
            </a:r>
            <a:endParaRPr lang="en-US" sz="1400" dirty="0"/>
          </a:p>
        </p:txBody>
      </p:sp>
      <p:sp>
        <p:nvSpPr>
          <p:cNvPr id="13" name="Shape 11"/>
          <p:cNvSpPr/>
          <p:nvPr/>
        </p:nvSpPr>
        <p:spPr>
          <a:xfrm>
            <a:off x="2448306" y="1188720"/>
            <a:ext cx="2210562" cy="566928"/>
          </a:xfrm>
          <a:prstGeom prst="chevron">
            <a:avLst/>
          </a:prstGeom>
          <a:solidFill>
            <a:srgbClr val="F4F4F4"/>
          </a:solidFill>
          <a:ln/>
        </p:spPr>
      </p:sp>
      <p:sp>
        <p:nvSpPr>
          <p:cNvPr id="14" name="Text 12"/>
          <p:cNvSpPr txBox="1"/>
          <p:nvPr/>
        </p:nvSpPr>
        <p:spPr>
          <a:xfrm>
            <a:off x="2768346" y="1188720"/>
            <a:ext cx="1616202" cy="566928"/>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相似用户分组</a:t>
            </a:r>
            <a:endParaRPr lang="en-US" sz="1400" dirty="0"/>
          </a:p>
        </p:txBody>
      </p:sp>
      <p:sp>
        <p:nvSpPr>
          <p:cNvPr id="15" name="Shape 13"/>
          <p:cNvSpPr/>
          <p:nvPr/>
        </p:nvSpPr>
        <p:spPr>
          <a:xfrm>
            <a:off x="4485132" y="1188720"/>
            <a:ext cx="2210562" cy="566928"/>
          </a:xfrm>
          <a:prstGeom prst="chevron">
            <a:avLst/>
          </a:prstGeom>
          <a:solidFill>
            <a:srgbClr val="EBEBEB"/>
          </a:solidFill>
          <a:ln/>
        </p:spPr>
      </p:sp>
      <p:sp>
        <p:nvSpPr>
          <p:cNvPr id="16" name="Text 14"/>
          <p:cNvSpPr txBox="1"/>
          <p:nvPr/>
        </p:nvSpPr>
        <p:spPr>
          <a:xfrm>
            <a:off x="4805172" y="1188720"/>
            <a:ext cx="1616202" cy="566928"/>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提炼典型特点</a:t>
            </a:r>
            <a:endParaRPr lang="en-US" sz="1400" dirty="0"/>
          </a:p>
        </p:txBody>
      </p:sp>
      <p:sp>
        <p:nvSpPr>
          <p:cNvPr id="17" name="Shape 15"/>
          <p:cNvSpPr/>
          <p:nvPr/>
        </p:nvSpPr>
        <p:spPr>
          <a:xfrm>
            <a:off x="6521958" y="1188720"/>
            <a:ext cx="2210562" cy="566928"/>
          </a:xfrm>
          <a:prstGeom prst="chevron">
            <a:avLst/>
          </a:prstGeom>
          <a:solidFill>
            <a:srgbClr val="E4FF97"/>
          </a:solidFill>
          <a:ln/>
        </p:spPr>
      </p:sp>
      <p:sp>
        <p:nvSpPr>
          <p:cNvPr id="18" name="Text 16"/>
          <p:cNvSpPr txBox="1"/>
          <p:nvPr/>
        </p:nvSpPr>
        <p:spPr>
          <a:xfrm>
            <a:off x="6841998" y="1188720"/>
            <a:ext cx="1616202" cy="566928"/>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创建虚拟角色</a:t>
            </a:r>
            <a:endParaRPr lang="en-US" sz="1400" dirty="0"/>
          </a:p>
        </p:txBody>
      </p:sp>
      <p:sp>
        <p:nvSpPr>
          <p:cNvPr id="19" name="Shape 17"/>
          <p:cNvSpPr/>
          <p:nvPr/>
        </p:nvSpPr>
        <p:spPr>
          <a:xfrm>
            <a:off x="411480" y="1920240"/>
            <a:ext cx="4105656" cy="2651760"/>
          </a:xfrm>
          <a:prstGeom prst="roundRect">
            <a:avLst>
              <a:gd name="adj" fmla="val 3448"/>
            </a:avLst>
          </a:prstGeom>
          <a:solidFill>
            <a:srgbClr val="F4F4F4"/>
          </a:solidFill>
          <a:ln/>
        </p:spPr>
      </p:sp>
      <p:sp>
        <p:nvSpPr>
          <p:cNvPr id="20" name="Text 18"/>
          <p:cNvSpPr txBox="1"/>
          <p:nvPr/>
        </p:nvSpPr>
        <p:spPr>
          <a:xfrm>
            <a:off x="640080" y="2084832"/>
            <a:ext cx="914400" cy="41148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01</a:t>
            </a:r>
            <a:endParaRPr lang="en-US" sz="2000" dirty="0"/>
          </a:p>
        </p:txBody>
      </p:sp>
      <p:sp>
        <p:nvSpPr>
          <p:cNvPr id="21" name="Text 19"/>
          <p:cNvSpPr txBox="1"/>
          <p:nvPr/>
        </p:nvSpPr>
        <p:spPr>
          <a:xfrm>
            <a:off x="640080" y="2587752"/>
            <a:ext cx="3694176" cy="384048"/>
          </a:xfrm>
          <a:prstGeom prst="rect">
            <a:avLst/>
          </a:prstGeom>
          <a:noFill/>
          <a:ln/>
        </p:spPr>
        <p:txBody>
          <a:bodyPr wrap="square" lIns="0" tIns="0" rIns="0" bIns="0" rtlCol="0" anchor="ctr"/>
          <a:lstStyle/>
          <a:p>
            <a:pPr indent="0" marL="0">
              <a:buNone/>
            </a:pPr>
            <a:r>
              <a:rPr lang="en-US" sz="1700" b="1" dirty="0">
                <a:solidFill>
                  <a:srgbClr val="111111"/>
                </a:solidFill>
                <a:latin typeface="Microsoft YaHei" pitchFamily="34" charset="0"/>
                <a:ea typeface="Microsoft YaHei" pitchFamily="34" charset="-122"/>
                <a:cs typeface="Microsoft YaHei" pitchFamily="34" charset="-120"/>
              </a:rPr>
              <a:t>收集用户数据</a:t>
            </a:r>
            <a:endParaRPr lang="en-US" sz="1700" dirty="0"/>
          </a:p>
        </p:txBody>
      </p:sp>
      <p:sp>
        <p:nvSpPr>
          <p:cNvPr id="22" name="Text 20"/>
          <p:cNvSpPr txBox="1"/>
          <p:nvPr/>
        </p:nvSpPr>
        <p:spPr>
          <a:xfrm>
            <a:off x="640080" y="3044952"/>
            <a:ext cx="3694176" cy="1435608"/>
          </a:xfrm>
          <a:prstGeom prst="rect">
            <a:avLst/>
          </a:prstGeom>
          <a:noFill/>
          <a:ln/>
        </p:spPr>
        <p:txBody>
          <a:bodyPr wrap="square" lIns="0" tIns="0" rIns="0" bIns="0" rtlCol="0" anchor="t"/>
          <a:lstStyle/>
          <a:p>
            <a:pPr indent="0" marL="0">
              <a:lnSpc>
                <a:spcPct val="135000"/>
              </a:lnSpc>
              <a:spcAft>
                <a:spcPts val="500"/>
              </a:spcAft>
              <a:buNone/>
            </a:pPr>
            <a:r>
              <a:rPr lang="en-US" sz="1400" dirty="0">
                <a:solidFill>
                  <a:srgbClr val="111111"/>
                </a:solidFill>
                <a:latin typeface="Microsoft YaHei" pitchFamily="34" charset="0"/>
                <a:ea typeface="Microsoft YaHei" pitchFamily="34" charset="-122"/>
                <a:cs typeface="Microsoft YaHei" pitchFamily="34" charset="-120"/>
              </a:rPr>
              <a:t>研究者通过访谈、问卷等方式收集用户信息。</a:t>
            </a:r>
            <a:endParaRPr lang="en-US" sz="1400" dirty="0"/>
          </a:p>
        </p:txBody>
      </p:sp>
      <p:sp>
        <p:nvSpPr>
          <p:cNvPr id="23" name="Shape 21"/>
          <p:cNvSpPr/>
          <p:nvPr/>
        </p:nvSpPr>
        <p:spPr>
          <a:xfrm>
            <a:off x="4626864" y="1920240"/>
            <a:ext cx="4105656" cy="2651760"/>
          </a:xfrm>
          <a:prstGeom prst="roundRect">
            <a:avLst>
              <a:gd name="adj" fmla="val 3448"/>
            </a:avLst>
          </a:prstGeom>
          <a:solidFill>
            <a:srgbClr val="111111"/>
          </a:solidFill>
          <a:ln/>
        </p:spPr>
      </p:sp>
      <p:sp>
        <p:nvSpPr>
          <p:cNvPr id="24" name="Text 22"/>
          <p:cNvSpPr txBox="1"/>
          <p:nvPr/>
        </p:nvSpPr>
        <p:spPr>
          <a:xfrm>
            <a:off x="4855464" y="2084832"/>
            <a:ext cx="914400" cy="411480"/>
          </a:xfrm>
          <a:prstGeom prst="rect">
            <a:avLst/>
          </a:prstGeom>
          <a:noFill/>
          <a:ln/>
        </p:spPr>
        <p:txBody>
          <a:bodyPr wrap="square" lIns="0" tIns="0" rIns="0" bIns="0" rtlCol="0" anchor="t"/>
          <a:lstStyle/>
          <a:p>
            <a:pPr indent="0" marL="0">
              <a:buNone/>
            </a:pPr>
            <a:r>
              <a:rPr lang="en-US" sz="2000" b="1" dirty="0">
                <a:solidFill>
                  <a:srgbClr val="E4FF97"/>
                </a:solidFill>
                <a:latin typeface="Arial" pitchFamily="34" charset="0"/>
                <a:ea typeface="Arial" pitchFamily="34" charset="-122"/>
                <a:cs typeface="Arial" pitchFamily="34" charset="-120"/>
              </a:rPr>
              <a:t>02</a:t>
            </a:r>
            <a:endParaRPr lang="en-US" sz="2000" dirty="0"/>
          </a:p>
        </p:txBody>
      </p:sp>
      <p:sp>
        <p:nvSpPr>
          <p:cNvPr id="25" name="Text 23"/>
          <p:cNvSpPr txBox="1"/>
          <p:nvPr/>
        </p:nvSpPr>
        <p:spPr>
          <a:xfrm>
            <a:off x="4855464" y="2587752"/>
            <a:ext cx="3694176" cy="384048"/>
          </a:xfrm>
          <a:prstGeom prst="rect">
            <a:avLst/>
          </a:prstGeom>
          <a:noFill/>
          <a:ln/>
        </p:spPr>
        <p:txBody>
          <a:bodyPr wrap="square" lIns="0" tIns="0" rIns="0" bIns="0" rtlCol="0" anchor="ctr"/>
          <a:lstStyle/>
          <a:p>
            <a:pPr indent="0" marL="0">
              <a:buNone/>
            </a:pPr>
            <a:r>
              <a:rPr lang="en-US" sz="1700" b="1" dirty="0">
                <a:solidFill>
                  <a:srgbClr val="FFFFFF"/>
                </a:solidFill>
                <a:latin typeface="Microsoft YaHei" pitchFamily="34" charset="0"/>
                <a:ea typeface="Microsoft YaHei" pitchFamily="34" charset="-122"/>
                <a:cs typeface="Microsoft YaHei" pitchFamily="34" charset="-120"/>
              </a:rPr>
              <a:t>分析数据并创建角色</a:t>
            </a:r>
            <a:endParaRPr lang="en-US" sz="1700" dirty="0"/>
          </a:p>
        </p:txBody>
      </p:sp>
      <p:sp>
        <p:nvSpPr>
          <p:cNvPr id="26" name="Text 24"/>
          <p:cNvSpPr txBox="1"/>
          <p:nvPr/>
        </p:nvSpPr>
        <p:spPr>
          <a:xfrm>
            <a:off x="4855464" y="3044952"/>
            <a:ext cx="3694176" cy="1435608"/>
          </a:xfrm>
          <a:prstGeom prst="rect">
            <a:avLst/>
          </a:prstGeom>
          <a:noFill/>
          <a:ln/>
        </p:spPr>
        <p:txBody>
          <a:bodyPr wrap="square" lIns="0" tIns="0" rIns="0" bIns="0" rtlCol="0" anchor="t"/>
          <a:lstStyle/>
          <a:p>
            <a:pPr indent="0" marL="0">
              <a:lnSpc>
                <a:spcPct val="135000"/>
              </a:lnSpc>
              <a:spcAft>
                <a:spcPts val="500"/>
              </a:spcAft>
              <a:buNone/>
            </a:pPr>
            <a:r>
              <a:rPr lang="en-US" sz="1400" dirty="0">
                <a:solidFill>
                  <a:srgbClr val="FFFFFF"/>
                </a:solidFill>
                <a:latin typeface="Microsoft YaHei" pitchFamily="34" charset="0"/>
                <a:ea typeface="Microsoft YaHei" pitchFamily="34" charset="-122"/>
                <a:cs typeface="Microsoft YaHei" pitchFamily="34" charset="-120"/>
              </a:rPr>
              <a:t>然后将相似用户分组，提炼出典型用户的特点，最后根据这些特点创建出虚拟的角色描述。</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02 人物角色法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人物角色法模型卡</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Persona Card</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13</a:t>
            </a:r>
            <a:endParaRPr lang="en-US" sz="750" dirty="0"/>
          </a:p>
        </p:txBody>
      </p:sp>
      <p:sp>
        <p:nvSpPr>
          <p:cNvPr id="11" name="Shape 9"/>
          <p:cNvSpPr/>
          <p:nvPr/>
        </p:nvSpPr>
        <p:spPr>
          <a:xfrm>
            <a:off x="411480" y="1188720"/>
            <a:ext cx="3931920" cy="3383280"/>
          </a:xfrm>
          <a:prstGeom prst="roundRect">
            <a:avLst>
              <a:gd name="adj" fmla="val 2703"/>
            </a:avLst>
          </a:prstGeom>
          <a:solidFill>
            <a:srgbClr val="FFFFFF"/>
          </a:solidFill>
          <a:ln w="9525">
            <a:solidFill>
              <a:srgbClr val="D0D0D0"/>
            </a:solidFill>
            <a:prstDash val="solid"/>
          </a:ln>
        </p:spPr>
      </p:sp>
      <p:sp>
        <p:nvSpPr>
          <p:cNvPr id="12" name="Shape 10"/>
          <p:cNvSpPr/>
          <p:nvPr/>
        </p:nvSpPr>
        <p:spPr>
          <a:xfrm>
            <a:off x="411480" y="1188720"/>
            <a:ext cx="3931920" cy="868680"/>
          </a:xfrm>
          <a:prstGeom prst="roundRect">
            <a:avLst>
              <a:gd name="adj" fmla="val 10526"/>
            </a:avLst>
          </a:prstGeom>
          <a:solidFill>
            <a:srgbClr val="E4FF97"/>
          </a:solidFill>
          <a:ln/>
        </p:spPr>
      </p:sp>
      <p:sp>
        <p:nvSpPr>
          <p:cNvPr id="13" name="Shape 11"/>
          <p:cNvSpPr/>
          <p:nvPr/>
        </p:nvSpPr>
        <p:spPr>
          <a:xfrm>
            <a:off x="594360" y="1298448"/>
            <a:ext cx="640080" cy="640080"/>
          </a:xfrm>
          <a:prstGeom prst="ellipse">
            <a:avLst/>
          </a:prstGeom>
          <a:solidFill>
            <a:srgbClr val="FFFFFF"/>
          </a:solidFill>
          <a:ln/>
        </p:spPr>
      </p:sp>
      <p:sp>
        <p:nvSpPr>
          <p:cNvPr id="14" name="Text 12"/>
          <p:cNvSpPr txBox="1"/>
          <p:nvPr/>
        </p:nvSpPr>
        <p:spPr>
          <a:xfrm>
            <a:off x="594360" y="1298448"/>
            <a:ext cx="640080" cy="640080"/>
          </a:xfrm>
          <a:prstGeom prst="rect">
            <a:avLst/>
          </a:prstGeom>
          <a:noFill/>
          <a:ln/>
        </p:spPr>
        <p:txBody>
          <a:bodyPr wrap="square" lIns="0" tIns="0" rIns="0" bIns="0" rtlCol="0" anchor="ctr"/>
          <a:lstStyle/>
          <a:p>
            <a:pPr algn="ctr" indent="0" marL="0">
              <a:buNone/>
            </a:pPr>
            <a:r>
              <a:rPr lang="en-US" sz="1100" b="1" dirty="0">
                <a:solidFill>
                  <a:srgbClr val="111111"/>
                </a:solidFill>
                <a:latin typeface="Microsoft YaHei" pitchFamily="34" charset="0"/>
                <a:ea typeface="Microsoft YaHei" pitchFamily="34" charset="-122"/>
                <a:cs typeface="Microsoft YaHei" pitchFamily="34" charset="-120"/>
              </a:rPr>
              <a:t>用户</a:t>
            </a:r>
            <a:endParaRPr lang="en-US" sz="1100" dirty="0"/>
          </a:p>
        </p:txBody>
      </p:sp>
      <p:sp>
        <p:nvSpPr>
          <p:cNvPr id="15" name="Text 13"/>
          <p:cNvSpPr txBox="1"/>
          <p:nvPr/>
        </p:nvSpPr>
        <p:spPr>
          <a:xfrm>
            <a:off x="1371600" y="1298448"/>
            <a:ext cx="2834640" cy="640080"/>
          </a:xfrm>
          <a:prstGeom prst="rect">
            <a:avLst/>
          </a:prstGeom>
          <a:noFill/>
          <a:ln/>
        </p:spPr>
        <p:txBody>
          <a:bodyPr wrap="square" lIns="0" tIns="0" rIns="0" bIns="0" rtlCol="0" anchor="ctr"/>
          <a:lstStyle/>
          <a:p>
            <a:pPr indent="0" marL="0">
              <a:buNone/>
            </a:pPr>
            <a:r>
              <a:rPr lang="en-US" sz="1600" b="1" dirty="0">
                <a:solidFill>
                  <a:srgbClr val="111111"/>
                </a:solidFill>
                <a:latin typeface="Arial" pitchFamily="34" charset="0"/>
                <a:ea typeface="Arial" pitchFamily="34" charset="-122"/>
                <a:cs typeface="Arial" pitchFamily="34" charset="-120"/>
              </a:rPr>
              <a:t>PERSONA</a:t>
            </a:r>
            <a:endParaRPr lang="en-US" sz="1600" dirty="0"/>
          </a:p>
          <a:p>
            <a:pPr indent="0" marL="0">
              <a:buNone/>
            </a:pPr>
            <a:r>
              <a:rPr lang="en-US" sz="1100" dirty="0">
                <a:solidFill>
                  <a:srgbClr val="111111"/>
                </a:solidFill>
                <a:latin typeface="Microsoft YaHei" pitchFamily="34" charset="0"/>
                <a:ea typeface="Microsoft YaHei" pitchFamily="34" charset="-122"/>
                <a:cs typeface="Microsoft YaHei" pitchFamily="34" charset="-120"/>
              </a:rPr>
              <a:t>人物角色模型卡</a:t>
            </a:r>
            <a:endParaRPr lang="en-US" sz="1600" dirty="0"/>
          </a:p>
        </p:txBody>
      </p:sp>
      <p:sp>
        <p:nvSpPr>
          <p:cNvPr id="16" name="Shape 14"/>
          <p:cNvSpPr/>
          <p:nvPr/>
        </p:nvSpPr>
        <p:spPr>
          <a:xfrm>
            <a:off x="594360" y="2194560"/>
            <a:ext cx="1005840" cy="457200"/>
          </a:xfrm>
          <a:prstGeom prst="rect">
            <a:avLst/>
          </a:prstGeom>
          <a:solidFill>
            <a:srgbClr val="F4F4F4"/>
          </a:solidFill>
          <a:ln/>
        </p:spPr>
      </p:sp>
      <p:sp>
        <p:nvSpPr>
          <p:cNvPr id="17" name="Text 15"/>
          <p:cNvSpPr txBox="1"/>
          <p:nvPr/>
        </p:nvSpPr>
        <p:spPr>
          <a:xfrm>
            <a:off x="594360" y="2194560"/>
            <a:ext cx="1005840" cy="457200"/>
          </a:xfrm>
          <a:prstGeom prst="rect">
            <a:avLst/>
          </a:prstGeom>
          <a:noFill/>
          <a:ln/>
        </p:spPr>
        <p:txBody>
          <a:bodyPr wrap="square" lIns="0" tIns="0" rIns="0" bIns="0" rtlCol="0" anchor="ctr"/>
          <a:lstStyle/>
          <a:p>
            <a:pPr algn="ctr" indent="0" marL="0">
              <a:buNone/>
            </a:pPr>
            <a:r>
              <a:rPr lang="en-US" sz="1200" b="1" dirty="0">
                <a:solidFill>
                  <a:srgbClr val="111111"/>
                </a:solidFill>
                <a:latin typeface="Microsoft YaHei" pitchFamily="34" charset="0"/>
                <a:ea typeface="Microsoft YaHei" pitchFamily="34" charset="-122"/>
                <a:cs typeface="Microsoft YaHei" pitchFamily="34" charset="-120"/>
              </a:rPr>
              <a:t>基本信息</a:t>
            </a:r>
            <a:endParaRPr lang="en-US" sz="1200" dirty="0"/>
          </a:p>
        </p:txBody>
      </p:sp>
      <p:sp>
        <p:nvSpPr>
          <p:cNvPr id="18" name="Shape 16"/>
          <p:cNvSpPr/>
          <p:nvPr/>
        </p:nvSpPr>
        <p:spPr>
          <a:xfrm>
            <a:off x="1737360" y="2304288"/>
            <a:ext cx="2377440" cy="82296"/>
          </a:xfrm>
          <a:prstGeom prst="rect">
            <a:avLst/>
          </a:prstGeom>
          <a:solidFill>
            <a:srgbClr val="EBEBEB"/>
          </a:solidFill>
          <a:ln/>
        </p:spPr>
      </p:sp>
      <p:sp>
        <p:nvSpPr>
          <p:cNvPr id="19" name="Shape 17"/>
          <p:cNvSpPr/>
          <p:nvPr/>
        </p:nvSpPr>
        <p:spPr>
          <a:xfrm>
            <a:off x="1737360" y="2459736"/>
            <a:ext cx="1645920" cy="82296"/>
          </a:xfrm>
          <a:prstGeom prst="rect">
            <a:avLst/>
          </a:prstGeom>
          <a:solidFill>
            <a:srgbClr val="EBEBEB"/>
          </a:solidFill>
          <a:ln/>
        </p:spPr>
      </p:sp>
      <p:sp>
        <p:nvSpPr>
          <p:cNvPr id="20" name="Shape 18"/>
          <p:cNvSpPr/>
          <p:nvPr/>
        </p:nvSpPr>
        <p:spPr>
          <a:xfrm>
            <a:off x="594360" y="2779776"/>
            <a:ext cx="1005840" cy="457200"/>
          </a:xfrm>
          <a:prstGeom prst="rect">
            <a:avLst/>
          </a:prstGeom>
          <a:solidFill>
            <a:srgbClr val="F4F4F4"/>
          </a:solidFill>
          <a:ln/>
        </p:spPr>
      </p:sp>
      <p:sp>
        <p:nvSpPr>
          <p:cNvPr id="21" name="Text 19"/>
          <p:cNvSpPr txBox="1"/>
          <p:nvPr/>
        </p:nvSpPr>
        <p:spPr>
          <a:xfrm>
            <a:off x="594360" y="2779776"/>
            <a:ext cx="1005840" cy="457200"/>
          </a:xfrm>
          <a:prstGeom prst="rect">
            <a:avLst/>
          </a:prstGeom>
          <a:noFill/>
          <a:ln/>
        </p:spPr>
        <p:txBody>
          <a:bodyPr wrap="square" lIns="0" tIns="0" rIns="0" bIns="0" rtlCol="0" anchor="ctr"/>
          <a:lstStyle/>
          <a:p>
            <a:pPr algn="ctr" indent="0" marL="0">
              <a:buNone/>
            </a:pPr>
            <a:r>
              <a:rPr lang="en-US" sz="1200" b="1" dirty="0">
                <a:solidFill>
                  <a:srgbClr val="111111"/>
                </a:solidFill>
                <a:latin typeface="Microsoft YaHei" pitchFamily="34" charset="0"/>
                <a:ea typeface="Microsoft YaHei" pitchFamily="34" charset="-122"/>
                <a:cs typeface="Microsoft YaHei" pitchFamily="34" charset="-120"/>
              </a:rPr>
              <a:t>目标</a:t>
            </a:r>
            <a:endParaRPr lang="en-US" sz="1200" dirty="0"/>
          </a:p>
        </p:txBody>
      </p:sp>
      <p:sp>
        <p:nvSpPr>
          <p:cNvPr id="22" name="Shape 20"/>
          <p:cNvSpPr/>
          <p:nvPr/>
        </p:nvSpPr>
        <p:spPr>
          <a:xfrm>
            <a:off x="1737360" y="2889504"/>
            <a:ext cx="2057400" cy="82296"/>
          </a:xfrm>
          <a:prstGeom prst="rect">
            <a:avLst/>
          </a:prstGeom>
          <a:solidFill>
            <a:srgbClr val="EBEBEB"/>
          </a:solidFill>
          <a:ln/>
        </p:spPr>
      </p:sp>
      <p:sp>
        <p:nvSpPr>
          <p:cNvPr id="23" name="Shape 21"/>
          <p:cNvSpPr/>
          <p:nvPr/>
        </p:nvSpPr>
        <p:spPr>
          <a:xfrm>
            <a:off x="1737360" y="3044952"/>
            <a:ext cx="1828800" cy="82296"/>
          </a:xfrm>
          <a:prstGeom prst="rect">
            <a:avLst/>
          </a:prstGeom>
          <a:solidFill>
            <a:srgbClr val="EBEBEB"/>
          </a:solidFill>
          <a:ln/>
        </p:spPr>
      </p:sp>
      <p:sp>
        <p:nvSpPr>
          <p:cNvPr id="24" name="Shape 22"/>
          <p:cNvSpPr/>
          <p:nvPr/>
        </p:nvSpPr>
        <p:spPr>
          <a:xfrm>
            <a:off x="594360" y="3364992"/>
            <a:ext cx="1005840" cy="457200"/>
          </a:xfrm>
          <a:prstGeom prst="rect">
            <a:avLst/>
          </a:prstGeom>
          <a:solidFill>
            <a:srgbClr val="F4F4F4"/>
          </a:solidFill>
          <a:ln/>
        </p:spPr>
      </p:sp>
      <p:sp>
        <p:nvSpPr>
          <p:cNvPr id="25" name="Text 23"/>
          <p:cNvSpPr txBox="1"/>
          <p:nvPr/>
        </p:nvSpPr>
        <p:spPr>
          <a:xfrm>
            <a:off x="594360" y="3364992"/>
            <a:ext cx="1005840" cy="457200"/>
          </a:xfrm>
          <a:prstGeom prst="rect">
            <a:avLst/>
          </a:prstGeom>
          <a:noFill/>
          <a:ln/>
        </p:spPr>
        <p:txBody>
          <a:bodyPr wrap="square" lIns="0" tIns="0" rIns="0" bIns="0" rtlCol="0" anchor="ctr"/>
          <a:lstStyle/>
          <a:p>
            <a:pPr algn="ctr" indent="0" marL="0">
              <a:buNone/>
            </a:pPr>
            <a:r>
              <a:rPr lang="en-US" sz="1200" b="1" dirty="0">
                <a:solidFill>
                  <a:srgbClr val="111111"/>
                </a:solidFill>
                <a:latin typeface="Microsoft YaHei" pitchFamily="34" charset="0"/>
                <a:ea typeface="Microsoft YaHei" pitchFamily="34" charset="-122"/>
                <a:cs typeface="Microsoft YaHei" pitchFamily="34" charset="-120"/>
              </a:rPr>
              <a:t>行为</a:t>
            </a:r>
            <a:endParaRPr lang="en-US" sz="1200" dirty="0"/>
          </a:p>
        </p:txBody>
      </p:sp>
      <p:sp>
        <p:nvSpPr>
          <p:cNvPr id="26" name="Shape 24"/>
          <p:cNvSpPr/>
          <p:nvPr/>
        </p:nvSpPr>
        <p:spPr>
          <a:xfrm>
            <a:off x="1737360" y="3474720"/>
            <a:ext cx="1737360" cy="82296"/>
          </a:xfrm>
          <a:prstGeom prst="rect">
            <a:avLst/>
          </a:prstGeom>
          <a:solidFill>
            <a:srgbClr val="EBEBEB"/>
          </a:solidFill>
          <a:ln/>
        </p:spPr>
      </p:sp>
      <p:sp>
        <p:nvSpPr>
          <p:cNvPr id="27" name="Shape 25"/>
          <p:cNvSpPr/>
          <p:nvPr/>
        </p:nvSpPr>
        <p:spPr>
          <a:xfrm>
            <a:off x="1737360" y="3630168"/>
            <a:ext cx="2011680" cy="82296"/>
          </a:xfrm>
          <a:prstGeom prst="rect">
            <a:avLst/>
          </a:prstGeom>
          <a:solidFill>
            <a:srgbClr val="EBEBEB"/>
          </a:solidFill>
          <a:ln/>
        </p:spPr>
      </p:sp>
      <p:sp>
        <p:nvSpPr>
          <p:cNvPr id="28" name="Shape 26"/>
          <p:cNvSpPr/>
          <p:nvPr/>
        </p:nvSpPr>
        <p:spPr>
          <a:xfrm>
            <a:off x="594360" y="3950208"/>
            <a:ext cx="1005840" cy="457200"/>
          </a:xfrm>
          <a:prstGeom prst="rect">
            <a:avLst/>
          </a:prstGeom>
          <a:solidFill>
            <a:srgbClr val="111111"/>
          </a:solidFill>
          <a:ln/>
        </p:spPr>
      </p:sp>
      <p:sp>
        <p:nvSpPr>
          <p:cNvPr id="29" name="Text 27"/>
          <p:cNvSpPr txBox="1"/>
          <p:nvPr/>
        </p:nvSpPr>
        <p:spPr>
          <a:xfrm>
            <a:off x="594360" y="3950208"/>
            <a:ext cx="100584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痛点</a:t>
            </a:r>
            <a:endParaRPr lang="en-US" sz="1200" dirty="0"/>
          </a:p>
        </p:txBody>
      </p:sp>
      <p:sp>
        <p:nvSpPr>
          <p:cNvPr id="30" name="Shape 28"/>
          <p:cNvSpPr/>
          <p:nvPr/>
        </p:nvSpPr>
        <p:spPr>
          <a:xfrm>
            <a:off x="1737360" y="4059936"/>
            <a:ext cx="1417320" cy="82296"/>
          </a:xfrm>
          <a:prstGeom prst="rect">
            <a:avLst/>
          </a:prstGeom>
          <a:solidFill>
            <a:srgbClr val="EBEBEB"/>
          </a:solidFill>
          <a:ln/>
        </p:spPr>
      </p:sp>
      <p:sp>
        <p:nvSpPr>
          <p:cNvPr id="31" name="Shape 29"/>
          <p:cNvSpPr/>
          <p:nvPr/>
        </p:nvSpPr>
        <p:spPr>
          <a:xfrm>
            <a:off x="1737360" y="4215384"/>
            <a:ext cx="2194560" cy="82296"/>
          </a:xfrm>
          <a:prstGeom prst="rect">
            <a:avLst/>
          </a:prstGeom>
          <a:solidFill>
            <a:srgbClr val="EBEBEB"/>
          </a:solidFill>
          <a:ln/>
        </p:spPr>
      </p:sp>
      <p:sp>
        <p:nvSpPr>
          <p:cNvPr id="32" name="Shape 30"/>
          <p:cNvSpPr/>
          <p:nvPr/>
        </p:nvSpPr>
        <p:spPr>
          <a:xfrm>
            <a:off x="4453128" y="1188720"/>
            <a:ext cx="4279392" cy="1636776"/>
          </a:xfrm>
          <a:prstGeom prst="roundRect">
            <a:avLst>
              <a:gd name="adj" fmla="val 5587"/>
            </a:avLst>
          </a:prstGeom>
          <a:solidFill>
            <a:srgbClr val="E4FF97"/>
          </a:solidFill>
          <a:ln/>
        </p:spPr>
      </p:sp>
      <p:sp>
        <p:nvSpPr>
          <p:cNvPr id="33" name="Text 31"/>
          <p:cNvSpPr txBox="1"/>
          <p:nvPr/>
        </p:nvSpPr>
        <p:spPr>
          <a:xfrm>
            <a:off x="4681728" y="1353312"/>
            <a:ext cx="914400" cy="411480"/>
          </a:xfrm>
          <a:prstGeom prst="rect">
            <a:avLst/>
          </a:prstGeom>
          <a:noFill/>
          <a:ln/>
        </p:spPr>
        <p:txBody>
          <a:bodyPr wrap="square" lIns="0" tIns="0" rIns="0" bIns="0" rtlCol="0" anchor="t"/>
          <a:lstStyle/>
          <a:p>
            <a:pPr indent="0" marL="0">
              <a:buNone/>
            </a:pPr>
            <a:r>
              <a:rPr lang="en-US" sz="1400" b="1" dirty="0">
                <a:solidFill>
                  <a:srgbClr val="111111"/>
                </a:solidFill>
                <a:latin typeface="Arial" pitchFamily="34" charset="0"/>
                <a:ea typeface="Arial" pitchFamily="34" charset="-122"/>
                <a:cs typeface="Arial" pitchFamily="34" charset="-120"/>
              </a:rPr>
              <a:t>01</a:t>
            </a:r>
            <a:endParaRPr lang="en-US" sz="1400" dirty="0"/>
          </a:p>
        </p:txBody>
      </p:sp>
      <p:sp>
        <p:nvSpPr>
          <p:cNvPr id="34" name="Text 32"/>
          <p:cNvSpPr txBox="1"/>
          <p:nvPr/>
        </p:nvSpPr>
        <p:spPr>
          <a:xfrm>
            <a:off x="4681728" y="1673352"/>
            <a:ext cx="3867912" cy="384048"/>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人物角色模型卡的内容</a:t>
            </a:r>
            <a:endParaRPr lang="en-US" sz="1500" dirty="0"/>
          </a:p>
        </p:txBody>
      </p:sp>
      <p:sp>
        <p:nvSpPr>
          <p:cNvPr id="35" name="Text 33"/>
          <p:cNvSpPr txBox="1"/>
          <p:nvPr/>
        </p:nvSpPr>
        <p:spPr>
          <a:xfrm>
            <a:off x="4681728" y="2130552"/>
            <a:ext cx="3867912" cy="603504"/>
          </a:xfrm>
          <a:prstGeom prst="rect">
            <a:avLst/>
          </a:prstGeom>
          <a:noFill/>
          <a:ln/>
        </p:spPr>
        <p:txBody>
          <a:bodyPr wrap="square" lIns="0" tIns="0" rIns="0" bIns="0" rtlCol="0" anchor="t"/>
          <a:lstStyle/>
          <a:p>
            <a:pPr indent="0" marL="0">
              <a:lnSpc>
                <a:spcPct val="135000"/>
              </a:lnSpc>
              <a:spcAft>
                <a:spcPts val="500"/>
              </a:spcAft>
              <a:buNone/>
            </a:pPr>
            <a:r>
              <a:rPr lang="en-US" sz="1250" dirty="0">
                <a:solidFill>
                  <a:srgbClr val="111111"/>
                </a:solidFill>
                <a:latin typeface="Microsoft YaHei" pitchFamily="34" charset="0"/>
                <a:ea typeface="Microsoft YaHei" pitchFamily="34" charset="-122"/>
                <a:cs typeface="Microsoft YaHei" pitchFamily="34" charset="-120"/>
              </a:rPr>
              <a:t>人物角色模型卡是一种标准化的角色呈现方式，包含用户的基本信息、目标、行为、痛点等。</a:t>
            </a:r>
            <a:endParaRPr lang="en-US" sz="1250" dirty="0"/>
          </a:p>
        </p:txBody>
      </p:sp>
      <p:sp>
        <p:nvSpPr>
          <p:cNvPr id="36" name="Shape 34"/>
          <p:cNvSpPr/>
          <p:nvPr/>
        </p:nvSpPr>
        <p:spPr>
          <a:xfrm>
            <a:off x="4453128" y="2935224"/>
            <a:ext cx="4279392" cy="1636776"/>
          </a:xfrm>
          <a:prstGeom prst="roundRect">
            <a:avLst>
              <a:gd name="adj" fmla="val 5587"/>
            </a:avLst>
          </a:prstGeom>
          <a:solidFill>
            <a:srgbClr val="F4F4F4"/>
          </a:solidFill>
          <a:ln/>
        </p:spPr>
      </p:sp>
      <p:sp>
        <p:nvSpPr>
          <p:cNvPr id="37" name="Text 35"/>
          <p:cNvSpPr txBox="1"/>
          <p:nvPr/>
        </p:nvSpPr>
        <p:spPr>
          <a:xfrm>
            <a:off x="4681728" y="3099816"/>
            <a:ext cx="914400" cy="411480"/>
          </a:xfrm>
          <a:prstGeom prst="rect">
            <a:avLst/>
          </a:prstGeom>
          <a:noFill/>
          <a:ln/>
        </p:spPr>
        <p:txBody>
          <a:bodyPr wrap="square" lIns="0" tIns="0" rIns="0" bIns="0" rtlCol="0" anchor="t"/>
          <a:lstStyle/>
          <a:p>
            <a:pPr indent="0" marL="0">
              <a:buNone/>
            </a:pPr>
            <a:r>
              <a:rPr lang="en-US" sz="1400" b="1" dirty="0">
                <a:solidFill>
                  <a:srgbClr val="111111"/>
                </a:solidFill>
                <a:latin typeface="Arial" pitchFamily="34" charset="0"/>
                <a:ea typeface="Arial" pitchFamily="34" charset="-122"/>
                <a:cs typeface="Arial" pitchFamily="34" charset="-120"/>
              </a:rPr>
              <a:t>02</a:t>
            </a:r>
            <a:endParaRPr lang="en-US" sz="1400" dirty="0"/>
          </a:p>
        </p:txBody>
      </p:sp>
      <p:sp>
        <p:nvSpPr>
          <p:cNvPr id="38" name="Text 36"/>
          <p:cNvSpPr txBox="1"/>
          <p:nvPr/>
        </p:nvSpPr>
        <p:spPr>
          <a:xfrm>
            <a:off x="4681728" y="3419856"/>
            <a:ext cx="3867912" cy="384048"/>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人物角色模型卡的作用</a:t>
            </a:r>
            <a:endParaRPr lang="en-US" sz="1500" dirty="0"/>
          </a:p>
        </p:txBody>
      </p:sp>
      <p:sp>
        <p:nvSpPr>
          <p:cNvPr id="39" name="Text 37"/>
          <p:cNvSpPr txBox="1"/>
          <p:nvPr/>
        </p:nvSpPr>
        <p:spPr>
          <a:xfrm>
            <a:off x="4681728" y="3877056"/>
            <a:ext cx="3867912" cy="603504"/>
          </a:xfrm>
          <a:prstGeom prst="rect">
            <a:avLst/>
          </a:prstGeom>
          <a:noFill/>
          <a:ln/>
        </p:spPr>
        <p:txBody>
          <a:bodyPr wrap="square" lIns="0" tIns="0" rIns="0" bIns="0" rtlCol="0" anchor="t"/>
          <a:lstStyle/>
          <a:p>
            <a:pPr indent="0" marL="0">
              <a:lnSpc>
                <a:spcPct val="135000"/>
              </a:lnSpc>
              <a:spcAft>
                <a:spcPts val="500"/>
              </a:spcAft>
              <a:buNone/>
            </a:pPr>
            <a:r>
              <a:rPr lang="en-US" sz="1250" dirty="0">
                <a:solidFill>
                  <a:srgbClr val="111111"/>
                </a:solidFill>
                <a:latin typeface="Microsoft YaHei" pitchFamily="34" charset="0"/>
                <a:ea typeface="Microsoft YaHei" pitchFamily="34" charset="-122"/>
                <a:cs typeface="Microsoft YaHei" pitchFamily="34" charset="-120"/>
              </a:rPr>
              <a:t>通过角色模型卡，团队可以更系统地了解用户的需求，有助于设计的交流和讨论。</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02 人物角色法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人物角色法的优缺点</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Pros &amp; Cons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14</a:t>
            </a:r>
            <a:endParaRPr lang="en-US" sz="750" dirty="0"/>
          </a:p>
        </p:txBody>
      </p:sp>
      <p:sp>
        <p:nvSpPr>
          <p:cNvPr id="11" name="Shape 9"/>
          <p:cNvSpPr/>
          <p:nvPr/>
        </p:nvSpPr>
        <p:spPr>
          <a:xfrm>
            <a:off x="411480" y="1188720"/>
            <a:ext cx="4105656" cy="3383280"/>
          </a:xfrm>
          <a:prstGeom prst="roundRect">
            <a:avLst>
              <a:gd name="adj" fmla="val 2703"/>
            </a:avLst>
          </a:prstGeom>
          <a:solidFill>
            <a:srgbClr val="E4FF97"/>
          </a:solidFill>
          <a:ln/>
        </p:spPr>
      </p:sp>
      <p:sp>
        <p:nvSpPr>
          <p:cNvPr id="12" name="Text 10"/>
          <p:cNvSpPr txBox="1"/>
          <p:nvPr/>
        </p:nvSpPr>
        <p:spPr>
          <a:xfrm>
            <a:off x="685800" y="1280160"/>
            <a:ext cx="1371600" cy="1005840"/>
          </a:xfrm>
          <a:prstGeom prst="rect">
            <a:avLst/>
          </a:prstGeom>
          <a:noFill/>
          <a:ln/>
        </p:spPr>
        <p:txBody>
          <a:bodyPr wrap="square" lIns="0" tIns="0" rIns="0" bIns="0" rtlCol="0" anchor="t"/>
          <a:lstStyle/>
          <a:p>
            <a:pPr indent="0" marL="0">
              <a:buNone/>
            </a:pPr>
            <a:r>
              <a:rPr lang="en-US" sz="6000" b="1" dirty="0">
                <a:solidFill>
                  <a:srgbClr val="111111"/>
                </a:solidFill>
                <a:latin typeface="Arial" pitchFamily="34" charset="0"/>
                <a:ea typeface="Arial" pitchFamily="34" charset="-122"/>
                <a:cs typeface="Arial" pitchFamily="34" charset="-120"/>
              </a:rPr>
              <a:t>+</a:t>
            </a:r>
            <a:endParaRPr lang="en-US" sz="6000" dirty="0"/>
          </a:p>
        </p:txBody>
      </p:sp>
      <p:sp>
        <p:nvSpPr>
          <p:cNvPr id="13" name="Text 11"/>
          <p:cNvSpPr txBox="1"/>
          <p:nvPr/>
        </p:nvSpPr>
        <p:spPr>
          <a:xfrm>
            <a:off x="685800" y="2377440"/>
            <a:ext cx="3566160" cy="502920"/>
          </a:xfrm>
          <a:prstGeom prst="rect">
            <a:avLst/>
          </a:prstGeom>
          <a:noFill/>
          <a:ln/>
        </p:spPr>
        <p:txBody>
          <a:bodyPr wrap="square" lIns="0" tIns="0" rIns="0" bIns="0" rtlCol="0" anchor="ctr"/>
          <a:lstStyle/>
          <a:p>
            <a:pPr indent="0" marL="0">
              <a:buNone/>
            </a:pPr>
            <a:r>
              <a:rPr lang="en-US" sz="2000" b="1" dirty="0">
                <a:solidFill>
                  <a:srgbClr val="111111"/>
                </a:solidFill>
                <a:latin typeface="Microsoft YaHei" pitchFamily="34" charset="0"/>
                <a:ea typeface="Microsoft YaHei" pitchFamily="34" charset="-122"/>
                <a:cs typeface="Microsoft YaHei" pitchFamily="34" charset="-120"/>
              </a:rPr>
              <a:t>人物角色法的优点</a:t>
            </a:r>
            <a:endParaRPr lang="en-US" sz="2000" dirty="0"/>
          </a:p>
        </p:txBody>
      </p:sp>
      <p:sp>
        <p:nvSpPr>
          <p:cNvPr id="14" name="Text 12"/>
          <p:cNvSpPr txBox="1"/>
          <p:nvPr/>
        </p:nvSpPr>
        <p:spPr>
          <a:xfrm>
            <a:off x="685800" y="2971800"/>
            <a:ext cx="3566160" cy="1508760"/>
          </a:xfrm>
          <a:prstGeom prst="rect">
            <a:avLst/>
          </a:prstGeom>
          <a:noFill/>
          <a:ln/>
        </p:spPr>
        <p:txBody>
          <a:bodyPr wrap="square" lIns="0" tIns="0" rIns="0" bIns="0" rtlCol="0" anchor="t"/>
          <a:lstStyle/>
          <a:p>
            <a:pPr indent="0" marL="0">
              <a:lnSpc>
                <a:spcPct val="150000"/>
              </a:lnSpc>
              <a:buNone/>
            </a:pPr>
            <a:r>
              <a:rPr lang="en-US" sz="1500" dirty="0">
                <a:solidFill>
                  <a:srgbClr val="111111"/>
                </a:solidFill>
                <a:latin typeface="Microsoft YaHei" pitchFamily="34" charset="0"/>
                <a:ea typeface="Microsoft YaHei" pitchFamily="34" charset="-122"/>
                <a:cs typeface="Microsoft YaHei" pitchFamily="34" charset="-120"/>
              </a:rPr>
              <a:t>人物角色法的优点在于能够帮助设计团队明确用户需求，避免在设计过程中迷失方向。</a:t>
            </a:r>
            <a:endParaRPr lang="en-US" sz="1500" dirty="0"/>
          </a:p>
        </p:txBody>
      </p:sp>
      <p:sp>
        <p:nvSpPr>
          <p:cNvPr id="15" name="Shape 13"/>
          <p:cNvSpPr/>
          <p:nvPr/>
        </p:nvSpPr>
        <p:spPr>
          <a:xfrm>
            <a:off x="4626864" y="1188720"/>
            <a:ext cx="4105656" cy="3383280"/>
          </a:xfrm>
          <a:prstGeom prst="roundRect">
            <a:avLst>
              <a:gd name="adj" fmla="val 2703"/>
            </a:avLst>
          </a:prstGeom>
          <a:solidFill>
            <a:srgbClr val="111111"/>
          </a:solidFill>
          <a:ln/>
        </p:spPr>
      </p:sp>
      <p:sp>
        <p:nvSpPr>
          <p:cNvPr id="16" name="Text 14"/>
          <p:cNvSpPr txBox="1"/>
          <p:nvPr/>
        </p:nvSpPr>
        <p:spPr>
          <a:xfrm>
            <a:off x="4901184" y="1280160"/>
            <a:ext cx="1371600" cy="1005840"/>
          </a:xfrm>
          <a:prstGeom prst="rect">
            <a:avLst/>
          </a:prstGeom>
          <a:noFill/>
          <a:ln/>
        </p:spPr>
        <p:txBody>
          <a:bodyPr wrap="square" lIns="0" tIns="0" rIns="0" bIns="0" rtlCol="0" anchor="t"/>
          <a:lstStyle/>
          <a:p>
            <a:pPr indent="0" marL="0">
              <a:buNone/>
            </a:pPr>
            <a:r>
              <a:rPr lang="en-US" sz="6000" b="1" dirty="0">
                <a:solidFill>
                  <a:srgbClr val="E4FF97"/>
                </a:solidFill>
                <a:latin typeface="Arial" pitchFamily="34" charset="0"/>
                <a:ea typeface="Arial" pitchFamily="34" charset="-122"/>
                <a:cs typeface="Arial" pitchFamily="34" charset="-120"/>
              </a:rPr>
              <a:t>−</a:t>
            </a:r>
            <a:endParaRPr lang="en-US" sz="6000" dirty="0"/>
          </a:p>
        </p:txBody>
      </p:sp>
      <p:sp>
        <p:nvSpPr>
          <p:cNvPr id="17" name="Text 15"/>
          <p:cNvSpPr txBox="1"/>
          <p:nvPr/>
        </p:nvSpPr>
        <p:spPr>
          <a:xfrm>
            <a:off x="4901184" y="2377440"/>
            <a:ext cx="3566160" cy="502920"/>
          </a:xfrm>
          <a:prstGeom prst="rect">
            <a:avLst/>
          </a:prstGeom>
          <a:noFill/>
          <a:ln/>
        </p:spPr>
        <p:txBody>
          <a:bodyPr wrap="square" lIns="0" tIns="0" rIns="0" bIns="0" rtlCol="0" anchor="ctr"/>
          <a:lstStyle/>
          <a:p>
            <a:pPr indent="0" marL="0">
              <a:buNone/>
            </a:pPr>
            <a:r>
              <a:rPr lang="en-US" sz="2000" b="1" dirty="0">
                <a:solidFill>
                  <a:srgbClr val="FFFFFF"/>
                </a:solidFill>
                <a:latin typeface="Microsoft YaHei" pitchFamily="34" charset="0"/>
                <a:ea typeface="Microsoft YaHei" pitchFamily="34" charset="-122"/>
                <a:cs typeface="Microsoft YaHei" pitchFamily="34" charset="-120"/>
              </a:rPr>
              <a:t>人物角色法的局限</a:t>
            </a:r>
            <a:endParaRPr lang="en-US" sz="2000" dirty="0"/>
          </a:p>
        </p:txBody>
      </p:sp>
      <p:sp>
        <p:nvSpPr>
          <p:cNvPr id="18" name="Text 16"/>
          <p:cNvSpPr txBox="1"/>
          <p:nvPr/>
        </p:nvSpPr>
        <p:spPr>
          <a:xfrm>
            <a:off x="4901184" y="2971800"/>
            <a:ext cx="3566160" cy="1508760"/>
          </a:xfrm>
          <a:prstGeom prst="rect">
            <a:avLst/>
          </a:prstGeom>
          <a:noFill/>
          <a:ln/>
        </p:spPr>
        <p:txBody>
          <a:bodyPr wrap="square" lIns="0" tIns="0" rIns="0" bIns="0" rtlCol="0" anchor="t"/>
          <a:lstStyle/>
          <a:p>
            <a:pPr indent="0" marL="0">
              <a:lnSpc>
                <a:spcPct val="150000"/>
              </a:lnSpc>
              <a:buNone/>
            </a:pPr>
            <a:r>
              <a:rPr lang="en-US" sz="1500" dirty="0">
                <a:solidFill>
                  <a:srgbClr val="FFFFFF"/>
                </a:solidFill>
                <a:latin typeface="Microsoft YaHei" pitchFamily="34" charset="0"/>
                <a:ea typeface="Microsoft YaHei" pitchFamily="34" charset="-122"/>
                <a:cs typeface="Microsoft YaHei" pitchFamily="34" charset="-120"/>
              </a:rPr>
              <a:t>人物角色法的局限在于角色的构建依赖于调研数据的质量。</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02 人物角色法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应用案例</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Case: Travel Website</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15</a:t>
            </a:r>
            <a:endParaRPr lang="en-US" sz="750" dirty="0"/>
          </a:p>
        </p:txBody>
      </p:sp>
      <p:sp>
        <p:nvSpPr>
          <p:cNvPr id="11" name="Shape 9"/>
          <p:cNvSpPr/>
          <p:nvPr/>
        </p:nvSpPr>
        <p:spPr>
          <a:xfrm>
            <a:off x="411480" y="1188720"/>
            <a:ext cx="4105656" cy="3383280"/>
          </a:xfrm>
          <a:prstGeom prst="roundRect">
            <a:avLst>
              <a:gd name="adj" fmla="val 2703"/>
            </a:avLst>
          </a:prstGeom>
          <a:solidFill>
            <a:srgbClr val="F4F4F4"/>
          </a:solidFill>
          <a:ln/>
        </p:spPr>
      </p:sp>
      <p:sp>
        <p:nvSpPr>
          <p:cNvPr id="12" name="Text 10"/>
          <p:cNvSpPr txBox="1"/>
          <p:nvPr/>
        </p:nvSpPr>
        <p:spPr>
          <a:xfrm>
            <a:off x="685800" y="1371600"/>
            <a:ext cx="3566160" cy="411480"/>
          </a:xfrm>
          <a:prstGeom prst="rect">
            <a:avLst/>
          </a:prstGeom>
          <a:noFill/>
          <a:ln/>
        </p:spPr>
        <p:txBody>
          <a:bodyPr wrap="square" lIns="0" tIns="0" rIns="0" bIns="0" rtlCol="0" anchor="t"/>
          <a:lstStyle/>
          <a:p>
            <a:pPr indent="0" marL="0">
              <a:buNone/>
            </a:pPr>
            <a:r>
              <a:rPr lang="en-US" sz="1700" b="1" dirty="0">
                <a:solidFill>
                  <a:srgbClr val="111111"/>
                </a:solidFill>
                <a:latin typeface="Microsoft YaHei" pitchFamily="34" charset="0"/>
                <a:ea typeface="Microsoft YaHei" pitchFamily="34" charset="-122"/>
                <a:cs typeface="Microsoft YaHei" pitchFamily="34" charset="-120"/>
              </a:rPr>
              <a:t>旅游网站设计中的应用</a:t>
            </a:r>
            <a:endParaRPr lang="en-US" sz="1700" dirty="0"/>
          </a:p>
        </p:txBody>
      </p:sp>
      <p:sp>
        <p:nvSpPr>
          <p:cNvPr id="13" name="Text 11"/>
          <p:cNvSpPr txBox="1"/>
          <p:nvPr/>
        </p:nvSpPr>
        <p:spPr>
          <a:xfrm>
            <a:off x="685800" y="1874520"/>
            <a:ext cx="3566160" cy="731520"/>
          </a:xfrm>
          <a:prstGeom prst="rect">
            <a:avLst/>
          </a:prstGeom>
          <a:noFill/>
          <a:ln/>
        </p:spPr>
        <p:txBody>
          <a:bodyPr wrap="square" lIns="0" tIns="0" rIns="0" bIns="0" rtlCol="0" anchor="t"/>
          <a:lstStyle/>
          <a:p>
            <a:pPr indent="0" marL="0">
              <a:lnSpc>
                <a:spcPct val="140000"/>
              </a:lnSpc>
              <a:buNone/>
            </a:pPr>
            <a:r>
              <a:rPr lang="en-US" sz="1300" dirty="0">
                <a:solidFill>
                  <a:srgbClr val="111111"/>
                </a:solidFill>
                <a:latin typeface="Microsoft YaHei" pitchFamily="34" charset="0"/>
                <a:ea typeface="Microsoft YaHei" pitchFamily="34" charset="-122"/>
                <a:cs typeface="Microsoft YaHei" pitchFamily="34" charset="-120"/>
              </a:rPr>
              <a:t>在某旅游网站的设计过程中，研究团队使用人物角色法构建了以下角色：</a:t>
            </a:r>
            <a:endParaRPr lang="en-US" sz="1300" dirty="0"/>
          </a:p>
        </p:txBody>
      </p:sp>
      <p:sp>
        <p:nvSpPr>
          <p:cNvPr id="14" name="Shape 12"/>
          <p:cNvSpPr/>
          <p:nvPr/>
        </p:nvSpPr>
        <p:spPr>
          <a:xfrm>
            <a:off x="685800" y="2834640"/>
            <a:ext cx="1691640" cy="1463040"/>
          </a:xfrm>
          <a:prstGeom prst="roundRect">
            <a:avLst>
              <a:gd name="adj" fmla="val 6250"/>
            </a:avLst>
          </a:prstGeom>
          <a:solidFill>
            <a:srgbClr val="E4FF97"/>
          </a:solidFill>
          <a:ln/>
        </p:spPr>
      </p:sp>
      <p:sp>
        <p:nvSpPr>
          <p:cNvPr id="15" name="Shape 13"/>
          <p:cNvSpPr/>
          <p:nvPr/>
        </p:nvSpPr>
        <p:spPr>
          <a:xfrm>
            <a:off x="1252728" y="2971800"/>
            <a:ext cx="548640" cy="548640"/>
          </a:xfrm>
          <a:prstGeom prst="ellipse">
            <a:avLst/>
          </a:prstGeom>
          <a:solidFill>
            <a:srgbClr val="FFFFFF"/>
          </a:solidFill>
          <a:ln/>
        </p:spPr>
      </p:sp>
      <p:sp>
        <p:nvSpPr>
          <p:cNvPr id="16" name="Text 14"/>
          <p:cNvSpPr txBox="1"/>
          <p:nvPr/>
        </p:nvSpPr>
        <p:spPr>
          <a:xfrm>
            <a:off x="685800" y="3611880"/>
            <a:ext cx="1691640" cy="548640"/>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“家庭旅行者”</a:t>
            </a:r>
            <a:endParaRPr lang="en-US" sz="1400" dirty="0"/>
          </a:p>
        </p:txBody>
      </p:sp>
      <p:sp>
        <p:nvSpPr>
          <p:cNvPr id="17" name="Shape 15"/>
          <p:cNvSpPr/>
          <p:nvPr/>
        </p:nvSpPr>
        <p:spPr>
          <a:xfrm>
            <a:off x="2514600" y="2834640"/>
            <a:ext cx="1691640" cy="1463040"/>
          </a:xfrm>
          <a:prstGeom prst="roundRect">
            <a:avLst>
              <a:gd name="adj" fmla="val 6250"/>
            </a:avLst>
          </a:prstGeom>
          <a:solidFill>
            <a:srgbClr val="111111"/>
          </a:solidFill>
          <a:ln/>
        </p:spPr>
      </p:sp>
      <p:sp>
        <p:nvSpPr>
          <p:cNvPr id="18" name="Shape 16"/>
          <p:cNvSpPr/>
          <p:nvPr/>
        </p:nvSpPr>
        <p:spPr>
          <a:xfrm>
            <a:off x="3081528" y="2971800"/>
            <a:ext cx="548640" cy="548640"/>
          </a:xfrm>
          <a:prstGeom prst="ellipse">
            <a:avLst/>
          </a:prstGeom>
          <a:solidFill>
            <a:srgbClr val="E4FF97"/>
          </a:solidFill>
          <a:ln/>
        </p:spPr>
      </p:sp>
      <p:sp>
        <p:nvSpPr>
          <p:cNvPr id="19" name="Text 17"/>
          <p:cNvSpPr txBox="1"/>
          <p:nvPr/>
        </p:nvSpPr>
        <p:spPr>
          <a:xfrm>
            <a:off x="2514600" y="3611880"/>
            <a:ext cx="1691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“独自旅行者”</a:t>
            </a:r>
            <a:endParaRPr lang="en-US" sz="1400" dirty="0"/>
          </a:p>
        </p:txBody>
      </p:sp>
      <p:sp>
        <p:nvSpPr>
          <p:cNvPr id="20" name="Shape 18"/>
          <p:cNvSpPr/>
          <p:nvPr/>
        </p:nvSpPr>
        <p:spPr>
          <a:xfrm>
            <a:off x="4626864" y="1188720"/>
            <a:ext cx="4105656" cy="3383280"/>
          </a:xfrm>
          <a:prstGeom prst="roundRect">
            <a:avLst>
              <a:gd name="adj" fmla="val 2703"/>
            </a:avLst>
          </a:prstGeom>
          <a:solidFill>
            <a:srgbClr val="111111"/>
          </a:solidFill>
          <a:ln/>
        </p:spPr>
      </p:sp>
      <p:sp>
        <p:nvSpPr>
          <p:cNvPr id="21" name="Text 19"/>
          <p:cNvSpPr txBox="1"/>
          <p:nvPr/>
        </p:nvSpPr>
        <p:spPr>
          <a:xfrm>
            <a:off x="4901184" y="1371600"/>
            <a:ext cx="3566160" cy="411480"/>
          </a:xfrm>
          <a:prstGeom prst="rect">
            <a:avLst/>
          </a:prstGeom>
          <a:noFill/>
          <a:ln/>
        </p:spPr>
        <p:txBody>
          <a:bodyPr wrap="square" lIns="0" tIns="0" rIns="0" bIns="0" rtlCol="0" anchor="t"/>
          <a:lstStyle/>
          <a:p>
            <a:pPr indent="0" marL="0">
              <a:buNone/>
            </a:pPr>
            <a:r>
              <a:rPr lang="en-US" sz="1700" b="1" dirty="0">
                <a:solidFill>
                  <a:srgbClr val="E4FF97"/>
                </a:solidFill>
                <a:latin typeface="Microsoft YaHei" pitchFamily="34" charset="0"/>
                <a:ea typeface="Microsoft YaHei" pitchFamily="34" charset="-122"/>
                <a:cs typeface="Microsoft YaHei" pitchFamily="34" charset="-120"/>
              </a:rPr>
              <a:t>角色需求分析</a:t>
            </a:r>
            <a:endParaRPr lang="en-US" sz="1700" dirty="0"/>
          </a:p>
        </p:txBody>
      </p:sp>
      <p:sp>
        <p:nvSpPr>
          <p:cNvPr id="22" name="Text 20"/>
          <p:cNvSpPr txBox="1"/>
          <p:nvPr/>
        </p:nvSpPr>
        <p:spPr>
          <a:xfrm>
            <a:off x="4901184" y="1920240"/>
            <a:ext cx="3566160" cy="1097280"/>
          </a:xfrm>
          <a:prstGeom prst="rect">
            <a:avLst/>
          </a:prstGeom>
          <a:noFill/>
          <a:ln/>
        </p:spPr>
        <p:txBody>
          <a:bodyPr wrap="square" lIns="0" tIns="0" rIns="0" bIns="0" rtlCol="0" anchor="t"/>
          <a:lstStyle/>
          <a:p>
            <a:pPr indent="0" marL="0">
              <a:lnSpc>
                <a:spcPct val="150000"/>
              </a:lnSpc>
              <a:buNone/>
            </a:pPr>
            <a:r>
              <a:rPr lang="en-US" sz="1500" dirty="0">
                <a:solidFill>
                  <a:srgbClr val="FFFFFF"/>
                </a:solidFill>
                <a:latin typeface="Microsoft YaHei" pitchFamily="34" charset="0"/>
                <a:ea typeface="Microsoft YaHei" pitchFamily="34" charset="-122"/>
                <a:cs typeface="Microsoft YaHei" pitchFamily="34" charset="-120"/>
              </a:rPr>
              <a:t>通过分析这些角色的需求，团队优化了搜索功能和推荐系统。</a:t>
            </a:r>
            <a:endParaRPr lang="en-US" sz="1500" dirty="0"/>
          </a:p>
        </p:txBody>
      </p:sp>
      <p:sp>
        <p:nvSpPr>
          <p:cNvPr id="23" name="Shape 21"/>
          <p:cNvSpPr/>
          <p:nvPr/>
        </p:nvSpPr>
        <p:spPr>
          <a:xfrm>
            <a:off x="4901184" y="3154680"/>
            <a:ext cx="3566160" cy="530352"/>
          </a:xfrm>
          <a:prstGeom prst="rect">
            <a:avLst/>
          </a:prstGeom>
          <a:solidFill>
            <a:srgbClr val="2B2B2B"/>
          </a:solidFill>
          <a:ln/>
        </p:spPr>
      </p:sp>
      <p:sp>
        <p:nvSpPr>
          <p:cNvPr id="24" name="Text 22"/>
          <p:cNvSpPr txBox="1"/>
          <p:nvPr/>
        </p:nvSpPr>
        <p:spPr>
          <a:xfrm>
            <a:off x="5074920" y="3154680"/>
            <a:ext cx="3291840" cy="530352"/>
          </a:xfrm>
          <a:prstGeom prst="rect">
            <a:avLst/>
          </a:prstGeom>
          <a:noFill/>
          <a:ln/>
        </p:spPr>
        <p:txBody>
          <a:bodyPr wrap="square" lIns="0" tIns="0" rIns="0" bIns="0" rtlCol="0" anchor="ctr"/>
          <a:lstStyle/>
          <a:p>
            <a:pPr indent="0" marL="0">
              <a:buNone/>
            </a:pPr>
            <a:r>
              <a:rPr lang="en-US" sz="1350" b="1" dirty="0">
                <a:solidFill>
                  <a:srgbClr val="FFFFFF"/>
                </a:solidFill>
                <a:latin typeface="Microsoft YaHei" pitchFamily="34" charset="0"/>
                <a:ea typeface="Microsoft YaHei" pitchFamily="34" charset="-122"/>
                <a:cs typeface="Microsoft YaHei" pitchFamily="34" charset="-120"/>
              </a:rPr>
              <a:t>✓  优化搜索功能</a:t>
            </a:r>
            <a:endParaRPr lang="en-US" sz="1350" dirty="0"/>
          </a:p>
        </p:txBody>
      </p:sp>
      <p:sp>
        <p:nvSpPr>
          <p:cNvPr id="25" name="Shape 23"/>
          <p:cNvSpPr/>
          <p:nvPr/>
        </p:nvSpPr>
        <p:spPr>
          <a:xfrm>
            <a:off x="4901184" y="3794760"/>
            <a:ext cx="3566160" cy="530352"/>
          </a:xfrm>
          <a:prstGeom prst="rect">
            <a:avLst/>
          </a:prstGeom>
          <a:solidFill>
            <a:srgbClr val="2B2B2B"/>
          </a:solidFill>
          <a:ln/>
        </p:spPr>
      </p:sp>
      <p:sp>
        <p:nvSpPr>
          <p:cNvPr id="26" name="Text 24"/>
          <p:cNvSpPr txBox="1"/>
          <p:nvPr/>
        </p:nvSpPr>
        <p:spPr>
          <a:xfrm>
            <a:off x="5074920" y="3794760"/>
            <a:ext cx="3291840" cy="530352"/>
          </a:xfrm>
          <a:prstGeom prst="rect">
            <a:avLst/>
          </a:prstGeom>
          <a:noFill/>
          <a:ln/>
        </p:spPr>
        <p:txBody>
          <a:bodyPr wrap="square" lIns="0" tIns="0" rIns="0" bIns="0" rtlCol="0" anchor="ctr"/>
          <a:lstStyle/>
          <a:p>
            <a:pPr indent="0" marL="0">
              <a:buNone/>
            </a:pPr>
            <a:r>
              <a:rPr lang="en-US" sz="1350" b="1" dirty="0">
                <a:solidFill>
                  <a:srgbClr val="FFFFFF"/>
                </a:solidFill>
                <a:latin typeface="Microsoft YaHei" pitchFamily="34" charset="0"/>
                <a:ea typeface="Microsoft YaHei" pitchFamily="34" charset="-122"/>
                <a:cs typeface="Microsoft YaHei" pitchFamily="34" charset="-120"/>
              </a:rPr>
              <a:t>✓  优化推荐系统</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5486400" cy="201168"/>
          </a:xfrm>
          <a:prstGeom prst="rect">
            <a:avLst/>
          </a:prstGeom>
          <a:noFill/>
          <a:ln/>
        </p:spPr>
        <p:txBody>
          <a:bodyPr wrap="square" lIns="0" tIns="0" rIns="0" bIns="0" rtlCol="0" anchor="ctr"/>
          <a:lstStyle/>
          <a:p>
            <a:pPr indent="0" marL="0">
              <a:buNone/>
            </a:pPr>
            <a:r>
              <a:rPr lang="en-US" sz="800" spc="150" kern="0" dirty="0">
                <a:solidFill>
                  <a:srgbClr val="6B6B6B"/>
                </a:solidFill>
                <a:latin typeface="Courier New" pitchFamily="34" charset="0"/>
                <a:ea typeface="Courier New" pitchFamily="34" charset="-122"/>
                <a:cs typeface="Courier New" pitchFamily="34" charset="-120"/>
              </a:rPr>
              <a:t>LESSON 06  ·  PART 03</a:t>
            </a:r>
            <a:endParaRPr lang="en-US" sz="800" dirty="0"/>
          </a:p>
        </p:txBody>
      </p:sp>
      <p:sp>
        <p:nvSpPr>
          <p:cNvPr id="3" name="Text 1"/>
          <p:cNvSpPr txBox="1"/>
          <p:nvPr/>
        </p:nvSpPr>
        <p:spPr>
          <a:xfrm>
            <a:off x="411480" y="502920"/>
            <a:ext cx="8321040" cy="868680"/>
          </a:xfrm>
          <a:prstGeom prst="rect">
            <a:avLst/>
          </a:prstGeom>
          <a:noFill/>
          <a:ln/>
        </p:spPr>
        <p:txBody>
          <a:bodyPr wrap="square" lIns="0" tIns="0" rIns="0" bIns="0" rtlCol="0" anchor="ctr">
            <a:normAutofit/>
          </a:bodyPr>
          <a:lstStyle/>
          <a:p>
            <a:pPr indent="0" marL="0">
              <a:buNone/>
            </a:pPr>
            <a:r>
              <a:rPr lang="en-US" sz="4400" dirty="0">
                <a:solidFill>
                  <a:srgbClr val="111111"/>
                </a:solidFill>
                <a:latin typeface="Microsoft YaHei" pitchFamily="34" charset="0"/>
                <a:ea typeface="Microsoft YaHei" pitchFamily="34" charset="-122"/>
                <a:cs typeface="Microsoft YaHei" pitchFamily="34" charset="-120"/>
              </a:rPr>
              <a:t>故事板</a:t>
            </a:r>
            <a:endParaRPr lang="en-US" sz="4400" dirty="0"/>
          </a:p>
        </p:txBody>
      </p:sp>
      <p:sp>
        <p:nvSpPr>
          <p:cNvPr id="4" name="Text 2"/>
          <p:cNvSpPr txBox="1"/>
          <p:nvPr/>
        </p:nvSpPr>
        <p:spPr>
          <a:xfrm>
            <a:off x="411480" y="1325880"/>
            <a:ext cx="5943600" cy="32004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Storyboard</a:t>
            </a:r>
            <a:endParaRPr lang="en-US" sz="1400" dirty="0"/>
          </a:p>
        </p:txBody>
      </p:sp>
      <p:sp>
        <p:nvSpPr>
          <p:cNvPr id="5" name="Shape 3"/>
          <p:cNvSpPr/>
          <p:nvPr/>
        </p:nvSpPr>
        <p:spPr>
          <a:xfrm>
            <a:off x="411480" y="2011680"/>
            <a:ext cx="457200" cy="457200"/>
          </a:xfrm>
          <a:prstGeom prst="rect">
            <a:avLst/>
          </a:prstGeom>
          <a:solidFill>
            <a:srgbClr val="FFC9C1"/>
          </a:solidFill>
          <a:ln/>
        </p:spPr>
      </p:sp>
      <p:sp>
        <p:nvSpPr>
          <p:cNvPr id="6" name="Text 4"/>
          <p:cNvSpPr txBox="1"/>
          <p:nvPr/>
        </p:nvSpPr>
        <p:spPr>
          <a:xfrm>
            <a:off x="411480" y="201168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1</a:t>
            </a:r>
            <a:endParaRPr lang="en-US" sz="1500" dirty="0"/>
          </a:p>
        </p:txBody>
      </p:sp>
      <p:sp>
        <p:nvSpPr>
          <p:cNvPr id="7" name="Shape 5"/>
          <p:cNvSpPr/>
          <p:nvPr/>
        </p:nvSpPr>
        <p:spPr>
          <a:xfrm>
            <a:off x="941832" y="2011680"/>
            <a:ext cx="4343400" cy="457200"/>
          </a:xfrm>
          <a:prstGeom prst="rect">
            <a:avLst/>
          </a:prstGeom>
          <a:solidFill>
            <a:srgbClr val="F4F4F4"/>
          </a:solidFill>
          <a:ln/>
        </p:spPr>
      </p:sp>
      <p:sp>
        <p:nvSpPr>
          <p:cNvPr id="8" name="Text 6"/>
          <p:cNvSpPr txBox="1"/>
          <p:nvPr/>
        </p:nvSpPr>
        <p:spPr>
          <a:xfrm>
            <a:off x="1097280" y="201168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什么是故事板 · 在设计调研中的应用</a:t>
            </a:r>
            <a:endParaRPr lang="en-US" sz="1350" dirty="0"/>
          </a:p>
        </p:txBody>
      </p:sp>
      <p:sp>
        <p:nvSpPr>
          <p:cNvPr id="9" name="Shape 7"/>
          <p:cNvSpPr/>
          <p:nvPr/>
        </p:nvSpPr>
        <p:spPr>
          <a:xfrm>
            <a:off x="411480" y="2560320"/>
            <a:ext cx="457200" cy="457200"/>
          </a:xfrm>
          <a:prstGeom prst="rect">
            <a:avLst/>
          </a:prstGeom>
          <a:solidFill>
            <a:srgbClr val="C9F5C0"/>
          </a:solidFill>
          <a:ln/>
        </p:spPr>
      </p:sp>
      <p:sp>
        <p:nvSpPr>
          <p:cNvPr id="10" name="Text 8"/>
          <p:cNvSpPr txBox="1"/>
          <p:nvPr/>
        </p:nvSpPr>
        <p:spPr>
          <a:xfrm>
            <a:off x="411480" y="256032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2</a:t>
            </a:r>
            <a:endParaRPr lang="en-US" sz="1500" dirty="0"/>
          </a:p>
        </p:txBody>
      </p:sp>
      <p:sp>
        <p:nvSpPr>
          <p:cNvPr id="11" name="Shape 9"/>
          <p:cNvSpPr/>
          <p:nvPr/>
        </p:nvSpPr>
        <p:spPr>
          <a:xfrm>
            <a:off x="941832" y="2560320"/>
            <a:ext cx="4343400" cy="457200"/>
          </a:xfrm>
          <a:prstGeom prst="rect">
            <a:avLst/>
          </a:prstGeom>
          <a:solidFill>
            <a:srgbClr val="F4F4F4"/>
          </a:solidFill>
          <a:ln/>
        </p:spPr>
      </p:sp>
      <p:sp>
        <p:nvSpPr>
          <p:cNvPr id="12" name="Text 10"/>
          <p:cNvSpPr txBox="1"/>
          <p:nvPr/>
        </p:nvSpPr>
        <p:spPr>
          <a:xfrm>
            <a:off x="1097280" y="256032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情景故事板及其四要素 · 表现手法</a:t>
            </a:r>
            <a:endParaRPr lang="en-US" sz="1350" dirty="0"/>
          </a:p>
        </p:txBody>
      </p:sp>
      <p:sp>
        <p:nvSpPr>
          <p:cNvPr id="13" name="Shape 11"/>
          <p:cNvSpPr/>
          <p:nvPr/>
        </p:nvSpPr>
        <p:spPr>
          <a:xfrm>
            <a:off x="411480" y="3108960"/>
            <a:ext cx="457200" cy="457200"/>
          </a:xfrm>
          <a:prstGeom prst="rect">
            <a:avLst/>
          </a:prstGeom>
          <a:solidFill>
            <a:srgbClr val="FFE3A3"/>
          </a:solidFill>
          <a:ln/>
        </p:spPr>
      </p:sp>
      <p:sp>
        <p:nvSpPr>
          <p:cNvPr id="14" name="Text 12"/>
          <p:cNvSpPr txBox="1"/>
          <p:nvPr/>
        </p:nvSpPr>
        <p:spPr>
          <a:xfrm>
            <a:off x="411480" y="310896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3</a:t>
            </a:r>
            <a:endParaRPr lang="en-US" sz="1500" dirty="0"/>
          </a:p>
        </p:txBody>
      </p:sp>
      <p:sp>
        <p:nvSpPr>
          <p:cNvPr id="15" name="Shape 13"/>
          <p:cNvSpPr/>
          <p:nvPr/>
        </p:nvSpPr>
        <p:spPr>
          <a:xfrm>
            <a:off x="941832" y="3108960"/>
            <a:ext cx="4343400" cy="457200"/>
          </a:xfrm>
          <a:prstGeom prst="rect">
            <a:avLst/>
          </a:prstGeom>
          <a:solidFill>
            <a:srgbClr val="F4F4F4"/>
          </a:solidFill>
          <a:ln/>
        </p:spPr>
      </p:sp>
      <p:sp>
        <p:nvSpPr>
          <p:cNvPr id="16" name="Text 14"/>
          <p:cNvSpPr txBox="1"/>
          <p:nvPr/>
        </p:nvSpPr>
        <p:spPr>
          <a:xfrm>
            <a:off x="1097280" y="310896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创建故事板 · “能量公司”应用案例</a:t>
            </a:r>
            <a:endParaRPr lang="en-US" sz="1350" dirty="0"/>
          </a:p>
        </p:txBody>
      </p:sp>
      <p:sp>
        <p:nvSpPr>
          <p:cNvPr id="17" name="Shape 15"/>
          <p:cNvSpPr/>
          <p:nvPr/>
        </p:nvSpPr>
        <p:spPr>
          <a:xfrm>
            <a:off x="411480" y="3657600"/>
            <a:ext cx="457200" cy="457200"/>
          </a:xfrm>
          <a:prstGeom prst="rect">
            <a:avLst/>
          </a:prstGeom>
          <a:solidFill>
            <a:srgbClr val="C7F8FB"/>
          </a:solidFill>
          <a:ln/>
        </p:spPr>
      </p:sp>
      <p:sp>
        <p:nvSpPr>
          <p:cNvPr id="18" name="Text 16"/>
          <p:cNvSpPr txBox="1"/>
          <p:nvPr/>
        </p:nvSpPr>
        <p:spPr>
          <a:xfrm>
            <a:off x="411480" y="365760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4</a:t>
            </a:r>
            <a:endParaRPr lang="en-US" sz="1500" dirty="0"/>
          </a:p>
        </p:txBody>
      </p:sp>
      <p:sp>
        <p:nvSpPr>
          <p:cNvPr id="19" name="Shape 17"/>
          <p:cNvSpPr/>
          <p:nvPr/>
        </p:nvSpPr>
        <p:spPr>
          <a:xfrm>
            <a:off x="941832" y="3657600"/>
            <a:ext cx="4343400" cy="457200"/>
          </a:xfrm>
          <a:prstGeom prst="rect">
            <a:avLst/>
          </a:prstGeom>
          <a:solidFill>
            <a:srgbClr val="F4F4F4"/>
          </a:solidFill>
          <a:ln/>
        </p:spPr>
      </p:sp>
      <p:sp>
        <p:nvSpPr>
          <p:cNvPr id="20" name="Text 18"/>
          <p:cNvSpPr txBox="1"/>
          <p:nvPr/>
        </p:nvSpPr>
        <p:spPr>
          <a:xfrm>
            <a:off x="1097280" y="365760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对设计的指导意义 · 发展与局限</a:t>
            </a:r>
            <a:endParaRPr lang="en-US" sz="1350" dirty="0"/>
          </a:p>
        </p:txBody>
      </p:sp>
      <p:sp>
        <p:nvSpPr>
          <p:cNvPr id="21" name="Shape 19"/>
          <p:cNvSpPr/>
          <p:nvPr/>
        </p:nvSpPr>
        <p:spPr>
          <a:xfrm>
            <a:off x="411480" y="4818888"/>
            <a:ext cx="77724" cy="77724"/>
          </a:xfrm>
          <a:prstGeom prst="ellipse">
            <a:avLst/>
          </a:prstGeom>
          <a:solidFill>
            <a:srgbClr val="4D49FC"/>
          </a:solidFill>
          <a:ln/>
        </p:spPr>
      </p:sp>
      <p:sp>
        <p:nvSpPr>
          <p:cNvPr id="22" name="Shape 20"/>
          <p:cNvSpPr/>
          <p:nvPr/>
        </p:nvSpPr>
        <p:spPr>
          <a:xfrm>
            <a:off x="507492" y="4818888"/>
            <a:ext cx="77724" cy="77724"/>
          </a:xfrm>
          <a:prstGeom prst="ellipse">
            <a:avLst/>
          </a:prstGeom>
          <a:solidFill>
            <a:srgbClr val="4D49FC"/>
          </a:solidFill>
          <a:ln/>
        </p:spPr>
      </p:sp>
      <p:sp>
        <p:nvSpPr>
          <p:cNvPr id="23" name="Shape 21"/>
          <p:cNvSpPr/>
          <p:nvPr/>
        </p:nvSpPr>
        <p:spPr>
          <a:xfrm>
            <a:off x="411480" y="4914900"/>
            <a:ext cx="77724" cy="77724"/>
          </a:xfrm>
          <a:prstGeom prst="ellipse">
            <a:avLst/>
          </a:prstGeom>
          <a:solidFill>
            <a:srgbClr val="4D49FC"/>
          </a:solidFill>
          <a:ln/>
        </p:spPr>
      </p:sp>
      <p:sp>
        <p:nvSpPr>
          <p:cNvPr id="24" name="Shape 22"/>
          <p:cNvSpPr/>
          <p:nvPr/>
        </p:nvSpPr>
        <p:spPr>
          <a:xfrm>
            <a:off x="507492" y="4914900"/>
            <a:ext cx="77724" cy="77724"/>
          </a:xfrm>
          <a:prstGeom prst="ellipse">
            <a:avLst/>
          </a:prstGeom>
          <a:solidFill>
            <a:srgbClr val="4D49FC"/>
          </a:solidFill>
          <a:ln/>
        </p:spPr>
      </p:sp>
      <p:sp>
        <p:nvSpPr>
          <p:cNvPr id="25" name="Text 23"/>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26" name="Text 24"/>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16</a:t>
            </a:r>
            <a:endParaRPr lang="en-US" sz="750" dirty="0"/>
          </a:p>
        </p:txBody>
      </p:sp>
      <p:pic>
        <p:nvPicPr>
          <p:cNvPr id="27" name="Image 0" descr="decorative collage">    </p:cNvPr>
          <p:cNvPicPr>
            <a:picLocks noChangeAspect="1"/>
          </p:cNvPicPr>
          <p:nvPr/>
        </p:nvPicPr>
        <p:blipFill>
          <a:blip r:embed="rId1"/>
          <a:stretch>
            <a:fillRect/>
          </a:stretch>
        </p:blipFill>
        <p:spPr>
          <a:xfrm>
            <a:off x="5577840" y="2601565"/>
            <a:ext cx="3154680" cy="210759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03 故事板</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什么是故事板</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What is a Storyboard</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17</a:t>
            </a:r>
            <a:endParaRPr lang="en-US" sz="750" dirty="0"/>
          </a:p>
        </p:txBody>
      </p:sp>
      <p:sp>
        <p:nvSpPr>
          <p:cNvPr id="11" name="Shape 9"/>
          <p:cNvSpPr/>
          <p:nvPr/>
        </p:nvSpPr>
        <p:spPr>
          <a:xfrm>
            <a:off x="411480" y="1188720"/>
            <a:ext cx="4736592" cy="1636776"/>
          </a:xfrm>
          <a:prstGeom prst="roundRect">
            <a:avLst>
              <a:gd name="adj" fmla="val 5587"/>
            </a:avLst>
          </a:prstGeom>
          <a:solidFill>
            <a:srgbClr val="FFC9C1"/>
          </a:solidFill>
          <a:ln/>
        </p:spPr>
      </p:sp>
      <p:sp>
        <p:nvSpPr>
          <p:cNvPr id="12" name="Text 10"/>
          <p:cNvSpPr txBox="1"/>
          <p:nvPr/>
        </p:nvSpPr>
        <p:spPr>
          <a:xfrm>
            <a:off x="640080" y="1353312"/>
            <a:ext cx="914400" cy="411480"/>
          </a:xfrm>
          <a:prstGeom prst="rect">
            <a:avLst/>
          </a:prstGeom>
          <a:noFill/>
          <a:ln/>
        </p:spPr>
        <p:txBody>
          <a:bodyPr wrap="square" lIns="0" tIns="0" rIns="0" bIns="0" rtlCol="0" anchor="t"/>
          <a:lstStyle/>
          <a:p>
            <a:pPr indent="0" marL="0">
              <a:buNone/>
            </a:pPr>
            <a:r>
              <a:rPr lang="en-US" sz="1400" b="1" dirty="0">
                <a:solidFill>
                  <a:srgbClr val="111111"/>
                </a:solidFill>
                <a:latin typeface="Arial" pitchFamily="34" charset="0"/>
                <a:ea typeface="Arial" pitchFamily="34" charset="-122"/>
                <a:cs typeface="Arial" pitchFamily="34" charset="-120"/>
              </a:rPr>
              <a:t>01</a:t>
            </a:r>
            <a:endParaRPr lang="en-US" sz="1400" dirty="0"/>
          </a:p>
        </p:txBody>
      </p:sp>
      <p:sp>
        <p:nvSpPr>
          <p:cNvPr id="13" name="Text 11"/>
          <p:cNvSpPr txBox="1"/>
          <p:nvPr/>
        </p:nvSpPr>
        <p:spPr>
          <a:xfrm>
            <a:off x="640080" y="1673352"/>
            <a:ext cx="4325112" cy="384048"/>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故事板的定义</a:t>
            </a:r>
            <a:endParaRPr lang="en-US" sz="1600" dirty="0"/>
          </a:p>
        </p:txBody>
      </p:sp>
      <p:sp>
        <p:nvSpPr>
          <p:cNvPr id="14" name="Text 12"/>
          <p:cNvSpPr txBox="1"/>
          <p:nvPr/>
        </p:nvSpPr>
        <p:spPr>
          <a:xfrm>
            <a:off x="640080" y="2130552"/>
            <a:ext cx="4325112" cy="603504"/>
          </a:xfrm>
          <a:prstGeom prst="rect">
            <a:avLst/>
          </a:prstGeom>
          <a:noFill/>
          <a:ln/>
        </p:spPr>
        <p:txBody>
          <a:bodyPr wrap="square" lIns="0" tIns="0" rIns="0" bIns="0" rtlCol="0" anchor="t"/>
          <a:lstStyle/>
          <a:p>
            <a:pPr indent="0" marL="0">
              <a:lnSpc>
                <a:spcPct val="135000"/>
              </a:lnSpc>
              <a:spcAft>
                <a:spcPts val="500"/>
              </a:spcAft>
              <a:buNone/>
            </a:pPr>
            <a:r>
              <a:rPr lang="en-US" sz="1400" dirty="0">
                <a:solidFill>
                  <a:srgbClr val="111111"/>
                </a:solidFill>
                <a:latin typeface="Microsoft YaHei" pitchFamily="34" charset="0"/>
                <a:ea typeface="Microsoft YaHei" pitchFamily="34" charset="-122"/>
                <a:cs typeface="Microsoft YaHei" pitchFamily="34" charset="-120"/>
              </a:rPr>
              <a:t>故事板是一种通过图像和文字结合的方式，将用户的操作流程和情境视觉化的方法。</a:t>
            </a:r>
            <a:endParaRPr lang="en-US" sz="1400" dirty="0"/>
          </a:p>
        </p:txBody>
      </p:sp>
      <p:sp>
        <p:nvSpPr>
          <p:cNvPr id="15" name="Shape 13"/>
          <p:cNvSpPr/>
          <p:nvPr/>
        </p:nvSpPr>
        <p:spPr>
          <a:xfrm>
            <a:off x="411480" y="2935224"/>
            <a:ext cx="4736592" cy="1636776"/>
          </a:xfrm>
          <a:prstGeom prst="roundRect">
            <a:avLst>
              <a:gd name="adj" fmla="val 5587"/>
            </a:avLst>
          </a:prstGeom>
          <a:solidFill>
            <a:srgbClr val="F4F4F4"/>
          </a:solidFill>
          <a:ln/>
        </p:spPr>
      </p:sp>
      <p:sp>
        <p:nvSpPr>
          <p:cNvPr id="16" name="Text 14"/>
          <p:cNvSpPr txBox="1"/>
          <p:nvPr/>
        </p:nvSpPr>
        <p:spPr>
          <a:xfrm>
            <a:off x="640080" y="3099816"/>
            <a:ext cx="914400" cy="411480"/>
          </a:xfrm>
          <a:prstGeom prst="rect">
            <a:avLst/>
          </a:prstGeom>
          <a:noFill/>
          <a:ln/>
        </p:spPr>
        <p:txBody>
          <a:bodyPr wrap="square" lIns="0" tIns="0" rIns="0" bIns="0" rtlCol="0" anchor="t"/>
          <a:lstStyle/>
          <a:p>
            <a:pPr indent="0" marL="0">
              <a:buNone/>
            </a:pPr>
            <a:r>
              <a:rPr lang="en-US" sz="1400" b="1" dirty="0">
                <a:solidFill>
                  <a:srgbClr val="111111"/>
                </a:solidFill>
                <a:latin typeface="Arial" pitchFamily="34" charset="0"/>
                <a:ea typeface="Arial" pitchFamily="34" charset="-122"/>
                <a:cs typeface="Arial" pitchFamily="34" charset="-120"/>
              </a:rPr>
              <a:t>02</a:t>
            </a:r>
            <a:endParaRPr lang="en-US" sz="1400" dirty="0"/>
          </a:p>
        </p:txBody>
      </p:sp>
      <p:sp>
        <p:nvSpPr>
          <p:cNvPr id="17" name="Text 15"/>
          <p:cNvSpPr txBox="1"/>
          <p:nvPr/>
        </p:nvSpPr>
        <p:spPr>
          <a:xfrm>
            <a:off x="640080" y="3419856"/>
            <a:ext cx="4325112" cy="384048"/>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故事板的作用</a:t>
            </a:r>
            <a:endParaRPr lang="en-US" sz="1600" dirty="0"/>
          </a:p>
        </p:txBody>
      </p:sp>
      <p:sp>
        <p:nvSpPr>
          <p:cNvPr id="18" name="Text 16"/>
          <p:cNvSpPr txBox="1"/>
          <p:nvPr/>
        </p:nvSpPr>
        <p:spPr>
          <a:xfrm>
            <a:off x="640080" y="3877056"/>
            <a:ext cx="4325112" cy="603504"/>
          </a:xfrm>
          <a:prstGeom prst="rect">
            <a:avLst/>
          </a:prstGeom>
          <a:noFill/>
          <a:ln/>
        </p:spPr>
        <p:txBody>
          <a:bodyPr wrap="square" lIns="0" tIns="0" rIns="0" bIns="0" rtlCol="0" anchor="t"/>
          <a:lstStyle/>
          <a:p>
            <a:pPr indent="0" marL="0">
              <a:lnSpc>
                <a:spcPct val="135000"/>
              </a:lnSpc>
              <a:spcAft>
                <a:spcPts val="500"/>
              </a:spcAft>
              <a:buNone/>
            </a:pPr>
            <a:r>
              <a:rPr lang="en-US" sz="1400" dirty="0">
                <a:solidFill>
                  <a:srgbClr val="111111"/>
                </a:solidFill>
                <a:latin typeface="Microsoft YaHei" pitchFamily="34" charset="0"/>
                <a:ea typeface="Microsoft YaHei" pitchFamily="34" charset="-122"/>
                <a:cs typeface="Microsoft YaHei" pitchFamily="34" charset="-120"/>
              </a:rPr>
              <a:t>通过故事板，设计师可以看到用户在整个使用过程中的行为变化。</a:t>
            </a:r>
            <a:endParaRPr lang="en-US" sz="1400" dirty="0"/>
          </a:p>
        </p:txBody>
      </p:sp>
      <p:pic>
        <p:nvPicPr>
          <p:cNvPr id="19" name="Image 0" descr="p21_1">    </p:cNvPr>
          <p:cNvPicPr>
            <a:picLocks noChangeAspect="1"/>
          </p:cNvPicPr>
          <p:nvPr/>
        </p:nvPicPr>
        <p:blipFill>
          <a:blip r:embed="rId1"/>
          <a:stretch>
            <a:fillRect/>
          </a:stretch>
        </p:blipFill>
        <p:spPr>
          <a:xfrm>
            <a:off x="5257800" y="1188720"/>
            <a:ext cx="3474720" cy="338328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03 故事板</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故事板在设计调研中的应用</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Storyboards in Design Research</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18</a:t>
            </a:r>
            <a:endParaRPr lang="en-US" sz="750" dirty="0"/>
          </a:p>
        </p:txBody>
      </p:sp>
      <p:sp>
        <p:nvSpPr>
          <p:cNvPr id="11" name="Shape 9"/>
          <p:cNvSpPr/>
          <p:nvPr/>
        </p:nvSpPr>
        <p:spPr>
          <a:xfrm>
            <a:off x="411480" y="1188720"/>
            <a:ext cx="4105656" cy="3383280"/>
          </a:xfrm>
          <a:prstGeom prst="roundRect">
            <a:avLst>
              <a:gd name="adj" fmla="val 2703"/>
            </a:avLst>
          </a:prstGeom>
          <a:solidFill>
            <a:srgbClr val="111111"/>
          </a:solidFill>
          <a:ln/>
        </p:spPr>
      </p:sp>
      <p:sp>
        <p:nvSpPr>
          <p:cNvPr id="12" name="Text 10"/>
          <p:cNvSpPr txBox="1"/>
          <p:nvPr/>
        </p:nvSpPr>
        <p:spPr>
          <a:xfrm>
            <a:off x="640080" y="1353312"/>
            <a:ext cx="914400" cy="411480"/>
          </a:xfrm>
          <a:prstGeom prst="rect">
            <a:avLst/>
          </a:prstGeom>
          <a:noFill/>
          <a:ln/>
        </p:spPr>
        <p:txBody>
          <a:bodyPr wrap="square" lIns="0" tIns="0" rIns="0" bIns="0" rtlCol="0" anchor="t"/>
          <a:lstStyle/>
          <a:p>
            <a:pPr indent="0" marL="0">
              <a:buNone/>
            </a:pPr>
            <a:r>
              <a:rPr lang="en-US" sz="3600" b="1" dirty="0">
                <a:solidFill>
                  <a:srgbClr val="FFC9C1"/>
                </a:solidFill>
                <a:latin typeface="Arial" pitchFamily="34" charset="0"/>
                <a:ea typeface="Arial" pitchFamily="34" charset="-122"/>
                <a:cs typeface="Arial" pitchFamily="34" charset="-120"/>
              </a:rPr>
              <a:t>01</a:t>
            </a:r>
            <a:endParaRPr lang="en-US" sz="3600" dirty="0"/>
          </a:p>
        </p:txBody>
      </p:sp>
      <p:sp>
        <p:nvSpPr>
          <p:cNvPr id="13" name="Text 11"/>
          <p:cNvSpPr txBox="1"/>
          <p:nvPr/>
        </p:nvSpPr>
        <p:spPr>
          <a:xfrm>
            <a:off x="640080" y="2359152"/>
            <a:ext cx="3694176" cy="384048"/>
          </a:xfrm>
          <a:prstGeom prst="rect">
            <a:avLst/>
          </a:prstGeom>
          <a:noFill/>
          <a:ln/>
        </p:spPr>
        <p:txBody>
          <a:bodyPr wrap="square" lIns="0" tIns="0" rIns="0" bIns="0" rtlCol="0" anchor="ctr"/>
          <a:lstStyle/>
          <a:p>
            <a:pPr indent="0" marL="0">
              <a:buNone/>
            </a:pPr>
            <a:r>
              <a:rPr lang="en-US" sz="2000" b="1" dirty="0">
                <a:solidFill>
                  <a:srgbClr val="FFFFFF"/>
                </a:solidFill>
                <a:latin typeface="Microsoft YaHei" pitchFamily="34" charset="0"/>
                <a:ea typeface="Microsoft YaHei" pitchFamily="34" charset="-122"/>
                <a:cs typeface="Microsoft YaHei" pitchFamily="34" charset="-120"/>
              </a:rPr>
              <a:t>故事板的应用</a:t>
            </a:r>
            <a:endParaRPr lang="en-US" sz="2000" dirty="0"/>
          </a:p>
        </p:txBody>
      </p:sp>
      <p:sp>
        <p:nvSpPr>
          <p:cNvPr id="14" name="Text 12"/>
          <p:cNvSpPr txBox="1"/>
          <p:nvPr/>
        </p:nvSpPr>
        <p:spPr>
          <a:xfrm>
            <a:off x="640080" y="2816352"/>
            <a:ext cx="3694176" cy="1664208"/>
          </a:xfrm>
          <a:prstGeom prst="rect">
            <a:avLst/>
          </a:prstGeom>
          <a:noFill/>
          <a:ln/>
        </p:spPr>
        <p:txBody>
          <a:bodyPr wrap="square" lIns="0" tIns="0" rIns="0" bIns="0" rtlCol="0" anchor="t"/>
          <a:lstStyle/>
          <a:p>
            <a:pPr indent="0" marL="0">
              <a:lnSpc>
                <a:spcPct val="135000"/>
              </a:lnSpc>
              <a:spcAft>
                <a:spcPts val="500"/>
              </a:spcAft>
              <a:buNone/>
            </a:pPr>
            <a:r>
              <a:rPr lang="en-US" sz="1600" dirty="0">
                <a:solidFill>
                  <a:srgbClr val="FFFFFF"/>
                </a:solidFill>
                <a:latin typeface="Microsoft YaHei" pitchFamily="34" charset="0"/>
                <a:ea typeface="Microsoft YaHei" pitchFamily="34" charset="-122"/>
                <a:cs typeface="Microsoft YaHei" pitchFamily="34" charset="-120"/>
              </a:rPr>
              <a:t>故事板在设计调研中用于展示用户使用产品的完整情境。</a:t>
            </a:r>
            <a:endParaRPr lang="en-US" sz="1600" dirty="0"/>
          </a:p>
        </p:txBody>
      </p:sp>
      <p:sp>
        <p:nvSpPr>
          <p:cNvPr id="15" name="Shape 13"/>
          <p:cNvSpPr/>
          <p:nvPr/>
        </p:nvSpPr>
        <p:spPr>
          <a:xfrm>
            <a:off x="4626864" y="1188720"/>
            <a:ext cx="4105656" cy="3383280"/>
          </a:xfrm>
          <a:prstGeom prst="roundRect">
            <a:avLst>
              <a:gd name="adj" fmla="val 2703"/>
            </a:avLst>
          </a:prstGeom>
          <a:solidFill>
            <a:srgbClr val="FFC9C1"/>
          </a:solidFill>
          <a:ln/>
        </p:spPr>
      </p:sp>
      <p:sp>
        <p:nvSpPr>
          <p:cNvPr id="16" name="Text 14"/>
          <p:cNvSpPr txBox="1"/>
          <p:nvPr/>
        </p:nvSpPr>
        <p:spPr>
          <a:xfrm>
            <a:off x="4855464" y="1353312"/>
            <a:ext cx="914400" cy="411480"/>
          </a:xfrm>
          <a:prstGeom prst="rect">
            <a:avLst/>
          </a:prstGeom>
          <a:noFill/>
          <a:ln/>
        </p:spPr>
        <p:txBody>
          <a:bodyPr wrap="square" lIns="0" tIns="0" rIns="0" bIns="0" rtlCol="0" anchor="t"/>
          <a:lstStyle/>
          <a:p>
            <a:pPr indent="0" marL="0">
              <a:buNone/>
            </a:pPr>
            <a:r>
              <a:rPr lang="en-US" sz="3600" b="1" dirty="0">
                <a:solidFill>
                  <a:srgbClr val="111111"/>
                </a:solidFill>
                <a:latin typeface="Arial" pitchFamily="34" charset="0"/>
                <a:ea typeface="Arial" pitchFamily="34" charset="-122"/>
                <a:cs typeface="Arial" pitchFamily="34" charset="-120"/>
              </a:rPr>
              <a:t>02</a:t>
            </a:r>
            <a:endParaRPr lang="en-US" sz="3600" dirty="0"/>
          </a:p>
        </p:txBody>
      </p:sp>
      <p:sp>
        <p:nvSpPr>
          <p:cNvPr id="17" name="Text 15"/>
          <p:cNvSpPr txBox="1"/>
          <p:nvPr/>
        </p:nvSpPr>
        <p:spPr>
          <a:xfrm>
            <a:off x="4855464" y="2359152"/>
            <a:ext cx="3694176" cy="384048"/>
          </a:xfrm>
          <a:prstGeom prst="rect">
            <a:avLst/>
          </a:prstGeom>
          <a:noFill/>
          <a:ln/>
        </p:spPr>
        <p:txBody>
          <a:bodyPr wrap="square" lIns="0" tIns="0" rIns="0" bIns="0" rtlCol="0" anchor="ctr"/>
          <a:lstStyle/>
          <a:p>
            <a:pPr indent="0" marL="0">
              <a:buNone/>
            </a:pPr>
            <a:r>
              <a:rPr lang="en-US" sz="2000" b="1" dirty="0">
                <a:solidFill>
                  <a:srgbClr val="111111"/>
                </a:solidFill>
                <a:latin typeface="Microsoft YaHei" pitchFamily="34" charset="0"/>
                <a:ea typeface="Microsoft YaHei" pitchFamily="34" charset="-122"/>
                <a:cs typeface="Microsoft YaHei" pitchFamily="34" charset="-120"/>
              </a:rPr>
              <a:t>故事板对用户体验的帮助</a:t>
            </a:r>
            <a:endParaRPr lang="en-US" sz="2000" dirty="0"/>
          </a:p>
        </p:txBody>
      </p:sp>
      <p:sp>
        <p:nvSpPr>
          <p:cNvPr id="18" name="Text 16"/>
          <p:cNvSpPr txBox="1"/>
          <p:nvPr/>
        </p:nvSpPr>
        <p:spPr>
          <a:xfrm>
            <a:off x="4855464" y="2816352"/>
            <a:ext cx="3694176" cy="1664208"/>
          </a:xfrm>
          <a:prstGeom prst="rect">
            <a:avLst/>
          </a:prstGeom>
          <a:noFill/>
          <a:ln/>
        </p:spPr>
        <p:txBody>
          <a:bodyPr wrap="square" lIns="0" tIns="0" rIns="0" bIns="0" rtlCol="0" anchor="t"/>
          <a:lstStyle/>
          <a:p>
            <a:pPr indent="0" marL="0">
              <a:lnSpc>
                <a:spcPct val="135000"/>
              </a:lnSpc>
              <a:spcAft>
                <a:spcPts val="500"/>
              </a:spcAft>
              <a:buNone/>
            </a:pPr>
            <a:r>
              <a:rPr lang="en-US" sz="1600" dirty="0">
                <a:solidFill>
                  <a:srgbClr val="111111"/>
                </a:solidFill>
                <a:latin typeface="Microsoft YaHei" pitchFamily="34" charset="0"/>
                <a:ea typeface="Microsoft YaHei" pitchFamily="34" charset="-122"/>
                <a:cs typeface="Microsoft YaHei" pitchFamily="34" charset="-120"/>
              </a:rPr>
              <a:t>帮助团队理解用户的操作步骤和需求。</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03 故事板</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情景故事板及其四要素</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Four Elements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19</a:t>
            </a:r>
            <a:endParaRPr lang="en-US" sz="750" dirty="0"/>
          </a:p>
        </p:txBody>
      </p:sp>
      <p:sp>
        <p:nvSpPr>
          <p:cNvPr id="11" name="Text 9"/>
          <p:cNvSpPr txBox="1"/>
          <p:nvPr/>
        </p:nvSpPr>
        <p:spPr>
          <a:xfrm>
            <a:off x="411480" y="1143000"/>
            <a:ext cx="8321040" cy="365760"/>
          </a:xfrm>
          <a:prstGeom prst="rect">
            <a:avLst/>
          </a:prstGeom>
          <a:noFill/>
          <a:ln/>
        </p:spPr>
        <p:txBody>
          <a:bodyPr wrap="square" lIns="0" tIns="0" rIns="0" bIns="0" rtlCol="0" anchor="t"/>
          <a:lstStyle/>
          <a:p>
            <a:pPr indent="0" marL="0">
              <a:buNone/>
            </a:pPr>
            <a:r>
              <a:rPr lang="en-US" sz="1300" dirty="0">
                <a:solidFill>
                  <a:srgbClr val="111111"/>
                </a:solidFill>
                <a:latin typeface="Microsoft YaHei" pitchFamily="34" charset="0"/>
                <a:ea typeface="Microsoft YaHei" pitchFamily="34" charset="-122"/>
                <a:cs typeface="Microsoft YaHei" pitchFamily="34" charset="-120"/>
              </a:rPr>
              <a:t>情景故事板通常包含四个要素：</a:t>
            </a:r>
            <a:endParaRPr lang="en-US" sz="1300" dirty="0"/>
          </a:p>
        </p:txBody>
      </p:sp>
      <p:sp>
        <p:nvSpPr>
          <p:cNvPr id="12" name="Shape 10"/>
          <p:cNvSpPr/>
          <p:nvPr/>
        </p:nvSpPr>
        <p:spPr>
          <a:xfrm>
            <a:off x="411480" y="1600200"/>
            <a:ext cx="1997964" cy="2971800"/>
          </a:xfrm>
          <a:prstGeom prst="roundRect">
            <a:avLst>
              <a:gd name="adj" fmla="val 4577"/>
            </a:avLst>
          </a:prstGeom>
          <a:solidFill>
            <a:srgbClr val="FFC9C1"/>
          </a:solidFill>
          <a:ln/>
        </p:spPr>
      </p:sp>
      <p:sp>
        <p:nvSpPr>
          <p:cNvPr id="13" name="Text 11"/>
          <p:cNvSpPr txBox="1"/>
          <p:nvPr/>
        </p:nvSpPr>
        <p:spPr>
          <a:xfrm>
            <a:off x="612648" y="1737360"/>
            <a:ext cx="914400" cy="45720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01</a:t>
            </a:r>
            <a:endParaRPr lang="en-US" sz="2200" dirty="0"/>
          </a:p>
        </p:txBody>
      </p:sp>
      <p:sp>
        <p:nvSpPr>
          <p:cNvPr id="14" name="Text 12"/>
          <p:cNvSpPr txBox="1"/>
          <p:nvPr/>
        </p:nvSpPr>
        <p:spPr>
          <a:xfrm>
            <a:off x="612648" y="2834640"/>
            <a:ext cx="1632204" cy="731520"/>
          </a:xfrm>
          <a:prstGeom prst="rect">
            <a:avLst/>
          </a:prstGeom>
          <a:noFill/>
          <a:ln/>
        </p:spPr>
        <p:txBody>
          <a:bodyPr wrap="square" lIns="0" tIns="0" rIns="0" bIns="0" rtlCol="0" anchor="b"/>
          <a:lstStyle/>
          <a:p>
            <a:pPr indent="0" marL="0">
              <a:buNone/>
            </a:pPr>
            <a:r>
              <a:rPr lang="en-US" sz="3400" b="1" dirty="0">
                <a:solidFill>
                  <a:srgbClr val="111111"/>
                </a:solidFill>
                <a:latin typeface="Microsoft YaHei" pitchFamily="34" charset="0"/>
                <a:ea typeface="Microsoft YaHei" pitchFamily="34" charset="-122"/>
                <a:cs typeface="Microsoft YaHei" pitchFamily="34" charset="-120"/>
              </a:rPr>
              <a:t>情境</a:t>
            </a:r>
            <a:endParaRPr lang="en-US" sz="3400" dirty="0"/>
          </a:p>
        </p:txBody>
      </p:sp>
      <p:sp>
        <p:nvSpPr>
          <p:cNvPr id="15" name="Text 13"/>
          <p:cNvSpPr txBox="1"/>
          <p:nvPr/>
        </p:nvSpPr>
        <p:spPr>
          <a:xfrm>
            <a:off x="612648" y="3657600"/>
            <a:ext cx="1632204" cy="731520"/>
          </a:xfrm>
          <a:prstGeom prst="rect">
            <a:avLst/>
          </a:prstGeom>
          <a:noFill/>
          <a:ln/>
        </p:spPr>
        <p:txBody>
          <a:bodyPr wrap="square" lIns="0" tIns="0" rIns="0" bIns="0" rtlCol="0" anchor="t"/>
          <a:lstStyle/>
          <a:p>
            <a:pPr indent="0" marL="0">
              <a:buNone/>
            </a:pPr>
            <a:r>
              <a:rPr lang="en-US" sz="1250" dirty="0">
                <a:solidFill>
                  <a:srgbClr val="111111"/>
                </a:solidFill>
                <a:latin typeface="Microsoft YaHei" pitchFamily="34" charset="0"/>
                <a:ea typeface="Microsoft YaHei" pitchFamily="34" charset="-122"/>
                <a:cs typeface="Microsoft YaHei" pitchFamily="34" charset="-120"/>
              </a:rPr>
              <a:t>用户使用产品的环境</a:t>
            </a:r>
            <a:endParaRPr lang="en-US" sz="1250" dirty="0"/>
          </a:p>
        </p:txBody>
      </p:sp>
      <p:sp>
        <p:nvSpPr>
          <p:cNvPr id="16" name="Shape 14"/>
          <p:cNvSpPr/>
          <p:nvPr/>
        </p:nvSpPr>
        <p:spPr>
          <a:xfrm>
            <a:off x="2519172" y="1600200"/>
            <a:ext cx="1997964" cy="2971800"/>
          </a:xfrm>
          <a:prstGeom prst="roundRect">
            <a:avLst>
              <a:gd name="adj" fmla="val 4577"/>
            </a:avLst>
          </a:prstGeom>
          <a:solidFill>
            <a:srgbClr val="F4F4F4"/>
          </a:solidFill>
          <a:ln/>
        </p:spPr>
      </p:sp>
      <p:sp>
        <p:nvSpPr>
          <p:cNvPr id="17" name="Text 15"/>
          <p:cNvSpPr txBox="1"/>
          <p:nvPr/>
        </p:nvSpPr>
        <p:spPr>
          <a:xfrm>
            <a:off x="2720340" y="1737360"/>
            <a:ext cx="914400" cy="45720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02</a:t>
            </a:r>
            <a:endParaRPr lang="en-US" sz="2200" dirty="0"/>
          </a:p>
        </p:txBody>
      </p:sp>
      <p:sp>
        <p:nvSpPr>
          <p:cNvPr id="18" name="Text 16"/>
          <p:cNvSpPr txBox="1"/>
          <p:nvPr/>
        </p:nvSpPr>
        <p:spPr>
          <a:xfrm>
            <a:off x="2720340" y="2834640"/>
            <a:ext cx="1632204" cy="731520"/>
          </a:xfrm>
          <a:prstGeom prst="rect">
            <a:avLst/>
          </a:prstGeom>
          <a:noFill/>
          <a:ln/>
        </p:spPr>
        <p:txBody>
          <a:bodyPr wrap="square" lIns="0" tIns="0" rIns="0" bIns="0" rtlCol="0" anchor="b"/>
          <a:lstStyle/>
          <a:p>
            <a:pPr indent="0" marL="0">
              <a:buNone/>
            </a:pPr>
            <a:r>
              <a:rPr lang="en-US" sz="3400" b="1" dirty="0">
                <a:solidFill>
                  <a:srgbClr val="111111"/>
                </a:solidFill>
                <a:latin typeface="Microsoft YaHei" pitchFamily="34" charset="0"/>
                <a:ea typeface="Microsoft YaHei" pitchFamily="34" charset="-122"/>
                <a:cs typeface="Microsoft YaHei" pitchFamily="34" charset="-120"/>
              </a:rPr>
              <a:t>用户</a:t>
            </a:r>
            <a:endParaRPr lang="en-US" sz="3400" dirty="0"/>
          </a:p>
        </p:txBody>
      </p:sp>
      <p:sp>
        <p:nvSpPr>
          <p:cNvPr id="19" name="Text 17"/>
          <p:cNvSpPr txBox="1"/>
          <p:nvPr/>
        </p:nvSpPr>
        <p:spPr>
          <a:xfrm>
            <a:off x="2720340" y="3657600"/>
            <a:ext cx="1632204" cy="731520"/>
          </a:xfrm>
          <a:prstGeom prst="rect">
            <a:avLst/>
          </a:prstGeom>
          <a:noFill/>
          <a:ln/>
        </p:spPr>
        <p:txBody>
          <a:bodyPr wrap="square" lIns="0" tIns="0" rIns="0" bIns="0" rtlCol="0" anchor="t"/>
          <a:lstStyle/>
          <a:p>
            <a:pPr indent="0" marL="0">
              <a:buNone/>
            </a:pPr>
            <a:r>
              <a:rPr lang="en-US" sz="1250" dirty="0">
                <a:solidFill>
                  <a:srgbClr val="111111"/>
                </a:solidFill>
                <a:latin typeface="Microsoft YaHei" pitchFamily="34" charset="0"/>
                <a:ea typeface="Microsoft YaHei" pitchFamily="34" charset="-122"/>
                <a:cs typeface="Microsoft YaHei" pitchFamily="34" charset="-120"/>
              </a:rPr>
              <a:t>故事的主角</a:t>
            </a:r>
            <a:endParaRPr lang="en-US" sz="1250" dirty="0"/>
          </a:p>
        </p:txBody>
      </p:sp>
      <p:sp>
        <p:nvSpPr>
          <p:cNvPr id="20" name="Shape 18"/>
          <p:cNvSpPr/>
          <p:nvPr/>
        </p:nvSpPr>
        <p:spPr>
          <a:xfrm>
            <a:off x="4626864" y="1600200"/>
            <a:ext cx="1997964" cy="2971800"/>
          </a:xfrm>
          <a:prstGeom prst="roundRect">
            <a:avLst>
              <a:gd name="adj" fmla="val 4577"/>
            </a:avLst>
          </a:prstGeom>
          <a:solidFill>
            <a:srgbClr val="EBEBEB"/>
          </a:solidFill>
          <a:ln/>
        </p:spPr>
      </p:sp>
      <p:sp>
        <p:nvSpPr>
          <p:cNvPr id="21" name="Text 19"/>
          <p:cNvSpPr txBox="1"/>
          <p:nvPr/>
        </p:nvSpPr>
        <p:spPr>
          <a:xfrm>
            <a:off x="4828032" y="1737360"/>
            <a:ext cx="914400" cy="45720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03</a:t>
            </a:r>
            <a:endParaRPr lang="en-US" sz="2200" dirty="0"/>
          </a:p>
        </p:txBody>
      </p:sp>
      <p:sp>
        <p:nvSpPr>
          <p:cNvPr id="22" name="Text 20"/>
          <p:cNvSpPr txBox="1"/>
          <p:nvPr/>
        </p:nvSpPr>
        <p:spPr>
          <a:xfrm>
            <a:off x="4828032" y="2834640"/>
            <a:ext cx="1632204" cy="731520"/>
          </a:xfrm>
          <a:prstGeom prst="rect">
            <a:avLst/>
          </a:prstGeom>
          <a:noFill/>
          <a:ln/>
        </p:spPr>
        <p:txBody>
          <a:bodyPr wrap="square" lIns="0" tIns="0" rIns="0" bIns="0" rtlCol="0" anchor="b"/>
          <a:lstStyle/>
          <a:p>
            <a:pPr indent="0" marL="0">
              <a:buNone/>
            </a:pPr>
            <a:r>
              <a:rPr lang="en-US" sz="3400" b="1" dirty="0">
                <a:solidFill>
                  <a:srgbClr val="111111"/>
                </a:solidFill>
                <a:latin typeface="Microsoft YaHei" pitchFamily="34" charset="0"/>
                <a:ea typeface="Microsoft YaHei" pitchFamily="34" charset="-122"/>
                <a:cs typeface="Microsoft YaHei" pitchFamily="34" charset="-120"/>
              </a:rPr>
              <a:t>任务</a:t>
            </a:r>
            <a:endParaRPr lang="en-US" sz="3400" dirty="0"/>
          </a:p>
        </p:txBody>
      </p:sp>
      <p:sp>
        <p:nvSpPr>
          <p:cNvPr id="23" name="Shape 21"/>
          <p:cNvSpPr/>
          <p:nvPr/>
        </p:nvSpPr>
        <p:spPr>
          <a:xfrm>
            <a:off x="6734556" y="1600200"/>
            <a:ext cx="1997964" cy="2971800"/>
          </a:xfrm>
          <a:prstGeom prst="roundRect">
            <a:avLst>
              <a:gd name="adj" fmla="val 4577"/>
            </a:avLst>
          </a:prstGeom>
          <a:solidFill>
            <a:srgbClr val="111111"/>
          </a:solidFill>
          <a:ln/>
        </p:spPr>
      </p:sp>
      <p:sp>
        <p:nvSpPr>
          <p:cNvPr id="24" name="Text 22"/>
          <p:cNvSpPr txBox="1"/>
          <p:nvPr/>
        </p:nvSpPr>
        <p:spPr>
          <a:xfrm>
            <a:off x="6935724" y="1737360"/>
            <a:ext cx="914400" cy="457200"/>
          </a:xfrm>
          <a:prstGeom prst="rect">
            <a:avLst/>
          </a:prstGeom>
          <a:noFill/>
          <a:ln/>
        </p:spPr>
        <p:txBody>
          <a:bodyPr wrap="square" lIns="0" tIns="0" rIns="0" bIns="0" rtlCol="0" anchor="t"/>
          <a:lstStyle/>
          <a:p>
            <a:pPr indent="0" marL="0">
              <a:buNone/>
            </a:pPr>
            <a:r>
              <a:rPr lang="en-US" sz="2200" b="1" dirty="0">
                <a:solidFill>
                  <a:srgbClr val="FFC9C1"/>
                </a:solidFill>
                <a:latin typeface="Arial" pitchFamily="34" charset="0"/>
                <a:ea typeface="Arial" pitchFamily="34" charset="-122"/>
                <a:cs typeface="Arial" pitchFamily="34" charset="-120"/>
              </a:rPr>
              <a:t>04</a:t>
            </a:r>
            <a:endParaRPr lang="en-US" sz="2200" dirty="0"/>
          </a:p>
        </p:txBody>
      </p:sp>
      <p:sp>
        <p:nvSpPr>
          <p:cNvPr id="25" name="Text 23"/>
          <p:cNvSpPr txBox="1"/>
          <p:nvPr/>
        </p:nvSpPr>
        <p:spPr>
          <a:xfrm>
            <a:off x="6935724" y="2834640"/>
            <a:ext cx="1632204" cy="731520"/>
          </a:xfrm>
          <a:prstGeom prst="rect">
            <a:avLst/>
          </a:prstGeom>
          <a:noFill/>
          <a:ln/>
        </p:spPr>
        <p:txBody>
          <a:bodyPr wrap="square" lIns="0" tIns="0" rIns="0" bIns="0" rtlCol="0" anchor="b"/>
          <a:lstStyle/>
          <a:p>
            <a:pPr indent="0" marL="0">
              <a:buNone/>
            </a:pPr>
            <a:r>
              <a:rPr lang="en-US" sz="3400" b="1" dirty="0">
                <a:solidFill>
                  <a:srgbClr val="FFFFFF"/>
                </a:solidFill>
                <a:latin typeface="Microsoft YaHei" pitchFamily="34" charset="0"/>
                <a:ea typeface="Microsoft YaHei" pitchFamily="34" charset="-122"/>
                <a:cs typeface="Microsoft YaHei" pitchFamily="34" charset="-120"/>
              </a:rPr>
              <a:t>情绪</a:t>
            </a:r>
            <a:endParaRPr lang="en-US" sz="3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03 故事板</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故事板的表现手法</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Hand-drawn vs Photographic</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20</a:t>
            </a:r>
            <a:endParaRPr lang="en-US" sz="750" dirty="0"/>
          </a:p>
        </p:txBody>
      </p:sp>
      <p:pic>
        <p:nvPicPr>
          <p:cNvPr id="11" name="Image 0" descr="p21_3">    </p:cNvPr>
          <p:cNvPicPr>
            <a:picLocks noChangeAspect="1"/>
          </p:cNvPicPr>
          <p:nvPr/>
        </p:nvPicPr>
        <p:blipFill>
          <a:blip r:embed="rId1"/>
          <a:stretch>
            <a:fillRect/>
          </a:stretch>
        </p:blipFill>
        <p:spPr>
          <a:xfrm>
            <a:off x="411480" y="1188720"/>
            <a:ext cx="2194560" cy="3383280"/>
          </a:xfrm>
          <a:prstGeom prst="rect">
            <a:avLst/>
          </a:prstGeom>
        </p:spPr>
      </p:pic>
      <p:sp>
        <p:nvSpPr>
          <p:cNvPr id="12" name="Shape 9"/>
          <p:cNvSpPr/>
          <p:nvPr/>
        </p:nvSpPr>
        <p:spPr>
          <a:xfrm>
            <a:off x="2715768" y="1188720"/>
            <a:ext cx="2651760" cy="3383280"/>
          </a:xfrm>
          <a:prstGeom prst="roundRect">
            <a:avLst>
              <a:gd name="adj" fmla="val 3448"/>
            </a:avLst>
          </a:prstGeom>
          <a:solidFill>
            <a:srgbClr val="FFC9C1"/>
          </a:solidFill>
          <a:ln/>
        </p:spPr>
      </p:sp>
      <p:sp>
        <p:nvSpPr>
          <p:cNvPr id="13" name="Text 10"/>
          <p:cNvSpPr txBox="1"/>
          <p:nvPr/>
        </p:nvSpPr>
        <p:spPr>
          <a:xfrm>
            <a:off x="2944368" y="1325880"/>
            <a:ext cx="914400" cy="457200"/>
          </a:xfrm>
          <a:prstGeom prst="rect">
            <a:avLst/>
          </a:prstGeom>
          <a:noFill/>
          <a:ln/>
        </p:spPr>
        <p:txBody>
          <a:bodyPr wrap="square" lIns="0" tIns="0" rIns="0" bIns="0" rtlCol="0" anchor="t"/>
          <a:lstStyle/>
          <a:p>
            <a:pPr indent="0" marL="0">
              <a:buNone/>
            </a:pPr>
            <a:r>
              <a:rPr lang="en-US" sz="2200" b="1" dirty="0">
                <a:solidFill>
                  <a:srgbClr val="111111"/>
                </a:solidFill>
                <a:latin typeface="Arial" pitchFamily="34" charset="0"/>
                <a:ea typeface="Arial" pitchFamily="34" charset="-122"/>
                <a:cs typeface="Arial" pitchFamily="34" charset="-120"/>
              </a:rPr>
              <a:t>01</a:t>
            </a:r>
            <a:endParaRPr lang="en-US" sz="2200" dirty="0"/>
          </a:p>
        </p:txBody>
      </p:sp>
      <p:sp>
        <p:nvSpPr>
          <p:cNvPr id="14" name="Text 11"/>
          <p:cNvSpPr txBox="1"/>
          <p:nvPr/>
        </p:nvSpPr>
        <p:spPr>
          <a:xfrm>
            <a:off x="2944368" y="2377440"/>
            <a:ext cx="2286000" cy="502920"/>
          </a:xfrm>
          <a:prstGeom prst="rect">
            <a:avLst/>
          </a:prstGeom>
          <a:noFill/>
          <a:ln/>
        </p:spPr>
        <p:txBody>
          <a:bodyPr wrap="square" lIns="0" tIns="0" rIns="0" bIns="0" rtlCol="0" anchor="ctr"/>
          <a:lstStyle/>
          <a:p>
            <a:pPr indent="0" marL="0">
              <a:buNone/>
            </a:pPr>
            <a:r>
              <a:rPr lang="en-US" sz="2000" b="1" dirty="0">
                <a:solidFill>
                  <a:srgbClr val="111111"/>
                </a:solidFill>
                <a:latin typeface="Microsoft YaHei" pitchFamily="34" charset="0"/>
                <a:ea typeface="Microsoft YaHei" pitchFamily="34" charset="-122"/>
                <a:cs typeface="Microsoft YaHei" pitchFamily="34" charset="-120"/>
              </a:rPr>
              <a:t>手绘故事板</a:t>
            </a:r>
            <a:endParaRPr lang="en-US" sz="2000" dirty="0"/>
          </a:p>
        </p:txBody>
      </p:sp>
      <p:sp>
        <p:nvSpPr>
          <p:cNvPr id="15" name="Text 12"/>
          <p:cNvSpPr txBox="1"/>
          <p:nvPr/>
        </p:nvSpPr>
        <p:spPr>
          <a:xfrm>
            <a:off x="2944368" y="2971800"/>
            <a:ext cx="2240280" cy="1463040"/>
          </a:xfrm>
          <a:prstGeom prst="rect">
            <a:avLst/>
          </a:prstGeom>
          <a:noFill/>
          <a:ln/>
        </p:spPr>
        <p:txBody>
          <a:bodyPr wrap="square" lIns="0" tIns="0" rIns="0" bIns="0" rtlCol="0" anchor="t"/>
          <a:lstStyle/>
          <a:p>
            <a:pPr indent="0" marL="0">
              <a:lnSpc>
                <a:spcPct val="150000"/>
              </a:lnSpc>
              <a:buNone/>
            </a:pPr>
            <a:r>
              <a:rPr lang="en-US" sz="1400" dirty="0">
                <a:solidFill>
                  <a:srgbClr val="111111"/>
                </a:solidFill>
                <a:latin typeface="Microsoft YaHei" pitchFamily="34" charset="0"/>
                <a:ea typeface="Microsoft YaHei" pitchFamily="34" charset="-122"/>
                <a:cs typeface="Microsoft YaHei" pitchFamily="34" charset="-120"/>
              </a:rPr>
              <a:t>手绘故事板灵活性较高，适合快速表达创意。</a:t>
            </a:r>
            <a:endParaRPr lang="en-US" sz="1400" dirty="0"/>
          </a:p>
        </p:txBody>
      </p:sp>
      <p:sp>
        <p:nvSpPr>
          <p:cNvPr id="16" name="Shape 13"/>
          <p:cNvSpPr/>
          <p:nvPr/>
        </p:nvSpPr>
        <p:spPr>
          <a:xfrm>
            <a:off x="5477256" y="1188720"/>
            <a:ext cx="3255264" cy="3383280"/>
          </a:xfrm>
          <a:prstGeom prst="roundRect">
            <a:avLst>
              <a:gd name="adj" fmla="val 2809"/>
            </a:avLst>
          </a:prstGeom>
          <a:solidFill>
            <a:srgbClr val="111111"/>
          </a:solidFill>
          <a:ln/>
        </p:spPr>
      </p:sp>
      <p:sp>
        <p:nvSpPr>
          <p:cNvPr id="17" name="Text 14"/>
          <p:cNvSpPr txBox="1"/>
          <p:nvPr/>
        </p:nvSpPr>
        <p:spPr>
          <a:xfrm>
            <a:off x="5705856" y="1325880"/>
            <a:ext cx="914400" cy="457200"/>
          </a:xfrm>
          <a:prstGeom prst="rect">
            <a:avLst/>
          </a:prstGeom>
          <a:noFill/>
          <a:ln/>
        </p:spPr>
        <p:txBody>
          <a:bodyPr wrap="square" lIns="0" tIns="0" rIns="0" bIns="0" rtlCol="0" anchor="t"/>
          <a:lstStyle/>
          <a:p>
            <a:pPr indent="0" marL="0">
              <a:buNone/>
            </a:pPr>
            <a:r>
              <a:rPr lang="en-US" sz="2200" b="1" dirty="0">
                <a:solidFill>
                  <a:srgbClr val="FFC9C1"/>
                </a:solidFill>
                <a:latin typeface="Arial" pitchFamily="34" charset="0"/>
                <a:ea typeface="Arial" pitchFamily="34" charset="-122"/>
                <a:cs typeface="Arial" pitchFamily="34" charset="-120"/>
              </a:rPr>
              <a:t>02</a:t>
            </a:r>
            <a:endParaRPr lang="en-US" sz="2200" dirty="0"/>
          </a:p>
        </p:txBody>
      </p:sp>
      <p:sp>
        <p:nvSpPr>
          <p:cNvPr id="18" name="Text 15"/>
          <p:cNvSpPr txBox="1"/>
          <p:nvPr/>
        </p:nvSpPr>
        <p:spPr>
          <a:xfrm>
            <a:off x="5705856" y="2377440"/>
            <a:ext cx="2834640" cy="502920"/>
          </a:xfrm>
          <a:prstGeom prst="rect">
            <a:avLst/>
          </a:prstGeom>
          <a:noFill/>
          <a:ln/>
        </p:spPr>
        <p:txBody>
          <a:bodyPr wrap="square" lIns="0" tIns="0" rIns="0" bIns="0" rtlCol="0" anchor="ctr"/>
          <a:lstStyle/>
          <a:p>
            <a:pPr indent="0" marL="0">
              <a:buNone/>
            </a:pPr>
            <a:r>
              <a:rPr lang="en-US" sz="2000" b="1" dirty="0">
                <a:solidFill>
                  <a:srgbClr val="FFFFFF"/>
                </a:solidFill>
                <a:latin typeface="Microsoft YaHei" pitchFamily="34" charset="0"/>
                <a:ea typeface="Microsoft YaHei" pitchFamily="34" charset="-122"/>
                <a:cs typeface="Microsoft YaHei" pitchFamily="34" charset="-120"/>
              </a:rPr>
              <a:t>摄影故事板</a:t>
            </a:r>
            <a:endParaRPr lang="en-US" sz="2000" dirty="0"/>
          </a:p>
        </p:txBody>
      </p:sp>
      <p:sp>
        <p:nvSpPr>
          <p:cNvPr id="19" name="Text 16"/>
          <p:cNvSpPr txBox="1"/>
          <p:nvPr/>
        </p:nvSpPr>
        <p:spPr>
          <a:xfrm>
            <a:off x="5705856" y="2971800"/>
            <a:ext cx="2834640" cy="1463040"/>
          </a:xfrm>
          <a:prstGeom prst="rect">
            <a:avLst/>
          </a:prstGeom>
          <a:noFill/>
          <a:ln/>
        </p:spPr>
        <p:txBody>
          <a:bodyPr wrap="square" lIns="0" tIns="0" rIns="0" bIns="0" rtlCol="0" anchor="t"/>
          <a:lstStyle/>
          <a:p>
            <a:pPr indent="0" marL="0">
              <a:lnSpc>
                <a:spcPct val="150000"/>
              </a:lnSpc>
              <a:buNone/>
            </a:pPr>
            <a:r>
              <a:rPr lang="en-US" sz="1400" dirty="0">
                <a:solidFill>
                  <a:srgbClr val="FFFFFF"/>
                </a:solidFill>
                <a:latin typeface="Microsoft YaHei" pitchFamily="34" charset="0"/>
                <a:ea typeface="Microsoft YaHei" pitchFamily="34" charset="-122"/>
                <a:cs typeface="Microsoft YaHei" pitchFamily="34" charset="-120"/>
              </a:rPr>
              <a:t>摄影故事板则能够更真实地展示情境细节。</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03 故事板</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创建故事板</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Creating a Storyboard</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21</a:t>
            </a:r>
            <a:endParaRPr lang="en-US" sz="750" dirty="0"/>
          </a:p>
        </p:txBody>
      </p:sp>
      <p:sp>
        <p:nvSpPr>
          <p:cNvPr id="11" name="Shape 9"/>
          <p:cNvSpPr/>
          <p:nvPr/>
        </p:nvSpPr>
        <p:spPr>
          <a:xfrm>
            <a:off x="411480" y="1188720"/>
            <a:ext cx="2210562" cy="566928"/>
          </a:xfrm>
          <a:prstGeom prst="homePlate">
            <a:avLst/>
          </a:prstGeom>
          <a:solidFill>
            <a:srgbClr val="EBEBEB"/>
          </a:solidFill>
          <a:ln/>
        </p:spPr>
      </p:sp>
      <p:sp>
        <p:nvSpPr>
          <p:cNvPr id="12" name="Text 10"/>
          <p:cNvSpPr txBox="1"/>
          <p:nvPr/>
        </p:nvSpPr>
        <p:spPr>
          <a:xfrm>
            <a:off x="548640" y="1188720"/>
            <a:ext cx="1799082" cy="566928"/>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定义使用情境</a:t>
            </a:r>
            <a:endParaRPr lang="en-US" sz="1400" dirty="0"/>
          </a:p>
        </p:txBody>
      </p:sp>
      <p:sp>
        <p:nvSpPr>
          <p:cNvPr id="13" name="Shape 11"/>
          <p:cNvSpPr/>
          <p:nvPr/>
        </p:nvSpPr>
        <p:spPr>
          <a:xfrm>
            <a:off x="2448306" y="1188720"/>
            <a:ext cx="2210562" cy="566928"/>
          </a:xfrm>
          <a:prstGeom prst="chevron">
            <a:avLst/>
          </a:prstGeom>
          <a:solidFill>
            <a:srgbClr val="F4F4F4"/>
          </a:solidFill>
          <a:ln/>
        </p:spPr>
      </p:sp>
      <p:sp>
        <p:nvSpPr>
          <p:cNvPr id="14" name="Text 12"/>
          <p:cNvSpPr txBox="1"/>
          <p:nvPr/>
        </p:nvSpPr>
        <p:spPr>
          <a:xfrm>
            <a:off x="2768346" y="1188720"/>
            <a:ext cx="1616202" cy="566928"/>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绘制用户角色</a:t>
            </a:r>
            <a:endParaRPr lang="en-US" sz="1400" dirty="0"/>
          </a:p>
        </p:txBody>
      </p:sp>
      <p:sp>
        <p:nvSpPr>
          <p:cNvPr id="15" name="Shape 13"/>
          <p:cNvSpPr/>
          <p:nvPr/>
        </p:nvSpPr>
        <p:spPr>
          <a:xfrm>
            <a:off x="4485132" y="1188720"/>
            <a:ext cx="2210562" cy="566928"/>
          </a:xfrm>
          <a:prstGeom prst="chevron">
            <a:avLst/>
          </a:prstGeom>
          <a:solidFill>
            <a:srgbClr val="EBEBEB"/>
          </a:solidFill>
          <a:ln/>
        </p:spPr>
      </p:sp>
      <p:sp>
        <p:nvSpPr>
          <p:cNvPr id="16" name="Text 14"/>
          <p:cNvSpPr txBox="1"/>
          <p:nvPr/>
        </p:nvSpPr>
        <p:spPr>
          <a:xfrm>
            <a:off x="4805172" y="1188720"/>
            <a:ext cx="1616202" cy="566928"/>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描述操作步骤</a:t>
            </a:r>
            <a:endParaRPr lang="en-US" sz="1400" dirty="0"/>
          </a:p>
        </p:txBody>
      </p:sp>
      <p:sp>
        <p:nvSpPr>
          <p:cNvPr id="17" name="Shape 15"/>
          <p:cNvSpPr/>
          <p:nvPr/>
        </p:nvSpPr>
        <p:spPr>
          <a:xfrm>
            <a:off x="6521958" y="1188720"/>
            <a:ext cx="2210562" cy="566928"/>
          </a:xfrm>
          <a:prstGeom prst="chevron">
            <a:avLst/>
          </a:prstGeom>
          <a:solidFill>
            <a:srgbClr val="FFC9C1"/>
          </a:solidFill>
          <a:ln/>
        </p:spPr>
      </p:sp>
      <p:sp>
        <p:nvSpPr>
          <p:cNvPr id="18" name="Text 16"/>
          <p:cNvSpPr txBox="1"/>
          <p:nvPr/>
        </p:nvSpPr>
        <p:spPr>
          <a:xfrm>
            <a:off x="6841998" y="1188720"/>
            <a:ext cx="1616202" cy="566928"/>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描述情绪变化</a:t>
            </a:r>
            <a:endParaRPr lang="en-US" sz="1400" dirty="0"/>
          </a:p>
        </p:txBody>
      </p:sp>
      <p:pic>
        <p:nvPicPr>
          <p:cNvPr id="19" name="Image 0" descr="p21_0">    </p:cNvPr>
          <p:cNvPicPr>
            <a:picLocks noChangeAspect="1"/>
          </p:cNvPicPr>
          <p:nvPr/>
        </p:nvPicPr>
        <p:blipFill>
          <a:blip r:embed="rId1"/>
          <a:stretch>
            <a:fillRect/>
          </a:stretch>
        </p:blipFill>
        <p:spPr>
          <a:xfrm>
            <a:off x="411480" y="1920240"/>
            <a:ext cx="3017520" cy="2651760"/>
          </a:xfrm>
          <a:prstGeom prst="rect">
            <a:avLst/>
          </a:prstGeom>
        </p:spPr>
      </p:pic>
      <p:sp>
        <p:nvSpPr>
          <p:cNvPr id="20" name="Shape 17"/>
          <p:cNvSpPr/>
          <p:nvPr/>
        </p:nvSpPr>
        <p:spPr>
          <a:xfrm>
            <a:off x="3538728" y="1920240"/>
            <a:ext cx="2542032" cy="2651760"/>
          </a:xfrm>
          <a:prstGeom prst="roundRect">
            <a:avLst>
              <a:gd name="adj" fmla="val 3597"/>
            </a:avLst>
          </a:prstGeom>
          <a:solidFill>
            <a:srgbClr val="F4F4F4"/>
          </a:solidFill>
          <a:ln/>
        </p:spPr>
      </p:sp>
      <p:sp>
        <p:nvSpPr>
          <p:cNvPr id="21" name="Text 18"/>
          <p:cNvSpPr txBox="1"/>
          <p:nvPr/>
        </p:nvSpPr>
        <p:spPr>
          <a:xfrm>
            <a:off x="3767328" y="2084832"/>
            <a:ext cx="914400" cy="411480"/>
          </a:xfrm>
          <a:prstGeom prst="rect">
            <a:avLst/>
          </a:prstGeom>
          <a:noFill/>
          <a:ln/>
        </p:spPr>
        <p:txBody>
          <a:bodyPr wrap="square" lIns="0" tIns="0" rIns="0" bIns="0" rtlCol="0" anchor="t"/>
          <a:lstStyle/>
          <a:p>
            <a:pPr indent="0" marL="0">
              <a:buNone/>
            </a:pPr>
            <a:r>
              <a:rPr lang="en-US" sz="1400" b="1" dirty="0">
                <a:solidFill>
                  <a:srgbClr val="111111"/>
                </a:solidFill>
                <a:latin typeface="Arial" pitchFamily="34" charset="0"/>
                <a:ea typeface="Arial" pitchFamily="34" charset="-122"/>
                <a:cs typeface="Arial" pitchFamily="34" charset="-120"/>
              </a:rPr>
              <a:t>01</a:t>
            </a:r>
            <a:endParaRPr lang="en-US" sz="1400" dirty="0"/>
          </a:p>
        </p:txBody>
      </p:sp>
      <p:sp>
        <p:nvSpPr>
          <p:cNvPr id="22" name="Text 19"/>
          <p:cNvSpPr txBox="1"/>
          <p:nvPr/>
        </p:nvSpPr>
        <p:spPr>
          <a:xfrm>
            <a:off x="3767328" y="2404872"/>
            <a:ext cx="2130552" cy="384048"/>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创建故事板的步骤</a:t>
            </a:r>
            <a:endParaRPr lang="en-US" sz="1500" dirty="0"/>
          </a:p>
        </p:txBody>
      </p:sp>
      <p:sp>
        <p:nvSpPr>
          <p:cNvPr id="23" name="Text 20"/>
          <p:cNvSpPr txBox="1"/>
          <p:nvPr/>
        </p:nvSpPr>
        <p:spPr>
          <a:xfrm>
            <a:off x="3767328" y="2862072"/>
            <a:ext cx="2130552" cy="1618488"/>
          </a:xfrm>
          <a:prstGeom prst="rect">
            <a:avLst/>
          </a:prstGeom>
          <a:noFill/>
          <a:ln/>
        </p:spPr>
        <p:txBody>
          <a:bodyPr wrap="square" lIns="0" tIns="0" rIns="0" bIns="0" rtlCol="0" anchor="t"/>
          <a:lstStyle/>
          <a:p>
            <a:pPr indent="0" marL="0">
              <a:lnSpc>
                <a:spcPct val="135000"/>
              </a:lnSpc>
              <a:spcAft>
                <a:spcPts val="500"/>
              </a:spcAft>
              <a:buNone/>
            </a:pPr>
            <a:r>
              <a:rPr lang="en-US" sz="1250" dirty="0">
                <a:solidFill>
                  <a:srgbClr val="111111"/>
                </a:solidFill>
                <a:latin typeface="Microsoft YaHei" pitchFamily="34" charset="0"/>
                <a:ea typeface="Microsoft YaHei" pitchFamily="34" charset="-122"/>
                <a:cs typeface="Microsoft YaHei" pitchFamily="34" charset="-120"/>
              </a:rPr>
              <a:t>创建故事板的步骤包括定义使用情境、绘制用户角色、描述操作步骤和情绪变化。</a:t>
            </a:r>
            <a:endParaRPr lang="en-US" sz="1250" dirty="0"/>
          </a:p>
        </p:txBody>
      </p:sp>
      <p:sp>
        <p:nvSpPr>
          <p:cNvPr id="24" name="Shape 21"/>
          <p:cNvSpPr/>
          <p:nvPr/>
        </p:nvSpPr>
        <p:spPr>
          <a:xfrm>
            <a:off x="6190488" y="1920240"/>
            <a:ext cx="2542032" cy="2651760"/>
          </a:xfrm>
          <a:prstGeom prst="roundRect">
            <a:avLst>
              <a:gd name="adj" fmla="val 3597"/>
            </a:avLst>
          </a:prstGeom>
          <a:solidFill>
            <a:srgbClr val="111111"/>
          </a:solidFill>
          <a:ln/>
        </p:spPr>
      </p:sp>
      <p:sp>
        <p:nvSpPr>
          <p:cNvPr id="25" name="Text 22"/>
          <p:cNvSpPr txBox="1"/>
          <p:nvPr/>
        </p:nvSpPr>
        <p:spPr>
          <a:xfrm>
            <a:off x="6419088" y="2084832"/>
            <a:ext cx="914400" cy="411480"/>
          </a:xfrm>
          <a:prstGeom prst="rect">
            <a:avLst/>
          </a:prstGeom>
          <a:noFill/>
          <a:ln/>
        </p:spPr>
        <p:txBody>
          <a:bodyPr wrap="square" lIns="0" tIns="0" rIns="0" bIns="0" rtlCol="0" anchor="t"/>
          <a:lstStyle/>
          <a:p>
            <a:pPr indent="0" marL="0">
              <a:buNone/>
            </a:pPr>
            <a:r>
              <a:rPr lang="en-US" sz="1400" b="1" dirty="0">
                <a:solidFill>
                  <a:srgbClr val="FFC9C1"/>
                </a:solidFill>
                <a:latin typeface="Arial" pitchFamily="34" charset="0"/>
                <a:ea typeface="Arial" pitchFamily="34" charset="-122"/>
                <a:cs typeface="Arial" pitchFamily="34" charset="-120"/>
              </a:rPr>
              <a:t>02</a:t>
            </a:r>
            <a:endParaRPr lang="en-US" sz="1400" dirty="0"/>
          </a:p>
        </p:txBody>
      </p:sp>
      <p:sp>
        <p:nvSpPr>
          <p:cNvPr id="26" name="Text 23"/>
          <p:cNvSpPr txBox="1"/>
          <p:nvPr/>
        </p:nvSpPr>
        <p:spPr>
          <a:xfrm>
            <a:off x="6419088" y="2404872"/>
            <a:ext cx="2130552" cy="384048"/>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故事板的实施</a:t>
            </a:r>
            <a:endParaRPr lang="en-US" sz="1500" dirty="0"/>
          </a:p>
        </p:txBody>
      </p:sp>
      <p:sp>
        <p:nvSpPr>
          <p:cNvPr id="27" name="Text 24"/>
          <p:cNvSpPr txBox="1"/>
          <p:nvPr/>
        </p:nvSpPr>
        <p:spPr>
          <a:xfrm>
            <a:off x="6419088" y="2862072"/>
            <a:ext cx="2130552" cy="1618488"/>
          </a:xfrm>
          <a:prstGeom prst="rect">
            <a:avLst/>
          </a:prstGeom>
          <a:noFill/>
          <a:ln/>
        </p:spPr>
        <p:txBody>
          <a:bodyPr wrap="square" lIns="0" tIns="0" rIns="0" bIns="0" rtlCol="0" anchor="t"/>
          <a:lstStyle/>
          <a:p>
            <a:pPr indent="0" marL="0">
              <a:lnSpc>
                <a:spcPct val="135000"/>
              </a:lnSpc>
              <a:spcAft>
                <a:spcPts val="500"/>
              </a:spcAft>
              <a:buNone/>
            </a:pPr>
            <a:r>
              <a:rPr lang="en-US" sz="1250" dirty="0">
                <a:solidFill>
                  <a:srgbClr val="FFFFFF"/>
                </a:solidFill>
                <a:latin typeface="Microsoft YaHei" pitchFamily="34" charset="0"/>
                <a:ea typeface="Microsoft YaHei" pitchFamily="34" charset="-122"/>
                <a:cs typeface="Microsoft YaHei" pitchFamily="34" charset="-120"/>
              </a:rPr>
              <a:t>首先需要明确用户的操作情境；接着，创建代表用户的角色。</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03 故事板</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故事板在调研中的应用案例 ——“能量公司”设计</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Case Study</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22</a:t>
            </a:r>
            <a:endParaRPr lang="en-US" sz="750" dirty="0"/>
          </a:p>
        </p:txBody>
      </p:sp>
      <p:sp>
        <p:nvSpPr>
          <p:cNvPr id="11" name="Shape 9"/>
          <p:cNvSpPr/>
          <p:nvPr/>
        </p:nvSpPr>
        <p:spPr>
          <a:xfrm>
            <a:off x="411480" y="1188720"/>
            <a:ext cx="2743200" cy="3383280"/>
          </a:xfrm>
          <a:prstGeom prst="roundRect">
            <a:avLst>
              <a:gd name="adj" fmla="val 3333"/>
            </a:avLst>
          </a:prstGeom>
          <a:solidFill>
            <a:srgbClr val="FFC9C1"/>
          </a:solidFill>
          <a:ln/>
        </p:spPr>
      </p:sp>
      <p:sp>
        <p:nvSpPr>
          <p:cNvPr id="12" name="Text 10"/>
          <p:cNvSpPr txBox="1"/>
          <p:nvPr/>
        </p:nvSpPr>
        <p:spPr>
          <a:xfrm>
            <a:off x="640080" y="1371600"/>
            <a:ext cx="2286000" cy="731520"/>
          </a:xfrm>
          <a:prstGeom prst="rect">
            <a:avLst/>
          </a:prstGeom>
          <a:noFill/>
          <a:ln/>
        </p:spPr>
        <p:txBody>
          <a:bodyPr wrap="square" lIns="0" tIns="0" rIns="0" bIns="0" rtlCol="0" anchor="t"/>
          <a:lstStyle/>
          <a:p>
            <a:pPr indent="0" marL="0">
              <a:buNone/>
            </a:pPr>
            <a:r>
              <a:rPr lang="en-US" sz="3600" b="1" dirty="0">
                <a:solidFill>
                  <a:srgbClr val="111111"/>
                </a:solidFill>
                <a:latin typeface="Arial" pitchFamily="34" charset="0"/>
                <a:ea typeface="Arial" pitchFamily="34" charset="-122"/>
                <a:cs typeface="Arial" pitchFamily="34" charset="-120"/>
              </a:rPr>
              <a:t>CASE</a:t>
            </a:r>
            <a:endParaRPr lang="en-US" sz="3600" dirty="0"/>
          </a:p>
        </p:txBody>
      </p:sp>
      <p:sp>
        <p:nvSpPr>
          <p:cNvPr id="13" name="Text 11"/>
          <p:cNvSpPr txBox="1"/>
          <p:nvPr/>
        </p:nvSpPr>
        <p:spPr>
          <a:xfrm>
            <a:off x="640080" y="3840480"/>
            <a:ext cx="2286000" cy="457200"/>
          </a:xfrm>
          <a:prstGeom prst="rect">
            <a:avLst/>
          </a:prstGeom>
          <a:noFill/>
          <a:ln/>
        </p:spPr>
        <p:txBody>
          <a:bodyPr wrap="square" lIns="0" tIns="0" rIns="0" bIns="0" rtlCol="0" anchor="b"/>
          <a:lstStyle/>
          <a:p>
            <a:pPr indent="0" marL="0">
              <a:buNone/>
            </a:pPr>
            <a:r>
              <a:rPr lang="en-US" sz="1700" b="1" dirty="0">
                <a:solidFill>
                  <a:srgbClr val="111111"/>
                </a:solidFill>
                <a:latin typeface="Microsoft YaHei" pitchFamily="34" charset="0"/>
                <a:ea typeface="Microsoft YaHei" pitchFamily="34" charset="-122"/>
                <a:cs typeface="Microsoft YaHei" pitchFamily="34" charset="-120"/>
              </a:rPr>
              <a:t>“能量公司”</a:t>
            </a:r>
            <a:endParaRPr lang="en-US" sz="1700" dirty="0"/>
          </a:p>
        </p:txBody>
      </p:sp>
      <p:sp>
        <p:nvSpPr>
          <p:cNvPr id="14" name="Shape 12"/>
          <p:cNvSpPr/>
          <p:nvPr/>
        </p:nvSpPr>
        <p:spPr>
          <a:xfrm>
            <a:off x="3264408" y="1188720"/>
            <a:ext cx="1755648" cy="1280160"/>
          </a:xfrm>
          <a:prstGeom prst="roundRect">
            <a:avLst>
              <a:gd name="adj" fmla="val 7143"/>
            </a:avLst>
          </a:prstGeom>
          <a:solidFill>
            <a:srgbClr val="FFFFFF"/>
          </a:solidFill>
          <a:ln w="9525">
            <a:solidFill>
              <a:srgbClr val="D0D0D0"/>
            </a:solidFill>
            <a:prstDash val="solid"/>
          </a:ln>
        </p:spPr>
      </p:sp>
      <p:sp>
        <p:nvSpPr>
          <p:cNvPr id="15" name="Text 13"/>
          <p:cNvSpPr txBox="1"/>
          <p:nvPr/>
        </p:nvSpPr>
        <p:spPr>
          <a:xfrm>
            <a:off x="3264408" y="1188720"/>
            <a:ext cx="1755648" cy="1280160"/>
          </a:xfrm>
          <a:prstGeom prst="rect">
            <a:avLst/>
          </a:prstGeom>
          <a:noFill/>
          <a:ln/>
        </p:spPr>
        <p:txBody>
          <a:bodyPr wrap="square" lIns="0" tIns="0" rIns="0" bIns="0" rtlCol="0" anchor="ctr"/>
          <a:lstStyle/>
          <a:p>
            <a:pPr algn="ctr" indent="0" marL="0">
              <a:buNone/>
            </a:pPr>
            <a:r>
              <a:rPr lang="en-US" sz="1200" dirty="0">
                <a:solidFill>
                  <a:srgbClr val="6B6B6B"/>
                </a:solidFill>
                <a:latin typeface="Microsoft YaHei" pitchFamily="34" charset="0"/>
                <a:ea typeface="Microsoft YaHei" pitchFamily="34" charset="-122"/>
                <a:cs typeface="Microsoft YaHei" pitchFamily="34" charset="-120"/>
              </a:rPr>
              <a:t>情境 1</a:t>
            </a:r>
            <a:endParaRPr lang="en-US" sz="1200" dirty="0"/>
          </a:p>
        </p:txBody>
      </p:sp>
      <p:sp>
        <p:nvSpPr>
          <p:cNvPr id="16" name="Shape 14"/>
          <p:cNvSpPr/>
          <p:nvPr/>
        </p:nvSpPr>
        <p:spPr>
          <a:xfrm>
            <a:off x="5129784" y="1188720"/>
            <a:ext cx="1755648" cy="1280160"/>
          </a:xfrm>
          <a:prstGeom prst="roundRect">
            <a:avLst>
              <a:gd name="adj" fmla="val 7143"/>
            </a:avLst>
          </a:prstGeom>
          <a:solidFill>
            <a:srgbClr val="FFFFFF"/>
          </a:solidFill>
          <a:ln w="9525">
            <a:solidFill>
              <a:srgbClr val="D0D0D0"/>
            </a:solidFill>
            <a:prstDash val="solid"/>
          </a:ln>
        </p:spPr>
      </p:sp>
      <p:sp>
        <p:nvSpPr>
          <p:cNvPr id="17" name="Text 15"/>
          <p:cNvSpPr txBox="1"/>
          <p:nvPr/>
        </p:nvSpPr>
        <p:spPr>
          <a:xfrm>
            <a:off x="5129784" y="1188720"/>
            <a:ext cx="1755648" cy="1280160"/>
          </a:xfrm>
          <a:prstGeom prst="rect">
            <a:avLst/>
          </a:prstGeom>
          <a:noFill/>
          <a:ln/>
        </p:spPr>
        <p:txBody>
          <a:bodyPr wrap="square" lIns="0" tIns="0" rIns="0" bIns="0" rtlCol="0" anchor="ctr"/>
          <a:lstStyle/>
          <a:p>
            <a:pPr algn="ctr" indent="0" marL="0">
              <a:buNone/>
            </a:pPr>
            <a:r>
              <a:rPr lang="en-US" sz="1200" dirty="0">
                <a:solidFill>
                  <a:srgbClr val="6B6B6B"/>
                </a:solidFill>
                <a:latin typeface="Microsoft YaHei" pitchFamily="34" charset="0"/>
                <a:ea typeface="Microsoft YaHei" pitchFamily="34" charset="-122"/>
                <a:cs typeface="Microsoft YaHei" pitchFamily="34" charset="-120"/>
              </a:rPr>
              <a:t>情境 2</a:t>
            </a:r>
            <a:endParaRPr lang="en-US" sz="1200" dirty="0"/>
          </a:p>
        </p:txBody>
      </p:sp>
      <p:sp>
        <p:nvSpPr>
          <p:cNvPr id="18" name="Shape 16"/>
          <p:cNvSpPr/>
          <p:nvPr/>
        </p:nvSpPr>
        <p:spPr>
          <a:xfrm>
            <a:off x="6995160" y="1188720"/>
            <a:ext cx="1755648" cy="1280160"/>
          </a:xfrm>
          <a:prstGeom prst="roundRect">
            <a:avLst>
              <a:gd name="adj" fmla="val 7143"/>
            </a:avLst>
          </a:prstGeom>
          <a:solidFill>
            <a:srgbClr val="FFFFFF"/>
          </a:solidFill>
          <a:ln w="9525">
            <a:solidFill>
              <a:srgbClr val="D0D0D0"/>
            </a:solidFill>
            <a:prstDash val="solid"/>
          </a:ln>
        </p:spPr>
      </p:sp>
      <p:sp>
        <p:nvSpPr>
          <p:cNvPr id="19" name="Text 17"/>
          <p:cNvSpPr txBox="1"/>
          <p:nvPr/>
        </p:nvSpPr>
        <p:spPr>
          <a:xfrm>
            <a:off x="6995160" y="1188720"/>
            <a:ext cx="1755648" cy="1280160"/>
          </a:xfrm>
          <a:prstGeom prst="rect">
            <a:avLst/>
          </a:prstGeom>
          <a:noFill/>
          <a:ln/>
        </p:spPr>
        <p:txBody>
          <a:bodyPr wrap="square" lIns="0" tIns="0" rIns="0" bIns="0" rtlCol="0" anchor="ctr"/>
          <a:lstStyle/>
          <a:p>
            <a:pPr algn="ctr" indent="0" marL="0">
              <a:buNone/>
            </a:pPr>
            <a:r>
              <a:rPr lang="en-US" sz="1200" dirty="0">
                <a:solidFill>
                  <a:srgbClr val="6B6B6B"/>
                </a:solidFill>
                <a:latin typeface="Microsoft YaHei" pitchFamily="34" charset="0"/>
                <a:ea typeface="Microsoft YaHei" pitchFamily="34" charset="-122"/>
                <a:cs typeface="Microsoft YaHei" pitchFamily="34" charset="-120"/>
              </a:rPr>
              <a:t>情境 3</a:t>
            </a:r>
            <a:endParaRPr lang="en-US" sz="1200" dirty="0"/>
          </a:p>
        </p:txBody>
      </p:sp>
      <p:sp>
        <p:nvSpPr>
          <p:cNvPr id="20" name="Shape 18"/>
          <p:cNvSpPr/>
          <p:nvPr/>
        </p:nvSpPr>
        <p:spPr>
          <a:xfrm>
            <a:off x="3264408" y="2578608"/>
            <a:ext cx="5468112" cy="1993392"/>
          </a:xfrm>
          <a:prstGeom prst="roundRect">
            <a:avLst>
              <a:gd name="adj" fmla="val 4587"/>
            </a:avLst>
          </a:prstGeom>
          <a:solidFill>
            <a:srgbClr val="F4F4F4"/>
          </a:solidFill>
          <a:ln/>
        </p:spPr>
      </p:sp>
      <p:sp>
        <p:nvSpPr>
          <p:cNvPr id="21" name="Text 19"/>
          <p:cNvSpPr txBox="1"/>
          <p:nvPr/>
        </p:nvSpPr>
        <p:spPr>
          <a:xfrm>
            <a:off x="3493008" y="2578608"/>
            <a:ext cx="5029200" cy="1993392"/>
          </a:xfrm>
          <a:prstGeom prst="rect">
            <a:avLst/>
          </a:prstGeom>
          <a:noFill/>
          <a:ln/>
        </p:spPr>
        <p:txBody>
          <a:bodyPr wrap="square" lIns="0" tIns="0" rIns="0" bIns="0" rtlCol="0" anchor="ctr"/>
          <a:lstStyle/>
          <a:p>
            <a:pPr indent="0" marL="0">
              <a:lnSpc>
                <a:spcPct val="150000"/>
              </a:lnSpc>
              <a:spcAft>
                <a:spcPts val="600"/>
              </a:spcAft>
              <a:buNone/>
            </a:pPr>
            <a:r>
              <a:rPr lang="en-US" sz="1350" dirty="0">
                <a:solidFill>
                  <a:srgbClr val="111111"/>
                </a:solidFill>
                <a:latin typeface="Microsoft YaHei" pitchFamily="34" charset="0"/>
                <a:ea typeface="Microsoft YaHei" pitchFamily="34" charset="-122"/>
                <a:cs typeface="Microsoft YaHei" pitchFamily="34" charset="-120"/>
              </a:rPr>
              <a:t>在“能量公司”项目中，设计团队使用故事板展示了用户在不同情境下的操作流程。</a:t>
            </a:r>
            <a:endParaRPr lang="en-US" sz="1350" dirty="0"/>
          </a:p>
          <a:p>
            <a:pPr indent="0" marL="0">
              <a:lnSpc>
                <a:spcPct val="150000"/>
              </a:lnSpc>
              <a:spcAft>
                <a:spcPts val="600"/>
              </a:spcAft>
              <a:buNone/>
            </a:pPr>
            <a:r>
              <a:rPr lang="en-US" sz="1350" dirty="0">
                <a:solidFill>
                  <a:srgbClr val="111111"/>
                </a:solidFill>
                <a:latin typeface="Microsoft YaHei" pitchFamily="34" charset="0"/>
                <a:ea typeface="Microsoft YaHei" pitchFamily="34" charset="-122"/>
                <a:cs typeface="Microsoft YaHei" pitchFamily="34" charset="-120"/>
              </a:rPr>
              <a:t>通过故事板，团队识别了用户在应用使用过程中的常见问题，并针对性地进行设计改进。</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03 故事板</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故事板对设计的指导意义 · 发展与局限</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Value &amp; Limitations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23</a:t>
            </a:r>
            <a:endParaRPr lang="en-US" sz="750" dirty="0"/>
          </a:p>
        </p:txBody>
      </p:sp>
      <p:sp>
        <p:nvSpPr>
          <p:cNvPr id="11" name="Shape 9"/>
          <p:cNvSpPr/>
          <p:nvPr/>
        </p:nvSpPr>
        <p:spPr>
          <a:xfrm>
            <a:off x="411480" y="1188720"/>
            <a:ext cx="4105656" cy="1636776"/>
          </a:xfrm>
          <a:prstGeom prst="roundRect">
            <a:avLst>
              <a:gd name="adj" fmla="val 5587"/>
            </a:avLst>
          </a:prstGeom>
          <a:solidFill>
            <a:srgbClr val="FFC9C1"/>
          </a:solidFill>
          <a:ln/>
        </p:spPr>
      </p:sp>
      <p:sp>
        <p:nvSpPr>
          <p:cNvPr id="12" name="Text 10"/>
          <p:cNvSpPr txBox="1"/>
          <p:nvPr/>
        </p:nvSpPr>
        <p:spPr>
          <a:xfrm>
            <a:off x="640080" y="1371600"/>
            <a:ext cx="914400" cy="731520"/>
          </a:xfrm>
          <a:prstGeom prst="rect">
            <a:avLst/>
          </a:prstGeom>
          <a:noFill/>
          <a:ln/>
        </p:spPr>
        <p:txBody>
          <a:bodyPr wrap="square" lIns="0" tIns="0" rIns="0" bIns="0" rtlCol="0" anchor="t"/>
          <a:lstStyle/>
          <a:p>
            <a:pPr indent="0" marL="0">
              <a:buNone/>
            </a:pPr>
            <a:r>
              <a:rPr lang="en-US" sz="3000" b="1" dirty="0">
                <a:solidFill>
                  <a:srgbClr val="111111"/>
                </a:solidFill>
                <a:latin typeface="Arial" pitchFamily="34" charset="0"/>
                <a:ea typeface="Arial" pitchFamily="34" charset="-122"/>
                <a:cs typeface="Arial" pitchFamily="34" charset="-120"/>
              </a:rPr>
              <a:t>01</a:t>
            </a:r>
            <a:endParaRPr lang="en-US" sz="3000" dirty="0"/>
          </a:p>
        </p:txBody>
      </p:sp>
      <p:sp>
        <p:nvSpPr>
          <p:cNvPr id="13" name="Text 11"/>
          <p:cNvSpPr txBox="1"/>
          <p:nvPr/>
        </p:nvSpPr>
        <p:spPr>
          <a:xfrm>
            <a:off x="1600200" y="1371600"/>
            <a:ext cx="2734056" cy="384048"/>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故事板对设计的帮助</a:t>
            </a:r>
            <a:endParaRPr lang="en-US" sz="1600" dirty="0"/>
          </a:p>
        </p:txBody>
      </p:sp>
      <p:sp>
        <p:nvSpPr>
          <p:cNvPr id="14" name="Text 12"/>
          <p:cNvSpPr txBox="1"/>
          <p:nvPr/>
        </p:nvSpPr>
        <p:spPr>
          <a:xfrm>
            <a:off x="1600200" y="1828800"/>
            <a:ext cx="2734056" cy="905256"/>
          </a:xfrm>
          <a:prstGeom prst="rect">
            <a:avLst/>
          </a:prstGeom>
          <a:noFill/>
          <a:ln/>
        </p:spPr>
        <p:txBody>
          <a:bodyPr wrap="square" lIns="0" tIns="0" rIns="0" bIns="0" rtlCol="0" anchor="t"/>
          <a:lstStyle/>
          <a:p>
            <a:pPr indent="0" marL="0">
              <a:lnSpc>
                <a:spcPct val="140000"/>
              </a:lnSpc>
              <a:buNone/>
            </a:pPr>
            <a:r>
              <a:rPr lang="en-US" sz="1300" dirty="0">
                <a:solidFill>
                  <a:srgbClr val="111111"/>
                </a:solidFill>
                <a:latin typeface="Microsoft YaHei" pitchFamily="34" charset="0"/>
                <a:ea typeface="Microsoft YaHei" pitchFamily="34" charset="-122"/>
                <a:cs typeface="Microsoft YaHei" pitchFamily="34" charset="-120"/>
              </a:rPr>
              <a:t>故事板能够帮助设计师更好地理解用户体验，识别潜在的设计问题。</a:t>
            </a:r>
            <a:endParaRPr lang="en-US" sz="1300" dirty="0"/>
          </a:p>
        </p:txBody>
      </p:sp>
      <p:sp>
        <p:nvSpPr>
          <p:cNvPr id="15" name="Shape 13"/>
          <p:cNvSpPr/>
          <p:nvPr/>
        </p:nvSpPr>
        <p:spPr>
          <a:xfrm>
            <a:off x="4626864" y="1188720"/>
            <a:ext cx="4105656" cy="1636776"/>
          </a:xfrm>
          <a:prstGeom prst="roundRect">
            <a:avLst>
              <a:gd name="adj" fmla="val 5587"/>
            </a:avLst>
          </a:prstGeom>
          <a:solidFill>
            <a:srgbClr val="F4F4F4"/>
          </a:solidFill>
          <a:ln/>
        </p:spPr>
      </p:sp>
      <p:sp>
        <p:nvSpPr>
          <p:cNvPr id="16" name="Text 14"/>
          <p:cNvSpPr txBox="1"/>
          <p:nvPr/>
        </p:nvSpPr>
        <p:spPr>
          <a:xfrm>
            <a:off x="4855464" y="1371600"/>
            <a:ext cx="914400" cy="731520"/>
          </a:xfrm>
          <a:prstGeom prst="rect">
            <a:avLst/>
          </a:prstGeom>
          <a:noFill/>
          <a:ln/>
        </p:spPr>
        <p:txBody>
          <a:bodyPr wrap="square" lIns="0" tIns="0" rIns="0" bIns="0" rtlCol="0" anchor="t"/>
          <a:lstStyle/>
          <a:p>
            <a:pPr indent="0" marL="0">
              <a:buNone/>
            </a:pPr>
            <a:r>
              <a:rPr lang="en-US" sz="3000" b="1" dirty="0">
                <a:solidFill>
                  <a:srgbClr val="111111"/>
                </a:solidFill>
                <a:latin typeface="Arial" pitchFamily="34" charset="0"/>
                <a:ea typeface="Arial" pitchFamily="34" charset="-122"/>
                <a:cs typeface="Arial" pitchFamily="34" charset="-120"/>
              </a:rPr>
              <a:t>02</a:t>
            </a:r>
            <a:endParaRPr lang="en-US" sz="3000" dirty="0"/>
          </a:p>
        </p:txBody>
      </p:sp>
      <p:sp>
        <p:nvSpPr>
          <p:cNvPr id="17" name="Text 15"/>
          <p:cNvSpPr txBox="1"/>
          <p:nvPr/>
        </p:nvSpPr>
        <p:spPr>
          <a:xfrm>
            <a:off x="5815584" y="1371600"/>
            <a:ext cx="2734056" cy="384048"/>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故事板的指导作用</a:t>
            </a:r>
            <a:endParaRPr lang="en-US" sz="1600" dirty="0"/>
          </a:p>
        </p:txBody>
      </p:sp>
      <p:sp>
        <p:nvSpPr>
          <p:cNvPr id="18" name="Text 16"/>
          <p:cNvSpPr txBox="1"/>
          <p:nvPr/>
        </p:nvSpPr>
        <p:spPr>
          <a:xfrm>
            <a:off x="5815584" y="1828800"/>
            <a:ext cx="2734056" cy="905256"/>
          </a:xfrm>
          <a:prstGeom prst="rect">
            <a:avLst/>
          </a:prstGeom>
          <a:noFill/>
          <a:ln/>
        </p:spPr>
        <p:txBody>
          <a:bodyPr wrap="square" lIns="0" tIns="0" rIns="0" bIns="0" rtlCol="0" anchor="t"/>
          <a:lstStyle/>
          <a:p>
            <a:pPr indent="0" marL="0">
              <a:lnSpc>
                <a:spcPct val="140000"/>
              </a:lnSpc>
              <a:buNone/>
            </a:pPr>
            <a:r>
              <a:rPr lang="en-US" sz="1300" dirty="0">
                <a:solidFill>
                  <a:srgbClr val="111111"/>
                </a:solidFill>
                <a:latin typeface="Microsoft YaHei" pitchFamily="34" charset="0"/>
                <a:ea typeface="Microsoft YaHei" pitchFamily="34" charset="-122"/>
                <a:cs typeface="Microsoft YaHei" pitchFamily="34" charset="-120"/>
              </a:rPr>
              <a:t>故事板为设计提供了直观的参考。</a:t>
            </a:r>
            <a:endParaRPr lang="en-US" sz="1300" dirty="0"/>
          </a:p>
        </p:txBody>
      </p:sp>
      <p:sp>
        <p:nvSpPr>
          <p:cNvPr id="19" name="Shape 17"/>
          <p:cNvSpPr/>
          <p:nvPr/>
        </p:nvSpPr>
        <p:spPr>
          <a:xfrm>
            <a:off x="411480" y="2935224"/>
            <a:ext cx="4105656" cy="1636776"/>
          </a:xfrm>
          <a:prstGeom prst="roundRect">
            <a:avLst>
              <a:gd name="adj" fmla="val 5587"/>
            </a:avLst>
          </a:prstGeom>
          <a:solidFill>
            <a:srgbClr val="EBEBEB"/>
          </a:solidFill>
          <a:ln/>
        </p:spPr>
      </p:sp>
      <p:sp>
        <p:nvSpPr>
          <p:cNvPr id="20" name="Text 18"/>
          <p:cNvSpPr txBox="1"/>
          <p:nvPr/>
        </p:nvSpPr>
        <p:spPr>
          <a:xfrm>
            <a:off x="640080" y="3118104"/>
            <a:ext cx="914400" cy="731520"/>
          </a:xfrm>
          <a:prstGeom prst="rect">
            <a:avLst/>
          </a:prstGeom>
          <a:noFill/>
          <a:ln/>
        </p:spPr>
        <p:txBody>
          <a:bodyPr wrap="square" lIns="0" tIns="0" rIns="0" bIns="0" rtlCol="0" anchor="t"/>
          <a:lstStyle/>
          <a:p>
            <a:pPr indent="0" marL="0">
              <a:buNone/>
            </a:pPr>
            <a:r>
              <a:rPr lang="en-US" sz="3000" b="1" dirty="0">
                <a:solidFill>
                  <a:srgbClr val="111111"/>
                </a:solidFill>
                <a:latin typeface="Arial" pitchFamily="34" charset="0"/>
                <a:ea typeface="Arial" pitchFamily="34" charset="-122"/>
                <a:cs typeface="Arial" pitchFamily="34" charset="-120"/>
              </a:rPr>
              <a:t>03</a:t>
            </a:r>
            <a:endParaRPr lang="en-US" sz="3000" dirty="0"/>
          </a:p>
        </p:txBody>
      </p:sp>
      <p:sp>
        <p:nvSpPr>
          <p:cNvPr id="21" name="Text 19"/>
          <p:cNvSpPr txBox="1"/>
          <p:nvPr/>
        </p:nvSpPr>
        <p:spPr>
          <a:xfrm>
            <a:off x="1600200" y="3118104"/>
            <a:ext cx="2734056" cy="384048"/>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故事板法的应用价值</a:t>
            </a:r>
            <a:endParaRPr lang="en-US" sz="1600" dirty="0"/>
          </a:p>
        </p:txBody>
      </p:sp>
      <p:sp>
        <p:nvSpPr>
          <p:cNvPr id="22" name="Text 20"/>
          <p:cNvSpPr txBox="1"/>
          <p:nvPr/>
        </p:nvSpPr>
        <p:spPr>
          <a:xfrm>
            <a:off x="1600200" y="3575304"/>
            <a:ext cx="2734056" cy="905256"/>
          </a:xfrm>
          <a:prstGeom prst="rect">
            <a:avLst/>
          </a:prstGeom>
          <a:noFill/>
          <a:ln/>
        </p:spPr>
        <p:txBody>
          <a:bodyPr wrap="square" lIns="0" tIns="0" rIns="0" bIns="0" rtlCol="0" anchor="t"/>
          <a:lstStyle/>
          <a:p>
            <a:pPr indent="0" marL="0">
              <a:lnSpc>
                <a:spcPct val="140000"/>
              </a:lnSpc>
              <a:buNone/>
            </a:pPr>
            <a:r>
              <a:rPr lang="en-US" sz="1300" dirty="0">
                <a:solidFill>
                  <a:srgbClr val="111111"/>
                </a:solidFill>
                <a:latin typeface="Microsoft YaHei" pitchFamily="34" charset="0"/>
                <a:ea typeface="Microsoft YaHei" pitchFamily="34" charset="-122"/>
                <a:cs typeface="Microsoft YaHei" pitchFamily="34" charset="-120"/>
              </a:rPr>
              <a:t>故事板法在可视化用户体验方面仍具有很高的应用价值。</a:t>
            </a:r>
            <a:endParaRPr lang="en-US" sz="1300" dirty="0"/>
          </a:p>
        </p:txBody>
      </p:sp>
      <p:sp>
        <p:nvSpPr>
          <p:cNvPr id="23" name="Shape 21"/>
          <p:cNvSpPr/>
          <p:nvPr/>
        </p:nvSpPr>
        <p:spPr>
          <a:xfrm>
            <a:off x="4626864" y="2935224"/>
            <a:ext cx="4105656" cy="1636776"/>
          </a:xfrm>
          <a:prstGeom prst="roundRect">
            <a:avLst>
              <a:gd name="adj" fmla="val 5587"/>
            </a:avLst>
          </a:prstGeom>
          <a:solidFill>
            <a:srgbClr val="111111"/>
          </a:solidFill>
          <a:ln/>
        </p:spPr>
      </p:sp>
      <p:sp>
        <p:nvSpPr>
          <p:cNvPr id="24" name="Text 22"/>
          <p:cNvSpPr txBox="1"/>
          <p:nvPr/>
        </p:nvSpPr>
        <p:spPr>
          <a:xfrm>
            <a:off x="4855464" y="3118104"/>
            <a:ext cx="914400" cy="731520"/>
          </a:xfrm>
          <a:prstGeom prst="rect">
            <a:avLst/>
          </a:prstGeom>
          <a:noFill/>
          <a:ln/>
        </p:spPr>
        <p:txBody>
          <a:bodyPr wrap="square" lIns="0" tIns="0" rIns="0" bIns="0" rtlCol="0" anchor="t"/>
          <a:lstStyle/>
          <a:p>
            <a:pPr indent="0" marL="0">
              <a:buNone/>
            </a:pPr>
            <a:r>
              <a:rPr lang="en-US" sz="3000" b="1" dirty="0">
                <a:solidFill>
                  <a:srgbClr val="FFC9C1"/>
                </a:solidFill>
                <a:latin typeface="Arial" pitchFamily="34" charset="0"/>
                <a:ea typeface="Arial" pitchFamily="34" charset="-122"/>
                <a:cs typeface="Arial" pitchFamily="34" charset="-120"/>
              </a:rPr>
              <a:t>04</a:t>
            </a:r>
            <a:endParaRPr lang="en-US" sz="3000" dirty="0"/>
          </a:p>
        </p:txBody>
      </p:sp>
      <p:sp>
        <p:nvSpPr>
          <p:cNvPr id="25" name="Text 23"/>
          <p:cNvSpPr txBox="1"/>
          <p:nvPr/>
        </p:nvSpPr>
        <p:spPr>
          <a:xfrm>
            <a:off x="5815584" y="3118104"/>
            <a:ext cx="2734056" cy="384048"/>
          </a:xfrm>
          <a:prstGeom prst="rect">
            <a:avLst/>
          </a:prstGeom>
          <a:noFill/>
          <a:ln/>
        </p:spPr>
        <p:txBody>
          <a:bodyPr wrap="square" lIns="0" tIns="0" rIns="0" bIns="0"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故事板法的局限</a:t>
            </a:r>
            <a:endParaRPr lang="en-US" sz="1600" dirty="0"/>
          </a:p>
        </p:txBody>
      </p:sp>
      <p:sp>
        <p:nvSpPr>
          <p:cNvPr id="26" name="Text 24"/>
          <p:cNvSpPr txBox="1"/>
          <p:nvPr/>
        </p:nvSpPr>
        <p:spPr>
          <a:xfrm>
            <a:off x="5815584" y="3575304"/>
            <a:ext cx="2734056" cy="905256"/>
          </a:xfrm>
          <a:prstGeom prst="rect">
            <a:avLst/>
          </a:prstGeom>
          <a:noFill/>
          <a:ln/>
        </p:spPr>
        <p:txBody>
          <a:bodyPr wrap="square" lIns="0" tIns="0" rIns="0" bIns="0" rtlCol="0" anchor="t"/>
          <a:lstStyle/>
          <a:p>
            <a:pPr indent="0" marL="0">
              <a:lnSpc>
                <a:spcPct val="140000"/>
              </a:lnSpc>
              <a:buNone/>
            </a:pPr>
            <a:r>
              <a:rPr lang="en-US" sz="1300" dirty="0">
                <a:solidFill>
                  <a:srgbClr val="FFFFFF"/>
                </a:solidFill>
                <a:latin typeface="Microsoft YaHei" pitchFamily="34" charset="0"/>
                <a:ea typeface="Microsoft YaHei" pitchFamily="34" charset="-122"/>
                <a:cs typeface="Microsoft YaHei" pitchFamily="34" charset="-120"/>
              </a:rPr>
              <a:t>故事板法的局限在于其构建过程可能较为耗时。</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5486400" cy="201168"/>
          </a:xfrm>
          <a:prstGeom prst="rect">
            <a:avLst/>
          </a:prstGeom>
          <a:noFill/>
          <a:ln/>
        </p:spPr>
        <p:txBody>
          <a:bodyPr wrap="square" lIns="0" tIns="0" rIns="0" bIns="0" rtlCol="0" anchor="ctr"/>
          <a:lstStyle/>
          <a:p>
            <a:pPr indent="0" marL="0">
              <a:buNone/>
            </a:pPr>
            <a:r>
              <a:rPr lang="en-US" sz="800" spc="150" kern="0" dirty="0">
                <a:solidFill>
                  <a:srgbClr val="6B6B6B"/>
                </a:solidFill>
                <a:latin typeface="Courier New" pitchFamily="34" charset="0"/>
                <a:ea typeface="Courier New" pitchFamily="34" charset="-122"/>
                <a:cs typeface="Courier New" pitchFamily="34" charset="-120"/>
              </a:rPr>
              <a:t>LESSON 06  ·  PART 04</a:t>
            </a:r>
            <a:endParaRPr lang="en-US" sz="800" dirty="0"/>
          </a:p>
        </p:txBody>
      </p:sp>
      <p:sp>
        <p:nvSpPr>
          <p:cNvPr id="3" name="Text 1"/>
          <p:cNvSpPr txBox="1"/>
          <p:nvPr/>
        </p:nvSpPr>
        <p:spPr>
          <a:xfrm>
            <a:off x="411480" y="502920"/>
            <a:ext cx="8321040" cy="868680"/>
          </a:xfrm>
          <a:prstGeom prst="rect">
            <a:avLst/>
          </a:prstGeom>
          <a:noFill/>
          <a:ln/>
        </p:spPr>
        <p:txBody>
          <a:bodyPr wrap="square" lIns="0" tIns="0" rIns="0" bIns="0" rtlCol="0" anchor="ctr">
            <a:normAutofit/>
          </a:bodyPr>
          <a:lstStyle/>
          <a:p>
            <a:pPr indent="0" marL="0">
              <a:buNone/>
            </a:pPr>
            <a:r>
              <a:rPr lang="en-US" sz="4400" dirty="0">
                <a:solidFill>
                  <a:srgbClr val="111111"/>
                </a:solidFill>
                <a:latin typeface="Microsoft YaHei" pitchFamily="34" charset="0"/>
                <a:ea typeface="Microsoft YaHei" pitchFamily="34" charset="-122"/>
                <a:cs typeface="Microsoft YaHei" pitchFamily="34" charset="-120"/>
              </a:rPr>
              <a:t>可用性测试</a:t>
            </a:r>
            <a:endParaRPr lang="en-US" sz="4400" dirty="0"/>
          </a:p>
        </p:txBody>
      </p:sp>
      <p:sp>
        <p:nvSpPr>
          <p:cNvPr id="4" name="Text 2"/>
          <p:cNvSpPr txBox="1"/>
          <p:nvPr/>
        </p:nvSpPr>
        <p:spPr>
          <a:xfrm>
            <a:off x="411480" y="1325880"/>
            <a:ext cx="5943600" cy="32004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Usability Testing</a:t>
            </a:r>
            <a:endParaRPr lang="en-US" sz="1400" dirty="0"/>
          </a:p>
        </p:txBody>
      </p:sp>
      <p:sp>
        <p:nvSpPr>
          <p:cNvPr id="5" name="Shape 3"/>
          <p:cNvSpPr/>
          <p:nvPr/>
        </p:nvSpPr>
        <p:spPr>
          <a:xfrm>
            <a:off x="411480" y="2011680"/>
            <a:ext cx="457200" cy="457200"/>
          </a:xfrm>
          <a:prstGeom prst="rect">
            <a:avLst/>
          </a:prstGeom>
          <a:solidFill>
            <a:srgbClr val="D9D4FF"/>
          </a:solidFill>
          <a:ln/>
        </p:spPr>
      </p:sp>
      <p:sp>
        <p:nvSpPr>
          <p:cNvPr id="6" name="Text 4"/>
          <p:cNvSpPr txBox="1"/>
          <p:nvPr/>
        </p:nvSpPr>
        <p:spPr>
          <a:xfrm>
            <a:off x="411480" y="201168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1</a:t>
            </a:r>
            <a:endParaRPr lang="en-US" sz="1500" dirty="0"/>
          </a:p>
        </p:txBody>
      </p:sp>
      <p:sp>
        <p:nvSpPr>
          <p:cNvPr id="7" name="Shape 5"/>
          <p:cNvSpPr/>
          <p:nvPr/>
        </p:nvSpPr>
        <p:spPr>
          <a:xfrm>
            <a:off x="941832" y="2011680"/>
            <a:ext cx="4343400" cy="457200"/>
          </a:xfrm>
          <a:prstGeom prst="rect">
            <a:avLst/>
          </a:prstGeom>
          <a:solidFill>
            <a:srgbClr val="F4F4F4"/>
          </a:solidFill>
          <a:ln/>
        </p:spPr>
      </p:sp>
      <p:sp>
        <p:nvSpPr>
          <p:cNvPr id="8" name="Text 6"/>
          <p:cNvSpPr txBox="1"/>
          <p:nvPr/>
        </p:nvSpPr>
        <p:spPr>
          <a:xfrm>
            <a:off x="1097280" y="201168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什么是可用性测试</a:t>
            </a:r>
            <a:endParaRPr lang="en-US" sz="1350" dirty="0"/>
          </a:p>
        </p:txBody>
      </p:sp>
      <p:sp>
        <p:nvSpPr>
          <p:cNvPr id="9" name="Shape 7"/>
          <p:cNvSpPr/>
          <p:nvPr/>
        </p:nvSpPr>
        <p:spPr>
          <a:xfrm>
            <a:off x="411480" y="2560320"/>
            <a:ext cx="457200" cy="457200"/>
          </a:xfrm>
          <a:prstGeom prst="rect">
            <a:avLst/>
          </a:prstGeom>
          <a:solidFill>
            <a:srgbClr val="FFE3A3"/>
          </a:solidFill>
          <a:ln/>
        </p:spPr>
      </p:sp>
      <p:sp>
        <p:nvSpPr>
          <p:cNvPr id="10" name="Text 8"/>
          <p:cNvSpPr txBox="1"/>
          <p:nvPr/>
        </p:nvSpPr>
        <p:spPr>
          <a:xfrm>
            <a:off x="411480" y="256032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2</a:t>
            </a:r>
            <a:endParaRPr lang="en-US" sz="1500" dirty="0"/>
          </a:p>
        </p:txBody>
      </p:sp>
      <p:sp>
        <p:nvSpPr>
          <p:cNvPr id="11" name="Shape 9"/>
          <p:cNvSpPr/>
          <p:nvPr/>
        </p:nvSpPr>
        <p:spPr>
          <a:xfrm>
            <a:off x="941832" y="2560320"/>
            <a:ext cx="4343400" cy="457200"/>
          </a:xfrm>
          <a:prstGeom prst="rect">
            <a:avLst/>
          </a:prstGeom>
          <a:solidFill>
            <a:srgbClr val="F4F4F4"/>
          </a:solidFill>
          <a:ln/>
        </p:spPr>
      </p:sp>
      <p:sp>
        <p:nvSpPr>
          <p:cNvPr id="12" name="Text 10"/>
          <p:cNvSpPr txBox="1"/>
          <p:nvPr/>
        </p:nvSpPr>
        <p:spPr>
          <a:xfrm>
            <a:off x="1097280" y="256032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测试功能点 · 大纲和脚本</a:t>
            </a:r>
            <a:endParaRPr lang="en-US" sz="1350" dirty="0"/>
          </a:p>
        </p:txBody>
      </p:sp>
      <p:sp>
        <p:nvSpPr>
          <p:cNvPr id="13" name="Shape 11"/>
          <p:cNvSpPr/>
          <p:nvPr/>
        </p:nvSpPr>
        <p:spPr>
          <a:xfrm>
            <a:off x="411480" y="3108960"/>
            <a:ext cx="457200" cy="457200"/>
          </a:xfrm>
          <a:prstGeom prst="rect">
            <a:avLst/>
          </a:prstGeom>
          <a:solidFill>
            <a:srgbClr val="C7F8FB"/>
          </a:solidFill>
          <a:ln/>
        </p:spPr>
      </p:sp>
      <p:sp>
        <p:nvSpPr>
          <p:cNvPr id="14" name="Text 12"/>
          <p:cNvSpPr txBox="1"/>
          <p:nvPr/>
        </p:nvSpPr>
        <p:spPr>
          <a:xfrm>
            <a:off x="411480" y="310896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3</a:t>
            </a:r>
            <a:endParaRPr lang="en-US" sz="1500" dirty="0"/>
          </a:p>
        </p:txBody>
      </p:sp>
      <p:sp>
        <p:nvSpPr>
          <p:cNvPr id="15" name="Shape 13"/>
          <p:cNvSpPr/>
          <p:nvPr/>
        </p:nvSpPr>
        <p:spPr>
          <a:xfrm>
            <a:off x="941832" y="3108960"/>
            <a:ext cx="4343400" cy="457200"/>
          </a:xfrm>
          <a:prstGeom prst="rect">
            <a:avLst/>
          </a:prstGeom>
          <a:solidFill>
            <a:srgbClr val="F4F4F4"/>
          </a:solidFill>
          <a:ln/>
        </p:spPr>
      </p:sp>
      <p:sp>
        <p:nvSpPr>
          <p:cNvPr id="16" name="Text 14"/>
          <p:cNvSpPr txBox="1"/>
          <p:nvPr/>
        </p:nvSpPr>
        <p:spPr>
          <a:xfrm>
            <a:off x="1097280" y="310896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实施测试 · 数据整理</a:t>
            </a:r>
            <a:endParaRPr lang="en-US" sz="1350" dirty="0"/>
          </a:p>
        </p:txBody>
      </p:sp>
      <p:sp>
        <p:nvSpPr>
          <p:cNvPr id="17" name="Shape 15"/>
          <p:cNvSpPr/>
          <p:nvPr/>
        </p:nvSpPr>
        <p:spPr>
          <a:xfrm>
            <a:off x="411480" y="3657600"/>
            <a:ext cx="457200" cy="457200"/>
          </a:xfrm>
          <a:prstGeom prst="rect">
            <a:avLst/>
          </a:prstGeom>
          <a:solidFill>
            <a:srgbClr val="E4FF97"/>
          </a:solidFill>
          <a:ln/>
        </p:spPr>
      </p:sp>
      <p:sp>
        <p:nvSpPr>
          <p:cNvPr id="18" name="Text 16"/>
          <p:cNvSpPr txBox="1"/>
          <p:nvPr/>
        </p:nvSpPr>
        <p:spPr>
          <a:xfrm>
            <a:off x="411480" y="365760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4</a:t>
            </a:r>
            <a:endParaRPr lang="en-US" sz="1500" dirty="0"/>
          </a:p>
        </p:txBody>
      </p:sp>
      <p:sp>
        <p:nvSpPr>
          <p:cNvPr id="19" name="Shape 17"/>
          <p:cNvSpPr/>
          <p:nvPr/>
        </p:nvSpPr>
        <p:spPr>
          <a:xfrm>
            <a:off x="941832" y="3657600"/>
            <a:ext cx="4343400" cy="457200"/>
          </a:xfrm>
          <a:prstGeom prst="rect">
            <a:avLst/>
          </a:prstGeom>
          <a:solidFill>
            <a:srgbClr val="F4F4F4"/>
          </a:solidFill>
          <a:ln/>
        </p:spPr>
      </p:sp>
      <p:sp>
        <p:nvSpPr>
          <p:cNvPr id="20" name="Text 18"/>
          <p:cNvSpPr txBox="1"/>
          <p:nvPr/>
        </p:nvSpPr>
        <p:spPr>
          <a:xfrm>
            <a:off x="1097280" y="365760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常见的问题和对策</a:t>
            </a:r>
            <a:endParaRPr lang="en-US" sz="1350" dirty="0"/>
          </a:p>
        </p:txBody>
      </p:sp>
      <p:sp>
        <p:nvSpPr>
          <p:cNvPr id="21" name="Shape 19"/>
          <p:cNvSpPr/>
          <p:nvPr/>
        </p:nvSpPr>
        <p:spPr>
          <a:xfrm>
            <a:off x="411480" y="4818888"/>
            <a:ext cx="77724" cy="77724"/>
          </a:xfrm>
          <a:prstGeom prst="ellipse">
            <a:avLst/>
          </a:prstGeom>
          <a:solidFill>
            <a:srgbClr val="4D49FC"/>
          </a:solidFill>
          <a:ln/>
        </p:spPr>
      </p:sp>
      <p:sp>
        <p:nvSpPr>
          <p:cNvPr id="22" name="Shape 20"/>
          <p:cNvSpPr/>
          <p:nvPr/>
        </p:nvSpPr>
        <p:spPr>
          <a:xfrm>
            <a:off x="507492" y="4818888"/>
            <a:ext cx="77724" cy="77724"/>
          </a:xfrm>
          <a:prstGeom prst="ellipse">
            <a:avLst/>
          </a:prstGeom>
          <a:solidFill>
            <a:srgbClr val="4D49FC"/>
          </a:solidFill>
          <a:ln/>
        </p:spPr>
      </p:sp>
      <p:sp>
        <p:nvSpPr>
          <p:cNvPr id="23" name="Shape 21"/>
          <p:cNvSpPr/>
          <p:nvPr/>
        </p:nvSpPr>
        <p:spPr>
          <a:xfrm>
            <a:off x="411480" y="4914900"/>
            <a:ext cx="77724" cy="77724"/>
          </a:xfrm>
          <a:prstGeom prst="ellipse">
            <a:avLst/>
          </a:prstGeom>
          <a:solidFill>
            <a:srgbClr val="4D49FC"/>
          </a:solidFill>
          <a:ln/>
        </p:spPr>
      </p:sp>
      <p:sp>
        <p:nvSpPr>
          <p:cNvPr id="24" name="Shape 22"/>
          <p:cNvSpPr/>
          <p:nvPr/>
        </p:nvSpPr>
        <p:spPr>
          <a:xfrm>
            <a:off x="507492" y="4914900"/>
            <a:ext cx="77724" cy="77724"/>
          </a:xfrm>
          <a:prstGeom prst="ellipse">
            <a:avLst/>
          </a:prstGeom>
          <a:solidFill>
            <a:srgbClr val="4D49FC"/>
          </a:solidFill>
          <a:ln/>
        </p:spPr>
      </p:sp>
      <p:sp>
        <p:nvSpPr>
          <p:cNvPr id="25" name="Text 23"/>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26" name="Text 24"/>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24</a:t>
            </a:r>
            <a:endParaRPr lang="en-US" sz="750" dirty="0"/>
          </a:p>
        </p:txBody>
      </p:sp>
      <p:pic>
        <p:nvPicPr>
          <p:cNvPr id="27" name="Image 0" descr="decorative collage">    </p:cNvPr>
          <p:cNvPicPr>
            <a:picLocks noChangeAspect="1"/>
          </p:cNvPicPr>
          <p:nvPr/>
        </p:nvPicPr>
        <p:blipFill>
          <a:blip r:embed="rId1"/>
          <a:stretch>
            <a:fillRect/>
          </a:stretch>
        </p:blipFill>
        <p:spPr>
          <a:xfrm>
            <a:off x="5577840" y="2122170"/>
            <a:ext cx="3154680" cy="258699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4D49FC"/>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E6E6FF"/>
                </a:solidFill>
                <a:latin typeface="Microsoft YaHei" pitchFamily="34" charset="0"/>
                <a:ea typeface="Microsoft YaHei" pitchFamily="34" charset="-122"/>
                <a:cs typeface="Microsoft YaHei" pitchFamily="34" charset="-120"/>
              </a:rPr>
              <a:t>04 可用性测试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FFFFFF"/>
                </a:solidFill>
                <a:latin typeface="Microsoft YaHei" pitchFamily="34" charset="0"/>
                <a:ea typeface="Microsoft YaHei" pitchFamily="34" charset="-122"/>
                <a:cs typeface="Microsoft YaHei" pitchFamily="34" charset="-120"/>
              </a:rPr>
              <a:t>什么是可用性测试</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E6E6FF"/>
                </a:solidFill>
                <a:latin typeface="Arial" pitchFamily="34" charset="0"/>
                <a:ea typeface="Arial" pitchFamily="34" charset="-122"/>
                <a:cs typeface="Arial" pitchFamily="34" charset="-120"/>
              </a:rPr>
              <a:t>What is Usability Testing</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E6E6FF"/>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E6E6FF"/>
                </a:solidFill>
                <a:latin typeface="Courier New" pitchFamily="34" charset="0"/>
                <a:ea typeface="Courier New" pitchFamily="34" charset="-122"/>
                <a:cs typeface="Courier New" pitchFamily="34" charset="-120"/>
              </a:rPr>
              <a:t>25</a:t>
            </a:r>
            <a:endParaRPr lang="en-US" sz="750" dirty="0"/>
          </a:p>
        </p:txBody>
      </p:sp>
      <p:sp>
        <p:nvSpPr>
          <p:cNvPr id="11" name="Text 9"/>
          <p:cNvSpPr txBox="1"/>
          <p:nvPr/>
        </p:nvSpPr>
        <p:spPr>
          <a:xfrm>
            <a:off x="411480" y="1280160"/>
            <a:ext cx="8321040" cy="731520"/>
          </a:xfrm>
          <a:prstGeom prst="rect">
            <a:avLst/>
          </a:prstGeom>
          <a:noFill/>
          <a:ln/>
        </p:spPr>
        <p:txBody>
          <a:bodyPr wrap="square" lIns="0" tIns="0" rIns="0" bIns="0" rtlCol="0" anchor="t"/>
          <a:lstStyle/>
          <a:p>
            <a:pPr indent="0" marL="0">
              <a:buNone/>
            </a:pPr>
            <a:r>
              <a:rPr lang="en-US" sz="3600" b="1" dirty="0">
                <a:solidFill>
                  <a:srgbClr val="D9D4FF"/>
                </a:solidFill>
                <a:latin typeface="Microsoft YaHei" pitchFamily="34" charset="0"/>
                <a:ea typeface="Microsoft YaHei" pitchFamily="34" charset="-122"/>
                <a:cs typeface="Microsoft YaHei" pitchFamily="34" charset="-120"/>
              </a:rPr>
              <a:t>可用性测试</a:t>
            </a:r>
            <a:endParaRPr lang="en-US" sz="3600" dirty="0"/>
          </a:p>
        </p:txBody>
      </p:sp>
      <p:sp>
        <p:nvSpPr>
          <p:cNvPr id="12" name="Shape 10"/>
          <p:cNvSpPr/>
          <p:nvPr/>
        </p:nvSpPr>
        <p:spPr>
          <a:xfrm>
            <a:off x="411480" y="2194560"/>
            <a:ext cx="4105656" cy="2377440"/>
          </a:xfrm>
          <a:prstGeom prst="roundRect">
            <a:avLst>
              <a:gd name="adj" fmla="val 3846"/>
            </a:avLst>
          </a:prstGeom>
          <a:solidFill>
            <a:srgbClr val="2B2B2B"/>
          </a:solidFill>
          <a:ln/>
        </p:spPr>
      </p:sp>
      <p:sp>
        <p:nvSpPr>
          <p:cNvPr id="13" name="Text 11"/>
          <p:cNvSpPr txBox="1"/>
          <p:nvPr/>
        </p:nvSpPr>
        <p:spPr>
          <a:xfrm>
            <a:off x="685800" y="2331720"/>
            <a:ext cx="3566160" cy="411480"/>
          </a:xfrm>
          <a:prstGeom prst="rect">
            <a:avLst/>
          </a:prstGeom>
          <a:noFill/>
          <a:ln/>
        </p:spPr>
        <p:txBody>
          <a:bodyPr wrap="square" lIns="0" tIns="0" rIns="0" bIns="0" rtlCol="0" anchor="ctr"/>
          <a:lstStyle/>
          <a:p>
            <a:pPr indent="0" marL="0">
              <a:buNone/>
            </a:pPr>
            <a:r>
              <a:rPr lang="en-US" sz="1700" b="1" dirty="0">
                <a:solidFill>
                  <a:srgbClr val="D9D4FF"/>
                </a:solidFill>
                <a:latin typeface="Microsoft YaHei" pitchFamily="34" charset="0"/>
                <a:ea typeface="Microsoft YaHei" pitchFamily="34" charset="-122"/>
                <a:cs typeface="Microsoft YaHei" pitchFamily="34" charset="-120"/>
              </a:rPr>
              <a:t>定义</a:t>
            </a:r>
            <a:endParaRPr lang="en-US" sz="1700" dirty="0"/>
          </a:p>
        </p:txBody>
      </p:sp>
      <p:sp>
        <p:nvSpPr>
          <p:cNvPr id="14" name="Text 12"/>
          <p:cNvSpPr txBox="1"/>
          <p:nvPr/>
        </p:nvSpPr>
        <p:spPr>
          <a:xfrm>
            <a:off x="685800" y="2834640"/>
            <a:ext cx="3566160" cy="1645920"/>
          </a:xfrm>
          <a:prstGeom prst="rect">
            <a:avLst/>
          </a:prstGeom>
          <a:noFill/>
          <a:ln/>
        </p:spPr>
        <p:txBody>
          <a:bodyPr wrap="square" lIns="0" tIns="0" rIns="0" bIns="0" rtlCol="0" anchor="t"/>
          <a:lstStyle/>
          <a:p>
            <a:pPr indent="0" marL="0">
              <a:lnSpc>
                <a:spcPct val="150000"/>
              </a:lnSpc>
              <a:buNone/>
            </a:pPr>
            <a:r>
              <a:rPr lang="en-US" sz="1450" dirty="0">
                <a:solidFill>
                  <a:srgbClr val="FFFFFF"/>
                </a:solidFill>
                <a:latin typeface="Microsoft YaHei" pitchFamily="34" charset="0"/>
                <a:ea typeface="Microsoft YaHei" pitchFamily="34" charset="-122"/>
                <a:cs typeface="Microsoft YaHei" pitchFamily="34" charset="-120"/>
              </a:rPr>
              <a:t>可用性测试是一种通过观察用户与产品互动来评估产品易用性的方法。</a:t>
            </a:r>
            <a:endParaRPr lang="en-US" sz="1450" dirty="0"/>
          </a:p>
        </p:txBody>
      </p:sp>
      <p:sp>
        <p:nvSpPr>
          <p:cNvPr id="15" name="Shape 13"/>
          <p:cNvSpPr/>
          <p:nvPr/>
        </p:nvSpPr>
        <p:spPr>
          <a:xfrm>
            <a:off x="4626864" y="2194560"/>
            <a:ext cx="4105656" cy="2377440"/>
          </a:xfrm>
          <a:prstGeom prst="roundRect">
            <a:avLst>
              <a:gd name="adj" fmla="val 3846"/>
            </a:avLst>
          </a:prstGeom>
          <a:solidFill>
            <a:srgbClr val="2B2B2B"/>
          </a:solidFill>
          <a:ln/>
        </p:spPr>
      </p:sp>
      <p:sp>
        <p:nvSpPr>
          <p:cNvPr id="16" name="Text 14"/>
          <p:cNvSpPr txBox="1"/>
          <p:nvPr/>
        </p:nvSpPr>
        <p:spPr>
          <a:xfrm>
            <a:off x="4901184" y="2331720"/>
            <a:ext cx="3566160" cy="411480"/>
          </a:xfrm>
          <a:prstGeom prst="rect">
            <a:avLst/>
          </a:prstGeom>
          <a:noFill/>
          <a:ln/>
        </p:spPr>
        <p:txBody>
          <a:bodyPr wrap="square" lIns="0" tIns="0" rIns="0" bIns="0" rtlCol="0" anchor="ctr"/>
          <a:lstStyle/>
          <a:p>
            <a:pPr indent="0" marL="0">
              <a:buNone/>
            </a:pPr>
            <a:r>
              <a:rPr lang="en-US" sz="1700" b="1" dirty="0">
                <a:solidFill>
                  <a:srgbClr val="D9D4FF"/>
                </a:solidFill>
                <a:latin typeface="Microsoft YaHei" pitchFamily="34" charset="0"/>
                <a:ea typeface="Microsoft YaHei" pitchFamily="34" charset="-122"/>
                <a:cs typeface="Microsoft YaHei" pitchFamily="34" charset="-120"/>
              </a:rPr>
              <a:t>目标</a:t>
            </a:r>
            <a:endParaRPr lang="en-US" sz="1700" dirty="0"/>
          </a:p>
        </p:txBody>
      </p:sp>
      <p:sp>
        <p:nvSpPr>
          <p:cNvPr id="17" name="Text 15"/>
          <p:cNvSpPr txBox="1"/>
          <p:nvPr/>
        </p:nvSpPr>
        <p:spPr>
          <a:xfrm>
            <a:off x="4901184" y="2834640"/>
            <a:ext cx="3566160" cy="1645920"/>
          </a:xfrm>
          <a:prstGeom prst="rect">
            <a:avLst/>
          </a:prstGeom>
          <a:noFill/>
          <a:ln/>
        </p:spPr>
        <p:txBody>
          <a:bodyPr wrap="square" lIns="0" tIns="0" rIns="0" bIns="0" rtlCol="0" anchor="t"/>
          <a:lstStyle/>
          <a:p>
            <a:pPr indent="0" marL="0">
              <a:lnSpc>
                <a:spcPct val="150000"/>
              </a:lnSpc>
              <a:buNone/>
            </a:pPr>
            <a:r>
              <a:rPr lang="en-US" sz="1450" dirty="0">
                <a:solidFill>
                  <a:srgbClr val="FFFFFF"/>
                </a:solidFill>
                <a:latin typeface="Microsoft YaHei" pitchFamily="34" charset="0"/>
                <a:ea typeface="Microsoft YaHei" pitchFamily="34" charset="-122"/>
                <a:cs typeface="Microsoft YaHei" pitchFamily="34" charset="-120"/>
              </a:rPr>
              <a:t>研究人员在测试中观察用户完成特定任务的过程，记录用户的操作步骤、遇到的困难以及解决方案。</a:t>
            </a:r>
            <a:endParaRPr lang="en-US" sz="14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04 可用性测试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测试功能点 · 大纲和脚本</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Test Points &amp; Scripts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26</a:t>
            </a:r>
            <a:endParaRPr lang="en-US" sz="750" dirty="0"/>
          </a:p>
        </p:txBody>
      </p:sp>
      <p:sp>
        <p:nvSpPr>
          <p:cNvPr id="11" name="Shape 9"/>
          <p:cNvSpPr/>
          <p:nvPr/>
        </p:nvSpPr>
        <p:spPr>
          <a:xfrm>
            <a:off x="411480" y="1188720"/>
            <a:ext cx="4105656" cy="3383280"/>
          </a:xfrm>
          <a:prstGeom prst="roundRect">
            <a:avLst>
              <a:gd name="adj" fmla="val 2703"/>
            </a:avLst>
          </a:prstGeom>
          <a:solidFill>
            <a:srgbClr val="D9D4FF"/>
          </a:solidFill>
          <a:ln/>
        </p:spPr>
      </p:sp>
      <p:sp>
        <p:nvSpPr>
          <p:cNvPr id="12" name="Text 10"/>
          <p:cNvSpPr txBox="1"/>
          <p:nvPr/>
        </p:nvSpPr>
        <p:spPr>
          <a:xfrm>
            <a:off x="640080" y="1353312"/>
            <a:ext cx="914400" cy="411480"/>
          </a:xfrm>
          <a:prstGeom prst="rect">
            <a:avLst/>
          </a:prstGeom>
          <a:noFill/>
          <a:ln/>
        </p:spPr>
        <p:txBody>
          <a:bodyPr wrap="square" lIns="0" tIns="0" rIns="0" bIns="0" rtlCol="0" anchor="t"/>
          <a:lstStyle/>
          <a:p>
            <a:pPr indent="0" marL="0">
              <a:buNone/>
            </a:pPr>
            <a:r>
              <a:rPr lang="en-US" sz="3000" b="1" dirty="0">
                <a:solidFill>
                  <a:srgbClr val="111111"/>
                </a:solidFill>
                <a:latin typeface="Arial" pitchFamily="34" charset="0"/>
                <a:ea typeface="Arial" pitchFamily="34" charset="-122"/>
                <a:cs typeface="Arial" pitchFamily="34" charset="-120"/>
              </a:rPr>
              <a:t>01</a:t>
            </a:r>
            <a:endParaRPr lang="en-US" sz="3000" dirty="0"/>
          </a:p>
        </p:txBody>
      </p:sp>
      <p:sp>
        <p:nvSpPr>
          <p:cNvPr id="13" name="Text 11"/>
          <p:cNvSpPr txBox="1"/>
          <p:nvPr/>
        </p:nvSpPr>
        <p:spPr>
          <a:xfrm>
            <a:off x="640080" y="2176272"/>
            <a:ext cx="3694176" cy="384048"/>
          </a:xfrm>
          <a:prstGeom prst="rect">
            <a:avLst/>
          </a:prstGeom>
          <a:noFill/>
          <a:ln/>
        </p:spPr>
        <p:txBody>
          <a:bodyPr wrap="square" lIns="0" tIns="0" rIns="0" bIns="0" rtlCol="0" anchor="ctr"/>
          <a:lstStyle/>
          <a:p>
            <a:pPr indent="0" marL="0">
              <a:buNone/>
            </a:pPr>
            <a:r>
              <a:rPr lang="en-US" sz="2000" b="1" dirty="0">
                <a:solidFill>
                  <a:srgbClr val="111111"/>
                </a:solidFill>
                <a:latin typeface="Microsoft YaHei" pitchFamily="34" charset="0"/>
                <a:ea typeface="Microsoft YaHei" pitchFamily="34" charset="-122"/>
                <a:cs typeface="Microsoft YaHei" pitchFamily="34" charset="-120"/>
              </a:rPr>
              <a:t>测试功能点</a:t>
            </a:r>
            <a:endParaRPr lang="en-US" sz="2000" dirty="0"/>
          </a:p>
        </p:txBody>
      </p:sp>
      <p:sp>
        <p:nvSpPr>
          <p:cNvPr id="14" name="Text 12"/>
          <p:cNvSpPr txBox="1"/>
          <p:nvPr/>
        </p:nvSpPr>
        <p:spPr>
          <a:xfrm>
            <a:off x="640080" y="2633472"/>
            <a:ext cx="3694176" cy="1847088"/>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400" dirty="0">
                <a:solidFill>
                  <a:srgbClr val="111111"/>
                </a:solidFill>
                <a:latin typeface="Microsoft YaHei" pitchFamily="34" charset="0"/>
                <a:ea typeface="Microsoft YaHei" pitchFamily="34" charset="-122"/>
                <a:cs typeface="Microsoft YaHei" pitchFamily="34" charset="-120"/>
              </a:rPr>
              <a:t>在可用性测试中，研究人员需要设定清晰的测试功能点。</a:t>
            </a:r>
            <a:endParaRPr lang="en-US" sz="1400" dirty="0"/>
          </a:p>
          <a:p>
            <a:pPr marL="152400" indent="-152400">
              <a:lnSpc>
                <a:spcPct val="135000"/>
              </a:lnSpc>
              <a:spcAft>
                <a:spcPts val="500"/>
              </a:spcAft>
              <a:buSzPct val="100000"/>
              <a:buChar char="•"/>
            </a:pPr>
            <a:r>
              <a:rPr lang="en-US" sz="1400" dirty="0">
                <a:solidFill>
                  <a:srgbClr val="111111"/>
                </a:solidFill>
                <a:latin typeface="Microsoft YaHei" pitchFamily="34" charset="0"/>
                <a:ea typeface="Microsoft YaHei" pitchFamily="34" charset="-122"/>
                <a:cs typeface="Microsoft YaHei" pitchFamily="34" charset="-120"/>
              </a:rPr>
              <a:t>这些功能点通常包括用户在使用产品时的核心操作和关键路径。</a:t>
            </a:r>
            <a:endParaRPr lang="en-US" sz="1400" dirty="0"/>
          </a:p>
        </p:txBody>
      </p:sp>
      <p:sp>
        <p:nvSpPr>
          <p:cNvPr id="15" name="Shape 13"/>
          <p:cNvSpPr/>
          <p:nvPr/>
        </p:nvSpPr>
        <p:spPr>
          <a:xfrm>
            <a:off x="4626864" y="1188720"/>
            <a:ext cx="4105656" cy="3383280"/>
          </a:xfrm>
          <a:prstGeom prst="roundRect">
            <a:avLst>
              <a:gd name="adj" fmla="val 2703"/>
            </a:avLst>
          </a:prstGeom>
          <a:solidFill>
            <a:srgbClr val="F4F4F4"/>
          </a:solidFill>
          <a:ln/>
        </p:spPr>
      </p:sp>
      <p:sp>
        <p:nvSpPr>
          <p:cNvPr id="16" name="Text 14"/>
          <p:cNvSpPr txBox="1"/>
          <p:nvPr/>
        </p:nvSpPr>
        <p:spPr>
          <a:xfrm>
            <a:off x="4855464" y="1353312"/>
            <a:ext cx="914400" cy="411480"/>
          </a:xfrm>
          <a:prstGeom prst="rect">
            <a:avLst/>
          </a:prstGeom>
          <a:noFill/>
          <a:ln/>
        </p:spPr>
        <p:txBody>
          <a:bodyPr wrap="square" lIns="0" tIns="0" rIns="0" bIns="0" rtlCol="0" anchor="t"/>
          <a:lstStyle/>
          <a:p>
            <a:pPr indent="0" marL="0">
              <a:buNone/>
            </a:pPr>
            <a:r>
              <a:rPr lang="en-US" sz="3000" b="1" dirty="0">
                <a:solidFill>
                  <a:srgbClr val="111111"/>
                </a:solidFill>
                <a:latin typeface="Arial" pitchFamily="34" charset="0"/>
                <a:ea typeface="Arial" pitchFamily="34" charset="-122"/>
                <a:cs typeface="Arial" pitchFamily="34" charset="-120"/>
              </a:rPr>
              <a:t>02</a:t>
            </a:r>
            <a:endParaRPr lang="en-US" sz="3000" dirty="0"/>
          </a:p>
        </p:txBody>
      </p:sp>
      <p:sp>
        <p:nvSpPr>
          <p:cNvPr id="17" name="Text 15"/>
          <p:cNvSpPr txBox="1"/>
          <p:nvPr/>
        </p:nvSpPr>
        <p:spPr>
          <a:xfrm>
            <a:off x="4855464" y="2176272"/>
            <a:ext cx="3694176" cy="384048"/>
          </a:xfrm>
          <a:prstGeom prst="rect">
            <a:avLst/>
          </a:prstGeom>
          <a:noFill/>
          <a:ln/>
        </p:spPr>
        <p:txBody>
          <a:bodyPr wrap="square" lIns="0" tIns="0" rIns="0" bIns="0" rtlCol="0" anchor="ctr"/>
          <a:lstStyle/>
          <a:p>
            <a:pPr indent="0" marL="0">
              <a:buNone/>
            </a:pPr>
            <a:r>
              <a:rPr lang="en-US" sz="2000" b="1" dirty="0">
                <a:solidFill>
                  <a:srgbClr val="111111"/>
                </a:solidFill>
                <a:latin typeface="Microsoft YaHei" pitchFamily="34" charset="0"/>
                <a:ea typeface="Microsoft YaHei" pitchFamily="34" charset="-122"/>
                <a:cs typeface="Microsoft YaHei" pitchFamily="34" charset="-120"/>
              </a:rPr>
              <a:t>大纲和脚本</a:t>
            </a:r>
            <a:endParaRPr lang="en-US" sz="2000" dirty="0"/>
          </a:p>
        </p:txBody>
      </p:sp>
      <p:sp>
        <p:nvSpPr>
          <p:cNvPr id="18" name="Text 16"/>
          <p:cNvSpPr txBox="1"/>
          <p:nvPr/>
        </p:nvSpPr>
        <p:spPr>
          <a:xfrm>
            <a:off x="4855464" y="2633472"/>
            <a:ext cx="3694176" cy="1847088"/>
          </a:xfrm>
          <a:prstGeom prst="rect">
            <a:avLst/>
          </a:prstGeom>
          <a:noFill/>
          <a:ln/>
        </p:spPr>
        <p:txBody>
          <a:bodyPr wrap="square" lIns="0" tIns="0" rIns="0" bIns="0" rtlCol="0" anchor="t"/>
          <a:lstStyle/>
          <a:p>
            <a:pPr marL="152400" indent="-152400">
              <a:lnSpc>
                <a:spcPct val="135000"/>
              </a:lnSpc>
              <a:spcAft>
                <a:spcPts val="500"/>
              </a:spcAft>
              <a:buSzPct val="100000"/>
              <a:buChar char="•"/>
            </a:pPr>
            <a:r>
              <a:rPr lang="en-US" sz="1400" dirty="0">
                <a:solidFill>
                  <a:srgbClr val="111111"/>
                </a:solidFill>
                <a:latin typeface="Microsoft YaHei" pitchFamily="34" charset="0"/>
                <a:ea typeface="Microsoft YaHei" pitchFamily="34" charset="-122"/>
                <a:cs typeface="Microsoft YaHei" pitchFamily="34" charset="-120"/>
              </a:rPr>
              <a:t>测试大纲和脚本用于指导可用性测试的进行。</a:t>
            </a:r>
            <a:endParaRPr lang="en-US" sz="1400" dirty="0"/>
          </a:p>
          <a:p>
            <a:pPr marL="152400" indent="-152400">
              <a:lnSpc>
                <a:spcPct val="135000"/>
              </a:lnSpc>
              <a:spcAft>
                <a:spcPts val="500"/>
              </a:spcAft>
              <a:buSzPct val="100000"/>
              <a:buChar char="•"/>
            </a:pPr>
            <a:r>
              <a:rPr lang="en-US" sz="1400" dirty="0">
                <a:solidFill>
                  <a:srgbClr val="111111"/>
                </a:solidFill>
                <a:latin typeface="Microsoft YaHei" pitchFamily="34" charset="0"/>
                <a:ea typeface="Microsoft YaHei" pitchFamily="34" charset="-122"/>
                <a:cs typeface="Microsoft YaHei" pitchFamily="34" charset="-120"/>
              </a:rPr>
              <a:t>确保每个测试步骤都有清晰的目标。</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04 可用性测试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实施测试</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Running the Test</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27</a:t>
            </a:r>
            <a:endParaRPr lang="en-US" sz="750" dirty="0"/>
          </a:p>
        </p:txBody>
      </p:sp>
      <p:sp>
        <p:nvSpPr>
          <p:cNvPr id="11" name="Shape 9"/>
          <p:cNvSpPr/>
          <p:nvPr/>
        </p:nvSpPr>
        <p:spPr>
          <a:xfrm>
            <a:off x="411480" y="1188720"/>
            <a:ext cx="2210562" cy="685800"/>
          </a:xfrm>
          <a:prstGeom prst="homePlate">
            <a:avLst/>
          </a:prstGeom>
          <a:solidFill>
            <a:srgbClr val="D9D4FF"/>
          </a:solidFill>
          <a:ln/>
        </p:spPr>
      </p:sp>
      <p:sp>
        <p:nvSpPr>
          <p:cNvPr id="12" name="Text 10"/>
          <p:cNvSpPr txBox="1"/>
          <p:nvPr/>
        </p:nvSpPr>
        <p:spPr>
          <a:xfrm>
            <a:off x="548640" y="1188720"/>
            <a:ext cx="1799082" cy="685800"/>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测试准备</a:t>
            </a:r>
            <a:endParaRPr lang="en-US" sz="1400" dirty="0"/>
          </a:p>
        </p:txBody>
      </p:sp>
      <p:sp>
        <p:nvSpPr>
          <p:cNvPr id="13" name="Shape 11"/>
          <p:cNvSpPr/>
          <p:nvPr/>
        </p:nvSpPr>
        <p:spPr>
          <a:xfrm>
            <a:off x="2448306" y="1188720"/>
            <a:ext cx="2210562" cy="685800"/>
          </a:xfrm>
          <a:prstGeom prst="chevron">
            <a:avLst/>
          </a:prstGeom>
          <a:solidFill>
            <a:srgbClr val="F4F4F4"/>
          </a:solidFill>
          <a:ln/>
        </p:spPr>
      </p:sp>
      <p:sp>
        <p:nvSpPr>
          <p:cNvPr id="14" name="Text 12"/>
          <p:cNvSpPr txBox="1"/>
          <p:nvPr/>
        </p:nvSpPr>
        <p:spPr>
          <a:xfrm>
            <a:off x="2768346" y="1188720"/>
            <a:ext cx="1616202" cy="685800"/>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用户引导</a:t>
            </a:r>
            <a:endParaRPr lang="en-US" sz="1400" dirty="0"/>
          </a:p>
        </p:txBody>
      </p:sp>
      <p:sp>
        <p:nvSpPr>
          <p:cNvPr id="15" name="Shape 13"/>
          <p:cNvSpPr/>
          <p:nvPr/>
        </p:nvSpPr>
        <p:spPr>
          <a:xfrm>
            <a:off x="4485132" y="1188720"/>
            <a:ext cx="2210562" cy="685800"/>
          </a:xfrm>
          <a:prstGeom prst="chevron">
            <a:avLst/>
          </a:prstGeom>
          <a:solidFill>
            <a:srgbClr val="EBEBEB"/>
          </a:solidFill>
          <a:ln/>
        </p:spPr>
      </p:sp>
      <p:sp>
        <p:nvSpPr>
          <p:cNvPr id="16" name="Text 14"/>
          <p:cNvSpPr txBox="1"/>
          <p:nvPr/>
        </p:nvSpPr>
        <p:spPr>
          <a:xfrm>
            <a:off x="4805172" y="1188720"/>
            <a:ext cx="1616202" cy="685800"/>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操作观察</a:t>
            </a:r>
            <a:endParaRPr lang="en-US" sz="1400" dirty="0"/>
          </a:p>
        </p:txBody>
      </p:sp>
      <p:sp>
        <p:nvSpPr>
          <p:cNvPr id="17" name="Shape 15"/>
          <p:cNvSpPr/>
          <p:nvPr/>
        </p:nvSpPr>
        <p:spPr>
          <a:xfrm>
            <a:off x="6521958" y="1188720"/>
            <a:ext cx="2210562" cy="685800"/>
          </a:xfrm>
          <a:prstGeom prst="chevron">
            <a:avLst/>
          </a:prstGeom>
          <a:solidFill>
            <a:srgbClr val="111111"/>
          </a:solidFill>
          <a:ln/>
        </p:spPr>
      </p:sp>
      <p:sp>
        <p:nvSpPr>
          <p:cNvPr id="18" name="Text 16"/>
          <p:cNvSpPr txBox="1"/>
          <p:nvPr/>
        </p:nvSpPr>
        <p:spPr>
          <a:xfrm>
            <a:off x="6841998" y="1188720"/>
            <a:ext cx="1616202"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数据记录</a:t>
            </a:r>
            <a:endParaRPr lang="en-US" sz="1400" dirty="0"/>
          </a:p>
        </p:txBody>
      </p:sp>
      <p:sp>
        <p:nvSpPr>
          <p:cNvPr id="19" name="Shape 17"/>
          <p:cNvSpPr/>
          <p:nvPr/>
        </p:nvSpPr>
        <p:spPr>
          <a:xfrm>
            <a:off x="411480" y="2057400"/>
            <a:ext cx="4105656" cy="2514600"/>
          </a:xfrm>
          <a:prstGeom prst="roundRect">
            <a:avLst>
              <a:gd name="adj" fmla="val 3636"/>
            </a:avLst>
          </a:prstGeom>
          <a:solidFill>
            <a:srgbClr val="F4F4F4"/>
          </a:solidFill>
          <a:ln/>
        </p:spPr>
      </p:sp>
      <p:sp>
        <p:nvSpPr>
          <p:cNvPr id="20" name="Text 18"/>
          <p:cNvSpPr txBox="1"/>
          <p:nvPr/>
        </p:nvSpPr>
        <p:spPr>
          <a:xfrm>
            <a:off x="640080" y="2221992"/>
            <a:ext cx="914400" cy="411480"/>
          </a:xfrm>
          <a:prstGeom prst="rect">
            <a:avLst/>
          </a:prstGeom>
          <a:noFill/>
          <a:ln/>
        </p:spPr>
        <p:txBody>
          <a:bodyPr wrap="square" lIns="0" tIns="0" rIns="0" bIns="0" rtlCol="0" anchor="t"/>
          <a:lstStyle/>
          <a:p>
            <a:pPr indent="0" marL="0">
              <a:buNone/>
            </a:pPr>
            <a:r>
              <a:rPr lang="en-US" sz="1600" b="1" dirty="0">
                <a:solidFill>
                  <a:srgbClr val="111111"/>
                </a:solidFill>
                <a:latin typeface="Arial" pitchFamily="34" charset="0"/>
                <a:ea typeface="Arial" pitchFamily="34" charset="-122"/>
                <a:cs typeface="Arial" pitchFamily="34" charset="-120"/>
              </a:rPr>
              <a:t>01</a:t>
            </a:r>
            <a:endParaRPr lang="en-US" sz="1600" dirty="0"/>
          </a:p>
        </p:txBody>
      </p:sp>
      <p:sp>
        <p:nvSpPr>
          <p:cNvPr id="21" name="Text 19"/>
          <p:cNvSpPr txBox="1"/>
          <p:nvPr/>
        </p:nvSpPr>
        <p:spPr>
          <a:xfrm>
            <a:off x="640080" y="2633472"/>
            <a:ext cx="3694176" cy="384048"/>
          </a:xfrm>
          <a:prstGeom prst="rect">
            <a:avLst/>
          </a:prstGeom>
          <a:noFill/>
          <a:ln/>
        </p:spPr>
        <p:txBody>
          <a:bodyPr wrap="square" lIns="0" tIns="0" rIns="0" bIns="0" rtlCol="0" anchor="ctr"/>
          <a:lstStyle/>
          <a:p>
            <a:pPr indent="0" marL="0">
              <a:buNone/>
            </a:pPr>
            <a:r>
              <a:rPr lang="en-US" sz="1700" b="1" dirty="0">
                <a:solidFill>
                  <a:srgbClr val="111111"/>
                </a:solidFill>
                <a:latin typeface="Microsoft YaHei" pitchFamily="34" charset="0"/>
                <a:ea typeface="Microsoft YaHei" pitchFamily="34" charset="-122"/>
                <a:cs typeface="Microsoft YaHei" pitchFamily="34" charset="-120"/>
              </a:rPr>
              <a:t>测试实施的步骤</a:t>
            </a:r>
            <a:endParaRPr lang="en-US" sz="1700" dirty="0"/>
          </a:p>
        </p:txBody>
      </p:sp>
      <p:sp>
        <p:nvSpPr>
          <p:cNvPr id="22" name="Text 20"/>
          <p:cNvSpPr txBox="1"/>
          <p:nvPr/>
        </p:nvSpPr>
        <p:spPr>
          <a:xfrm>
            <a:off x="640080" y="3090672"/>
            <a:ext cx="3694176" cy="1389888"/>
          </a:xfrm>
          <a:prstGeom prst="rect">
            <a:avLst/>
          </a:prstGeom>
          <a:noFill/>
          <a:ln/>
        </p:spPr>
        <p:txBody>
          <a:bodyPr wrap="square" lIns="0" tIns="0" rIns="0" bIns="0" rtlCol="0" anchor="t"/>
          <a:lstStyle/>
          <a:p>
            <a:pPr indent="0" marL="0">
              <a:lnSpc>
                <a:spcPct val="135000"/>
              </a:lnSpc>
              <a:spcAft>
                <a:spcPts val="500"/>
              </a:spcAft>
              <a:buNone/>
            </a:pPr>
            <a:r>
              <a:rPr lang="en-US" sz="1400" dirty="0">
                <a:solidFill>
                  <a:srgbClr val="111111"/>
                </a:solidFill>
                <a:latin typeface="Microsoft YaHei" pitchFamily="34" charset="0"/>
                <a:ea typeface="Microsoft YaHei" pitchFamily="34" charset="-122"/>
                <a:cs typeface="Microsoft YaHei" pitchFamily="34" charset="-120"/>
              </a:rPr>
              <a:t>可用性测试的实施包括测试准备、用户引导、操作观察和数据记录。</a:t>
            </a:r>
            <a:endParaRPr lang="en-US" sz="1400" dirty="0"/>
          </a:p>
        </p:txBody>
      </p:sp>
      <p:sp>
        <p:nvSpPr>
          <p:cNvPr id="23" name="Shape 21"/>
          <p:cNvSpPr/>
          <p:nvPr/>
        </p:nvSpPr>
        <p:spPr>
          <a:xfrm>
            <a:off x="4626864" y="2057400"/>
            <a:ext cx="4105656" cy="2514600"/>
          </a:xfrm>
          <a:prstGeom prst="roundRect">
            <a:avLst>
              <a:gd name="adj" fmla="val 3636"/>
            </a:avLst>
          </a:prstGeom>
          <a:solidFill>
            <a:srgbClr val="111111"/>
          </a:solidFill>
          <a:ln/>
        </p:spPr>
      </p:sp>
      <p:sp>
        <p:nvSpPr>
          <p:cNvPr id="24" name="Text 22"/>
          <p:cNvSpPr txBox="1"/>
          <p:nvPr/>
        </p:nvSpPr>
        <p:spPr>
          <a:xfrm>
            <a:off x="4855464" y="2221992"/>
            <a:ext cx="914400" cy="411480"/>
          </a:xfrm>
          <a:prstGeom prst="rect">
            <a:avLst/>
          </a:prstGeom>
          <a:noFill/>
          <a:ln/>
        </p:spPr>
        <p:txBody>
          <a:bodyPr wrap="square" lIns="0" tIns="0" rIns="0" bIns="0" rtlCol="0" anchor="t"/>
          <a:lstStyle/>
          <a:p>
            <a:pPr indent="0" marL="0">
              <a:buNone/>
            </a:pPr>
            <a:r>
              <a:rPr lang="en-US" sz="1600" b="1" dirty="0">
                <a:solidFill>
                  <a:srgbClr val="D9D4FF"/>
                </a:solidFill>
                <a:latin typeface="Arial" pitchFamily="34" charset="0"/>
                <a:ea typeface="Arial" pitchFamily="34" charset="-122"/>
                <a:cs typeface="Arial" pitchFamily="34" charset="-120"/>
              </a:rPr>
              <a:t>02</a:t>
            </a:r>
            <a:endParaRPr lang="en-US" sz="1600" dirty="0"/>
          </a:p>
        </p:txBody>
      </p:sp>
      <p:sp>
        <p:nvSpPr>
          <p:cNvPr id="25" name="Text 23"/>
          <p:cNvSpPr txBox="1"/>
          <p:nvPr/>
        </p:nvSpPr>
        <p:spPr>
          <a:xfrm>
            <a:off x="4855464" y="2633472"/>
            <a:ext cx="3694176" cy="384048"/>
          </a:xfrm>
          <a:prstGeom prst="rect">
            <a:avLst/>
          </a:prstGeom>
          <a:noFill/>
          <a:ln/>
        </p:spPr>
        <p:txBody>
          <a:bodyPr wrap="square" lIns="0" tIns="0" rIns="0" bIns="0" rtlCol="0" anchor="ctr"/>
          <a:lstStyle/>
          <a:p>
            <a:pPr indent="0" marL="0">
              <a:buNone/>
            </a:pPr>
            <a:r>
              <a:rPr lang="en-US" sz="1700" b="1" dirty="0">
                <a:solidFill>
                  <a:srgbClr val="FFFFFF"/>
                </a:solidFill>
                <a:latin typeface="Microsoft YaHei" pitchFamily="34" charset="0"/>
                <a:ea typeface="Microsoft YaHei" pitchFamily="34" charset="-122"/>
                <a:cs typeface="Microsoft YaHei" pitchFamily="34" charset="-120"/>
              </a:rPr>
              <a:t>测试实施的要求</a:t>
            </a:r>
            <a:endParaRPr lang="en-US" sz="1700" dirty="0"/>
          </a:p>
        </p:txBody>
      </p:sp>
      <p:sp>
        <p:nvSpPr>
          <p:cNvPr id="26" name="Text 24"/>
          <p:cNvSpPr txBox="1"/>
          <p:nvPr/>
        </p:nvSpPr>
        <p:spPr>
          <a:xfrm>
            <a:off x="4855464" y="3090672"/>
            <a:ext cx="3694176" cy="1389888"/>
          </a:xfrm>
          <a:prstGeom prst="rect">
            <a:avLst/>
          </a:prstGeom>
          <a:noFill/>
          <a:ln/>
        </p:spPr>
        <p:txBody>
          <a:bodyPr wrap="square" lIns="0" tIns="0" rIns="0" bIns="0" rtlCol="0" anchor="t"/>
          <a:lstStyle/>
          <a:p>
            <a:pPr indent="0" marL="0">
              <a:lnSpc>
                <a:spcPct val="135000"/>
              </a:lnSpc>
              <a:spcAft>
                <a:spcPts val="500"/>
              </a:spcAft>
              <a:buNone/>
            </a:pPr>
            <a:r>
              <a:rPr lang="en-US" sz="1400" dirty="0">
                <a:solidFill>
                  <a:srgbClr val="FFFFFF"/>
                </a:solidFill>
                <a:latin typeface="Microsoft YaHei" pitchFamily="34" charset="0"/>
                <a:ea typeface="Microsoft YaHei" pitchFamily="34" charset="-122"/>
                <a:cs typeface="Microsoft YaHei" pitchFamily="34" charset="-120"/>
              </a:rPr>
              <a:t>测试准备需要确保设备和软件的正常运行。</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04 可用性测试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数据整理</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Data Organization</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28</a:t>
            </a:r>
            <a:endParaRPr lang="en-US" sz="750" dirty="0"/>
          </a:p>
        </p:txBody>
      </p:sp>
      <p:sp>
        <p:nvSpPr>
          <p:cNvPr id="11" name="Shape 9"/>
          <p:cNvSpPr/>
          <p:nvPr/>
        </p:nvSpPr>
        <p:spPr>
          <a:xfrm>
            <a:off x="411480" y="1188720"/>
            <a:ext cx="5650992" cy="1636776"/>
          </a:xfrm>
          <a:prstGeom prst="roundRect">
            <a:avLst>
              <a:gd name="adj" fmla="val 5587"/>
            </a:avLst>
          </a:prstGeom>
          <a:solidFill>
            <a:srgbClr val="D9D4FF"/>
          </a:solidFill>
          <a:ln/>
        </p:spPr>
      </p:sp>
      <p:sp>
        <p:nvSpPr>
          <p:cNvPr id="12" name="Text 10"/>
          <p:cNvSpPr txBox="1"/>
          <p:nvPr/>
        </p:nvSpPr>
        <p:spPr>
          <a:xfrm>
            <a:off x="640080" y="1353312"/>
            <a:ext cx="914400" cy="411480"/>
          </a:xfrm>
          <a:prstGeom prst="rect">
            <a:avLst/>
          </a:prstGeom>
          <a:noFill/>
          <a:ln/>
        </p:spPr>
        <p:txBody>
          <a:bodyPr wrap="square" lIns="0" tIns="0" rIns="0" bIns="0" rtlCol="0" anchor="t"/>
          <a:lstStyle/>
          <a:p>
            <a:pPr indent="0" marL="0">
              <a:buNone/>
            </a:pPr>
            <a:r>
              <a:rPr lang="en-US" sz="1400" b="1" dirty="0">
                <a:solidFill>
                  <a:srgbClr val="111111"/>
                </a:solidFill>
                <a:latin typeface="Arial" pitchFamily="34" charset="0"/>
                <a:ea typeface="Arial" pitchFamily="34" charset="-122"/>
                <a:cs typeface="Arial" pitchFamily="34" charset="-120"/>
              </a:rPr>
              <a:t>01</a:t>
            </a:r>
            <a:endParaRPr lang="en-US" sz="1400" dirty="0"/>
          </a:p>
        </p:txBody>
      </p:sp>
      <p:sp>
        <p:nvSpPr>
          <p:cNvPr id="13" name="Text 11"/>
          <p:cNvSpPr txBox="1"/>
          <p:nvPr/>
        </p:nvSpPr>
        <p:spPr>
          <a:xfrm>
            <a:off x="640080" y="1673352"/>
            <a:ext cx="5239512" cy="384048"/>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数据整理的过程</a:t>
            </a:r>
            <a:endParaRPr lang="en-US" sz="1600" dirty="0"/>
          </a:p>
        </p:txBody>
      </p:sp>
      <p:sp>
        <p:nvSpPr>
          <p:cNvPr id="14" name="Text 12"/>
          <p:cNvSpPr txBox="1"/>
          <p:nvPr/>
        </p:nvSpPr>
        <p:spPr>
          <a:xfrm>
            <a:off x="640080" y="2130552"/>
            <a:ext cx="5239512" cy="603504"/>
          </a:xfrm>
          <a:prstGeom prst="rect">
            <a:avLst/>
          </a:prstGeom>
          <a:noFill/>
          <a:ln/>
        </p:spPr>
        <p:txBody>
          <a:bodyPr wrap="square" lIns="0" tIns="0" rIns="0" bIns="0" rtlCol="0" anchor="t"/>
          <a:lstStyle/>
          <a:p>
            <a:pPr indent="0" marL="0">
              <a:lnSpc>
                <a:spcPct val="135000"/>
              </a:lnSpc>
              <a:spcAft>
                <a:spcPts val="500"/>
              </a:spcAft>
              <a:buNone/>
            </a:pPr>
            <a:r>
              <a:rPr lang="en-US" sz="1400" dirty="0">
                <a:solidFill>
                  <a:srgbClr val="111111"/>
                </a:solidFill>
                <a:latin typeface="Microsoft YaHei" pitchFamily="34" charset="0"/>
                <a:ea typeface="Microsoft YaHei" pitchFamily="34" charset="-122"/>
                <a:cs typeface="Microsoft YaHei" pitchFamily="34" charset="-120"/>
              </a:rPr>
              <a:t>可用性测试的数据整理主要包括用户行为的分析、问题汇总以及改进建议。</a:t>
            </a:r>
            <a:endParaRPr lang="en-US" sz="1400" dirty="0"/>
          </a:p>
        </p:txBody>
      </p:sp>
      <p:sp>
        <p:nvSpPr>
          <p:cNvPr id="15" name="Shape 13"/>
          <p:cNvSpPr/>
          <p:nvPr/>
        </p:nvSpPr>
        <p:spPr>
          <a:xfrm>
            <a:off x="411480" y="2935224"/>
            <a:ext cx="5650992" cy="1636776"/>
          </a:xfrm>
          <a:prstGeom prst="roundRect">
            <a:avLst>
              <a:gd name="adj" fmla="val 5587"/>
            </a:avLst>
          </a:prstGeom>
          <a:solidFill>
            <a:srgbClr val="F4F4F4"/>
          </a:solidFill>
          <a:ln/>
        </p:spPr>
      </p:sp>
      <p:sp>
        <p:nvSpPr>
          <p:cNvPr id="16" name="Text 14"/>
          <p:cNvSpPr txBox="1"/>
          <p:nvPr/>
        </p:nvSpPr>
        <p:spPr>
          <a:xfrm>
            <a:off x="640080" y="3099816"/>
            <a:ext cx="914400" cy="411480"/>
          </a:xfrm>
          <a:prstGeom prst="rect">
            <a:avLst/>
          </a:prstGeom>
          <a:noFill/>
          <a:ln/>
        </p:spPr>
        <p:txBody>
          <a:bodyPr wrap="square" lIns="0" tIns="0" rIns="0" bIns="0" rtlCol="0" anchor="t"/>
          <a:lstStyle/>
          <a:p>
            <a:pPr indent="0" marL="0">
              <a:buNone/>
            </a:pPr>
            <a:r>
              <a:rPr lang="en-US" sz="1400" b="1" dirty="0">
                <a:solidFill>
                  <a:srgbClr val="111111"/>
                </a:solidFill>
                <a:latin typeface="Arial" pitchFamily="34" charset="0"/>
                <a:ea typeface="Arial" pitchFamily="34" charset="-122"/>
                <a:cs typeface="Arial" pitchFamily="34" charset="-120"/>
              </a:rPr>
              <a:t>02</a:t>
            </a:r>
            <a:endParaRPr lang="en-US" sz="1400" dirty="0"/>
          </a:p>
        </p:txBody>
      </p:sp>
      <p:sp>
        <p:nvSpPr>
          <p:cNvPr id="17" name="Text 15"/>
          <p:cNvSpPr txBox="1"/>
          <p:nvPr/>
        </p:nvSpPr>
        <p:spPr>
          <a:xfrm>
            <a:off x="640080" y="3419856"/>
            <a:ext cx="5239512" cy="384048"/>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数据整理的目的</a:t>
            </a:r>
            <a:endParaRPr lang="en-US" sz="1600" dirty="0"/>
          </a:p>
        </p:txBody>
      </p:sp>
      <p:sp>
        <p:nvSpPr>
          <p:cNvPr id="18" name="Text 16"/>
          <p:cNvSpPr txBox="1"/>
          <p:nvPr/>
        </p:nvSpPr>
        <p:spPr>
          <a:xfrm>
            <a:off x="640080" y="3877056"/>
            <a:ext cx="5239512" cy="603504"/>
          </a:xfrm>
          <a:prstGeom prst="rect">
            <a:avLst/>
          </a:prstGeom>
          <a:noFill/>
          <a:ln/>
        </p:spPr>
        <p:txBody>
          <a:bodyPr wrap="square" lIns="0" tIns="0" rIns="0" bIns="0" rtlCol="0" anchor="t"/>
          <a:lstStyle/>
          <a:p>
            <a:pPr indent="0" marL="0">
              <a:lnSpc>
                <a:spcPct val="135000"/>
              </a:lnSpc>
              <a:spcAft>
                <a:spcPts val="500"/>
              </a:spcAft>
              <a:buNone/>
            </a:pPr>
            <a:r>
              <a:rPr lang="en-US" sz="1400" dirty="0">
                <a:solidFill>
                  <a:srgbClr val="111111"/>
                </a:solidFill>
                <a:latin typeface="Microsoft YaHei" pitchFamily="34" charset="0"/>
                <a:ea typeface="Microsoft YaHei" pitchFamily="34" charset="-122"/>
                <a:cs typeface="Microsoft YaHei" pitchFamily="34" charset="-120"/>
              </a:rPr>
              <a:t>研究人员将用户操作中的常见问题归纳为改进建议。</a:t>
            </a:r>
            <a:endParaRPr lang="en-US" sz="1400" dirty="0"/>
          </a:p>
        </p:txBody>
      </p:sp>
      <p:pic>
        <p:nvPicPr>
          <p:cNvPr id="19" name="Image 0" descr="p30_0">    </p:cNvPr>
          <p:cNvPicPr>
            <a:picLocks noChangeAspect="1"/>
          </p:cNvPicPr>
          <p:nvPr/>
        </p:nvPicPr>
        <p:blipFill>
          <a:blip r:embed="rId1"/>
          <a:stretch>
            <a:fillRect/>
          </a:stretch>
        </p:blipFill>
        <p:spPr>
          <a:xfrm>
            <a:off x="6172200" y="1188720"/>
            <a:ext cx="2560320" cy="338328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04 可用性测试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常见的问题和对策</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Problems &amp; Solutions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29</a:t>
            </a:r>
            <a:endParaRPr lang="en-US" sz="750" dirty="0"/>
          </a:p>
        </p:txBody>
      </p:sp>
      <p:pic>
        <p:nvPicPr>
          <p:cNvPr id="11" name="Image 0" descr="p31_0">    </p:cNvPr>
          <p:cNvPicPr>
            <a:picLocks noChangeAspect="1"/>
          </p:cNvPicPr>
          <p:nvPr/>
        </p:nvPicPr>
        <p:blipFill>
          <a:blip r:embed="rId1"/>
          <a:stretch>
            <a:fillRect/>
          </a:stretch>
        </p:blipFill>
        <p:spPr>
          <a:xfrm>
            <a:off x="411480" y="1188720"/>
            <a:ext cx="2377440" cy="1636776"/>
          </a:xfrm>
          <a:prstGeom prst="rect">
            <a:avLst/>
          </a:prstGeom>
        </p:spPr>
      </p:pic>
      <p:pic>
        <p:nvPicPr>
          <p:cNvPr id="12" name="Image 1" descr="p31_2">    </p:cNvPr>
          <p:cNvPicPr>
            <a:picLocks noChangeAspect="1"/>
          </p:cNvPicPr>
          <p:nvPr/>
        </p:nvPicPr>
        <p:blipFill>
          <a:blip r:embed="rId2"/>
          <a:stretch>
            <a:fillRect/>
          </a:stretch>
        </p:blipFill>
        <p:spPr>
          <a:xfrm>
            <a:off x="411480" y="2935224"/>
            <a:ext cx="2377440" cy="1636776"/>
          </a:xfrm>
          <a:prstGeom prst="rect">
            <a:avLst/>
          </a:prstGeom>
        </p:spPr>
      </p:pic>
      <p:sp>
        <p:nvSpPr>
          <p:cNvPr id="13" name="Shape 9"/>
          <p:cNvSpPr/>
          <p:nvPr/>
        </p:nvSpPr>
        <p:spPr>
          <a:xfrm>
            <a:off x="2898648" y="1188720"/>
            <a:ext cx="5833872" cy="1636776"/>
          </a:xfrm>
          <a:prstGeom prst="roundRect">
            <a:avLst>
              <a:gd name="adj" fmla="val 5587"/>
            </a:avLst>
          </a:prstGeom>
          <a:solidFill>
            <a:srgbClr val="F4F4F4"/>
          </a:solidFill>
          <a:ln/>
        </p:spPr>
      </p:sp>
      <p:sp>
        <p:nvSpPr>
          <p:cNvPr id="14" name="Text 10"/>
          <p:cNvSpPr txBox="1"/>
          <p:nvPr/>
        </p:nvSpPr>
        <p:spPr>
          <a:xfrm>
            <a:off x="3154680" y="1280160"/>
            <a:ext cx="2743200" cy="365760"/>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常见问题</a:t>
            </a:r>
            <a:endParaRPr lang="en-US" sz="1500" dirty="0"/>
          </a:p>
        </p:txBody>
      </p:sp>
      <p:sp>
        <p:nvSpPr>
          <p:cNvPr id="15" name="Text 11"/>
          <p:cNvSpPr txBox="1"/>
          <p:nvPr/>
        </p:nvSpPr>
        <p:spPr>
          <a:xfrm>
            <a:off x="3154680" y="1691640"/>
            <a:ext cx="5394960" cy="1005840"/>
          </a:xfrm>
          <a:prstGeom prst="rect">
            <a:avLst/>
          </a:prstGeom>
          <a:noFill/>
          <a:ln/>
        </p:spPr>
        <p:txBody>
          <a:bodyPr wrap="square" lIns="0" tIns="0" rIns="0" bIns="0" rtlCol="0" anchor="t"/>
          <a:lstStyle/>
          <a:p>
            <a:pPr indent="0" marL="0">
              <a:lnSpc>
                <a:spcPct val="140000"/>
              </a:lnSpc>
              <a:buNone/>
            </a:pPr>
            <a:r>
              <a:rPr lang="en-US" sz="1350" dirty="0">
                <a:solidFill>
                  <a:srgbClr val="111111"/>
                </a:solidFill>
                <a:latin typeface="Microsoft YaHei" pitchFamily="34" charset="0"/>
                <a:ea typeface="Microsoft YaHei" pitchFamily="34" charset="-122"/>
                <a:cs typeface="Microsoft YaHei" pitchFamily="34" charset="-120"/>
              </a:rPr>
              <a:t>在可用性测试中，常见问题包括用户对界面的不熟悉、操作流程的复杂性等。</a:t>
            </a:r>
            <a:endParaRPr lang="en-US" sz="1350" dirty="0"/>
          </a:p>
        </p:txBody>
      </p:sp>
      <p:sp>
        <p:nvSpPr>
          <p:cNvPr id="16" name="Shape 12"/>
          <p:cNvSpPr/>
          <p:nvPr/>
        </p:nvSpPr>
        <p:spPr>
          <a:xfrm>
            <a:off x="2898648" y="2935224"/>
            <a:ext cx="5833872" cy="1636776"/>
          </a:xfrm>
          <a:prstGeom prst="roundRect">
            <a:avLst>
              <a:gd name="adj" fmla="val 5587"/>
            </a:avLst>
          </a:prstGeom>
          <a:solidFill>
            <a:srgbClr val="111111"/>
          </a:solidFill>
          <a:ln/>
        </p:spPr>
      </p:sp>
      <p:sp>
        <p:nvSpPr>
          <p:cNvPr id="17" name="Text 13"/>
          <p:cNvSpPr txBox="1"/>
          <p:nvPr/>
        </p:nvSpPr>
        <p:spPr>
          <a:xfrm>
            <a:off x="3154680" y="3026664"/>
            <a:ext cx="2743200" cy="365760"/>
          </a:xfrm>
          <a:prstGeom prst="rect">
            <a:avLst/>
          </a:prstGeom>
          <a:noFill/>
          <a:ln/>
        </p:spPr>
        <p:txBody>
          <a:bodyPr wrap="square" lIns="0" tIns="0" rIns="0" bIns="0" rtlCol="0" anchor="ctr"/>
          <a:lstStyle/>
          <a:p>
            <a:pPr indent="0" marL="0">
              <a:buNone/>
            </a:pPr>
            <a:r>
              <a:rPr lang="en-US" sz="1500" b="1" dirty="0">
                <a:solidFill>
                  <a:srgbClr val="D9D4FF"/>
                </a:solidFill>
                <a:latin typeface="Microsoft YaHei" pitchFamily="34" charset="0"/>
                <a:ea typeface="Microsoft YaHei" pitchFamily="34" charset="-122"/>
                <a:cs typeface="Microsoft YaHei" pitchFamily="34" charset="-120"/>
              </a:rPr>
              <a:t>对策</a:t>
            </a:r>
            <a:endParaRPr lang="en-US" sz="1500" dirty="0"/>
          </a:p>
        </p:txBody>
      </p:sp>
      <p:sp>
        <p:nvSpPr>
          <p:cNvPr id="18" name="Text 14"/>
          <p:cNvSpPr txBox="1"/>
          <p:nvPr/>
        </p:nvSpPr>
        <p:spPr>
          <a:xfrm>
            <a:off x="3154680" y="3438144"/>
            <a:ext cx="5394960" cy="1005840"/>
          </a:xfrm>
          <a:prstGeom prst="rect">
            <a:avLst/>
          </a:prstGeom>
          <a:noFill/>
          <a:ln/>
        </p:spPr>
        <p:txBody>
          <a:bodyPr wrap="square" lIns="0" tIns="0" rIns="0" bIns="0" rtlCol="0" anchor="t"/>
          <a:lstStyle/>
          <a:p>
            <a:pPr indent="0" marL="0">
              <a:lnSpc>
                <a:spcPct val="140000"/>
              </a:lnSpc>
              <a:buNone/>
            </a:pPr>
            <a:r>
              <a:rPr lang="en-US" sz="1350" dirty="0">
                <a:solidFill>
                  <a:srgbClr val="FFFFFF"/>
                </a:solidFill>
                <a:latin typeface="Microsoft YaHei" pitchFamily="34" charset="0"/>
                <a:ea typeface="Microsoft YaHei" pitchFamily="34" charset="-122"/>
                <a:cs typeface="Microsoft YaHei" pitchFamily="34" charset="-120"/>
              </a:rPr>
              <a:t>研究人员需根据问题提出对策，优化界面设计，简化操作流程。</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5486400" cy="201168"/>
          </a:xfrm>
          <a:prstGeom prst="rect">
            <a:avLst/>
          </a:prstGeom>
          <a:noFill/>
          <a:ln/>
        </p:spPr>
        <p:txBody>
          <a:bodyPr wrap="square" lIns="0" tIns="0" rIns="0" bIns="0" rtlCol="0" anchor="ctr"/>
          <a:lstStyle/>
          <a:p>
            <a:pPr indent="0" marL="0">
              <a:buNone/>
            </a:pPr>
            <a:r>
              <a:rPr lang="en-US" sz="800" spc="150" kern="0" dirty="0">
                <a:solidFill>
                  <a:srgbClr val="6B6B6B"/>
                </a:solidFill>
                <a:latin typeface="Courier New" pitchFamily="34" charset="0"/>
                <a:ea typeface="Courier New" pitchFamily="34" charset="-122"/>
                <a:cs typeface="Courier New" pitchFamily="34" charset="-120"/>
              </a:rPr>
              <a:t>LESSON 06  ·  PART 05</a:t>
            </a:r>
            <a:endParaRPr lang="en-US" sz="800" dirty="0"/>
          </a:p>
        </p:txBody>
      </p:sp>
      <p:sp>
        <p:nvSpPr>
          <p:cNvPr id="3" name="Text 1"/>
          <p:cNvSpPr txBox="1"/>
          <p:nvPr/>
        </p:nvSpPr>
        <p:spPr>
          <a:xfrm>
            <a:off x="411480" y="502920"/>
            <a:ext cx="8321040" cy="868680"/>
          </a:xfrm>
          <a:prstGeom prst="rect">
            <a:avLst/>
          </a:prstGeom>
          <a:noFill/>
          <a:ln/>
        </p:spPr>
        <p:txBody>
          <a:bodyPr wrap="square" lIns="0" tIns="0" rIns="0" bIns="0" rtlCol="0" anchor="ctr">
            <a:normAutofit/>
          </a:bodyPr>
          <a:lstStyle/>
          <a:p>
            <a:pPr indent="0" marL="0">
              <a:buNone/>
            </a:pPr>
            <a:r>
              <a:rPr lang="en-US" sz="4400" dirty="0">
                <a:solidFill>
                  <a:srgbClr val="111111"/>
                </a:solidFill>
                <a:latin typeface="Microsoft YaHei" pitchFamily="34" charset="0"/>
                <a:ea typeface="Microsoft YaHei" pitchFamily="34" charset="-122"/>
                <a:cs typeface="Microsoft YaHei" pitchFamily="34" charset="-120"/>
              </a:rPr>
              <a:t>调研中的数据分析法</a:t>
            </a:r>
            <a:endParaRPr lang="en-US" sz="4400" dirty="0"/>
          </a:p>
        </p:txBody>
      </p:sp>
      <p:sp>
        <p:nvSpPr>
          <p:cNvPr id="4" name="Text 2"/>
          <p:cNvSpPr txBox="1"/>
          <p:nvPr/>
        </p:nvSpPr>
        <p:spPr>
          <a:xfrm>
            <a:off x="411480" y="1325880"/>
            <a:ext cx="5943600" cy="32004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Data Analysis in Research</a:t>
            </a:r>
            <a:endParaRPr lang="en-US" sz="1400" dirty="0"/>
          </a:p>
        </p:txBody>
      </p:sp>
      <p:sp>
        <p:nvSpPr>
          <p:cNvPr id="5" name="Shape 3"/>
          <p:cNvSpPr/>
          <p:nvPr/>
        </p:nvSpPr>
        <p:spPr>
          <a:xfrm>
            <a:off x="411480" y="2011680"/>
            <a:ext cx="457200" cy="603504"/>
          </a:xfrm>
          <a:prstGeom prst="rect">
            <a:avLst/>
          </a:prstGeom>
          <a:solidFill>
            <a:srgbClr val="C9F5C0"/>
          </a:solidFill>
          <a:ln/>
        </p:spPr>
      </p:sp>
      <p:sp>
        <p:nvSpPr>
          <p:cNvPr id="6" name="Text 4"/>
          <p:cNvSpPr txBox="1"/>
          <p:nvPr/>
        </p:nvSpPr>
        <p:spPr>
          <a:xfrm>
            <a:off x="411480" y="2011680"/>
            <a:ext cx="457200" cy="603504"/>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1</a:t>
            </a:r>
            <a:endParaRPr lang="en-US" sz="1500" dirty="0"/>
          </a:p>
        </p:txBody>
      </p:sp>
      <p:sp>
        <p:nvSpPr>
          <p:cNvPr id="7" name="Shape 5"/>
          <p:cNvSpPr/>
          <p:nvPr/>
        </p:nvSpPr>
        <p:spPr>
          <a:xfrm>
            <a:off x="941832" y="2011680"/>
            <a:ext cx="4343400" cy="603504"/>
          </a:xfrm>
          <a:prstGeom prst="roundRect">
            <a:avLst>
              <a:gd name="adj" fmla="val 15152"/>
            </a:avLst>
          </a:prstGeom>
          <a:solidFill>
            <a:srgbClr val="F4F4F4"/>
          </a:solidFill>
          <a:ln/>
        </p:spPr>
      </p:sp>
      <p:sp>
        <p:nvSpPr>
          <p:cNvPr id="8" name="Text 6"/>
          <p:cNvSpPr txBox="1"/>
          <p:nvPr/>
        </p:nvSpPr>
        <p:spPr>
          <a:xfrm>
            <a:off x="1097280" y="2057400"/>
            <a:ext cx="4114800" cy="310896"/>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A  数据对比分析</a:t>
            </a:r>
            <a:endParaRPr lang="en-US" sz="1350" dirty="0"/>
          </a:p>
        </p:txBody>
      </p:sp>
      <p:sp>
        <p:nvSpPr>
          <p:cNvPr id="9" name="Text 7"/>
          <p:cNvSpPr txBox="1"/>
          <p:nvPr/>
        </p:nvSpPr>
        <p:spPr>
          <a:xfrm>
            <a:off x="1097280" y="2340864"/>
            <a:ext cx="4114800" cy="237744"/>
          </a:xfrm>
          <a:prstGeom prst="rect">
            <a:avLst/>
          </a:prstGeom>
          <a:noFill/>
          <a:ln/>
        </p:spPr>
        <p:txBody>
          <a:bodyPr wrap="square" lIns="0" tIns="0" rIns="0" bIns="0" rtlCol="0" anchor="ctr"/>
          <a:lstStyle/>
          <a:p>
            <a:pPr indent="0" marL="0">
              <a:buNone/>
            </a:pPr>
            <a:r>
              <a:rPr lang="en-US" sz="950" dirty="0">
                <a:solidFill>
                  <a:srgbClr val="6B6B6B"/>
                </a:solidFill>
                <a:latin typeface="Microsoft YaHei" pitchFamily="34" charset="0"/>
                <a:ea typeface="Microsoft YaHei" pitchFamily="34" charset="-122"/>
                <a:cs typeface="Microsoft YaHei" pitchFamily="34" charset="-120"/>
              </a:rPr>
              <a:t>表格 · 图表 · 四种数量对比关系</a:t>
            </a:r>
            <a:endParaRPr lang="en-US" sz="950" dirty="0"/>
          </a:p>
        </p:txBody>
      </p:sp>
      <p:sp>
        <p:nvSpPr>
          <p:cNvPr id="10" name="Shape 8"/>
          <p:cNvSpPr/>
          <p:nvPr/>
        </p:nvSpPr>
        <p:spPr>
          <a:xfrm>
            <a:off x="411480" y="2706624"/>
            <a:ext cx="457200" cy="457200"/>
          </a:xfrm>
          <a:prstGeom prst="rect">
            <a:avLst/>
          </a:prstGeom>
          <a:solidFill>
            <a:srgbClr val="C7F8FB"/>
          </a:solidFill>
          <a:ln/>
        </p:spPr>
      </p:sp>
      <p:sp>
        <p:nvSpPr>
          <p:cNvPr id="11" name="Text 9"/>
          <p:cNvSpPr txBox="1"/>
          <p:nvPr/>
        </p:nvSpPr>
        <p:spPr>
          <a:xfrm>
            <a:off x="411480" y="2706624"/>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2</a:t>
            </a:r>
            <a:endParaRPr lang="en-US" sz="1500" dirty="0"/>
          </a:p>
        </p:txBody>
      </p:sp>
      <p:sp>
        <p:nvSpPr>
          <p:cNvPr id="12" name="Shape 10"/>
          <p:cNvSpPr/>
          <p:nvPr/>
        </p:nvSpPr>
        <p:spPr>
          <a:xfrm>
            <a:off x="941832" y="2706624"/>
            <a:ext cx="4343400" cy="457200"/>
          </a:xfrm>
          <a:prstGeom prst="rect">
            <a:avLst/>
          </a:prstGeom>
          <a:solidFill>
            <a:srgbClr val="F4F4F4"/>
          </a:solidFill>
          <a:ln/>
        </p:spPr>
      </p:sp>
      <p:sp>
        <p:nvSpPr>
          <p:cNvPr id="13" name="Text 11"/>
          <p:cNvSpPr txBox="1"/>
          <p:nvPr/>
        </p:nvSpPr>
        <p:spPr>
          <a:xfrm>
            <a:off x="1097280" y="2706624"/>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B  知觉图、鱼骨图</a:t>
            </a:r>
            <a:endParaRPr lang="en-US" sz="1350" dirty="0"/>
          </a:p>
        </p:txBody>
      </p:sp>
      <p:sp>
        <p:nvSpPr>
          <p:cNvPr id="14" name="Shape 12"/>
          <p:cNvSpPr/>
          <p:nvPr/>
        </p:nvSpPr>
        <p:spPr>
          <a:xfrm>
            <a:off x="411480" y="3255264"/>
            <a:ext cx="457200" cy="603504"/>
          </a:xfrm>
          <a:prstGeom prst="rect">
            <a:avLst/>
          </a:prstGeom>
          <a:solidFill>
            <a:srgbClr val="E4FF97"/>
          </a:solidFill>
          <a:ln/>
        </p:spPr>
      </p:sp>
      <p:sp>
        <p:nvSpPr>
          <p:cNvPr id="15" name="Text 13"/>
          <p:cNvSpPr txBox="1"/>
          <p:nvPr/>
        </p:nvSpPr>
        <p:spPr>
          <a:xfrm>
            <a:off x="411480" y="3255264"/>
            <a:ext cx="457200" cy="603504"/>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3</a:t>
            </a:r>
            <a:endParaRPr lang="en-US" sz="1500" dirty="0"/>
          </a:p>
        </p:txBody>
      </p:sp>
      <p:sp>
        <p:nvSpPr>
          <p:cNvPr id="16" name="Shape 14"/>
          <p:cNvSpPr/>
          <p:nvPr/>
        </p:nvSpPr>
        <p:spPr>
          <a:xfrm>
            <a:off x="941832" y="3255264"/>
            <a:ext cx="4343400" cy="603504"/>
          </a:xfrm>
          <a:prstGeom prst="roundRect">
            <a:avLst>
              <a:gd name="adj" fmla="val 15152"/>
            </a:avLst>
          </a:prstGeom>
          <a:solidFill>
            <a:srgbClr val="F4F4F4"/>
          </a:solidFill>
          <a:ln/>
        </p:spPr>
      </p:sp>
      <p:sp>
        <p:nvSpPr>
          <p:cNvPr id="17" name="Text 15"/>
          <p:cNvSpPr txBox="1"/>
          <p:nvPr/>
        </p:nvSpPr>
        <p:spPr>
          <a:xfrm>
            <a:off x="1097280" y="3300984"/>
            <a:ext cx="4114800" cy="310896"/>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C  卡片归纳分类法</a:t>
            </a:r>
            <a:endParaRPr lang="en-US" sz="1350" dirty="0"/>
          </a:p>
        </p:txBody>
      </p:sp>
      <p:sp>
        <p:nvSpPr>
          <p:cNvPr id="18" name="Text 16"/>
          <p:cNvSpPr txBox="1"/>
          <p:nvPr/>
        </p:nvSpPr>
        <p:spPr>
          <a:xfrm>
            <a:off x="1097280" y="3584448"/>
            <a:ext cx="4114800" cy="237744"/>
          </a:xfrm>
          <a:prstGeom prst="rect">
            <a:avLst/>
          </a:prstGeom>
          <a:noFill/>
          <a:ln/>
        </p:spPr>
        <p:txBody>
          <a:bodyPr wrap="square" lIns="0" tIns="0" rIns="0" bIns="0" rtlCol="0" anchor="ctr"/>
          <a:lstStyle/>
          <a:p>
            <a:pPr indent="0" marL="0">
              <a:buNone/>
            </a:pPr>
            <a:r>
              <a:rPr lang="en-US" sz="950" dirty="0">
                <a:solidFill>
                  <a:srgbClr val="6B6B6B"/>
                </a:solidFill>
                <a:latin typeface="Microsoft YaHei" pitchFamily="34" charset="0"/>
                <a:ea typeface="Microsoft YaHei" pitchFamily="34" charset="-122"/>
                <a:cs typeface="Microsoft YaHei" pitchFamily="34" charset="-120"/>
              </a:rPr>
              <a:t>开放式 / 封闭式 · 线性 Delphi 法 · Q-sorting 法</a:t>
            </a:r>
            <a:endParaRPr lang="en-US" sz="950" dirty="0"/>
          </a:p>
        </p:txBody>
      </p:sp>
      <p:sp>
        <p:nvSpPr>
          <p:cNvPr id="19" name="Shape 17"/>
          <p:cNvSpPr/>
          <p:nvPr/>
        </p:nvSpPr>
        <p:spPr>
          <a:xfrm>
            <a:off x="411480" y="4818888"/>
            <a:ext cx="77724" cy="77724"/>
          </a:xfrm>
          <a:prstGeom prst="ellipse">
            <a:avLst/>
          </a:prstGeom>
          <a:solidFill>
            <a:srgbClr val="4D49FC"/>
          </a:solidFill>
          <a:ln/>
        </p:spPr>
      </p:sp>
      <p:sp>
        <p:nvSpPr>
          <p:cNvPr id="20" name="Shape 18"/>
          <p:cNvSpPr/>
          <p:nvPr/>
        </p:nvSpPr>
        <p:spPr>
          <a:xfrm>
            <a:off x="507492" y="4818888"/>
            <a:ext cx="77724" cy="77724"/>
          </a:xfrm>
          <a:prstGeom prst="ellipse">
            <a:avLst/>
          </a:prstGeom>
          <a:solidFill>
            <a:srgbClr val="4D49FC"/>
          </a:solidFill>
          <a:ln/>
        </p:spPr>
      </p:sp>
      <p:sp>
        <p:nvSpPr>
          <p:cNvPr id="21" name="Shape 19"/>
          <p:cNvSpPr/>
          <p:nvPr/>
        </p:nvSpPr>
        <p:spPr>
          <a:xfrm>
            <a:off x="411480" y="4914900"/>
            <a:ext cx="77724" cy="77724"/>
          </a:xfrm>
          <a:prstGeom prst="ellipse">
            <a:avLst/>
          </a:prstGeom>
          <a:solidFill>
            <a:srgbClr val="4D49FC"/>
          </a:solidFill>
          <a:ln/>
        </p:spPr>
      </p:sp>
      <p:sp>
        <p:nvSpPr>
          <p:cNvPr id="22" name="Shape 20"/>
          <p:cNvSpPr/>
          <p:nvPr/>
        </p:nvSpPr>
        <p:spPr>
          <a:xfrm>
            <a:off x="507492" y="4914900"/>
            <a:ext cx="77724" cy="77724"/>
          </a:xfrm>
          <a:prstGeom prst="ellipse">
            <a:avLst/>
          </a:prstGeom>
          <a:solidFill>
            <a:srgbClr val="4D49FC"/>
          </a:solidFill>
          <a:ln/>
        </p:spPr>
      </p:sp>
      <p:sp>
        <p:nvSpPr>
          <p:cNvPr id="23" name="Text 21"/>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24" name="Text 22"/>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30</a:t>
            </a:r>
            <a:endParaRPr lang="en-US" sz="750" dirty="0"/>
          </a:p>
        </p:txBody>
      </p:sp>
      <p:pic>
        <p:nvPicPr>
          <p:cNvPr id="25" name="Image 0" descr="decorative collage">    </p:cNvPr>
          <p:cNvPicPr>
            <a:picLocks noChangeAspect="1"/>
          </p:cNvPicPr>
          <p:nvPr/>
        </p:nvPicPr>
        <p:blipFill>
          <a:blip r:embed="rId1"/>
          <a:stretch>
            <a:fillRect/>
          </a:stretch>
        </p:blipFill>
        <p:spPr>
          <a:xfrm>
            <a:off x="5740909" y="1783080"/>
            <a:ext cx="2991611" cy="292608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05 调研中的数据分析法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A · 数据对比分析 —— 表格</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Tables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31</a:t>
            </a:r>
            <a:endParaRPr lang="en-US" sz="7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3291840" cy="914400"/>
        </p:xfrm>
        <a:graphic>
          <a:graphicData uri="http://schemas.openxmlformats.org/drawingml/2006/table">
            <a:tbl>
              <a:tblPr/>
              <a:tblGrid>
                <a:gridCol w="1097280"/>
                <a:gridCol w="1097280"/>
                <a:gridCol w="1097280"/>
              </a:tblGrid>
              <a:tr h="502920">
                <a:tc>
                  <a:txBody>
                    <a:bodyP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维度</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111111"/>
                    </a:solidFill>
                  </a:tcPr>
                </a:tc>
                <a:tc>
                  <a:txBody>
                    <a:bodyP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方案 A</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111111"/>
                    </a:solidFill>
                  </a:tcPr>
                </a:tc>
                <a:tc>
                  <a:txBody>
                    <a:bodyP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方案 B</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111111"/>
                    </a:solidFill>
                  </a:tcPr>
                </a:tc>
              </a:tr>
              <a:tr h="502920">
                <a:tc>
                  <a:txBody>
                    <a:bodyPr/>
                    <a:lstStyle/>
                    <a:p>
                      <a:pPr algn="ctr" indent="0" marL="0">
                        <a:buNone/>
                      </a:pPr>
                      <a:r>
                        <a:rPr lang="en-US" sz="1200" b="1" dirty="0">
                          <a:solidFill>
                            <a:srgbClr val="111111"/>
                          </a:solidFill>
                          <a:latin typeface="Microsoft YaHei" pitchFamily="34" charset="0"/>
                          <a:ea typeface="Microsoft YaHei" pitchFamily="34" charset="-122"/>
                          <a:cs typeface="Microsoft YaHei" pitchFamily="34" charset="-120"/>
                        </a:rPr>
                        <a:t>变量 1</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11111"/>
                          </a:solidFill>
                          <a:latin typeface="Microsoft YaHei" pitchFamily="34" charset="0"/>
                          <a:ea typeface="Microsoft YaHei" pitchFamily="34" charset="-122"/>
                          <a:cs typeface="Microsoft YaHei" pitchFamily="34" charset="-120"/>
                        </a:rPr>
                        <a:t>—</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11111"/>
                          </a:solidFill>
                          <a:latin typeface="Microsoft YaHei" pitchFamily="34" charset="0"/>
                          <a:ea typeface="Microsoft YaHei" pitchFamily="34" charset="-122"/>
                          <a:cs typeface="Microsoft YaHei" pitchFamily="34" charset="-120"/>
                        </a:rPr>
                        <a:t>—</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r>
              <a:tr h="502920">
                <a:tc>
                  <a:txBody>
                    <a:bodyPr/>
                    <a:lstStyle/>
                    <a:p>
                      <a:pPr algn="ctr" indent="0" marL="0">
                        <a:buNone/>
                      </a:pPr>
                      <a:r>
                        <a:rPr lang="en-US" sz="1200" b="1" dirty="0">
                          <a:solidFill>
                            <a:srgbClr val="111111"/>
                          </a:solidFill>
                          <a:latin typeface="Microsoft YaHei" pitchFamily="34" charset="0"/>
                          <a:ea typeface="Microsoft YaHei" pitchFamily="34" charset="-122"/>
                          <a:cs typeface="Microsoft YaHei" pitchFamily="34" charset="-120"/>
                        </a:rPr>
                        <a:t>变量 2</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4F4F4"/>
                    </a:solidFill>
                  </a:tcPr>
                </a:tc>
                <a:tc>
                  <a:txBody>
                    <a:bodyPr/>
                    <a:lstStyle/>
                    <a:p>
                      <a:pPr algn="ctr" indent="0" marL="0">
                        <a:buNone/>
                      </a:pPr>
                      <a:r>
                        <a:rPr lang="en-US" sz="1200" dirty="0">
                          <a:solidFill>
                            <a:srgbClr val="111111"/>
                          </a:solidFill>
                          <a:latin typeface="Microsoft YaHei" pitchFamily="34" charset="0"/>
                          <a:ea typeface="Microsoft YaHei" pitchFamily="34" charset="-122"/>
                          <a:cs typeface="Microsoft YaHei" pitchFamily="34" charset="-120"/>
                        </a:rPr>
                        <a:t>—</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4F4F4"/>
                    </a:solidFill>
                  </a:tcPr>
                </a:tc>
                <a:tc>
                  <a:txBody>
                    <a:bodyPr/>
                    <a:lstStyle/>
                    <a:p>
                      <a:pPr algn="ctr" indent="0" marL="0">
                        <a:buNone/>
                      </a:pPr>
                      <a:r>
                        <a:rPr lang="en-US" sz="1200" dirty="0">
                          <a:solidFill>
                            <a:srgbClr val="111111"/>
                          </a:solidFill>
                          <a:latin typeface="Microsoft YaHei" pitchFamily="34" charset="0"/>
                          <a:ea typeface="Microsoft YaHei" pitchFamily="34" charset="-122"/>
                          <a:cs typeface="Microsoft YaHei" pitchFamily="34" charset="-120"/>
                        </a:rPr>
                        <a:t>—</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4F4F4"/>
                    </a:solidFill>
                  </a:tcPr>
                </a:tc>
              </a:tr>
              <a:tr h="502920">
                <a:tc>
                  <a:txBody>
                    <a:bodyPr/>
                    <a:lstStyle/>
                    <a:p>
                      <a:pPr algn="ctr" indent="0" marL="0">
                        <a:buNone/>
                      </a:pPr>
                      <a:r>
                        <a:rPr lang="en-US" sz="1200" b="1" dirty="0">
                          <a:solidFill>
                            <a:srgbClr val="111111"/>
                          </a:solidFill>
                          <a:latin typeface="Microsoft YaHei" pitchFamily="34" charset="0"/>
                          <a:ea typeface="Microsoft YaHei" pitchFamily="34" charset="-122"/>
                          <a:cs typeface="Microsoft YaHei" pitchFamily="34" charset="-120"/>
                        </a:rPr>
                        <a:t>变量 3</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11111"/>
                          </a:solidFill>
                          <a:latin typeface="Microsoft YaHei" pitchFamily="34" charset="0"/>
                          <a:ea typeface="Microsoft YaHei" pitchFamily="34" charset="-122"/>
                          <a:cs typeface="Microsoft YaHei" pitchFamily="34" charset="-120"/>
                        </a:rPr>
                        <a:t>—</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11111"/>
                          </a:solidFill>
                          <a:latin typeface="Microsoft YaHei" pitchFamily="34" charset="0"/>
                          <a:ea typeface="Microsoft YaHei" pitchFamily="34" charset="-122"/>
                          <a:cs typeface="Microsoft YaHei" pitchFamily="34" charset="-120"/>
                        </a:rPr>
                        <a:t>—</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r>
              <a:tr h="502920">
                <a:tc>
                  <a:txBody>
                    <a:bodyPr/>
                    <a:lstStyle/>
                    <a:p>
                      <a:pPr algn="ctr" indent="0" marL="0">
                        <a:buNone/>
                      </a:pPr>
                      <a:r>
                        <a:rPr lang="en-US" sz="1200" b="1" dirty="0">
                          <a:solidFill>
                            <a:srgbClr val="111111"/>
                          </a:solidFill>
                          <a:latin typeface="Microsoft YaHei" pitchFamily="34" charset="0"/>
                          <a:ea typeface="Microsoft YaHei" pitchFamily="34" charset="-122"/>
                          <a:cs typeface="Microsoft YaHei" pitchFamily="34" charset="-120"/>
                        </a:rPr>
                        <a:t>变量 4</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4F4F4"/>
                    </a:solidFill>
                  </a:tcPr>
                </a:tc>
                <a:tc>
                  <a:txBody>
                    <a:bodyPr/>
                    <a:lstStyle/>
                    <a:p>
                      <a:pPr algn="ctr" indent="0" marL="0">
                        <a:buNone/>
                      </a:pPr>
                      <a:r>
                        <a:rPr lang="en-US" sz="1200" dirty="0">
                          <a:solidFill>
                            <a:srgbClr val="111111"/>
                          </a:solidFill>
                          <a:latin typeface="Microsoft YaHei" pitchFamily="34" charset="0"/>
                          <a:ea typeface="Microsoft YaHei" pitchFamily="34" charset="-122"/>
                          <a:cs typeface="Microsoft YaHei" pitchFamily="34" charset="-120"/>
                        </a:rPr>
                        <a:t>—</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4F4F4"/>
                    </a:solidFill>
                  </a:tcPr>
                </a:tc>
                <a:tc>
                  <a:txBody>
                    <a:bodyPr/>
                    <a:lstStyle/>
                    <a:p>
                      <a:pPr algn="ctr" indent="0" marL="0">
                        <a:buNone/>
                      </a:pPr>
                      <a:r>
                        <a:rPr lang="en-US" sz="1200" dirty="0">
                          <a:solidFill>
                            <a:srgbClr val="111111"/>
                          </a:solidFill>
                          <a:latin typeface="Microsoft YaHei" pitchFamily="34" charset="0"/>
                          <a:ea typeface="Microsoft YaHei" pitchFamily="34" charset="-122"/>
                          <a:cs typeface="Microsoft YaHei" pitchFamily="34" charset="-120"/>
                        </a:rPr>
                        <a:t>—</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4F4F4"/>
                    </a:solidFill>
                  </a:tcPr>
                </a:tc>
              </a:tr>
            </a:tbl>
          </a:graphicData>
        </a:graphic>
      </p:graphicFrame>
      <p:sp>
        <p:nvSpPr>
          <p:cNvPr id="12" name="Text 9"/>
          <p:cNvSpPr txBox="1"/>
          <p:nvPr/>
        </p:nvSpPr>
        <p:spPr>
          <a:xfrm>
            <a:off x="411480" y="3840480"/>
            <a:ext cx="3291840" cy="274320"/>
          </a:xfrm>
          <a:prstGeom prst="rect">
            <a:avLst/>
          </a:prstGeom>
          <a:noFill/>
          <a:ln/>
        </p:spPr>
        <p:txBody>
          <a:bodyPr wrap="square" lIns="0" tIns="0" rIns="0" bIns="0" rtlCol="0" anchor="t"/>
          <a:lstStyle/>
          <a:p>
            <a:pPr indent="0" marL="0">
              <a:buNone/>
            </a:pPr>
            <a:r>
              <a:rPr lang="en-US" sz="900" dirty="0">
                <a:solidFill>
                  <a:srgbClr val="6B6B6B"/>
                </a:solidFill>
                <a:latin typeface="Microsoft YaHei" pitchFamily="34" charset="0"/>
                <a:ea typeface="Microsoft YaHei" pitchFamily="34" charset="-122"/>
                <a:cs typeface="Microsoft YaHei" pitchFamily="34" charset="-120"/>
              </a:rPr>
              <a:t>示意</a:t>
            </a:r>
            <a:endParaRPr lang="en-US" sz="900" dirty="0"/>
          </a:p>
        </p:txBody>
      </p:sp>
      <p:sp>
        <p:nvSpPr>
          <p:cNvPr id="13" name="Shape 10"/>
          <p:cNvSpPr/>
          <p:nvPr/>
        </p:nvSpPr>
        <p:spPr>
          <a:xfrm>
            <a:off x="3813048" y="1188720"/>
            <a:ext cx="4919472" cy="1636776"/>
          </a:xfrm>
          <a:prstGeom prst="roundRect">
            <a:avLst>
              <a:gd name="adj" fmla="val 5587"/>
            </a:avLst>
          </a:prstGeom>
          <a:solidFill>
            <a:srgbClr val="C9F5C0"/>
          </a:solidFill>
          <a:ln/>
        </p:spPr>
      </p:sp>
      <p:sp>
        <p:nvSpPr>
          <p:cNvPr id="14" name="Text 11"/>
          <p:cNvSpPr txBox="1"/>
          <p:nvPr/>
        </p:nvSpPr>
        <p:spPr>
          <a:xfrm>
            <a:off x="4041648" y="1353312"/>
            <a:ext cx="4507992" cy="384048"/>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表格的定义与作用</a:t>
            </a:r>
            <a:endParaRPr lang="en-US" sz="1500" dirty="0"/>
          </a:p>
        </p:txBody>
      </p:sp>
      <p:sp>
        <p:nvSpPr>
          <p:cNvPr id="15" name="Text 12"/>
          <p:cNvSpPr txBox="1"/>
          <p:nvPr/>
        </p:nvSpPr>
        <p:spPr>
          <a:xfrm>
            <a:off x="4041648" y="1810512"/>
            <a:ext cx="4507992" cy="923544"/>
          </a:xfrm>
          <a:prstGeom prst="rect">
            <a:avLst/>
          </a:prstGeom>
          <a:noFill/>
          <a:ln/>
        </p:spPr>
        <p:txBody>
          <a:bodyPr wrap="square" lIns="0" tIns="0" rIns="0" bIns="0" rtlCol="0" anchor="t"/>
          <a:lstStyle/>
          <a:p>
            <a:pPr indent="0" marL="0">
              <a:lnSpc>
                <a:spcPct val="135000"/>
              </a:lnSpc>
              <a:spcAft>
                <a:spcPts val="500"/>
              </a:spcAft>
              <a:buNone/>
            </a:pPr>
            <a:r>
              <a:rPr lang="en-US" sz="1200" dirty="0">
                <a:solidFill>
                  <a:srgbClr val="111111"/>
                </a:solidFill>
                <a:latin typeface="Microsoft YaHei" pitchFamily="34" charset="0"/>
                <a:ea typeface="Microsoft YaHei" pitchFamily="34" charset="-122"/>
                <a:cs typeface="Microsoft YaHei" pitchFamily="34" charset="-120"/>
              </a:rPr>
              <a:t>表格是一种简洁的数据信息呈现方式，通过将数据结构化地排列，便于比较和分析。表格能够清晰地展示多个变量之间的关系，使得数据的对比变得更加直观。</a:t>
            </a:r>
            <a:endParaRPr lang="en-US" sz="1200" dirty="0"/>
          </a:p>
        </p:txBody>
      </p:sp>
      <p:sp>
        <p:nvSpPr>
          <p:cNvPr id="16" name="Shape 13"/>
          <p:cNvSpPr/>
          <p:nvPr/>
        </p:nvSpPr>
        <p:spPr>
          <a:xfrm>
            <a:off x="3813048" y="2935224"/>
            <a:ext cx="4919472" cy="1636776"/>
          </a:xfrm>
          <a:prstGeom prst="roundRect">
            <a:avLst>
              <a:gd name="adj" fmla="val 5587"/>
            </a:avLst>
          </a:prstGeom>
          <a:solidFill>
            <a:srgbClr val="F4F4F4"/>
          </a:solidFill>
          <a:ln/>
        </p:spPr>
      </p:sp>
      <p:sp>
        <p:nvSpPr>
          <p:cNvPr id="17" name="Text 14"/>
          <p:cNvSpPr txBox="1"/>
          <p:nvPr/>
        </p:nvSpPr>
        <p:spPr>
          <a:xfrm>
            <a:off x="4041648" y="3099816"/>
            <a:ext cx="4507992" cy="384048"/>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表格在设计调研中的应用</a:t>
            </a:r>
            <a:endParaRPr lang="en-US" sz="1500" dirty="0"/>
          </a:p>
        </p:txBody>
      </p:sp>
      <p:sp>
        <p:nvSpPr>
          <p:cNvPr id="18" name="Text 15"/>
          <p:cNvSpPr txBox="1"/>
          <p:nvPr/>
        </p:nvSpPr>
        <p:spPr>
          <a:xfrm>
            <a:off x="4041648" y="3557016"/>
            <a:ext cx="4507992" cy="923544"/>
          </a:xfrm>
          <a:prstGeom prst="rect">
            <a:avLst/>
          </a:prstGeom>
          <a:noFill/>
          <a:ln/>
        </p:spPr>
        <p:txBody>
          <a:bodyPr wrap="square" lIns="0" tIns="0" rIns="0" bIns="0" rtlCol="0" anchor="t"/>
          <a:lstStyle/>
          <a:p>
            <a:pPr indent="0" marL="0">
              <a:lnSpc>
                <a:spcPct val="135000"/>
              </a:lnSpc>
              <a:spcAft>
                <a:spcPts val="500"/>
              </a:spcAft>
              <a:buNone/>
            </a:pPr>
            <a:r>
              <a:rPr lang="en-US" sz="1200" dirty="0">
                <a:solidFill>
                  <a:srgbClr val="111111"/>
                </a:solidFill>
                <a:latin typeface="Microsoft YaHei" pitchFamily="34" charset="0"/>
                <a:ea typeface="Microsoft YaHei" pitchFamily="34" charset="-122"/>
                <a:cs typeface="Microsoft YaHei" pitchFamily="34" charset="-120"/>
              </a:rPr>
              <a:t>在设计研究中，表格广泛用于呈现用户调查结果、产品对比数据、用户行为数据等。</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05 调研中的数据分析法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A · 数据对比分析 —— 图表</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Charts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32</a:t>
            </a:r>
            <a:endParaRPr lang="en-US" sz="750" dirty="0"/>
          </a:p>
        </p:txBody>
      </p:sp>
      <p:sp>
        <p:nvSpPr>
          <p:cNvPr id="11" name="Shape 9"/>
          <p:cNvSpPr/>
          <p:nvPr/>
        </p:nvSpPr>
        <p:spPr>
          <a:xfrm>
            <a:off x="411480" y="1188720"/>
            <a:ext cx="1773936" cy="1636776"/>
          </a:xfrm>
          <a:prstGeom prst="roundRect">
            <a:avLst>
              <a:gd name="adj" fmla="val 5587"/>
            </a:avLst>
          </a:prstGeom>
          <a:solidFill>
            <a:srgbClr val="F4F4F4"/>
          </a:solidFill>
          <a:ln/>
        </p:spPr>
      </p:sp>
      <p:graphicFrame>
        <p:nvGraphicFramePr>
          <p:cNvPr id="12" name="Chart 0" descr=""/>
          <p:cNvGraphicFramePr/>
          <p:nvPr/>
        </p:nvGraphicFramePr>
        <p:xfrm>
          <a:off x="502920" y="1261872"/>
          <a:ext cx="1591056" cy="1179576"/>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548640" y="2441448"/>
            <a:ext cx="1499616" cy="320040"/>
          </a:xfrm>
          <a:prstGeom prst="rect">
            <a:avLst/>
          </a:prstGeom>
          <a:noFill/>
          <a:ln/>
        </p:spPr>
        <p:txBody>
          <a:bodyPr wrap="square" lIns="0" tIns="0" rIns="0" bIns="0" rtlCol="0" anchor="ctr"/>
          <a:lstStyle/>
          <a:p>
            <a:pPr indent="0" marL="0">
              <a:buNone/>
            </a:pPr>
            <a:r>
              <a:rPr lang="en-US" sz="1200" b="1" dirty="0">
                <a:solidFill>
                  <a:srgbClr val="111111"/>
                </a:solidFill>
                <a:latin typeface="Microsoft YaHei" pitchFamily="34" charset="0"/>
                <a:ea typeface="Microsoft YaHei" pitchFamily="34" charset="-122"/>
                <a:cs typeface="Microsoft YaHei" pitchFamily="34" charset="-120"/>
              </a:rPr>
              <a:t>柱状图</a:t>
            </a:r>
            <a:endParaRPr lang="en-US" sz="1200" dirty="0"/>
          </a:p>
        </p:txBody>
      </p:sp>
      <p:sp>
        <p:nvSpPr>
          <p:cNvPr id="14" name="Shape 11"/>
          <p:cNvSpPr/>
          <p:nvPr/>
        </p:nvSpPr>
        <p:spPr>
          <a:xfrm>
            <a:off x="2295144" y="1188720"/>
            <a:ext cx="1773936" cy="1636776"/>
          </a:xfrm>
          <a:prstGeom prst="roundRect">
            <a:avLst>
              <a:gd name="adj" fmla="val 5587"/>
            </a:avLst>
          </a:prstGeom>
          <a:solidFill>
            <a:srgbClr val="F4F4F4"/>
          </a:solidFill>
          <a:ln/>
        </p:spPr>
      </p:sp>
      <p:graphicFrame>
        <p:nvGraphicFramePr>
          <p:cNvPr id="15" name="Chart 1" descr=""/>
          <p:cNvGraphicFramePr/>
          <p:nvPr/>
        </p:nvGraphicFramePr>
        <p:xfrm>
          <a:off x="2386584" y="1261872"/>
          <a:ext cx="1591056" cy="1179576"/>
        </p:xfrm>
        <a:graphic xmlns:a="http://schemas.openxmlformats.org/drawingml/2006/main">
          <a:graphicData uri="http://schemas.openxmlformats.org/drawingml/2006/chart">
            <c:chart xmlns:c="http://schemas.openxmlformats.org/drawingml/2006/chart" r:id="rId2"/>
          </a:graphicData>
        </a:graphic>
      </p:graphicFrame>
      <p:sp>
        <p:nvSpPr>
          <p:cNvPr id="16" name="Text 12"/>
          <p:cNvSpPr txBox="1"/>
          <p:nvPr/>
        </p:nvSpPr>
        <p:spPr>
          <a:xfrm>
            <a:off x="2432304" y="2441448"/>
            <a:ext cx="1499616" cy="320040"/>
          </a:xfrm>
          <a:prstGeom prst="rect">
            <a:avLst/>
          </a:prstGeom>
          <a:noFill/>
          <a:ln/>
        </p:spPr>
        <p:txBody>
          <a:bodyPr wrap="square" lIns="0" tIns="0" rIns="0" bIns="0" rtlCol="0" anchor="ctr"/>
          <a:lstStyle/>
          <a:p>
            <a:pPr indent="0" marL="0">
              <a:buNone/>
            </a:pPr>
            <a:r>
              <a:rPr lang="en-US" sz="1200" b="1" dirty="0">
                <a:solidFill>
                  <a:srgbClr val="111111"/>
                </a:solidFill>
                <a:latin typeface="Microsoft YaHei" pitchFamily="34" charset="0"/>
                <a:ea typeface="Microsoft YaHei" pitchFamily="34" charset="-122"/>
                <a:cs typeface="Microsoft YaHei" pitchFamily="34" charset="-120"/>
              </a:rPr>
              <a:t>折线图</a:t>
            </a:r>
            <a:endParaRPr lang="en-US" sz="1200" dirty="0"/>
          </a:p>
        </p:txBody>
      </p:sp>
      <p:sp>
        <p:nvSpPr>
          <p:cNvPr id="17" name="Shape 13"/>
          <p:cNvSpPr/>
          <p:nvPr/>
        </p:nvSpPr>
        <p:spPr>
          <a:xfrm>
            <a:off x="411480" y="2935224"/>
            <a:ext cx="1773936" cy="1636776"/>
          </a:xfrm>
          <a:prstGeom prst="roundRect">
            <a:avLst>
              <a:gd name="adj" fmla="val 5587"/>
            </a:avLst>
          </a:prstGeom>
          <a:solidFill>
            <a:srgbClr val="F4F4F4"/>
          </a:solidFill>
          <a:ln/>
        </p:spPr>
      </p:sp>
      <p:graphicFrame>
        <p:nvGraphicFramePr>
          <p:cNvPr id="18" name="Chart 2" descr=""/>
          <p:cNvGraphicFramePr/>
          <p:nvPr/>
        </p:nvGraphicFramePr>
        <p:xfrm>
          <a:off x="502920" y="3008376"/>
          <a:ext cx="1591056" cy="1179576"/>
        </p:xfrm>
        <a:graphic xmlns:a="http://schemas.openxmlformats.org/drawingml/2006/main">
          <a:graphicData uri="http://schemas.openxmlformats.org/drawingml/2006/chart">
            <c:chart xmlns:c="http://schemas.openxmlformats.org/drawingml/2006/chart" r:id="rId3"/>
          </a:graphicData>
        </a:graphic>
      </p:graphicFrame>
      <p:sp>
        <p:nvSpPr>
          <p:cNvPr id="19" name="Text 14"/>
          <p:cNvSpPr txBox="1"/>
          <p:nvPr/>
        </p:nvSpPr>
        <p:spPr>
          <a:xfrm>
            <a:off x="548640" y="4187952"/>
            <a:ext cx="1499616" cy="320040"/>
          </a:xfrm>
          <a:prstGeom prst="rect">
            <a:avLst/>
          </a:prstGeom>
          <a:noFill/>
          <a:ln/>
        </p:spPr>
        <p:txBody>
          <a:bodyPr wrap="square" lIns="0" tIns="0" rIns="0" bIns="0" rtlCol="0" anchor="ctr"/>
          <a:lstStyle/>
          <a:p>
            <a:pPr indent="0" marL="0">
              <a:buNone/>
            </a:pPr>
            <a:r>
              <a:rPr lang="en-US" sz="1200" b="1" dirty="0">
                <a:solidFill>
                  <a:srgbClr val="111111"/>
                </a:solidFill>
                <a:latin typeface="Microsoft YaHei" pitchFamily="34" charset="0"/>
                <a:ea typeface="Microsoft YaHei" pitchFamily="34" charset="-122"/>
                <a:cs typeface="Microsoft YaHei" pitchFamily="34" charset="-120"/>
              </a:rPr>
              <a:t>饼图</a:t>
            </a:r>
            <a:endParaRPr lang="en-US" sz="1200" dirty="0"/>
          </a:p>
        </p:txBody>
      </p:sp>
      <p:sp>
        <p:nvSpPr>
          <p:cNvPr id="20" name="Shape 15"/>
          <p:cNvSpPr/>
          <p:nvPr/>
        </p:nvSpPr>
        <p:spPr>
          <a:xfrm>
            <a:off x="2295144" y="2935224"/>
            <a:ext cx="1773936" cy="1636776"/>
          </a:xfrm>
          <a:prstGeom prst="roundRect">
            <a:avLst>
              <a:gd name="adj" fmla="val 5587"/>
            </a:avLst>
          </a:prstGeom>
          <a:solidFill>
            <a:srgbClr val="F4F4F4"/>
          </a:solidFill>
          <a:ln/>
        </p:spPr>
      </p:sp>
      <p:graphicFrame>
        <p:nvGraphicFramePr>
          <p:cNvPr id="21" name="Chart 3" descr=""/>
          <p:cNvGraphicFramePr/>
          <p:nvPr/>
        </p:nvGraphicFramePr>
        <p:xfrm>
          <a:off x="2386584" y="3008376"/>
          <a:ext cx="1591056" cy="1179576"/>
        </p:xfrm>
        <a:graphic xmlns:a="http://schemas.openxmlformats.org/drawingml/2006/main">
          <a:graphicData uri="http://schemas.openxmlformats.org/drawingml/2006/chart">
            <c:chart xmlns:c="http://schemas.openxmlformats.org/drawingml/2006/chart" r:id="rId4"/>
          </a:graphicData>
        </a:graphic>
      </p:graphicFrame>
      <p:sp>
        <p:nvSpPr>
          <p:cNvPr id="22" name="Text 16"/>
          <p:cNvSpPr txBox="1"/>
          <p:nvPr/>
        </p:nvSpPr>
        <p:spPr>
          <a:xfrm>
            <a:off x="2432304" y="4187952"/>
            <a:ext cx="1499616" cy="320040"/>
          </a:xfrm>
          <a:prstGeom prst="rect">
            <a:avLst/>
          </a:prstGeom>
          <a:noFill/>
          <a:ln/>
        </p:spPr>
        <p:txBody>
          <a:bodyPr wrap="square" lIns="0" tIns="0" rIns="0" bIns="0" rtlCol="0" anchor="ctr"/>
          <a:lstStyle/>
          <a:p>
            <a:pPr indent="0" marL="0">
              <a:buNone/>
            </a:pPr>
            <a:r>
              <a:rPr lang="en-US" sz="1200" b="1" dirty="0">
                <a:solidFill>
                  <a:srgbClr val="111111"/>
                </a:solidFill>
                <a:latin typeface="Microsoft YaHei" pitchFamily="34" charset="0"/>
                <a:ea typeface="Microsoft YaHei" pitchFamily="34" charset="-122"/>
                <a:cs typeface="Microsoft YaHei" pitchFamily="34" charset="-120"/>
              </a:rPr>
              <a:t>散点图</a:t>
            </a:r>
            <a:endParaRPr lang="en-US" sz="1200" dirty="0"/>
          </a:p>
        </p:txBody>
      </p:sp>
      <p:sp>
        <p:nvSpPr>
          <p:cNvPr id="23" name="Shape 17"/>
          <p:cNvSpPr/>
          <p:nvPr/>
        </p:nvSpPr>
        <p:spPr>
          <a:xfrm>
            <a:off x="4178808" y="1188720"/>
            <a:ext cx="4553712" cy="1636776"/>
          </a:xfrm>
          <a:prstGeom prst="roundRect">
            <a:avLst>
              <a:gd name="adj" fmla="val 5587"/>
            </a:avLst>
          </a:prstGeom>
          <a:solidFill>
            <a:srgbClr val="C9F5C0"/>
          </a:solidFill>
          <a:ln/>
        </p:spPr>
      </p:sp>
      <p:sp>
        <p:nvSpPr>
          <p:cNvPr id="24" name="Text 18"/>
          <p:cNvSpPr txBox="1"/>
          <p:nvPr/>
        </p:nvSpPr>
        <p:spPr>
          <a:xfrm>
            <a:off x="4407408" y="1353312"/>
            <a:ext cx="4142232" cy="384048"/>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图表的类型与选择</a:t>
            </a:r>
            <a:endParaRPr lang="en-US" sz="1500" dirty="0"/>
          </a:p>
        </p:txBody>
      </p:sp>
      <p:sp>
        <p:nvSpPr>
          <p:cNvPr id="25" name="Text 19"/>
          <p:cNvSpPr txBox="1"/>
          <p:nvPr/>
        </p:nvSpPr>
        <p:spPr>
          <a:xfrm>
            <a:off x="4407408" y="1810512"/>
            <a:ext cx="4142232" cy="923544"/>
          </a:xfrm>
          <a:prstGeom prst="rect">
            <a:avLst/>
          </a:prstGeom>
          <a:noFill/>
          <a:ln/>
        </p:spPr>
        <p:txBody>
          <a:bodyPr wrap="square" lIns="0" tIns="0" rIns="0" bIns="0" rtlCol="0" anchor="t"/>
          <a:lstStyle/>
          <a:p>
            <a:pPr indent="0" marL="0">
              <a:lnSpc>
                <a:spcPct val="135000"/>
              </a:lnSpc>
              <a:spcAft>
                <a:spcPts val="500"/>
              </a:spcAft>
              <a:buNone/>
            </a:pPr>
            <a:r>
              <a:rPr lang="en-US" sz="1200" dirty="0">
                <a:solidFill>
                  <a:srgbClr val="111111"/>
                </a:solidFill>
                <a:latin typeface="Microsoft YaHei" pitchFamily="34" charset="0"/>
                <a:ea typeface="Microsoft YaHei" pitchFamily="34" charset="-122"/>
                <a:cs typeface="Microsoft YaHei" pitchFamily="34" charset="-120"/>
              </a:rPr>
              <a:t>图表是比表格更具视觉吸引力的数据显示方式，适用于展示趋势、比例和分布等信息。常见的图表类型包括柱状图、折线图、饼图、散点图等。</a:t>
            </a:r>
            <a:endParaRPr lang="en-US" sz="1200" dirty="0"/>
          </a:p>
        </p:txBody>
      </p:sp>
      <p:sp>
        <p:nvSpPr>
          <p:cNvPr id="26" name="Shape 20"/>
          <p:cNvSpPr/>
          <p:nvPr/>
        </p:nvSpPr>
        <p:spPr>
          <a:xfrm>
            <a:off x="4178808" y="2935224"/>
            <a:ext cx="4553712" cy="1636776"/>
          </a:xfrm>
          <a:prstGeom prst="roundRect">
            <a:avLst>
              <a:gd name="adj" fmla="val 5587"/>
            </a:avLst>
          </a:prstGeom>
          <a:solidFill>
            <a:srgbClr val="111111"/>
          </a:solidFill>
          <a:ln/>
        </p:spPr>
      </p:sp>
      <p:sp>
        <p:nvSpPr>
          <p:cNvPr id="27" name="Text 21"/>
          <p:cNvSpPr txBox="1"/>
          <p:nvPr/>
        </p:nvSpPr>
        <p:spPr>
          <a:xfrm>
            <a:off x="4407408" y="3099816"/>
            <a:ext cx="4142232" cy="384048"/>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图表在设计调研中的应用</a:t>
            </a:r>
            <a:endParaRPr lang="en-US" sz="1500" dirty="0"/>
          </a:p>
        </p:txBody>
      </p:sp>
      <p:sp>
        <p:nvSpPr>
          <p:cNvPr id="28" name="Text 22"/>
          <p:cNvSpPr txBox="1"/>
          <p:nvPr/>
        </p:nvSpPr>
        <p:spPr>
          <a:xfrm>
            <a:off x="4407408" y="3557016"/>
            <a:ext cx="4142232" cy="923544"/>
          </a:xfrm>
          <a:prstGeom prst="rect">
            <a:avLst/>
          </a:prstGeom>
          <a:noFill/>
          <a:ln/>
        </p:spPr>
        <p:txBody>
          <a:bodyPr wrap="square" lIns="0" tIns="0" rIns="0" bIns="0" rtlCol="0" anchor="t"/>
          <a:lstStyle/>
          <a:p>
            <a:pPr indent="0" marL="0">
              <a:lnSpc>
                <a:spcPct val="135000"/>
              </a:lnSpc>
              <a:spcAft>
                <a:spcPts val="500"/>
              </a:spcAft>
              <a:buNone/>
            </a:pPr>
            <a:r>
              <a:rPr lang="en-US" sz="1200" dirty="0">
                <a:solidFill>
                  <a:srgbClr val="FFFFFF"/>
                </a:solidFill>
                <a:latin typeface="Microsoft YaHei" pitchFamily="34" charset="0"/>
                <a:ea typeface="Microsoft YaHei" pitchFamily="34" charset="-122"/>
                <a:cs typeface="Microsoft YaHei" pitchFamily="34" charset="-120"/>
              </a:rPr>
              <a:t>在设计调研中，图表能够直观地展示用户数据、产品使用数据等，为研究人员提供清晰的视觉对比。</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05 调研中的数据分析法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A · 数据对比分析 —— 图表分类</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Comparison vs Relationship Charts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33</a:t>
            </a:r>
            <a:endParaRPr lang="en-US" sz="750" dirty="0"/>
          </a:p>
        </p:txBody>
      </p:sp>
      <p:pic>
        <p:nvPicPr>
          <p:cNvPr id="11" name="Image 0" descr="p35_2">    </p:cNvPr>
          <p:cNvPicPr>
            <a:picLocks noChangeAspect="1"/>
          </p:cNvPicPr>
          <p:nvPr/>
        </p:nvPicPr>
        <p:blipFill>
          <a:blip r:embed="rId1"/>
          <a:stretch>
            <a:fillRect/>
          </a:stretch>
        </p:blipFill>
        <p:spPr>
          <a:xfrm>
            <a:off x="411480" y="1188720"/>
            <a:ext cx="1737360" cy="3383280"/>
          </a:xfrm>
          <a:prstGeom prst="rect">
            <a:avLst/>
          </a:prstGeom>
        </p:spPr>
      </p:pic>
      <p:sp>
        <p:nvSpPr>
          <p:cNvPr id="12" name="Shape 9"/>
          <p:cNvSpPr/>
          <p:nvPr/>
        </p:nvSpPr>
        <p:spPr>
          <a:xfrm>
            <a:off x="2258568" y="1188720"/>
            <a:ext cx="2258568" cy="3383280"/>
          </a:xfrm>
          <a:prstGeom prst="roundRect">
            <a:avLst>
              <a:gd name="adj" fmla="val 4049"/>
            </a:avLst>
          </a:prstGeom>
          <a:solidFill>
            <a:srgbClr val="C9F5C0"/>
          </a:solidFill>
          <a:ln/>
        </p:spPr>
      </p:sp>
      <p:sp>
        <p:nvSpPr>
          <p:cNvPr id="13" name="Text 10"/>
          <p:cNvSpPr txBox="1"/>
          <p:nvPr/>
        </p:nvSpPr>
        <p:spPr>
          <a:xfrm>
            <a:off x="2468880" y="2148840"/>
            <a:ext cx="1920240" cy="502920"/>
          </a:xfrm>
          <a:prstGeom prst="rect">
            <a:avLst/>
          </a:prstGeom>
          <a:noFill/>
          <a:ln/>
        </p:spPr>
        <p:txBody>
          <a:bodyPr wrap="square" lIns="0" tIns="0" rIns="0" bIns="0" rtlCol="0" anchor="ctr"/>
          <a:lstStyle/>
          <a:p>
            <a:pPr indent="0" marL="0">
              <a:buNone/>
            </a:pPr>
            <a:r>
              <a:rPr lang="en-US" sz="1800" b="1" dirty="0">
                <a:solidFill>
                  <a:srgbClr val="111111"/>
                </a:solidFill>
                <a:latin typeface="Microsoft YaHei" pitchFamily="34" charset="0"/>
                <a:ea typeface="Microsoft YaHei" pitchFamily="34" charset="-122"/>
                <a:cs typeface="Microsoft YaHei" pitchFamily="34" charset="-120"/>
              </a:rPr>
              <a:t>比较型图表</a:t>
            </a:r>
            <a:endParaRPr lang="en-US" sz="1800" dirty="0"/>
          </a:p>
        </p:txBody>
      </p:sp>
      <p:sp>
        <p:nvSpPr>
          <p:cNvPr id="14" name="Text 11"/>
          <p:cNvSpPr txBox="1"/>
          <p:nvPr/>
        </p:nvSpPr>
        <p:spPr>
          <a:xfrm>
            <a:off x="2468880" y="2743200"/>
            <a:ext cx="1874520" cy="1463040"/>
          </a:xfrm>
          <a:prstGeom prst="rect">
            <a:avLst/>
          </a:prstGeom>
          <a:noFill/>
          <a:ln/>
        </p:spPr>
        <p:txBody>
          <a:bodyPr wrap="square" lIns="0" tIns="0" rIns="0" bIns="0" rtlCol="0" anchor="t"/>
          <a:lstStyle/>
          <a:p>
            <a:pPr indent="0" marL="0">
              <a:lnSpc>
                <a:spcPct val="145000"/>
              </a:lnSpc>
              <a:buNone/>
            </a:pPr>
            <a:r>
              <a:rPr lang="en-US" sz="1350" dirty="0">
                <a:solidFill>
                  <a:srgbClr val="111111"/>
                </a:solidFill>
                <a:latin typeface="Microsoft YaHei" pitchFamily="34" charset="0"/>
                <a:ea typeface="Microsoft YaHei" pitchFamily="34" charset="-122"/>
                <a:cs typeface="Microsoft YaHei" pitchFamily="34" charset="-120"/>
              </a:rPr>
              <a:t>用于不同对象之间的对比，如柱状图。</a:t>
            </a:r>
            <a:endParaRPr lang="en-US" sz="1350" dirty="0"/>
          </a:p>
        </p:txBody>
      </p:sp>
      <p:pic>
        <p:nvPicPr>
          <p:cNvPr id="15" name="Image 1" descr="p35_1">    </p:cNvPr>
          <p:cNvPicPr>
            <a:picLocks noChangeAspect="1"/>
          </p:cNvPicPr>
          <p:nvPr/>
        </p:nvPicPr>
        <p:blipFill>
          <a:blip r:embed="rId2"/>
          <a:stretch>
            <a:fillRect/>
          </a:stretch>
        </p:blipFill>
        <p:spPr>
          <a:xfrm>
            <a:off x="4626864" y="1188720"/>
            <a:ext cx="1737360" cy="3383280"/>
          </a:xfrm>
          <a:prstGeom prst="rect">
            <a:avLst/>
          </a:prstGeom>
        </p:spPr>
      </p:pic>
      <p:sp>
        <p:nvSpPr>
          <p:cNvPr id="16" name="Shape 12"/>
          <p:cNvSpPr/>
          <p:nvPr/>
        </p:nvSpPr>
        <p:spPr>
          <a:xfrm>
            <a:off x="6473952" y="1188720"/>
            <a:ext cx="2258568" cy="3383280"/>
          </a:xfrm>
          <a:prstGeom prst="roundRect">
            <a:avLst>
              <a:gd name="adj" fmla="val 4049"/>
            </a:avLst>
          </a:prstGeom>
          <a:solidFill>
            <a:srgbClr val="111111"/>
          </a:solidFill>
          <a:ln/>
        </p:spPr>
      </p:sp>
      <p:sp>
        <p:nvSpPr>
          <p:cNvPr id="17" name="Text 13"/>
          <p:cNvSpPr txBox="1"/>
          <p:nvPr/>
        </p:nvSpPr>
        <p:spPr>
          <a:xfrm>
            <a:off x="6684264" y="2148840"/>
            <a:ext cx="1920240" cy="502920"/>
          </a:xfrm>
          <a:prstGeom prst="rect">
            <a:avLst/>
          </a:prstGeom>
          <a:noFill/>
          <a:ln/>
        </p:spPr>
        <p:txBody>
          <a:bodyPr wrap="square" lIns="0" tIns="0" rIns="0" bIns="0" rtlCol="0" anchor="ctr"/>
          <a:lstStyle/>
          <a:p>
            <a:pPr indent="0" marL="0">
              <a:buNone/>
            </a:pPr>
            <a:r>
              <a:rPr lang="en-US" sz="1800" b="1" dirty="0">
                <a:solidFill>
                  <a:srgbClr val="FFFFFF"/>
                </a:solidFill>
                <a:latin typeface="Microsoft YaHei" pitchFamily="34" charset="0"/>
                <a:ea typeface="Microsoft YaHei" pitchFamily="34" charset="-122"/>
                <a:cs typeface="Microsoft YaHei" pitchFamily="34" charset="-120"/>
              </a:rPr>
              <a:t>关系型图表</a:t>
            </a:r>
            <a:endParaRPr lang="en-US" sz="1800" dirty="0"/>
          </a:p>
        </p:txBody>
      </p:sp>
      <p:sp>
        <p:nvSpPr>
          <p:cNvPr id="18" name="Text 14"/>
          <p:cNvSpPr txBox="1"/>
          <p:nvPr/>
        </p:nvSpPr>
        <p:spPr>
          <a:xfrm>
            <a:off x="6684264" y="2743200"/>
            <a:ext cx="1874520" cy="1463040"/>
          </a:xfrm>
          <a:prstGeom prst="rect">
            <a:avLst/>
          </a:prstGeom>
          <a:noFill/>
          <a:ln/>
        </p:spPr>
        <p:txBody>
          <a:bodyPr wrap="square" lIns="0" tIns="0" rIns="0" bIns="0" rtlCol="0" anchor="t"/>
          <a:lstStyle/>
          <a:p>
            <a:pPr indent="0" marL="0">
              <a:lnSpc>
                <a:spcPct val="145000"/>
              </a:lnSpc>
              <a:buNone/>
            </a:pPr>
            <a:r>
              <a:rPr lang="en-US" sz="1350" dirty="0">
                <a:solidFill>
                  <a:srgbClr val="FFFFFF"/>
                </a:solidFill>
                <a:latin typeface="Microsoft YaHei" pitchFamily="34" charset="0"/>
                <a:ea typeface="Microsoft YaHei" pitchFamily="34" charset="-122"/>
                <a:cs typeface="Microsoft YaHei" pitchFamily="34" charset="-120"/>
              </a:rPr>
              <a:t>展示变量间的关系，如散点图。</a:t>
            </a:r>
            <a:endParaRPr lang="en-US" sz="1350" dirty="0"/>
          </a:p>
        </p:txBody>
      </p:sp>
      <p:sp>
        <p:nvSpPr>
          <p:cNvPr id="19" name="Text 15"/>
          <p:cNvSpPr txBox="1"/>
          <p:nvPr/>
        </p:nvSpPr>
        <p:spPr>
          <a:xfrm>
            <a:off x="2258568" y="1280160"/>
            <a:ext cx="2103120" cy="731520"/>
          </a:xfrm>
          <a:prstGeom prst="rect">
            <a:avLst/>
          </a:prstGeom>
          <a:noFill/>
          <a:ln/>
        </p:spPr>
        <p:txBody>
          <a:bodyPr wrap="square" lIns="0" tIns="0" rIns="0" bIns="0" rtlCol="0" anchor="t"/>
          <a:lstStyle/>
          <a:p>
            <a:pPr algn="r" indent="0" marL="0">
              <a:buNone/>
            </a:pPr>
            <a:r>
              <a:rPr lang="en-US" sz="3000" b="1" dirty="0">
                <a:solidFill>
                  <a:srgbClr val="111111"/>
                </a:solidFill>
                <a:latin typeface="Arial" pitchFamily="34" charset="0"/>
                <a:ea typeface="Arial" pitchFamily="34" charset="-122"/>
                <a:cs typeface="Arial" pitchFamily="34" charset="-120"/>
              </a:rPr>
              <a:t>VS</a:t>
            </a:r>
            <a:endParaRPr lang="en-US" sz="3000" dirty="0"/>
          </a:p>
        </p:txBody>
      </p:sp>
      <p:sp>
        <p:nvSpPr>
          <p:cNvPr id="20" name="Text 16"/>
          <p:cNvSpPr txBox="1"/>
          <p:nvPr/>
        </p:nvSpPr>
        <p:spPr>
          <a:xfrm>
            <a:off x="6473952" y="1280160"/>
            <a:ext cx="2103120" cy="731520"/>
          </a:xfrm>
          <a:prstGeom prst="rect">
            <a:avLst/>
          </a:prstGeom>
          <a:noFill/>
          <a:ln/>
        </p:spPr>
        <p:txBody>
          <a:bodyPr wrap="square" lIns="0" tIns="0" rIns="0" bIns="0" rtlCol="0" anchor="t"/>
          <a:lstStyle/>
          <a:p>
            <a:pPr algn="r" indent="0" marL="0">
              <a:buNone/>
            </a:pPr>
            <a:r>
              <a:rPr lang="en-US" sz="3000" b="1" i="1" dirty="0">
                <a:solidFill>
                  <a:srgbClr val="C9F5C0"/>
                </a:solidFill>
                <a:latin typeface="Arial" pitchFamily="34" charset="0"/>
                <a:ea typeface="Arial" pitchFamily="34" charset="-122"/>
                <a:cs typeface="Arial" pitchFamily="34" charset="-120"/>
              </a:rPr>
              <a:t>r</a:t>
            </a:r>
            <a:endParaRPr lang="en-US" sz="3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05 调研中的数据分析法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A · 数量对比分析的四种关系</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Four Types of Quantitative Comparison</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34</a:t>
            </a:r>
            <a:endParaRPr lang="en-US" sz="750" dirty="0"/>
          </a:p>
        </p:txBody>
      </p:sp>
      <p:sp>
        <p:nvSpPr>
          <p:cNvPr id="11" name="Shape 9"/>
          <p:cNvSpPr/>
          <p:nvPr/>
        </p:nvSpPr>
        <p:spPr>
          <a:xfrm>
            <a:off x="411480" y="1188720"/>
            <a:ext cx="1997964" cy="3383280"/>
          </a:xfrm>
          <a:prstGeom prst="roundRect">
            <a:avLst>
              <a:gd name="adj" fmla="val 4577"/>
            </a:avLst>
          </a:prstGeom>
          <a:solidFill>
            <a:srgbClr val="C9F5C0"/>
          </a:solidFill>
          <a:ln/>
        </p:spPr>
      </p:sp>
      <p:sp>
        <p:nvSpPr>
          <p:cNvPr id="12" name="Shape 10"/>
          <p:cNvSpPr/>
          <p:nvPr/>
        </p:nvSpPr>
        <p:spPr>
          <a:xfrm>
            <a:off x="521208" y="1298448"/>
            <a:ext cx="1778508" cy="1234440"/>
          </a:xfrm>
          <a:prstGeom prst="roundRect">
            <a:avLst>
              <a:gd name="adj" fmla="val 7407"/>
            </a:avLst>
          </a:prstGeom>
          <a:solidFill>
            <a:srgbClr val="FFFFFF"/>
          </a:solidFill>
          <a:ln/>
        </p:spPr>
      </p:sp>
      <p:graphicFrame>
        <p:nvGraphicFramePr>
          <p:cNvPr id="13" name="Chart 0" descr=""/>
          <p:cNvGraphicFramePr/>
          <p:nvPr/>
        </p:nvGraphicFramePr>
        <p:xfrm>
          <a:off x="566928" y="1325880"/>
          <a:ext cx="1687068" cy="1170432"/>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576072" y="2651760"/>
            <a:ext cx="1723644" cy="384048"/>
          </a:xfrm>
          <a:prstGeom prst="rect">
            <a:avLst/>
          </a:prstGeom>
          <a:noFill/>
          <a:ln/>
        </p:spPr>
        <p:txBody>
          <a:bodyPr wrap="square" lIns="0" tIns="0" rIns="0" bIns="0" rtlCol="0" anchor="ctr"/>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01  大小关系</a:t>
            </a:r>
            <a:endParaRPr lang="en-US" sz="1400" dirty="0"/>
          </a:p>
        </p:txBody>
      </p:sp>
      <p:sp>
        <p:nvSpPr>
          <p:cNvPr id="15" name="Text 12"/>
          <p:cNvSpPr txBox="1"/>
          <p:nvPr/>
        </p:nvSpPr>
        <p:spPr>
          <a:xfrm>
            <a:off x="576072" y="3063240"/>
            <a:ext cx="1723644" cy="822960"/>
          </a:xfrm>
          <a:prstGeom prst="rect">
            <a:avLst/>
          </a:prstGeom>
          <a:noFill/>
          <a:ln/>
        </p:spPr>
        <p:txBody>
          <a:bodyPr wrap="square" lIns="0" tIns="0" rIns="0" bIns="0" rtlCol="0" anchor="t"/>
          <a:lstStyle/>
          <a:p>
            <a:pPr indent="0" marL="0">
              <a:lnSpc>
                <a:spcPct val="130000"/>
              </a:lnSpc>
              <a:buNone/>
            </a:pPr>
            <a:r>
              <a:rPr lang="en-US" sz="1050" dirty="0">
                <a:solidFill>
                  <a:srgbClr val="111111"/>
                </a:solidFill>
                <a:latin typeface="Microsoft YaHei" pitchFamily="34" charset="0"/>
                <a:ea typeface="Microsoft YaHei" pitchFamily="34" charset="-122"/>
                <a:cs typeface="Microsoft YaHei" pitchFamily="34" charset="-120"/>
              </a:rPr>
              <a:t>在进行数据对比分析时，大小关系是重要的考量因素。</a:t>
            </a:r>
            <a:endParaRPr lang="en-US" sz="1050" dirty="0"/>
          </a:p>
        </p:txBody>
      </p:sp>
      <p:sp>
        <p:nvSpPr>
          <p:cNvPr id="16" name="Text 13"/>
          <p:cNvSpPr txBox="1"/>
          <p:nvPr/>
        </p:nvSpPr>
        <p:spPr>
          <a:xfrm>
            <a:off x="576072" y="3886200"/>
            <a:ext cx="1723644" cy="640080"/>
          </a:xfrm>
          <a:prstGeom prst="rect">
            <a:avLst/>
          </a:prstGeom>
          <a:noFill/>
          <a:ln/>
        </p:spPr>
        <p:txBody>
          <a:bodyPr wrap="square" lIns="0" tIns="0" rIns="0" bIns="0" rtlCol="0" anchor="t"/>
          <a:lstStyle/>
          <a:p>
            <a:pPr indent="0" marL="0">
              <a:lnSpc>
                <a:spcPct val="130000"/>
              </a:lnSpc>
              <a:buNone/>
            </a:pPr>
            <a:r>
              <a:rPr lang="en-US" sz="1050" b="1" dirty="0">
                <a:solidFill>
                  <a:srgbClr val="111111"/>
                </a:solidFill>
                <a:latin typeface="Microsoft YaHei" pitchFamily="34" charset="0"/>
                <a:ea typeface="Microsoft YaHei" pitchFamily="34" charset="-122"/>
                <a:cs typeface="Microsoft YaHei" pitchFamily="34" charset="-120"/>
              </a:rPr>
              <a:t>例如，比较不同设计方案的用户满意度分数。</a:t>
            </a:r>
            <a:endParaRPr lang="en-US" sz="1050" dirty="0"/>
          </a:p>
        </p:txBody>
      </p:sp>
      <p:sp>
        <p:nvSpPr>
          <p:cNvPr id="17" name="Shape 14"/>
          <p:cNvSpPr/>
          <p:nvPr/>
        </p:nvSpPr>
        <p:spPr>
          <a:xfrm>
            <a:off x="2519172" y="1188720"/>
            <a:ext cx="1997964" cy="3383280"/>
          </a:xfrm>
          <a:prstGeom prst="roundRect">
            <a:avLst>
              <a:gd name="adj" fmla="val 4577"/>
            </a:avLst>
          </a:prstGeom>
          <a:solidFill>
            <a:srgbClr val="F4F4F4"/>
          </a:solidFill>
          <a:ln/>
        </p:spPr>
      </p:sp>
      <p:sp>
        <p:nvSpPr>
          <p:cNvPr id="18" name="Shape 15"/>
          <p:cNvSpPr/>
          <p:nvPr/>
        </p:nvSpPr>
        <p:spPr>
          <a:xfrm>
            <a:off x="2628900" y="1298448"/>
            <a:ext cx="1778508" cy="1234440"/>
          </a:xfrm>
          <a:prstGeom prst="roundRect">
            <a:avLst>
              <a:gd name="adj" fmla="val 7407"/>
            </a:avLst>
          </a:prstGeom>
          <a:solidFill>
            <a:srgbClr val="FFFFFF"/>
          </a:solidFill>
          <a:ln/>
        </p:spPr>
      </p:sp>
      <p:graphicFrame>
        <p:nvGraphicFramePr>
          <p:cNvPr id="19" name="Chart 1" descr=""/>
          <p:cNvGraphicFramePr/>
          <p:nvPr/>
        </p:nvGraphicFramePr>
        <p:xfrm>
          <a:off x="2674620" y="1325880"/>
          <a:ext cx="1687068" cy="1170432"/>
        </p:xfrm>
        <a:graphic xmlns:a="http://schemas.openxmlformats.org/drawingml/2006/main">
          <a:graphicData uri="http://schemas.openxmlformats.org/drawingml/2006/chart">
            <c:chart xmlns:c="http://schemas.openxmlformats.org/drawingml/2006/chart" r:id="rId2"/>
          </a:graphicData>
        </a:graphic>
      </p:graphicFrame>
      <p:sp>
        <p:nvSpPr>
          <p:cNvPr id="20" name="Text 16"/>
          <p:cNvSpPr txBox="1"/>
          <p:nvPr/>
        </p:nvSpPr>
        <p:spPr>
          <a:xfrm>
            <a:off x="2683764" y="2651760"/>
            <a:ext cx="1723644" cy="384048"/>
          </a:xfrm>
          <a:prstGeom prst="rect">
            <a:avLst/>
          </a:prstGeom>
          <a:noFill/>
          <a:ln/>
        </p:spPr>
        <p:txBody>
          <a:bodyPr wrap="square" lIns="0" tIns="0" rIns="0" bIns="0" rtlCol="0" anchor="ctr"/>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02  趋势变化关系</a:t>
            </a:r>
            <a:endParaRPr lang="en-US" sz="1400" dirty="0"/>
          </a:p>
        </p:txBody>
      </p:sp>
      <p:sp>
        <p:nvSpPr>
          <p:cNvPr id="21" name="Text 17"/>
          <p:cNvSpPr txBox="1"/>
          <p:nvPr/>
        </p:nvSpPr>
        <p:spPr>
          <a:xfrm>
            <a:off x="2683764" y="3063240"/>
            <a:ext cx="1723644" cy="822960"/>
          </a:xfrm>
          <a:prstGeom prst="rect">
            <a:avLst/>
          </a:prstGeom>
          <a:noFill/>
          <a:ln/>
        </p:spPr>
        <p:txBody>
          <a:bodyPr wrap="square" lIns="0" tIns="0" rIns="0" bIns="0" rtlCol="0" anchor="t"/>
          <a:lstStyle/>
          <a:p>
            <a:pPr indent="0" marL="0">
              <a:lnSpc>
                <a:spcPct val="130000"/>
              </a:lnSpc>
              <a:buNone/>
            </a:pPr>
            <a:r>
              <a:rPr lang="en-US" sz="1050" dirty="0">
                <a:solidFill>
                  <a:srgbClr val="111111"/>
                </a:solidFill>
                <a:latin typeface="Microsoft YaHei" pitchFamily="34" charset="0"/>
                <a:ea typeface="Microsoft YaHei" pitchFamily="34" charset="-122"/>
                <a:cs typeface="Microsoft YaHei" pitchFamily="34" charset="-120"/>
              </a:rPr>
              <a:t>趋势变化分析是通过观察数据随时间的变化来预测未来发展方向。</a:t>
            </a:r>
            <a:endParaRPr lang="en-US" sz="1050" dirty="0"/>
          </a:p>
        </p:txBody>
      </p:sp>
      <p:sp>
        <p:nvSpPr>
          <p:cNvPr id="22" name="Text 18"/>
          <p:cNvSpPr txBox="1"/>
          <p:nvPr/>
        </p:nvSpPr>
        <p:spPr>
          <a:xfrm>
            <a:off x="2683764" y="3886200"/>
            <a:ext cx="1723644" cy="640080"/>
          </a:xfrm>
          <a:prstGeom prst="rect">
            <a:avLst/>
          </a:prstGeom>
          <a:noFill/>
          <a:ln/>
        </p:spPr>
        <p:txBody>
          <a:bodyPr wrap="square" lIns="0" tIns="0" rIns="0" bIns="0" rtlCol="0" anchor="t"/>
          <a:lstStyle/>
          <a:p>
            <a:pPr indent="0" marL="0">
              <a:lnSpc>
                <a:spcPct val="130000"/>
              </a:lnSpc>
              <a:buNone/>
            </a:pPr>
            <a:r>
              <a:rPr lang="en-US" sz="1050" b="1" dirty="0">
                <a:solidFill>
                  <a:srgbClr val="111111"/>
                </a:solidFill>
                <a:latin typeface="Microsoft YaHei" pitchFamily="34" charset="0"/>
                <a:ea typeface="Microsoft YaHei" pitchFamily="34" charset="-122"/>
                <a:cs typeface="Microsoft YaHei" pitchFamily="34" charset="-120"/>
              </a:rPr>
              <a:t>例如，通过分析过去几个月的用户留存率。</a:t>
            </a:r>
            <a:endParaRPr lang="en-US" sz="1050" dirty="0"/>
          </a:p>
        </p:txBody>
      </p:sp>
      <p:sp>
        <p:nvSpPr>
          <p:cNvPr id="23" name="Shape 19"/>
          <p:cNvSpPr/>
          <p:nvPr/>
        </p:nvSpPr>
        <p:spPr>
          <a:xfrm>
            <a:off x="4626864" y="1188720"/>
            <a:ext cx="1997964" cy="3383280"/>
          </a:xfrm>
          <a:prstGeom prst="roundRect">
            <a:avLst>
              <a:gd name="adj" fmla="val 4577"/>
            </a:avLst>
          </a:prstGeom>
          <a:solidFill>
            <a:srgbClr val="F4F4F4"/>
          </a:solidFill>
          <a:ln/>
        </p:spPr>
      </p:sp>
      <p:sp>
        <p:nvSpPr>
          <p:cNvPr id="24" name="Shape 20"/>
          <p:cNvSpPr/>
          <p:nvPr/>
        </p:nvSpPr>
        <p:spPr>
          <a:xfrm>
            <a:off x="4736592" y="1298448"/>
            <a:ext cx="1778508" cy="1234440"/>
          </a:xfrm>
          <a:prstGeom prst="roundRect">
            <a:avLst>
              <a:gd name="adj" fmla="val 7407"/>
            </a:avLst>
          </a:prstGeom>
          <a:solidFill>
            <a:srgbClr val="FFFFFF"/>
          </a:solidFill>
          <a:ln/>
        </p:spPr>
      </p:sp>
      <p:graphicFrame>
        <p:nvGraphicFramePr>
          <p:cNvPr id="25" name="Chart 2" descr=""/>
          <p:cNvGraphicFramePr/>
          <p:nvPr/>
        </p:nvGraphicFramePr>
        <p:xfrm>
          <a:off x="4782312" y="1325880"/>
          <a:ext cx="1687068" cy="1170432"/>
        </p:xfrm>
        <a:graphic xmlns:a="http://schemas.openxmlformats.org/drawingml/2006/main">
          <a:graphicData uri="http://schemas.openxmlformats.org/drawingml/2006/chart">
            <c:chart xmlns:c="http://schemas.openxmlformats.org/drawingml/2006/chart" r:id="rId3"/>
          </a:graphicData>
        </a:graphic>
      </p:graphicFrame>
      <p:sp>
        <p:nvSpPr>
          <p:cNvPr id="26" name="Text 21"/>
          <p:cNvSpPr txBox="1"/>
          <p:nvPr/>
        </p:nvSpPr>
        <p:spPr>
          <a:xfrm>
            <a:off x="4791456" y="2651760"/>
            <a:ext cx="1723644" cy="384048"/>
          </a:xfrm>
          <a:prstGeom prst="rect">
            <a:avLst/>
          </a:prstGeom>
          <a:noFill/>
          <a:ln/>
        </p:spPr>
        <p:txBody>
          <a:bodyPr wrap="square" lIns="0" tIns="0" rIns="0" bIns="0" rtlCol="0" anchor="ctr"/>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03  占比关系</a:t>
            </a:r>
            <a:endParaRPr lang="en-US" sz="1400" dirty="0"/>
          </a:p>
        </p:txBody>
      </p:sp>
      <p:sp>
        <p:nvSpPr>
          <p:cNvPr id="27" name="Text 22"/>
          <p:cNvSpPr txBox="1"/>
          <p:nvPr/>
        </p:nvSpPr>
        <p:spPr>
          <a:xfrm>
            <a:off x="4791456" y="3063240"/>
            <a:ext cx="1723644" cy="822960"/>
          </a:xfrm>
          <a:prstGeom prst="rect">
            <a:avLst/>
          </a:prstGeom>
          <a:noFill/>
          <a:ln/>
        </p:spPr>
        <p:txBody>
          <a:bodyPr wrap="square" lIns="0" tIns="0" rIns="0" bIns="0" rtlCol="0" anchor="t"/>
          <a:lstStyle/>
          <a:p>
            <a:pPr indent="0" marL="0">
              <a:lnSpc>
                <a:spcPct val="130000"/>
              </a:lnSpc>
              <a:buNone/>
            </a:pPr>
            <a:r>
              <a:rPr lang="en-US" sz="1050" dirty="0">
                <a:solidFill>
                  <a:srgbClr val="111111"/>
                </a:solidFill>
                <a:latin typeface="Microsoft YaHei" pitchFamily="34" charset="0"/>
                <a:ea typeface="Microsoft YaHei" pitchFamily="34" charset="-122"/>
                <a:cs typeface="Microsoft YaHei" pitchFamily="34" charset="-120"/>
              </a:rPr>
              <a:t>占比分析用于研究不同部分在整体中的比例关系。</a:t>
            </a:r>
            <a:endParaRPr lang="en-US" sz="1050" dirty="0"/>
          </a:p>
        </p:txBody>
      </p:sp>
      <p:sp>
        <p:nvSpPr>
          <p:cNvPr id="28" name="Text 23"/>
          <p:cNvSpPr txBox="1"/>
          <p:nvPr/>
        </p:nvSpPr>
        <p:spPr>
          <a:xfrm>
            <a:off x="4791456" y="3886200"/>
            <a:ext cx="1723644" cy="640080"/>
          </a:xfrm>
          <a:prstGeom prst="rect">
            <a:avLst/>
          </a:prstGeom>
          <a:noFill/>
          <a:ln/>
        </p:spPr>
        <p:txBody>
          <a:bodyPr wrap="square" lIns="0" tIns="0" rIns="0" bIns="0" rtlCol="0" anchor="t"/>
          <a:lstStyle/>
          <a:p>
            <a:pPr indent="0" marL="0">
              <a:lnSpc>
                <a:spcPct val="130000"/>
              </a:lnSpc>
              <a:buNone/>
            </a:pPr>
            <a:r>
              <a:rPr lang="en-US" sz="1050" b="1" dirty="0">
                <a:solidFill>
                  <a:srgbClr val="111111"/>
                </a:solidFill>
                <a:latin typeface="Microsoft YaHei" pitchFamily="34" charset="0"/>
                <a:ea typeface="Microsoft YaHei" pitchFamily="34" charset="-122"/>
                <a:cs typeface="Microsoft YaHei" pitchFamily="34" charset="-120"/>
              </a:rPr>
              <a:t>例如，产品的用户群体中，年轻用户占比高。</a:t>
            </a:r>
            <a:endParaRPr lang="en-US" sz="1050" dirty="0"/>
          </a:p>
        </p:txBody>
      </p:sp>
      <p:sp>
        <p:nvSpPr>
          <p:cNvPr id="29" name="Shape 24"/>
          <p:cNvSpPr/>
          <p:nvPr/>
        </p:nvSpPr>
        <p:spPr>
          <a:xfrm>
            <a:off x="6734556" y="1188720"/>
            <a:ext cx="1997964" cy="3383280"/>
          </a:xfrm>
          <a:prstGeom prst="roundRect">
            <a:avLst>
              <a:gd name="adj" fmla="val 4577"/>
            </a:avLst>
          </a:prstGeom>
          <a:solidFill>
            <a:srgbClr val="111111"/>
          </a:solidFill>
          <a:ln/>
        </p:spPr>
      </p:sp>
      <p:sp>
        <p:nvSpPr>
          <p:cNvPr id="30" name="Shape 25"/>
          <p:cNvSpPr/>
          <p:nvPr/>
        </p:nvSpPr>
        <p:spPr>
          <a:xfrm>
            <a:off x="6844284" y="1298448"/>
            <a:ext cx="1778508" cy="1234440"/>
          </a:xfrm>
          <a:prstGeom prst="roundRect">
            <a:avLst>
              <a:gd name="adj" fmla="val 7407"/>
            </a:avLst>
          </a:prstGeom>
          <a:solidFill>
            <a:srgbClr val="FFFFFF"/>
          </a:solidFill>
          <a:ln/>
        </p:spPr>
      </p:sp>
      <p:graphicFrame>
        <p:nvGraphicFramePr>
          <p:cNvPr id="31" name="Chart 3" descr=""/>
          <p:cNvGraphicFramePr/>
          <p:nvPr/>
        </p:nvGraphicFramePr>
        <p:xfrm>
          <a:off x="6890004" y="1325880"/>
          <a:ext cx="1687068" cy="1170432"/>
        </p:xfrm>
        <a:graphic xmlns:a="http://schemas.openxmlformats.org/drawingml/2006/main">
          <a:graphicData uri="http://schemas.openxmlformats.org/drawingml/2006/chart">
            <c:chart xmlns:c="http://schemas.openxmlformats.org/drawingml/2006/chart" r:id="rId4"/>
          </a:graphicData>
        </a:graphic>
      </p:graphicFrame>
      <p:sp>
        <p:nvSpPr>
          <p:cNvPr id="32" name="Text 26"/>
          <p:cNvSpPr txBox="1"/>
          <p:nvPr/>
        </p:nvSpPr>
        <p:spPr>
          <a:xfrm>
            <a:off x="6899148" y="2651760"/>
            <a:ext cx="1723644" cy="384048"/>
          </a:xfrm>
          <a:prstGeom prst="rect">
            <a:avLst/>
          </a:prstGeom>
          <a:noFill/>
          <a:ln/>
        </p:spPr>
        <p:txBody>
          <a:bodyPr wrap="square" lIns="0" tIns="0" rIns="0" bIns="0" rtlCol="0" anchor="ct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04  相关性关系</a:t>
            </a:r>
            <a:endParaRPr lang="en-US" sz="1400" dirty="0"/>
          </a:p>
        </p:txBody>
      </p:sp>
      <p:sp>
        <p:nvSpPr>
          <p:cNvPr id="33" name="Text 27"/>
          <p:cNvSpPr txBox="1"/>
          <p:nvPr/>
        </p:nvSpPr>
        <p:spPr>
          <a:xfrm>
            <a:off x="6899148" y="3063240"/>
            <a:ext cx="1723644" cy="822960"/>
          </a:xfrm>
          <a:prstGeom prst="rect">
            <a:avLst/>
          </a:prstGeom>
          <a:noFill/>
          <a:ln/>
        </p:spPr>
        <p:txBody>
          <a:bodyPr wrap="square" lIns="0" tIns="0" rIns="0" bIns="0" rtlCol="0" anchor="t"/>
          <a:lstStyle/>
          <a:p>
            <a:pPr indent="0" marL="0">
              <a:lnSpc>
                <a:spcPct val="130000"/>
              </a:lnSpc>
              <a:buNone/>
            </a:pPr>
            <a:r>
              <a:rPr lang="en-US" sz="1050" dirty="0">
                <a:solidFill>
                  <a:srgbClr val="FFFFFF"/>
                </a:solidFill>
                <a:latin typeface="Microsoft YaHei" pitchFamily="34" charset="0"/>
                <a:ea typeface="Microsoft YaHei" pitchFamily="34" charset="-122"/>
                <a:cs typeface="Microsoft YaHei" pitchFamily="34" charset="-120"/>
              </a:rPr>
              <a:t>相关性分析是研究两个或多个变量之间的关系。</a:t>
            </a:r>
            <a:endParaRPr lang="en-US" sz="1050" dirty="0"/>
          </a:p>
        </p:txBody>
      </p:sp>
      <p:sp>
        <p:nvSpPr>
          <p:cNvPr id="34" name="Text 28"/>
          <p:cNvSpPr txBox="1"/>
          <p:nvPr/>
        </p:nvSpPr>
        <p:spPr>
          <a:xfrm>
            <a:off x="6899148" y="3886200"/>
            <a:ext cx="1723644" cy="640080"/>
          </a:xfrm>
          <a:prstGeom prst="rect">
            <a:avLst/>
          </a:prstGeom>
          <a:noFill/>
          <a:ln/>
        </p:spPr>
        <p:txBody>
          <a:bodyPr wrap="square" lIns="0" tIns="0" rIns="0" bIns="0" rtlCol="0" anchor="t"/>
          <a:lstStyle/>
          <a:p>
            <a:pPr indent="0" marL="0">
              <a:lnSpc>
                <a:spcPct val="130000"/>
              </a:lnSpc>
              <a:buNone/>
            </a:pPr>
            <a:r>
              <a:rPr lang="en-US" sz="1050" b="1" dirty="0">
                <a:solidFill>
                  <a:srgbClr val="C9F5C0"/>
                </a:solidFill>
                <a:latin typeface="Microsoft YaHei" pitchFamily="34" charset="0"/>
                <a:ea typeface="Microsoft YaHei" pitchFamily="34" charset="-122"/>
                <a:cs typeface="Microsoft YaHei" pitchFamily="34" charset="-120"/>
              </a:rPr>
              <a:t>例如，界面易用性与用户粘性的正相关关系。</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05 调研中的数据分析法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B · 知觉图</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Perceptual Map</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35</a:t>
            </a:r>
            <a:endParaRPr lang="en-US" sz="750" dirty="0"/>
          </a:p>
        </p:txBody>
      </p:sp>
      <p:sp>
        <p:nvSpPr>
          <p:cNvPr id="11" name="Shape 9"/>
          <p:cNvSpPr/>
          <p:nvPr/>
        </p:nvSpPr>
        <p:spPr>
          <a:xfrm>
            <a:off x="411480" y="1188720"/>
            <a:ext cx="3474720" cy="3383280"/>
          </a:xfrm>
          <a:prstGeom prst="roundRect">
            <a:avLst>
              <a:gd name="adj" fmla="val 2703"/>
            </a:avLst>
          </a:prstGeom>
          <a:solidFill>
            <a:srgbClr val="F4F4F4"/>
          </a:solidFill>
          <a:ln/>
        </p:spPr>
      </p:sp>
      <p:sp>
        <p:nvSpPr>
          <p:cNvPr id="12" name="Shape 10"/>
          <p:cNvSpPr/>
          <p:nvPr/>
        </p:nvSpPr>
        <p:spPr>
          <a:xfrm>
            <a:off x="640080" y="2880360"/>
            <a:ext cx="3017520" cy="0"/>
          </a:xfrm>
          <a:prstGeom prst="line">
            <a:avLst/>
          </a:prstGeom>
          <a:noFill/>
          <a:ln w="15875">
            <a:solidFill>
              <a:srgbClr val="111111"/>
            </a:solidFill>
            <a:prstDash val="solid"/>
            <a:headEnd type="triangle"/>
            <a:tailEnd type="triangle"/>
          </a:ln>
        </p:spPr>
      </p:sp>
      <p:sp>
        <p:nvSpPr>
          <p:cNvPr id="13" name="Shape 11"/>
          <p:cNvSpPr/>
          <p:nvPr/>
        </p:nvSpPr>
        <p:spPr>
          <a:xfrm>
            <a:off x="2148840" y="1371600"/>
            <a:ext cx="0" cy="3017520"/>
          </a:xfrm>
          <a:prstGeom prst="line">
            <a:avLst/>
          </a:prstGeom>
          <a:noFill/>
          <a:ln w="15875">
            <a:solidFill>
              <a:srgbClr val="111111"/>
            </a:solidFill>
            <a:prstDash val="solid"/>
            <a:headEnd type="triangle"/>
            <a:tailEnd type="triangle"/>
          </a:ln>
        </p:spPr>
      </p:sp>
      <p:sp>
        <p:nvSpPr>
          <p:cNvPr id="14" name="Shape 12"/>
          <p:cNvSpPr/>
          <p:nvPr/>
        </p:nvSpPr>
        <p:spPr>
          <a:xfrm>
            <a:off x="914400" y="1737360"/>
            <a:ext cx="365760" cy="365760"/>
          </a:xfrm>
          <a:prstGeom prst="ellipse">
            <a:avLst/>
          </a:prstGeom>
          <a:solidFill>
            <a:srgbClr val="C9F5C0"/>
          </a:solidFill>
          <a:ln/>
        </p:spPr>
      </p:sp>
      <p:sp>
        <p:nvSpPr>
          <p:cNvPr id="15" name="Text 13"/>
          <p:cNvSpPr txBox="1"/>
          <p:nvPr/>
        </p:nvSpPr>
        <p:spPr>
          <a:xfrm>
            <a:off x="914400" y="1737360"/>
            <a:ext cx="365760" cy="365760"/>
          </a:xfrm>
          <a:prstGeom prst="rect">
            <a:avLst/>
          </a:prstGeom>
          <a:noFill/>
          <a:ln/>
        </p:spPr>
        <p:txBody>
          <a:bodyPr wrap="square" lIns="0" tIns="0" rIns="0" bIns="0" rtlCol="0" anchor="ctr"/>
          <a:lstStyle/>
          <a:p>
            <a:pPr algn="ctr" indent="0" marL="0">
              <a:buNone/>
            </a:pPr>
            <a:r>
              <a:rPr lang="en-US" sz="1000" b="1" dirty="0">
                <a:solidFill>
                  <a:srgbClr val="111111"/>
                </a:solidFill>
                <a:latin typeface="Arial" pitchFamily="34" charset="0"/>
                <a:ea typeface="Arial" pitchFamily="34" charset="-122"/>
                <a:cs typeface="Arial" pitchFamily="34" charset="-120"/>
              </a:rPr>
              <a:t>A</a:t>
            </a:r>
            <a:endParaRPr lang="en-US" sz="1000" dirty="0"/>
          </a:p>
        </p:txBody>
      </p:sp>
      <p:sp>
        <p:nvSpPr>
          <p:cNvPr id="16" name="Shape 14"/>
          <p:cNvSpPr/>
          <p:nvPr/>
        </p:nvSpPr>
        <p:spPr>
          <a:xfrm>
            <a:off x="2743200" y="1554480"/>
            <a:ext cx="365760" cy="365760"/>
          </a:xfrm>
          <a:prstGeom prst="ellipse">
            <a:avLst/>
          </a:prstGeom>
          <a:solidFill>
            <a:srgbClr val="111111"/>
          </a:solidFill>
          <a:ln/>
        </p:spPr>
      </p:sp>
      <p:sp>
        <p:nvSpPr>
          <p:cNvPr id="17" name="Text 15"/>
          <p:cNvSpPr txBox="1"/>
          <p:nvPr/>
        </p:nvSpPr>
        <p:spPr>
          <a:xfrm>
            <a:off x="2743200" y="1554480"/>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B</a:t>
            </a:r>
            <a:endParaRPr lang="en-US" sz="1000" dirty="0"/>
          </a:p>
        </p:txBody>
      </p:sp>
      <p:sp>
        <p:nvSpPr>
          <p:cNvPr id="18" name="Shape 16"/>
          <p:cNvSpPr/>
          <p:nvPr/>
        </p:nvSpPr>
        <p:spPr>
          <a:xfrm>
            <a:off x="2468880" y="3566160"/>
            <a:ext cx="365760" cy="365760"/>
          </a:xfrm>
          <a:prstGeom prst="ellipse">
            <a:avLst/>
          </a:prstGeom>
          <a:solidFill>
            <a:srgbClr val="C9F5C0"/>
          </a:solidFill>
          <a:ln/>
        </p:spPr>
      </p:sp>
      <p:sp>
        <p:nvSpPr>
          <p:cNvPr id="19" name="Text 17"/>
          <p:cNvSpPr txBox="1"/>
          <p:nvPr/>
        </p:nvSpPr>
        <p:spPr>
          <a:xfrm>
            <a:off x="2468880" y="3566160"/>
            <a:ext cx="365760" cy="365760"/>
          </a:xfrm>
          <a:prstGeom prst="rect">
            <a:avLst/>
          </a:prstGeom>
          <a:noFill/>
          <a:ln/>
        </p:spPr>
        <p:txBody>
          <a:bodyPr wrap="square" lIns="0" tIns="0" rIns="0" bIns="0" rtlCol="0" anchor="ctr"/>
          <a:lstStyle/>
          <a:p>
            <a:pPr algn="ctr" indent="0" marL="0">
              <a:buNone/>
            </a:pPr>
            <a:r>
              <a:rPr lang="en-US" sz="1000" b="1" dirty="0">
                <a:solidFill>
                  <a:srgbClr val="111111"/>
                </a:solidFill>
                <a:latin typeface="Arial" pitchFamily="34" charset="0"/>
                <a:ea typeface="Arial" pitchFamily="34" charset="-122"/>
                <a:cs typeface="Arial" pitchFamily="34" charset="-120"/>
              </a:rPr>
              <a:t>C</a:t>
            </a:r>
            <a:endParaRPr lang="en-US" sz="1000" dirty="0"/>
          </a:p>
        </p:txBody>
      </p:sp>
      <p:sp>
        <p:nvSpPr>
          <p:cNvPr id="20" name="Shape 18"/>
          <p:cNvSpPr/>
          <p:nvPr/>
        </p:nvSpPr>
        <p:spPr>
          <a:xfrm>
            <a:off x="1005840" y="3383280"/>
            <a:ext cx="365760" cy="365760"/>
          </a:xfrm>
          <a:prstGeom prst="ellipse">
            <a:avLst/>
          </a:prstGeom>
          <a:solidFill>
            <a:srgbClr val="111111"/>
          </a:solidFill>
          <a:ln/>
        </p:spPr>
      </p:sp>
      <p:sp>
        <p:nvSpPr>
          <p:cNvPr id="21" name="Text 19"/>
          <p:cNvSpPr txBox="1"/>
          <p:nvPr/>
        </p:nvSpPr>
        <p:spPr>
          <a:xfrm>
            <a:off x="1005840" y="3383280"/>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D</a:t>
            </a:r>
            <a:endParaRPr lang="en-US" sz="1000" dirty="0"/>
          </a:p>
        </p:txBody>
      </p:sp>
      <p:sp>
        <p:nvSpPr>
          <p:cNvPr id="22" name="Shape 20"/>
          <p:cNvSpPr/>
          <p:nvPr/>
        </p:nvSpPr>
        <p:spPr>
          <a:xfrm>
            <a:off x="1645920" y="2194560"/>
            <a:ext cx="365760" cy="365760"/>
          </a:xfrm>
          <a:prstGeom prst="ellipse">
            <a:avLst/>
          </a:prstGeom>
          <a:solidFill>
            <a:srgbClr val="111111"/>
          </a:solidFill>
          <a:ln/>
        </p:spPr>
      </p:sp>
      <p:sp>
        <p:nvSpPr>
          <p:cNvPr id="23" name="Text 21"/>
          <p:cNvSpPr txBox="1"/>
          <p:nvPr/>
        </p:nvSpPr>
        <p:spPr>
          <a:xfrm>
            <a:off x="1645920" y="2194560"/>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E</a:t>
            </a:r>
            <a:endParaRPr lang="en-US" sz="1000" dirty="0"/>
          </a:p>
        </p:txBody>
      </p:sp>
      <p:sp>
        <p:nvSpPr>
          <p:cNvPr id="24" name="Text 22"/>
          <p:cNvSpPr txBox="1"/>
          <p:nvPr/>
        </p:nvSpPr>
        <p:spPr>
          <a:xfrm>
            <a:off x="3063240" y="2926080"/>
            <a:ext cx="777240" cy="274320"/>
          </a:xfrm>
          <a:prstGeom prst="rect">
            <a:avLst/>
          </a:prstGeom>
          <a:noFill/>
          <a:ln/>
        </p:spPr>
        <p:txBody>
          <a:bodyPr wrap="square" lIns="0" tIns="0" rIns="0" bIns="0" rtlCol="0" anchor="t"/>
          <a:lstStyle/>
          <a:p>
            <a:pPr indent="0" marL="0">
              <a:buNone/>
            </a:pPr>
            <a:r>
              <a:rPr lang="en-US" sz="900" dirty="0">
                <a:solidFill>
                  <a:srgbClr val="6B6B6B"/>
                </a:solidFill>
                <a:latin typeface="Microsoft YaHei" pitchFamily="34" charset="0"/>
                <a:ea typeface="Microsoft YaHei" pitchFamily="34" charset="-122"/>
                <a:cs typeface="Microsoft YaHei" pitchFamily="34" charset="-120"/>
              </a:rPr>
              <a:t>维度 1</a:t>
            </a:r>
            <a:endParaRPr lang="en-US" sz="900" dirty="0"/>
          </a:p>
        </p:txBody>
      </p:sp>
      <p:sp>
        <p:nvSpPr>
          <p:cNvPr id="25" name="Text 23"/>
          <p:cNvSpPr txBox="1"/>
          <p:nvPr/>
        </p:nvSpPr>
        <p:spPr>
          <a:xfrm>
            <a:off x="2221992" y="1325880"/>
            <a:ext cx="777240" cy="274320"/>
          </a:xfrm>
          <a:prstGeom prst="rect">
            <a:avLst/>
          </a:prstGeom>
          <a:noFill/>
          <a:ln/>
        </p:spPr>
        <p:txBody>
          <a:bodyPr wrap="square" lIns="0" tIns="0" rIns="0" bIns="0" rtlCol="0" anchor="t"/>
          <a:lstStyle/>
          <a:p>
            <a:pPr indent="0" marL="0">
              <a:buNone/>
            </a:pPr>
            <a:r>
              <a:rPr lang="en-US" sz="900" dirty="0">
                <a:solidFill>
                  <a:srgbClr val="6B6B6B"/>
                </a:solidFill>
                <a:latin typeface="Microsoft YaHei" pitchFamily="34" charset="0"/>
                <a:ea typeface="Microsoft YaHei" pitchFamily="34" charset="-122"/>
                <a:cs typeface="Microsoft YaHei" pitchFamily="34" charset="-120"/>
              </a:rPr>
              <a:t>维度 2</a:t>
            </a:r>
            <a:endParaRPr lang="en-US" sz="900" dirty="0"/>
          </a:p>
        </p:txBody>
      </p:sp>
      <p:pic>
        <p:nvPicPr>
          <p:cNvPr id="26" name="Image 0" descr="p41_0">    </p:cNvPr>
          <p:cNvPicPr>
            <a:picLocks noChangeAspect="1"/>
          </p:cNvPicPr>
          <p:nvPr/>
        </p:nvPicPr>
        <p:blipFill>
          <a:blip r:embed="rId1"/>
          <a:stretch>
            <a:fillRect/>
          </a:stretch>
        </p:blipFill>
        <p:spPr>
          <a:xfrm>
            <a:off x="3995928" y="1301705"/>
            <a:ext cx="1463040" cy="1054190"/>
          </a:xfrm>
          <a:prstGeom prst="rect">
            <a:avLst/>
          </a:prstGeom>
        </p:spPr>
      </p:pic>
      <p:pic>
        <p:nvPicPr>
          <p:cNvPr id="27" name="Image 1" descr="p41_2">    </p:cNvPr>
          <p:cNvPicPr>
            <a:picLocks noChangeAspect="1"/>
          </p:cNvPicPr>
          <p:nvPr/>
        </p:nvPicPr>
        <p:blipFill>
          <a:blip r:embed="rId2"/>
          <a:stretch>
            <a:fillRect/>
          </a:stretch>
        </p:blipFill>
        <p:spPr>
          <a:xfrm>
            <a:off x="3995928" y="2578608"/>
            <a:ext cx="1463040" cy="1993392"/>
          </a:xfrm>
          <a:prstGeom prst="rect">
            <a:avLst/>
          </a:prstGeom>
        </p:spPr>
      </p:pic>
      <p:sp>
        <p:nvSpPr>
          <p:cNvPr id="28" name="Shape 24"/>
          <p:cNvSpPr/>
          <p:nvPr/>
        </p:nvSpPr>
        <p:spPr>
          <a:xfrm>
            <a:off x="5568696" y="1188720"/>
            <a:ext cx="3163824" cy="1636776"/>
          </a:xfrm>
          <a:prstGeom prst="roundRect">
            <a:avLst>
              <a:gd name="adj" fmla="val 5587"/>
            </a:avLst>
          </a:prstGeom>
          <a:solidFill>
            <a:srgbClr val="C9F5C0"/>
          </a:solidFill>
          <a:ln/>
        </p:spPr>
      </p:sp>
      <p:sp>
        <p:nvSpPr>
          <p:cNvPr id="29" name="Text 25"/>
          <p:cNvSpPr txBox="1"/>
          <p:nvPr/>
        </p:nvSpPr>
        <p:spPr>
          <a:xfrm>
            <a:off x="5797296" y="1353312"/>
            <a:ext cx="2752344" cy="384048"/>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知觉图的定义</a:t>
            </a:r>
            <a:endParaRPr lang="en-US" sz="1500" dirty="0"/>
          </a:p>
        </p:txBody>
      </p:sp>
      <p:sp>
        <p:nvSpPr>
          <p:cNvPr id="30" name="Text 26"/>
          <p:cNvSpPr txBox="1"/>
          <p:nvPr/>
        </p:nvSpPr>
        <p:spPr>
          <a:xfrm>
            <a:off x="5797296" y="1810512"/>
            <a:ext cx="2752344" cy="923544"/>
          </a:xfrm>
          <a:prstGeom prst="rect">
            <a:avLst/>
          </a:prstGeom>
          <a:noFill/>
          <a:ln/>
        </p:spPr>
        <p:txBody>
          <a:bodyPr wrap="square" lIns="0" tIns="0" rIns="0" bIns="0" rtlCol="0" anchor="t"/>
          <a:lstStyle/>
          <a:p>
            <a:pPr indent="0" marL="0">
              <a:lnSpc>
                <a:spcPct val="135000"/>
              </a:lnSpc>
              <a:spcAft>
                <a:spcPts val="500"/>
              </a:spcAft>
              <a:buNone/>
            </a:pPr>
            <a:r>
              <a:rPr lang="en-US" sz="1250" dirty="0">
                <a:solidFill>
                  <a:srgbClr val="111111"/>
                </a:solidFill>
                <a:latin typeface="Microsoft YaHei" pitchFamily="34" charset="0"/>
                <a:ea typeface="Microsoft YaHei" pitchFamily="34" charset="-122"/>
                <a:cs typeface="Microsoft YaHei" pitchFamily="34" charset="-120"/>
              </a:rPr>
              <a:t>知觉图是用于表示品牌或产品在消费者心目中的位置的工具。</a:t>
            </a:r>
            <a:endParaRPr lang="en-US" sz="1250" dirty="0"/>
          </a:p>
        </p:txBody>
      </p:sp>
      <p:sp>
        <p:nvSpPr>
          <p:cNvPr id="31" name="Shape 27"/>
          <p:cNvSpPr/>
          <p:nvPr/>
        </p:nvSpPr>
        <p:spPr>
          <a:xfrm>
            <a:off x="5568696" y="2935224"/>
            <a:ext cx="3163824" cy="1636776"/>
          </a:xfrm>
          <a:prstGeom prst="roundRect">
            <a:avLst>
              <a:gd name="adj" fmla="val 5587"/>
            </a:avLst>
          </a:prstGeom>
          <a:solidFill>
            <a:srgbClr val="111111"/>
          </a:solidFill>
          <a:ln/>
        </p:spPr>
      </p:sp>
      <p:sp>
        <p:nvSpPr>
          <p:cNvPr id="32" name="Text 28"/>
          <p:cNvSpPr txBox="1"/>
          <p:nvPr/>
        </p:nvSpPr>
        <p:spPr>
          <a:xfrm>
            <a:off x="5797296" y="3099816"/>
            <a:ext cx="2752344" cy="384048"/>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知觉图的应用</a:t>
            </a:r>
            <a:endParaRPr lang="en-US" sz="1500" dirty="0"/>
          </a:p>
        </p:txBody>
      </p:sp>
      <p:sp>
        <p:nvSpPr>
          <p:cNvPr id="33" name="Text 29"/>
          <p:cNvSpPr txBox="1"/>
          <p:nvPr/>
        </p:nvSpPr>
        <p:spPr>
          <a:xfrm>
            <a:off x="5797296" y="3557016"/>
            <a:ext cx="2752344" cy="923544"/>
          </a:xfrm>
          <a:prstGeom prst="rect">
            <a:avLst/>
          </a:prstGeom>
          <a:noFill/>
          <a:ln/>
        </p:spPr>
        <p:txBody>
          <a:bodyPr wrap="square" lIns="0" tIns="0" rIns="0" bIns="0" rtlCol="0" anchor="t"/>
          <a:lstStyle/>
          <a:p>
            <a:pPr indent="0" marL="0">
              <a:lnSpc>
                <a:spcPct val="135000"/>
              </a:lnSpc>
              <a:spcAft>
                <a:spcPts val="500"/>
              </a:spcAft>
              <a:buNone/>
            </a:pPr>
            <a:r>
              <a:rPr lang="en-US" sz="1250" dirty="0">
                <a:solidFill>
                  <a:srgbClr val="FFFFFF"/>
                </a:solidFill>
                <a:latin typeface="Microsoft YaHei" pitchFamily="34" charset="0"/>
                <a:ea typeface="Microsoft YaHei" pitchFamily="34" charset="-122"/>
                <a:cs typeface="Microsoft YaHei" pitchFamily="34" charset="-120"/>
              </a:rPr>
              <a:t>知觉图在设计调研中用于分析用户的品牌认知、产品偏好等。</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05 调研中的数据分析法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B · 鱼骨图</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Fishbone Diagram</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36</a:t>
            </a:r>
            <a:endParaRPr lang="en-US" sz="750" dirty="0"/>
          </a:p>
        </p:txBody>
      </p:sp>
      <p:sp>
        <p:nvSpPr>
          <p:cNvPr id="11" name="Shape 9"/>
          <p:cNvSpPr/>
          <p:nvPr/>
        </p:nvSpPr>
        <p:spPr>
          <a:xfrm>
            <a:off x="411480" y="1188720"/>
            <a:ext cx="5120640" cy="3383280"/>
          </a:xfrm>
          <a:prstGeom prst="roundRect">
            <a:avLst>
              <a:gd name="adj" fmla="val 2703"/>
            </a:avLst>
          </a:prstGeom>
          <a:solidFill>
            <a:srgbClr val="F4F4F4"/>
          </a:solidFill>
          <a:ln/>
        </p:spPr>
      </p:sp>
      <p:sp>
        <p:nvSpPr>
          <p:cNvPr id="12" name="Shape 10"/>
          <p:cNvSpPr/>
          <p:nvPr/>
        </p:nvSpPr>
        <p:spPr>
          <a:xfrm>
            <a:off x="685800" y="2880360"/>
            <a:ext cx="3611880" cy="0"/>
          </a:xfrm>
          <a:prstGeom prst="line">
            <a:avLst/>
          </a:prstGeom>
          <a:noFill/>
          <a:ln w="38100">
            <a:solidFill>
              <a:srgbClr val="111111"/>
            </a:solidFill>
            <a:prstDash val="solid"/>
            <a:tailEnd type="triangle"/>
          </a:ln>
        </p:spPr>
      </p:sp>
      <p:sp>
        <p:nvSpPr>
          <p:cNvPr id="13" name="Shape 11"/>
          <p:cNvSpPr/>
          <p:nvPr/>
        </p:nvSpPr>
        <p:spPr>
          <a:xfrm>
            <a:off x="4343400" y="2514600"/>
            <a:ext cx="1005840" cy="731520"/>
          </a:xfrm>
          <a:prstGeom prst="roundRect">
            <a:avLst>
              <a:gd name="adj" fmla="val 12500"/>
            </a:avLst>
          </a:prstGeom>
          <a:solidFill>
            <a:srgbClr val="111111"/>
          </a:solidFill>
          <a:ln/>
        </p:spPr>
      </p:sp>
      <p:sp>
        <p:nvSpPr>
          <p:cNvPr id="14" name="Text 12"/>
          <p:cNvSpPr txBox="1"/>
          <p:nvPr/>
        </p:nvSpPr>
        <p:spPr>
          <a:xfrm>
            <a:off x="4343400" y="2514600"/>
            <a:ext cx="1005840"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问题</a:t>
            </a:r>
            <a:endParaRPr lang="en-US" sz="1500" dirty="0"/>
          </a:p>
        </p:txBody>
      </p:sp>
      <p:sp>
        <p:nvSpPr>
          <p:cNvPr id="15" name="Shape 13"/>
          <p:cNvSpPr/>
          <p:nvPr/>
        </p:nvSpPr>
        <p:spPr>
          <a:xfrm flipV="1">
            <a:off x="1005840" y="1737360"/>
            <a:ext cx="731520" cy="1143000"/>
          </a:xfrm>
          <a:prstGeom prst="line">
            <a:avLst/>
          </a:prstGeom>
          <a:noFill/>
          <a:ln w="22225">
            <a:solidFill>
              <a:srgbClr val="111111"/>
            </a:solidFill>
            <a:prstDash val="solid"/>
          </a:ln>
        </p:spPr>
      </p:sp>
      <p:sp>
        <p:nvSpPr>
          <p:cNvPr id="16" name="Shape 14"/>
          <p:cNvSpPr/>
          <p:nvPr/>
        </p:nvSpPr>
        <p:spPr>
          <a:xfrm>
            <a:off x="594360" y="1353312"/>
            <a:ext cx="914400" cy="347472"/>
          </a:xfrm>
          <a:prstGeom prst="rect">
            <a:avLst/>
          </a:prstGeom>
          <a:solidFill>
            <a:srgbClr val="C9F5C0"/>
          </a:solidFill>
          <a:ln w="9525">
            <a:solidFill>
              <a:srgbClr val="D0D0D0"/>
            </a:solidFill>
            <a:prstDash val="solid"/>
          </a:ln>
        </p:spPr>
      </p:sp>
      <p:sp>
        <p:nvSpPr>
          <p:cNvPr id="17" name="Text 15"/>
          <p:cNvSpPr txBox="1"/>
          <p:nvPr/>
        </p:nvSpPr>
        <p:spPr>
          <a:xfrm>
            <a:off x="594360" y="1353312"/>
            <a:ext cx="914400" cy="347472"/>
          </a:xfrm>
          <a:prstGeom prst="rect">
            <a:avLst/>
          </a:prstGeom>
          <a:noFill/>
          <a:ln/>
        </p:spPr>
        <p:txBody>
          <a:bodyPr wrap="square" lIns="0" tIns="0" rIns="0" bIns="0" rtlCol="0" anchor="ctr"/>
          <a:lstStyle/>
          <a:p>
            <a:pPr algn="ctr" indent="0" marL="0">
              <a:buNone/>
            </a:pPr>
            <a:r>
              <a:rPr lang="en-US" sz="1050" b="1" dirty="0">
                <a:solidFill>
                  <a:srgbClr val="111111"/>
                </a:solidFill>
                <a:latin typeface="Microsoft YaHei" pitchFamily="34" charset="0"/>
                <a:ea typeface="Microsoft YaHei" pitchFamily="34" charset="-122"/>
                <a:cs typeface="Microsoft YaHei" pitchFamily="34" charset="-120"/>
              </a:rPr>
              <a:t>原因 1</a:t>
            </a:r>
            <a:endParaRPr lang="en-US" sz="1050" dirty="0"/>
          </a:p>
        </p:txBody>
      </p:sp>
      <p:sp>
        <p:nvSpPr>
          <p:cNvPr id="18" name="Shape 16"/>
          <p:cNvSpPr/>
          <p:nvPr/>
        </p:nvSpPr>
        <p:spPr>
          <a:xfrm>
            <a:off x="1005840" y="2880360"/>
            <a:ext cx="731520" cy="1143000"/>
          </a:xfrm>
          <a:prstGeom prst="line">
            <a:avLst/>
          </a:prstGeom>
          <a:noFill/>
          <a:ln w="22225">
            <a:solidFill>
              <a:srgbClr val="111111"/>
            </a:solidFill>
            <a:prstDash val="solid"/>
          </a:ln>
        </p:spPr>
      </p:sp>
      <p:sp>
        <p:nvSpPr>
          <p:cNvPr id="19" name="Shape 17"/>
          <p:cNvSpPr/>
          <p:nvPr/>
        </p:nvSpPr>
        <p:spPr>
          <a:xfrm>
            <a:off x="594360" y="4069080"/>
            <a:ext cx="914400" cy="347472"/>
          </a:xfrm>
          <a:prstGeom prst="rect">
            <a:avLst/>
          </a:prstGeom>
          <a:solidFill>
            <a:srgbClr val="FFFFFF"/>
          </a:solidFill>
          <a:ln w="9525">
            <a:solidFill>
              <a:srgbClr val="D0D0D0"/>
            </a:solidFill>
            <a:prstDash val="solid"/>
          </a:ln>
        </p:spPr>
      </p:sp>
      <p:sp>
        <p:nvSpPr>
          <p:cNvPr id="20" name="Text 18"/>
          <p:cNvSpPr txBox="1"/>
          <p:nvPr/>
        </p:nvSpPr>
        <p:spPr>
          <a:xfrm>
            <a:off x="594360" y="4069080"/>
            <a:ext cx="914400" cy="347472"/>
          </a:xfrm>
          <a:prstGeom prst="rect">
            <a:avLst/>
          </a:prstGeom>
          <a:noFill/>
          <a:ln/>
        </p:spPr>
        <p:txBody>
          <a:bodyPr wrap="square" lIns="0" tIns="0" rIns="0" bIns="0" rtlCol="0" anchor="ctr"/>
          <a:lstStyle/>
          <a:p>
            <a:pPr algn="ctr" indent="0" marL="0">
              <a:buNone/>
            </a:pPr>
            <a:r>
              <a:rPr lang="en-US" sz="1050" b="1" dirty="0">
                <a:solidFill>
                  <a:srgbClr val="111111"/>
                </a:solidFill>
                <a:latin typeface="Microsoft YaHei" pitchFamily="34" charset="0"/>
                <a:ea typeface="Microsoft YaHei" pitchFamily="34" charset="-122"/>
                <a:cs typeface="Microsoft YaHei" pitchFamily="34" charset="-120"/>
              </a:rPr>
              <a:t>原因 2</a:t>
            </a:r>
            <a:endParaRPr lang="en-US" sz="1050" dirty="0"/>
          </a:p>
        </p:txBody>
      </p:sp>
      <p:sp>
        <p:nvSpPr>
          <p:cNvPr id="21" name="Shape 19"/>
          <p:cNvSpPr/>
          <p:nvPr/>
        </p:nvSpPr>
        <p:spPr>
          <a:xfrm flipV="1">
            <a:off x="2377440" y="1737360"/>
            <a:ext cx="731520" cy="1143000"/>
          </a:xfrm>
          <a:prstGeom prst="line">
            <a:avLst/>
          </a:prstGeom>
          <a:noFill/>
          <a:ln w="22225">
            <a:solidFill>
              <a:srgbClr val="111111"/>
            </a:solidFill>
            <a:prstDash val="solid"/>
          </a:ln>
        </p:spPr>
      </p:sp>
      <p:sp>
        <p:nvSpPr>
          <p:cNvPr id="22" name="Shape 20"/>
          <p:cNvSpPr/>
          <p:nvPr/>
        </p:nvSpPr>
        <p:spPr>
          <a:xfrm>
            <a:off x="1965960" y="1353312"/>
            <a:ext cx="914400" cy="347472"/>
          </a:xfrm>
          <a:prstGeom prst="rect">
            <a:avLst/>
          </a:prstGeom>
          <a:solidFill>
            <a:srgbClr val="FFFFFF"/>
          </a:solidFill>
          <a:ln w="9525">
            <a:solidFill>
              <a:srgbClr val="D0D0D0"/>
            </a:solidFill>
            <a:prstDash val="solid"/>
          </a:ln>
        </p:spPr>
      </p:sp>
      <p:sp>
        <p:nvSpPr>
          <p:cNvPr id="23" name="Text 21"/>
          <p:cNvSpPr txBox="1"/>
          <p:nvPr/>
        </p:nvSpPr>
        <p:spPr>
          <a:xfrm>
            <a:off x="1965960" y="1353312"/>
            <a:ext cx="914400" cy="347472"/>
          </a:xfrm>
          <a:prstGeom prst="rect">
            <a:avLst/>
          </a:prstGeom>
          <a:noFill/>
          <a:ln/>
        </p:spPr>
        <p:txBody>
          <a:bodyPr wrap="square" lIns="0" tIns="0" rIns="0" bIns="0" rtlCol="0" anchor="ctr"/>
          <a:lstStyle/>
          <a:p>
            <a:pPr algn="ctr" indent="0" marL="0">
              <a:buNone/>
            </a:pPr>
            <a:r>
              <a:rPr lang="en-US" sz="1050" b="1" dirty="0">
                <a:solidFill>
                  <a:srgbClr val="111111"/>
                </a:solidFill>
                <a:latin typeface="Microsoft YaHei" pitchFamily="34" charset="0"/>
                <a:ea typeface="Microsoft YaHei" pitchFamily="34" charset="-122"/>
                <a:cs typeface="Microsoft YaHei" pitchFamily="34" charset="-120"/>
              </a:rPr>
              <a:t>原因 3</a:t>
            </a:r>
            <a:endParaRPr lang="en-US" sz="1050" dirty="0"/>
          </a:p>
        </p:txBody>
      </p:sp>
      <p:sp>
        <p:nvSpPr>
          <p:cNvPr id="24" name="Shape 22"/>
          <p:cNvSpPr/>
          <p:nvPr/>
        </p:nvSpPr>
        <p:spPr>
          <a:xfrm>
            <a:off x="2377440" y="2880360"/>
            <a:ext cx="731520" cy="1143000"/>
          </a:xfrm>
          <a:prstGeom prst="line">
            <a:avLst/>
          </a:prstGeom>
          <a:noFill/>
          <a:ln w="22225">
            <a:solidFill>
              <a:srgbClr val="111111"/>
            </a:solidFill>
            <a:prstDash val="solid"/>
          </a:ln>
        </p:spPr>
      </p:sp>
      <p:sp>
        <p:nvSpPr>
          <p:cNvPr id="25" name="Shape 23"/>
          <p:cNvSpPr/>
          <p:nvPr/>
        </p:nvSpPr>
        <p:spPr>
          <a:xfrm>
            <a:off x="1965960" y="4069080"/>
            <a:ext cx="914400" cy="347472"/>
          </a:xfrm>
          <a:prstGeom prst="rect">
            <a:avLst/>
          </a:prstGeom>
          <a:solidFill>
            <a:srgbClr val="FFFFFF"/>
          </a:solidFill>
          <a:ln w="9525">
            <a:solidFill>
              <a:srgbClr val="D0D0D0"/>
            </a:solidFill>
            <a:prstDash val="solid"/>
          </a:ln>
        </p:spPr>
      </p:sp>
      <p:sp>
        <p:nvSpPr>
          <p:cNvPr id="26" name="Text 24"/>
          <p:cNvSpPr txBox="1"/>
          <p:nvPr/>
        </p:nvSpPr>
        <p:spPr>
          <a:xfrm>
            <a:off x="1965960" y="4069080"/>
            <a:ext cx="914400" cy="347472"/>
          </a:xfrm>
          <a:prstGeom prst="rect">
            <a:avLst/>
          </a:prstGeom>
          <a:noFill/>
          <a:ln/>
        </p:spPr>
        <p:txBody>
          <a:bodyPr wrap="square" lIns="0" tIns="0" rIns="0" bIns="0" rtlCol="0" anchor="ctr"/>
          <a:lstStyle/>
          <a:p>
            <a:pPr algn="ctr" indent="0" marL="0">
              <a:buNone/>
            </a:pPr>
            <a:r>
              <a:rPr lang="en-US" sz="1050" b="1" dirty="0">
                <a:solidFill>
                  <a:srgbClr val="111111"/>
                </a:solidFill>
                <a:latin typeface="Microsoft YaHei" pitchFamily="34" charset="0"/>
                <a:ea typeface="Microsoft YaHei" pitchFamily="34" charset="-122"/>
                <a:cs typeface="Microsoft YaHei" pitchFamily="34" charset="-120"/>
              </a:rPr>
              <a:t>原因 4</a:t>
            </a:r>
            <a:endParaRPr lang="en-US" sz="1050" dirty="0"/>
          </a:p>
        </p:txBody>
      </p:sp>
      <p:sp>
        <p:nvSpPr>
          <p:cNvPr id="27" name="Shape 25"/>
          <p:cNvSpPr/>
          <p:nvPr/>
        </p:nvSpPr>
        <p:spPr>
          <a:xfrm>
            <a:off x="5641848" y="1188720"/>
            <a:ext cx="3090672" cy="1636776"/>
          </a:xfrm>
          <a:prstGeom prst="roundRect">
            <a:avLst>
              <a:gd name="adj" fmla="val 5587"/>
            </a:avLst>
          </a:prstGeom>
          <a:solidFill>
            <a:srgbClr val="C9F5C0"/>
          </a:solidFill>
          <a:ln/>
        </p:spPr>
      </p:sp>
      <p:sp>
        <p:nvSpPr>
          <p:cNvPr id="28" name="Text 26"/>
          <p:cNvSpPr txBox="1"/>
          <p:nvPr/>
        </p:nvSpPr>
        <p:spPr>
          <a:xfrm>
            <a:off x="5870448" y="1353312"/>
            <a:ext cx="914400" cy="411480"/>
          </a:xfrm>
          <a:prstGeom prst="rect">
            <a:avLst/>
          </a:prstGeom>
          <a:noFill/>
          <a:ln/>
        </p:spPr>
        <p:txBody>
          <a:bodyPr wrap="square" lIns="0" tIns="0" rIns="0" bIns="0" rtlCol="0" anchor="t"/>
          <a:lstStyle/>
          <a:p>
            <a:pPr indent="0" marL="0">
              <a:buNone/>
            </a:pPr>
            <a:r>
              <a:rPr lang="en-US" sz="1400" b="1" dirty="0">
                <a:solidFill>
                  <a:srgbClr val="111111"/>
                </a:solidFill>
                <a:latin typeface="Arial" pitchFamily="34" charset="0"/>
                <a:ea typeface="Arial" pitchFamily="34" charset="-122"/>
                <a:cs typeface="Arial" pitchFamily="34" charset="-120"/>
              </a:rPr>
              <a:t>01</a:t>
            </a:r>
            <a:endParaRPr lang="en-US" sz="1400" dirty="0"/>
          </a:p>
        </p:txBody>
      </p:sp>
      <p:sp>
        <p:nvSpPr>
          <p:cNvPr id="29" name="Text 27"/>
          <p:cNvSpPr txBox="1"/>
          <p:nvPr/>
        </p:nvSpPr>
        <p:spPr>
          <a:xfrm>
            <a:off x="5870448" y="1673352"/>
            <a:ext cx="2679192" cy="384048"/>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鱼骨图的定义</a:t>
            </a:r>
            <a:endParaRPr lang="en-US" sz="1500" dirty="0"/>
          </a:p>
        </p:txBody>
      </p:sp>
      <p:sp>
        <p:nvSpPr>
          <p:cNvPr id="30" name="Text 28"/>
          <p:cNvSpPr txBox="1"/>
          <p:nvPr/>
        </p:nvSpPr>
        <p:spPr>
          <a:xfrm>
            <a:off x="5870448" y="2130552"/>
            <a:ext cx="2679192" cy="603504"/>
          </a:xfrm>
          <a:prstGeom prst="rect">
            <a:avLst/>
          </a:prstGeom>
          <a:noFill/>
          <a:ln/>
        </p:spPr>
        <p:txBody>
          <a:bodyPr wrap="square" lIns="0" tIns="0" rIns="0" bIns="0" rtlCol="0" anchor="t"/>
          <a:lstStyle/>
          <a:p>
            <a:pPr indent="0" marL="0">
              <a:lnSpc>
                <a:spcPct val="135000"/>
              </a:lnSpc>
              <a:spcAft>
                <a:spcPts val="500"/>
              </a:spcAft>
              <a:buNone/>
            </a:pPr>
            <a:r>
              <a:rPr lang="en-US" sz="1250" dirty="0">
                <a:solidFill>
                  <a:srgbClr val="111111"/>
                </a:solidFill>
                <a:latin typeface="Microsoft YaHei" pitchFamily="34" charset="0"/>
                <a:ea typeface="Microsoft YaHei" pitchFamily="34" charset="-122"/>
                <a:cs typeface="Microsoft YaHei" pitchFamily="34" charset="-120"/>
              </a:rPr>
              <a:t>鱼骨图，也称因果图，用于分析问题的根本原因。</a:t>
            </a:r>
            <a:endParaRPr lang="en-US" sz="1250" dirty="0"/>
          </a:p>
        </p:txBody>
      </p:sp>
      <p:sp>
        <p:nvSpPr>
          <p:cNvPr id="31" name="Shape 29"/>
          <p:cNvSpPr/>
          <p:nvPr/>
        </p:nvSpPr>
        <p:spPr>
          <a:xfrm>
            <a:off x="5641848" y="2935224"/>
            <a:ext cx="3090672" cy="1636776"/>
          </a:xfrm>
          <a:prstGeom prst="roundRect">
            <a:avLst>
              <a:gd name="adj" fmla="val 5587"/>
            </a:avLst>
          </a:prstGeom>
          <a:solidFill>
            <a:srgbClr val="111111"/>
          </a:solidFill>
          <a:ln/>
        </p:spPr>
      </p:sp>
      <p:sp>
        <p:nvSpPr>
          <p:cNvPr id="32" name="Text 30"/>
          <p:cNvSpPr txBox="1"/>
          <p:nvPr/>
        </p:nvSpPr>
        <p:spPr>
          <a:xfrm>
            <a:off x="5870448" y="3099816"/>
            <a:ext cx="914400" cy="411480"/>
          </a:xfrm>
          <a:prstGeom prst="rect">
            <a:avLst/>
          </a:prstGeom>
          <a:noFill/>
          <a:ln/>
        </p:spPr>
        <p:txBody>
          <a:bodyPr wrap="square" lIns="0" tIns="0" rIns="0" bIns="0" rtlCol="0" anchor="t"/>
          <a:lstStyle/>
          <a:p>
            <a:pPr indent="0" marL="0">
              <a:buNone/>
            </a:pPr>
            <a:r>
              <a:rPr lang="en-US" sz="1400" b="1" dirty="0">
                <a:solidFill>
                  <a:srgbClr val="C9F5C0"/>
                </a:solidFill>
                <a:latin typeface="Arial" pitchFamily="34" charset="0"/>
                <a:ea typeface="Arial" pitchFamily="34" charset="-122"/>
                <a:cs typeface="Arial" pitchFamily="34" charset="-120"/>
              </a:rPr>
              <a:t>02</a:t>
            </a:r>
            <a:endParaRPr lang="en-US" sz="1400" dirty="0"/>
          </a:p>
        </p:txBody>
      </p:sp>
      <p:sp>
        <p:nvSpPr>
          <p:cNvPr id="33" name="Text 31"/>
          <p:cNvSpPr txBox="1"/>
          <p:nvPr/>
        </p:nvSpPr>
        <p:spPr>
          <a:xfrm>
            <a:off x="5870448" y="3419856"/>
            <a:ext cx="2679192" cy="384048"/>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鱼骨图的应用</a:t>
            </a:r>
            <a:endParaRPr lang="en-US" sz="1500" dirty="0"/>
          </a:p>
        </p:txBody>
      </p:sp>
      <p:sp>
        <p:nvSpPr>
          <p:cNvPr id="34" name="Text 32"/>
          <p:cNvSpPr txBox="1"/>
          <p:nvPr/>
        </p:nvSpPr>
        <p:spPr>
          <a:xfrm>
            <a:off x="5870448" y="3877056"/>
            <a:ext cx="2679192" cy="603504"/>
          </a:xfrm>
          <a:prstGeom prst="rect">
            <a:avLst/>
          </a:prstGeom>
          <a:noFill/>
          <a:ln/>
        </p:spPr>
        <p:txBody>
          <a:bodyPr wrap="square" lIns="0" tIns="0" rIns="0" bIns="0" rtlCol="0" anchor="t"/>
          <a:lstStyle/>
          <a:p>
            <a:pPr indent="0" marL="0">
              <a:lnSpc>
                <a:spcPct val="135000"/>
              </a:lnSpc>
              <a:spcAft>
                <a:spcPts val="500"/>
              </a:spcAft>
              <a:buNone/>
            </a:pPr>
            <a:r>
              <a:rPr lang="en-US" sz="1250" dirty="0">
                <a:solidFill>
                  <a:srgbClr val="FFFFFF"/>
                </a:solidFill>
                <a:latin typeface="Microsoft YaHei" pitchFamily="34" charset="0"/>
                <a:ea typeface="Microsoft YaHei" pitchFamily="34" charset="-122"/>
                <a:cs typeface="Microsoft YaHei" pitchFamily="34" charset="-120"/>
              </a:rPr>
              <a:t>鱼骨图在用户研究中用于发现产品设计中的潜在问题。</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05 调研中的数据分析法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C · 什么是卡片法</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Card Sorting</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37</a:t>
            </a:r>
            <a:endParaRPr lang="en-US" sz="750" dirty="0"/>
          </a:p>
        </p:txBody>
      </p:sp>
      <p:sp>
        <p:nvSpPr>
          <p:cNvPr id="11" name="Shape 9"/>
          <p:cNvSpPr/>
          <p:nvPr/>
        </p:nvSpPr>
        <p:spPr>
          <a:xfrm>
            <a:off x="3538728" y="1188720"/>
            <a:ext cx="5193792" cy="1636776"/>
          </a:xfrm>
          <a:prstGeom prst="roundRect">
            <a:avLst>
              <a:gd name="adj" fmla="val 5587"/>
            </a:avLst>
          </a:prstGeom>
          <a:solidFill>
            <a:srgbClr val="C9F5C0"/>
          </a:solidFill>
          <a:ln/>
        </p:spPr>
      </p:sp>
      <p:sp>
        <p:nvSpPr>
          <p:cNvPr id="12" name="Text 10"/>
          <p:cNvSpPr txBox="1"/>
          <p:nvPr/>
        </p:nvSpPr>
        <p:spPr>
          <a:xfrm>
            <a:off x="3767328" y="1353312"/>
            <a:ext cx="914400" cy="411480"/>
          </a:xfrm>
          <a:prstGeom prst="rect">
            <a:avLst/>
          </a:prstGeom>
          <a:noFill/>
          <a:ln/>
        </p:spPr>
        <p:txBody>
          <a:bodyPr wrap="square" lIns="0" tIns="0" rIns="0" bIns="0" rtlCol="0" anchor="t"/>
          <a:lstStyle/>
          <a:p>
            <a:pPr indent="0" marL="0">
              <a:buNone/>
            </a:pPr>
            <a:r>
              <a:rPr lang="en-US" sz="1400" b="1" dirty="0">
                <a:solidFill>
                  <a:srgbClr val="111111"/>
                </a:solidFill>
                <a:latin typeface="Arial" pitchFamily="34" charset="0"/>
                <a:ea typeface="Arial" pitchFamily="34" charset="-122"/>
                <a:cs typeface="Arial" pitchFamily="34" charset="-120"/>
              </a:rPr>
              <a:t>01</a:t>
            </a:r>
            <a:endParaRPr lang="en-US" sz="1400" dirty="0"/>
          </a:p>
        </p:txBody>
      </p:sp>
      <p:sp>
        <p:nvSpPr>
          <p:cNvPr id="13" name="Text 11"/>
          <p:cNvSpPr txBox="1"/>
          <p:nvPr/>
        </p:nvSpPr>
        <p:spPr>
          <a:xfrm>
            <a:off x="3767328" y="1673352"/>
            <a:ext cx="4782312" cy="384048"/>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卡片法的概念</a:t>
            </a:r>
            <a:endParaRPr lang="en-US" sz="1600" dirty="0"/>
          </a:p>
        </p:txBody>
      </p:sp>
      <p:sp>
        <p:nvSpPr>
          <p:cNvPr id="14" name="Text 12"/>
          <p:cNvSpPr txBox="1"/>
          <p:nvPr/>
        </p:nvSpPr>
        <p:spPr>
          <a:xfrm>
            <a:off x="3767328" y="2130552"/>
            <a:ext cx="4782312" cy="603504"/>
          </a:xfrm>
          <a:prstGeom prst="rect">
            <a:avLst/>
          </a:prstGeom>
          <a:noFill/>
          <a:ln/>
        </p:spPr>
        <p:txBody>
          <a:bodyPr wrap="square" lIns="0" tIns="0" rIns="0" bIns="0" rtlCol="0" anchor="t"/>
          <a:lstStyle/>
          <a:p>
            <a:pPr indent="0" marL="0">
              <a:lnSpc>
                <a:spcPct val="135000"/>
              </a:lnSpc>
              <a:spcAft>
                <a:spcPts val="500"/>
              </a:spcAft>
              <a:buNone/>
            </a:pPr>
            <a:r>
              <a:rPr lang="en-US" sz="1400" dirty="0">
                <a:solidFill>
                  <a:srgbClr val="111111"/>
                </a:solidFill>
                <a:latin typeface="Microsoft YaHei" pitchFamily="34" charset="0"/>
                <a:ea typeface="Microsoft YaHei" pitchFamily="34" charset="-122"/>
                <a:cs typeface="Microsoft YaHei" pitchFamily="34" charset="-120"/>
              </a:rPr>
              <a:t>卡片分类法是一种用户研究方法，通过让用户对信息卡片进行分类。</a:t>
            </a:r>
            <a:endParaRPr lang="en-US" sz="1400" dirty="0"/>
          </a:p>
        </p:txBody>
      </p:sp>
      <p:sp>
        <p:nvSpPr>
          <p:cNvPr id="15" name="Shape 13"/>
          <p:cNvSpPr/>
          <p:nvPr/>
        </p:nvSpPr>
        <p:spPr>
          <a:xfrm>
            <a:off x="3538728" y="2935224"/>
            <a:ext cx="5193792" cy="1636776"/>
          </a:xfrm>
          <a:prstGeom prst="roundRect">
            <a:avLst>
              <a:gd name="adj" fmla="val 5587"/>
            </a:avLst>
          </a:prstGeom>
          <a:solidFill>
            <a:srgbClr val="F4F4F4"/>
          </a:solidFill>
          <a:ln/>
        </p:spPr>
      </p:sp>
      <p:sp>
        <p:nvSpPr>
          <p:cNvPr id="16" name="Text 14"/>
          <p:cNvSpPr txBox="1"/>
          <p:nvPr/>
        </p:nvSpPr>
        <p:spPr>
          <a:xfrm>
            <a:off x="3767328" y="3099816"/>
            <a:ext cx="914400" cy="411480"/>
          </a:xfrm>
          <a:prstGeom prst="rect">
            <a:avLst/>
          </a:prstGeom>
          <a:noFill/>
          <a:ln/>
        </p:spPr>
        <p:txBody>
          <a:bodyPr wrap="square" lIns="0" tIns="0" rIns="0" bIns="0" rtlCol="0" anchor="t"/>
          <a:lstStyle/>
          <a:p>
            <a:pPr indent="0" marL="0">
              <a:buNone/>
            </a:pPr>
            <a:r>
              <a:rPr lang="en-US" sz="1400" b="1" dirty="0">
                <a:solidFill>
                  <a:srgbClr val="111111"/>
                </a:solidFill>
                <a:latin typeface="Arial" pitchFamily="34" charset="0"/>
                <a:ea typeface="Arial" pitchFamily="34" charset="-122"/>
                <a:cs typeface="Arial" pitchFamily="34" charset="-120"/>
              </a:rPr>
              <a:t>02</a:t>
            </a:r>
            <a:endParaRPr lang="en-US" sz="1400" dirty="0"/>
          </a:p>
        </p:txBody>
      </p:sp>
      <p:sp>
        <p:nvSpPr>
          <p:cNvPr id="17" name="Text 15"/>
          <p:cNvSpPr txBox="1"/>
          <p:nvPr/>
        </p:nvSpPr>
        <p:spPr>
          <a:xfrm>
            <a:off x="3767328" y="3419856"/>
            <a:ext cx="4782312" cy="384048"/>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卡片法的目的</a:t>
            </a:r>
            <a:endParaRPr lang="en-US" sz="1600" dirty="0"/>
          </a:p>
        </p:txBody>
      </p:sp>
      <p:sp>
        <p:nvSpPr>
          <p:cNvPr id="18" name="Text 16"/>
          <p:cNvSpPr txBox="1"/>
          <p:nvPr/>
        </p:nvSpPr>
        <p:spPr>
          <a:xfrm>
            <a:off x="3767328" y="3877056"/>
            <a:ext cx="4782312" cy="603504"/>
          </a:xfrm>
          <a:prstGeom prst="rect">
            <a:avLst/>
          </a:prstGeom>
          <a:noFill/>
          <a:ln/>
        </p:spPr>
        <p:txBody>
          <a:bodyPr wrap="square" lIns="0" tIns="0" rIns="0" bIns="0" rtlCol="0" anchor="t"/>
          <a:lstStyle/>
          <a:p>
            <a:pPr indent="0" marL="0">
              <a:lnSpc>
                <a:spcPct val="135000"/>
              </a:lnSpc>
              <a:spcAft>
                <a:spcPts val="500"/>
              </a:spcAft>
              <a:buNone/>
            </a:pPr>
            <a:r>
              <a:rPr lang="en-US" sz="1400" dirty="0">
                <a:solidFill>
                  <a:srgbClr val="111111"/>
                </a:solidFill>
                <a:latin typeface="Microsoft YaHei" pitchFamily="34" charset="0"/>
                <a:ea typeface="Microsoft YaHei" pitchFamily="34" charset="-122"/>
                <a:cs typeface="Microsoft YaHei" pitchFamily="34" charset="-120"/>
              </a:rPr>
              <a:t>帮助设计团队理解用户的思维逻辑和信息组织方式。</a:t>
            </a:r>
            <a:endParaRPr lang="en-US" sz="1400" dirty="0"/>
          </a:p>
        </p:txBody>
      </p:sp>
      <p:pic>
        <p:nvPicPr>
          <p:cNvPr id="19" name="Image 0" descr="p44_0">    </p:cNvPr>
          <p:cNvPicPr>
            <a:picLocks noChangeAspect="1"/>
          </p:cNvPicPr>
          <p:nvPr/>
        </p:nvPicPr>
        <p:blipFill>
          <a:blip r:embed="rId1"/>
          <a:stretch>
            <a:fillRect/>
          </a:stretch>
        </p:blipFill>
        <p:spPr>
          <a:xfrm>
            <a:off x="411480" y="1188720"/>
            <a:ext cx="3017520" cy="1636776"/>
          </a:xfrm>
          <a:prstGeom prst="rect">
            <a:avLst/>
          </a:prstGeom>
        </p:spPr>
      </p:pic>
      <p:pic>
        <p:nvPicPr>
          <p:cNvPr id="20" name="Image 1" descr="p44_3">    </p:cNvPr>
          <p:cNvPicPr>
            <a:picLocks noChangeAspect="1"/>
          </p:cNvPicPr>
          <p:nvPr/>
        </p:nvPicPr>
        <p:blipFill>
          <a:blip r:embed="rId2"/>
          <a:stretch>
            <a:fillRect/>
          </a:stretch>
        </p:blipFill>
        <p:spPr>
          <a:xfrm>
            <a:off x="411480" y="2935224"/>
            <a:ext cx="3017520" cy="1636776"/>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05 调研中的数据分析法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C · 不同类型的卡片分类法</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Open vs Closed Card Sorting</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38</a:t>
            </a:r>
            <a:endParaRPr lang="en-US" sz="750" dirty="0"/>
          </a:p>
        </p:txBody>
      </p:sp>
      <p:sp>
        <p:nvSpPr>
          <p:cNvPr id="11" name="Shape 9"/>
          <p:cNvSpPr/>
          <p:nvPr/>
        </p:nvSpPr>
        <p:spPr>
          <a:xfrm>
            <a:off x="411480" y="1188720"/>
            <a:ext cx="5193792" cy="1636776"/>
          </a:xfrm>
          <a:prstGeom prst="roundRect">
            <a:avLst>
              <a:gd name="adj" fmla="val 5587"/>
            </a:avLst>
          </a:prstGeom>
          <a:solidFill>
            <a:srgbClr val="C9F5C0"/>
          </a:solidFill>
          <a:ln/>
        </p:spPr>
      </p:sp>
      <p:sp>
        <p:nvSpPr>
          <p:cNvPr id="12" name="Text 10"/>
          <p:cNvSpPr txBox="1"/>
          <p:nvPr/>
        </p:nvSpPr>
        <p:spPr>
          <a:xfrm>
            <a:off x="640080" y="1353312"/>
            <a:ext cx="914400" cy="411480"/>
          </a:xfrm>
          <a:prstGeom prst="rect">
            <a:avLst/>
          </a:prstGeom>
          <a:noFill/>
          <a:ln/>
        </p:spPr>
        <p:txBody>
          <a:bodyPr wrap="square" lIns="0" tIns="0" rIns="0" bIns="0" rtlCol="0" anchor="t"/>
          <a:lstStyle/>
          <a:p>
            <a:pPr indent="0" marL="0">
              <a:buNone/>
            </a:pPr>
            <a:r>
              <a:rPr lang="en-US" sz="1400" b="1" dirty="0">
                <a:solidFill>
                  <a:srgbClr val="111111"/>
                </a:solidFill>
                <a:latin typeface="Arial" pitchFamily="34" charset="0"/>
                <a:ea typeface="Arial" pitchFamily="34" charset="-122"/>
                <a:cs typeface="Arial" pitchFamily="34" charset="-120"/>
              </a:rPr>
              <a:t>01</a:t>
            </a:r>
            <a:endParaRPr lang="en-US" sz="1400" dirty="0"/>
          </a:p>
        </p:txBody>
      </p:sp>
      <p:sp>
        <p:nvSpPr>
          <p:cNvPr id="13" name="Text 11"/>
          <p:cNvSpPr txBox="1"/>
          <p:nvPr/>
        </p:nvSpPr>
        <p:spPr>
          <a:xfrm>
            <a:off x="640080" y="1673352"/>
            <a:ext cx="4782312" cy="384048"/>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开放式卡片分类法</a:t>
            </a:r>
            <a:endParaRPr lang="en-US" sz="1600" dirty="0"/>
          </a:p>
        </p:txBody>
      </p:sp>
      <p:sp>
        <p:nvSpPr>
          <p:cNvPr id="14" name="Text 12"/>
          <p:cNvSpPr txBox="1"/>
          <p:nvPr/>
        </p:nvSpPr>
        <p:spPr>
          <a:xfrm>
            <a:off x="640080" y="2130552"/>
            <a:ext cx="4782312" cy="603504"/>
          </a:xfrm>
          <a:prstGeom prst="rect">
            <a:avLst/>
          </a:prstGeom>
          <a:noFill/>
          <a:ln/>
        </p:spPr>
        <p:txBody>
          <a:bodyPr wrap="square" lIns="0" tIns="0" rIns="0" bIns="0" rtlCol="0" anchor="t"/>
          <a:lstStyle/>
          <a:p>
            <a:pPr indent="0" marL="0">
              <a:lnSpc>
                <a:spcPct val="135000"/>
              </a:lnSpc>
              <a:spcAft>
                <a:spcPts val="500"/>
              </a:spcAft>
              <a:buNone/>
            </a:pPr>
            <a:r>
              <a:rPr lang="en-US" sz="1500" dirty="0">
                <a:solidFill>
                  <a:srgbClr val="111111"/>
                </a:solidFill>
                <a:latin typeface="Microsoft YaHei" pitchFamily="34" charset="0"/>
                <a:ea typeface="Microsoft YaHei" pitchFamily="34" charset="-122"/>
                <a:cs typeface="Microsoft YaHei" pitchFamily="34" charset="-120"/>
              </a:rPr>
              <a:t>开放式卡片分类让用户自由创建分类标签。</a:t>
            </a:r>
            <a:endParaRPr lang="en-US" sz="1500" dirty="0"/>
          </a:p>
        </p:txBody>
      </p:sp>
      <p:sp>
        <p:nvSpPr>
          <p:cNvPr id="15" name="Shape 13"/>
          <p:cNvSpPr/>
          <p:nvPr/>
        </p:nvSpPr>
        <p:spPr>
          <a:xfrm>
            <a:off x="411480" y="2935224"/>
            <a:ext cx="5193792" cy="1636776"/>
          </a:xfrm>
          <a:prstGeom prst="roundRect">
            <a:avLst>
              <a:gd name="adj" fmla="val 5587"/>
            </a:avLst>
          </a:prstGeom>
          <a:solidFill>
            <a:srgbClr val="111111"/>
          </a:solidFill>
          <a:ln/>
        </p:spPr>
      </p:sp>
      <p:sp>
        <p:nvSpPr>
          <p:cNvPr id="16" name="Text 14"/>
          <p:cNvSpPr txBox="1"/>
          <p:nvPr/>
        </p:nvSpPr>
        <p:spPr>
          <a:xfrm>
            <a:off x="640080" y="3099816"/>
            <a:ext cx="914400" cy="411480"/>
          </a:xfrm>
          <a:prstGeom prst="rect">
            <a:avLst/>
          </a:prstGeom>
          <a:noFill/>
          <a:ln/>
        </p:spPr>
        <p:txBody>
          <a:bodyPr wrap="square" lIns="0" tIns="0" rIns="0" bIns="0" rtlCol="0" anchor="t"/>
          <a:lstStyle/>
          <a:p>
            <a:pPr indent="0" marL="0">
              <a:buNone/>
            </a:pPr>
            <a:r>
              <a:rPr lang="en-US" sz="1400" b="1" dirty="0">
                <a:solidFill>
                  <a:srgbClr val="C9F5C0"/>
                </a:solidFill>
                <a:latin typeface="Arial" pitchFamily="34" charset="0"/>
                <a:ea typeface="Arial" pitchFamily="34" charset="-122"/>
                <a:cs typeface="Arial" pitchFamily="34" charset="-120"/>
              </a:rPr>
              <a:t>02</a:t>
            </a:r>
            <a:endParaRPr lang="en-US" sz="1400" dirty="0"/>
          </a:p>
        </p:txBody>
      </p:sp>
      <p:sp>
        <p:nvSpPr>
          <p:cNvPr id="17" name="Text 15"/>
          <p:cNvSpPr txBox="1"/>
          <p:nvPr/>
        </p:nvSpPr>
        <p:spPr>
          <a:xfrm>
            <a:off x="640080" y="3419856"/>
            <a:ext cx="4782312" cy="384048"/>
          </a:xfrm>
          <a:prstGeom prst="rect">
            <a:avLst/>
          </a:prstGeom>
          <a:noFill/>
          <a:ln/>
        </p:spPr>
        <p:txBody>
          <a:bodyPr wrap="square" lIns="0" tIns="0" rIns="0" bIns="0"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封闭式卡片分类法</a:t>
            </a:r>
            <a:endParaRPr lang="en-US" sz="1600" dirty="0"/>
          </a:p>
        </p:txBody>
      </p:sp>
      <p:sp>
        <p:nvSpPr>
          <p:cNvPr id="18" name="Text 16"/>
          <p:cNvSpPr txBox="1"/>
          <p:nvPr/>
        </p:nvSpPr>
        <p:spPr>
          <a:xfrm>
            <a:off x="640080" y="3877056"/>
            <a:ext cx="4782312" cy="603504"/>
          </a:xfrm>
          <a:prstGeom prst="rect">
            <a:avLst/>
          </a:prstGeom>
          <a:noFill/>
          <a:ln/>
        </p:spPr>
        <p:txBody>
          <a:bodyPr wrap="square" lIns="0" tIns="0" rIns="0" bIns="0" rtlCol="0" anchor="t"/>
          <a:lstStyle/>
          <a:p>
            <a:pPr indent="0" marL="0">
              <a:lnSpc>
                <a:spcPct val="135000"/>
              </a:lnSpc>
              <a:spcAft>
                <a:spcPts val="500"/>
              </a:spcAft>
              <a:buNone/>
            </a:pPr>
            <a:r>
              <a:rPr lang="en-US" sz="1500" dirty="0">
                <a:solidFill>
                  <a:srgbClr val="FFFFFF"/>
                </a:solidFill>
                <a:latin typeface="Microsoft YaHei" pitchFamily="34" charset="0"/>
                <a:ea typeface="Microsoft YaHei" pitchFamily="34" charset="-122"/>
                <a:cs typeface="Microsoft YaHei" pitchFamily="34" charset="-120"/>
              </a:rPr>
              <a:t>封闭式卡片分类则提供预设的分类标签。</a:t>
            </a:r>
            <a:endParaRPr lang="en-US" sz="1500" dirty="0"/>
          </a:p>
        </p:txBody>
      </p:sp>
      <p:pic>
        <p:nvPicPr>
          <p:cNvPr id="19" name="Image 0" descr="p45_0">    </p:cNvPr>
          <p:cNvPicPr>
            <a:picLocks noChangeAspect="1"/>
          </p:cNvPicPr>
          <p:nvPr/>
        </p:nvPicPr>
        <p:blipFill>
          <a:blip r:embed="rId1"/>
          <a:stretch>
            <a:fillRect/>
          </a:stretch>
        </p:blipFill>
        <p:spPr>
          <a:xfrm>
            <a:off x="5715000" y="1188720"/>
            <a:ext cx="3017520" cy="1636776"/>
          </a:xfrm>
          <a:prstGeom prst="rect">
            <a:avLst/>
          </a:prstGeom>
        </p:spPr>
      </p:pic>
      <p:pic>
        <p:nvPicPr>
          <p:cNvPr id="20" name="Image 1" descr="p45_3">    </p:cNvPr>
          <p:cNvPicPr>
            <a:picLocks noChangeAspect="1"/>
          </p:cNvPicPr>
          <p:nvPr/>
        </p:nvPicPr>
        <p:blipFill>
          <a:blip r:embed="rId2"/>
          <a:stretch>
            <a:fillRect/>
          </a:stretch>
        </p:blipFill>
        <p:spPr>
          <a:xfrm>
            <a:off x="5715000" y="2935224"/>
            <a:ext cx="3017520" cy="1636776"/>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05 调研中的数据分析法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C · 开放式卡片分类法的操作与结果分析</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Open Card Sorting: Process &amp; Analysis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39</a:t>
            </a:r>
            <a:endParaRPr lang="en-US" sz="750" dirty="0"/>
          </a:p>
        </p:txBody>
      </p:sp>
      <p:sp>
        <p:nvSpPr>
          <p:cNvPr id="11" name="Shape 9"/>
          <p:cNvSpPr/>
          <p:nvPr/>
        </p:nvSpPr>
        <p:spPr>
          <a:xfrm>
            <a:off x="411480" y="1188720"/>
            <a:ext cx="2210562" cy="548640"/>
          </a:xfrm>
          <a:prstGeom prst="homePlate">
            <a:avLst/>
          </a:prstGeom>
          <a:solidFill>
            <a:srgbClr val="EBEBEB"/>
          </a:solidFill>
          <a:ln/>
        </p:spPr>
      </p:sp>
      <p:sp>
        <p:nvSpPr>
          <p:cNvPr id="12" name="Text 10"/>
          <p:cNvSpPr txBox="1"/>
          <p:nvPr/>
        </p:nvSpPr>
        <p:spPr>
          <a:xfrm>
            <a:off x="548640" y="1188720"/>
            <a:ext cx="1799082" cy="548640"/>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创建分类标签</a:t>
            </a:r>
            <a:endParaRPr lang="en-US" sz="1400" dirty="0"/>
          </a:p>
        </p:txBody>
      </p:sp>
      <p:sp>
        <p:nvSpPr>
          <p:cNvPr id="13" name="Shape 11"/>
          <p:cNvSpPr/>
          <p:nvPr/>
        </p:nvSpPr>
        <p:spPr>
          <a:xfrm>
            <a:off x="2448306" y="1188720"/>
            <a:ext cx="2210562" cy="548640"/>
          </a:xfrm>
          <a:prstGeom prst="chevron">
            <a:avLst/>
          </a:prstGeom>
          <a:solidFill>
            <a:srgbClr val="F4F4F4"/>
          </a:solidFill>
          <a:ln/>
        </p:spPr>
      </p:sp>
      <p:sp>
        <p:nvSpPr>
          <p:cNvPr id="14" name="Text 12"/>
          <p:cNvSpPr txBox="1"/>
          <p:nvPr/>
        </p:nvSpPr>
        <p:spPr>
          <a:xfrm>
            <a:off x="2768346" y="1188720"/>
            <a:ext cx="1616202" cy="548640"/>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卡片分组</a:t>
            </a:r>
            <a:endParaRPr lang="en-US" sz="1400" dirty="0"/>
          </a:p>
        </p:txBody>
      </p:sp>
      <p:sp>
        <p:nvSpPr>
          <p:cNvPr id="15" name="Shape 13"/>
          <p:cNvSpPr/>
          <p:nvPr/>
        </p:nvSpPr>
        <p:spPr>
          <a:xfrm>
            <a:off x="4485132" y="1188720"/>
            <a:ext cx="2210562" cy="548640"/>
          </a:xfrm>
          <a:prstGeom prst="chevron">
            <a:avLst/>
          </a:prstGeom>
          <a:solidFill>
            <a:srgbClr val="EBEBEB"/>
          </a:solidFill>
          <a:ln/>
        </p:spPr>
      </p:sp>
      <p:sp>
        <p:nvSpPr>
          <p:cNvPr id="16" name="Text 14"/>
          <p:cNvSpPr txBox="1"/>
          <p:nvPr/>
        </p:nvSpPr>
        <p:spPr>
          <a:xfrm>
            <a:off x="4805172" y="1188720"/>
            <a:ext cx="1616202" cy="548640"/>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记录分类</a:t>
            </a:r>
            <a:endParaRPr lang="en-US" sz="1400" dirty="0"/>
          </a:p>
        </p:txBody>
      </p:sp>
      <p:sp>
        <p:nvSpPr>
          <p:cNvPr id="17" name="Shape 15"/>
          <p:cNvSpPr/>
          <p:nvPr/>
        </p:nvSpPr>
        <p:spPr>
          <a:xfrm>
            <a:off x="6521958" y="1188720"/>
            <a:ext cx="2210562" cy="548640"/>
          </a:xfrm>
          <a:prstGeom prst="chevron">
            <a:avLst/>
          </a:prstGeom>
          <a:solidFill>
            <a:srgbClr val="C9F5C0"/>
          </a:solidFill>
          <a:ln/>
        </p:spPr>
      </p:sp>
      <p:sp>
        <p:nvSpPr>
          <p:cNvPr id="18" name="Text 16"/>
          <p:cNvSpPr txBox="1"/>
          <p:nvPr/>
        </p:nvSpPr>
        <p:spPr>
          <a:xfrm>
            <a:off x="6841998" y="1188720"/>
            <a:ext cx="1616202" cy="548640"/>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分析逻辑</a:t>
            </a:r>
            <a:endParaRPr lang="en-US" sz="1400" dirty="0"/>
          </a:p>
        </p:txBody>
      </p:sp>
      <p:sp>
        <p:nvSpPr>
          <p:cNvPr id="19" name="Shape 17"/>
          <p:cNvSpPr/>
          <p:nvPr/>
        </p:nvSpPr>
        <p:spPr>
          <a:xfrm>
            <a:off x="411480" y="1874520"/>
            <a:ext cx="1997964" cy="2697480"/>
          </a:xfrm>
          <a:prstGeom prst="roundRect">
            <a:avLst>
              <a:gd name="adj" fmla="val 4577"/>
            </a:avLst>
          </a:prstGeom>
          <a:solidFill>
            <a:srgbClr val="F4F4F4"/>
          </a:solidFill>
          <a:ln/>
        </p:spPr>
      </p:sp>
      <p:sp>
        <p:nvSpPr>
          <p:cNvPr id="20" name="Text 18"/>
          <p:cNvSpPr txBox="1"/>
          <p:nvPr/>
        </p:nvSpPr>
        <p:spPr>
          <a:xfrm>
            <a:off x="594360" y="1965960"/>
            <a:ext cx="914400" cy="411480"/>
          </a:xfrm>
          <a:prstGeom prst="rect">
            <a:avLst/>
          </a:prstGeom>
          <a:noFill/>
          <a:ln/>
        </p:spPr>
        <p:txBody>
          <a:bodyPr wrap="square" lIns="0" tIns="0" rIns="0" bIns="0" rtlCol="0" anchor="t"/>
          <a:lstStyle/>
          <a:p>
            <a:pPr indent="0" marL="0">
              <a:buNone/>
            </a:pPr>
            <a:r>
              <a:rPr lang="en-US" sz="1800" b="1" dirty="0">
                <a:solidFill>
                  <a:srgbClr val="111111"/>
                </a:solidFill>
                <a:latin typeface="Arial" pitchFamily="34" charset="0"/>
                <a:ea typeface="Arial" pitchFamily="34" charset="-122"/>
                <a:cs typeface="Arial" pitchFamily="34" charset="-120"/>
              </a:rPr>
              <a:t>01</a:t>
            </a:r>
            <a:endParaRPr lang="en-US" sz="1800" dirty="0"/>
          </a:p>
        </p:txBody>
      </p:sp>
      <p:sp>
        <p:nvSpPr>
          <p:cNvPr id="21" name="Text 19"/>
          <p:cNvSpPr txBox="1"/>
          <p:nvPr/>
        </p:nvSpPr>
        <p:spPr>
          <a:xfrm>
            <a:off x="594360" y="2423160"/>
            <a:ext cx="1677924" cy="384048"/>
          </a:xfrm>
          <a:prstGeom prst="rect">
            <a:avLst/>
          </a:prstGeom>
          <a:noFill/>
          <a:ln/>
        </p:spPr>
        <p:txBody>
          <a:bodyPr wrap="square" lIns="0" tIns="0" rIns="0" bIns="0" rtlCol="0" anchor="ctr"/>
          <a:lstStyle/>
          <a:p>
            <a:pPr indent="0" marL="0">
              <a:buNone/>
            </a:pPr>
            <a:r>
              <a:rPr lang="en-US" sz="1450" b="1" dirty="0">
                <a:solidFill>
                  <a:srgbClr val="111111"/>
                </a:solidFill>
                <a:latin typeface="Microsoft YaHei" pitchFamily="34" charset="0"/>
                <a:ea typeface="Microsoft YaHei" pitchFamily="34" charset="-122"/>
                <a:cs typeface="Microsoft YaHei" pitchFamily="34" charset="-120"/>
              </a:rPr>
              <a:t>操作步骤</a:t>
            </a:r>
            <a:endParaRPr lang="en-US" sz="1450" dirty="0"/>
          </a:p>
        </p:txBody>
      </p:sp>
      <p:sp>
        <p:nvSpPr>
          <p:cNvPr id="22" name="Text 20"/>
          <p:cNvSpPr txBox="1"/>
          <p:nvPr/>
        </p:nvSpPr>
        <p:spPr>
          <a:xfrm>
            <a:off x="594360" y="2880360"/>
            <a:ext cx="1677924" cy="1645920"/>
          </a:xfrm>
          <a:prstGeom prst="rect">
            <a:avLst/>
          </a:prstGeom>
          <a:noFill/>
          <a:ln/>
        </p:spPr>
        <p:txBody>
          <a:bodyPr wrap="square" lIns="0" tIns="0" rIns="0" bIns="0" rtlCol="0" anchor="t"/>
          <a:lstStyle/>
          <a:p>
            <a:pPr indent="0" marL="0">
              <a:lnSpc>
                <a:spcPct val="140000"/>
              </a:lnSpc>
              <a:buNone/>
            </a:pPr>
            <a:r>
              <a:rPr lang="en-US" sz="1200" dirty="0">
                <a:solidFill>
                  <a:srgbClr val="111111"/>
                </a:solidFill>
                <a:latin typeface="Microsoft YaHei" pitchFamily="34" charset="0"/>
                <a:ea typeface="Microsoft YaHei" pitchFamily="34" charset="-122"/>
                <a:cs typeface="Microsoft YaHei" pitchFamily="34" charset="-120"/>
              </a:rPr>
              <a:t>在开放式卡片分类中，用户根据自己的理解创建分类标签，并对卡片进行分组。</a:t>
            </a:r>
            <a:endParaRPr lang="en-US" sz="1200" dirty="0"/>
          </a:p>
        </p:txBody>
      </p:sp>
      <p:sp>
        <p:nvSpPr>
          <p:cNvPr id="23" name="Shape 21"/>
          <p:cNvSpPr/>
          <p:nvPr/>
        </p:nvSpPr>
        <p:spPr>
          <a:xfrm>
            <a:off x="2519172" y="1874520"/>
            <a:ext cx="1997964" cy="2697480"/>
          </a:xfrm>
          <a:prstGeom prst="roundRect">
            <a:avLst>
              <a:gd name="adj" fmla="val 4577"/>
            </a:avLst>
          </a:prstGeom>
          <a:solidFill>
            <a:srgbClr val="F4F4F4"/>
          </a:solidFill>
          <a:ln/>
        </p:spPr>
      </p:sp>
      <p:sp>
        <p:nvSpPr>
          <p:cNvPr id="24" name="Text 22"/>
          <p:cNvSpPr txBox="1"/>
          <p:nvPr/>
        </p:nvSpPr>
        <p:spPr>
          <a:xfrm>
            <a:off x="2702052" y="1965960"/>
            <a:ext cx="914400" cy="411480"/>
          </a:xfrm>
          <a:prstGeom prst="rect">
            <a:avLst/>
          </a:prstGeom>
          <a:noFill/>
          <a:ln/>
        </p:spPr>
        <p:txBody>
          <a:bodyPr wrap="square" lIns="0" tIns="0" rIns="0" bIns="0" rtlCol="0" anchor="t"/>
          <a:lstStyle/>
          <a:p>
            <a:pPr indent="0" marL="0">
              <a:buNone/>
            </a:pPr>
            <a:r>
              <a:rPr lang="en-US" sz="1800" b="1" dirty="0">
                <a:solidFill>
                  <a:srgbClr val="111111"/>
                </a:solidFill>
                <a:latin typeface="Arial" pitchFamily="34" charset="0"/>
                <a:ea typeface="Arial" pitchFamily="34" charset="-122"/>
                <a:cs typeface="Arial" pitchFamily="34" charset="-120"/>
              </a:rPr>
              <a:t>02</a:t>
            </a:r>
            <a:endParaRPr lang="en-US" sz="1800" dirty="0"/>
          </a:p>
        </p:txBody>
      </p:sp>
      <p:sp>
        <p:nvSpPr>
          <p:cNvPr id="25" name="Text 23"/>
          <p:cNvSpPr txBox="1"/>
          <p:nvPr/>
        </p:nvSpPr>
        <p:spPr>
          <a:xfrm>
            <a:off x="2702052" y="2423160"/>
            <a:ext cx="1677924" cy="384048"/>
          </a:xfrm>
          <a:prstGeom prst="rect">
            <a:avLst/>
          </a:prstGeom>
          <a:noFill/>
          <a:ln/>
        </p:spPr>
        <p:txBody>
          <a:bodyPr wrap="square" lIns="0" tIns="0" rIns="0" bIns="0" rtlCol="0" anchor="ctr"/>
          <a:lstStyle/>
          <a:p>
            <a:pPr indent="0" marL="0">
              <a:buNone/>
            </a:pPr>
            <a:r>
              <a:rPr lang="en-US" sz="1450" b="1" dirty="0">
                <a:solidFill>
                  <a:srgbClr val="111111"/>
                </a:solidFill>
                <a:latin typeface="Microsoft YaHei" pitchFamily="34" charset="0"/>
                <a:ea typeface="Microsoft YaHei" pitchFamily="34" charset="-122"/>
                <a:cs typeface="Microsoft YaHei" pitchFamily="34" charset="-120"/>
              </a:rPr>
              <a:t>操作要点</a:t>
            </a:r>
            <a:endParaRPr lang="en-US" sz="1450" dirty="0"/>
          </a:p>
        </p:txBody>
      </p:sp>
      <p:sp>
        <p:nvSpPr>
          <p:cNvPr id="26" name="Text 24"/>
          <p:cNvSpPr txBox="1"/>
          <p:nvPr/>
        </p:nvSpPr>
        <p:spPr>
          <a:xfrm>
            <a:off x="2702052" y="2880360"/>
            <a:ext cx="1677924" cy="1645920"/>
          </a:xfrm>
          <a:prstGeom prst="rect">
            <a:avLst/>
          </a:prstGeom>
          <a:noFill/>
          <a:ln/>
        </p:spPr>
        <p:txBody>
          <a:bodyPr wrap="square" lIns="0" tIns="0" rIns="0" bIns="0" rtlCol="0" anchor="t"/>
          <a:lstStyle/>
          <a:p>
            <a:pPr indent="0" marL="0">
              <a:lnSpc>
                <a:spcPct val="140000"/>
              </a:lnSpc>
              <a:buNone/>
            </a:pPr>
            <a:r>
              <a:rPr lang="en-US" sz="1200" dirty="0">
                <a:solidFill>
                  <a:srgbClr val="111111"/>
                </a:solidFill>
                <a:latin typeface="Microsoft YaHei" pitchFamily="34" charset="0"/>
                <a:ea typeface="Microsoft YaHei" pitchFamily="34" charset="-122"/>
                <a:cs typeface="Microsoft YaHei" pitchFamily="34" charset="-120"/>
              </a:rPr>
              <a:t>研究人员记录用户创建的分类，以分析其逻辑和认知模式。</a:t>
            </a:r>
            <a:endParaRPr lang="en-US" sz="1200" dirty="0"/>
          </a:p>
        </p:txBody>
      </p:sp>
      <p:sp>
        <p:nvSpPr>
          <p:cNvPr id="27" name="Shape 25"/>
          <p:cNvSpPr/>
          <p:nvPr/>
        </p:nvSpPr>
        <p:spPr>
          <a:xfrm>
            <a:off x="4626864" y="1874520"/>
            <a:ext cx="1997964" cy="2697480"/>
          </a:xfrm>
          <a:prstGeom prst="roundRect">
            <a:avLst>
              <a:gd name="adj" fmla="val 4577"/>
            </a:avLst>
          </a:prstGeom>
          <a:solidFill>
            <a:srgbClr val="C9F5C0"/>
          </a:solidFill>
          <a:ln/>
        </p:spPr>
      </p:sp>
      <p:sp>
        <p:nvSpPr>
          <p:cNvPr id="28" name="Text 26"/>
          <p:cNvSpPr txBox="1"/>
          <p:nvPr/>
        </p:nvSpPr>
        <p:spPr>
          <a:xfrm>
            <a:off x="4809744" y="1965960"/>
            <a:ext cx="914400" cy="411480"/>
          </a:xfrm>
          <a:prstGeom prst="rect">
            <a:avLst/>
          </a:prstGeom>
          <a:noFill/>
          <a:ln/>
        </p:spPr>
        <p:txBody>
          <a:bodyPr wrap="square" lIns="0" tIns="0" rIns="0" bIns="0" rtlCol="0" anchor="t"/>
          <a:lstStyle/>
          <a:p>
            <a:pPr indent="0" marL="0">
              <a:buNone/>
            </a:pPr>
            <a:r>
              <a:rPr lang="en-US" sz="1800" b="1" dirty="0">
                <a:solidFill>
                  <a:srgbClr val="111111"/>
                </a:solidFill>
                <a:latin typeface="Arial" pitchFamily="34" charset="0"/>
                <a:ea typeface="Arial" pitchFamily="34" charset="-122"/>
                <a:cs typeface="Arial" pitchFamily="34" charset="-120"/>
              </a:rPr>
              <a:t>03</a:t>
            </a:r>
            <a:endParaRPr lang="en-US" sz="1800" dirty="0"/>
          </a:p>
        </p:txBody>
      </p:sp>
      <p:sp>
        <p:nvSpPr>
          <p:cNvPr id="29" name="Text 27"/>
          <p:cNvSpPr txBox="1"/>
          <p:nvPr/>
        </p:nvSpPr>
        <p:spPr>
          <a:xfrm>
            <a:off x="4809744" y="2423160"/>
            <a:ext cx="1677924" cy="384048"/>
          </a:xfrm>
          <a:prstGeom prst="rect">
            <a:avLst/>
          </a:prstGeom>
          <a:noFill/>
          <a:ln/>
        </p:spPr>
        <p:txBody>
          <a:bodyPr wrap="square" lIns="0" tIns="0" rIns="0" bIns="0" rtlCol="0" anchor="ctr"/>
          <a:lstStyle/>
          <a:p>
            <a:pPr indent="0" marL="0">
              <a:buNone/>
            </a:pPr>
            <a:r>
              <a:rPr lang="en-US" sz="1450" b="1" dirty="0">
                <a:solidFill>
                  <a:srgbClr val="111111"/>
                </a:solidFill>
                <a:latin typeface="Microsoft YaHei" pitchFamily="34" charset="0"/>
                <a:ea typeface="Microsoft YaHei" pitchFamily="34" charset="-122"/>
                <a:cs typeface="Microsoft YaHei" pitchFamily="34" charset="-120"/>
              </a:rPr>
              <a:t>结果分析的方法</a:t>
            </a:r>
            <a:endParaRPr lang="en-US" sz="1450" dirty="0"/>
          </a:p>
        </p:txBody>
      </p:sp>
      <p:sp>
        <p:nvSpPr>
          <p:cNvPr id="30" name="Text 28"/>
          <p:cNvSpPr txBox="1"/>
          <p:nvPr/>
        </p:nvSpPr>
        <p:spPr>
          <a:xfrm>
            <a:off x="4809744" y="2880360"/>
            <a:ext cx="1677924" cy="1645920"/>
          </a:xfrm>
          <a:prstGeom prst="rect">
            <a:avLst/>
          </a:prstGeom>
          <a:noFill/>
          <a:ln/>
        </p:spPr>
        <p:txBody>
          <a:bodyPr wrap="square" lIns="0" tIns="0" rIns="0" bIns="0" rtlCol="0" anchor="t"/>
          <a:lstStyle/>
          <a:p>
            <a:pPr indent="0" marL="0">
              <a:lnSpc>
                <a:spcPct val="140000"/>
              </a:lnSpc>
              <a:buNone/>
            </a:pPr>
            <a:r>
              <a:rPr lang="en-US" sz="1200" dirty="0">
                <a:solidFill>
                  <a:srgbClr val="111111"/>
                </a:solidFill>
                <a:latin typeface="Microsoft YaHei" pitchFamily="34" charset="0"/>
                <a:ea typeface="Microsoft YaHei" pitchFamily="34" charset="-122"/>
                <a:cs typeface="Microsoft YaHei" pitchFamily="34" charset="-120"/>
              </a:rPr>
              <a:t>开放式卡片分类的结果分析包括整理用户创建的分类标签，识别常见分组模式和分类逻辑。</a:t>
            </a:r>
            <a:endParaRPr lang="en-US" sz="1200" dirty="0"/>
          </a:p>
        </p:txBody>
      </p:sp>
      <p:sp>
        <p:nvSpPr>
          <p:cNvPr id="31" name="Shape 29"/>
          <p:cNvSpPr/>
          <p:nvPr/>
        </p:nvSpPr>
        <p:spPr>
          <a:xfrm>
            <a:off x="6734556" y="1874520"/>
            <a:ext cx="1997964" cy="2697480"/>
          </a:xfrm>
          <a:prstGeom prst="roundRect">
            <a:avLst>
              <a:gd name="adj" fmla="val 4577"/>
            </a:avLst>
          </a:prstGeom>
          <a:solidFill>
            <a:srgbClr val="111111"/>
          </a:solidFill>
          <a:ln/>
        </p:spPr>
      </p:sp>
      <p:sp>
        <p:nvSpPr>
          <p:cNvPr id="32" name="Text 30"/>
          <p:cNvSpPr txBox="1"/>
          <p:nvPr/>
        </p:nvSpPr>
        <p:spPr>
          <a:xfrm>
            <a:off x="6917436" y="1965960"/>
            <a:ext cx="914400" cy="411480"/>
          </a:xfrm>
          <a:prstGeom prst="rect">
            <a:avLst/>
          </a:prstGeom>
          <a:noFill/>
          <a:ln/>
        </p:spPr>
        <p:txBody>
          <a:bodyPr wrap="square" lIns="0" tIns="0" rIns="0" bIns="0" rtlCol="0" anchor="t"/>
          <a:lstStyle/>
          <a:p>
            <a:pPr indent="0" marL="0">
              <a:buNone/>
            </a:pPr>
            <a:r>
              <a:rPr lang="en-US" sz="1800" b="1" dirty="0">
                <a:solidFill>
                  <a:srgbClr val="C9F5C0"/>
                </a:solidFill>
                <a:latin typeface="Arial" pitchFamily="34" charset="0"/>
                <a:ea typeface="Arial" pitchFamily="34" charset="-122"/>
                <a:cs typeface="Arial" pitchFamily="34" charset="-120"/>
              </a:rPr>
              <a:t>04</a:t>
            </a:r>
            <a:endParaRPr lang="en-US" sz="1800" dirty="0"/>
          </a:p>
        </p:txBody>
      </p:sp>
      <p:sp>
        <p:nvSpPr>
          <p:cNvPr id="33" name="Text 31"/>
          <p:cNvSpPr txBox="1"/>
          <p:nvPr/>
        </p:nvSpPr>
        <p:spPr>
          <a:xfrm>
            <a:off x="6917436" y="2423160"/>
            <a:ext cx="1677924" cy="384048"/>
          </a:xfrm>
          <a:prstGeom prst="rect">
            <a:avLst/>
          </a:prstGeom>
          <a:noFill/>
          <a:ln/>
        </p:spPr>
        <p:txBody>
          <a:bodyPr wrap="square" lIns="0" tIns="0" rIns="0" bIns="0" rtlCol="0" anchor="ctr"/>
          <a:lstStyle/>
          <a:p>
            <a:pPr indent="0" marL="0">
              <a:buNone/>
            </a:pPr>
            <a:r>
              <a:rPr lang="en-US" sz="1450" b="1" dirty="0">
                <a:solidFill>
                  <a:srgbClr val="FFFFFF"/>
                </a:solidFill>
                <a:latin typeface="Microsoft YaHei" pitchFamily="34" charset="0"/>
                <a:ea typeface="Microsoft YaHei" pitchFamily="34" charset="-122"/>
                <a:cs typeface="Microsoft YaHei" pitchFamily="34" charset="-120"/>
              </a:rPr>
              <a:t>结果分析的应用</a:t>
            </a:r>
            <a:endParaRPr lang="en-US" sz="1450" dirty="0"/>
          </a:p>
        </p:txBody>
      </p:sp>
      <p:sp>
        <p:nvSpPr>
          <p:cNvPr id="34" name="Text 32"/>
          <p:cNvSpPr txBox="1"/>
          <p:nvPr/>
        </p:nvSpPr>
        <p:spPr>
          <a:xfrm>
            <a:off x="6917436" y="2880360"/>
            <a:ext cx="1677924" cy="1645920"/>
          </a:xfrm>
          <a:prstGeom prst="rect">
            <a:avLst/>
          </a:prstGeom>
          <a:noFill/>
          <a:ln/>
        </p:spPr>
        <p:txBody>
          <a:bodyPr wrap="square" lIns="0" tIns="0" rIns="0" bIns="0" rtlCol="0" anchor="t"/>
          <a:lstStyle/>
          <a:p>
            <a:pPr indent="0" marL="0">
              <a:lnSpc>
                <a:spcPct val="140000"/>
              </a:lnSpc>
              <a:buNone/>
            </a:pPr>
            <a:r>
              <a:rPr lang="en-US" sz="1200" dirty="0">
                <a:solidFill>
                  <a:srgbClr val="FFFFFF"/>
                </a:solidFill>
                <a:latin typeface="Microsoft YaHei" pitchFamily="34" charset="0"/>
                <a:ea typeface="Microsoft YaHei" pitchFamily="34" charset="-122"/>
                <a:cs typeface="Microsoft YaHei" pitchFamily="34" charset="-120"/>
              </a:rPr>
              <a:t>通过分析用户的分组结果，研究人员可以提取出信息的自然分布方式。</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05 调研中的数据分析法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C · 线性 Delphi 法 · Q-sorting 法</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Delphi &amp; Q-sorting</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40</a:t>
            </a:r>
            <a:endParaRPr lang="en-US" sz="750" dirty="0"/>
          </a:p>
        </p:txBody>
      </p:sp>
      <p:sp>
        <p:nvSpPr>
          <p:cNvPr id="11" name="Shape 9"/>
          <p:cNvSpPr/>
          <p:nvPr/>
        </p:nvSpPr>
        <p:spPr>
          <a:xfrm>
            <a:off x="411480" y="1188720"/>
            <a:ext cx="4105656" cy="3383280"/>
          </a:xfrm>
          <a:prstGeom prst="roundRect">
            <a:avLst>
              <a:gd name="adj" fmla="val 2703"/>
            </a:avLst>
          </a:prstGeom>
          <a:solidFill>
            <a:srgbClr val="C9F5C0"/>
          </a:solidFill>
          <a:ln/>
        </p:spPr>
      </p:sp>
      <p:sp>
        <p:nvSpPr>
          <p:cNvPr id="12" name="Text 10"/>
          <p:cNvSpPr txBox="1"/>
          <p:nvPr/>
        </p:nvSpPr>
        <p:spPr>
          <a:xfrm>
            <a:off x="685800" y="1325880"/>
            <a:ext cx="3566160" cy="548640"/>
          </a:xfrm>
          <a:prstGeom prst="rect">
            <a:avLst/>
          </a:prstGeom>
          <a:noFill/>
          <a:ln/>
        </p:spPr>
        <p:txBody>
          <a:bodyPr wrap="square" lIns="0" tIns="0" rIns="0" bIns="0" rtlCol="0" anchor="ctr"/>
          <a:lstStyle/>
          <a:p>
            <a:pPr indent="0" marL="0">
              <a:buNone/>
            </a:pPr>
            <a:r>
              <a:rPr lang="en-US" sz="2200" b="1" dirty="0">
                <a:solidFill>
                  <a:srgbClr val="111111"/>
                </a:solidFill>
                <a:latin typeface="Microsoft YaHei" pitchFamily="34" charset="0"/>
                <a:ea typeface="Microsoft YaHei" pitchFamily="34" charset="-122"/>
                <a:cs typeface="Microsoft YaHei" pitchFamily="34" charset="-120"/>
              </a:rPr>
              <a:t>线性 Delphi 法</a:t>
            </a:r>
            <a:endParaRPr lang="en-US" sz="2200" dirty="0"/>
          </a:p>
        </p:txBody>
      </p:sp>
      <p:sp>
        <p:nvSpPr>
          <p:cNvPr id="13" name="Shape 11"/>
          <p:cNvSpPr/>
          <p:nvPr/>
        </p:nvSpPr>
        <p:spPr>
          <a:xfrm>
            <a:off x="685800" y="2011680"/>
            <a:ext cx="3566160" cy="1170432"/>
          </a:xfrm>
          <a:prstGeom prst="roundRect">
            <a:avLst>
              <a:gd name="adj" fmla="val 7813"/>
            </a:avLst>
          </a:prstGeom>
          <a:solidFill>
            <a:srgbClr val="FFFFFF"/>
          </a:solidFill>
          <a:ln/>
        </p:spPr>
      </p:sp>
      <p:sp>
        <p:nvSpPr>
          <p:cNvPr id="14" name="Text 12"/>
          <p:cNvSpPr txBox="1"/>
          <p:nvPr/>
        </p:nvSpPr>
        <p:spPr>
          <a:xfrm>
            <a:off x="868680" y="2084832"/>
            <a:ext cx="3291840" cy="347472"/>
          </a:xfrm>
          <a:prstGeom prst="rect">
            <a:avLst/>
          </a:prstGeom>
          <a:noFill/>
          <a:ln/>
        </p:spPr>
        <p:txBody>
          <a:bodyPr wrap="square" lIns="0" tIns="0" rIns="0" bIns="0" rtlCol="0" anchor="ctr"/>
          <a:lstStyle/>
          <a:p>
            <a:pPr indent="0" marL="0">
              <a:buNone/>
            </a:pPr>
            <a:r>
              <a:rPr lang="en-US" sz="1300" b="1" dirty="0">
                <a:solidFill>
                  <a:srgbClr val="111111"/>
                </a:solidFill>
                <a:latin typeface="Microsoft YaHei" pitchFamily="34" charset="0"/>
                <a:ea typeface="Microsoft YaHei" pitchFamily="34" charset="-122"/>
                <a:cs typeface="Microsoft YaHei" pitchFamily="34" charset="-120"/>
              </a:rPr>
              <a:t>Delphi 法的概念</a:t>
            </a:r>
            <a:endParaRPr lang="en-US" sz="1300" dirty="0"/>
          </a:p>
        </p:txBody>
      </p:sp>
      <p:sp>
        <p:nvSpPr>
          <p:cNvPr id="15" name="Text 13"/>
          <p:cNvSpPr txBox="1"/>
          <p:nvPr/>
        </p:nvSpPr>
        <p:spPr>
          <a:xfrm>
            <a:off x="868680" y="2450592"/>
            <a:ext cx="3291840" cy="685800"/>
          </a:xfrm>
          <a:prstGeom prst="rect">
            <a:avLst/>
          </a:prstGeom>
          <a:noFill/>
          <a:ln/>
        </p:spPr>
        <p:txBody>
          <a:bodyPr wrap="square" lIns="0" tIns="0" rIns="0" bIns="0" rtlCol="0" anchor="t"/>
          <a:lstStyle/>
          <a:p>
            <a:pPr indent="0" marL="0">
              <a:lnSpc>
                <a:spcPct val="130000"/>
              </a:lnSpc>
              <a:buNone/>
            </a:pPr>
            <a:r>
              <a:rPr lang="en-US" sz="1200" dirty="0">
                <a:solidFill>
                  <a:srgbClr val="111111"/>
                </a:solidFill>
                <a:latin typeface="Microsoft YaHei" pitchFamily="34" charset="0"/>
                <a:ea typeface="Microsoft YaHei" pitchFamily="34" charset="-122"/>
                <a:cs typeface="Microsoft YaHei" pitchFamily="34" charset="-120"/>
              </a:rPr>
              <a:t>Delphi法是一种通过多轮反馈收集专家意见的研究方法。</a:t>
            </a:r>
            <a:endParaRPr lang="en-US" sz="1200" dirty="0"/>
          </a:p>
        </p:txBody>
      </p:sp>
      <p:sp>
        <p:nvSpPr>
          <p:cNvPr id="16" name="Shape 14"/>
          <p:cNvSpPr/>
          <p:nvPr/>
        </p:nvSpPr>
        <p:spPr>
          <a:xfrm>
            <a:off x="685800" y="3291840"/>
            <a:ext cx="3566160" cy="1170432"/>
          </a:xfrm>
          <a:prstGeom prst="roundRect">
            <a:avLst>
              <a:gd name="adj" fmla="val 7813"/>
            </a:avLst>
          </a:prstGeom>
          <a:solidFill>
            <a:srgbClr val="FFFFFF"/>
          </a:solidFill>
          <a:ln/>
        </p:spPr>
      </p:sp>
      <p:sp>
        <p:nvSpPr>
          <p:cNvPr id="17" name="Text 15"/>
          <p:cNvSpPr txBox="1"/>
          <p:nvPr/>
        </p:nvSpPr>
        <p:spPr>
          <a:xfrm>
            <a:off x="868680" y="3364992"/>
            <a:ext cx="3291840" cy="347472"/>
          </a:xfrm>
          <a:prstGeom prst="rect">
            <a:avLst/>
          </a:prstGeom>
          <a:noFill/>
          <a:ln/>
        </p:spPr>
        <p:txBody>
          <a:bodyPr wrap="square" lIns="0" tIns="0" rIns="0" bIns="0" rtlCol="0" anchor="ctr"/>
          <a:lstStyle/>
          <a:p>
            <a:pPr indent="0" marL="0">
              <a:buNone/>
            </a:pPr>
            <a:r>
              <a:rPr lang="en-US" sz="1300" b="1" dirty="0">
                <a:solidFill>
                  <a:srgbClr val="111111"/>
                </a:solidFill>
                <a:latin typeface="Microsoft YaHei" pitchFamily="34" charset="0"/>
                <a:ea typeface="Microsoft YaHei" pitchFamily="34" charset="-122"/>
                <a:cs typeface="Microsoft YaHei" pitchFamily="34" charset="-120"/>
              </a:rPr>
              <a:t>线性 Delphi 法的应用</a:t>
            </a:r>
            <a:endParaRPr lang="en-US" sz="1300" dirty="0"/>
          </a:p>
        </p:txBody>
      </p:sp>
      <p:sp>
        <p:nvSpPr>
          <p:cNvPr id="18" name="Text 16"/>
          <p:cNvSpPr txBox="1"/>
          <p:nvPr/>
        </p:nvSpPr>
        <p:spPr>
          <a:xfrm>
            <a:off x="868680" y="3730752"/>
            <a:ext cx="3291840" cy="685800"/>
          </a:xfrm>
          <a:prstGeom prst="rect">
            <a:avLst/>
          </a:prstGeom>
          <a:noFill/>
          <a:ln/>
        </p:spPr>
        <p:txBody>
          <a:bodyPr wrap="square" lIns="0" tIns="0" rIns="0" bIns="0" rtlCol="0" anchor="t"/>
          <a:lstStyle/>
          <a:p>
            <a:pPr indent="0" marL="0">
              <a:lnSpc>
                <a:spcPct val="130000"/>
              </a:lnSpc>
              <a:buNone/>
            </a:pPr>
            <a:r>
              <a:rPr lang="en-US" sz="1200" dirty="0">
                <a:solidFill>
                  <a:srgbClr val="111111"/>
                </a:solidFill>
                <a:latin typeface="Microsoft YaHei" pitchFamily="34" charset="0"/>
                <a:ea typeface="Microsoft YaHei" pitchFamily="34" charset="-122"/>
                <a:cs typeface="Microsoft YaHei" pitchFamily="34" charset="-120"/>
              </a:rPr>
              <a:t>在线性Delphi法中，专家逐步就问题进行评分和讨论。</a:t>
            </a:r>
            <a:endParaRPr lang="en-US" sz="1200" dirty="0"/>
          </a:p>
        </p:txBody>
      </p:sp>
      <p:sp>
        <p:nvSpPr>
          <p:cNvPr id="19" name="Shape 17"/>
          <p:cNvSpPr/>
          <p:nvPr/>
        </p:nvSpPr>
        <p:spPr>
          <a:xfrm>
            <a:off x="4626864" y="1188720"/>
            <a:ext cx="4105656" cy="3383280"/>
          </a:xfrm>
          <a:prstGeom prst="roundRect">
            <a:avLst>
              <a:gd name="adj" fmla="val 2703"/>
            </a:avLst>
          </a:prstGeom>
          <a:solidFill>
            <a:srgbClr val="111111"/>
          </a:solidFill>
          <a:ln/>
        </p:spPr>
      </p:sp>
      <p:sp>
        <p:nvSpPr>
          <p:cNvPr id="20" name="Text 18"/>
          <p:cNvSpPr txBox="1"/>
          <p:nvPr/>
        </p:nvSpPr>
        <p:spPr>
          <a:xfrm>
            <a:off x="4901184" y="1325880"/>
            <a:ext cx="3566160" cy="548640"/>
          </a:xfrm>
          <a:prstGeom prst="rect">
            <a:avLst/>
          </a:prstGeom>
          <a:noFill/>
          <a:ln/>
        </p:spPr>
        <p:txBody>
          <a:bodyPr wrap="square" lIns="0" tIns="0" rIns="0" bIns="0"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Q-sorting 法</a:t>
            </a:r>
            <a:endParaRPr lang="en-US" sz="2200" dirty="0"/>
          </a:p>
        </p:txBody>
      </p:sp>
      <p:sp>
        <p:nvSpPr>
          <p:cNvPr id="21" name="Shape 19"/>
          <p:cNvSpPr/>
          <p:nvPr/>
        </p:nvSpPr>
        <p:spPr>
          <a:xfrm>
            <a:off x="4901184" y="2011680"/>
            <a:ext cx="3566160" cy="1170432"/>
          </a:xfrm>
          <a:prstGeom prst="roundRect">
            <a:avLst>
              <a:gd name="adj" fmla="val 7813"/>
            </a:avLst>
          </a:prstGeom>
          <a:solidFill>
            <a:srgbClr val="2B2B2B"/>
          </a:solidFill>
          <a:ln/>
        </p:spPr>
      </p:sp>
      <p:sp>
        <p:nvSpPr>
          <p:cNvPr id="22" name="Text 20"/>
          <p:cNvSpPr txBox="1"/>
          <p:nvPr/>
        </p:nvSpPr>
        <p:spPr>
          <a:xfrm>
            <a:off x="5084064" y="2084832"/>
            <a:ext cx="3291840" cy="347472"/>
          </a:xfrm>
          <a:prstGeom prst="rect">
            <a:avLst/>
          </a:prstGeom>
          <a:noFill/>
          <a:ln/>
        </p:spPr>
        <p:txBody>
          <a:bodyPr wrap="square" lIns="0" tIns="0" rIns="0" bIns="0" rtlCol="0" anchor="ctr"/>
          <a:lstStyle/>
          <a:p>
            <a:pPr indent="0" marL="0">
              <a:buNone/>
            </a:pPr>
            <a:r>
              <a:rPr lang="en-US" sz="1300" b="1" dirty="0">
                <a:solidFill>
                  <a:srgbClr val="C9F5C0"/>
                </a:solidFill>
                <a:latin typeface="Microsoft YaHei" pitchFamily="34" charset="0"/>
                <a:ea typeface="Microsoft YaHei" pitchFamily="34" charset="-122"/>
                <a:cs typeface="Microsoft YaHei" pitchFamily="34" charset="-120"/>
              </a:rPr>
              <a:t>Q-sorting 法的定义</a:t>
            </a:r>
            <a:endParaRPr lang="en-US" sz="1300" dirty="0"/>
          </a:p>
        </p:txBody>
      </p:sp>
      <p:sp>
        <p:nvSpPr>
          <p:cNvPr id="23" name="Text 21"/>
          <p:cNvSpPr txBox="1"/>
          <p:nvPr/>
        </p:nvSpPr>
        <p:spPr>
          <a:xfrm>
            <a:off x="5084064" y="2450592"/>
            <a:ext cx="3291840" cy="685800"/>
          </a:xfrm>
          <a:prstGeom prst="rect">
            <a:avLst/>
          </a:prstGeom>
          <a:noFill/>
          <a:ln/>
        </p:spPr>
        <p:txBody>
          <a:bodyPr wrap="square" lIns="0" tIns="0" rIns="0" bIns="0" rtlCol="0" anchor="t"/>
          <a:lstStyle/>
          <a:p>
            <a:pPr indent="0" marL="0">
              <a:lnSpc>
                <a:spcPct val="130000"/>
              </a:lnSpc>
              <a:buNone/>
            </a:pPr>
            <a:r>
              <a:rPr lang="en-US" sz="1200" dirty="0">
                <a:solidFill>
                  <a:srgbClr val="FFFFFF"/>
                </a:solidFill>
                <a:latin typeface="Microsoft YaHei" pitchFamily="34" charset="0"/>
                <a:ea typeface="Microsoft YaHei" pitchFamily="34" charset="-122"/>
                <a:cs typeface="Microsoft YaHei" pitchFamily="34" charset="-120"/>
              </a:rPr>
              <a:t>Q-sorting法是一种主观排序方法，让用户根据个人偏好对卡片进行排序。</a:t>
            </a:r>
            <a:endParaRPr lang="en-US" sz="1200" dirty="0"/>
          </a:p>
        </p:txBody>
      </p:sp>
      <p:sp>
        <p:nvSpPr>
          <p:cNvPr id="24" name="Shape 22"/>
          <p:cNvSpPr/>
          <p:nvPr/>
        </p:nvSpPr>
        <p:spPr>
          <a:xfrm>
            <a:off x="4901184" y="3291840"/>
            <a:ext cx="3566160" cy="1170432"/>
          </a:xfrm>
          <a:prstGeom prst="roundRect">
            <a:avLst>
              <a:gd name="adj" fmla="val 7813"/>
            </a:avLst>
          </a:prstGeom>
          <a:solidFill>
            <a:srgbClr val="2B2B2B"/>
          </a:solidFill>
          <a:ln/>
        </p:spPr>
      </p:sp>
      <p:sp>
        <p:nvSpPr>
          <p:cNvPr id="25" name="Text 23"/>
          <p:cNvSpPr txBox="1"/>
          <p:nvPr/>
        </p:nvSpPr>
        <p:spPr>
          <a:xfrm>
            <a:off x="5084064" y="3364992"/>
            <a:ext cx="3291840" cy="347472"/>
          </a:xfrm>
          <a:prstGeom prst="rect">
            <a:avLst/>
          </a:prstGeom>
          <a:noFill/>
          <a:ln/>
        </p:spPr>
        <p:txBody>
          <a:bodyPr wrap="square" lIns="0" tIns="0" rIns="0" bIns="0" rtlCol="0" anchor="ctr"/>
          <a:lstStyle/>
          <a:p>
            <a:pPr indent="0" marL="0">
              <a:buNone/>
            </a:pPr>
            <a:r>
              <a:rPr lang="en-US" sz="1300" b="1" dirty="0">
                <a:solidFill>
                  <a:srgbClr val="C9F5C0"/>
                </a:solidFill>
                <a:latin typeface="Microsoft YaHei" pitchFamily="34" charset="0"/>
                <a:ea typeface="Microsoft YaHei" pitchFamily="34" charset="-122"/>
                <a:cs typeface="Microsoft YaHei" pitchFamily="34" charset="-120"/>
              </a:rPr>
              <a:t>Q-sorting 法的应用</a:t>
            </a:r>
            <a:endParaRPr lang="en-US" sz="1300" dirty="0"/>
          </a:p>
        </p:txBody>
      </p:sp>
      <p:sp>
        <p:nvSpPr>
          <p:cNvPr id="26" name="Text 24"/>
          <p:cNvSpPr txBox="1"/>
          <p:nvPr/>
        </p:nvSpPr>
        <p:spPr>
          <a:xfrm>
            <a:off x="5084064" y="3730752"/>
            <a:ext cx="3291840" cy="685800"/>
          </a:xfrm>
          <a:prstGeom prst="rect">
            <a:avLst/>
          </a:prstGeom>
          <a:noFill/>
          <a:ln/>
        </p:spPr>
        <p:txBody>
          <a:bodyPr wrap="square" lIns="0" tIns="0" rIns="0" bIns="0" rtlCol="0" anchor="t"/>
          <a:lstStyle/>
          <a:p>
            <a:pPr indent="0" marL="0">
              <a:lnSpc>
                <a:spcPct val="130000"/>
              </a:lnSpc>
              <a:buNone/>
            </a:pPr>
            <a:r>
              <a:rPr lang="en-US" sz="1200" dirty="0">
                <a:solidFill>
                  <a:srgbClr val="FFFFFF"/>
                </a:solidFill>
                <a:latin typeface="Microsoft YaHei" pitchFamily="34" charset="0"/>
                <a:ea typeface="Microsoft YaHei" pitchFamily="34" charset="-122"/>
                <a:cs typeface="Microsoft YaHei" pitchFamily="34" charset="-120"/>
              </a:rPr>
              <a:t>Q-sorting法在用户偏好研究中应用广泛。</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05 调研中的数据分析法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C · 卡片法的发展与局限</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Trends &amp; Limitations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41</a:t>
            </a:r>
            <a:endParaRPr lang="en-US" sz="750" dirty="0"/>
          </a:p>
        </p:txBody>
      </p:sp>
      <p:sp>
        <p:nvSpPr>
          <p:cNvPr id="11" name="Shape 9"/>
          <p:cNvSpPr/>
          <p:nvPr/>
        </p:nvSpPr>
        <p:spPr>
          <a:xfrm>
            <a:off x="3538728" y="1188720"/>
            <a:ext cx="5193792" cy="1636776"/>
          </a:xfrm>
          <a:prstGeom prst="roundRect">
            <a:avLst>
              <a:gd name="adj" fmla="val 5587"/>
            </a:avLst>
          </a:prstGeom>
          <a:solidFill>
            <a:srgbClr val="F4F4F4"/>
          </a:solidFill>
          <a:ln/>
        </p:spPr>
      </p:sp>
      <p:sp>
        <p:nvSpPr>
          <p:cNvPr id="12" name="Text 10"/>
          <p:cNvSpPr txBox="1"/>
          <p:nvPr/>
        </p:nvSpPr>
        <p:spPr>
          <a:xfrm>
            <a:off x="3767328" y="1353312"/>
            <a:ext cx="914400" cy="411480"/>
          </a:xfrm>
          <a:prstGeom prst="rect">
            <a:avLst/>
          </a:prstGeom>
          <a:noFill/>
          <a:ln/>
        </p:spPr>
        <p:txBody>
          <a:bodyPr wrap="square" lIns="0" tIns="0" rIns="0" bIns="0" rtlCol="0" anchor="t"/>
          <a:lstStyle/>
          <a:p>
            <a:pPr indent="0" marL="0">
              <a:buNone/>
            </a:pPr>
            <a:r>
              <a:rPr lang="en-US" sz="1400" b="1" dirty="0">
                <a:solidFill>
                  <a:srgbClr val="111111"/>
                </a:solidFill>
                <a:latin typeface="Arial" pitchFamily="34" charset="0"/>
                <a:ea typeface="Arial" pitchFamily="34" charset="-122"/>
                <a:cs typeface="Arial" pitchFamily="34" charset="-120"/>
              </a:rPr>
              <a:t>01</a:t>
            </a:r>
            <a:endParaRPr lang="en-US" sz="1400" dirty="0"/>
          </a:p>
        </p:txBody>
      </p:sp>
      <p:sp>
        <p:nvSpPr>
          <p:cNvPr id="13" name="Text 11"/>
          <p:cNvSpPr txBox="1"/>
          <p:nvPr/>
        </p:nvSpPr>
        <p:spPr>
          <a:xfrm>
            <a:off x="3767328" y="1673352"/>
            <a:ext cx="4782312" cy="384048"/>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卡片法的发展趋势</a:t>
            </a:r>
            <a:endParaRPr lang="en-US" sz="1600" dirty="0"/>
          </a:p>
        </p:txBody>
      </p:sp>
      <p:sp>
        <p:nvSpPr>
          <p:cNvPr id="14" name="Text 12"/>
          <p:cNvSpPr txBox="1"/>
          <p:nvPr/>
        </p:nvSpPr>
        <p:spPr>
          <a:xfrm>
            <a:off x="3767328" y="2130552"/>
            <a:ext cx="4782312" cy="603504"/>
          </a:xfrm>
          <a:prstGeom prst="rect">
            <a:avLst/>
          </a:prstGeom>
          <a:noFill/>
          <a:ln/>
        </p:spPr>
        <p:txBody>
          <a:bodyPr wrap="square" lIns="0" tIns="0" rIns="0" bIns="0" rtlCol="0" anchor="t"/>
          <a:lstStyle/>
          <a:p>
            <a:pPr indent="0" marL="0">
              <a:lnSpc>
                <a:spcPct val="135000"/>
              </a:lnSpc>
              <a:spcAft>
                <a:spcPts val="500"/>
              </a:spcAft>
              <a:buNone/>
            </a:pPr>
            <a:r>
              <a:rPr lang="en-US" sz="1500" dirty="0">
                <a:solidFill>
                  <a:srgbClr val="111111"/>
                </a:solidFill>
                <a:latin typeface="Microsoft YaHei" pitchFamily="34" charset="0"/>
                <a:ea typeface="Microsoft YaHei" pitchFamily="34" charset="-122"/>
                <a:cs typeface="Microsoft YaHei" pitchFamily="34" charset="-120"/>
              </a:rPr>
              <a:t>卡片分类法的发展基于用户需求的不断变化。</a:t>
            </a:r>
            <a:endParaRPr lang="en-US" sz="1500" dirty="0"/>
          </a:p>
        </p:txBody>
      </p:sp>
      <p:sp>
        <p:nvSpPr>
          <p:cNvPr id="15" name="Shape 13"/>
          <p:cNvSpPr/>
          <p:nvPr/>
        </p:nvSpPr>
        <p:spPr>
          <a:xfrm>
            <a:off x="3538728" y="2935224"/>
            <a:ext cx="5193792" cy="1636776"/>
          </a:xfrm>
          <a:prstGeom prst="roundRect">
            <a:avLst>
              <a:gd name="adj" fmla="val 5587"/>
            </a:avLst>
          </a:prstGeom>
          <a:solidFill>
            <a:srgbClr val="111111"/>
          </a:solidFill>
          <a:ln/>
        </p:spPr>
      </p:sp>
      <p:sp>
        <p:nvSpPr>
          <p:cNvPr id="16" name="Text 14"/>
          <p:cNvSpPr txBox="1"/>
          <p:nvPr/>
        </p:nvSpPr>
        <p:spPr>
          <a:xfrm>
            <a:off x="3767328" y="3099816"/>
            <a:ext cx="914400" cy="411480"/>
          </a:xfrm>
          <a:prstGeom prst="rect">
            <a:avLst/>
          </a:prstGeom>
          <a:noFill/>
          <a:ln/>
        </p:spPr>
        <p:txBody>
          <a:bodyPr wrap="square" lIns="0" tIns="0" rIns="0" bIns="0" rtlCol="0" anchor="t"/>
          <a:lstStyle/>
          <a:p>
            <a:pPr indent="0" marL="0">
              <a:buNone/>
            </a:pPr>
            <a:r>
              <a:rPr lang="en-US" sz="1400" b="1" dirty="0">
                <a:solidFill>
                  <a:srgbClr val="C9F5C0"/>
                </a:solidFill>
                <a:latin typeface="Arial" pitchFamily="34" charset="0"/>
                <a:ea typeface="Arial" pitchFamily="34" charset="-122"/>
                <a:cs typeface="Arial" pitchFamily="34" charset="-120"/>
              </a:rPr>
              <a:t>02</a:t>
            </a:r>
            <a:endParaRPr lang="en-US" sz="1400" dirty="0"/>
          </a:p>
        </p:txBody>
      </p:sp>
      <p:sp>
        <p:nvSpPr>
          <p:cNvPr id="17" name="Text 15"/>
          <p:cNvSpPr txBox="1"/>
          <p:nvPr/>
        </p:nvSpPr>
        <p:spPr>
          <a:xfrm>
            <a:off x="3767328" y="3419856"/>
            <a:ext cx="4782312" cy="384048"/>
          </a:xfrm>
          <a:prstGeom prst="rect">
            <a:avLst/>
          </a:prstGeom>
          <a:noFill/>
          <a:ln/>
        </p:spPr>
        <p:txBody>
          <a:bodyPr wrap="square" lIns="0" tIns="0" rIns="0" bIns="0"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卡片法的局限性</a:t>
            </a:r>
            <a:endParaRPr lang="en-US" sz="1600" dirty="0"/>
          </a:p>
        </p:txBody>
      </p:sp>
      <p:sp>
        <p:nvSpPr>
          <p:cNvPr id="18" name="Text 16"/>
          <p:cNvSpPr txBox="1"/>
          <p:nvPr/>
        </p:nvSpPr>
        <p:spPr>
          <a:xfrm>
            <a:off x="3767328" y="3877056"/>
            <a:ext cx="4782312" cy="603504"/>
          </a:xfrm>
          <a:prstGeom prst="rect">
            <a:avLst/>
          </a:prstGeom>
          <a:noFill/>
          <a:ln/>
        </p:spPr>
        <p:txBody>
          <a:bodyPr wrap="square" lIns="0" tIns="0" rIns="0" bIns="0" rtlCol="0" anchor="t"/>
          <a:lstStyle/>
          <a:p>
            <a:pPr indent="0" marL="0">
              <a:lnSpc>
                <a:spcPct val="135000"/>
              </a:lnSpc>
              <a:spcAft>
                <a:spcPts val="500"/>
              </a:spcAft>
              <a:buNone/>
            </a:pPr>
            <a:r>
              <a:rPr lang="en-US" sz="1500" dirty="0">
                <a:solidFill>
                  <a:srgbClr val="FFFFFF"/>
                </a:solidFill>
                <a:latin typeface="Microsoft YaHei" pitchFamily="34" charset="0"/>
                <a:ea typeface="Microsoft YaHei" pitchFamily="34" charset="-122"/>
                <a:cs typeface="Microsoft YaHei" pitchFamily="34" charset="-120"/>
              </a:rPr>
              <a:t>卡片分类法也存在一定的局限性，如对信息数量较多的场景不适用。</a:t>
            </a:r>
            <a:endParaRPr lang="en-US" sz="1500" dirty="0"/>
          </a:p>
        </p:txBody>
      </p:sp>
      <p:pic>
        <p:nvPicPr>
          <p:cNvPr id="19" name="Image 0" descr="p50_1">    </p:cNvPr>
          <p:cNvPicPr>
            <a:picLocks noChangeAspect="1"/>
          </p:cNvPicPr>
          <p:nvPr/>
        </p:nvPicPr>
        <p:blipFill>
          <a:blip r:embed="rId1"/>
          <a:stretch>
            <a:fillRect/>
          </a:stretch>
        </p:blipFill>
        <p:spPr>
          <a:xfrm>
            <a:off x="411480" y="1188720"/>
            <a:ext cx="3017520" cy="1636776"/>
          </a:xfrm>
          <a:prstGeom prst="rect">
            <a:avLst/>
          </a:prstGeom>
        </p:spPr>
      </p:pic>
      <p:pic>
        <p:nvPicPr>
          <p:cNvPr id="20" name="Image 1" descr="p50_0">    </p:cNvPr>
          <p:cNvPicPr>
            <a:picLocks noChangeAspect="1"/>
          </p:cNvPicPr>
          <p:nvPr/>
        </p:nvPicPr>
        <p:blipFill>
          <a:blip r:embed="rId2"/>
          <a:stretch>
            <a:fillRect/>
          </a:stretch>
        </p:blipFill>
        <p:spPr>
          <a:xfrm>
            <a:off x="411480" y="2935224"/>
            <a:ext cx="3017520" cy="1636776"/>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05 调研中的数据分析法</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C · 应用案例</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Case: Website Redesign</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42</a:t>
            </a:r>
            <a:endParaRPr lang="en-US" sz="750" dirty="0"/>
          </a:p>
        </p:txBody>
      </p:sp>
      <p:sp>
        <p:nvSpPr>
          <p:cNvPr id="11" name="Shape 9"/>
          <p:cNvSpPr/>
          <p:nvPr/>
        </p:nvSpPr>
        <p:spPr>
          <a:xfrm>
            <a:off x="411480" y="1188720"/>
            <a:ext cx="2743200" cy="3383280"/>
          </a:xfrm>
          <a:prstGeom prst="roundRect">
            <a:avLst>
              <a:gd name="adj" fmla="val 3333"/>
            </a:avLst>
          </a:prstGeom>
          <a:solidFill>
            <a:srgbClr val="C9F5C0"/>
          </a:solidFill>
          <a:ln/>
        </p:spPr>
      </p:sp>
      <p:sp>
        <p:nvSpPr>
          <p:cNvPr id="12" name="Text 10"/>
          <p:cNvSpPr txBox="1"/>
          <p:nvPr/>
        </p:nvSpPr>
        <p:spPr>
          <a:xfrm>
            <a:off x="640080" y="1371600"/>
            <a:ext cx="2286000" cy="731520"/>
          </a:xfrm>
          <a:prstGeom prst="rect">
            <a:avLst/>
          </a:prstGeom>
          <a:noFill/>
          <a:ln/>
        </p:spPr>
        <p:txBody>
          <a:bodyPr wrap="square" lIns="0" tIns="0" rIns="0" bIns="0" rtlCol="0" anchor="t"/>
          <a:lstStyle/>
          <a:p>
            <a:pPr indent="0" marL="0">
              <a:buNone/>
            </a:pPr>
            <a:r>
              <a:rPr lang="en-US" sz="3600" b="1" dirty="0">
                <a:solidFill>
                  <a:srgbClr val="111111"/>
                </a:solidFill>
                <a:latin typeface="Arial" pitchFamily="34" charset="0"/>
                <a:ea typeface="Arial" pitchFamily="34" charset="-122"/>
                <a:cs typeface="Arial" pitchFamily="34" charset="-120"/>
              </a:rPr>
              <a:t>CASE</a:t>
            </a:r>
            <a:endParaRPr lang="en-US" sz="3600" dirty="0"/>
          </a:p>
        </p:txBody>
      </p:sp>
      <p:sp>
        <p:nvSpPr>
          <p:cNvPr id="13" name="Text 11"/>
          <p:cNvSpPr txBox="1"/>
          <p:nvPr/>
        </p:nvSpPr>
        <p:spPr>
          <a:xfrm>
            <a:off x="640080" y="3840480"/>
            <a:ext cx="2286000" cy="457200"/>
          </a:xfrm>
          <a:prstGeom prst="rect">
            <a:avLst/>
          </a:prstGeom>
          <a:noFill/>
          <a:ln/>
        </p:spPr>
        <p:txBody>
          <a:bodyPr wrap="square" lIns="0" tIns="0" rIns="0" bIns="0" rtlCol="0" anchor="b"/>
          <a:lstStyle/>
          <a:p>
            <a:pPr indent="0" marL="0">
              <a:buNone/>
            </a:pPr>
            <a:r>
              <a:rPr lang="en-US" sz="1700" b="1" dirty="0">
                <a:solidFill>
                  <a:srgbClr val="111111"/>
                </a:solidFill>
                <a:latin typeface="Microsoft YaHei" pitchFamily="34" charset="0"/>
                <a:ea typeface="Microsoft YaHei" pitchFamily="34" charset="-122"/>
                <a:cs typeface="Microsoft YaHei" pitchFamily="34" charset="-120"/>
              </a:rPr>
              <a:t>网站改版项目</a:t>
            </a:r>
            <a:endParaRPr lang="en-US" sz="1700" dirty="0"/>
          </a:p>
        </p:txBody>
      </p:sp>
      <p:sp>
        <p:nvSpPr>
          <p:cNvPr id="14" name="Shape 12"/>
          <p:cNvSpPr/>
          <p:nvPr/>
        </p:nvSpPr>
        <p:spPr>
          <a:xfrm>
            <a:off x="3264408" y="1188720"/>
            <a:ext cx="5468112" cy="1636776"/>
          </a:xfrm>
          <a:prstGeom prst="roundRect">
            <a:avLst>
              <a:gd name="adj" fmla="val 5587"/>
            </a:avLst>
          </a:prstGeom>
          <a:solidFill>
            <a:srgbClr val="F4F4F4"/>
          </a:solidFill>
          <a:ln/>
        </p:spPr>
      </p:sp>
      <p:sp>
        <p:nvSpPr>
          <p:cNvPr id="15" name="Text 13"/>
          <p:cNvSpPr txBox="1"/>
          <p:nvPr/>
        </p:nvSpPr>
        <p:spPr>
          <a:xfrm>
            <a:off x="3520440" y="1325880"/>
            <a:ext cx="4937760" cy="384048"/>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案例背景</a:t>
            </a:r>
            <a:endParaRPr lang="en-US" sz="1600" dirty="0"/>
          </a:p>
        </p:txBody>
      </p:sp>
      <p:sp>
        <p:nvSpPr>
          <p:cNvPr id="16" name="Text 14"/>
          <p:cNvSpPr txBox="1"/>
          <p:nvPr/>
        </p:nvSpPr>
        <p:spPr>
          <a:xfrm>
            <a:off x="3520440" y="1783080"/>
            <a:ext cx="4983480" cy="960120"/>
          </a:xfrm>
          <a:prstGeom prst="rect">
            <a:avLst/>
          </a:prstGeom>
          <a:noFill/>
          <a:ln/>
        </p:spPr>
        <p:txBody>
          <a:bodyPr wrap="square" lIns="0" tIns="0" rIns="0" bIns="0" rtlCol="0" anchor="t"/>
          <a:lstStyle/>
          <a:p>
            <a:pPr indent="0" marL="0">
              <a:lnSpc>
                <a:spcPct val="145000"/>
              </a:lnSpc>
              <a:buNone/>
            </a:pPr>
            <a:r>
              <a:rPr lang="en-US" sz="1400" dirty="0">
                <a:solidFill>
                  <a:srgbClr val="111111"/>
                </a:solidFill>
                <a:latin typeface="Microsoft YaHei" pitchFamily="34" charset="0"/>
                <a:ea typeface="Microsoft YaHei" pitchFamily="34" charset="-122"/>
                <a:cs typeface="Microsoft YaHei" pitchFamily="34" charset="-120"/>
              </a:rPr>
              <a:t>在某公司的网站改版项目中，设计团队通过卡片分类法收集用户对内容的分类方式。</a:t>
            </a:r>
            <a:endParaRPr lang="en-US" sz="1400" dirty="0"/>
          </a:p>
        </p:txBody>
      </p:sp>
      <p:sp>
        <p:nvSpPr>
          <p:cNvPr id="17" name="Shape 15"/>
          <p:cNvSpPr/>
          <p:nvPr/>
        </p:nvSpPr>
        <p:spPr>
          <a:xfrm>
            <a:off x="3264408" y="2935224"/>
            <a:ext cx="5468112" cy="1636776"/>
          </a:xfrm>
          <a:prstGeom prst="roundRect">
            <a:avLst>
              <a:gd name="adj" fmla="val 5587"/>
            </a:avLst>
          </a:prstGeom>
          <a:solidFill>
            <a:srgbClr val="111111"/>
          </a:solidFill>
          <a:ln/>
        </p:spPr>
      </p:sp>
      <p:sp>
        <p:nvSpPr>
          <p:cNvPr id="18" name="Text 16"/>
          <p:cNvSpPr txBox="1"/>
          <p:nvPr/>
        </p:nvSpPr>
        <p:spPr>
          <a:xfrm>
            <a:off x="3520440" y="3072384"/>
            <a:ext cx="4937760" cy="384048"/>
          </a:xfrm>
          <a:prstGeom prst="rect">
            <a:avLst/>
          </a:prstGeom>
          <a:noFill/>
          <a:ln/>
        </p:spPr>
        <p:txBody>
          <a:bodyPr wrap="square" lIns="0" tIns="0" rIns="0" bIns="0" rtlCol="0" anchor="ctr"/>
          <a:lstStyle/>
          <a:p>
            <a:pPr indent="0" marL="0">
              <a:buNone/>
            </a:pPr>
            <a:r>
              <a:rPr lang="en-US" sz="1600" b="1" dirty="0">
                <a:solidFill>
                  <a:srgbClr val="C9F5C0"/>
                </a:solidFill>
                <a:latin typeface="Microsoft YaHei" pitchFamily="34" charset="0"/>
                <a:ea typeface="Microsoft YaHei" pitchFamily="34" charset="-122"/>
                <a:cs typeface="Microsoft YaHei" pitchFamily="34" charset="-120"/>
              </a:rPr>
              <a:t>案例效果</a:t>
            </a:r>
            <a:endParaRPr lang="en-US" sz="1600" dirty="0"/>
          </a:p>
        </p:txBody>
      </p:sp>
      <p:sp>
        <p:nvSpPr>
          <p:cNvPr id="19" name="Text 17"/>
          <p:cNvSpPr txBox="1"/>
          <p:nvPr/>
        </p:nvSpPr>
        <p:spPr>
          <a:xfrm>
            <a:off x="3520440" y="3529584"/>
            <a:ext cx="4983480" cy="960120"/>
          </a:xfrm>
          <a:prstGeom prst="rect">
            <a:avLst/>
          </a:prstGeom>
          <a:noFill/>
          <a:ln/>
        </p:spPr>
        <p:txBody>
          <a:bodyPr wrap="square" lIns="0" tIns="0" rIns="0" bIns="0" rtlCol="0" anchor="t"/>
          <a:lstStyle/>
          <a:p>
            <a:pPr indent="0" marL="0">
              <a:lnSpc>
                <a:spcPct val="145000"/>
              </a:lnSpc>
              <a:buNone/>
            </a:pPr>
            <a:r>
              <a:rPr lang="en-US" sz="1400" dirty="0">
                <a:solidFill>
                  <a:srgbClr val="FFFFFF"/>
                </a:solidFill>
                <a:latin typeface="Microsoft YaHei" pitchFamily="34" charset="0"/>
                <a:ea typeface="Microsoft YaHei" pitchFamily="34" charset="-122"/>
                <a:cs typeface="Microsoft YaHei" pitchFamily="34" charset="-120"/>
              </a:rPr>
              <a:t>通过分析分类结果，团队优化了网站导航结构，提高了用户查找信息的效率。</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1143000"/>
            <a:ext cx="868680" cy="868680"/>
          </a:xfrm>
          <a:prstGeom prst="donut">
            <a:avLst/>
          </a:prstGeom>
          <a:solidFill>
            <a:srgbClr val="4D49FC"/>
          </a:solidFill>
          <a:ln/>
        </p:spPr>
      </p:sp>
      <p:sp>
        <p:nvSpPr>
          <p:cNvPr id="3" name="Shape 1"/>
          <p:cNvSpPr/>
          <p:nvPr/>
        </p:nvSpPr>
        <p:spPr>
          <a:xfrm>
            <a:off x="1783080" y="1143000"/>
            <a:ext cx="2103120" cy="868680"/>
          </a:xfrm>
          <a:prstGeom prst="roundRect">
            <a:avLst>
              <a:gd name="adj" fmla="val 16842"/>
            </a:avLst>
          </a:prstGeom>
          <a:solidFill>
            <a:srgbClr val="CB9FD2"/>
          </a:solidFill>
          <a:ln/>
        </p:spPr>
      </p:sp>
      <p:sp>
        <p:nvSpPr>
          <p:cNvPr id="4" name="Text 2"/>
          <p:cNvSpPr txBox="1"/>
          <p:nvPr/>
        </p:nvSpPr>
        <p:spPr>
          <a:xfrm>
            <a:off x="1892808" y="1143000"/>
            <a:ext cx="1883664" cy="868680"/>
          </a:xfrm>
          <a:prstGeom prst="rect">
            <a:avLst/>
          </a:prstGeom>
          <a:noFill/>
          <a:ln/>
        </p:spPr>
        <p:txBody>
          <a:bodyPr wrap="square" lIns="0" tIns="0" rIns="0" bIns="0" rtlCol="0" anchor="ctr"/>
          <a:lstStyle/>
          <a:p>
            <a:pPr algn="ctr" indent="0" marL="0">
              <a:buNone/>
            </a:pPr>
            <a:r>
              <a:rPr lang="en-US" sz="4400" dirty="0">
                <a:solidFill>
                  <a:srgbClr val="111111"/>
                </a:solidFill>
                <a:latin typeface="Microsoft YaHei" pitchFamily="34" charset="0"/>
                <a:ea typeface="Microsoft YaHei" pitchFamily="34" charset="-122"/>
                <a:cs typeface="Microsoft YaHei" pitchFamily="34" charset="-120"/>
              </a:rPr>
              <a:t>谢谢</a:t>
            </a:r>
            <a:endParaRPr lang="en-US" sz="4400" dirty="0"/>
          </a:p>
        </p:txBody>
      </p:sp>
      <p:sp>
        <p:nvSpPr>
          <p:cNvPr id="5" name="Shape 3"/>
          <p:cNvSpPr/>
          <p:nvPr/>
        </p:nvSpPr>
        <p:spPr>
          <a:xfrm>
            <a:off x="4005072" y="1170432"/>
            <a:ext cx="822960" cy="822960"/>
          </a:xfrm>
          <a:prstGeom prst="star12">
            <a:avLst/>
          </a:prstGeom>
          <a:solidFill>
            <a:srgbClr val="FF3B30"/>
          </a:solidFill>
          <a:ln/>
        </p:spPr>
      </p:sp>
      <p:sp>
        <p:nvSpPr>
          <p:cNvPr id="6" name="Shape 4"/>
          <p:cNvSpPr/>
          <p:nvPr/>
        </p:nvSpPr>
        <p:spPr>
          <a:xfrm>
            <a:off x="4937760" y="1143000"/>
            <a:ext cx="2103120" cy="868680"/>
          </a:xfrm>
          <a:prstGeom prst="roundRect">
            <a:avLst>
              <a:gd name="adj" fmla="val 16842"/>
            </a:avLst>
          </a:prstGeom>
          <a:solidFill>
            <a:srgbClr val="C7F8FB"/>
          </a:solidFill>
          <a:ln/>
        </p:spPr>
      </p:sp>
      <p:sp>
        <p:nvSpPr>
          <p:cNvPr id="7" name="Text 5"/>
          <p:cNvSpPr txBox="1"/>
          <p:nvPr/>
        </p:nvSpPr>
        <p:spPr>
          <a:xfrm>
            <a:off x="5047488" y="1143000"/>
            <a:ext cx="1883664" cy="868680"/>
          </a:xfrm>
          <a:prstGeom prst="rect">
            <a:avLst/>
          </a:prstGeom>
          <a:noFill/>
          <a:ln/>
        </p:spPr>
        <p:txBody>
          <a:bodyPr wrap="square" lIns="0" tIns="0" rIns="0" bIns="0" rtlCol="0" anchor="ctr"/>
          <a:lstStyle/>
          <a:p>
            <a:pPr algn="ctr" indent="0" marL="0">
              <a:buNone/>
            </a:pPr>
            <a:r>
              <a:rPr lang="en-US" sz="4400" dirty="0">
                <a:solidFill>
                  <a:srgbClr val="111111"/>
                </a:solidFill>
                <a:latin typeface="Microsoft YaHei" pitchFamily="34" charset="0"/>
                <a:ea typeface="Microsoft YaHei" pitchFamily="34" charset="-122"/>
                <a:cs typeface="Microsoft YaHei" pitchFamily="34" charset="-120"/>
              </a:rPr>
              <a:t>大家</a:t>
            </a:r>
            <a:endParaRPr lang="en-US" sz="4400" dirty="0"/>
          </a:p>
        </p:txBody>
      </p:sp>
      <p:sp>
        <p:nvSpPr>
          <p:cNvPr id="8" name="Shape 6"/>
          <p:cNvSpPr/>
          <p:nvPr/>
        </p:nvSpPr>
        <p:spPr>
          <a:xfrm>
            <a:off x="1783080" y="2148840"/>
            <a:ext cx="3566160" cy="868680"/>
          </a:xfrm>
          <a:prstGeom prst="roundRect">
            <a:avLst>
              <a:gd name="adj" fmla="val 16842"/>
            </a:avLst>
          </a:prstGeom>
          <a:solidFill>
            <a:srgbClr val="E4FF97"/>
          </a:solidFill>
          <a:ln/>
        </p:spPr>
      </p:sp>
      <p:sp>
        <p:nvSpPr>
          <p:cNvPr id="9" name="Text 7"/>
          <p:cNvSpPr txBox="1"/>
          <p:nvPr/>
        </p:nvSpPr>
        <p:spPr>
          <a:xfrm>
            <a:off x="1892808" y="2148840"/>
            <a:ext cx="3346704" cy="868680"/>
          </a:xfrm>
          <a:prstGeom prst="rect">
            <a:avLst/>
          </a:prstGeom>
          <a:noFill/>
          <a:ln/>
        </p:spPr>
        <p:txBody>
          <a:bodyPr wrap="square" lIns="0" tIns="0" rIns="0" bIns="0" rtlCol="0" anchor="ctr"/>
          <a:lstStyle/>
          <a:p>
            <a:pPr algn="ctr" indent="0" marL="0">
              <a:buNone/>
            </a:pPr>
            <a:r>
              <a:rPr lang="en-US" sz="4400" dirty="0">
                <a:solidFill>
                  <a:srgbClr val="111111"/>
                </a:solidFill>
                <a:latin typeface="Arial" pitchFamily="34" charset="0"/>
                <a:ea typeface="Arial" pitchFamily="34" charset="-122"/>
                <a:cs typeface="Arial" pitchFamily="34" charset="-120"/>
              </a:rPr>
              <a:t>THANKS</a:t>
            </a:r>
            <a:endParaRPr lang="en-US" sz="4400" dirty="0"/>
          </a:p>
        </p:txBody>
      </p:sp>
      <p:sp>
        <p:nvSpPr>
          <p:cNvPr id="10" name="Shape 8"/>
          <p:cNvSpPr/>
          <p:nvPr/>
        </p:nvSpPr>
        <p:spPr>
          <a:xfrm>
            <a:off x="5486400" y="2176272"/>
            <a:ext cx="822960" cy="822960"/>
          </a:xfrm>
          <a:prstGeom prst="star12">
            <a:avLst/>
          </a:prstGeom>
          <a:solidFill>
            <a:srgbClr val="8B5CF6"/>
          </a:solidFill>
          <a:ln/>
        </p:spPr>
      </p:sp>
      <p:sp>
        <p:nvSpPr>
          <p:cNvPr id="11" name="Text 9"/>
          <p:cNvSpPr txBox="1"/>
          <p:nvPr/>
        </p:nvSpPr>
        <p:spPr>
          <a:xfrm>
            <a:off x="1783080" y="3291840"/>
            <a:ext cx="5486400" cy="320040"/>
          </a:xfrm>
          <a:prstGeom prst="rect">
            <a:avLst/>
          </a:prstGeom>
          <a:noFill/>
          <a:ln/>
        </p:spPr>
        <p:txBody>
          <a:bodyPr wrap="square" lIns="0" tIns="0" rIns="0" bIns="0" rtlCol="0" anchor="ctr"/>
          <a:lstStyle/>
          <a:p>
            <a:pPr indent="0" marL="0">
              <a:buNone/>
            </a:pPr>
            <a:r>
              <a:rPr lang="en-US" sz="1300" dirty="0">
                <a:solidFill>
                  <a:srgbClr val="111111"/>
                </a:solidFill>
                <a:latin typeface="Microsoft YaHei" pitchFamily="34" charset="0"/>
                <a:ea typeface="Microsoft YaHei" pitchFamily="34" charset="-122"/>
                <a:cs typeface="Microsoft YaHei" pitchFamily="34" charset="-120"/>
              </a:rPr>
              <a:t>第6课  用户研究方法（二）</a:t>
            </a:r>
            <a:endParaRPr lang="en-US" sz="1300" dirty="0"/>
          </a:p>
        </p:txBody>
      </p:sp>
      <p:sp>
        <p:nvSpPr>
          <p:cNvPr id="12" name="Text 10"/>
          <p:cNvSpPr txBox="1"/>
          <p:nvPr/>
        </p:nvSpPr>
        <p:spPr>
          <a:xfrm>
            <a:off x="1783080" y="3611880"/>
            <a:ext cx="5486400" cy="274320"/>
          </a:xfrm>
          <a:prstGeom prst="rect">
            <a:avLst/>
          </a:prstGeom>
          <a:noFill/>
          <a:ln/>
        </p:spPr>
        <p:txBody>
          <a:bodyPr wrap="square" lIns="0" tIns="0" rIns="0" bIns="0" rtlCol="0" anchor="ctr"/>
          <a:lstStyle/>
          <a:p>
            <a:pPr indent="0" marL="0">
              <a:buNone/>
            </a:pPr>
            <a:r>
              <a:rPr lang="en-US" sz="1000" dirty="0">
                <a:solidFill>
                  <a:srgbClr val="6B6B6B"/>
                </a:solidFill>
                <a:latin typeface="Microsoft YaHei" pitchFamily="34" charset="0"/>
                <a:ea typeface="Microsoft YaHei" pitchFamily="34" charset="-122"/>
                <a:cs typeface="Microsoft YaHei" pitchFamily="34" charset="-120"/>
              </a:rPr>
              <a:t>湖北工业大学工业设计学院  ·  张萌</a:t>
            </a:r>
            <a:endParaRPr lang="en-US" sz="1000" dirty="0"/>
          </a:p>
        </p:txBody>
      </p:sp>
      <p:sp>
        <p:nvSpPr>
          <p:cNvPr id="13" name="Shape 11"/>
          <p:cNvSpPr/>
          <p:nvPr/>
        </p:nvSpPr>
        <p:spPr>
          <a:xfrm>
            <a:off x="411480" y="4818888"/>
            <a:ext cx="77724" cy="77724"/>
          </a:xfrm>
          <a:prstGeom prst="ellipse">
            <a:avLst/>
          </a:prstGeom>
          <a:solidFill>
            <a:srgbClr val="4D49FC"/>
          </a:solidFill>
          <a:ln/>
        </p:spPr>
      </p:sp>
      <p:sp>
        <p:nvSpPr>
          <p:cNvPr id="14" name="Shape 12"/>
          <p:cNvSpPr/>
          <p:nvPr/>
        </p:nvSpPr>
        <p:spPr>
          <a:xfrm>
            <a:off x="507492" y="4818888"/>
            <a:ext cx="77724" cy="77724"/>
          </a:xfrm>
          <a:prstGeom prst="ellipse">
            <a:avLst/>
          </a:prstGeom>
          <a:solidFill>
            <a:srgbClr val="4D49FC"/>
          </a:solidFill>
          <a:ln/>
        </p:spPr>
      </p:sp>
      <p:sp>
        <p:nvSpPr>
          <p:cNvPr id="15" name="Shape 13"/>
          <p:cNvSpPr/>
          <p:nvPr/>
        </p:nvSpPr>
        <p:spPr>
          <a:xfrm>
            <a:off x="411480" y="4914900"/>
            <a:ext cx="77724" cy="77724"/>
          </a:xfrm>
          <a:prstGeom prst="ellipse">
            <a:avLst/>
          </a:prstGeom>
          <a:solidFill>
            <a:srgbClr val="4D49FC"/>
          </a:solidFill>
          <a:ln/>
        </p:spPr>
      </p:sp>
      <p:sp>
        <p:nvSpPr>
          <p:cNvPr id="16" name="Shape 14"/>
          <p:cNvSpPr/>
          <p:nvPr/>
        </p:nvSpPr>
        <p:spPr>
          <a:xfrm>
            <a:off x="507492" y="4914900"/>
            <a:ext cx="77724" cy="77724"/>
          </a:xfrm>
          <a:prstGeom prst="ellipse">
            <a:avLst/>
          </a:prstGeom>
          <a:solidFill>
            <a:srgbClr val="4D49F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第6课 用户研究方法（二）</dc:title>
  <dc:subject>PptxGenJS Presentation</dc:subject>
  <dc:creator>张萌</dc:creator>
  <cp:lastModifiedBy>张萌</cp:lastModifiedBy>
  <cp:revision>1</cp:revision>
  <dcterms:created xsi:type="dcterms:W3CDTF">2026-09-23T17:50:56Z</dcterms:created>
  <dcterms:modified xsi:type="dcterms:W3CDTF">2026-09-23T17:50:56Z</dcterms:modified>
</cp:coreProperties>
</file>