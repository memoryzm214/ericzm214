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111111"/>
            </a:solidFill>
            <a:ln w="38100" cap="flat">
              <a:solidFill>
                <a:srgbClr val="1111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11111"/>
              </a:solidFill>
              <a:ln w="9525" cap="flat">
                <a:solidFill>
                  <a:srgbClr val="1111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2.6</c:v>
                </c:pt>
                <c:pt idx="3">
                  <c:v>4</c:v>
                </c:pt>
                <c:pt idx="4">
                  <c:v>4.6</c:v>
                </c:pt>
                <c:pt idx="5">
                  <c:v>5.8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FFE3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E3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E3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3.5</c:v>
                </c:pt>
                <c:pt idx="2">
                  <c:v>4.2</c:v>
                </c:pt>
                <c:pt idx="3">
                  <c:v>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E3A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1111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BEBE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文章的开篇段落是吸引读者的关键所在。它就像是一扇门，透过这扇门，读者可以窥见文章的精彩内容。一个引人入胜的开篇能够激发读者的好奇心，促使他们继续阅读下去。这就要求作者在撰写开篇时，要力求创新，用生动有趣的语言，或者提出一个引人深思的问题，来吸引读者的注意力。
在撰写开篇段落时，作者可以采用多种技巧。比如，可以引用一个相关的故事或者案例，让读者产生共鸣；或者提出一个有争议性的观点，引发读者的思考。此外，开篇段落还应该简洁明了，避免冗长的叙述，以免让读者感到疲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在文章的开篇部分，引入研究背景是非常重要的。这有助于读者理解研究的起点和研究的必要性。研究背景的引入应该简洁明了，避免过多的细节，而是要突出研究的核心问题和研究的重要性。
在开篇部分，作者需要明确提出研究的问题或假设。这些问题或假设应该是具体且具有针对性的，能够引导读者理解研究的方向和目的。通过提出明确的研究问题，读者可以更好地跟随作者的思路，理解文章的核心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在文章的开篇部分，作者需要展示研究的创新性或独特视角。这可以通过对比已有研究，指出本研究的新颖之处，或者提出新的理论观点来实现。展示研究的创新性有助于增强文章的学术价值，吸引读者的关注。
强调研究的独特贡献是开篇部分的重要任务。作者应该明确指出本研究如何填补学术空白，或者如何解决实际问题。这样不仅能够体现研究的价值，还能够激发读者的阅读兴趣。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在开篇部分，作者应该为读者提供清晰的阅读框架，概述文章的主要内容。这包括介绍文章的研究方法、主要观点和结论。通过概述文章结构，读者可以更好地把握文章的脉络，提高阅读效率。
开篇部分不仅要提供阅读框架，还要引导读者进入文章的核心内容。这可以通过提出问题、设置悬念或者引用相关研究来实现。通过巧妙地引导，读者可以更加投入地阅读文章，理解作者的意图。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为了提升文章的吸引力，作者需要重新审视开篇段落。这包括检查语言是否生动有趣，是否能够激发读者的好奇心。如果开篇段落过于平淡，作者可以考虑增加一些生动的案例、引用或者提出具有争议性的问题。
在修改开篇时，作者可以增加生动语言，使文章更具吸引力。同时，提出具有争议性的问题也是一个有效的方法。这样的问题能够引发读者的思考，激发他们的阅读兴趣。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在修改开篇时，作者应该调整语言，使研究的问题显得更加紧迫和有意义。例如，可以引用最新的数据或社会事件，说明研究的现实关联性。这样能够增强文章的吸引力，让读者感到研究的紧迫性。
为了突出研究的重要性和紧迫性，作者可以在开篇中引用最新数据或社会事件。这些数据和事件可以作为研究的背景，说明研究的现实意义。通过引用具体的数据和事件，文章的开篇将更具说服力。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在修改开篇时，作者应该明确展示研究的创新性和独特视角。这可以通过对比已有研究，指出本研究的新颖之处，或者提出新的理论观点来实现。强调研究的独特贡献有助于提升文章的学术价值。
在强调研究的独特贡献时，作者还需要引导读者理解研究的价值。这包括说明研究如何填补学术空白，或者如何解决实际问题。通过明确展示研究的价值，读者可以更好地认识到文章的重要性。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在文章的结论部分，作者需要重申核心论点，确保读者清晰理解文章的成果。这有助于巩固读者对文章主要观点的记忆，使文章的结论更加深刻。
在结论部分，作者应该简要总结研究的主要发现。这应该包括研究的关键结果和结论，以及这些结果的意义。通过简洁明了的总结，读者可以快速把握文章的核心内容。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一个好的标题应该能够精准传达文章的主题和研究对象。作者应该避免使用冗长或复杂的语言，而是要力求简洁明了。这样不仅能够吸引读者的注意力，还能够帮助读者快速理解文章的内容。
在修改标题时，作者应该避免使用冗长或复杂的语言。冗长的标题可能会让读者感到困惑，甚至失去阅读的兴趣。因此，作者应该力求标题的简洁性，使其一目了然。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标题应该包含研究的核心内容或关键词，使读者一目了然地了解文章的研究方向。这有助于提高文章的可读性，让读者在阅读全文之前就对文章的主题有一个大致的了解。
在修改标题时，作者应该确保标题能够概括文章的重点，包括研究对象、方法或发现。这样不仅能够吸引读者的注意力，还能够帮助读者快速定位文章的核心内容。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为了增加标题的创新性，作者可以在标题中加入能够展示创新性的词语。例如，如果研究涉及新方法或新理论，可以在标题中加以强调。这样的标题能够吸引读者的兴趣，使他们更愿意阅读全文。
在修改标题时，作者应该考虑如何吸引读者的兴趣。一个具有创新性的标题能够激发读者的好奇心，促使他们进一步探索文章的内容。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在修改标题时，作者应该考虑读者的检索需求。标题应包含易于检索的关键词，使文章在学术数据库中更易被找到。这样不仅能够提高文章的引用率，还能够增加读者的阅读和引用可能性。
为了提高文章的可发现性，作者应该在标题中包含易于检索的关键词。这些关键词应该与研究的主题和内容紧密相关，以便读者在搜索时能够快速找到相关文章。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研究背景主要包括问题的提出、国内外研究现状、研究意义和目的等几个部分，它们共同构成了研究背景的框架。
背景信息与研究主题紧密相连，为研究的展开提供了必要的背景支持和理论依据。
研究背景的逻辑框架应清晰明确，从问题的提出到研究目的的设定，形成一个严密的结构体系。
研究背景的写作应注重逻辑性、条理性和准确性，避免冗余和泛泛而谈，以确保读者能够快速理解研究背景。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国内外在该领域的研究已经取得了一系列进展，例如，国外研究者在理论模型构建方面有深入探索，而国内研究者则在实证分析方面取得了丰富成果。这些研究为我们提供了宝贵的基础资料，但也存在一定的局限性，需要进一步整合和创新。
当前研究领域内，一些热点问题引起了广泛关注，如技术的可持续发展、环境政策的效应评估等。这些问题直接关系到社会经济的可持续发展，因此成为学术界和政策制定者关注的焦点。
尽管研究取得了一定成果，但仍然存在数据质量、研究方法适用性等方面的不足和挑战。这些不足限制了研究的深度和广度，需要我们采取更加科学的方法和手段来解决。
随着科技进步和社会发展，研究领域呈现出一些新的趋势，例如大数据分析、跨学科研究等。这些趋势为未来研究提供了新的思路和方向。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从学术角度来看，本研究有助于丰富和完善相关理论体系，为后续研究提供新的视角和理论支撑，推动学科的发展。
本研究在现有研究的基础上，进一步探讨了某些尚未充分研究的问题，对现有研究成果进行了补充和完善。
本研究的成果可直接应用于解决现实问题，如提高政策制定的科学性、促进产业的可持续发展等，具有显著的实际应用价值。
本研究的发现和结论为未来研究提供了方向和指导，有助于学术界更好地规划后续研究工作。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本研究的目标是系统地分析某一领域的问题，探索其内在规律，并提出相应的解决方案，以期促进该领域的发展。
研究内容主要包括对该领域现状的分析、对热点问题的探讨、对研究方法的创新以及对未来趋势的预测等。
本研究采用了文献分析、实证研究、案例分析等多种研究方法，以确保研究的全面性和深入性。
预期通过本研究，能够提出一些有价值的观点和结论，为学术界和政策制定者提供参考。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【参考研究目标，供讲解】
· 校园文化空间：梳理校园文化空间的流线与场所营造策略，提升学生使用时的方向感与场所感，从而增强学生的文化认同感。
· 适老智能家居：简化智能家居设备的交互设计，降低老年用户的操作难度，提升其对智能设备的使用意愿与依赖度。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如何从图书馆、数据库等渠道获取相关文献，包括书籍、期刊文章、会议论文等。搜集过程中要注意文献的权威性、时效性和相关性，确保所选文献对研究领域有实质性的贡献。
实证数据是研究背景中不可或缺的通过实验、调查问卷、统计数据等方式收集数据。在获取数据时，要注重数据的真实性和可靠性，避免数据造假或误用。
如何联系专家、设计访谈提纲，并从中提取有价值的信息。此外，调研过程中要注意保持客观和尊重，确保信息的准确性。
筛选和评估网络资源，包括学术论文、专业网站、在线数据库等。同时，要注意识别网络上的不实信息和伪科学内容，避免误导。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按照类型、主题、来源等分类。分类工作有助于后续的分析和处理，使资料更加条理化。
分析资料与研究主题的相关性，筛选出与研究密切相关的资料，剔除无关或弱相关的资料。相关性分析有助于提高研究的针对性和有效性。
评估资料的可信度，包括作者资质、出版机构、引用频次等。通过评估，确保使用的是可靠和权威的资料，增强研究的可信度。
将搜集到的资料综合运用到研究背景中，包括资料的引用、整合和对比分析等。综合运用资料可以使研究背景更加丰富和立体。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在撰写研究背景时，需要梳理出一条贯穿全文的主线，这条主线通常围绕研究的核心问题展开。通过梳理主线，作者可以更好地引导读者理解研究的重要性，以及研究内容与主题之间的紧密联系。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在研究背景中，信息分类是指将收集到的资料按照类型、来源或重要性进行分类整理。这种分类有助于作者清晰地识别和组织信息，使背景内容更加有条理性和系统性。
条理清晰度是指研究背景的表述是否清晰易懂，是否能够使作者一目了然地理解研究背景的全貌。这需要作者在撰写时注重语言的简练、逻辑的清晰，避免冗余和模糊的表述。
连贯性是指研究背景中的信息、观点和论证是否形成一个连续、统一的整体。作者应当确保各部分内容相互关联，相互支撑，避免出现跳跃和断裂，使背景内容更加协调一致。
易读性是指研究背景是否易于阅读和理解。作者应当在撰写时考虑到读者的背景知识，使用恰当的术语和表达方式，使内容既专业又易于接受，以便于读者快速把握研究背景的核心信息。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【原文要点，供讲解】
图表类型的选择应基于数据的特点和需要展示的信息。例如，对于趋势分析，折线图可能是最佳选择；而对于比较不同组的数据，条形图或饼图可能更为合适。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jpeg"/><Relationship Id="rId3" Type="http://schemas.openxmlformats.org/officeDocument/2006/relationships/image" Target="../media/image-2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image" Target="../media/image-3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03  ·  MATERIALS &amp; EXPERIENCE  ·  材料研究与产品设计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学术论文研究背景撰写技巧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874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Research Background</a:t>
            </a:r>
            <a:endParaRPr lang="en-US" sz="1500" dirty="0"/>
          </a:p>
        </p:txBody>
      </p:sp>
      <p:pic>
        <p:nvPicPr>
          <p:cNvPr id="5" name="Image 0" descr="decorative 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9391" y="2514600"/>
            <a:ext cx="5274609" cy="26289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4270248"/>
            <a:ext cx="124358" cy="124358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4"/>
          <p:cNvSpPr/>
          <p:nvPr/>
        </p:nvSpPr>
        <p:spPr>
          <a:xfrm>
            <a:off x="565099" y="4270248"/>
            <a:ext cx="124358" cy="124358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4423867"/>
            <a:ext cx="124358" cy="124358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Shape 6"/>
          <p:cNvSpPr/>
          <p:nvPr/>
        </p:nvSpPr>
        <p:spPr>
          <a:xfrm>
            <a:off x="565099" y="4423867"/>
            <a:ext cx="124358" cy="124358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41605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湖北工业大学  工业设计学院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张萌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课程目录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5" name="Shape 3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188720"/>
            <a:ext cx="1295400" cy="3383280"/>
          </a:xfrm>
          <a:prstGeom prst="roundRect">
            <a:avLst>
              <a:gd name="adj" fmla="val 7059"/>
            </a:avLst>
          </a:prstGeom>
          <a:solidFill>
            <a:srgbClr val="C7F8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6072" y="1325880"/>
            <a:ext cx="1021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" y="2651760"/>
            <a:ext cx="1021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文章开篇的重要性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76072" y="3703320"/>
            <a:ext cx="1021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16608" y="1188720"/>
            <a:ext cx="1295400" cy="3383280"/>
          </a:xfrm>
          <a:prstGeom prst="roundRect">
            <a:avLst>
              <a:gd name="adj" fmla="val 7059"/>
            </a:avLst>
          </a:prstGeom>
          <a:solidFill>
            <a:srgbClr val="F4F4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981200" y="1325880"/>
            <a:ext cx="1021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1981200" y="2651760"/>
            <a:ext cx="1021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修改文章的开篇和结论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981200" y="3703320"/>
            <a:ext cx="1021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Revising Opening &amp; Conclusion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21736" y="1188720"/>
            <a:ext cx="1295400" cy="3383280"/>
          </a:xfrm>
          <a:prstGeom prst="roundRect">
            <a:avLst>
              <a:gd name="adj" fmla="val 7059"/>
            </a:avLst>
          </a:prstGeom>
          <a:solidFill>
            <a:srgbClr val="EBEBE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386328" y="1325880"/>
            <a:ext cx="1021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3386328" y="2651760"/>
            <a:ext cx="1021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实践：修改标题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386328" y="3703320"/>
            <a:ext cx="1021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 Titles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26864" y="1188720"/>
            <a:ext cx="1295400" cy="3383280"/>
          </a:xfrm>
          <a:prstGeom prst="roundRect">
            <a:avLst>
              <a:gd name="adj" fmla="val 7059"/>
            </a:avLst>
          </a:prstGeom>
          <a:solidFill>
            <a:srgbClr val="11111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91456" y="1325880"/>
            <a:ext cx="1021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4791456" y="2651760"/>
            <a:ext cx="1021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研究背景（引言）概述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791456" y="3703320"/>
            <a:ext cx="1021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Overview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31992" y="1188720"/>
            <a:ext cx="1295400" cy="3383280"/>
          </a:xfrm>
          <a:prstGeom prst="roundRect">
            <a:avLst>
              <a:gd name="adj" fmla="val 7059"/>
            </a:avLst>
          </a:prstGeom>
          <a:solidFill>
            <a:srgbClr val="F4F4F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196584" y="1325880"/>
            <a:ext cx="1021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6196584" y="2651760"/>
            <a:ext cx="1021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研究背景资料搜集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196584" y="3703320"/>
            <a:ext cx="1021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Collecting Materials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437120" y="1188720"/>
            <a:ext cx="1295400" cy="3383280"/>
          </a:xfrm>
          <a:prstGeom prst="roundRect">
            <a:avLst>
              <a:gd name="adj" fmla="val 7059"/>
            </a:avLst>
          </a:prstGeom>
          <a:solidFill>
            <a:srgbClr val="C7F8F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01712" y="1325880"/>
            <a:ext cx="1021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7601712" y="2651760"/>
            <a:ext cx="1021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研究背景的逻辑构建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601712" y="3703320"/>
            <a:ext cx="1021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Logic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03  ·  PART 01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文章开篇的重要性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325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Importance of the Opening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0"/>
            <a:ext cx="457200" cy="457200"/>
          </a:xfrm>
          <a:prstGeom prst="rect">
            <a:avLst/>
          </a:prstGeom>
          <a:solidFill>
            <a:srgbClr val="C7F8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41832" y="201168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吸引读者的关键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2560320"/>
            <a:ext cx="457200" cy="457200"/>
          </a:xfrm>
          <a:prstGeom prst="rect">
            <a:avLst/>
          </a:prstGeom>
          <a:solidFill>
            <a:srgbClr val="FFC9C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41832" y="256032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2560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设置研究背景和问题的重要性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solidFill>
            <a:srgbClr val="D9D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41832" y="310896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展示研究的独特性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11480" y="3657600"/>
            <a:ext cx="457200" cy="457200"/>
          </a:xfrm>
          <a:prstGeom prst="rect">
            <a:avLst/>
          </a:prstGeom>
          <a:solidFill>
            <a:srgbClr val="C9F5C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14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41832" y="365760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3657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构建清晰的阅读框架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2" name="Shape 20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4" name="Shape 22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50" dirty="0"/>
          </a:p>
        </p:txBody>
      </p:sp>
      <p:pic>
        <p:nvPicPr>
          <p:cNvPr id="27" name="Image 0" descr="decorative 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0514" y="1783080"/>
            <a:ext cx="2992006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文章开篇的重要性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吸引读者的关键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Engaging the Reader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5074920" cy="1636776"/>
          </a:xfrm>
          <a:prstGeom prst="roundRect">
            <a:avLst>
              <a:gd name="adj" fmla="val 5587"/>
            </a:avLst>
          </a:prstGeom>
          <a:solidFill>
            <a:srgbClr val="F4F4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2648" y="13533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开篇段落的作用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" y="1792224"/>
            <a:ext cx="46908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开篇像一扇门，让读者窥见全文的精彩。用生动有趣的语言或引人深思的问题，激发好奇心，促使读者读下去。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11480" y="2935224"/>
            <a:ext cx="5074920" cy="1636776"/>
          </a:xfrm>
          <a:prstGeom prst="roundRect">
            <a:avLst>
              <a:gd name="adj" fmla="val 5587"/>
            </a:avLst>
          </a:prstGeom>
          <a:solidFill>
            <a:srgbClr val="C7F8F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" y="309981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开篇段落的写作技巧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" y="3538728"/>
            <a:ext cx="46908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引用相关故事或案例，引发共鸣；提出有争议性的观点，引发思考；保持简洁明了，避免冗长叙述。</a:t>
            </a:r>
            <a:endParaRPr lang="en-US" sz="1350" dirty="0"/>
          </a:p>
        </p:txBody>
      </p:sp>
      <p:pic>
        <p:nvPicPr>
          <p:cNvPr id="18" name="Image 0" descr="p03_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1188720"/>
            <a:ext cx="1508760" cy="3383280"/>
          </a:xfrm>
          <a:prstGeom prst="rect">
            <a:avLst/>
          </a:prstGeom>
        </p:spPr>
      </p:pic>
      <p:pic>
        <p:nvPicPr>
          <p:cNvPr id="19" name="Image 1" descr="p03_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150876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文章开篇的重要性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设置研究背景和问题的重要性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Research Question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50" dirty="0"/>
          </a:p>
        </p:txBody>
      </p:sp>
      <p:pic>
        <p:nvPicPr>
          <p:cNvPr id="12" name="Image 0" descr="p04_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0"/>
            <a:ext cx="1664208" cy="1636776"/>
          </a:xfrm>
          <a:prstGeom prst="rect">
            <a:avLst/>
          </a:prstGeom>
        </p:spPr>
      </p:pic>
      <p:pic>
        <p:nvPicPr>
          <p:cNvPr id="13" name="Image 1" descr="p04_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16" y="1188720"/>
            <a:ext cx="1664208" cy="163677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11480" y="2935224"/>
            <a:ext cx="1664208" cy="1636776"/>
          </a:xfrm>
          <a:prstGeom prst="roundRect">
            <a:avLst>
              <a:gd name="adj" fmla="val 5587"/>
            </a:avLst>
          </a:prstGeom>
          <a:solidFill>
            <a:srgbClr val="C7F8FB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548640" y="2935224"/>
            <a:ext cx="148132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500" dirty="0"/>
          </a:p>
        </p:txBody>
      </p:sp>
      <p:pic>
        <p:nvPicPr>
          <p:cNvPr id="16" name="Image 2" descr="p04_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2935224"/>
            <a:ext cx="1664208" cy="163677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023360" y="1188720"/>
            <a:ext cx="4709160" cy="1636776"/>
          </a:xfrm>
          <a:prstGeom prst="roundRect">
            <a:avLst>
              <a:gd name="adj" fmla="val 5587"/>
            </a:avLst>
          </a:prstGeom>
          <a:solidFill>
            <a:srgbClr val="F4F4F4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4224528" y="13533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研究背景的引入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224528" y="1792224"/>
            <a:ext cx="43251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说明研究的起点与必要性。简洁明了，突出核心问题及其重要性，避免堆砌细节。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023360" y="2935224"/>
            <a:ext cx="4709160" cy="1636776"/>
          </a:xfrm>
          <a:prstGeom prst="roundRect">
            <a:avLst>
              <a:gd name="adj" fmla="val 5587"/>
            </a:avLst>
          </a:prstGeom>
          <a:solidFill>
            <a:srgbClr val="111111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4224528" y="309981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研究问题的提出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224528" y="3538728"/>
            <a:ext cx="43251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明确提出具体、有针对性的研究问题或假设，引导读者把握研究的方向与目的。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文章开篇的重要性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展示研究的独特性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What Is Unique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4105656" cy="3383280"/>
          </a:xfrm>
          <a:prstGeom prst="roundRect">
            <a:avLst>
              <a:gd name="adj" fmla="val 2703"/>
            </a:avLst>
          </a:prstGeom>
          <a:solidFill>
            <a:srgbClr val="C7F8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2648" y="1353312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" y="2359152"/>
            <a:ext cx="3739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研究创新性的体现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" y="2798064"/>
            <a:ext cx="372160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对比已有研究，指出本研究的新颖之处，或提出新的理论观点——增强文章的学术价值，吸引读者关注。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26864" y="1188720"/>
            <a:ext cx="4105656" cy="3383280"/>
          </a:xfrm>
          <a:prstGeom prst="roundRect">
            <a:avLst>
              <a:gd name="adj" fmla="val 2703"/>
            </a:avLst>
          </a:prstGeom>
          <a:solidFill>
            <a:srgbClr val="11111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28032" y="1353312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7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4828032" y="2359152"/>
            <a:ext cx="3739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研究独特贡献的强调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4828032" y="2798064"/>
            <a:ext cx="372160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明确指出本研究如何填补学术空白，或如何解决实际问题——既体现研究价值，也激发阅读兴趣。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文章开篇的重要性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构建清晰的阅读框架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Reading Framework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2926080" cy="33832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13" name="Image 0" descr="p06_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2651760" cy="2651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74720" y="1188720"/>
            <a:ext cx="5257800" cy="1636776"/>
          </a:xfrm>
          <a:prstGeom prst="roundRect">
            <a:avLst>
              <a:gd name="adj" fmla="val 5587"/>
            </a:avLst>
          </a:prstGeom>
          <a:solidFill>
            <a:srgbClr val="C7F8F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675888" y="13533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概述文章的主要内容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675888" y="1792224"/>
            <a:ext cx="48737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简要介绍研究方法、主要观点与结论，帮助读者把握文章脉络、提高阅读效率。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3474720" y="2935224"/>
            <a:ext cx="5257800" cy="1636776"/>
          </a:xfrm>
          <a:prstGeom prst="roundRect">
            <a:avLst>
              <a:gd name="adj" fmla="val 5587"/>
            </a:avLst>
          </a:prstGeom>
          <a:solidFill>
            <a:srgbClr val="F4F4F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675888" y="309981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引导读者进入核心内容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3675888" y="3538728"/>
            <a:ext cx="48737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通过提出问题、设置悬念或引用相关研究，把读者带入文章的核心内容。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03  ·  PART 02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修改文章的开篇和结论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325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Revising the Opening &amp; Conclusion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0"/>
            <a:ext cx="457200" cy="457200"/>
          </a:xfrm>
          <a:prstGeom prst="rect">
            <a:avLst/>
          </a:prstGeom>
          <a:solidFill>
            <a:srgbClr val="E4FF9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41832" y="201168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修改开篇以提升吸引力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2560320"/>
            <a:ext cx="457200" cy="457200"/>
          </a:xfrm>
          <a:prstGeom prst="rect">
            <a:avLst/>
          </a:prstGeom>
          <a:solidFill>
            <a:srgbClr val="D9D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41832" y="256032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2560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突出研究的重要性和紧迫性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solidFill>
            <a:srgbClr val="C9F5C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41832" y="310896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强调研究的独特贡献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11480" y="3657600"/>
            <a:ext cx="457200" cy="457200"/>
          </a:xfrm>
          <a:prstGeom prst="rect">
            <a:avLst/>
          </a:prstGeom>
          <a:solidFill>
            <a:srgbClr val="FFE3A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14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41832" y="365760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3657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总结核心结论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2" name="Shape 20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4" name="Shape 22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750" dirty="0"/>
          </a:p>
        </p:txBody>
      </p:sp>
      <p:pic>
        <p:nvPicPr>
          <p:cNvPr id="27" name="Image 0" descr="decorative 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3191384"/>
            <a:ext cx="3154680" cy="15177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修改文章的开篇和结论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修改开篇以提升吸引力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the Opening Compelling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2743200" cy="1636776"/>
          </a:xfrm>
          <a:prstGeom prst="roundRect">
            <a:avLst>
              <a:gd name="adj" fmla="val 5587"/>
            </a:avLst>
          </a:prstGeom>
          <a:solidFill>
            <a:srgbClr val="E4FF9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1325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重新审视开篇段落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264408" y="1188720"/>
            <a:ext cx="5468112" cy="1636776"/>
          </a:xfrm>
          <a:prstGeom prst="roundRect">
            <a:avLst>
              <a:gd name="adj" fmla="val 5587"/>
            </a:avLst>
          </a:prstGeom>
          <a:solidFill>
            <a:srgbClr val="F4F4F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520440" y="1188720"/>
            <a:ext cx="498348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检查语言是否生动有趣、能否激发好奇心。若开篇过于平淡，可加入生动的案例、引用或具有争议性的问题。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411480" y="2935224"/>
            <a:ext cx="2743200" cy="1636776"/>
          </a:xfrm>
          <a:prstGeom prst="roundRect">
            <a:avLst>
              <a:gd name="adj" fmla="val 5587"/>
            </a:avLst>
          </a:prstGeom>
          <a:solidFill>
            <a:srgbClr val="11111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" y="30723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4F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362102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增加生动语言或提出争议性问题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264408" y="2935224"/>
            <a:ext cx="5468112" cy="1636776"/>
          </a:xfrm>
          <a:prstGeom prst="roundRect">
            <a:avLst>
              <a:gd name="adj" fmla="val 5587"/>
            </a:avLst>
          </a:prstGeom>
          <a:solidFill>
            <a:srgbClr val="F4F4F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520440" y="2935224"/>
            <a:ext cx="498348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生动的语言让文章更具吸引力；具有争议性的问题引发读者思考，激发阅读兴趣。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修改文章的开篇和结论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突出研究的重要性和紧迫性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&amp; Urgency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4105656" cy="3383280"/>
          </a:xfrm>
          <a:prstGeom prst="roundRect">
            <a:avLst>
              <a:gd name="adj" fmla="val 2703"/>
            </a:avLst>
          </a:prstGeom>
          <a:solidFill>
            <a:srgbClr val="F4F4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调整语言以增强紧迫感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27432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让研究问题显得紧迫而有意义，说明研究的现实关联性，让读者感到研究刻不容缓。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26864" y="1188720"/>
            <a:ext cx="4105656" cy="3383280"/>
          </a:xfrm>
          <a:prstGeom prst="roundRect">
            <a:avLst>
              <a:gd name="adj" fmla="val 2703"/>
            </a:avLst>
          </a:prstGeom>
          <a:solidFill>
            <a:srgbClr val="E4FF9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01184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4901184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引用最新数据或社会事件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901184" y="27432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以最新数据或社会事件作为研究背景，说明现实意义，让开篇更具说服力。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修改文章的开篇和结论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强调研究的独特贡献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Emphasizing the Contribution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5669280" cy="1600200"/>
          </a:xfrm>
          <a:prstGeom prst="roundRect">
            <a:avLst>
              <a:gd name="adj" fmla="val 5714"/>
            </a:avLst>
          </a:prstGeom>
          <a:solidFill>
            <a:srgbClr val="E4FF9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2648" y="135331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明确展示研究的创新性和独特视角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" y="2084832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对比已有研究、指出新颖之处，或提出新的理论观点，提升文章的学术价值。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063240" y="2926080"/>
            <a:ext cx="5669280" cy="1645920"/>
          </a:xfrm>
          <a:prstGeom prst="roundRect">
            <a:avLst>
              <a:gd name="adj" fmla="val 5556"/>
            </a:avLst>
          </a:prstGeom>
          <a:solidFill>
            <a:srgbClr val="11111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264408" y="309067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4F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264408" y="3383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引导读者理解研究的价值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264408" y="3822192"/>
            <a:ext cx="5285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说明研究如何填补学术空白或解决实际问题，让读者认识到文章的重要性。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17920" y="118872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F4F4F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217920" y="118872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11480" y="292608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EBEBE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11480" y="292608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修改文章的开篇和结论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总结核心结论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Summarizing the Conclusion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5074920" cy="1636776"/>
          </a:xfrm>
          <a:prstGeom prst="roundRect">
            <a:avLst>
              <a:gd name="adj" fmla="val 5587"/>
            </a:avLst>
          </a:prstGeom>
          <a:solidFill>
            <a:srgbClr val="E4FF9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2648" y="13533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重申核心论点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" y="1792224"/>
            <a:ext cx="46908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在结论中重申核心论点，巩固读者对主要观点的记忆，让结论更深刻。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11480" y="2935224"/>
            <a:ext cx="5074920" cy="1636776"/>
          </a:xfrm>
          <a:prstGeom prst="roundRect">
            <a:avLst>
              <a:gd name="adj" fmla="val 5587"/>
            </a:avLst>
          </a:prstGeom>
          <a:solidFill>
            <a:srgbClr val="F4F4F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" y="309981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简要总结研究的主要发现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" y="3538728"/>
            <a:ext cx="46908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简明概括关键结果、结论及其意义，帮助读者快速把握核心内容。</a:t>
            </a:r>
            <a:endParaRPr lang="en-US" sz="1450" dirty="0"/>
          </a:p>
        </p:txBody>
      </p:sp>
      <p:pic>
        <p:nvPicPr>
          <p:cNvPr id="18" name="Image 0" descr="p11_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1188720"/>
            <a:ext cx="1508760" cy="1636776"/>
          </a:xfrm>
          <a:prstGeom prst="rect">
            <a:avLst/>
          </a:prstGeom>
        </p:spPr>
      </p:pic>
      <p:pic>
        <p:nvPicPr>
          <p:cNvPr id="19" name="Image 1" descr="p11_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1508760" cy="1636776"/>
          </a:xfrm>
          <a:prstGeom prst="rect">
            <a:avLst/>
          </a:prstGeom>
        </p:spPr>
      </p:pic>
      <p:pic>
        <p:nvPicPr>
          <p:cNvPr id="20" name="Image 2" descr="p11_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2935224"/>
            <a:ext cx="3136392" cy="16367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03  ·  PART 03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实践：修改标题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325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 Revising the Title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0"/>
            <a:ext cx="457200" cy="457200"/>
          </a:xfrm>
          <a:prstGeom prst="rect">
            <a:avLst/>
          </a:prstGeom>
          <a:solidFill>
            <a:srgbClr val="FFC9C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41832" y="201168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标题应简洁明了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2560320"/>
            <a:ext cx="457200" cy="457200"/>
          </a:xfrm>
          <a:prstGeom prst="rect">
            <a:avLst/>
          </a:prstGeom>
          <a:solidFill>
            <a:srgbClr val="C9F5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41832" y="256032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2560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突出研究的关键点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solidFill>
            <a:srgbClr val="FFE3A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41832" y="310896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增加创新性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11480" y="3657600"/>
            <a:ext cx="457200" cy="457200"/>
          </a:xfrm>
          <a:prstGeom prst="rect">
            <a:avLst/>
          </a:prstGeom>
          <a:solidFill>
            <a:srgbClr val="C7F8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14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41832" y="365760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3657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考虑读者的检索需求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2" name="Shape 20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4" name="Shape 22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750" dirty="0"/>
          </a:p>
        </p:txBody>
      </p:sp>
      <p:pic>
        <p:nvPicPr>
          <p:cNvPr id="27" name="Image 0" descr="decorative 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2601565"/>
            <a:ext cx="3154680" cy="21075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实践：修改标题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标题应简洁明了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Concise &amp; Clear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2377440" cy="3383280"/>
          </a:xfrm>
          <a:prstGeom prst="roundRect">
            <a:avLst>
              <a:gd name="adj" fmla="val 3846"/>
            </a:avLst>
          </a:prstGeom>
          <a:solidFill>
            <a:srgbClr val="11111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1325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C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474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标题应简洁明了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2898648" y="1188720"/>
            <a:ext cx="2862072" cy="3383280"/>
          </a:xfrm>
          <a:prstGeom prst="roundRect">
            <a:avLst>
              <a:gd name="adj" fmla="val 3195"/>
            </a:avLst>
          </a:prstGeom>
          <a:solidFill>
            <a:srgbClr val="FFC9C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099816" y="135331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精准传达文章主题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3099816" y="1792224"/>
            <a:ext cx="2478024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好标题精准传达文章的主题和研究对象，既吸引注意力，又帮助读者快速理解内容。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70448" y="1188720"/>
            <a:ext cx="2862072" cy="3383280"/>
          </a:xfrm>
          <a:prstGeom prst="roundRect">
            <a:avLst>
              <a:gd name="adj" fmla="val 3195"/>
            </a:avLst>
          </a:prstGeom>
          <a:solidFill>
            <a:srgbClr val="F4F4F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71616" y="135331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避免使用冗长语言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071616" y="1792224"/>
            <a:ext cx="2478024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冗长复杂的标题令人困惑，甚至失去阅读兴趣——力求简洁，一目了然。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实践：修改标题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突出研究的关键点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Highlighting the Key Points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4105656" cy="1188720"/>
          </a:xfrm>
          <a:prstGeom prst="roundRect">
            <a:avLst>
              <a:gd name="adj" fmla="val 7692"/>
            </a:avLst>
          </a:prstGeom>
          <a:solidFill>
            <a:srgbClr val="FFC9C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" y="1188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118872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11480" y="2487168"/>
            <a:ext cx="4105656" cy="2084832"/>
          </a:xfrm>
          <a:prstGeom prst="roundRect">
            <a:avLst>
              <a:gd name="adj" fmla="val 4386"/>
            </a:avLst>
          </a:prstGeom>
          <a:solidFill>
            <a:srgbClr val="F4F4F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包含核心内容或关键词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31089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包含研究的核心内容或关键词，让读者在读全文之前就了解研究方向。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626864" y="1188720"/>
            <a:ext cx="4105656" cy="1188720"/>
          </a:xfrm>
          <a:prstGeom prst="roundRect">
            <a:avLst>
              <a:gd name="adj" fmla="val 7692"/>
            </a:avLst>
          </a:prstGeom>
          <a:solidFill>
            <a:srgbClr val="11111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901184" y="1188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7735824" y="118872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4626864" y="2487168"/>
            <a:ext cx="4105656" cy="2084832"/>
          </a:xfrm>
          <a:prstGeom prst="roundRect">
            <a:avLst>
              <a:gd name="adj" fmla="val 4386"/>
            </a:avLst>
          </a:prstGeom>
          <a:solidFill>
            <a:srgbClr val="F4F4F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901184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概括文章的重点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901184" y="31089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概括研究对象、方法或发现，帮助读者快速定位文章的核心内容。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实践：修改标题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增加创新性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Novelty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411480" y="109728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一个具有创新性的标题能够激发读者的好奇心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11480" y="1874520"/>
            <a:ext cx="457200" cy="64008"/>
          </a:xfrm>
          <a:prstGeom prst="rect">
            <a:avLst/>
          </a:prstGeom>
          <a:solidFill>
            <a:srgbClr val="FFC9C1"/>
          </a:solidFill>
          <a:ln/>
        </p:spPr>
      </p:sp>
      <p:sp>
        <p:nvSpPr>
          <p:cNvPr id="14" name="Shape 11"/>
          <p:cNvSpPr/>
          <p:nvPr/>
        </p:nvSpPr>
        <p:spPr>
          <a:xfrm>
            <a:off x="411480" y="2103120"/>
            <a:ext cx="4105656" cy="2468880"/>
          </a:xfrm>
          <a:prstGeom prst="roundRect">
            <a:avLst>
              <a:gd name="adj" fmla="val 3704"/>
            </a:avLst>
          </a:prstGeom>
          <a:solidFill>
            <a:srgbClr val="FFC9C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12648" y="2267712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" y="2633472"/>
            <a:ext cx="3739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在标题中加入创新性词语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" y="3072384"/>
            <a:ext cx="3721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研究涉及新方法或新理论时，在标题中加以强调，让读者更愿意阅读全文。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626864" y="2103120"/>
            <a:ext cx="4105656" cy="2468880"/>
          </a:xfrm>
          <a:prstGeom prst="roundRect">
            <a:avLst>
              <a:gd name="adj" fmla="val 3704"/>
            </a:avLst>
          </a:prstGeom>
          <a:solidFill>
            <a:srgbClr val="F4F4F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828032" y="2267712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828032" y="2633472"/>
            <a:ext cx="3739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吸引读者兴趣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828032" y="3072384"/>
            <a:ext cx="3721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修改标题时思考如何吸引读者，促使他们进一步探索文章内容。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实践：修改标题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考虑读者的检索需求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Searchability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4105656" cy="3383280"/>
          </a:xfrm>
          <a:prstGeom prst="roundRect">
            <a:avLst>
              <a:gd name="adj" fmla="val 2703"/>
            </a:avLst>
          </a:prstGeom>
          <a:solidFill>
            <a:srgbClr val="F4F4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包含易于检索的关键词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274320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让文章在学术数据库中更易被找到，提高阅读与引用的可能性。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4626864" y="1188720"/>
            <a:ext cx="4105656" cy="3383280"/>
          </a:xfrm>
          <a:prstGeom prst="roundRect">
            <a:avLst>
              <a:gd name="adj" fmla="val 2703"/>
            </a:avLst>
          </a:prstGeom>
          <a:solidFill>
            <a:srgbClr val="FFC9C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724144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5724144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提高文章的可发现性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724144" y="274320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关键词应与研究主题和内容紧密相关，便于读者搜索时快速找到。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3840480" y="2148840"/>
            <a:ext cx="1463040" cy="1463040"/>
          </a:xfrm>
          <a:prstGeom prst="ellipse">
            <a:avLst/>
          </a:prstGeom>
          <a:solidFill>
            <a:srgbClr val="111111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40480" y="2148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03  ·  PART 04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研究背景（引言）概述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325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Background (Introduction)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0"/>
            <a:ext cx="457200" cy="457200"/>
          </a:xfrm>
          <a:prstGeom prst="rect">
            <a:avLst/>
          </a:prstGeom>
          <a:solidFill>
            <a:srgbClr val="D9D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41832" y="201168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论文的写作逻辑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2560320"/>
            <a:ext cx="457200" cy="457200"/>
          </a:xfrm>
          <a:prstGeom prst="rect">
            <a:avLst/>
          </a:prstGeom>
          <a:solidFill>
            <a:srgbClr val="FFE3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41832" y="256032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2560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引言的三个要素：背景、张力、聚焦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solidFill>
            <a:srgbClr val="C7F8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41832" y="310896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研究背景的结构、现状与意义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11480" y="3657600"/>
            <a:ext cx="457200" cy="457200"/>
          </a:xfrm>
          <a:prstGeom prst="rect">
            <a:avLst/>
          </a:prstGeom>
          <a:solidFill>
            <a:srgbClr val="E4FF9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14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41832" y="365760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3657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研究缺陷→研究目标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2" name="Shape 20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4" name="Shape 22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750" dirty="0"/>
          </a:p>
        </p:txBody>
      </p:sp>
      <p:pic>
        <p:nvPicPr>
          <p:cNvPr id="27" name="Image 0" descr="decorative 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2122170"/>
            <a:ext cx="3154680" cy="25869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研究背景（引言）概述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论文的写作逻辑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Logic of a Thesis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1480" y="118872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D9D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3716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论文的写作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Logic of a Thesis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11880" y="1325880"/>
            <a:ext cx="27432" cy="310896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1225296"/>
            <a:ext cx="301752" cy="301752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122529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120700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74720" y="1602029"/>
            <a:ext cx="301752" cy="301752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1602029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069080" y="1583741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国内外研究现状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74720" y="1978762"/>
            <a:ext cx="301752" cy="301752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197876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069080" y="1960474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74720" y="2355494"/>
            <a:ext cx="301752" cy="301752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0" y="235549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233720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474720" y="2732227"/>
            <a:ext cx="301752" cy="301752"/>
          </a:xfrm>
          <a:prstGeom prst="ellipse">
            <a:avLst/>
          </a:prstGeom>
          <a:solidFill>
            <a:srgbClr val="EBEB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74720" y="2732227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069080" y="2713939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相关理论研究内容阐述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474720" y="3108960"/>
            <a:ext cx="301752" cy="301752"/>
          </a:xfrm>
          <a:prstGeom prst="ellipse">
            <a:avLst/>
          </a:prstGeom>
          <a:solidFill>
            <a:srgbClr val="EBEB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74720" y="310896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069080" y="3090672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研究方法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474720" y="3485693"/>
            <a:ext cx="301752" cy="301752"/>
          </a:xfrm>
          <a:prstGeom prst="ellipse">
            <a:avLst/>
          </a:prstGeom>
          <a:solidFill>
            <a:srgbClr val="EBEB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74720" y="3485693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069080" y="3467405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研究过程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474720" y="3862426"/>
            <a:ext cx="301752" cy="301752"/>
          </a:xfrm>
          <a:prstGeom prst="ellipse">
            <a:avLst/>
          </a:prstGeom>
          <a:solidFill>
            <a:srgbClr val="D9D4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74720" y="386242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931920" y="3844138"/>
            <a:ext cx="4800600" cy="338328"/>
          </a:xfrm>
          <a:prstGeom prst="rect">
            <a:avLst/>
          </a:prstGeom>
          <a:solidFill>
            <a:srgbClr val="D9D4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069080" y="384413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研究结果→【生成设计策略】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474720" y="4239158"/>
            <a:ext cx="301752" cy="301752"/>
          </a:xfrm>
          <a:prstGeom prst="ellipse">
            <a:avLst/>
          </a:prstGeom>
          <a:solidFill>
            <a:srgbClr val="EBEB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474720" y="423915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069080" y="4220870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设计实践及可用性测试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D4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E6E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研究背景（引言）概述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研究背景的重要性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Introduction Matters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E6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6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14630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引言是学术文章的开头，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219456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它能够吸引读者的注意力，为全文的阅读奠定基础。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11480" y="3200400"/>
            <a:ext cx="457200" cy="64008"/>
          </a:xfrm>
          <a:prstGeom prst="rect">
            <a:avLst/>
          </a:prstGeom>
          <a:solidFill>
            <a:srgbClr val="D9D4FF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研究背景（引言）概述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引言的三个要素：背景、张力、聚焦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· Tension · Focus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1480" y="1188720"/>
            <a:ext cx="270052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12" name="Image 0" descr="p21_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057" y="1280160"/>
            <a:ext cx="2277374" cy="15087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11480" y="2971800"/>
            <a:ext cx="2700528" cy="1600200"/>
          </a:xfrm>
          <a:prstGeom prst="roundRect">
            <a:avLst>
              <a:gd name="adj" fmla="val 5714"/>
            </a:avLst>
          </a:prstGeom>
          <a:solidFill>
            <a:srgbClr val="F4F4F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12648" y="3063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063240"/>
            <a:ext cx="1786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背景介绍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" y="3566160"/>
            <a:ext cx="2334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提供研究背景，引出研究问题。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21736" y="1188720"/>
            <a:ext cx="270052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18" name="Image 1" descr="p21_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313" y="1280160"/>
            <a:ext cx="2277374" cy="15087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221736" y="2971800"/>
            <a:ext cx="2700528" cy="1600200"/>
          </a:xfrm>
          <a:prstGeom prst="roundRect">
            <a:avLst>
              <a:gd name="adj" fmla="val 5714"/>
            </a:avLst>
          </a:prstGeom>
          <a:solidFill>
            <a:srgbClr val="D9D4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422904" y="3063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3953256" y="3063240"/>
            <a:ext cx="1786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张力构建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3422904" y="3566160"/>
            <a:ext cx="2334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通过对比、矛盾等方式，构建文章的张力，激发读者的阅读兴趣。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031992" y="1188720"/>
            <a:ext cx="270052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24" name="Image 2" descr="p21_7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69" y="1280160"/>
            <a:ext cx="2277374" cy="150876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031992" y="2971800"/>
            <a:ext cx="2700528" cy="1600200"/>
          </a:xfrm>
          <a:prstGeom prst="roundRect">
            <a:avLst>
              <a:gd name="adj" fmla="val 5714"/>
            </a:avLst>
          </a:prstGeom>
          <a:solidFill>
            <a:srgbClr val="111111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233160" y="3063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6763512" y="3063240"/>
            <a:ext cx="1786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聚焦主题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6233160" y="3566160"/>
            <a:ext cx="2334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明确文章的主题和论点，为全文的写作奠定基调。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研究背景（引言）概述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研究背景（引言）结构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of the Introduction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1997964" cy="3383280"/>
          </a:xfrm>
          <a:prstGeom prst="roundRect">
            <a:avLst>
              <a:gd name="adj" fmla="val 4577"/>
            </a:avLst>
          </a:prstGeom>
          <a:solidFill>
            <a:srgbClr val="D9D4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2648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研究背景的组成部分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612648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问题的提出、国内外研究现状、研究意义和目的，共同构成研究背景的框架。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519172" y="1188720"/>
            <a:ext cx="1997964" cy="3383280"/>
          </a:xfrm>
          <a:prstGeom prst="roundRect">
            <a:avLst>
              <a:gd name="adj" fmla="val 4577"/>
            </a:avLst>
          </a:prstGeom>
          <a:solidFill>
            <a:srgbClr val="F4F4F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720340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2720340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背景信息与研究的关联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2720340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背景信息与研究主题紧密相连，为研究提供背景支持与理论依据。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626864" y="1188720"/>
            <a:ext cx="1997964" cy="3383280"/>
          </a:xfrm>
          <a:prstGeom prst="roundRect">
            <a:avLst>
              <a:gd name="adj" fmla="val 4577"/>
            </a:avLst>
          </a:prstGeom>
          <a:solidFill>
            <a:srgbClr val="EBEBE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28032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4828032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研究背景的逻辑框架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4828032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从问题的提出到研究目的的设定，形成清晰严密的结构体系。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734556" y="1188720"/>
            <a:ext cx="1997964" cy="3383280"/>
          </a:xfrm>
          <a:prstGeom prst="roundRect">
            <a:avLst>
              <a:gd name="adj" fmla="val 4577"/>
            </a:avLst>
          </a:prstGeom>
          <a:solidFill>
            <a:srgbClr val="11111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935724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9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6935724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研究背景的写作风格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6935724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注重逻辑性、条理性和准确性，避免冗余和泛泛而谈。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研究背景（引言）概述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研究领域现状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the Field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4105656" cy="1636776"/>
          </a:xfrm>
          <a:prstGeom prst="roundRect">
            <a:avLst>
              <a:gd name="adj" fmla="val 5587"/>
            </a:avLst>
          </a:prstGeom>
          <a:solidFill>
            <a:srgbClr val="D9D4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2648" y="1280160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国内外研究进展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12648" y="1645920"/>
            <a:ext cx="29900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国外侧重理论模型构建，国内在实证分析方面成果丰富；提供了宝贵基础，但仍需进一步整合与创新。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626864" y="1188720"/>
            <a:ext cx="4105656" cy="1636776"/>
          </a:xfrm>
          <a:prstGeom prst="roundRect">
            <a:avLst>
              <a:gd name="adj" fmla="val 5587"/>
            </a:avLst>
          </a:prstGeom>
          <a:solidFill>
            <a:srgbClr val="F4F4F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541264" y="1280160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研究领域的热点问题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5541264" y="1645920"/>
            <a:ext cx="29900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如技术的可持续发展、环境政策的效应评估——关系社会经济可持续发展，是学界与政策制定者关注的焦点。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11480" y="2935224"/>
            <a:ext cx="4105656" cy="1636776"/>
          </a:xfrm>
          <a:prstGeom prst="roundRect">
            <a:avLst>
              <a:gd name="adj" fmla="val 5587"/>
            </a:avLst>
          </a:prstGeom>
          <a:solidFill>
            <a:srgbClr val="F4F4F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12648" y="302666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研究领域的不足与挑战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12648" y="3392424"/>
            <a:ext cx="29900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数据质量、研究方法适用性等方面的不足，限制了研究的深度与广度，需要更科学的方法来解决。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626864" y="2935224"/>
            <a:ext cx="4105656" cy="1636776"/>
          </a:xfrm>
          <a:prstGeom prst="roundRect">
            <a:avLst>
              <a:gd name="adj" fmla="val 5587"/>
            </a:avLst>
          </a:prstGeom>
          <a:solidFill>
            <a:srgbClr val="11111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541264" y="302666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研究领域的趋势分析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5541264" y="3392424"/>
            <a:ext cx="29900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大数据分析、跨学科研究等新趋势，为未来研究提供了新的思路和方向。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840480" y="2103120"/>
            <a:ext cx="1463040" cy="146304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5" name="Image 0" descr="p23_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219456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研究背景（引言）概述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研究意义阐述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 of the Research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4105656" cy="1636776"/>
          </a:xfrm>
          <a:prstGeom prst="roundRect">
            <a:avLst>
              <a:gd name="adj" fmla="val 5587"/>
            </a:avLst>
          </a:prstGeom>
          <a:solidFill>
            <a:srgbClr val="D9D4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137160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学术意义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1828800"/>
            <a:ext cx="2688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丰富和完善相关理论体系，为后续研究提供新视角与理论支撑。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26864" y="1188720"/>
            <a:ext cx="4105656" cy="1636776"/>
          </a:xfrm>
          <a:prstGeom prst="roundRect">
            <a:avLst>
              <a:gd name="adj" fmla="val 5587"/>
            </a:avLst>
          </a:prstGeom>
          <a:solidFill>
            <a:srgbClr val="F4F4F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55464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5861304" y="137160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对现有研究的补充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861304" y="1828800"/>
            <a:ext cx="2688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探讨尚未充分研究的问题，补充和完善现有研究成果。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1480" y="2935224"/>
            <a:ext cx="4105656" cy="1636776"/>
          </a:xfrm>
          <a:prstGeom prst="roundRect">
            <a:avLst>
              <a:gd name="adj" fmla="val 5587"/>
            </a:avLst>
          </a:prstGeom>
          <a:solidFill>
            <a:srgbClr val="EBEBE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0080" y="311810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19"/>
          <p:cNvSpPr txBox="1"/>
          <p:nvPr/>
        </p:nvSpPr>
        <p:spPr>
          <a:xfrm>
            <a:off x="1645920" y="311810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实际应用价值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645920" y="3575304"/>
            <a:ext cx="2688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直接用于解决现实问题，如提高政策制定的科学性、促进产业可持续发展。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626864" y="2935224"/>
            <a:ext cx="4105656" cy="1636776"/>
          </a:xfrm>
          <a:prstGeom prst="roundRect">
            <a:avLst>
              <a:gd name="adj" fmla="val 5587"/>
            </a:avLst>
          </a:prstGeom>
          <a:solidFill>
            <a:srgbClr val="11111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855464" y="311810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9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6" name="Text 23"/>
          <p:cNvSpPr txBox="1"/>
          <p:nvPr/>
        </p:nvSpPr>
        <p:spPr>
          <a:xfrm>
            <a:off x="5861304" y="311810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对未来研究的指导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861304" y="3575304"/>
            <a:ext cx="2688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为未来研究指明方向，帮助学术界规划后续研究工作。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研究背景（引言）概述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研究目的明确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Research Objectives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1997964" cy="3383280"/>
          </a:xfrm>
          <a:prstGeom prst="roundRect">
            <a:avLst>
              <a:gd name="adj" fmla="val 4577"/>
            </a:avLst>
          </a:prstGeom>
          <a:solidFill>
            <a:srgbClr val="D9D4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2648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研究问题、目标设定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612648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系统分析某一领域的问题，探索内在规律，提出解决方案。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519172" y="1188720"/>
            <a:ext cx="1997964" cy="3383280"/>
          </a:xfrm>
          <a:prstGeom prst="roundRect">
            <a:avLst>
              <a:gd name="adj" fmla="val 4577"/>
            </a:avLst>
          </a:prstGeom>
          <a:solidFill>
            <a:srgbClr val="F4F4F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720340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2720340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研究内容概括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2720340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现状分析、热点问题探讨、研究方法创新、未来趋势预测。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626864" y="1188720"/>
            <a:ext cx="1997964" cy="3383280"/>
          </a:xfrm>
          <a:prstGeom prst="roundRect">
            <a:avLst>
              <a:gd name="adj" fmla="val 4577"/>
            </a:avLst>
          </a:prstGeom>
          <a:solidFill>
            <a:srgbClr val="EBEBE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28032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4828032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研究方法选择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4828032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文献分析、实证研究、案例分析等多种方法，确保全面与深入。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734556" y="1188720"/>
            <a:ext cx="1997964" cy="3383280"/>
          </a:xfrm>
          <a:prstGeom prst="roundRect">
            <a:avLst>
              <a:gd name="adj" fmla="val 4577"/>
            </a:avLst>
          </a:prstGeom>
          <a:solidFill>
            <a:srgbClr val="11111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935724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9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6935724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研究预期成果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6935724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提出有价值的观点和结论，为学术界和政策制定者提供参考。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研究背景（引言）概述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 · 国内外研究现状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Part Should Do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1480" y="1188720"/>
            <a:ext cx="4105656" cy="3383280"/>
          </a:xfrm>
          <a:prstGeom prst="roundRect">
            <a:avLst>
              <a:gd name="adj" fmla="val 2703"/>
            </a:avLst>
          </a:prstGeom>
          <a:solidFill>
            <a:srgbClr val="D9D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1371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85800" y="2194560"/>
            <a:ext cx="35661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" y="219456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19456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划定研究范畴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2944368"/>
            <a:ext cx="35661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294436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94436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解释研究的必要性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694176"/>
            <a:ext cx="35661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5528" y="369417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694176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展示研究的创新性意义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26864" y="1188720"/>
            <a:ext cx="4105656" cy="3383280"/>
          </a:xfrm>
          <a:prstGeom prst="roundRect">
            <a:avLst>
              <a:gd name="adj" fmla="val 2703"/>
            </a:avLst>
          </a:prstGeom>
          <a:solidFill>
            <a:srgbClr val="11111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01184" y="1371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国内外研究现状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901184" y="2194560"/>
            <a:ext cx="3566160" cy="621792"/>
          </a:xfrm>
          <a:prstGeom prst="roundRect">
            <a:avLst>
              <a:gd name="adj" fmla="val 14706"/>
            </a:avLst>
          </a:prstGeom>
          <a:solidFill>
            <a:srgbClr val="2B2B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10912" y="219456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04104" y="219456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展示现有研究的“起点”和“终点”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01184" y="2944368"/>
            <a:ext cx="3566160" cy="621792"/>
          </a:xfrm>
          <a:prstGeom prst="roundRect">
            <a:avLst>
              <a:gd name="adj" fmla="val 14706"/>
            </a:avLst>
          </a:prstGeom>
          <a:solidFill>
            <a:srgbClr val="D9D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010912" y="294436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404104" y="294436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揭示现有的研究缺陷（即研究问题）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01184" y="3694176"/>
            <a:ext cx="3566160" cy="621792"/>
          </a:xfrm>
          <a:prstGeom prst="roundRect">
            <a:avLst>
              <a:gd name="adj" fmla="val 14706"/>
            </a:avLst>
          </a:prstGeom>
          <a:solidFill>
            <a:srgbClr val="2B2B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010912" y="369417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404104" y="3694176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文献研究+市场竞品分析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研究背景（引言）概述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研究缺陷→研究目标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Research Gap to Objective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109728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形成以“研究问题”为导向的研究思路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874520"/>
            <a:ext cx="457200" cy="64008"/>
          </a:xfrm>
          <a:prstGeom prst="rect">
            <a:avLst/>
          </a:prstGeom>
          <a:solidFill>
            <a:srgbClr val="D9D4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103120"/>
            <a:ext cx="4105656" cy="2468880"/>
          </a:xfrm>
          <a:prstGeom prst="roundRect">
            <a:avLst>
              <a:gd name="adj" fmla="val 3704"/>
            </a:avLst>
          </a:prstGeom>
          <a:solidFill>
            <a:srgbClr val="F4F4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1546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是指研究者所要解决的核心问题，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通常是现有理论或实践中存在的矛盾、不足、差距或需要进一步探讨的内容。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26864" y="2103120"/>
            <a:ext cx="4105656" cy="2468880"/>
          </a:xfrm>
          <a:prstGeom prst="roundRect">
            <a:avLst>
              <a:gd name="adj" fmla="val 3704"/>
            </a:avLst>
          </a:prstGeom>
          <a:solidFill>
            <a:srgbClr val="D9D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55464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55464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855464" y="31546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则是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研究者为了解决研究问题而设定的具体方向或要实现的预期结果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研究背景（引言）概述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研究缺陷→研究目标 · 示例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411480" y="1097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" y="1417320"/>
            <a:ext cx="4480560" cy="960120"/>
          </a:xfrm>
          <a:prstGeom prst="roundRect">
            <a:avLst>
              <a:gd name="adj" fmla="val 9524"/>
            </a:avLst>
          </a:prstGeom>
          <a:solidFill>
            <a:srgbClr val="F4F4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4360" y="141732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某城市的公共交通系统使用率低下，居民出行主要依赖私家车，这导致了严重的交通拥堵和空气污染。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141732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440680" y="1417320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D9D4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623560" y="1417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探索如何优化该城市的公共交通系统，提高居民的使用率，从而减少交通拥堵和空气污染。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2487168"/>
            <a:ext cx="4480560" cy="960120"/>
          </a:xfrm>
          <a:prstGeom prst="roundRect">
            <a:avLst>
              <a:gd name="adj" fmla="val 9524"/>
            </a:avLst>
          </a:prstGeom>
          <a:solidFill>
            <a:srgbClr val="F4F4F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94360" y="24871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大学校园内的文化空间配置混乱，导致学生在使用这些空间时缺乏明确的流线和场所感，影响了学生的文化认同感。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2487168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5440680" y="2487168"/>
            <a:ext cx="32918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4FF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5440680" y="248716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411480" y="3557016"/>
            <a:ext cx="4480560" cy="960120"/>
          </a:xfrm>
          <a:prstGeom prst="roundRect">
            <a:avLst>
              <a:gd name="adj" fmla="val 9524"/>
            </a:avLst>
          </a:prstGeom>
          <a:solidFill>
            <a:srgbClr val="F4F4F4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94360" y="3557016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当前的智能家居设备在交互设计上较为复杂，老年用户操作时存在困难，影响了老年用户对智能设备的使用和依赖。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4892040" y="3557016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5440680" y="3557016"/>
            <a:ext cx="32918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4FF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440680" y="3557016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03  ·  PART 05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研究背景资料搜集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325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Collecting Background Materials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0"/>
            <a:ext cx="457200" cy="457200"/>
          </a:xfrm>
          <a:prstGeom prst="rect">
            <a:avLst/>
          </a:prstGeom>
          <a:solidFill>
            <a:srgbClr val="C9F5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41832" y="201168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资料来源选择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2560320"/>
            <a:ext cx="457200" cy="457200"/>
          </a:xfrm>
          <a:prstGeom prst="rect">
            <a:avLst/>
          </a:prstGeom>
          <a:solidFill>
            <a:srgbClr val="C7F8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41832" y="256032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2560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资料整理与分析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solidFill>
            <a:srgbClr val="E4FF9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41832" y="310896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资料的更新与维护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18" name="Shape 16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0" name="Shape 18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750" dirty="0"/>
          </a:p>
        </p:txBody>
      </p:sp>
      <p:pic>
        <p:nvPicPr>
          <p:cNvPr id="23" name="Image 0" descr="decorative 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0909" y="1783080"/>
            <a:ext cx="2991611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研究背景资料搜集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资料来源选择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Sources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1997964" cy="3383280"/>
          </a:xfrm>
          <a:prstGeom prst="roundRect">
            <a:avLst>
              <a:gd name="adj" fmla="val 4577"/>
            </a:avLst>
          </a:prstGeom>
          <a:solidFill>
            <a:srgbClr val="F4F4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2648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文献资料搜集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612648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从图书馆、数据库获取书籍、期刊、会议论文。关注权威性、时效性与相关性。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519172" y="1188720"/>
            <a:ext cx="1997964" cy="3383280"/>
          </a:xfrm>
          <a:prstGeom prst="roundRect">
            <a:avLst>
              <a:gd name="adj" fmla="val 4577"/>
            </a:avLst>
          </a:prstGeom>
          <a:solidFill>
            <a:srgbClr val="C9F5C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720340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2720340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实证数据获取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2720340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通过实验、调查问卷、统计数据收集。确保真实可靠，杜绝造假或误用。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626864" y="1188720"/>
            <a:ext cx="1997964" cy="3383280"/>
          </a:xfrm>
          <a:prstGeom prst="roundRect">
            <a:avLst>
              <a:gd name="adj" fmla="val 4577"/>
            </a:avLst>
          </a:prstGeom>
          <a:solidFill>
            <a:srgbClr val="EBEBE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28032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4828032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专家访谈与调研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4828032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联系专家、设计访谈提纲、提取有价值的信息。保持客观与尊重。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734556" y="1188720"/>
            <a:ext cx="1997964" cy="3383280"/>
          </a:xfrm>
          <a:prstGeom prst="roundRect">
            <a:avLst>
              <a:gd name="adj" fmla="val 4577"/>
            </a:avLst>
          </a:prstGeom>
          <a:solidFill>
            <a:srgbClr val="11111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935724" y="1353312"/>
            <a:ext cx="1632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9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935724" y="2450592"/>
            <a:ext cx="1632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网络资源利用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6935724" y="2889504"/>
            <a:ext cx="16139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筛选学术论文、专业网站、在线数据库。识别不实信息与伪科学内容。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研究背景资料搜集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资料整理与分析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Organizing &amp; Analyzing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4105656" cy="1636776"/>
          </a:xfrm>
          <a:prstGeom prst="roundRect">
            <a:avLst>
              <a:gd name="adj" fmla="val 5587"/>
            </a:avLst>
          </a:prstGeom>
          <a:solidFill>
            <a:srgbClr val="C9F5C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137160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资料的分类整理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1828800"/>
            <a:ext cx="2688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按类型、主题、来源分类，使资料条理化，便于后续分析。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26864" y="1188720"/>
            <a:ext cx="4105656" cy="1636776"/>
          </a:xfrm>
          <a:prstGeom prst="roundRect">
            <a:avLst>
              <a:gd name="adj" fmla="val 5587"/>
            </a:avLst>
          </a:prstGeom>
          <a:solidFill>
            <a:srgbClr val="F4F4F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55464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5861304" y="137160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资料的相关性分析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861304" y="1828800"/>
            <a:ext cx="2688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保留与主题密切相关的资料，剔除无关或弱相关内容。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1480" y="2935224"/>
            <a:ext cx="4105656" cy="1636776"/>
          </a:xfrm>
          <a:prstGeom prst="roundRect">
            <a:avLst>
              <a:gd name="adj" fmla="val 5587"/>
            </a:avLst>
          </a:prstGeom>
          <a:solidFill>
            <a:srgbClr val="EBEBE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0080" y="311810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19"/>
          <p:cNvSpPr txBox="1"/>
          <p:nvPr/>
        </p:nvSpPr>
        <p:spPr>
          <a:xfrm>
            <a:off x="1645920" y="311810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资料的可信度评估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645920" y="3575304"/>
            <a:ext cx="2688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考察作者资质、出版机构、引用频次，确保资料可靠权威。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626864" y="2935224"/>
            <a:ext cx="4105656" cy="1636776"/>
          </a:xfrm>
          <a:prstGeom prst="roundRect">
            <a:avLst>
              <a:gd name="adj" fmla="val 5587"/>
            </a:avLst>
          </a:prstGeom>
          <a:solidFill>
            <a:srgbClr val="11111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855464" y="311810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6" name="Text 23"/>
          <p:cNvSpPr txBox="1"/>
          <p:nvPr/>
        </p:nvSpPr>
        <p:spPr>
          <a:xfrm>
            <a:off x="5861304" y="311810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资料的综合运用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861304" y="3575304"/>
            <a:ext cx="2688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通过引用、整合与对比分析，让研究背景丰富而立体。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研究背景资料搜集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资料的更新与维护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Updating &amp; Maintaining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1480" y="1188720"/>
            <a:ext cx="2700528" cy="1636776"/>
          </a:xfrm>
          <a:prstGeom prst="roundRect">
            <a:avLst>
              <a:gd name="adj" fmla="val 5587"/>
            </a:avLst>
          </a:prstGeom>
          <a:solidFill>
            <a:srgbClr val="F4F4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85416"/>
            <a:ext cx="2334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资料的时效性监控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221736" y="1188720"/>
            <a:ext cx="2700528" cy="1636776"/>
          </a:xfrm>
          <a:prstGeom prst="roundRect">
            <a:avLst>
              <a:gd name="adj" fmla="val 5587"/>
            </a:avLst>
          </a:prstGeom>
          <a:solidFill>
            <a:srgbClr val="C9F5C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50336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450336" y="2185416"/>
            <a:ext cx="2334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资料的动态更新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031992" y="1188720"/>
            <a:ext cx="2700528" cy="1636776"/>
          </a:xfrm>
          <a:prstGeom prst="roundRect">
            <a:avLst>
              <a:gd name="adj" fmla="val 5587"/>
            </a:avLst>
          </a:prstGeom>
          <a:solidFill>
            <a:srgbClr val="EBEB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0592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60592" y="2185416"/>
            <a:ext cx="2334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资料的存档管理</a:t>
            </a:r>
            <a:endParaRPr lang="en-US" sz="1700" dirty="0"/>
          </a:p>
        </p:txBody>
      </p:sp>
      <p:pic>
        <p:nvPicPr>
          <p:cNvPr id="20" name="Image 0" descr="p33_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35224"/>
            <a:ext cx="2700528" cy="163677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221736" y="2935224"/>
            <a:ext cx="2700528" cy="1636776"/>
          </a:xfrm>
          <a:prstGeom prst="roundRect">
            <a:avLst>
              <a:gd name="adj" fmla="val 5587"/>
            </a:avLst>
          </a:prstGeom>
          <a:solidFill>
            <a:srgbClr val="11111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450336" y="31181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9F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3450336" y="3931920"/>
            <a:ext cx="2334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资料的共享与交流</a:t>
            </a:r>
            <a:endParaRPr lang="en-US" sz="1700" dirty="0"/>
          </a:p>
        </p:txBody>
      </p:sp>
      <p:pic>
        <p:nvPicPr>
          <p:cNvPr id="24" name="Image 1" descr="p33_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992" y="2935224"/>
            <a:ext cx="2700528" cy="163677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03  ·  PART 06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研究背景的逻辑构建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325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Logic of the Background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0"/>
            <a:ext cx="457200" cy="457200"/>
          </a:xfrm>
          <a:prstGeom prst="rect">
            <a:avLst/>
          </a:prstGeom>
          <a:solidFill>
            <a:srgbClr val="FFE3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41832" y="201168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研究背景的逻辑框架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2560320"/>
            <a:ext cx="457200" cy="457200"/>
          </a:xfrm>
          <a:prstGeom prst="rect">
            <a:avLst/>
          </a:prstGeom>
          <a:solidFill>
            <a:srgbClr val="E4FF9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41832" y="256032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2560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研究背景的条理性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solidFill>
            <a:srgbClr val="FFC9C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41832" y="310896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研究背景的结论引导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11480" y="3657600"/>
            <a:ext cx="457200" cy="457200"/>
          </a:xfrm>
          <a:prstGeom prst="rect">
            <a:avLst/>
          </a:prstGeom>
          <a:solidFill>
            <a:srgbClr val="D9D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14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41832" y="3657600"/>
            <a:ext cx="434340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3657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研究背景的撰写内容与图表辅助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2" name="Shape 20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4" name="Shape 22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750" dirty="0"/>
          </a:p>
        </p:txBody>
      </p:sp>
      <p:pic>
        <p:nvPicPr>
          <p:cNvPr id="27" name="Image 0" descr="decorative 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3136847"/>
            <a:ext cx="3154680" cy="157231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研究背景的逻辑构建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研究背景的逻辑框架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Framework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3291840" cy="3383280"/>
          </a:xfrm>
          <a:prstGeom prst="roundRect">
            <a:avLst>
              <a:gd name="adj" fmla="val 2778"/>
            </a:avLst>
          </a:prstGeom>
          <a:solidFill>
            <a:srgbClr val="FFE3A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" y="1371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研究背景的主线梳理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13048" y="1188720"/>
            <a:ext cx="4919472" cy="3383280"/>
          </a:xfrm>
          <a:prstGeom prst="roundRect">
            <a:avLst>
              <a:gd name="adj" fmla="val 2703"/>
            </a:avLst>
          </a:prstGeom>
          <a:solidFill>
            <a:srgbClr val="F4F4F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114800" y="1188720"/>
            <a:ext cx="4343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围绕研究的核心问题，梳理一条贯穿全文的主线——引导读者理解研究的重要性，以及研究内容与主题之间的紧密联系。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研究背景的逻辑构建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研究背景的条理性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&amp; Coherence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11480" y="1188720"/>
            <a:ext cx="2210562" cy="502920"/>
          </a:xfrm>
          <a:prstGeom prst="homePlate">
            <a:avLst/>
          </a:prstGeom>
          <a:solidFill>
            <a:srgbClr val="FFE3A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1188720"/>
            <a:ext cx="17990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448306" y="1188720"/>
            <a:ext cx="2210562" cy="502920"/>
          </a:xfrm>
          <a:prstGeom prst="chevron">
            <a:avLst/>
          </a:prstGeom>
          <a:solidFill>
            <a:srgbClr val="F4F4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768346" y="1188720"/>
            <a:ext cx="16162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85132" y="1188720"/>
            <a:ext cx="2210562" cy="502920"/>
          </a:xfrm>
          <a:prstGeom prst="chevron">
            <a:avLst/>
          </a:prstGeom>
          <a:solidFill>
            <a:srgbClr val="EBEBE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05172" y="1188720"/>
            <a:ext cx="16162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21958" y="1188720"/>
            <a:ext cx="2210562" cy="502920"/>
          </a:xfrm>
          <a:prstGeom prst="chevron">
            <a:avLst/>
          </a:prstGeom>
          <a:solidFill>
            <a:srgbClr val="11111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41998" y="1188720"/>
            <a:ext cx="16162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1480" y="1828800"/>
            <a:ext cx="1997964" cy="2743200"/>
          </a:xfrm>
          <a:prstGeom prst="roundRect">
            <a:avLst>
              <a:gd name="adj" fmla="val 4577"/>
            </a:avLst>
          </a:prstGeom>
          <a:solidFill>
            <a:srgbClr val="F4F4F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94360" y="1920240"/>
            <a:ext cx="16779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研究背景的信息分类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2606040"/>
            <a:ext cx="16779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按类型、来源或重要性整理资料，使背景内容有条理、成体系。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2519172" y="1828800"/>
            <a:ext cx="1997964" cy="2743200"/>
          </a:xfrm>
          <a:prstGeom prst="roundRect">
            <a:avLst>
              <a:gd name="adj" fmla="val 4577"/>
            </a:avLst>
          </a:prstGeom>
          <a:solidFill>
            <a:srgbClr val="F4F4F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702052" y="1920240"/>
            <a:ext cx="16779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研究背景的条理清晰度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2702052" y="2606040"/>
            <a:ext cx="16779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语言简练、逻辑清晰，让读者一目了然地把握研究背景的全貌。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626864" y="1828800"/>
            <a:ext cx="1997964" cy="2743200"/>
          </a:xfrm>
          <a:prstGeom prst="roundRect">
            <a:avLst>
              <a:gd name="adj" fmla="val 4577"/>
            </a:avLst>
          </a:prstGeom>
          <a:solidFill>
            <a:srgbClr val="F4F4F4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809744" y="1920240"/>
            <a:ext cx="16779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研究背景的连贯性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4809744" y="2606040"/>
            <a:ext cx="16779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信息、观点与论证相互关联、相互支撑，避免跳跃和断裂。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6734556" y="1828800"/>
            <a:ext cx="1997964" cy="2743200"/>
          </a:xfrm>
          <a:prstGeom prst="roundRect">
            <a:avLst>
              <a:gd name="adj" fmla="val 4577"/>
            </a:avLst>
          </a:prstGeom>
          <a:solidFill>
            <a:srgbClr val="F4F4F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917436" y="1920240"/>
            <a:ext cx="16779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研究背景的易读性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6917436" y="2606040"/>
            <a:ext cx="16779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考虑读者的背景知识，术语恰当，内容既专业又易于接受。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研究背景的逻辑构建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研究背景的结论引导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to the Conclusion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750" dirty="0"/>
          </a:p>
        </p:txBody>
      </p:sp>
      <p:pic>
        <p:nvPicPr>
          <p:cNvPr id="11" name="Image 0" descr="p37_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188720"/>
            <a:ext cx="2560320" cy="3383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11480" y="1188720"/>
            <a:ext cx="2770632" cy="1636776"/>
          </a:xfrm>
          <a:prstGeom prst="roundRect">
            <a:avLst>
              <a:gd name="adj" fmla="val 5587"/>
            </a:avLst>
          </a:prstGeom>
          <a:solidFill>
            <a:srgbClr val="FFE3A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结论的预示性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61888" y="1188720"/>
            <a:ext cx="2770632" cy="1636776"/>
          </a:xfrm>
          <a:prstGeom prst="roundRect">
            <a:avLst>
              <a:gd name="adj" fmla="val 5587"/>
            </a:avLst>
          </a:prstGeom>
          <a:solidFill>
            <a:srgbClr val="F4F4F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90488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190488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结论的创新点强调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11480" y="2935224"/>
            <a:ext cx="2770632" cy="1636776"/>
          </a:xfrm>
          <a:prstGeom prst="roundRect">
            <a:avLst>
              <a:gd name="adj" fmla="val 5587"/>
            </a:avLst>
          </a:prstGeom>
          <a:solidFill>
            <a:srgbClr val="EBEBE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31181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38496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结论的逻辑推导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961888" y="2935224"/>
            <a:ext cx="2770632" cy="1636776"/>
          </a:xfrm>
          <a:prstGeom prst="roundRect">
            <a:avLst>
              <a:gd name="adj" fmla="val 5587"/>
            </a:avLst>
          </a:prstGeom>
          <a:solidFill>
            <a:srgbClr val="11111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190488" y="31181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E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6190488" y="38496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结论的研究价值提示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研究背景的逻辑构建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研究背景的撰写内容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Write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1480" y="1188720"/>
            <a:ext cx="4105656" cy="1636776"/>
          </a:xfrm>
          <a:prstGeom prst="roundRect">
            <a:avLst>
              <a:gd name="adj" fmla="val 5587"/>
            </a:avLst>
          </a:prstGeom>
          <a:solidFill>
            <a:srgbClr val="FFE3A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371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965960"/>
            <a:ext cx="36484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在世界范畴中该研究所处的地位？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26864" y="1188720"/>
            <a:ext cx="4105656" cy="1636776"/>
          </a:xfrm>
          <a:prstGeom prst="roundRect">
            <a:avLst>
              <a:gd name="adj" fmla="val 5587"/>
            </a:avLst>
          </a:prstGeom>
          <a:solidFill>
            <a:srgbClr val="F4F4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55464" y="1371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855464" y="1965960"/>
            <a:ext cx="36484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在国内，该研究所处的地位？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1480" y="2935224"/>
            <a:ext cx="4105656" cy="1636776"/>
          </a:xfrm>
          <a:prstGeom prst="roundRect">
            <a:avLst>
              <a:gd name="adj" fmla="val 5587"/>
            </a:avLst>
          </a:prstGeom>
          <a:solidFill>
            <a:srgbClr val="EBEB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11810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712464"/>
            <a:ext cx="36484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有哪些具体数据可以揭示研究的重要性？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26864" y="2935224"/>
            <a:ext cx="4105656" cy="1636776"/>
          </a:xfrm>
          <a:prstGeom prst="roundRect">
            <a:avLst>
              <a:gd name="adj" fmla="val 5587"/>
            </a:avLst>
          </a:prstGeom>
          <a:solidFill>
            <a:srgbClr val="11111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55464" y="311810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E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855464" y="3712464"/>
            <a:ext cx="36484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有哪些政府或官方的文件可以揭示研究的重要性？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463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研究背景的逻辑构建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291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图表辅助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5895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Charts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6" name="Shape 4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8" name="Shape 6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4791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&amp; EXPERIENCE  —  材料研究与产品设计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914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411480" y="1143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主要用于展示研究背景中的相关信息，以揭示研究主题的重要性。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1480" y="1645920"/>
            <a:ext cx="3017520" cy="2926080"/>
          </a:xfrm>
          <a:prstGeom prst="roundRect">
            <a:avLst>
              <a:gd name="adj" fmla="val 3125"/>
            </a:avLst>
          </a:prstGeom>
          <a:solidFill>
            <a:srgbClr val="FFE3A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图表的类型选择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286000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根据数据特点和要展示的信息选择图表：趋势分析用折线图；比较不同组的数据用条形图或饼图。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538728" y="1645920"/>
            <a:ext cx="1658112" cy="2926080"/>
          </a:xfrm>
          <a:prstGeom prst="roundRect">
            <a:avLst>
              <a:gd name="adj" fmla="val 5515"/>
            </a:avLst>
          </a:prstGeom>
          <a:solidFill>
            <a:srgbClr val="F4F4F4"/>
          </a:solidFill>
          <a:ln/>
        </p:spPr>
      </p:sp>
      <p:graphicFrame>
        <p:nvGraphicFramePr>
          <p:cNvPr id="17" name="Chart 0" descr=""/>
          <p:cNvGraphicFramePr/>
          <p:nvPr/>
        </p:nvGraphicFramePr>
        <p:xfrm>
          <a:off x="3630168" y="1783080"/>
          <a:ext cx="147523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3675888" y="3657600"/>
            <a:ext cx="138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折线图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3675888" y="4023360"/>
            <a:ext cx="1383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趋势分析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306568" y="1645920"/>
            <a:ext cx="1658112" cy="2926080"/>
          </a:xfrm>
          <a:prstGeom prst="roundRect">
            <a:avLst>
              <a:gd name="adj" fmla="val 5515"/>
            </a:avLst>
          </a:prstGeom>
          <a:solidFill>
            <a:srgbClr val="F4F4F4"/>
          </a:solidFill>
          <a:ln/>
        </p:spPr>
      </p:sp>
      <p:graphicFrame>
        <p:nvGraphicFramePr>
          <p:cNvPr id="21" name="Chart 1" descr=""/>
          <p:cNvGraphicFramePr/>
          <p:nvPr/>
        </p:nvGraphicFramePr>
        <p:xfrm>
          <a:off x="5398008" y="1783080"/>
          <a:ext cx="147523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7"/>
          <p:cNvSpPr txBox="1"/>
          <p:nvPr/>
        </p:nvSpPr>
        <p:spPr>
          <a:xfrm>
            <a:off x="5443728" y="3657600"/>
            <a:ext cx="138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条形图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443728" y="4023360"/>
            <a:ext cx="1383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比较不同组的数据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074408" y="1645920"/>
            <a:ext cx="1658112" cy="2926080"/>
          </a:xfrm>
          <a:prstGeom prst="roundRect">
            <a:avLst>
              <a:gd name="adj" fmla="val 5515"/>
            </a:avLst>
          </a:prstGeom>
          <a:solidFill>
            <a:srgbClr val="F4F4F4"/>
          </a:solidFill>
          <a:ln/>
        </p:spPr>
      </p:sp>
      <p:graphicFrame>
        <p:nvGraphicFramePr>
          <p:cNvPr id="25" name="Chart 2" descr=""/>
          <p:cNvGraphicFramePr/>
          <p:nvPr/>
        </p:nvGraphicFramePr>
        <p:xfrm>
          <a:off x="7165848" y="1783080"/>
          <a:ext cx="147523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Text 20"/>
          <p:cNvSpPr txBox="1"/>
          <p:nvPr/>
        </p:nvSpPr>
        <p:spPr>
          <a:xfrm>
            <a:off x="7211568" y="3657600"/>
            <a:ext cx="138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饼图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7211568" y="4023360"/>
            <a:ext cx="1383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比较不同组的数据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43000"/>
            <a:ext cx="868680" cy="868680"/>
          </a:xfrm>
          <a:prstGeom prst="donut">
            <a:avLst/>
          </a:prstGeom>
          <a:solidFill>
            <a:srgbClr val="4D49FC"/>
          </a:solidFill>
          <a:ln/>
        </p:spPr>
      </p:sp>
      <p:sp>
        <p:nvSpPr>
          <p:cNvPr id="3" name="Shape 1"/>
          <p:cNvSpPr/>
          <p:nvPr/>
        </p:nvSpPr>
        <p:spPr>
          <a:xfrm>
            <a:off x="1783080" y="1143000"/>
            <a:ext cx="2103120" cy="868680"/>
          </a:xfrm>
          <a:prstGeom prst="roundRect">
            <a:avLst>
              <a:gd name="adj" fmla="val 16842"/>
            </a:avLst>
          </a:prstGeom>
          <a:solidFill>
            <a:srgbClr val="CB9FD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92808" y="114300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005072" y="1170432"/>
            <a:ext cx="822960" cy="822960"/>
          </a:xfrm>
          <a:prstGeom prst="star12">
            <a:avLst/>
          </a:prstGeom>
          <a:solidFill>
            <a:srgbClr val="FF3B30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0" y="1143000"/>
            <a:ext cx="2103120" cy="868680"/>
          </a:xfrm>
          <a:prstGeom prst="roundRect">
            <a:avLst>
              <a:gd name="adj" fmla="val 16842"/>
            </a:avLst>
          </a:prstGeom>
          <a:solidFill>
            <a:srgbClr val="C7F8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47488" y="114300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大家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1783080" y="2148840"/>
            <a:ext cx="3566160" cy="868680"/>
          </a:xfrm>
          <a:prstGeom prst="roundRect">
            <a:avLst>
              <a:gd name="adj" fmla="val 16842"/>
            </a:avLst>
          </a:prstGeom>
          <a:solidFill>
            <a:srgbClr val="E4FF9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92808" y="214884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5486400" y="2176272"/>
            <a:ext cx="822960" cy="822960"/>
          </a:xfrm>
          <a:prstGeom prst="star12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78308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 学术论文研究背景撰写技巧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湖北工业大学工业设计学院  ·  张萌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14" name="Shape 12"/>
          <p:cNvSpPr/>
          <p:nvPr/>
        </p:nvSpPr>
        <p:spPr>
          <a:xfrm>
            <a:off x="507492" y="4818888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  <p:sp>
        <p:nvSpPr>
          <p:cNvPr id="16" name="Shape 14"/>
          <p:cNvSpPr/>
          <p:nvPr/>
        </p:nvSpPr>
        <p:spPr>
          <a:xfrm>
            <a:off x="507492" y="4914900"/>
            <a:ext cx="77724" cy="77724"/>
          </a:xfrm>
          <a:prstGeom prst="ellipse">
            <a:avLst/>
          </a:prstGeom>
          <a:solidFill>
            <a:srgbClr val="4D49F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第3课 学术论文研究背景撰写技巧</dc:title>
  <dc:subject>PptxGenJS Presentation</dc:subject>
  <dc:creator>张萌</dc:creator>
  <cp:lastModifiedBy>张萌</cp:lastModifiedBy>
  <cp:revision>1</cp:revision>
  <dcterms:created xsi:type="dcterms:W3CDTF">2026-09-23T17:50:50Z</dcterms:created>
  <dcterms:modified xsi:type="dcterms:W3CDTF">2026-09-23T17:50:50Z</dcterms:modified>
</cp:coreProperties>
</file>