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D2D2D"/>
            </a:solidFill>
            <a:ln w="38100" cap="flat">
              <a:solidFill>
                <a:srgbClr val="2D2D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D2D2D"/>
              </a:solidFill>
              <a:ln w="9525" cap="flat">
                <a:solidFill>
                  <a:srgbClr val="2D2D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2.6</c:v>
                </c:pt>
                <c:pt idx="3">
                  <c:v>4</c:v>
                </c:pt>
                <c:pt idx="4">
                  <c:v>4.6</c:v>
                </c:pt>
                <c:pt idx="5">
                  <c:v>5.8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40E0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0E0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2D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0E0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2D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3.5</c:v>
                </c:pt>
                <c:pt idx="2">
                  <c:v>4.2</c:v>
                </c:pt>
                <c:pt idx="3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E0D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D2D2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2E2E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 ·  材料研究与产品设计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学术论文研究背景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撰写技巧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 the Research Background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402336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041648"/>
            <a:ext cx="281635" cy="281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840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湖北工业大学  工业设计学院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张萌</a:t>
            </a:r>
            <a:endParaRPr lang="en-US" sz="1300" dirty="0"/>
          </a:p>
        </p:txBody>
      </p:sp>
      <p:pic>
        <p:nvPicPr>
          <p:cNvPr id="9" name="Image 0" descr="p03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33832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295400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文章开篇的重要性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16608" y="1188720"/>
            <a:ext cx="1295400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81200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981200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修改文章的开篇和结论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81200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Revising Opening &amp; Conclusion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21736" y="1188720"/>
            <a:ext cx="1295400" cy="338328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6328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386328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实践：修改标题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386328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Practice: Titles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1188720"/>
            <a:ext cx="1295400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91456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791456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研究背景（引言）概述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791456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Overview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1992" y="1188720"/>
            <a:ext cx="1295400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6584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196584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研究背景资料搜集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196584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Collecting Materials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37120" y="1188720"/>
            <a:ext cx="1295400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01712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7601712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研究背景的逻辑构建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601712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Logic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Importance of the Opening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文章开篇的重要性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吸引读者的关键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设置研究背景和问题的重要性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展示研究的独特性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3968496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4528" y="4197096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构建清晰的阅读框架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吸引读者的关键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Engaging the Reader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文章开篇的重要性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5074920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开篇段落的作用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792224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的开篇段落是吸引读者的关键所在。它就像是一扇门，透过这扇门，读者可以窥见文章的精彩内容。一个引人入胜的开篇能够激发读者的好奇心，促使他们继续阅读下去。这就要求作者在撰写开篇时，要力求创新，用生动有趣的语言，或者提出一个引人深思的问题，来吸引读者的注意力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5074920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开篇段落的写作技巧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3538728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撰写开篇段落时，作者可以采用多种技巧。比如，可以引用一个相关的故事或者案例，让读者产生共鸣；或者提出一个有争议性的观点，引发读者的思考。此外，开篇段落还应该简洁明了，避免冗长的叙述，以免让读者感到疲惫。</a:t>
            </a:r>
            <a:endParaRPr lang="en-US" sz="1050" dirty="0"/>
          </a:p>
        </p:txBody>
      </p:sp>
      <p:pic>
        <p:nvPicPr>
          <p:cNvPr id="15" name="Image 0" descr="p03_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188720"/>
            <a:ext cx="1508760" cy="3383280"/>
          </a:xfrm>
          <a:prstGeom prst="rect">
            <a:avLst/>
          </a:prstGeom>
        </p:spPr>
      </p:pic>
      <p:pic>
        <p:nvPicPr>
          <p:cNvPr id="16" name="Image 1" descr="p03_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15087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设置研究背景和问题的重要性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 &amp; Research Question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文章开篇的重要性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  <p:pic>
        <p:nvPicPr>
          <p:cNvPr id="9" name="Image 0" descr="p04_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1664208" cy="1636776"/>
          </a:xfrm>
          <a:prstGeom prst="rect">
            <a:avLst/>
          </a:prstGeom>
        </p:spPr>
      </p:pic>
      <p:pic>
        <p:nvPicPr>
          <p:cNvPr id="10" name="Image 1" descr="p04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188720"/>
            <a:ext cx="1664208" cy="16367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2935224"/>
            <a:ext cx="1664208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2935224"/>
            <a:ext cx="14813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</a:t>
            </a:r>
            <a:endParaRPr lang="en-US" sz="1500" dirty="0"/>
          </a:p>
        </p:txBody>
      </p:sp>
      <p:pic>
        <p:nvPicPr>
          <p:cNvPr id="13" name="Image 2" descr="p04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2935224"/>
            <a:ext cx="1664208" cy="163677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023360" y="1188720"/>
            <a:ext cx="4709160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224528" y="13533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研究背景的引入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224528" y="1792224"/>
            <a:ext cx="43251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在文章的开篇部分，引入研究背景是非常重要的。这有助于读者理解研究的起点和研究的必要性。研究背景的引入应该简洁明了，避免过多的细节，而是要突出研究的核心问题和研究的重要性。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023360" y="2935224"/>
            <a:ext cx="4709160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224528" y="3099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研究问题的提出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224528" y="3538728"/>
            <a:ext cx="43251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篇部分，作者需要明确提出研究的问题或假设。这些问题或假设应该是具体且具有针对性的，能够引导读者理解研究的方向和目的。通过提出明确的研究问题，读者可以更好地跟随作者的思路，理解文章的核心内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展示研究的独特性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Showing What Is Unique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文章开篇的重要性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35915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研究创新性的体现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798064"/>
            <a:ext cx="3721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在文章的开篇部分，作者需要展示研究的创新性或独特视角。这可以通过对比已有研究，指出本研究的新颖之处，或者提出新的理论观点来实现。展示研究的创新性有助于增强文章的学术价值，吸引读者的关注。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4105656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3533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35915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研究独特贡献的强调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2798064"/>
            <a:ext cx="3721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强调研究的独特贡献是开篇部分的重要任务。作者应该明确指出本研究如何填补学术空白，或者如何解决实际问题。这样不仅能够体现研究的价值，还能够激发读者的阅读兴趣。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构建清晰的阅读框架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Clear Reading Framework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文章开篇的重要性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9260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  <a:prstDash val="solid"/>
          </a:ln>
        </p:spPr>
      </p:sp>
      <p:pic>
        <p:nvPicPr>
          <p:cNvPr id="10" name="Image 0" descr="p06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651760" cy="2651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74720" y="1188720"/>
            <a:ext cx="5257800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75888" y="1353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概述文章的主要内容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75888" y="1792224"/>
            <a:ext cx="48737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在开篇部分，作者应该为读者提供清晰的阅读框架，概述文章的主要内容。这包括介绍文章的研究方法、主要观点和结论。通过概述文章结构，读者可以更好地把握文章的脉络，提高阅读效率。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935224"/>
            <a:ext cx="5257800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75888" y="309981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引导读者进入核心内容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3538728"/>
            <a:ext cx="48737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开篇部分不仅要提供阅读框架，还要引导读者进入文章的核心内容。这可以通过提出问题、设置悬念或者引用相关研究来实现。通过巧妙地引导，读者可以更加投入地阅读文章，理解作者的意图。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Revising the Opening &amp; Conclusion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修改文章的开篇和结论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修改开篇以提升吸引力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突出研究的重要性和紧迫性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强调研究的独特贡献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3968496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4528" y="4197096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总结核心结论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修改开篇以提升吸引力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the Opening Compelling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修改文章的开篇和结论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743200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重新审视开篇段落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4408" y="1188720"/>
            <a:ext cx="5468112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1188720"/>
            <a:ext cx="4983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为了提升文章的吸引力，作者需要重新审视开篇段落。这包括检查语言是否生动有趣，是否能够激发读者的好奇心。如果开篇段落过于平淡，作者可以考虑增加一些生动的案例、引用或者提出具有争议性的问题。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35224"/>
            <a:ext cx="2743200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210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增加生动语言或提出争议性问题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64408" y="2935224"/>
            <a:ext cx="5468112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20440" y="2935224"/>
            <a:ext cx="4983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在修改开篇时，作者可以增加生动语言，使文章更具吸引力。同时，提出具有争议性的问题也是一个有效的方法。这样的问题能够引发读者的思考，激发他们的阅读兴趣。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突出研究的重要性和紧迫性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Importance &amp; Urgency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修改文章的开篇和结论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调整语言以增强紧迫感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在修改开篇时，作者应该调整语言，使研究的问题显得更加紧迫和有意义。例如，可以引用最新的数据或社会事件，说明研究的现实关联性。这样能够增强文章的吸引力，让读者感到研究的紧迫性。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4105656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01184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引用最新数据或社会事件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为了突出研究的重要性和紧迫性，作者可以在开篇中引用最新数据或社会事件。这些数据和事件可以作为研究的背景，说明研究的现实意义。通过引用具体的数据和事件，文章的开篇将更具说服力。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强调研究的独特贡献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Emphasizing the Contribution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修改文章的开篇和结论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5669280" cy="16002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明确展示研究的创新性和独特视角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08483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在修改开篇时，作者应该明确展示研究的创新性和独特视角。这可以通过对比已有研究，指出本研究的新颖之处，或者提出新的理论观点来实现。强调研究的独特贡献有助于提升文章的学术价值。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926080"/>
            <a:ext cx="5669280" cy="1645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4408" y="30906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64408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引导读者理解研究的价值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3822192"/>
            <a:ext cx="528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在强调研究的独特贡献时，作者还需要引导读者理解研究的价值。这包括说明研究如何填补学术空白，或者如何解决实际问题。通过明确展示研究的价值，读者可以更好地认识到文章的重要性。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514600" cy="1600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1887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2514600" cy="164592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29260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总结核心结论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Summarizing the Conclusion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修改文章的开篇和结论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5074920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重申核心论点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792224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在文章的结论部分，作者需要重申核心论点，确保读者清晰理解文章的成果。这有助于巩固读者对文章主要观点的记忆，使文章的结论更加深刻。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5074920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简要总结研究的主要发现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3538728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在结论部分，作者应该简要总结研究的主要发现。这应该包括研究的关键结果和结论，以及这些结果的意义。通过简洁明了的总结，读者可以快速把握文章的核心内容。</a:t>
            </a:r>
            <a:endParaRPr lang="en-US" sz="1150" dirty="0"/>
          </a:p>
        </p:txBody>
      </p:sp>
      <p:pic>
        <p:nvPicPr>
          <p:cNvPr id="15" name="Image 0" descr="p11_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188720"/>
            <a:ext cx="1508760" cy="1636776"/>
          </a:xfrm>
          <a:prstGeom prst="rect">
            <a:avLst/>
          </a:prstGeom>
        </p:spPr>
      </p:pic>
      <p:pic>
        <p:nvPicPr>
          <p:cNvPr id="16" name="Image 1" descr="p11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1508760" cy="1636776"/>
          </a:xfrm>
          <a:prstGeom prst="rect">
            <a:avLst/>
          </a:prstGeom>
        </p:spPr>
      </p:pic>
      <p:pic>
        <p:nvPicPr>
          <p:cNvPr id="17" name="Image 2" descr="p11_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935224"/>
            <a:ext cx="3136392" cy="16367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Practice: Revising the Title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实践：修改标题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突出研究的关键点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增加创新性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3968496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4528" y="4197096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考虑读者的检索需求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Concise &amp; Clear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实践：修改标题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377440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25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898648" y="1188720"/>
            <a:ext cx="2862072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99816" y="135331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精准传达文章主题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99816" y="1792224"/>
            <a:ext cx="24780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一个好的标题应该能够精准传达文章的主题和研究对象。作者应该避免使用冗长或复杂的语言，而是要力求简洁明了。这样不仅能够吸引读者的注意力，还能够帮助读者快速理解文章的内容。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70448" y="1188720"/>
            <a:ext cx="2862072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71616" y="135331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避免使用冗长语言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71616" y="1792224"/>
            <a:ext cx="24780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在修改标题时，作者应该避免使用冗长或复杂的语言。冗长的标题可能会让读者感到困惑，甚至失去阅读的兴趣。因此，作者应该力求标题的简洁性，使其一目了然。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突出研究的关键点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Highlighting the Key Points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实践：修改标题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118872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188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Keywords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1887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4105656" cy="208483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包含核心内容或关键词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标题应该包含研究的核心内容或关键词，使读者一目了然地了解文章的研究方向。这有助于提高文章的可读性，让读者在阅读全文之前就对文章的主题有一个大致的了解。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4105656" cy="11887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01184" y="1188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35824" y="11887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26864" y="2487168"/>
            <a:ext cx="4105656" cy="208483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01184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概括文章的重点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在修改标题时，作者应该确保标题能够概括文章的重点，包括研究对象、方法或发现。这样不仅能够吸引读者的注意力，还能够帮助读者快速定位文章的核心内容。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增加创新性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Adding Novelty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实践：修改标题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0972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一个具有创新性的标题能够激发读者的好奇心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57200" cy="64008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103120"/>
            <a:ext cx="4105656" cy="24688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22677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63347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在标题中加入创新性词语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3072384"/>
            <a:ext cx="3721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为了增加标题的创新性，作者可以在标题中加入能够展示创新性的词语。例如，如果研究涉及新方法或新理论，可以在标题中加以强调。这样的标题能够吸引读者的兴趣，使他们更愿意阅读全文。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26864" y="2103120"/>
            <a:ext cx="4105656" cy="24688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28032" y="22677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63347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吸引读者兴趣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3072384"/>
            <a:ext cx="3721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在修改标题时，作者应该考虑如何吸引读者的兴趣。一个具有创新性的标题能够激发读者的好奇心，促使他们进一步探索文章的内容。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考虑读者的检索需求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Searchability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实践：修改标题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包含易于检索的关键词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432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在修改标题时，作者应该考虑读者的检索需求。标题应包含易于检索的关键词，使文章在学术数据库中更易被找到。这样不仅能够提高文章的引用率，还能够增加读者的阅读和引用可能性。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4105656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24144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724144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提高文章的可发现性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24144" y="27432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为了提高文章的可发现性，作者应该在标题中包含易于检索的关键词。这些关键词应该与研究的主题和内容紧密相关，以便读者在搜索时能够快速找到相关文章。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0" y="2148840"/>
            <a:ext cx="1463040" cy="1463040"/>
          </a:xfrm>
          <a:prstGeom prst="ellipse">
            <a:avLst/>
          </a:prstGeom>
          <a:solidFill>
            <a:srgbClr val="2D2D2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(Introduction)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研究背景（引言）概述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论文的写作逻辑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引言的三个要素：背景、张力、聚焦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研究背景的结构、现状与意义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3968496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4528" y="4197096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论文的写作逻辑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Logic of a Thesis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743200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Logic of a Thesis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1325880"/>
            <a:ext cx="27432" cy="31089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225296"/>
            <a:ext cx="301752" cy="301752"/>
          </a:xfrm>
          <a:prstGeom prst="ellipse">
            <a:avLst/>
          </a:prstGeom>
          <a:solidFill>
            <a:srgbClr val="2D2D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2252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120700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1602029"/>
            <a:ext cx="301752" cy="301752"/>
          </a:xfrm>
          <a:prstGeom prst="ellipse">
            <a:avLst/>
          </a:prstGeom>
          <a:solidFill>
            <a:srgbClr val="2D2D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1602029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1583741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0" y="1978762"/>
            <a:ext cx="301752" cy="301752"/>
          </a:xfrm>
          <a:prstGeom prst="ellipse">
            <a:avLst/>
          </a:prstGeom>
          <a:solidFill>
            <a:srgbClr val="2D2D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197876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196047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0" y="2355494"/>
            <a:ext cx="301752" cy="301752"/>
          </a:xfrm>
          <a:prstGeom prst="ellipse">
            <a:avLst/>
          </a:prstGeom>
          <a:solidFill>
            <a:srgbClr val="2D2D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235549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233720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0" y="2732227"/>
            <a:ext cx="301752" cy="301752"/>
          </a:xfrm>
          <a:prstGeom prst="ellipse">
            <a:avLst/>
          </a:prstGeom>
          <a:solidFill>
            <a:srgbClr val="E2E2E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2732227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2713939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相关理论研究内容阐述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74720" y="3108960"/>
            <a:ext cx="301752" cy="301752"/>
          </a:xfrm>
          <a:prstGeom prst="ellipse">
            <a:avLst/>
          </a:prstGeom>
          <a:solidFill>
            <a:srgbClr val="E2E2E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31089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309067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474720" y="3485693"/>
            <a:ext cx="301752" cy="301752"/>
          </a:xfrm>
          <a:prstGeom prst="ellipse">
            <a:avLst/>
          </a:prstGeom>
          <a:solidFill>
            <a:srgbClr val="E2E2E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348569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3467405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研究过程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74720" y="3862426"/>
            <a:ext cx="301752" cy="301752"/>
          </a:xfrm>
          <a:prstGeom prst="ellipse">
            <a:avLst/>
          </a:prstGeom>
          <a:solidFill>
            <a:srgbClr val="40E0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0" y="386242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31920" y="3844138"/>
            <a:ext cx="4800600" cy="338328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069080" y="384413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研究结果→【生成设计策略】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474720" y="4239158"/>
            <a:ext cx="301752" cy="301752"/>
          </a:xfrm>
          <a:prstGeom prst="ellipse">
            <a:avLst/>
          </a:prstGeom>
          <a:solidFill>
            <a:srgbClr val="E2E2E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0" y="423915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069080" y="422087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设计实践及可用性测试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研究背景的重要性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B5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Introduction Matters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5B5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4630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0E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引言是学术文章的开头，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1945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它能够吸引读者的注意力，为全文的阅读奠定基础。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457200" cy="64008"/>
          </a:xfrm>
          <a:prstGeom prst="rect">
            <a:avLst/>
          </a:prstGeom>
          <a:solidFill>
            <a:srgbClr val="40E0D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引言的三个要素：背景、张力、聚焦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 · Tension · Focus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7005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  <a:prstDash val="solid"/>
          </a:ln>
        </p:spPr>
      </p:sp>
      <p:pic>
        <p:nvPicPr>
          <p:cNvPr id="10" name="Image 0" descr="p21_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057" y="1280160"/>
            <a:ext cx="2277374" cy="1508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2971800"/>
            <a:ext cx="2700528" cy="1600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提供研究背景，引出研究问题。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21736" y="1188720"/>
            <a:ext cx="27005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  <a:prstDash val="solid"/>
          </a:ln>
        </p:spPr>
      </p:sp>
      <p:pic>
        <p:nvPicPr>
          <p:cNvPr id="16" name="Image 1" descr="p21_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13" y="1280160"/>
            <a:ext cx="2277374" cy="1508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21736" y="2971800"/>
            <a:ext cx="2700528" cy="16002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422904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953256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张力构建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422904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通过对比、矛盾等方式，构建文章的张力，激发读者的阅读兴趣。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31992" y="1188720"/>
            <a:ext cx="27005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  <a:prstDash val="solid"/>
          </a:ln>
        </p:spPr>
      </p:sp>
      <p:pic>
        <p:nvPicPr>
          <p:cNvPr id="22" name="Image 2" descr="p21_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69" y="1280160"/>
            <a:ext cx="2277374" cy="1508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31992" y="2971800"/>
            <a:ext cx="2700528" cy="1600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233160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763512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聚焦主题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233160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明确文章的主题和论点，为全文的写作奠定基调。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研究背景（引言）结构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 of the Introduction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1997964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研究背景的组成部分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研究背景主要包括问题的提出、国内外研究现状、研究意义和目的等几个部分，它们共同构成了研究背景的框架。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19172" y="1188720"/>
            <a:ext cx="1997964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720340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背景信息与研究的关联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0340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背景信息与研究主题紧密相连，为研究的展开提供了必要的背景支持和理论依据。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1997964" cy="338328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研究背景的逻辑框架应清晰明确，从问题的提出到研究目的的设定，形成一个严密的结构体系。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34556" y="1188720"/>
            <a:ext cx="1997964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935724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研究背景的写作风格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35724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研究背景的写作应注重逻辑性、条理性和准确性，避免冗余和泛泛而谈，以确保读者能够快速理解研究背景。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研究领域现状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of the Field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28016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</a:t>
            </a:r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国内外研究进展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645920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在该领域的研究已经取得了一系列进展，例如，国外研究者在理论模型构建方面有深入探索，而国内研究者则在实证分析方面取得了丰富成果。这些研究为我们提供了宝贵的基础资料，但也存在一定的局限性，需要进一步整合和创新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188720"/>
            <a:ext cx="4105656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41264" y="128016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</a:t>
            </a:r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研究领域的热点问题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541264" y="1645920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当前研究领域内，一些热点问题引起了广泛关注，如技术的可持续发展、环境政策的效应评估等。这些问题直接关系到社会经济的可持续发展，因此成为学术界和政策制定者关注的焦点。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4105656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" y="302666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</a:t>
            </a:r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研究领域的不足与挑战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3392424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尽管研究取得了一定成果，但仍然存在数据质量、研究方法适用性等方面的不足和挑战。这些不足限制了研究的深度和广度，需要我们采取更加科学的方法和手段来解决。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2935224"/>
            <a:ext cx="4105656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41264" y="302666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研究领域的趋势分析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541264" y="3392424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随着科技进步和社会发展，研究领域呈现出一些新的趋势，例如大数据分析、跨学科研究等。这些趋势为未来研究提供了新的思路和方向。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0" y="2103120"/>
            <a:ext cx="1463040" cy="14630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2" name="Image 0" descr="p23_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1945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研究意义阐述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Significance of the Research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学术意义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从学术角度来看，本研究有助于丰富和完善相关理论体系，为后续研究提供新的视角和理论支撑，推动学科的发展。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4105656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861304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对现有研究的补充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61304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本研究在现有研究的基础上，进一步探讨了某些尚未充分研究的问题，对现有研究成果进行了补充和完善。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35224"/>
            <a:ext cx="4105656" cy="16367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实际应用价值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本研究的成果可直接应用于解决现实问题，如提高政策制定的科学性、促进产业的可持续发展等，具有显著的实际应用价值。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2935224"/>
            <a:ext cx="4105656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55464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861304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对未来研究的指导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861304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本研究的发现和结论为未来研究提供了方向和指导，有助于学术界更好地规划后续研究工作。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研究目的明确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Research Objectives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1997964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研究问题、目标设定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本研究的目标是系统地分析某一领域的问题，探索其内在规律，并提出相应的解决方案，以期促进该领域的发展。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19172" y="1188720"/>
            <a:ext cx="1997964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720340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研究内容概括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0340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研究内容主要包括对该领域现状的分析、对热点问题的探讨、对研究方法的创新以及对未来趋势的预测等。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1997964" cy="338328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研究方法选择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本研究采用了文献分析、实证研究、案例分析等多种研究方法，以确保研究的全面性和深入性。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34556" y="1188720"/>
            <a:ext cx="1997964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935724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研究预期成果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35724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预期通过本研究，能够提出一些有价值的观点和结论，为学术界和政策制定者提供参考。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 · 国内外研究现状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Each Part Should Do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566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1945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945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划定研究范畴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3566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294436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44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解释研究的必要性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694176"/>
            <a:ext cx="3566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69417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694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展示研究的创新性意义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26864" y="1188720"/>
            <a:ext cx="4105656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01184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901184" y="2194560"/>
            <a:ext cx="3566160" cy="621792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10912" y="21945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04104" y="21945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展示现有研究的“起点”和“终点”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01184" y="2944368"/>
            <a:ext cx="3566160" cy="6217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10912" y="294436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04104" y="2944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揭示现有的研究缺陷（即研究问题）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01184" y="3694176"/>
            <a:ext cx="3566160" cy="621792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10912" y="369417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04104" y="3694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文献研究+市场竞品分析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Research Gap to Objective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0972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形成以“研究问题”为导向的研究思路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57200" cy="64008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103120"/>
            <a:ext cx="4105656" cy="24688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546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是指研究者所要解决的核心问题，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通常是现有理论或实践中存在的矛盾、不足、差距或需要进一步探讨的内容。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26864" y="2103120"/>
            <a:ext cx="4105656" cy="24688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5464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55464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55464" y="31546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则是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研究者为了解决研究问题而设定的具体方向或要实现的预期结果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 · 示例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研究背景（引言）概述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097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4480560" cy="9601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417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某城市的公共交通系统使用率低下，居民出行主要依赖私家车，这导致了严重的交通拥堵和空气污染。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4173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40680" y="1417320"/>
            <a:ext cx="3291840" cy="96012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23560" y="1417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探索如何优化该城市的公共交通系统，提高居民的使用率，从而减少交通拥堵和空气污染。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487168"/>
            <a:ext cx="4480560" cy="9601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4871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大学校园内的文化空间配置混乱，导致学生在使用这些空间时缺乏明确的流线和场所感，影响了学生的文化认同感。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48716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40680" y="2487168"/>
            <a:ext cx="3291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E0D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40680" y="24871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11480" y="3557016"/>
            <a:ext cx="4480560" cy="9601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557016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当前的智能家居设备在交互设计上较为复杂，老年用户操作时存在困难，影响了老年用户对智能设备的使用和依赖。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55701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40680" y="3557016"/>
            <a:ext cx="3291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E0D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440680" y="3557016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Collecting Background Materials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研究背景资料搜集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资料来源选择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资料整理与分析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资料的更新与维护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资料来源选择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Sources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研究背景资料搜集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1997964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03911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文献资料搜集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478024"/>
            <a:ext cx="161391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如何从图书馆、数据库等渠道获取相关文献，包括书籍、期刊文章、会议论文等。搜集过程中要注意文献的权威性、时效性和相关性，确保所选文献对研究领域有实质性的贡献。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9172" y="1188720"/>
            <a:ext cx="1997964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720340" y="203911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实证数据获取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720340" y="2478024"/>
            <a:ext cx="161391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实证数据是研究背景中不可或缺的通过实验、调查问卷、统计数据等方式收集数据。在获取数据时，要注重数据的真实性和可靠性，避免数据造假或误用。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1997964" cy="338328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03911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专家访谈与调研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2478024"/>
            <a:ext cx="161391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如何联系专家、设计访谈提纲，并从中提取有价值的信息。此外，调研过程中要注意保持客观和尊重，确保信息的准确性。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34556" y="1188720"/>
            <a:ext cx="1997964" cy="3383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935724" y="203911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网络资源利用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935724" y="2478024"/>
            <a:ext cx="161391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筛选和评估网络资源，包括学术论文、专业网站、在线数据库等。同时，要教育学生识别网络上的不实信息和伪科学内容，避免误导。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资料整理与分析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Organizing &amp; Analyzing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研究背景资料搜集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资料的分类整理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按照类型、主题、来源等分类。分类工作有助于后续的分析和处理，使资料更加条理化。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4105656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861304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资料的相关性分析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61304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分析资料与研究主题的相关性，筛选出与研究密切相关的资料，剔除无关或弱相关的资料。相关性分析有助于提高研究的针对性和有效性。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35224"/>
            <a:ext cx="4105656" cy="16367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资料的可信度评估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评估资料的可信度，包括作者资质、出版机构、引用频次等。通过评估，确保使用的是可靠和权威的资料，增强研究的可信度。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2935224"/>
            <a:ext cx="4105656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55464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861304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资料的综合运用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861304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将搜集到的资料综合运用到研究背景中，包括资料的引用、整合和对比分析等。综合运用资料可以使研究背景更加丰富和立体。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资料的更新与维护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Updating &amp; Maintaining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研究背景资料搜集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700528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资料的时效性监控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21736" y="1188720"/>
            <a:ext cx="2700528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0336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50336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资料的动态更新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1992" y="1188720"/>
            <a:ext cx="2700528" cy="16367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0592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0592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资料的存档管理</a:t>
            </a:r>
            <a:endParaRPr lang="en-US" sz="1700" dirty="0"/>
          </a:p>
        </p:txBody>
      </p:sp>
      <p:pic>
        <p:nvPicPr>
          <p:cNvPr id="18" name="Image 0" descr="p33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35224"/>
            <a:ext cx="2700528" cy="163677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221736" y="2935224"/>
            <a:ext cx="2700528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50336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3450336" y="3931920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资料的共享与交流</a:t>
            </a:r>
            <a:endParaRPr lang="en-US" sz="1700" dirty="0"/>
          </a:p>
        </p:txBody>
      </p:sp>
      <p:pic>
        <p:nvPicPr>
          <p:cNvPr id="22" name="Image 1" descr="p33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992" y="2935224"/>
            <a:ext cx="2700528" cy="16367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Logic of the Background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研究背景的逻辑构建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057400"/>
            <a:ext cx="146304" cy="146304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224528" y="2770632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60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3255264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3483864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研究背景的结论引导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3968496"/>
            <a:ext cx="4709160" cy="603504"/>
          </a:xfrm>
          <a:prstGeom prst="roundRect">
            <a:avLst>
              <a:gd name="adj" fmla="val 18182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4528" y="4197096"/>
            <a:ext cx="146304" cy="1463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研究背景的撰写内容与图表辅助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Logical Framework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研究背景的逻辑构建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3291840" cy="33832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研究背景的主线梳理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3048" y="1188720"/>
            <a:ext cx="4919472" cy="338328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0" y="118872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在撰写研究背景时，需要梳理出一条贯穿全文的主线，这条主线通常围绕研究的核心问题展开。通过梳理主线，教师可以更好地引导读者理解研究的重要性，以及研究内容与主题之间的紧密联系。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Clarity &amp; Coherence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研究背景的逻辑构建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210562" cy="502920"/>
          </a:xfrm>
          <a:prstGeom prst="homePlate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188720"/>
            <a:ext cx="17990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8306" y="1188720"/>
            <a:ext cx="2210562" cy="502920"/>
          </a:xfrm>
          <a:prstGeom prst="chevron">
            <a:avLst/>
          </a:prstGeom>
          <a:solidFill>
            <a:srgbClr val="EBEB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8346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5132" y="1188720"/>
            <a:ext cx="2210562" cy="502920"/>
          </a:xfrm>
          <a:prstGeom prst="chevron">
            <a:avLst/>
          </a:prstGeom>
          <a:solidFill>
            <a:srgbClr val="E2E2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5172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21958" y="1188720"/>
            <a:ext cx="2210562" cy="502920"/>
          </a:xfrm>
          <a:prstGeom prst="chevron">
            <a:avLst/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41998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1828800"/>
            <a:ext cx="1997964" cy="2743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研究背景的信息分类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560320"/>
            <a:ext cx="16779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在研究背景中，信息分类是指将收集到的资料按照类型、来源或重要性进行分类整理。这种分类有助于教师清晰地识别和组织信息，使背景内容更加有条理性和系统性。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9172" y="1828800"/>
            <a:ext cx="1997964" cy="2743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02052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研究背景的条理清晰度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702052" y="2560320"/>
            <a:ext cx="16779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条理清晰度是指研究背景的表述是否清晰易懂，是否能够使教师一目了然地理解研究背景的全貌。这需要教师在撰写时注重语言的简练、逻辑的清晰，避免冗余和模糊的表述。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1828800"/>
            <a:ext cx="1997964" cy="2743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9744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研究背景的连贯性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560320"/>
            <a:ext cx="16779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连贯性是指研究背景中的信息、观点和论证是否形成一个连续、统一的整体。教师应当确保各部分内容相互关联，相互支撑，避免出现跳跃和断裂，使背景内容更加协调一致。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34556" y="1828800"/>
            <a:ext cx="1997964" cy="274320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17436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研究背景的易读性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17436" y="2560320"/>
            <a:ext cx="16779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易读性是指研究背景是否易于阅读和理解。教师应当在撰写时考虑到读者的背景知识，使用恰当的术语和表达方式，使内容既专业又易于接受，以便于读者快速把握研究背景的核心信息。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研究背景的结论引导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Leading to the Conclusion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研究背景的逻辑构建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</a:t>
            </a:r>
            <a:endParaRPr lang="en-US" sz="800" dirty="0"/>
          </a:p>
        </p:txBody>
      </p:sp>
      <p:pic>
        <p:nvPicPr>
          <p:cNvPr id="9" name="Image 0" descr="p37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188720"/>
            <a:ext cx="2560320" cy="3383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11480" y="1188720"/>
            <a:ext cx="2770632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结论的预示性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61888" y="1188720"/>
            <a:ext cx="2770632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90488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190488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结论的创新点强调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1480" y="2935224"/>
            <a:ext cx="2770632" cy="16367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8496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结论的逻辑推导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61888" y="2935224"/>
            <a:ext cx="2770632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90488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190488" y="38496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结论的研究价值提示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研究背景的撰写内容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Write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研究背景的逻辑构建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4105656" cy="1636776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在世界范畴中该研究所处的地位？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6864" y="1188720"/>
            <a:ext cx="4105656" cy="1636776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5464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55464" y="1965960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在国内，该研究所处的地位？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4105656" cy="16367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118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1246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有哪些具体数据可以揭示研究的重要性？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2935224"/>
            <a:ext cx="4105656" cy="163677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55464" y="3118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0E0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371246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有哪些政府或官方的文件可以揭示研究的重要性？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图表辅助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Charts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873752"/>
            <a:ext cx="115214" cy="11521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00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 &amp; Experience  ·  材料研究与产品设计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800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研究背景的逻辑构建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143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主要用于展示研究背景中的相关信息，以揭示研究主题的重要性。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3017520" cy="2926080"/>
          </a:xfrm>
          <a:prstGeom prst="rect">
            <a:avLst/>
          </a:prstGeom>
          <a:solidFill>
            <a:srgbClr val="40E0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图表的类型选择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8600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图表类型的选择应基于数据的特点和需要展示的信息。例如，对于趋势分析，折线图可能是最佳选择；而对于比较不同组的数据，条形图或饼图可能更为合适。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38728" y="1645920"/>
            <a:ext cx="1658112" cy="2926080"/>
          </a:xfrm>
          <a:prstGeom prst="rect">
            <a:avLst/>
          </a:prstGeom>
          <a:solidFill>
            <a:srgbClr val="EBEBEB"/>
          </a:solidFill>
          <a:ln/>
        </p:spPr>
      </p:sp>
      <p:graphicFrame>
        <p:nvGraphicFramePr>
          <p:cNvPr id="14" name="Chart 0" descr=""/>
          <p:cNvGraphicFramePr/>
          <p:nvPr/>
        </p:nvGraphicFramePr>
        <p:xfrm>
          <a:off x="363016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367588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趋势分析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06568" y="1645920"/>
            <a:ext cx="1658112" cy="2926080"/>
          </a:xfrm>
          <a:prstGeom prst="rect">
            <a:avLst/>
          </a:prstGeom>
          <a:solidFill>
            <a:srgbClr val="EBEBEB"/>
          </a:solidFill>
          <a:ln/>
        </p:spPr>
      </p:sp>
      <p:graphicFrame>
        <p:nvGraphicFramePr>
          <p:cNvPr id="18" name="Chart 1" descr=""/>
          <p:cNvGraphicFramePr/>
          <p:nvPr/>
        </p:nvGraphicFramePr>
        <p:xfrm>
          <a:off x="539800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4372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4372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比较不同组的数据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074408" y="1645920"/>
            <a:ext cx="1658112" cy="2926080"/>
          </a:xfrm>
          <a:prstGeom prst="rect">
            <a:avLst/>
          </a:prstGeom>
          <a:solidFill>
            <a:srgbClr val="EBEBEB"/>
          </a:solidFill>
          <a:ln/>
        </p:spPr>
      </p:sp>
      <p:graphicFrame>
        <p:nvGraphicFramePr>
          <p:cNvPr id="22" name="Chart 2" descr=""/>
          <p:cNvGraphicFramePr/>
          <p:nvPr/>
        </p:nvGraphicFramePr>
        <p:xfrm>
          <a:off x="716584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721156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21156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比较不同组的数据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谢谢！THANKS！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 the Research 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402336" cy="40233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4041648"/>
            <a:ext cx="281635" cy="281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38404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 学术论文研究背景撰写技巧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湖北工业大学工业设计学院  ·  张萌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第3课 学术论文研究背景撰写技巧</dc:title>
  <dc:subject>PptxGenJS Presentation</dc:subject>
  <dc:creator>张萌</dc:creator>
  <cp:lastModifiedBy>张萌</cp:lastModifiedBy>
  <cp:revision>1</cp:revision>
  <dcterms:created xsi:type="dcterms:W3CDTF">2026-09-23T15:18:41Z</dcterms:created>
  <dcterms:modified xsi:type="dcterms:W3CDTF">2026-09-23T15:18:41Z</dcterms:modified>
</cp:coreProperties>
</file>