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文】期刊影响因子（JIF），影响因子衡量的是某一期刊的文章在特定年份或时期被引用的频率。JIF用于比较某个特定学科内期刊的引文影响，而JCI则提供了一个单一的数值来衡量相邻研究领域中期刊的引文影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【原文】期刊引文指标（JCI）是对Web of Science核心合集中的期刊领域归一化后计算出来的可用于跨学科衡量引文影响的一个度量。
作为JIF的补充，JCI控制了研究主题、出版类型和出版年份等变量，为期刊上近三年发表的论文提供了一个领域归一化的，统一的引文影响指标。换言之，JIF用于比较某个特定学科内期刊的引文影响，而JCI则提供了一个单一的数值来衡量相邻研究领域中期刊的引文影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【参考研究目标，供讲解】
· 校园文化空间：梳理校园文化空间的流线与场所营造策略，提升学生使用时的方向感与场所感，从而增强学生的文化认同感。
· 适老智能家居：简化智能家居设备的交互设计，降低老年用户的操作难度，提升其对智能设备的使用意愿与依赖度。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jpeg"/><Relationship Id="rId3" Type="http://schemas.openxmlformats.org/officeDocument/2006/relationships/image" Target="../media/image-22-3.jpe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image" Target="../media/image-34-2.jpeg"/><Relationship Id="rId3" Type="http://schemas.openxmlformats.org/officeDocument/2006/relationships/image" Target="../media/image-34-3.jpeg"/><Relationship Id="rId4" Type="http://schemas.openxmlformats.org/officeDocument/2006/relationships/image" Target="../media/image-34-4.jpeg"/><Relationship Id="rId5" Type="http://schemas.openxmlformats.org/officeDocument/2006/relationships/image" Target="../media/image-34-5.jpe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image" Target="../media/image-35-2.jpeg"/><Relationship Id="rId3" Type="http://schemas.openxmlformats.org/officeDocument/2006/relationships/image" Target="../media/image-35-3.jpeg"/><Relationship Id="rId4" Type="http://schemas.openxmlformats.org/officeDocument/2006/relationships/image" Target="../media/image-35-4.jpeg"/><Relationship Id="rId5" Type="http://schemas.openxmlformats.org/officeDocument/2006/relationships/image" Target="../media/image-35-5.jpeg"/><Relationship Id="rId6" Type="http://schemas.openxmlformats.org/officeDocument/2006/relationships/image" Target="../media/image-35-6.jpe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image" Target="../media/image-36-2.jpeg"/><Relationship Id="rId3" Type="http://schemas.openxmlformats.org/officeDocument/2006/relationships/image" Target="../media/image-36-3.jpe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image" Target="../media/image-38-2.jpeg"/><Relationship Id="rId3" Type="http://schemas.openxmlformats.org/officeDocument/2006/relationships/image" Target="../media/image-38-3.jpe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image" Target="../media/image-39-2.jpe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image" Target="../media/image-44-2.jpe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image" Target="../media/image-47-2.jpe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image" Target="../media/image-50-2.jpe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eg"/><Relationship Id="rId2" Type="http://schemas.openxmlformats.org/officeDocument/2006/relationships/image" Target="../media/image-51-2.jpe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eg"/><Relationship Id="rId2" Type="http://schemas.openxmlformats.org/officeDocument/2006/relationships/image" Target="../media/image-52-2.jpe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eg"/><Relationship Id="rId2" Type="http://schemas.openxmlformats.org/officeDocument/2006/relationships/image" Target="../media/image-53-2.jpe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548640"/>
            <a:ext cx="4937760" cy="365760"/>
          </a:xfrm>
          <a:prstGeom prst="rect">
            <a:avLst/>
          </a:prstGeom>
          <a:noFill/>
          <a:ln/>
        </p:spPr>
        <p:txBody>
          <a:bodyPr wrap="square" lIns="0" tIns="0" rIns="0" bIns="0" rtlCol="0" anchor="t"/>
          <a:lstStyle/>
          <a:p>
            <a:pPr indent="0" marL="0">
              <a:buNone/>
            </a:pPr>
            <a:r>
              <a:rPr lang="en-US" sz="1600" dirty="0">
                <a:solidFill>
                  <a:srgbClr val="2D2D2D"/>
                </a:solidFill>
                <a:latin typeface="Microsoft YaHei" pitchFamily="34" charset="0"/>
                <a:ea typeface="Microsoft YaHei" pitchFamily="34" charset="-122"/>
                <a:cs typeface="Microsoft YaHei" pitchFamily="34" charset="-120"/>
              </a:rPr>
              <a:t>第4课  ·  材料研究与产品设计</a:t>
            </a:r>
            <a:endParaRPr lang="en-US" sz="1600" dirty="0"/>
          </a:p>
        </p:txBody>
      </p:sp>
      <p:sp>
        <p:nvSpPr>
          <p:cNvPr id="3" name="Text 1"/>
          <p:cNvSpPr txBox="1"/>
          <p:nvPr/>
        </p:nvSpPr>
        <p:spPr>
          <a:xfrm>
            <a:off x="548640" y="1005840"/>
            <a:ext cx="5120640" cy="868680"/>
          </a:xfrm>
          <a:prstGeom prst="rect">
            <a:avLst/>
          </a:prstGeom>
          <a:noFill/>
          <a:ln/>
        </p:spPr>
        <p:txBody>
          <a:bodyPr wrap="square" lIns="0" tIns="0" rIns="0" bIns="0" rtlCol="0" anchor="ctr"/>
          <a:lstStyle/>
          <a:p>
            <a:pPr indent="0" marL="0">
              <a:buNone/>
            </a:pPr>
            <a:r>
              <a:rPr lang="en-US" sz="4600" b="1" dirty="0">
                <a:solidFill>
                  <a:srgbClr val="2D2D2D"/>
                </a:solidFill>
                <a:latin typeface="Microsoft YaHei" pitchFamily="34" charset="0"/>
                <a:ea typeface="Microsoft YaHei" pitchFamily="34" charset="-122"/>
                <a:cs typeface="Microsoft YaHei" pitchFamily="34" charset="-120"/>
              </a:rPr>
              <a:t>设计研究的</a:t>
            </a:r>
            <a:endParaRPr lang="en-US" sz="4600" dirty="0"/>
          </a:p>
        </p:txBody>
      </p:sp>
      <p:sp>
        <p:nvSpPr>
          <p:cNvPr id="4" name="Text 2"/>
          <p:cNvSpPr txBox="1"/>
          <p:nvPr/>
        </p:nvSpPr>
        <p:spPr>
          <a:xfrm>
            <a:off x="548640" y="1783080"/>
            <a:ext cx="5120640" cy="868680"/>
          </a:xfrm>
          <a:prstGeom prst="rect">
            <a:avLst/>
          </a:prstGeom>
          <a:noFill/>
          <a:ln/>
        </p:spPr>
        <p:txBody>
          <a:bodyPr wrap="square" lIns="0" tIns="0" rIns="0" bIns="0" rtlCol="0" anchor="ctr"/>
          <a:lstStyle/>
          <a:p>
            <a:pPr indent="0" marL="0">
              <a:buNone/>
            </a:pPr>
            <a:r>
              <a:rPr lang="en-US" sz="4600" dirty="0">
                <a:solidFill>
                  <a:srgbClr val="2D2D2D"/>
                </a:solidFill>
                <a:latin typeface="Microsoft YaHei" pitchFamily="34" charset="0"/>
                <a:ea typeface="Microsoft YaHei" pitchFamily="34" charset="-122"/>
                <a:cs typeface="Microsoft YaHei" pitchFamily="34" charset="-120"/>
              </a:rPr>
              <a:t>全球对话</a:t>
            </a:r>
            <a:endParaRPr lang="en-US" sz="4600" dirty="0"/>
          </a:p>
        </p:txBody>
      </p:sp>
      <p:sp>
        <p:nvSpPr>
          <p:cNvPr id="5" name="Text 3"/>
          <p:cNvSpPr txBox="1"/>
          <p:nvPr/>
        </p:nvSpPr>
        <p:spPr>
          <a:xfrm>
            <a:off x="548640" y="2697480"/>
            <a:ext cx="512064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外文期刊论文检索、写作与发表策略分享</a:t>
            </a:r>
            <a:endParaRPr lang="en-US" sz="1500" dirty="0"/>
          </a:p>
        </p:txBody>
      </p:sp>
      <p:sp>
        <p:nvSpPr>
          <p:cNvPr id="6" name="Shape 4"/>
          <p:cNvSpPr/>
          <p:nvPr/>
        </p:nvSpPr>
        <p:spPr>
          <a:xfrm>
            <a:off x="548640" y="3840480"/>
            <a:ext cx="402336" cy="402336"/>
          </a:xfrm>
          <a:prstGeom prst="rect">
            <a:avLst/>
          </a:prstGeom>
          <a:solidFill>
            <a:srgbClr val="2D2D2D"/>
          </a:solidFill>
          <a:ln/>
        </p:spPr>
      </p:sp>
      <p:sp>
        <p:nvSpPr>
          <p:cNvPr id="7" name="Shape 5"/>
          <p:cNvSpPr/>
          <p:nvPr/>
        </p:nvSpPr>
        <p:spPr>
          <a:xfrm>
            <a:off x="749808" y="4041648"/>
            <a:ext cx="281635" cy="281635"/>
          </a:xfrm>
          <a:prstGeom prst="rect">
            <a:avLst/>
          </a:prstGeom>
          <a:solidFill>
            <a:srgbClr val="FFFFFF"/>
          </a:solidFill>
          <a:ln/>
        </p:spPr>
      </p:sp>
      <p:sp>
        <p:nvSpPr>
          <p:cNvPr id="8" name="Text 6"/>
          <p:cNvSpPr txBox="1"/>
          <p:nvPr/>
        </p:nvSpPr>
        <p:spPr>
          <a:xfrm>
            <a:off x="1234440" y="3840480"/>
            <a:ext cx="4114800" cy="566928"/>
          </a:xfrm>
          <a:prstGeom prst="rect">
            <a:avLst/>
          </a:prstGeom>
          <a:noFill/>
          <a:ln/>
        </p:spPr>
        <p:txBody>
          <a:bodyPr wrap="square" lIns="0" tIns="0" rIns="0" bIns="0" rtlCol="0" anchor="ctr"/>
          <a:lstStyle/>
          <a:p>
            <a:pPr indent="0" marL="0">
              <a:lnSpc>
                <a:spcPct val="120000"/>
              </a:lnSpc>
              <a:buNone/>
            </a:pPr>
            <a:r>
              <a:rPr lang="en-US" sz="1300" dirty="0">
                <a:solidFill>
                  <a:srgbClr val="2D2D2D"/>
                </a:solidFill>
                <a:latin typeface="Microsoft YaHei" pitchFamily="34" charset="0"/>
                <a:ea typeface="Microsoft YaHei" pitchFamily="34" charset="-122"/>
                <a:cs typeface="Microsoft YaHei" pitchFamily="34" charset="-120"/>
              </a:rPr>
              <a:t>湖北工业大学  工业设计学院</a:t>
            </a:r>
            <a:endParaRPr lang="en-US" sz="1300" dirty="0"/>
          </a:p>
          <a:p>
            <a:pPr indent="0" marL="0">
              <a:lnSpc>
                <a:spcPct val="120000"/>
              </a:lnSpc>
              <a:buNone/>
            </a:pPr>
            <a:r>
              <a:rPr lang="en-US" sz="1300" dirty="0">
                <a:solidFill>
                  <a:srgbClr val="2D2D2D"/>
                </a:solidFill>
                <a:latin typeface="Microsoft YaHei" pitchFamily="34" charset="0"/>
                <a:ea typeface="Microsoft YaHei" pitchFamily="34" charset="-122"/>
                <a:cs typeface="Microsoft YaHei" pitchFamily="34" charset="-120"/>
              </a:rPr>
              <a:t>张萌</a:t>
            </a:r>
            <a:endParaRPr lang="en-US" sz="1300" dirty="0"/>
          </a:p>
        </p:txBody>
      </p:sp>
      <p:sp>
        <p:nvSpPr>
          <p:cNvPr id="9" name="Shape 7"/>
          <p:cNvSpPr/>
          <p:nvPr/>
        </p:nvSpPr>
        <p:spPr>
          <a:xfrm>
            <a:off x="5760720" y="0"/>
            <a:ext cx="3383280" cy="5143500"/>
          </a:xfrm>
          <a:prstGeom prst="rect">
            <a:avLst/>
          </a:prstGeom>
          <a:solidFill>
            <a:srgbClr val="2D2D2D"/>
          </a:solidFill>
          <a:ln/>
        </p:spPr>
      </p:sp>
      <p:sp>
        <p:nvSpPr>
          <p:cNvPr id="10" name="Text 8"/>
          <p:cNvSpPr txBox="1"/>
          <p:nvPr/>
        </p:nvSpPr>
        <p:spPr>
          <a:xfrm>
            <a:off x="6126480" y="1188720"/>
            <a:ext cx="2834640" cy="2560320"/>
          </a:xfrm>
          <a:prstGeom prst="rect">
            <a:avLst/>
          </a:prstGeom>
          <a:noFill/>
          <a:ln/>
        </p:spPr>
        <p:txBody>
          <a:bodyPr wrap="square" lIns="0" tIns="0" rIns="0" bIns="0" rtlCol="0" anchor="t"/>
          <a:lstStyle/>
          <a:p>
            <a:pPr indent="0" marL="0">
              <a:lnSpc>
                <a:spcPct val="105000"/>
              </a:lnSpc>
              <a:buNone/>
            </a:pPr>
            <a:r>
              <a:rPr lang="en-US" sz="4000" b="1" dirty="0">
                <a:solidFill>
                  <a:srgbClr val="40E0D0"/>
                </a:solidFill>
                <a:latin typeface="Poppins" pitchFamily="34" charset="0"/>
                <a:ea typeface="Poppins" pitchFamily="34" charset="-122"/>
                <a:cs typeface="Poppins" pitchFamily="34" charset="-120"/>
              </a:rPr>
              <a:t>Search</a:t>
            </a:r>
            <a:endParaRPr lang="en-US" sz="4000" dirty="0"/>
          </a:p>
          <a:p>
            <a:pPr indent="0" marL="0">
              <a:lnSpc>
                <a:spcPct val="105000"/>
              </a:lnSpc>
              <a:buNone/>
            </a:pPr>
            <a:r>
              <a:rPr lang="en-US" sz="4000" b="1" dirty="0">
                <a:solidFill>
                  <a:srgbClr val="FFFFFF"/>
                </a:solidFill>
                <a:latin typeface="Poppins" pitchFamily="34" charset="0"/>
                <a:ea typeface="Poppins" pitchFamily="34" charset="-122"/>
                <a:cs typeface="Poppins" pitchFamily="34" charset="-120"/>
              </a:rPr>
              <a:t>Write</a:t>
            </a:r>
            <a:endParaRPr lang="en-US" sz="4000" dirty="0"/>
          </a:p>
          <a:p>
            <a:pPr indent="0" marL="0">
              <a:lnSpc>
                <a:spcPct val="105000"/>
              </a:lnSpc>
              <a:buNone/>
            </a:pPr>
            <a:r>
              <a:rPr lang="en-US" sz="4000" b="1" dirty="0">
                <a:solidFill>
                  <a:srgbClr val="E2E2E2"/>
                </a:solidFill>
                <a:latin typeface="Poppins" pitchFamily="34" charset="0"/>
                <a:ea typeface="Poppins" pitchFamily="34" charset="-122"/>
                <a:cs typeface="Poppins" pitchFamily="34" charset="-120"/>
              </a:rPr>
              <a:t>Publish</a:t>
            </a:r>
            <a:endParaRPr lang="en-US" sz="4000" dirty="0"/>
          </a:p>
        </p:txBody>
      </p:sp>
      <p:sp>
        <p:nvSpPr>
          <p:cNvPr id="11" name="Text 9"/>
          <p:cNvSpPr txBox="1"/>
          <p:nvPr/>
        </p:nvSpPr>
        <p:spPr>
          <a:xfrm>
            <a:off x="6126480" y="4114800"/>
            <a:ext cx="2834640" cy="457200"/>
          </a:xfrm>
          <a:prstGeom prst="rect">
            <a:avLst/>
          </a:prstGeom>
          <a:noFill/>
          <a:ln/>
        </p:spPr>
        <p:txBody>
          <a:bodyPr wrap="square" lIns="0" tIns="0" rIns="0" bIns="0" rtlCol="0" anchor="t"/>
          <a:lstStyle/>
          <a:p>
            <a:pPr indent="0" marL="0">
              <a:buNone/>
            </a:pPr>
            <a:r>
              <a:rPr lang="en-US" sz="1000" dirty="0">
                <a:solidFill>
                  <a:srgbClr val="B5B5B5"/>
                </a:solidFill>
                <a:latin typeface="Poppins" pitchFamily="34" charset="0"/>
                <a:ea typeface="Poppins" pitchFamily="34" charset="-122"/>
                <a:cs typeface="Poppins" pitchFamily="34" charset="-120"/>
              </a:rPr>
              <a:t>A Global Dialogue on Design Research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目录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Contents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02</a:t>
            </a:r>
            <a:endParaRPr lang="en-US" sz="800" dirty="0"/>
          </a:p>
        </p:txBody>
      </p:sp>
      <p:sp>
        <p:nvSpPr>
          <p:cNvPr id="8" name="Shape 6"/>
          <p:cNvSpPr/>
          <p:nvPr/>
        </p:nvSpPr>
        <p:spPr>
          <a:xfrm>
            <a:off x="411480" y="1188720"/>
            <a:ext cx="2706624" cy="3383280"/>
          </a:xfrm>
          <a:prstGeom prst="rect">
            <a:avLst/>
          </a:prstGeom>
          <a:solidFill>
            <a:srgbClr val="40E0D0"/>
          </a:solidFill>
          <a:ln/>
        </p:spPr>
      </p:sp>
      <p:sp>
        <p:nvSpPr>
          <p:cNvPr id="9" name="Text 7"/>
          <p:cNvSpPr txBox="1"/>
          <p:nvPr/>
        </p:nvSpPr>
        <p:spPr>
          <a:xfrm>
            <a:off x="640080" y="1325880"/>
            <a:ext cx="2286000" cy="640080"/>
          </a:xfrm>
          <a:prstGeom prst="rect">
            <a:avLst/>
          </a:prstGeom>
          <a:noFill/>
          <a:ln/>
        </p:spPr>
        <p:txBody>
          <a:bodyPr wrap="square" lIns="0" tIns="0" rIns="0" bIns="0" rtlCol="0" anchor="t"/>
          <a:lstStyle/>
          <a:p>
            <a:pPr indent="0" marL="0">
              <a:buNone/>
            </a:pPr>
            <a:r>
              <a:rPr lang="en-US" sz="3200" b="1" dirty="0">
                <a:solidFill>
                  <a:srgbClr val="2D2D2D"/>
                </a:solidFill>
                <a:latin typeface="Poppins" pitchFamily="34" charset="0"/>
                <a:ea typeface="Poppins" pitchFamily="34" charset="-122"/>
                <a:cs typeface="Poppins" pitchFamily="34" charset="-120"/>
              </a:rPr>
              <a:t>01</a:t>
            </a:r>
            <a:endParaRPr lang="en-US" sz="3200" dirty="0"/>
          </a:p>
        </p:txBody>
      </p:sp>
      <p:sp>
        <p:nvSpPr>
          <p:cNvPr id="10" name="Text 8"/>
          <p:cNvSpPr txBox="1"/>
          <p:nvPr/>
        </p:nvSpPr>
        <p:spPr>
          <a:xfrm>
            <a:off x="640080" y="2057400"/>
            <a:ext cx="2331720" cy="41148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外文期刊论文的检索</a:t>
            </a:r>
            <a:endParaRPr lang="en-US" sz="1600" dirty="0"/>
          </a:p>
        </p:txBody>
      </p:sp>
      <p:sp>
        <p:nvSpPr>
          <p:cNvPr id="11" name="Text 9"/>
          <p:cNvSpPr txBox="1"/>
          <p:nvPr/>
        </p:nvSpPr>
        <p:spPr>
          <a:xfrm>
            <a:off x="640080" y="2651760"/>
            <a:ext cx="2331720" cy="17373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外文检索引擎</a:t>
            </a:r>
            <a:endParaRPr lang="en-US" sz="1250" dirty="0"/>
          </a:p>
          <a:p>
            <a:pPr marL="152400" indent="-152400">
              <a:spcAft>
                <a:spcPts val="6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投稿期刊的确定</a:t>
            </a:r>
            <a:endParaRPr lang="en-US" sz="1250" dirty="0"/>
          </a:p>
          <a:p>
            <a:pPr marL="152400" indent="-152400">
              <a:spcAft>
                <a:spcPts val="6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相关文献资料及最新学术资讯获取途径</a:t>
            </a:r>
            <a:endParaRPr lang="en-US" sz="1250" dirty="0"/>
          </a:p>
        </p:txBody>
      </p:sp>
      <p:sp>
        <p:nvSpPr>
          <p:cNvPr id="12" name="Shape 10"/>
          <p:cNvSpPr/>
          <p:nvPr/>
        </p:nvSpPr>
        <p:spPr>
          <a:xfrm>
            <a:off x="3218688" y="1188720"/>
            <a:ext cx="2706624" cy="3383280"/>
          </a:xfrm>
          <a:prstGeom prst="rect">
            <a:avLst/>
          </a:prstGeom>
          <a:solidFill>
            <a:srgbClr val="EBEBEB"/>
          </a:solidFill>
          <a:ln/>
        </p:spPr>
      </p:sp>
      <p:sp>
        <p:nvSpPr>
          <p:cNvPr id="13" name="Text 11"/>
          <p:cNvSpPr txBox="1"/>
          <p:nvPr/>
        </p:nvSpPr>
        <p:spPr>
          <a:xfrm>
            <a:off x="3447288" y="1325880"/>
            <a:ext cx="2286000" cy="640080"/>
          </a:xfrm>
          <a:prstGeom prst="rect">
            <a:avLst/>
          </a:prstGeom>
          <a:noFill/>
          <a:ln/>
        </p:spPr>
        <p:txBody>
          <a:bodyPr wrap="square" lIns="0" tIns="0" rIns="0" bIns="0" rtlCol="0" anchor="t"/>
          <a:lstStyle/>
          <a:p>
            <a:pPr indent="0" marL="0">
              <a:buNone/>
            </a:pPr>
            <a:r>
              <a:rPr lang="en-US" sz="3200" b="1" dirty="0">
                <a:solidFill>
                  <a:srgbClr val="2D2D2D"/>
                </a:solidFill>
                <a:latin typeface="Poppins" pitchFamily="34" charset="0"/>
                <a:ea typeface="Poppins" pitchFamily="34" charset="-122"/>
                <a:cs typeface="Poppins" pitchFamily="34" charset="-120"/>
              </a:rPr>
              <a:t>02</a:t>
            </a:r>
            <a:endParaRPr lang="en-US" sz="3200" dirty="0"/>
          </a:p>
        </p:txBody>
      </p:sp>
      <p:sp>
        <p:nvSpPr>
          <p:cNvPr id="14" name="Text 12"/>
          <p:cNvSpPr txBox="1"/>
          <p:nvPr/>
        </p:nvSpPr>
        <p:spPr>
          <a:xfrm>
            <a:off x="3447288" y="2057400"/>
            <a:ext cx="2331720" cy="41148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外文期刊论文的写作</a:t>
            </a:r>
            <a:endParaRPr lang="en-US" sz="1600" dirty="0"/>
          </a:p>
        </p:txBody>
      </p:sp>
      <p:sp>
        <p:nvSpPr>
          <p:cNvPr id="15" name="Text 13"/>
          <p:cNvSpPr txBox="1"/>
          <p:nvPr/>
        </p:nvSpPr>
        <p:spPr>
          <a:xfrm>
            <a:off x="3447288" y="2651760"/>
            <a:ext cx="2331720" cy="17373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论文的写作、翻译和修改</a:t>
            </a:r>
            <a:endParaRPr lang="en-US" sz="1250" dirty="0"/>
          </a:p>
        </p:txBody>
      </p:sp>
      <p:sp>
        <p:nvSpPr>
          <p:cNvPr id="16" name="Shape 14"/>
          <p:cNvSpPr/>
          <p:nvPr/>
        </p:nvSpPr>
        <p:spPr>
          <a:xfrm>
            <a:off x="6025896" y="1188720"/>
            <a:ext cx="2706624" cy="3383280"/>
          </a:xfrm>
          <a:prstGeom prst="rect">
            <a:avLst/>
          </a:prstGeom>
          <a:solidFill>
            <a:srgbClr val="2D2D2D"/>
          </a:solidFill>
          <a:ln/>
        </p:spPr>
      </p:sp>
      <p:sp>
        <p:nvSpPr>
          <p:cNvPr id="17" name="Text 15"/>
          <p:cNvSpPr txBox="1"/>
          <p:nvPr/>
        </p:nvSpPr>
        <p:spPr>
          <a:xfrm>
            <a:off x="6254496" y="1325880"/>
            <a:ext cx="2286000" cy="640080"/>
          </a:xfrm>
          <a:prstGeom prst="rect">
            <a:avLst/>
          </a:prstGeom>
          <a:noFill/>
          <a:ln/>
        </p:spPr>
        <p:txBody>
          <a:bodyPr wrap="square" lIns="0" tIns="0" rIns="0" bIns="0" rtlCol="0" anchor="t"/>
          <a:lstStyle/>
          <a:p>
            <a:pPr indent="0" marL="0">
              <a:buNone/>
            </a:pPr>
            <a:r>
              <a:rPr lang="en-US" sz="3200" b="1" dirty="0">
                <a:solidFill>
                  <a:srgbClr val="40E0D0"/>
                </a:solidFill>
                <a:latin typeface="Poppins" pitchFamily="34" charset="0"/>
                <a:ea typeface="Poppins" pitchFamily="34" charset="-122"/>
                <a:cs typeface="Poppins" pitchFamily="34" charset="-120"/>
              </a:rPr>
              <a:t>03</a:t>
            </a:r>
            <a:endParaRPr lang="en-US" sz="3200" dirty="0"/>
          </a:p>
        </p:txBody>
      </p:sp>
      <p:sp>
        <p:nvSpPr>
          <p:cNvPr id="18" name="Text 16"/>
          <p:cNvSpPr txBox="1"/>
          <p:nvPr/>
        </p:nvSpPr>
        <p:spPr>
          <a:xfrm>
            <a:off x="6254496" y="2057400"/>
            <a:ext cx="2331720" cy="41148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外文期刊论文的发表</a:t>
            </a:r>
            <a:endParaRPr lang="en-US" sz="1600" dirty="0"/>
          </a:p>
        </p:txBody>
      </p:sp>
      <p:sp>
        <p:nvSpPr>
          <p:cNvPr id="19" name="Text 17"/>
          <p:cNvSpPr txBox="1"/>
          <p:nvPr/>
        </p:nvSpPr>
        <p:spPr>
          <a:xfrm>
            <a:off x="6254496" y="2651760"/>
            <a:ext cx="2331720" cy="17373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FFFFFF"/>
                </a:solidFill>
                <a:latin typeface="Microsoft YaHei" pitchFamily="34" charset="0"/>
                <a:ea typeface="Microsoft YaHei" pitchFamily="34" charset="-122"/>
                <a:cs typeface="Microsoft YaHei" pitchFamily="34" charset="-120"/>
              </a:rPr>
              <a:t>论文的评审流程</a:t>
            </a:r>
            <a:endParaRPr lang="en-US" sz="1250" dirty="0"/>
          </a:p>
          <a:p>
            <a:pPr marL="152400" indent="-152400">
              <a:spcAft>
                <a:spcPts val="600"/>
              </a:spcAft>
              <a:buSzPct val="100000"/>
              <a:buChar char="•"/>
            </a:pPr>
            <a:r>
              <a:rPr lang="en-US" sz="1250" dirty="0">
                <a:solidFill>
                  <a:srgbClr val="FFFFFF"/>
                </a:solidFill>
                <a:latin typeface="Microsoft YaHei" pitchFamily="34" charset="0"/>
                <a:ea typeface="Microsoft YaHei" pitchFamily="34" charset="-122"/>
                <a:cs typeface="Microsoft YaHei" pitchFamily="34" charset="-120"/>
              </a:rPr>
              <a:t>论文的定稿</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04</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01</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Searching International Journals</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外文期刊论文的检索</a:t>
            </a:r>
            <a:endParaRPr lang="en-US" sz="3000" dirty="0"/>
          </a:p>
        </p:txBody>
      </p:sp>
      <p:sp>
        <p:nvSpPr>
          <p:cNvPr id="7" name="Shape 5"/>
          <p:cNvSpPr/>
          <p:nvPr/>
        </p:nvSpPr>
        <p:spPr>
          <a:xfrm>
            <a:off x="4023360" y="1828800"/>
            <a:ext cx="4709160" cy="804672"/>
          </a:xfrm>
          <a:prstGeom prst="roundRect">
            <a:avLst>
              <a:gd name="adj" fmla="val 13636"/>
            </a:avLst>
          </a:prstGeom>
          <a:solidFill>
            <a:srgbClr val="EBEBEB"/>
          </a:solidFill>
          <a:ln/>
        </p:spPr>
      </p:sp>
      <p:sp>
        <p:nvSpPr>
          <p:cNvPr id="8" name="Shape 6"/>
          <p:cNvSpPr/>
          <p:nvPr/>
        </p:nvSpPr>
        <p:spPr>
          <a:xfrm>
            <a:off x="4224528" y="2020824"/>
            <a:ext cx="146304" cy="146304"/>
          </a:xfrm>
          <a:prstGeom prst="rect">
            <a:avLst/>
          </a:prstGeom>
          <a:solidFill>
            <a:srgbClr val="40E0D0"/>
          </a:solidFill>
          <a:ln/>
        </p:spPr>
      </p:sp>
      <p:sp>
        <p:nvSpPr>
          <p:cNvPr id="9" name="Text 7"/>
          <p:cNvSpPr txBox="1"/>
          <p:nvPr/>
        </p:nvSpPr>
        <p:spPr>
          <a:xfrm>
            <a:off x="4526280" y="19202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外文检索引擎</a:t>
            </a:r>
            <a:endParaRPr lang="en-US" sz="1500" dirty="0"/>
          </a:p>
        </p:txBody>
      </p:sp>
      <p:sp>
        <p:nvSpPr>
          <p:cNvPr id="10" name="Text 8"/>
          <p:cNvSpPr txBox="1"/>
          <p:nvPr/>
        </p:nvSpPr>
        <p:spPr>
          <a:xfrm>
            <a:off x="4526280" y="22768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Poppins" pitchFamily="34" charset="0"/>
                <a:ea typeface="Poppins" pitchFamily="34" charset="-122"/>
                <a:cs typeface="Poppins" pitchFamily="34" charset="-120"/>
              </a:rPr>
              <a:t>Google Scholar · Semantic Scholar · Web of Science …</a:t>
            </a:r>
            <a:endParaRPr lang="en-US" sz="1100" dirty="0"/>
          </a:p>
        </p:txBody>
      </p:sp>
      <p:sp>
        <p:nvSpPr>
          <p:cNvPr id="11" name="Shape 9"/>
          <p:cNvSpPr/>
          <p:nvPr/>
        </p:nvSpPr>
        <p:spPr>
          <a:xfrm>
            <a:off x="4023360" y="2743200"/>
            <a:ext cx="4709160" cy="804672"/>
          </a:xfrm>
          <a:prstGeom prst="roundRect">
            <a:avLst>
              <a:gd name="adj" fmla="val 13636"/>
            </a:avLst>
          </a:prstGeom>
          <a:solidFill>
            <a:srgbClr val="E2E2E2"/>
          </a:solidFill>
          <a:ln/>
        </p:spPr>
      </p:sp>
      <p:sp>
        <p:nvSpPr>
          <p:cNvPr id="12" name="Shape 10"/>
          <p:cNvSpPr/>
          <p:nvPr/>
        </p:nvSpPr>
        <p:spPr>
          <a:xfrm>
            <a:off x="4224528" y="2935224"/>
            <a:ext cx="146304" cy="146304"/>
          </a:xfrm>
          <a:prstGeom prst="rect">
            <a:avLst/>
          </a:prstGeom>
          <a:solidFill>
            <a:srgbClr val="2D2D2D"/>
          </a:solidFill>
          <a:ln/>
        </p:spPr>
      </p:sp>
      <p:sp>
        <p:nvSpPr>
          <p:cNvPr id="13" name="Text 11"/>
          <p:cNvSpPr txBox="1"/>
          <p:nvPr/>
        </p:nvSpPr>
        <p:spPr>
          <a:xfrm>
            <a:off x="4526280" y="28346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投稿期刊的确定</a:t>
            </a:r>
            <a:endParaRPr lang="en-US" sz="1500" dirty="0"/>
          </a:p>
        </p:txBody>
      </p:sp>
      <p:sp>
        <p:nvSpPr>
          <p:cNvPr id="14" name="Text 12"/>
          <p:cNvSpPr txBox="1"/>
          <p:nvPr/>
        </p:nvSpPr>
        <p:spPr>
          <a:xfrm>
            <a:off x="4526280" y="31912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期刊等级查询 · 研究范畴与内容评估</a:t>
            </a:r>
            <a:endParaRPr lang="en-US" sz="1100" dirty="0"/>
          </a:p>
        </p:txBody>
      </p:sp>
      <p:sp>
        <p:nvSpPr>
          <p:cNvPr id="15" name="Shape 13"/>
          <p:cNvSpPr/>
          <p:nvPr/>
        </p:nvSpPr>
        <p:spPr>
          <a:xfrm>
            <a:off x="4023360" y="3657600"/>
            <a:ext cx="4709160" cy="603504"/>
          </a:xfrm>
          <a:prstGeom prst="roundRect">
            <a:avLst>
              <a:gd name="adj" fmla="val 18182"/>
            </a:avLst>
          </a:prstGeom>
          <a:solidFill>
            <a:srgbClr val="EBEBEB"/>
          </a:solidFill>
          <a:ln/>
        </p:spPr>
      </p:sp>
      <p:sp>
        <p:nvSpPr>
          <p:cNvPr id="16" name="Shape 14"/>
          <p:cNvSpPr/>
          <p:nvPr/>
        </p:nvSpPr>
        <p:spPr>
          <a:xfrm>
            <a:off x="4224528" y="3886200"/>
            <a:ext cx="146304" cy="146304"/>
          </a:xfrm>
          <a:prstGeom prst="rect">
            <a:avLst/>
          </a:prstGeom>
          <a:solidFill>
            <a:srgbClr val="2D2D2D"/>
          </a:solidFill>
          <a:ln/>
        </p:spPr>
      </p:sp>
      <p:sp>
        <p:nvSpPr>
          <p:cNvPr id="17" name="Text 15"/>
          <p:cNvSpPr txBox="1"/>
          <p:nvPr/>
        </p:nvSpPr>
        <p:spPr>
          <a:xfrm>
            <a:off x="4526280" y="37764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相关文献资料及最新学术资讯获取途径</a:t>
            </a:r>
            <a:endParaRPr lang="en-US" sz="1500" dirty="0"/>
          </a:p>
        </p:txBody>
      </p:sp>
      <p:sp>
        <p:nvSpPr>
          <p:cNvPr id="18" name="Shape 16"/>
          <p:cNvSpPr/>
          <p:nvPr/>
        </p:nvSpPr>
        <p:spPr>
          <a:xfrm>
            <a:off x="411480" y="4791456"/>
            <a:ext cx="164592" cy="164592"/>
          </a:xfrm>
          <a:prstGeom prst="rect">
            <a:avLst/>
          </a:prstGeom>
          <a:solidFill>
            <a:srgbClr val="2D2D2D"/>
          </a:solidFill>
          <a:ln/>
        </p:spPr>
      </p:sp>
      <p:sp>
        <p:nvSpPr>
          <p:cNvPr id="19" name="Shape 17"/>
          <p:cNvSpPr/>
          <p:nvPr/>
        </p:nvSpPr>
        <p:spPr>
          <a:xfrm>
            <a:off x="493776" y="4873752"/>
            <a:ext cx="115214" cy="115214"/>
          </a:xfrm>
          <a:prstGeom prst="rect">
            <a:avLst/>
          </a:prstGeom>
          <a:solidFill>
            <a:srgbClr val="FFFFFF"/>
          </a:solidFill>
          <a:ln/>
        </p:spPr>
      </p:sp>
      <p:sp>
        <p:nvSpPr>
          <p:cNvPr id="20" name="Text 18"/>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1" name="Text 19"/>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外文检索引擎</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Search Engines &amp; Databases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04</a:t>
            </a:r>
            <a:endParaRPr lang="en-US" sz="800" dirty="0"/>
          </a:p>
        </p:txBody>
      </p:sp>
      <p:sp>
        <p:nvSpPr>
          <p:cNvPr id="9" name="Shape 7"/>
          <p:cNvSpPr/>
          <p:nvPr/>
        </p:nvSpPr>
        <p:spPr>
          <a:xfrm>
            <a:off x="411480" y="1188720"/>
            <a:ext cx="1997964" cy="1636776"/>
          </a:xfrm>
          <a:prstGeom prst="rect">
            <a:avLst/>
          </a:prstGeom>
          <a:solidFill>
            <a:srgbClr val="40E0D0"/>
          </a:solidFill>
          <a:ln/>
        </p:spPr>
      </p:sp>
      <p:sp>
        <p:nvSpPr>
          <p:cNvPr id="10" name="Text 8"/>
          <p:cNvSpPr txBox="1"/>
          <p:nvPr/>
        </p:nvSpPr>
        <p:spPr>
          <a:xfrm>
            <a:off x="594360" y="1325880"/>
            <a:ext cx="91440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01</a:t>
            </a:r>
            <a:endParaRPr lang="en-US" sz="2000" dirty="0"/>
          </a:p>
        </p:txBody>
      </p:sp>
      <p:sp>
        <p:nvSpPr>
          <p:cNvPr id="11" name="Text 9"/>
          <p:cNvSpPr txBox="1"/>
          <p:nvPr/>
        </p:nvSpPr>
        <p:spPr>
          <a:xfrm>
            <a:off x="594360" y="1965960"/>
            <a:ext cx="1677924" cy="411480"/>
          </a:xfrm>
          <a:prstGeom prst="rect">
            <a:avLst/>
          </a:prstGeom>
          <a:noFill/>
          <a:ln/>
        </p:spPr>
        <p:txBody>
          <a:bodyPr wrap="square" lIns="0" tIns="0" rIns="0" bIns="0" rtlCol="0" anchor="ctr"/>
          <a:lstStyle/>
          <a:p>
            <a:pPr indent="0" marL="0">
              <a:buNone/>
            </a:pPr>
            <a:r>
              <a:rPr lang="en-US" sz="1400" b="1" dirty="0">
                <a:solidFill>
                  <a:srgbClr val="2D2D2D"/>
                </a:solidFill>
                <a:latin typeface="Poppins" pitchFamily="34" charset="0"/>
                <a:ea typeface="Poppins" pitchFamily="34" charset="-122"/>
                <a:cs typeface="Poppins" pitchFamily="34" charset="-120"/>
              </a:rPr>
              <a:t>Google Scholar</a:t>
            </a:r>
            <a:endParaRPr lang="en-US" sz="1400" dirty="0"/>
          </a:p>
        </p:txBody>
      </p:sp>
      <p:sp>
        <p:nvSpPr>
          <p:cNvPr id="12" name="Text 10"/>
          <p:cNvSpPr txBox="1"/>
          <p:nvPr/>
        </p:nvSpPr>
        <p:spPr>
          <a:xfrm>
            <a:off x="594360" y="2377440"/>
            <a:ext cx="1677924" cy="320040"/>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scholar.google.com</a:t>
            </a:r>
            <a:endParaRPr lang="en-US" sz="950" dirty="0"/>
          </a:p>
        </p:txBody>
      </p:sp>
      <p:sp>
        <p:nvSpPr>
          <p:cNvPr id="13" name="Shape 11"/>
          <p:cNvSpPr/>
          <p:nvPr/>
        </p:nvSpPr>
        <p:spPr>
          <a:xfrm>
            <a:off x="2519172" y="1188720"/>
            <a:ext cx="1997964" cy="1636776"/>
          </a:xfrm>
          <a:prstGeom prst="rect">
            <a:avLst/>
          </a:prstGeom>
          <a:solidFill>
            <a:srgbClr val="EBEBEB"/>
          </a:solidFill>
          <a:ln/>
        </p:spPr>
      </p:sp>
      <p:sp>
        <p:nvSpPr>
          <p:cNvPr id="14" name="Text 12"/>
          <p:cNvSpPr txBox="1"/>
          <p:nvPr/>
        </p:nvSpPr>
        <p:spPr>
          <a:xfrm>
            <a:off x="2702052" y="1325880"/>
            <a:ext cx="91440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02</a:t>
            </a:r>
            <a:endParaRPr lang="en-US" sz="2000" dirty="0"/>
          </a:p>
        </p:txBody>
      </p:sp>
      <p:sp>
        <p:nvSpPr>
          <p:cNvPr id="15" name="Text 13"/>
          <p:cNvSpPr txBox="1"/>
          <p:nvPr/>
        </p:nvSpPr>
        <p:spPr>
          <a:xfrm>
            <a:off x="2702052" y="1965960"/>
            <a:ext cx="1677924" cy="411480"/>
          </a:xfrm>
          <a:prstGeom prst="rect">
            <a:avLst/>
          </a:prstGeom>
          <a:noFill/>
          <a:ln/>
        </p:spPr>
        <p:txBody>
          <a:bodyPr wrap="square" lIns="0" tIns="0" rIns="0" bIns="0" rtlCol="0" anchor="ctr"/>
          <a:lstStyle/>
          <a:p>
            <a:pPr indent="0" marL="0">
              <a:buNone/>
            </a:pPr>
            <a:r>
              <a:rPr lang="en-US" sz="1400" b="1" dirty="0">
                <a:solidFill>
                  <a:srgbClr val="2D2D2D"/>
                </a:solidFill>
                <a:latin typeface="Poppins" pitchFamily="34" charset="0"/>
                <a:ea typeface="Poppins" pitchFamily="34" charset="-122"/>
                <a:cs typeface="Poppins" pitchFamily="34" charset="-120"/>
              </a:rPr>
              <a:t>Semantic Scholar</a:t>
            </a:r>
            <a:endParaRPr lang="en-US" sz="1400" dirty="0"/>
          </a:p>
        </p:txBody>
      </p:sp>
      <p:sp>
        <p:nvSpPr>
          <p:cNvPr id="16" name="Text 14"/>
          <p:cNvSpPr txBox="1"/>
          <p:nvPr/>
        </p:nvSpPr>
        <p:spPr>
          <a:xfrm>
            <a:off x="2702052" y="2377440"/>
            <a:ext cx="1677924" cy="320040"/>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semanticscholar.org</a:t>
            </a:r>
            <a:endParaRPr lang="en-US" sz="950" dirty="0"/>
          </a:p>
        </p:txBody>
      </p:sp>
      <p:sp>
        <p:nvSpPr>
          <p:cNvPr id="17" name="Shape 15"/>
          <p:cNvSpPr/>
          <p:nvPr/>
        </p:nvSpPr>
        <p:spPr>
          <a:xfrm>
            <a:off x="4626864" y="1188720"/>
            <a:ext cx="1997964" cy="1636776"/>
          </a:xfrm>
          <a:prstGeom prst="rect">
            <a:avLst/>
          </a:prstGeom>
          <a:solidFill>
            <a:srgbClr val="E2E2E2"/>
          </a:solidFill>
          <a:ln/>
        </p:spPr>
      </p:sp>
      <p:sp>
        <p:nvSpPr>
          <p:cNvPr id="18" name="Text 16"/>
          <p:cNvSpPr txBox="1"/>
          <p:nvPr/>
        </p:nvSpPr>
        <p:spPr>
          <a:xfrm>
            <a:off x="4809744" y="1325880"/>
            <a:ext cx="91440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03</a:t>
            </a:r>
            <a:endParaRPr lang="en-US" sz="2000" dirty="0"/>
          </a:p>
        </p:txBody>
      </p:sp>
      <p:sp>
        <p:nvSpPr>
          <p:cNvPr id="19" name="Text 17"/>
          <p:cNvSpPr txBox="1"/>
          <p:nvPr/>
        </p:nvSpPr>
        <p:spPr>
          <a:xfrm>
            <a:off x="4809744" y="1965960"/>
            <a:ext cx="1677924" cy="411480"/>
          </a:xfrm>
          <a:prstGeom prst="rect">
            <a:avLst/>
          </a:prstGeom>
          <a:noFill/>
          <a:ln/>
        </p:spPr>
        <p:txBody>
          <a:bodyPr wrap="square" lIns="0" tIns="0" rIns="0" bIns="0" rtlCol="0" anchor="ctr"/>
          <a:lstStyle/>
          <a:p>
            <a:pPr indent="0" marL="0">
              <a:buNone/>
            </a:pPr>
            <a:r>
              <a:rPr lang="en-US" sz="1400" b="1" dirty="0">
                <a:solidFill>
                  <a:srgbClr val="2D2D2D"/>
                </a:solidFill>
                <a:latin typeface="Poppins" pitchFamily="34" charset="0"/>
                <a:ea typeface="Poppins" pitchFamily="34" charset="-122"/>
                <a:cs typeface="Poppins" pitchFamily="34" charset="-120"/>
              </a:rPr>
              <a:t>ResearchGate</a:t>
            </a:r>
            <a:endParaRPr lang="en-US" sz="1400" dirty="0"/>
          </a:p>
        </p:txBody>
      </p:sp>
      <p:sp>
        <p:nvSpPr>
          <p:cNvPr id="20" name="Text 18"/>
          <p:cNvSpPr txBox="1"/>
          <p:nvPr/>
        </p:nvSpPr>
        <p:spPr>
          <a:xfrm>
            <a:off x="4809744" y="2377440"/>
            <a:ext cx="1677924" cy="320040"/>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researchgate.net</a:t>
            </a:r>
            <a:endParaRPr lang="en-US" sz="950" dirty="0"/>
          </a:p>
        </p:txBody>
      </p:sp>
      <p:sp>
        <p:nvSpPr>
          <p:cNvPr id="21" name="Shape 19"/>
          <p:cNvSpPr/>
          <p:nvPr/>
        </p:nvSpPr>
        <p:spPr>
          <a:xfrm>
            <a:off x="6734556" y="1188720"/>
            <a:ext cx="1997964" cy="1636776"/>
          </a:xfrm>
          <a:prstGeom prst="rect">
            <a:avLst/>
          </a:prstGeom>
          <a:solidFill>
            <a:srgbClr val="EBEBEB"/>
          </a:solidFill>
          <a:ln/>
        </p:spPr>
      </p:sp>
      <p:sp>
        <p:nvSpPr>
          <p:cNvPr id="22" name="Text 20"/>
          <p:cNvSpPr txBox="1"/>
          <p:nvPr/>
        </p:nvSpPr>
        <p:spPr>
          <a:xfrm>
            <a:off x="6917436" y="1325880"/>
            <a:ext cx="91440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04</a:t>
            </a:r>
            <a:endParaRPr lang="en-US" sz="2000" dirty="0"/>
          </a:p>
        </p:txBody>
      </p:sp>
      <p:sp>
        <p:nvSpPr>
          <p:cNvPr id="23" name="Text 21"/>
          <p:cNvSpPr txBox="1"/>
          <p:nvPr/>
        </p:nvSpPr>
        <p:spPr>
          <a:xfrm>
            <a:off x="6917436" y="1965960"/>
            <a:ext cx="1677924" cy="411480"/>
          </a:xfrm>
          <a:prstGeom prst="rect">
            <a:avLst/>
          </a:prstGeom>
          <a:noFill/>
          <a:ln/>
        </p:spPr>
        <p:txBody>
          <a:bodyPr wrap="square" lIns="0" tIns="0" rIns="0" bIns="0" rtlCol="0" anchor="ctr"/>
          <a:lstStyle/>
          <a:p>
            <a:pPr indent="0" marL="0">
              <a:buNone/>
            </a:pPr>
            <a:r>
              <a:rPr lang="en-US" sz="1400" b="1" dirty="0">
                <a:solidFill>
                  <a:srgbClr val="2D2D2D"/>
                </a:solidFill>
                <a:latin typeface="Poppins" pitchFamily="34" charset="0"/>
                <a:ea typeface="Poppins" pitchFamily="34" charset="-122"/>
                <a:cs typeface="Poppins" pitchFamily="34" charset="-120"/>
              </a:rPr>
              <a:t>Connected Papers</a:t>
            </a:r>
            <a:endParaRPr lang="en-US" sz="1400" dirty="0"/>
          </a:p>
        </p:txBody>
      </p:sp>
      <p:sp>
        <p:nvSpPr>
          <p:cNvPr id="24" name="Text 22"/>
          <p:cNvSpPr txBox="1"/>
          <p:nvPr/>
        </p:nvSpPr>
        <p:spPr>
          <a:xfrm>
            <a:off x="6917436" y="2377440"/>
            <a:ext cx="1677924" cy="320040"/>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connectedpapers.com</a:t>
            </a:r>
            <a:endParaRPr lang="en-US" sz="950" dirty="0"/>
          </a:p>
        </p:txBody>
      </p:sp>
      <p:sp>
        <p:nvSpPr>
          <p:cNvPr id="25" name="Shape 23"/>
          <p:cNvSpPr/>
          <p:nvPr/>
        </p:nvSpPr>
        <p:spPr>
          <a:xfrm>
            <a:off x="411480" y="2935224"/>
            <a:ext cx="1997964" cy="1636776"/>
          </a:xfrm>
          <a:prstGeom prst="rect">
            <a:avLst/>
          </a:prstGeom>
          <a:solidFill>
            <a:srgbClr val="EBEBEB"/>
          </a:solidFill>
          <a:ln/>
        </p:spPr>
      </p:sp>
      <p:sp>
        <p:nvSpPr>
          <p:cNvPr id="26" name="Text 24"/>
          <p:cNvSpPr txBox="1"/>
          <p:nvPr/>
        </p:nvSpPr>
        <p:spPr>
          <a:xfrm>
            <a:off x="594360" y="3072384"/>
            <a:ext cx="91440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05</a:t>
            </a:r>
            <a:endParaRPr lang="en-US" sz="2000" dirty="0"/>
          </a:p>
        </p:txBody>
      </p:sp>
      <p:sp>
        <p:nvSpPr>
          <p:cNvPr id="27" name="Text 25"/>
          <p:cNvSpPr txBox="1"/>
          <p:nvPr/>
        </p:nvSpPr>
        <p:spPr>
          <a:xfrm>
            <a:off x="594360" y="3712464"/>
            <a:ext cx="1677924" cy="411480"/>
          </a:xfrm>
          <a:prstGeom prst="rect">
            <a:avLst/>
          </a:prstGeom>
          <a:noFill/>
          <a:ln/>
        </p:spPr>
        <p:txBody>
          <a:bodyPr wrap="square" lIns="0" tIns="0" rIns="0" bIns="0" rtlCol="0" anchor="ctr"/>
          <a:lstStyle/>
          <a:p>
            <a:pPr indent="0" marL="0">
              <a:buNone/>
            </a:pPr>
            <a:r>
              <a:rPr lang="en-US" sz="1400" b="1" dirty="0">
                <a:solidFill>
                  <a:srgbClr val="2D2D2D"/>
                </a:solidFill>
                <a:latin typeface="Poppins" pitchFamily="34" charset="0"/>
                <a:ea typeface="Poppins" pitchFamily="34" charset="-122"/>
                <a:cs typeface="Poppins" pitchFamily="34" charset="-120"/>
              </a:rPr>
              <a:t>Z-Library</a:t>
            </a:r>
            <a:endParaRPr lang="en-US" sz="1400" dirty="0"/>
          </a:p>
        </p:txBody>
      </p:sp>
      <p:sp>
        <p:nvSpPr>
          <p:cNvPr id="28" name="Text 26"/>
          <p:cNvSpPr txBox="1"/>
          <p:nvPr/>
        </p:nvSpPr>
        <p:spPr>
          <a:xfrm>
            <a:off x="594360" y="4123944"/>
            <a:ext cx="1677924" cy="320040"/>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zlibrary-east.se</a:t>
            </a:r>
            <a:endParaRPr lang="en-US" sz="950" dirty="0"/>
          </a:p>
        </p:txBody>
      </p:sp>
      <p:sp>
        <p:nvSpPr>
          <p:cNvPr id="29" name="Shape 27"/>
          <p:cNvSpPr/>
          <p:nvPr/>
        </p:nvSpPr>
        <p:spPr>
          <a:xfrm>
            <a:off x="2519172" y="2935224"/>
            <a:ext cx="1997964" cy="1636776"/>
          </a:xfrm>
          <a:prstGeom prst="rect">
            <a:avLst/>
          </a:prstGeom>
          <a:solidFill>
            <a:srgbClr val="E2E2E2"/>
          </a:solidFill>
          <a:ln/>
        </p:spPr>
      </p:sp>
      <p:sp>
        <p:nvSpPr>
          <p:cNvPr id="30" name="Text 28"/>
          <p:cNvSpPr txBox="1"/>
          <p:nvPr/>
        </p:nvSpPr>
        <p:spPr>
          <a:xfrm>
            <a:off x="2702052" y="3072384"/>
            <a:ext cx="91440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06</a:t>
            </a:r>
            <a:endParaRPr lang="en-US" sz="2000" dirty="0"/>
          </a:p>
        </p:txBody>
      </p:sp>
      <p:sp>
        <p:nvSpPr>
          <p:cNvPr id="31" name="Text 29"/>
          <p:cNvSpPr txBox="1"/>
          <p:nvPr/>
        </p:nvSpPr>
        <p:spPr>
          <a:xfrm>
            <a:off x="2702052" y="3712464"/>
            <a:ext cx="1677924" cy="411480"/>
          </a:xfrm>
          <a:prstGeom prst="rect">
            <a:avLst/>
          </a:prstGeom>
          <a:noFill/>
          <a:ln/>
        </p:spPr>
        <p:txBody>
          <a:bodyPr wrap="square" lIns="0" tIns="0" rIns="0" bIns="0" rtlCol="0" anchor="ctr"/>
          <a:lstStyle/>
          <a:p>
            <a:pPr indent="0" marL="0">
              <a:buNone/>
            </a:pPr>
            <a:r>
              <a:rPr lang="en-US" sz="1400" b="1" dirty="0">
                <a:solidFill>
                  <a:srgbClr val="2D2D2D"/>
                </a:solidFill>
                <a:latin typeface="Poppins" pitchFamily="34" charset="0"/>
                <a:ea typeface="Poppins" pitchFamily="34" charset="-122"/>
                <a:cs typeface="Poppins" pitchFamily="34" charset="-120"/>
              </a:rPr>
              <a:t>ProQuest</a:t>
            </a:r>
            <a:endParaRPr lang="en-US" sz="1400" dirty="0"/>
          </a:p>
        </p:txBody>
      </p:sp>
      <p:sp>
        <p:nvSpPr>
          <p:cNvPr id="32" name="Text 30"/>
          <p:cNvSpPr txBox="1"/>
          <p:nvPr/>
        </p:nvSpPr>
        <p:spPr>
          <a:xfrm>
            <a:off x="2702052" y="4123944"/>
            <a:ext cx="1677924" cy="320040"/>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proquest.com</a:t>
            </a:r>
            <a:endParaRPr lang="en-US" sz="950" dirty="0"/>
          </a:p>
        </p:txBody>
      </p:sp>
      <p:sp>
        <p:nvSpPr>
          <p:cNvPr id="33" name="Shape 31"/>
          <p:cNvSpPr/>
          <p:nvPr/>
        </p:nvSpPr>
        <p:spPr>
          <a:xfrm>
            <a:off x="4626864" y="2935224"/>
            <a:ext cx="1997964" cy="1636776"/>
          </a:xfrm>
          <a:prstGeom prst="rect">
            <a:avLst/>
          </a:prstGeom>
          <a:solidFill>
            <a:srgbClr val="EBEBEB"/>
          </a:solidFill>
          <a:ln/>
        </p:spPr>
      </p:sp>
      <p:sp>
        <p:nvSpPr>
          <p:cNvPr id="34" name="Text 32"/>
          <p:cNvSpPr txBox="1"/>
          <p:nvPr/>
        </p:nvSpPr>
        <p:spPr>
          <a:xfrm>
            <a:off x="4809744" y="3072384"/>
            <a:ext cx="91440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07</a:t>
            </a:r>
            <a:endParaRPr lang="en-US" sz="2000" dirty="0"/>
          </a:p>
        </p:txBody>
      </p:sp>
      <p:sp>
        <p:nvSpPr>
          <p:cNvPr id="35" name="Text 33"/>
          <p:cNvSpPr txBox="1"/>
          <p:nvPr/>
        </p:nvSpPr>
        <p:spPr>
          <a:xfrm>
            <a:off x="4809744" y="3712464"/>
            <a:ext cx="1677924" cy="411480"/>
          </a:xfrm>
          <a:prstGeom prst="rect">
            <a:avLst/>
          </a:prstGeom>
          <a:noFill/>
          <a:ln/>
        </p:spPr>
        <p:txBody>
          <a:bodyPr wrap="square" lIns="0" tIns="0" rIns="0" bIns="0" rtlCol="0" anchor="ctr"/>
          <a:lstStyle/>
          <a:p>
            <a:pPr indent="0" marL="0">
              <a:buNone/>
            </a:pPr>
            <a:r>
              <a:rPr lang="en-US" sz="1400" b="1" dirty="0">
                <a:solidFill>
                  <a:srgbClr val="2D2D2D"/>
                </a:solidFill>
                <a:latin typeface="Poppins" pitchFamily="34" charset="0"/>
                <a:ea typeface="Poppins" pitchFamily="34" charset="-122"/>
                <a:cs typeface="Poppins" pitchFamily="34" charset="-120"/>
              </a:rPr>
              <a:t>Web of Science</a:t>
            </a:r>
            <a:endParaRPr lang="en-US" sz="1400" dirty="0"/>
          </a:p>
        </p:txBody>
      </p:sp>
      <p:sp>
        <p:nvSpPr>
          <p:cNvPr id="36" name="Text 34"/>
          <p:cNvSpPr txBox="1"/>
          <p:nvPr/>
        </p:nvSpPr>
        <p:spPr>
          <a:xfrm>
            <a:off x="4809744" y="4123944"/>
            <a:ext cx="1677924" cy="320040"/>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webofscience.com</a:t>
            </a:r>
            <a:endParaRPr lang="en-US" sz="950" dirty="0"/>
          </a:p>
        </p:txBody>
      </p:sp>
      <p:sp>
        <p:nvSpPr>
          <p:cNvPr id="37" name="Shape 35"/>
          <p:cNvSpPr/>
          <p:nvPr/>
        </p:nvSpPr>
        <p:spPr>
          <a:xfrm>
            <a:off x="6734556" y="2935224"/>
            <a:ext cx="1997964" cy="1636776"/>
          </a:xfrm>
          <a:prstGeom prst="rect">
            <a:avLst/>
          </a:prstGeom>
          <a:solidFill>
            <a:srgbClr val="2D2D2D"/>
          </a:solidFill>
          <a:ln/>
        </p:spPr>
      </p:sp>
      <p:sp>
        <p:nvSpPr>
          <p:cNvPr id="38" name="Text 36"/>
          <p:cNvSpPr txBox="1"/>
          <p:nvPr/>
        </p:nvSpPr>
        <p:spPr>
          <a:xfrm>
            <a:off x="6917436" y="3072384"/>
            <a:ext cx="914400" cy="457200"/>
          </a:xfrm>
          <a:prstGeom prst="rect">
            <a:avLst/>
          </a:prstGeom>
          <a:noFill/>
          <a:ln/>
        </p:spPr>
        <p:txBody>
          <a:bodyPr wrap="square" lIns="0" tIns="0" rIns="0" bIns="0" rtlCol="0" anchor="t"/>
          <a:lstStyle/>
          <a:p>
            <a:pPr indent="0" marL="0">
              <a:buNone/>
            </a:pPr>
            <a:r>
              <a:rPr lang="en-US" sz="2000" b="1" dirty="0">
                <a:solidFill>
                  <a:srgbClr val="40E0D0"/>
                </a:solidFill>
                <a:latin typeface="Poppins" pitchFamily="34" charset="0"/>
                <a:ea typeface="Poppins" pitchFamily="34" charset="-122"/>
                <a:cs typeface="Poppins" pitchFamily="34" charset="-120"/>
              </a:rPr>
              <a:t>08</a:t>
            </a:r>
            <a:endParaRPr lang="en-US" sz="2000" dirty="0"/>
          </a:p>
        </p:txBody>
      </p:sp>
      <p:sp>
        <p:nvSpPr>
          <p:cNvPr id="39" name="Text 37"/>
          <p:cNvSpPr txBox="1"/>
          <p:nvPr/>
        </p:nvSpPr>
        <p:spPr>
          <a:xfrm>
            <a:off x="6917436" y="3712464"/>
            <a:ext cx="1677924" cy="41148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武汉理工大学图书馆</a:t>
            </a:r>
            <a:endParaRPr lang="en-US" sz="1400" dirty="0"/>
          </a:p>
        </p:txBody>
      </p:sp>
      <p:sp>
        <p:nvSpPr>
          <p:cNvPr id="40" name="Text 38"/>
          <p:cNvSpPr txBox="1"/>
          <p:nvPr/>
        </p:nvSpPr>
        <p:spPr>
          <a:xfrm>
            <a:off x="6917436" y="4123944"/>
            <a:ext cx="1677924" cy="320040"/>
          </a:xfrm>
          <a:prstGeom prst="rect">
            <a:avLst/>
          </a:prstGeom>
          <a:noFill/>
          <a:ln/>
        </p:spPr>
        <p:txBody>
          <a:bodyPr wrap="square" lIns="0" tIns="0" rIns="0" bIns="0" rtlCol="0" anchor="ctr"/>
          <a:lstStyle/>
          <a:p>
            <a:pPr indent="0" marL="0">
              <a:buNone/>
            </a:pPr>
            <a:r>
              <a:rPr lang="en-US" sz="950" dirty="0">
                <a:solidFill>
                  <a:srgbClr val="B5B5B5"/>
                </a:solidFill>
                <a:latin typeface="Microsoft YaHei" pitchFamily="34" charset="0"/>
                <a:ea typeface="Microsoft YaHei" pitchFamily="34" charset="-122"/>
                <a:cs typeface="Microsoft YaHei" pitchFamily="34" charset="-120"/>
              </a:rPr>
              <a:t>高校图书馆资源</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Poppins" pitchFamily="34" charset="0"/>
                <a:ea typeface="Poppins" pitchFamily="34" charset="-122"/>
                <a:cs typeface="Poppins" pitchFamily="34" charset="-120"/>
              </a:rPr>
              <a:t>Google Scholar</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Microsoft YaHei" pitchFamily="34" charset="0"/>
                <a:ea typeface="Microsoft YaHei" pitchFamily="34" charset="-122"/>
                <a:cs typeface="Microsoft YaHei" pitchFamily="34" charset="-120"/>
              </a:rPr>
              <a:t>谷歌学术 · 站在巨人的肩膀上</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05</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01</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2D2D2D"/>
                </a:solidFill>
                <a:latin typeface="Poppins" pitchFamily="34" charset="0"/>
                <a:ea typeface="Poppins" pitchFamily="34" charset="-122"/>
                <a:cs typeface="Poppins" pitchFamily="34" charset="-120"/>
              </a:rPr>
              <a:t>Google Scholar</a:t>
            </a:r>
            <a:endParaRPr lang="en-US" sz="20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2D2D2D"/>
                </a:solidFill>
                <a:latin typeface="Poppins" pitchFamily="34" charset="0"/>
                <a:ea typeface="Poppins" pitchFamily="34" charset="-122"/>
                <a:cs typeface="Poppins" pitchFamily="34" charset="-120"/>
              </a:rPr>
              <a:t>https://scholar.google.com/</a:t>
            </a:r>
            <a:endParaRPr lang="en-US" sz="90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04_0">    </p:cNvPr>
          <p:cNvPicPr>
            <a:picLocks noChangeAspect="1"/>
          </p:cNvPicPr>
          <p:nvPr/>
        </p:nvPicPr>
        <p:blipFill>
          <a:blip r:embed="rId1"/>
          <a:stretch>
            <a:fillRect/>
          </a:stretch>
        </p:blipFill>
        <p:spPr>
          <a:xfrm>
            <a:off x="3172968" y="1706084"/>
            <a:ext cx="5422392" cy="23485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Poppins" pitchFamily="34" charset="0"/>
                <a:ea typeface="Poppins" pitchFamily="34" charset="-122"/>
                <a:cs typeface="Poppins" pitchFamily="34" charset="-120"/>
              </a:rPr>
              <a:t>Semantic Scholar</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A free, AI-powered research tool for scientific literature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06</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40E0D0"/>
                </a:solidFill>
                <a:latin typeface="Poppins" pitchFamily="34" charset="0"/>
                <a:ea typeface="Poppins" pitchFamily="34" charset="-122"/>
                <a:cs typeface="Poppins" pitchFamily="34" charset="-120"/>
              </a:rPr>
              <a:t>02</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Poppins" pitchFamily="34" charset="0"/>
                <a:ea typeface="Poppins" pitchFamily="34" charset="-122"/>
                <a:cs typeface="Poppins" pitchFamily="34" charset="-120"/>
              </a:rPr>
              <a:t>Semantic Scholar</a:t>
            </a:r>
            <a:endParaRPr lang="en-US" sz="20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2D2D2D"/>
                </a:solidFill>
                <a:latin typeface="Poppins" pitchFamily="34" charset="0"/>
                <a:ea typeface="Poppins" pitchFamily="34" charset="-122"/>
                <a:cs typeface="Poppins" pitchFamily="34" charset="-120"/>
              </a:rPr>
              <a:t>https://www.semanticscholar.org/</a:t>
            </a:r>
            <a:endParaRPr lang="en-US" sz="90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05_1">    </p:cNvPr>
          <p:cNvPicPr>
            <a:picLocks noChangeAspect="1"/>
          </p:cNvPicPr>
          <p:nvPr/>
        </p:nvPicPr>
        <p:blipFill>
          <a:blip r:embed="rId1"/>
          <a:stretch>
            <a:fillRect/>
          </a:stretch>
        </p:blipFill>
        <p:spPr>
          <a:xfrm>
            <a:off x="3172968" y="2378401"/>
            <a:ext cx="2656332" cy="1003919"/>
          </a:xfrm>
          <a:prstGeom prst="rect">
            <a:avLst/>
          </a:prstGeom>
        </p:spPr>
      </p:pic>
      <p:pic>
        <p:nvPicPr>
          <p:cNvPr id="16" name="Image 1" descr="s05_0">    </p:cNvPr>
          <p:cNvPicPr>
            <a:picLocks noChangeAspect="1"/>
          </p:cNvPicPr>
          <p:nvPr/>
        </p:nvPicPr>
        <p:blipFill>
          <a:blip r:embed="rId2"/>
          <a:stretch>
            <a:fillRect/>
          </a:stretch>
        </p:blipFill>
        <p:spPr>
          <a:xfrm>
            <a:off x="5939028" y="2538383"/>
            <a:ext cx="2656332" cy="68395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Poppins" pitchFamily="34" charset="0"/>
                <a:ea typeface="Poppins" pitchFamily="34" charset="-122"/>
                <a:cs typeface="Poppins" pitchFamily="34" charset="-120"/>
              </a:rPr>
              <a:t>ResearchGate</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Network</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07</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03</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2D2D2D"/>
                </a:solidFill>
                <a:latin typeface="Poppins" pitchFamily="34" charset="0"/>
                <a:ea typeface="Poppins" pitchFamily="34" charset="-122"/>
                <a:cs typeface="Poppins" pitchFamily="34" charset="-120"/>
              </a:rPr>
              <a:t>ResearchGate</a:t>
            </a:r>
            <a:endParaRPr lang="en-US" sz="20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2D2D2D"/>
                </a:solidFill>
                <a:latin typeface="Poppins" pitchFamily="34" charset="0"/>
                <a:ea typeface="Poppins" pitchFamily="34" charset="-122"/>
                <a:cs typeface="Poppins" pitchFamily="34" charset="-120"/>
              </a:rPr>
              <a:t>https://www.researchgate.net/</a:t>
            </a:r>
            <a:endParaRPr lang="en-US" sz="90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06_0">    </p:cNvPr>
          <p:cNvPicPr>
            <a:picLocks noChangeAspect="1"/>
          </p:cNvPicPr>
          <p:nvPr/>
        </p:nvPicPr>
        <p:blipFill>
          <a:blip r:embed="rId1"/>
          <a:stretch>
            <a:fillRect/>
          </a:stretch>
        </p:blipFill>
        <p:spPr>
          <a:xfrm>
            <a:off x="3172968" y="1535712"/>
            <a:ext cx="5422392" cy="26892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Poppins" pitchFamily="34" charset="0"/>
                <a:ea typeface="Poppins" pitchFamily="34" charset="-122"/>
                <a:cs typeface="Poppins" pitchFamily="34" charset="-120"/>
              </a:rPr>
              <a:t>Connected Papers</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Explore academic papers in a visual graph</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08</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40E0D0"/>
                </a:solidFill>
                <a:latin typeface="Poppins" pitchFamily="34" charset="0"/>
                <a:ea typeface="Poppins" pitchFamily="34" charset="-122"/>
                <a:cs typeface="Poppins" pitchFamily="34" charset="-120"/>
              </a:rPr>
              <a:t>04</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Poppins" pitchFamily="34" charset="0"/>
                <a:ea typeface="Poppins" pitchFamily="34" charset="-122"/>
                <a:cs typeface="Poppins" pitchFamily="34" charset="-120"/>
              </a:rPr>
              <a:t>Connected Papers</a:t>
            </a:r>
            <a:endParaRPr lang="en-US" sz="20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2D2D2D"/>
                </a:solidFill>
                <a:latin typeface="Poppins" pitchFamily="34" charset="0"/>
                <a:ea typeface="Poppins" pitchFamily="34" charset="-122"/>
                <a:cs typeface="Poppins" pitchFamily="34" charset="-120"/>
              </a:rPr>
              <a:t>https://www.connectedpapers.com/</a:t>
            </a:r>
            <a:endParaRPr lang="en-US" sz="90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07_0">    </p:cNvPr>
          <p:cNvPicPr>
            <a:picLocks noChangeAspect="1"/>
          </p:cNvPicPr>
          <p:nvPr/>
        </p:nvPicPr>
        <p:blipFill>
          <a:blip r:embed="rId1"/>
          <a:stretch>
            <a:fillRect/>
          </a:stretch>
        </p:blipFill>
        <p:spPr>
          <a:xfrm>
            <a:off x="3172968" y="2173680"/>
            <a:ext cx="3002810" cy="1413360"/>
          </a:xfrm>
          <a:prstGeom prst="rect">
            <a:avLst/>
          </a:prstGeom>
        </p:spPr>
      </p:pic>
      <p:pic>
        <p:nvPicPr>
          <p:cNvPr id="16" name="Image 1" descr="s07_1">    </p:cNvPr>
          <p:cNvPicPr>
            <a:picLocks noChangeAspect="1"/>
          </p:cNvPicPr>
          <p:nvPr/>
        </p:nvPicPr>
        <p:blipFill>
          <a:blip r:embed="rId2"/>
          <a:stretch>
            <a:fillRect/>
          </a:stretch>
        </p:blipFill>
        <p:spPr>
          <a:xfrm>
            <a:off x="6285506" y="2054061"/>
            <a:ext cx="2309854" cy="16525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Poppins" pitchFamily="34" charset="0"/>
                <a:ea typeface="Poppins" pitchFamily="34" charset="-122"/>
                <a:cs typeface="Poppins" pitchFamily="34" charset="-120"/>
              </a:rPr>
              <a:t>Z-Library</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Books &amp; Articles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09</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05</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2D2D2D"/>
                </a:solidFill>
                <a:latin typeface="Poppins" pitchFamily="34" charset="0"/>
                <a:ea typeface="Poppins" pitchFamily="34" charset="-122"/>
                <a:cs typeface="Poppins" pitchFamily="34" charset="-120"/>
              </a:rPr>
              <a:t>Z-Library</a:t>
            </a:r>
            <a:endParaRPr lang="en-US" sz="20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750" b="1" dirty="0">
                <a:solidFill>
                  <a:srgbClr val="2D2D2D"/>
                </a:solidFill>
                <a:latin typeface="Poppins" pitchFamily="34" charset="0"/>
                <a:ea typeface="Poppins" pitchFamily="34" charset="-122"/>
                <a:cs typeface="Poppins" pitchFamily="34" charset="-120"/>
              </a:rPr>
              <a:t>https://zlibrary-east.se/?signAll=1&amp;ts=1322</a:t>
            </a:r>
            <a:endParaRPr lang="en-US" sz="75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08_0">    </p:cNvPr>
          <p:cNvPicPr>
            <a:picLocks noChangeAspect="1"/>
          </p:cNvPicPr>
          <p:nvPr/>
        </p:nvPicPr>
        <p:blipFill>
          <a:blip r:embed="rId1"/>
          <a:stretch>
            <a:fillRect/>
          </a:stretch>
        </p:blipFill>
        <p:spPr>
          <a:xfrm>
            <a:off x="3172968" y="1476309"/>
            <a:ext cx="5422392" cy="28081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Poppins" pitchFamily="34" charset="0"/>
                <a:ea typeface="Poppins" pitchFamily="34" charset="-122"/>
                <a:cs typeface="Poppins" pitchFamily="34" charset="-120"/>
              </a:rPr>
              <a:t>ProQuest</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Dissertations &amp; Databases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10</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40E0D0"/>
                </a:solidFill>
                <a:latin typeface="Poppins" pitchFamily="34" charset="0"/>
                <a:ea typeface="Poppins" pitchFamily="34" charset="-122"/>
                <a:cs typeface="Poppins" pitchFamily="34" charset="-120"/>
              </a:rPr>
              <a:t>06</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Poppins" pitchFamily="34" charset="0"/>
                <a:ea typeface="Poppins" pitchFamily="34" charset="-122"/>
                <a:cs typeface="Poppins" pitchFamily="34" charset="-120"/>
              </a:rPr>
              <a:t>ProQuest</a:t>
            </a:r>
            <a:endParaRPr lang="en-US" sz="20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2D2D2D"/>
                </a:solidFill>
                <a:latin typeface="Poppins" pitchFamily="34" charset="0"/>
                <a:ea typeface="Poppins" pitchFamily="34" charset="-122"/>
                <a:cs typeface="Poppins" pitchFamily="34" charset="-120"/>
              </a:rPr>
              <a:t>https://www.proquest.com/</a:t>
            </a:r>
            <a:endParaRPr lang="en-US" sz="90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09_0">    </p:cNvPr>
          <p:cNvPicPr>
            <a:picLocks noChangeAspect="1"/>
          </p:cNvPicPr>
          <p:nvPr/>
        </p:nvPicPr>
        <p:blipFill>
          <a:blip r:embed="rId1"/>
          <a:stretch>
            <a:fillRect/>
          </a:stretch>
        </p:blipFill>
        <p:spPr>
          <a:xfrm>
            <a:off x="3172968" y="1746211"/>
            <a:ext cx="5422392" cy="22682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Web of Science（WOS）</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Basic Search</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11</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07</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2D2D2D"/>
                </a:solidFill>
                <a:latin typeface="Poppins" pitchFamily="34" charset="0"/>
                <a:ea typeface="Poppins" pitchFamily="34" charset="-122"/>
                <a:cs typeface="Poppins" pitchFamily="34" charset="-120"/>
              </a:rPr>
              <a:t>Web of Science</a:t>
            </a:r>
            <a:endParaRPr lang="en-US" sz="20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750" b="1" dirty="0">
                <a:solidFill>
                  <a:srgbClr val="2D2D2D"/>
                </a:solidFill>
                <a:latin typeface="Poppins" pitchFamily="34" charset="0"/>
                <a:ea typeface="Poppins" pitchFamily="34" charset="-122"/>
                <a:cs typeface="Poppins" pitchFamily="34" charset="-120"/>
              </a:rPr>
              <a:t>https://www.webofscience.com/wos/woscc/basic-search</a:t>
            </a:r>
            <a:endParaRPr lang="en-US" sz="75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10_0">    </p:cNvPr>
          <p:cNvPicPr>
            <a:picLocks noChangeAspect="1"/>
          </p:cNvPicPr>
          <p:nvPr/>
        </p:nvPicPr>
        <p:blipFill>
          <a:blip r:embed="rId1"/>
          <a:stretch>
            <a:fillRect/>
          </a:stretch>
        </p:blipFill>
        <p:spPr>
          <a:xfrm>
            <a:off x="3172968" y="1406159"/>
            <a:ext cx="5422392" cy="294840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Web of Science（WOS）</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Databases · Citation Indexes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12</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40E0D0"/>
                </a:solidFill>
                <a:latin typeface="Poppins" pitchFamily="34" charset="0"/>
                <a:ea typeface="Poppins" pitchFamily="34" charset="-122"/>
                <a:cs typeface="Poppins" pitchFamily="34" charset="-120"/>
              </a:rPr>
              <a:t>07</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Poppins" pitchFamily="34" charset="0"/>
                <a:ea typeface="Poppins" pitchFamily="34" charset="-122"/>
                <a:cs typeface="Poppins" pitchFamily="34" charset="-120"/>
              </a:rPr>
              <a:t>Web of Science</a:t>
            </a:r>
            <a:endParaRPr lang="en-US" sz="20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750" b="1" dirty="0">
                <a:solidFill>
                  <a:srgbClr val="2D2D2D"/>
                </a:solidFill>
                <a:latin typeface="Poppins" pitchFamily="34" charset="0"/>
                <a:ea typeface="Poppins" pitchFamily="34" charset="-122"/>
                <a:cs typeface="Poppins" pitchFamily="34" charset="-120"/>
              </a:rPr>
              <a:t>https://www.webofscience.com/wos/woscc/basic-search</a:t>
            </a:r>
            <a:endParaRPr lang="en-US" sz="75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11_0">    </p:cNvPr>
          <p:cNvPicPr>
            <a:picLocks noChangeAspect="1"/>
          </p:cNvPicPr>
          <p:nvPr/>
        </p:nvPicPr>
        <p:blipFill>
          <a:blip r:embed="rId1"/>
          <a:stretch>
            <a:fillRect/>
          </a:stretch>
        </p:blipFill>
        <p:spPr>
          <a:xfrm>
            <a:off x="3172968" y="2278657"/>
            <a:ext cx="2656332" cy="1203407"/>
          </a:xfrm>
          <a:prstGeom prst="rect">
            <a:avLst/>
          </a:prstGeom>
        </p:spPr>
      </p:pic>
      <p:pic>
        <p:nvPicPr>
          <p:cNvPr id="16" name="Image 1" descr="s11_1">    </p:cNvPr>
          <p:cNvPicPr>
            <a:picLocks noChangeAspect="1"/>
          </p:cNvPicPr>
          <p:nvPr/>
        </p:nvPicPr>
        <p:blipFill>
          <a:blip r:embed="rId2"/>
          <a:stretch>
            <a:fillRect/>
          </a:stretch>
        </p:blipFill>
        <p:spPr>
          <a:xfrm>
            <a:off x="5939028" y="2307555"/>
            <a:ext cx="2656332" cy="11456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武汉理工大学图书馆</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University Library Resources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13</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08</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武汉理工大学图书馆</a:t>
            </a:r>
            <a:endParaRPr lang="en-US" sz="1700" dirty="0"/>
          </a:p>
        </p:txBody>
      </p:sp>
      <p:sp>
        <p:nvSpPr>
          <p:cNvPr id="12" name="Shape 10"/>
          <p:cNvSpPr/>
          <p:nvPr/>
        </p:nvSpPr>
        <p:spPr>
          <a:xfrm>
            <a:off x="3035808" y="1188720"/>
            <a:ext cx="5696712" cy="3383280"/>
          </a:xfrm>
          <a:prstGeom prst="rect">
            <a:avLst/>
          </a:prstGeom>
          <a:solidFill>
            <a:srgbClr val="EBEBEB"/>
          </a:solidFill>
          <a:ln/>
        </p:spPr>
      </p:sp>
      <p:pic>
        <p:nvPicPr>
          <p:cNvPr id="13" name="Image 0" descr="s12_0">    </p:cNvPr>
          <p:cNvPicPr>
            <a:picLocks noChangeAspect="1"/>
          </p:cNvPicPr>
          <p:nvPr/>
        </p:nvPicPr>
        <p:blipFill>
          <a:blip r:embed="rId1"/>
          <a:stretch>
            <a:fillRect/>
          </a:stretch>
        </p:blipFill>
        <p:spPr>
          <a:xfrm>
            <a:off x="3172968" y="1792538"/>
            <a:ext cx="4290998" cy="2175643"/>
          </a:xfrm>
          <a:prstGeom prst="rect">
            <a:avLst/>
          </a:prstGeom>
        </p:spPr>
      </p:pic>
      <p:pic>
        <p:nvPicPr>
          <p:cNvPr id="14" name="Image 1" descr="s12_1">    </p:cNvPr>
          <p:cNvPicPr>
            <a:picLocks noChangeAspect="1"/>
          </p:cNvPicPr>
          <p:nvPr/>
        </p:nvPicPr>
        <p:blipFill>
          <a:blip r:embed="rId2"/>
          <a:stretch>
            <a:fillRect/>
          </a:stretch>
        </p:blipFill>
        <p:spPr>
          <a:xfrm>
            <a:off x="7573694" y="1773289"/>
            <a:ext cx="1021666" cy="22141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期刊等级查询</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Journal Ranking</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14</a:t>
            </a:r>
            <a:endParaRPr lang="en-US" sz="800" dirty="0"/>
          </a:p>
        </p:txBody>
      </p:sp>
      <p:sp>
        <p:nvSpPr>
          <p:cNvPr id="9" name="Shape 7"/>
          <p:cNvSpPr/>
          <p:nvPr/>
        </p:nvSpPr>
        <p:spPr>
          <a:xfrm>
            <a:off x="411480" y="1188720"/>
            <a:ext cx="2700528" cy="3383280"/>
          </a:xfrm>
          <a:prstGeom prst="rect">
            <a:avLst/>
          </a:prstGeom>
          <a:solidFill>
            <a:srgbClr val="40E0D0"/>
          </a:solidFill>
          <a:ln/>
        </p:spPr>
      </p:sp>
      <p:sp>
        <p:nvSpPr>
          <p:cNvPr id="10" name="Text 8"/>
          <p:cNvSpPr txBox="1"/>
          <p:nvPr/>
        </p:nvSpPr>
        <p:spPr>
          <a:xfrm>
            <a:off x="640080" y="1325880"/>
            <a:ext cx="914400" cy="914400"/>
          </a:xfrm>
          <a:prstGeom prst="rect">
            <a:avLst/>
          </a:prstGeom>
          <a:noFill/>
          <a:ln/>
        </p:spPr>
        <p:txBody>
          <a:bodyPr wrap="square" lIns="0" tIns="0" rIns="0" bIns="0" rtlCol="0" anchor="t"/>
          <a:lstStyle/>
          <a:p>
            <a:pPr indent="0" marL="0">
              <a:buNone/>
            </a:pPr>
            <a:r>
              <a:rPr lang="en-US" sz="4800" b="1" dirty="0">
                <a:solidFill>
                  <a:srgbClr val="2D2D2D"/>
                </a:solidFill>
                <a:latin typeface="Poppins" pitchFamily="34" charset="0"/>
                <a:ea typeface="Poppins" pitchFamily="34" charset="-122"/>
                <a:cs typeface="Poppins" pitchFamily="34" charset="-120"/>
              </a:rPr>
              <a:t>1</a:t>
            </a:r>
            <a:endParaRPr lang="en-US" sz="4800" dirty="0"/>
          </a:p>
        </p:txBody>
      </p:sp>
      <p:sp>
        <p:nvSpPr>
          <p:cNvPr id="11" name="Text 9"/>
          <p:cNvSpPr txBox="1"/>
          <p:nvPr/>
        </p:nvSpPr>
        <p:spPr>
          <a:xfrm>
            <a:off x="640080" y="2743200"/>
            <a:ext cx="2289048" cy="868680"/>
          </a:xfrm>
          <a:prstGeom prst="rect">
            <a:avLst/>
          </a:prstGeom>
          <a:noFill/>
          <a:ln/>
        </p:spPr>
        <p:txBody>
          <a:bodyPr wrap="square" lIns="0" tIns="0" rIns="0" bIns="0" rtlCol="0" anchor="b"/>
          <a:lstStyle/>
          <a:p>
            <a:pPr indent="0" marL="0">
              <a:buNone/>
            </a:pPr>
            <a:r>
              <a:rPr lang="en-US" sz="1600" b="1" dirty="0">
                <a:solidFill>
                  <a:srgbClr val="2D2D2D"/>
                </a:solidFill>
                <a:latin typeface="Poppins" pitchFamily="34" charset="0"/>
                <a:ea typeface="Poppins" pitchFamily="34" charset="-122"/>
                <a:cs typeface="Poppins" pitchFamily="34" charset="-120"/>
              </a:rPr>
              <a:t>WOS - Master Journal List</a:t>
            </a:r>
            <a:endParaRPr lang="en-US" sz="1600" dirty="0"/>
          </a:p>
        </p:txBody>
      </p:sp>
      <p:sp>
        <p:nvSpPr>
          <p:cNvPr id="12" name="Text 10"/>
          <p:cNvSpPr txBox="1"/>
          <p:nvPr/>
        </p:nvSpPr>
        <p:spPr>
          <a:xfrm>
            <a:off x="640080" y="3749040"/>
            <a:ext cx="2289048" cy="548640"/>
          </a:xfrm>
          <a:prstGeom prst="rect">
            <a:avLst/>
          </a:prstGeom>
          <a:noFill/>
          <a:ln/>
        </p:spPr>
        <p:txBody>
          <a:bodyPr wrap="square" lIns="0" tIns="0" rIns="0" bIns="0" rtlCol="0" anchor="t"/>
          <a:lstStyle/>
          <a:p>
            <a:pPr indent="0" marL="0">
              <a:buNone/>
            </a:pPr>
            <a:r>
              <a:rPr lang="en-US" sz="1000" dirty="0">
                <a:solidFill>
                  <a:srgbClr val="707070"/>
                </a:solidFill>
                <a:latin typeface="Poppins" pitchFamily="34" charset="0"/>
                <a:ea typeface="Poppins" pitchFamily="34" charset="-122"/>
                <a:cs typeface="Poppins" pitchFamily="34" charset="-120"/>
              </a:rPr>
              <a:t>https://mjl.clarivate.com/home</a:t>
            </a:r>
            <a:endParaRPr lang="en-US" sz="1000" dirty="0"/>
          </a:p>
        </p:txBody>
      </p:sp>
      <p:sp>
        <p:nvSpPr>
          <p:cNvPr id="13" name="Shape 11"/>
          <p:cNvSpPr/>
          <p:nvPr/>
        </p:nvSpPr>
        <p:spPr>
          <a:xfrm>
            <a:off x="3221736" y="1188720"/>
            <a:ext cx="2700528" cy="3383280"/>
          </a:xfrm>
          <a:prstGeom prst="rect">
            <a:avLst/>
          </a:prstGeom>
          <a:solidFill>
            <a:srgbClr val="EBEBEB"/>
          </a:solidFill>
          <a:ln/>
        </p:spPr>
      </p:sp>
      <p:sp>
        <p:nvSpPr>
          <p:cNvPr id="14" name="Text 12"/>
          <p:cNvSpPr txBox="1"/>
          <p:nvPr/>
        </p:nvSpPr>
        <p:spPr>
          <a:xfrm>
            <a:off x="3450336" y="1325880"/>
            <a:ext cx="914400" cy="914400"/>
          </a:xfrm>
          <a:prstGeom prst="rect">
            <a:avLst/>
          </a:prstGeom>
          <a:noFill/>
          <a:ln/>
        </p:spPr>
        <p:txBody>
          <a:bodyPr wrap="square" lIns="0" tIns="0" rIns="0" bIns="0" rtlCol="0" anchor="t"/>
          <a:lstStyle/>
          <a:p>
            <a:pPr indent="0" marL="0">
              <a:buNone/>
            </a:pPr>
            <a:r>
              <a:rPr lang="en-US" sz="4800" b="1" dirty="0">
                <a:solidFill>
                  <a:srgbClr val="2D2D2D"/>
                </a:solidFill>
                <a:latin typeface="Poppins" pitchFamily="34" charset="0"/>
                <a:ea typeface="Poppins" pitchFamily="34" charset="-122"/>
                <a:cs typeface="Poppins" pitchFamily="34" charset="-120"/>
              </a:rPr>
              <a:t>2</a:t>
            </a:r>
            <a:endParaRPr lang="en-US" sz="4800" dirty="0"/>
          </a:p>
        </p:txBody>
      </p:sp>
      <p:sp>
        <p:nvSpPr>
          <p:cNvPr id="15" name="Text 13"/>
          <p:cNvSpPr txBox="1"/>
          <p:nvPr/>
        </p:nvSpPr>
        <p:spPr>
          <a:xfrm>
            <a:off x="3450336" y="2743200"/>
            <a:ext cx="2289048" cy="868680"/>
          </a:xfrm>
          <a:prstGeom prst="rect">
            <a:avLst/>
          </a:prstGeom>
          <a:noFill/>
          <a:ln/>
        </p:spPr>
        <p:txBody>
          <a:bodyPr wrap="square" lIns="0" tIns="0" rIns="0" bIns="0" rtlCol="0" anchor="b"/>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WOS - Journal Citation Reports（JCR）</a:t>
            </a:r>
            <a:endParaRPr lang="en-US" sz="1600" dirty="0"/>
          </a:p>
        </p:txBody>
      </p:sp>
      <p:sp>
        <p:nvSpPr>
          <p:cNvPr id="16" name="Text 14"/>
          <p:cNvSpPr txBox="1"/>
          <p:nvPr/>
        </p:nvSpPr>
        <p:spPr>
          <a:xfrm>
            <a:off x="3450336" y="3749040"/>
            <a:ext cx="2289048" cy="548640"/>
          </a:xfrm>
          <a:prstGeom prst="rect">
            <a:avLst/>
          </a:prstGeom>
          <a:noFill/>
          <a:ln/>
        </p:spPr>
        <p:txBody>
          <a:bodyPr wrap="square" lIns="0" tIns="0" rIns="0" bIns="0" rtlCol="0" anchor="t"/>
          <a:lstStyle/>
          <a:p>
            <a:pPr indent="0" marL="0">
              <a:buNone/>
            </a:pPr>
            <a:r>
              <a:rPr lang="en-US" sz="1000" dirty="0">
                <a:solidFill>
                  <a:srgbClr val="707070"/>
                </a:solidFill>
                <a:latin typeface="Poppins" pitchFamily="34" charset="0"/>
                <a:ea typeface="Poppins" pitchFamily="34" charset="-122"/>
                <a:cs typeface="Poppins" pitchFamily="34" charset="-120"/>
              </a:rPr>
              <a:t>https://jcr.clarivate.com/</a:t>
            </a:r>
            <a:endParaRPr lang="en-US" sz="1000" dirty="0"/>
          </a:p>
        </p:txBody>
      </p:sp>
      <p:sp>
        <p:nvSpPr>
          <p:cNvPr id="17" name="Shape 15"/>
          <p:cNvSpPr/>
          <p:nvPr/>
        </p:nvSpPr>
        <p:spPr>
          <a:xfrm>
            <a:off x="6031992" y="1188720"/>
            <a:ext cx="2700528" cy="3383280"/>
          </a:xfrm>
          <a:prstGeom prst="rect">
            <a:avLst/>
          </a:prstGeom>
          <a:solidFill>
            <a:srgbClr val="2D2D2D"/>
          </a:solidFill>
          <a:ln/>
        </p:spPr>
      </p:sp>
      <p:sp>
        <p:nvSpPr>
          <p:cNvPr id="18" name="Text 16"/>
          <p:cNvSpPr txBox="1"/>
          <p:nvPr/>
        </p:nvSpPr>
        <p:spPr>
          <a:xfrm>
            <a:off x="6260592" y="1325880"/>
            <a:ext cx="914400" cy="914400"/>
          </a:xfrm>
          <a:prstGeom prst="rect">
            <a:avLst/>
          </a:prstGeom>
          <a:noFill/>
          <a:ln/>
        </p:spPr>
        <p:txBody>
          <a:bodyPr wrap="square" lIns="0" tIns="0" rIns="0" bIns="0" rtlCol="0" anchor="t"/>
          <a:lstStyle/>
          <a:p>
            <a:pPr indent="0" marL="0">
              <a:buNone/>
            </a:pPr>
            <a:r>
              <a:rPr lang="en-US" sz="4800" b="1" dirty="0">
                <a:solidFill>
                  <a:srgbClr val="40E0D0"/>
                </a:solidFill>
                <a:latin typeface="Poppins" pitchFamily="34" charset="0"/>
                <a:ea typeface="Poppins" pitchFamily="34" charset="-122"/>
                <a:cs typeface="Poppins" pitchFamily="34" charset="-120"/>
              </a:rPr>
              <a:t>3</a:t>
            </a:r>
            <a:endParaRPr lang="en-US" sz="4800" dirty="0"/>
          </a:p>
        </p:txBody>
      </p:sp>
      <p:sp>
        <p:nvSpPr>
          <p:cNvPr id="19" name="Text 17"/>
          <p:cNvSpPr txBox="1"/>
          <p:nvPr/>
        </p:nvSpPr>
        <p:spPr>
          <a:xfrm>
            <a:off x="6260592" y="2743200"/>
            <a:ext cx="2289048" cy="868680"/>
          </a:xfrm>
          <a:prstGeom prst="rect">
            <a:avLst/>
          </a:prstGeom>
          <a:noFill/>
          <a:ln/>
        </p:spPr>
        <p:txBody>
          <a:bodyPr wrap="square" lIns="0" tIns="0" rIns="0" bIns="0" rtlCol="0" anchor="b"/>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中科院文献情报中心分区表</a:t>
            </a:r>
            <a:endParaRPr lang="en-US" sz="1600" dirty="0"/>
          </a:p>
        </p:txBody>
      </p:sp>
      <p:sp>
        <p:nvSpPr>
          <p:cNvPr id="20" name="Text 18"/>
          <p:cNvSpPr txBox="1"/>
          <p:nvPr/>
        </p:nvSpPr>
        <p:spPr>
          <a:xfrm>
            <a:off x="6260592" y="3749040"/>
            <a:ext cx="2289048" cy="548640"/>
          </a:xfrm>
          <a:prstGeom prst="rect">
            <a:avLst/>
          </a:prstGeom>
          <a:noFill/>
          <a:ln/>
        </p:spPr>
        <p:txBody>
          <a:bodyPr wrap="square" lIns="0" tIns="0" rIns="0" bIns="0" rtlCol="0" anchor="t"/>
          <a:lstStyle/>
          <a:p>
            <a:pPr indent="0" marL="0">
              <a:buNone/>
            </a:pPr>
            <a:r>
              <a:rPr lang="en-US" sz="1000" dirty="0">
                <a:solidFill>
                  <a:srgbClr val="B5B5B5"/>
                </a:solidFill>
                <a:latin typeface="Microsoft YaHei" pitchFamily="34" charset="0"/>
                <a:ea typeface="Microsoft YaHei" pitchFamily="34" charset="-122"/>
                <a:cs typeface="Microsoft YaHei" pitchFamily="34" charset="-120"/>
              </a:rPr>
              <a:t>微信公众号 / 小程序</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期刊等级查询 · Master Journal List</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1. WOS - Master Journal List</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15</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1</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800" b="1" dirty="0">
                <a:solidFill>
                  <a:srgbClr val="2D2D2D"/>
                </a:solidFill>
                <a:latin typeface="Poppins" pitchFamily="34" charset="0"/>
                <a:ea typeface="Poppins" pitchFamily="34" charset="-122"/>
                <a:cs typeface="Poppins" pitchFamily="34" charset="-120"/>
              </a:rPr>
              <a:t>Master Journal List</a:t>
            </a:r>
            <a:endParaRPr lang="en-US" sz="18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2D2D2D"/>
                </a:solidFill>
                <a:latin typeface="Poppins" pitchFamily="34" charset="0"/>
                <a:ea typeface="Poppins" pitchFamily="34" charset="-122"/>
                <a:cs typeface="Poppins" pitchFamily="34" charset="-120"/>
              </a:rPr>
              <a:t>https://mjl.clarivate.com/home</a:t>
            </a:r>
            <a:endParaRPr lang="en-US" sz="90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13_0">    </p:cNvPr>
          <p:cNvPicPr>
            <a:picLocks noChangeAspect="1"/>
          </p:cNvPicPr>
          <p:nvPr/>
        </p:nvPicPr>
        <p:blipFill>
          <a:blip r:embed="rId1"/>
          <a:stretch>
            <a:fillRect/>
          </a:stretch>
        </p:blipFill>
        <p:spPr>
          <a:xfrm>
            <a:off x="3261917" y="1325880"/>
            <a:ext cx="5244494" cy="31089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期刊等级查询 · Master Journal List</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1. WOS - Master Journal List</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16</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1</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800" b="1" dirty="0">
                <a:solidFill>
                  <a:srgbClr val="2D2D2D"/>
                </a:solidFill>
                <a:latin typeface="Poppins" pitchFamily="34" charset="0"/>
                <a:ea typeface="Poppins" pitchFamily="34" charset="-122"/>
                <a:cs typeface="Poppins" pitchFamily="34" charset="-120"/>
              </a:rPr>
              <a:t>Master Journal List</a:t>
            </a:r>
            <a:endParaRPr lang="en-US" sz="18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2D2D2D"/>
                </a:solidFill>
                <a:latin typeface="Poppins" pitchFamily="34" charset="0"/>
                <a:ea typeface="Poppins" pitchFamily="34" charset="-122"/>
                <a:cs typeface="Poppins" pitchFamily="34" charset="-120"/>
              </a:rPr>
              <a:t>https://mjl.clarivate.com/home</a:t>
            </a:r>
            <a:endParaRPr lang="en-US" sz="90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14_0">    </p:cNvPr>
          <p:cNvPicPr>
            <a:picLocks noChangeAspect="1"/>
          </p:cNvPicPr>
          <p:nvPr/>
        </p:nvPicPr>
        <p:blipFill>
          <a:blip r:embed="rId1"/>
          <a:stretch>
            <a:fillRect/>
          </a:stretch>
        </p:blipFill>
        <p:spPr>
          <a:xfrm>
            <a:off x="3172968" y="1784767"/>
            <a:ext cx="5422392" cy="219118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期刊等级查询 · Master Journal List</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1. WOS - Master Journal List · Design Issues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17</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1</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800" b="1" dirty="0">
                <a:solidFill>
                  <a:srgbClr val="2D2D2D"/>
                </a:solidFill>
                <a:latin typeface="Poppins" pitchFamily="34" charset="0"/>
                <a:ea typeface="Poppins" pitchFamily="34" charset="-122"/>
                <a:cs typeface="Poppins" pitchFamily="34" charset="-120"/>
              </a:rPr>
              <a:t>Master Journal List</a:t>
            </a:r>
            <a:endParaRPr lang="en-US" sz="18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2D2D2D"/>
                </a:solidFill>
                <a:latin typeface="Poppins" pitchFamily="34" charset="0"/>
                <a:ea typeface="Poppins" pitchFamily="34" charset="-122"/>
                <a:cs typeface="Poppins" pitchFamily="34" charset="-120"/>
              </a:rPr>
              <a:t>https://mjl.clarivate.com/home</a:t>
            </a:r>
            <a:endParaRPr lang="en-US" sz="90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15_0">    </p:cNvPr>
          <p:cNvPicPr>
            <a:picLocks noChangeAspect="1"/>
          </p:cNvPicPr>
          <p:nvPr/>
        </p:nvPicPr>
        <p:blipFill>
          <a:blip r:embed="rId1"/>
          <a:stretch>
            <a:fillRect/>
          </a:stretch>
        </p:blipFill>
        <p:spPr>
          <a:xfrm>
            <a:off x="3172968" y="1844622"/>
            <a:ext cx="5422392" cy="207147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期刊等级查询 · JCR</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Microsoft YaHei" pitchFamily="34" charset="0"/>
                <a:ea typeface="Microsoft YaHei" pitchFamily="34" charset="-122"/>
                <a:cs typeface="Microsoft YaHei" pitchFamily="34" charset="-120"/>
              </a:rPr>
              <a:t>2. WOS - Journal Citation Reports（JCR）</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18</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40E0D0"/>
                </a:solidFill>
                <a:latin typeface="Poppins" pitchFamily="34" charset="0"/>
                <a:ea typeface="Poppins" pitchFamily="34" charset="-122"/>
                <a:cs typeface="Poppins" pitchFamily="34" charset="-120"/>
              </a:rPr>
              <a:t>2</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700" b="1" dirty="0">
                <a:solidFill>
                  <a:srgbClr val="FFFFFF"/>
                </a:solidFill>
                <a:latin typeface="Poppins" pitchFamily="34" charset="0"/>
                <a:ea typeface="Poppins" pitchFamily="34" charset="-122"/>
                <a:cs typeface="Poppins" pitchFamily="34" charset="-120"/>
              </a:rPr>
              <a:t>Journal Citation Reports</a:t>
            </a:r>
            <a:endParaRPr lang="en-US" sz="17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750" b="1" dirty="0">
                <a:solidFill>
                  <a:srgbClr val="2D2D2D"/>
                </a:solidFill>
                <a:latin typeface="Poppins" pitchFamily="34" charset="0"/>
                <a:ea typeface="Poppins" pitchFamily="34" charset="-122"/>
                <a:cs typeface="Poppins" pitchFamily="34" charset="-120"/>
              </a:rPr>
              <a:t>https://jcr.clarivate.com/jcr/home?Init=Yes&amp;SrcApp=IC2LS&amp;locale=en_US</a:t>
            </a:r>
            <a:endParaRPr lang="en-US" sz="75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16_0">    </p:cNvPr>
          <p:cNvPicPr>
            <a:picLocks noChangeAspect="1"/>
          </p:cNvPicPr>
          <p:nvPr/>
        </p:nvPicPr>
        <p:blipFill>
          <a:blip r:embed="rId1"/>
          <a:stretch>
            <a:fillRect/>
          </a:stretch>
        </p:blipFill>
        <p:spPr>
          <a:xfrm>
            <a:off x="3172968" y="1444364"/>
            <a:ext cx="5422392" cy="28719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期刊等级查询 · JCR</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Microsoft YaHei" pitchFamily="34" charset="0"/>
                <a:ea typeface="Microsoft YaHei" pitchFamily="34" charset="-122"/>
                <a:cs typeface="Microsoft YaHei" pitchFamily="34" charset="-120"/>
              </a:rPr>
              <a:t>2. WOS - Journal Citation Reports（JCR）· Design Studies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19</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40E0D0"/>
                </a:solidFill>
                <a:latin typeface="Poppins" pitchFamily="34" charset="0"/>
                <a:ea typeface="Poppins" pitchFamily="34" charset="-122"/>
                <a:cs typeface="Poppins" pitchFamily="34" charset="-120"/>
              </a:rPr>
              <a:t>2</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700" b="1" dirty="0">
                <a:solidFill>
                  <a:srgbClr val="FFFFFF"/>
                </a:solidFill>
                <a:latin typeface="Poppins" pitchFamily="34" charset="0"/>
                <a:ea typeface="Poppins" pitchFamily="34" charset="-122"/>
                <a:cs typeface="Poppins" pitchFamily="34" charset="-120"/>
              </a:rPr>
              <a:t>Journal Citation Reports</a:t>
            </a:r>
            <a:endParaRPr lang="en-US" sz="1700" dirty="0"/>
          </a:p>
        </p:txBody>
      </p:sp>
      <p:sp>
        <p:nvSpPr>
          <p:cNvPr id="12" name="Shape 10"/>
          <p:cNvSpPr/>
          <p:nvPr/>
        </p:nvSpPr>
        <p:spPr>
          <a:xfrm>
            <a:off x="411480" y="3977640"/>
            <a:ext cx="2514600" cy="594360"/>
          </a:xfrm>
          <a:prstGeom prst="rect">
            <a:avLst/>
          </a:prstGeom>
          <a:solidFill>
            <a:srgbClr val="40E0D0"/>
          </a:solidFill>
          <a:ln/>
        </p:spPr>
      </p:sp>
      <p:sp>
        <p:nvSpPr>
          <p:cNvPr id="13" name="Text 11"/>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750" b="1" dirty="0">
                <a:solidFill>
                  <a:srgbClr val="2D2D2D"/>
                </a:solidFill>
                <a:latin typeface="Poppins" pitchFamily="34" charset="0"/>
                <a:ea typeface="Poppins" pitchFamily="34" charset="-122"/>
                <a:cs typeface="Poppins" pitchFamily="34" charset="-120"/>
              </a:rPr>
              <a:t>https://jcr.clarivate.com/jcr/home?Init=Yes&amp;SrcApp=IC2LS&amp;locale=en_US</a:t>
            </a:r>
            <a:endParaRPr lang="en-US" sz="750" dirty="0"/>
          </a:p>
        </p:txBody>
      </p:sp>
      <p:sp>
        <p:nvSpPr>
          <p:cNvPr id="14" name="Shape 12"/>
          <p:cNvSpPr/>
          <p:nvPr/>
        </p:nvSpPr>
        <p:spPr>
          <a:xfrm>
            <a:off x="3035808" y="1188720"/>
            <a:ext cx="5696712" cy="3383280"/>
          </a:xfrm>
          <a:prstGeom prst="rect">
            <a:avLst/>
          </a:prstGeom>
          <a:solidFill>
            <a:srgbClr val="EBEBEB"/>
          </a:solidFill>
          <a:ln/>
        </p:spPr>
      </p:sp>
      <p:pic>
        <p:nvPicPr>
          <p:cNvPr id="15" name="Image 0" descr="s17_0">    </p:cNvPr>
          <p:cNvPicPr>
            <a:picLocks noChangeAspect="1"/>
          </p:cNvPicPr>
          <p:nvPr/>
        </p:nvPicPr>
        <p:blipFill>
          <a:blip r:embed="rId1"/>
          <a:stretch>
            <a:fillRect/>
          </a:stretch>
        </p:blipFill>
        <p:spPr>
          <a:xfrm>
            <a:off x="3172968" y="1433452"/>
            <a:ext cx="5422392" cy="28938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期刊影响因子（JIF）</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Microsoft YaHei" pitchFamily="34" charset="0"/>
                <a:ea typeface="Microsoft YaHei" pitchFamily="34" charset="-122"/>
                <a:cs typeface="Microsoft YaHei" pitchFamily="34" charset="-120"/>
              </a:rPr>
              <a:t>2. WOS - Journal Citation Reports（JCR）</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20</a:t>
            </a:r>
            <a:endParaRPr lang="en-US" sz="800" dirty="0"/>
          </a:p>
        </p:txBody>
      </p:sp>
      <p:sp>
        <p:nvSpPr>
          <p:cNvPr id="9" name="Shape 7"/>
          <p:cNvSpPr/>
          <p:nvPr/>
        </p:nvSpPr>
        <p:spPr>
          <a:xfrm>
            <a:off x="411480" y="1188720"/>
            <a:ext cx="5120640" cy="3383280"/>
          </a:xfrm>
          <a:prstGeom prst="rect">
            <a:avLst/>
          </a:prstGeom>
          <a:solidFill>
            <a:srgbClr val="EBEBEB"/>
          </a:solidFill>
          <a:ln/>
        </p:spPr>
      </p:sp>
      <p:pic>
        <p:nvPicPr>
          <p:cNvPr id="10" name="Image 0" descr="s18_0">    </p:cNvPr>
          <p:cNvPicPr>
            <a:picLocks noChangeAspect="1"/>
          </p:cNvPicPr>
          <p:nvPr/>
        </p:nvPicPr>
        <p:blipFill>
          <a:blip r:embed="rId1"/>
          <a:stretch>
            <a:fillRect/>
          </a:stretch>
        </p:blipFill>
        <p:spPr>
          <a:xfrm>
            <a:off x="548640" y="1870387"/>
            <a:ext cx="4846320" cy="2019946"/>
          </a:xfrm>
          <a:prstGeom prst="rect">
            <a:avLst/>
          </a:prstGeom>
        </p:spPr>
      </p:pic>
      <p:sp>
        <p:nvSpPr>
          <p:cNvPr id="11" name="Shape 8"/>
          <p:cNvSpPr/>
          <p:nvPr/>
        </p:nvSpPr>
        <p:spPr>
          <a:xfrm>
            <a:off x="5641848" y="1188720"/>
            <a:ext cx="3090672" cy="3383280"/>
          </a:xfrm>
          <a:prstGeom prst="rect">
            <a:avLst/>
          </a:prstGeom>
          <a:solidFill>
            <a:srgbClr val="40E0D0"/>
          </a:solidFill>
          <a:ln/>
        </p:spPr>
      </p:sp>
      <p:sp>
        <p:nvSpPr>
          <p:cNvPr id="12" name="Text 9"/>
          <p:cNvSpPr txBox="1"/>
          <p:nvPr/>
        </p:nvSpPr>
        <p:spPr>
          <a:xfrm>
            <a:off x="5852160" y="1325880"/>
            <a:ext cx="2743200" cy="731520"/>
          </a:xfrm>
          <a:prstGeom prst="rect">
            <a:avLst/>
          </a:prstGeom>
          <a:noFill/>
          <a:ln/>
        </p:spPr>
        <p:txBody>
          <a:bodyPr wrap="square" lIns="0" tIns="0" rIns="0" bIns="0" rtlCol="0" anchor="t"/>
          <a:lstStyle/>
          <a:p>
            <a:pPr indent="0" marL="0">
              <a:buNone/>
            </a:pPr>
            <a:r>
              <a:rPr lang="en-US" sz="4000" b="1" dirty="0">
                <a:solidFill>
                  <a:srgbClr val="2D2D2D"/>
                </a:solidFill>
                <a:latin typeface="Poppins" pitchFamily="34" charset="0"/>
                <a:ea typeface="Poppins" pitchFamily="34" charset="-122"/>
                <a:cs typeface="Poppins" pitchFamily="34" charset="-120"/>
              </a:rPr>
              <a:t>JIF</a:t>
            </a:r>
            <a:endParaRPr lang="en-US" sz="4000" dirty="0"/>
          </a:p>
        </p:txBody>
      </p:sp>
      <p:sp>
        <p:nvSpPr>
          <p:cNvPr id="13" name="Text 10"/>
          <p:cNvSpPr txBox="1"/>
          <p:nvPr/>
        </p:nvSpPr>
        <p:spPr>
          <a:xfrm>
            <a:off x="5852160" y="2011680"/>
            <a:ext cx="2743200" cy="320040"/>
          </a:xfrm>
          <a:prstGeom prst="rect">
            <a:avLst/>
          </a:prstGeom>
          <a:noFill/>
          <a:ln/>
        </p:spPr>
        <p:txBody>
          <a:bodyPr wrap="square" lIns="0" tIns="0" rIns="0" bIns="0" rtlCol="0" anchor="t"/>
          <a:lstStyle/>
          <a:p>
            <a:pPr indent="0" marL="0">
              <a:buNone/>
            </a:pPr>
            <a:r>
              <a:rPr lang="en-US" sz="1100" dirty="0">
                <a:solidFill>
                  <a:srgbClr val="2D2D2D"/>
                </a:solidFill>
                <a:latin typeface="Poppins" pitchFamily="34" charset="0"/>
                <a:ea typeface="Poppins" pitchFamily="34" charset="-122"/>
                <a:cs typeface="Poppins" pitchFamily="34" charset="-120"/>
              </a:rPr>
              <a:t>Journal Impact Factor</a:t>
            </a:r>
            <a:endParaRPr lang="en-US" sz="1100" dirty="0"/>
          </a:p>
        </p:txBody>
      </p:sp>
      <p:sp>
        <p:nvSpPr>
          <p:cNvPr id="14" name="Text 11"/>
          <p:cNvSpPr txBox="1"/>
          <p:nvPr/>
        </p:nvSpPr>
        <p:spPr>
          <a:xfrm>
            <a:off x="5852160" y="2468880"/>
            <a:ext cx="2697480" cy="2011680"/>
          </a:xfrm>
          <a:prstGeom prst="rect">
            <a:avLst/>
          </a:prstGeom>
          <a:noFill/>
          <a:ln/>
        </p:spPr>
        <p:txBody>
          <a:bodyPr wrap="square" lIns="0" tIns="0" rIns="0" bIns="0" rtlCol="0" anchor="t"/>
          <a:lstStyle/>
          <a:p>
            <a:pPr indent="0" marL="0">
              <a:lnSpc>
                <a:spcPct val="140000"/>
              </a:lnSpc>
              <a:spcAft>
                <a:spcPts val="600"/>
              </a:spcAft>
              <a:buNone/>
            </a:pPr>
            <a:r>
              <a:rPr lang="en-US" sz="1250" dirty="0">
                <a:solidFill>
                  <a:srgbClr val="2D2D2D"/>
                </a:solidFill>
                <a:latin typeface="Microsoft YaHei" pitchFamily="34" charset="0"/>
                <a:ea typeface="Microsoft YaHei" pitchFamily="34" charset="-122"/>
                <a:cs typeface="Microsoft YaHei" pitchFamily="34" charset="-120"/>
              </a:rPr>
              <a:t>影响因子衡量的是某一期刊的文章在特定年份或时期被引用的频率。</a:t>
            </a:r>
            <a:endParaRPr lang="en-US" sz="1250" dirty="0"/>
          </a:p>
          <a:p>
            <a:pPr indent="0" marL="0">
              <a:lnSpc>
                <a:spcPct val="140000"/>
              </a:lnSpc>
              <a:spcAft>
                <a:spcPts val="600"/>
              </a:spcAft>
              <a:buNone/>
            </a:pPr>
            <a:r>
              <a:rPr lang="en-US" sz="1250" dirty="0">
                <a:solidFill>
                  <a:srgbClr val="2D2D2D"/>
                </a:solidFill>
                <a:latin typeface="Microsoft YaHei" pitchFamily="34" charset="0"/>
                <a:ea typeface="Microsoft YaHei" pitchFamily="34" charset="-122"/>
                <a:cs typeface="Microsoft YaHei" pitchFamily="34" charset="-120"/>
              </a:rPr>
              <a:t>JIF 用于比较某个特定学科内期刊的引文影响。</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期刊引文指标（JCI）</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Microsoft YaHei" pitchFamily="34" charset="0"/>
                <a:ea typeface="Microsoft YaHei" pitchFamily="34" charset="-122"/>
                <a:cs typeface="Microsoft YaHei" pitchFamily="34" charset="-120"/>
              </a:rPr>
              <a:t>2. WOS - Journal Citation Reports（JCR）</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21</a:t>
            </a:r>
            <a:endParaRPr lang="en-US" sz="800" dirty="0"/>
          </a:p>
        </p:txBody>
      </p:sp>
      <p:sp>
        <p:nvSpPr>
          <p:cNvPr id="9" name="Shape 7"/>
          <p:cNvSpPr/>
          <p:nvPr/>
        </p:nvSpPr>
        <p:spPr>
          <a:xfrm>
            <a:off x="411480" y="1188720"/>
            <a:ext cx="3291840" cy="3383280"/>
          </a:xfrm>
          <a:prstGeom prst="rect">
            <a:avLst/>
          </a:prstGeom>
          <a:solidFill>
            <a:srgbClr val="EBEBEB"/>
          </a:solidFill>
          <a:ln/>
        </p:spPr>
      </p:sp>
      <p:pic>
        <p:nvPicPr>
          <p:cNvPr id="10" name="Image 0" descr="s19_0">    </p:cNvPr>
          <p:cNvPicPr>
            <a:picLocks noChangeAspect="1"/>
          </p:cNvPicPr>
          <p:nvPr/>
        </p:nvPicPr>
        <p:blipFill>
          <a:blip r:embed="rId1"/>
          <a:stretch>
            <a:fillRect/>
          </a:stretch>
        </p:blipFill>
        <p:spPr>
          <a:xfrm>
            <a:off x="548640" y="1550930"/>
            <a:ext cx="3017520" cy="2658861"/>
          </a:xfrm>
          <a:prstGeom prst="rect">
            <a:avLst/>
          </a:prstGeom>
        </p:spPr>
      </p:pic>
      <p:sp>
        <p:nvSpPr>
          <p:cNvPr id="11" name="Shape 8"/>
          <p:cNvSpPr/>
          <p:nvPr/>
        </p:nvSpPr>
        <p:spPr>
          <a:xfrm>
            <a:off x="3813048" y="1188720"/>
            <a:ext cx="4919472" cy="1600200"/>
          </a:xfrm>
          <a:prstGeom prst="rect">
            <a:avLst/>
          </a:prstGeom>
          <a:solidFill>
            <a:srgbClr val="2D2D2D"/>
          </a:solidFill>
          <a:ln/>
        </p:spPr>
      </p:sp>
      <p:sp>
        <p:nvSpPr>
          <p:cNvPr id="12" name="Text 9"/>
          <p:cNvSpPr txBox="1"/>
          <p:nvPr/>
        </p:nvSpPr>
        <p:spPr>
          <a:xfrm>
            <a:off x="4023360" y="1280160"/>
            <a:ext cx="1371600" cy="640080"/>
          </a:xfrm>
          <a:prstGeom prst="rect">
            <a:avLst/>
          </a:prstGeom>
          <a:noFill/>
          <a:ln/>
        </p:spPr>
        <p:txBody>
          <a:bodyPr wrap="square" lIns="0" tIns="0" rIns="0" bIns="0" rtlCol="0" anchor="t"/>
          <a:lstStyle/>
          <a:p>
            <a:pPr indent="0" marL="0">
              <a:buNone/>
            </a:pPr>
            <a:r>
              <a:rPr lang="en-US" sz="3400" b="1" dirty="0">
                <a:solidFill>
                  <a:srgbClr val="40E0D0"/>
                </a:solidFill>
                <a:latin typeface="Poppins" pitchFamily="34" charset="0"/>
                <a:ea typeface="Poppins" pitchFamily="34" charset="-122"/>
                <a:cs typeface="Poppins" pitchFamily="34" charset="-120"/>
              </a:rPr>
              <a:t>JCI</a:t>
            </a:r>
            <a:endParaRPr lang="en-US" sz="3400" dirty="0"/>
          </a:p>
        </p:txBody>
      </p:sp>
      <p:sp>
        <p:nvSpPr>
          <p:cNvPr id="13" name="Text 10"/>
          <p:cNvSpPr txBox="1"/>
          <p:nvPr/>
        </p:nvSpPr>
        <p:spPr>
          <a:xfrm>
            <a:off x="4023360" y="1920240"/>
            <a:ext cx="4526280" cy="822960"/>
          </a:xfrm>
          <a:prstGeom prst="rect">
            <a:avLst/>
          </a:prstGeom>
          <a:noFill/>
          <a:ln/>
        </p:spPr>
        <p:txBody>
          <a:bodyPr wrap="square" lIns="0" tIns="0" rIns="0" bIns="0" rtlCol="0" anchor="t"/>
          <a:lstStyle/>
          <a:p>
            <a:pPr indent="0" marL="0">
              <a:lnSpc>
                <a:spcPct val="135000"/>
              </a:lnSpc>
              <a:buNone/>
            </a:pPr>
            <a:r>
              <a:rPr lang="en-US" sz="1200" dirty="0">
                <a:solidFill>
                  <a:srgbClr val="FFFFFF"/>
                </a:solidFill>
                <a:latin typeface="Microsoft YaHei" pitchFamily="34" charset="0"/>
                <a:ea typeface="Microsoft YaHei" pitchFamily="34" charset="-122"/>
                <a:cs typeface="Microsoft YaHei" pitchFamily="34" charset="-120"/>
              </a:rPr>
              <a:t>对 Web of Science 核心合集中的期刊领域归一化后计算出来的，可用于跨学科衡量引文影响的一个度量。</a:t>
            </a:r>
            <a:endParaRPr lang="en-US" sz="1200" dirty="0"/>
          </a:p>
        </p:txBody>
      </p:sp>
      <p:sp>
        <p:nvSpPr>
          <p:cNvPr id="14" name="Shape 11"/>
          <p:cNvSpPr/>
          <p:nvPr/>
        </p:nvSpPr>
        <p:spPr>
          <a:xfrm>
            <a:off x="3813048" y="2898648"/>
            <a:ext cx="2404872" cy="1673352"/>
          </a:xfrm>
          <a:prstGeom prst="rect">
            <a:avLst/>
          </a:prstGeom>
          <a:solidFill>
            <a:srgbClr val="40E0D0"/>
          </a:solidFill>
          <a:ln/>
        </p:spPr>
      </p:sp>
      <p:sp>
        <p:nvSpPr>
          <p:cNvPr id="15" name="Text 12"/>
          <p:cNvSpPr txBox="1"/>
          <p:nvPr/>
        </p:nvSpPr>
        <p:spPr>
          <a:xfrm>
            <a:off x="3995928" y="2990088"/>
            <a:ext cx="2103120" cy="411480"/>
          </a:xfrm>
          <a:prstGeom prst="rect">
            <a:avLst/>
          </a:prstGeom>
          <a:noFill/>
          <a:ln/>
        </p:spPr>
        <p:txBody>
          <a:bodyPr wrap="square" lIns="0" tIns="0" rIns="0" bIns="0" rtlCol="0" anchor="t"/>
          <a:lstStyle/>
          <a:p>
            <a:pPr indent="0" marL="0">
              <a:buNone/>
            </a:pPr>
            <a:r>
              <a:rPr lang="en-US" sz="1800" b="1" dirty="0">
                <a:solidFill>
                  <a:srgbClr val="2D2D2D"/>
                </a:solidFill>
                <a:latin typeface="Poppins" pitchFamily="34" charset="0"/>
                <a:ea typeface="Poppins" pitchFamily="34" charset="-122"/>
                <a:cs typeface="Poppins" pitchFamily="34" charset="-120"/>
              </a:rPr>
              <a:t>JIF</a:t>
            </a:r>
            <a:endParaRPr lang="en-US" sz="1800" dirty="0"/>
          </a:p>
        </p:txBody>
      </p:sp>
      <p:sp>
        <p:nvSpPr>
          <p:cNvPr id="16" name="Text 13"/>
          <p:cNvSpPr txBox="1"/>
          <p:nvPr/>
        </p:nvSpPr>
        <p:spPr>
          <a:xfrm>
            <a:off x="3995928" y="3429000"/>
            <a:ext cx="2103120" cy="1005840"/>
          </a:xfrm>
          <a:prstGeom prst="rect">
            <a:avLst/>
          </a:prstGeom>
          <a:noFill/>
          <a:ln/>
        </p:spPr>
        <p:txBody>
          <a:bodyPr wrap="square" lIns="0" tIns="0" rIns="0" bIns="0" rtlCol="0" anchor="t"/>
          <a:lstStyle/>
          <a:p>
            <a:pPr indent="0" marL="0">
              <a:lnSpc>
                <a:spcPct val="135000"/>
              </a:lnSpc>
              <a:buNone/>
            </a:pPr>
            <a:r>
              <a:rPr lang="en-US" sz="1200" dirty="0">
                <a:solidFill>
                  <a:srgbClr val="2D2D2D"/>
                </a:solidFill>
                <a:latin typeface="Microsoft YaHei" pitchFamily="34" charset="0"/>
                <a:ea typeface="Microsoft YaHei" pitchFamily="34" charset="-122"/>
                <a:cs typeface="Microsoft YaHei" pitchFamily="34" charset="-120"/>
              </a:rPr>
              <a:t>比较某个特定学科内期刊的引文影响</a:t>
            </a:r>
            <a:endParaRPr lang="en-US" sz="1200" dirty="0"/>
          </a:p>
        </p:txBody>
      </p:sp>
      <p:sp>
        <p:nvSpPr>
          <p:cNvPr id="17" name="Shape 14"/>
          <p:cNvSpPr/>
          <p:nvPr/>
        </p:nvSpPr>
        <p:spPr>
          <a:xfrm>
            <a:off x="6327648" y="2898648"/>
            <a:ext cx="2404872" cy="1673352"/>
          </a:xfrm>
          <a:prstGeom prst="rect">
            <a:avLst/>
          </a:prstGeom>
          <a:solidFill>
            <a:srgbClr val="EBEBEB"/>
          </a:solidFill>
          <a:ln/>
        </p:spPr>
      </p:sp>
      <p:sp>
        <p:nvSpPr>
          <p:cNvPr id="18" name="Text 15"/>
          <p:cNvSpPr txBox="1"/>
          <p:nvPr/>
        </p:nvSpPr>
        <p:spPr>
          <a:xfrm>
            <a:off x="6510528" y="2990088"/>
            <a:ext cx="2103120" cy="411480"/>
          </a:xfrm>
          <a:prstGeom prst="rect">
            <a:avLst/>
          </a:prstGeom>
          <a:noFill/>
          <a:ln/>
        </p:spPr>
        <p:txBody>
          <a:bodyPr wrap="square" lIns="0" tIns="0" rIns="0" bIns="0" rtlCol="0" anchor="t"/>
          <a:lstStyle/>
          <a:p>
            <a:pPr indent="0" marL="0">
              <a:buNone/>
            </a:pPr>
            <a:r>
              <a:rPr lang="en-US" sz="1800" b="1" dirty="0">
                <a:solidFill>
                  <a:srgbClr val="2D2D2D"/>
                </a:solidFill>
                <a:latin typeface="Poppins" pitchFamily="34" charset="0"/>
                <a:ea typeface="Poppins" pitchFamily="34" charset="-122"/>
                <a:cs typeface="Poppins" pitchFamily="34" charset="-120"/>
              </a:rPr>
              <a:t>JCI</a:t>
            </a:r>
            <a:endParaRPr lang="en-US" sz="1800" dirty="0"/>
          </a:p>
        </p:txBody>
      </p:sp>
      <p:sp>
        <p:nvSpPr>
          <p:cNvPr id="19" name="Text 16"/>
          <p:cNvSpPr txBox="1"/>
          <p:nvPr/>
        </p:nvSpPr>
        <p:spPr>
          <a:xfrm>
            <a:off x="6510528" y="3429000"/>
            <a:ext cx="2103120" cy="1005840"/>
          </a:xfrm>
          <a:prstGeom prst="rect">
            <a:avLst/>
          </a:prstGeom>
          <a:noFill/>
          <a:ln/>
        </p:spPr>
        <p:txBody>
          <a:bodyPr wrap="square" lIns="0" tIns="0" rIns="0" bIns="0" rtlCol="0" anchor="t"/>
          <a:lstStyle/>
          <a:p>
            <a:pPr indent="0" marL="0">
              <a:lnSpc>
                <a:spcPct val="135000"/>
              </a:lnSpc>
              <a:buNone/>
            </a:pPr>
            <a:r>
              <a:rPr lang="en-US" sz="1200" dirty="0">
                <a:solidFill>
                  <a:srgbClr val="2D2D2D"/>
                </a:solidFill>
                <a:latin typeface="Microsoft YaHei" pitchFamily="34" charset="0"/>
                <a:ea typeface="Microsoft YaHei" pitchFamily="34" charset="-122"/>
                <a:cs typeface="Microsoft YaHei" pitchFamily="34" charset="-120"/>
              </a:rPr>
              <a:t>以单一数值衡量相邻研究领域中期刊的引文影响</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期刊等级查询 · 中科院分区表</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Microsoft YaHei" pitchFamily="34" charset="0"/>
                <a:ea typeface="Microsoft YaHei" pitchFamily="34" charset="-122"/>
                <a:cs typeface="Microsoft YaHei" pitchFamily="34" charset="-120"/>
              </a:rPr>
              <a:t>3. 中科院文献情报中心分区表（微信公众号 / 小程序）</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22</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3</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中科院文献情报中心分区表</a:t>
            </a:r>
            <a:endParaRPr lang="en-US" sz="1600" dirty="0"/>
          </a:p>
        </p:txBody>
      </p:sp>
      <p:sp>
        <p:nvSpPr>
          <p:cNvPr id="12" name="Shape 10"/>
          <p:cNvSpPr/>
          <p:nvPr/>
        </p:nvSpPr>
        <p:spPr>
          <a:xfrm>
            <a:off x="3035808" y="1188720"/>
            <a:ext cx="5696712" cy="3383280"/>
          </a:xfrm>
          <a:prstGeom prst="rect">
            <a:avLst/>
          </a:prstGeom>
          <a:solidFill>
            <a:srgbClr val="EBEBEB"/>
          </a:solidFill>
          <a:ln/>
        </p:spPr>
      </p:sp>
      <p:pic>
        <p:nvPicPr>
          <p:cNvPr id="13" name="Image 0" descr="s20_0">    </p:cNvPr>
          <p:cNvPicPr>
            <a:picLocks noChangeAspect="1"/>
          </p:cNvPicPr>
          <p:nvPr/>
        </p:nvPicPr>
        <p:blipFill>
          <a:blip r:embed="rId1"/>
          <a:stretch>
            <a:fillRect/>
          </a:stretch>
        </p:blipFill>
        <p:spPr>
          <a:xfrm>
            <a:off x="3321822" y="1325880"/>
            <a:ext cx="1436605" cy="3108960"/>
          </a:xfrm>
          <a:prstGeom prst="rect">
            <a:avLst/>
          </a:prstGeom>
        </p:spPr>
      </p:pic>
      <p:pic>
        <p:nvPicPr>
          <p:cNvPr id="14" name="Image 1" descr="s20_1">    </p:cNvPr>
          <p:cNvPicPr>
            <a:picLocks noChangeAspect="1"/>
          </p:cNvPicPr>
          <p:nvPr/>
        </p:nvPicPr>
        <p:blipFill>
          <a:blip r:embed="rId2"/>
          <a:stretch>
            <a:fillRect/>
          </a:stretch>
        </p:blipFill>
        <p:spPr>
          <a:xfrm>
            <a:off x="5165862" y="1325880"/>
            <a:ext cx="1436605" cy="3108960"/>
          </a:xfrm>
          <a:prstGeom prst="rect">
            <a:avLst/>
          </a:prstGeom>
        </p:spPr>
      </p:pic>
      <p:pic>
        <p:nvPicPr>
          <p:cNvPr id="15" name="Image 2" descr="s20_2">    </p:cNvPr>
          <p:cNvPicPr>
            <a:picLocks noChangeAspect="1"/>
          </p:cNvPicPr>
          <p:nvPr/>
        </p:nvPicPr>
        <p:blipFill>
          <a:blip r:embed="rId3"/>
          <a:stretch>
            <a:fillRect/>
          </a:stretch>
        </p:blipFill>
        <p:spPr>
          <a:xfrm>
            <a:off x="7009902" y="1325880"/>
            <a:ext cx="1436605" cy="31089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投稿期刊研究阈限的核实</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Scope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23</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40E0D0"/>
                </a:solidFill>
                <a:latin typeface="Poppins" pitchFamily="34" charset="0"/>
                <a:ea typeface="Poppins" pitchFamily="34" charset="-122"/>
                <a:cs typeface="Poppins" pitchFamily="34" charset="-120"/>
              </a:rPr>
              <a:t>1</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确定投稿期刊的具体研究范畴</a:t>
            </a:r>
            <a:endParaRPr lang="en-US" sz="1600" dirty="0"/>
          </a:p>
        </p:txBody>
      </p:sp>
      <p:sp>
        <p:nvSpPr>
          <p:cNvPr id="12" name="Text 10"/>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FFFFFF"/>
                </a:solidFill>
                <a:latin typeface="Microsoft YaHei" pitchFamily="34" charset="0"/>
                <a:ea typeface="Microsoft YaHei" pitchFamily="34" charset="-122"/>
                <a:cs typeface="Microsoft YaHei" pitchFamily="34" charset="-120"/>
              </a:rPr>
              <a:t>（Research Scope）</a:t>
            </a:r>
            <a:endParaRPr lang="en-US" sz="1100" dirty="0"/>
          </a:p>
        </p:txBody>
      </p:sp>
      <p:sp>
        <p:nvSpPr>
          <p:cNvPr id="13" name="Shape 11"/>
          <p:cNvSpPr/>
          <p:nvPr/>
        </p:nvSpPr>
        <p:spPr>
          <a:xfrm>
            <a:off x="3035808" y="1188720"/>
            <a:ext cx="5696712" cy="3383280"/>
          </a:xfrm>
          <a:prstGeom prst="rect">
            <a:avLst/>
          </a:prstGeom>
          <a:solidFill>
            <a:srgbClr val="EBEBEB"/>
          </a:solidFill>
          <a:ln/>
        </p:spPr>
      </p:sp>
      <p:pic>
        <p:nvPicPr>
          <p:cNvPr id="14" name="Image 0" descr="s21_0">    </p:cNvPr>
          <p:cNvPicPr>
            <a:picLocks noChangeAspect="1"/>
          </p:cNvPicPr>
          <p:nvPr/>
        </p:nvPicPr>
        <p:blipFill>
          <a:blip r:embed="rId1"/>
          <a:stretch>
            <a:fillRect/>
          </a:stretch>
        </p:blipFill>
        <p:spPr>
          <a:xfrm>
            <a:off x="3172968" y="2026471"/>
            <a:ext cx="5422392" cy="170777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投稿期刊研究内容评估</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Has the journal published similar research?</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24</a:t>
            </a:r>
            <a:endParaRPr lang="en-US" sz="800" dirty="0"/>
          </a:p>
        </p:txBody>
      </p:sp>
      <p:sp>
        <p:nvSpPr>
          <p:cNvPr id="9" name="Shape 7"/>
          <p:cNvSpPr/>
          <p:nvPr/>
        </p:nvSpPr>
        <p:spPr>
          <a:xfrm>
            <a:off x="411480" y="1188720"/>
            <a:ext cx="8321040" cy="548640"/>
          </a:xfrm>
          <a:prstGeom prst="rect">
            <a:avLst/>
          </a:prstGeom>
          <a:solidFill>
            <a:srgbClr val="2D2D2D"/>
          </a:solidFill>
          <a:ln/>
        </p:spPr>
      </p:sp>
      <p:sp>
        <p:nvSpPr>
          <p:cNvPr id="10" name="Text 8"/>
          <p:cNvSpPr txBox="1"/>
          <p:nvPr/>
        </p:nvSpPr>
        <p:spPr>
          <a:xfrm>
            <a:off x="640080" y="11887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2. 分析投稿期刊是否已刊登与自己研究相类似的研究内容  </a:t>
            </a:r>
            <a:pPr indent="0" marL="0">
              <a:buNone/>
            </a:pPr>
            <a:r>
              <a:rPr lang="en-US" sz="1400" b="1" dirty="0">
                <a:solidFill>
                  <a:srgbClr val="40E0D0"/>
                </a:solidFill>
                <a:latin typeface="Microsoft YaHei" pitchFamily="34" charset="0"/>
                <a:ea typeface="Microsoft YaHei" pitchFamily="34" charset="-122"/>
                <a:cs typeface="Microsoft YaHei" pitchFamily="34" charset="-120"/>
              </a:rPr>
              <a:t>【非常重要】</a:t>
            </a:r>
            <a:endParaRPr lang="en-US" sz="1400" dirty="0"/>
          </a:p>
        </p:txBody>
      </p:sp>
      <p:sp>
        <p:nvSpPr>
          <p:cNvPr id="11" name="Shape 9"/>
          <p:cNvSpPr/>
          <p:nvPr/>
        </p:nvSpPr>
        <p:spPr>
          <a:xfrm>
            <a:off x="411480" y="1847088"/>
            <a:ext cx="4105656" cy="2724912"/>
          </a:xfrm>
          <a:prstGeom prst="rect">
            <a:avLst/>
          </a:prstGeom>
          <a:solidFill>
            <a:srgbClr val="EBEBEB"/>
          </a:solidFill>
          <a:ln/>
        </p:spPr>
      </p:sp>
      <p:sp>
        <p:nvSpPr>
          <p:cNvPr id="12" name="Shape 10"/>
          <p:cNvSpPr/>
          <p:nvPr/>
        </p:nvSpPr>
        <p:spPr>
          <a:xfrm>
            <a:off x="640080" y="2011680"/>
            <a:ext cx="1005840" cy="1005840"/>
          </a:xfrm>
          <a:prstGeom prst="ellipse">
            <a:avLst/>
          </a:prstGeom>
          <a:solidFill>
            <a:srgbClr val="FFFFFF"/>
          </a:solidFill>
          <a:ln/>
        </p:spPr>
      </p:sp>
      <p:sp>
        <p:nvSpPr>
          <p:cNvPr id="13" name="Text 11"/>
          <p:cNvSpPr txBox="1"/>
          <p:nvPr/>
        </p:nvSpPr>
        <p:spPr>
          <a:xfrm>
            <a:off x="640080" y="2011680"/>
            <a:ext cx="1005840" cy="1005840"/>
          </a:xfrm>
          <a:prstGeom prst="rect">
            <a:avLst/>
          </a:prstGeom>
          <a:noFill/>
          <a:ln/>
        </p:spPr>
        <p:txBody>
          <a:bodyPr wrap="square" lIns="0" tIns="0" rIns="0" bIns="0" rtlCol="0" anchor="ctr"/>
          <a:lstStyle/>
          <a:p>
            <a:pPr algn="ctr" indent="0" marL="0">
              <a:buNone/>
            </a:pPr>
            <a:r>
              <a:rPr lang="en-US" sz="2000" b="1" dirty="0">
                <a:solidFill>
                  <a:srgbClr val="2D2D2D"/>
                </a:solidFill>
                <a:latin typeface="Microsoft YaHei" pitchFamily="34" charset="0"/>
                <a:ea typeface="Microsoft YaHei" pitchFamily="34" charset="-122"/>
                <a:cs typeface="Microsoft YaHei" pitchFamily="34" charset="-120"/>
              </a:rPr>
              <a:t>有？</a:t>
            </a:r>
            <a:endParaRPr lang="en-US" sz="2000" dirty="0"/>
          </a:p>
        </p:txBody>
      </p:sp>
      <p:sp>
        <p:nvSpPr>
          <p:cNvPr id="14" name="Text 12"/>
          <p:cNvSpPr txBox="1"/>
          <p:nvPr/>
        </p:nvSpPr>
        <p:spPr>
          <a:xfrm>
            <a:off x="685800" y="3154680"/>
            <a:ext cx="3611880" cy="13258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已达到何种研究程度？</a:t>
            </a:r>
            <a:endParaRPr lang="en-US" sz="1300" dirty="0"/>
          </a:p>
          <a:p>
            <a:pPr marL="152400" indent="-152400">
              <a:spcAft>
                <a:spcPts val="6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是否已涵盖自己当前的研究内容？</a:t>
            </a:r>
            <a:endParaRPr lang="en-US" sz="1300" dirty="0"/>
          </a:p>
          <a:p>
            <a:pPr marL="152400" indent="-152400">
              <a:spcAft>
                <a:spcPts val="6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如何体现自己研究内容的创新性？</a:t>
            </a:r>
            <a:endParaRPr lang="en-US" sz="1300" dirty="0"/>
          </a:p>
        </p:txBody>
      </p:sp>
      <p:sp>
        <p:nvSpPr>
          <p:cNvPr id="15" name="Shape 13"/>
          <p:cNvSpPr/>
          <p:nvPr/>
        </p:nvSpPr>
        <p:spPr>
          <a:xfrm>
            <a:off x="4626864" y="1847088"/>
            <a:ext cx="4105656" cy="2724912"/>
          </a:xfrm>
          <a:prstGeom prst="rect">
            <a:avLst/>
          </a:prstGeom>
          <a:solidFill>
            <a:srgbClr val="40E0D0"/>
          </a:solidFill>
          <a:ln/>
        </p:spPr>
      </p:sp>
      <p:sp>
        <p:nvSpPr>
          <p:cNvPr id="16" name="Shape 14"/>
          <p:cNvSpPr/>
          <p:nvPr/>
        </p:nvSpPr>
        <p:spPr>
          <a:xfrm>
            <a:off x="4855464" y="2011680"/>
            <a:ext cx="1005840" cy="1005840"/>
          </a:xfrm>
          <a:prstGeom prst="ellipse">
            <a:avLst/>
          </a:prstGeom>
          <a:solidFill>
            <a:srgbClr val="2D2D2D"/>
          </a:solidFill>
          <a:ln/>
        </p:spPr>
      </p:sp>
      <p:sp>
        <p:nvSpPr>
          <p:cNvPr id="17" name="Text 15"/>
          <p:cNvSpPr txBox="1"/>
          <p:nvPr/>
        </p:nvSpPr>
        <p:spPr>
          <a:xfrm>
            <a:off x="4855464" y="2011680"/>
            <a:ext cx="1005840" cy="1005840"/>
          </a:xfrm>
          <a:prstGeom prst="rect">
            <a:avLst/>
          </a:prstGeom>
          <a:noFill/>
          <a:ln/>
        </p:spPr>
        <p:txBody>
          <a:bodyPr wrap="square" lIns="0" tIns="0" rIns="0" bIns="0" rtlCol="0" anchor="ctr"/>
          <a:lstStyle/>
          <a:p>
            <a:pPr algn="ctr" indent="0" marL="0">
              <a:buNone/>
            </a:pPr>
            <a:r>
              <a:rPr lang="en-US" sz="2000" b="1" dirty="0">
                <a:solidFill>
                  <a:srgbClr val="40E0D0"/>
                </a:solidFill>
                <a:latin typeface="Microsoft YaHei" pitchFamily="34" charset="0"/>
                <a:ea typeface="Microsoft YaHei" pitchFamily="34" charset="-122"/>
                <a:cs typeface="Microsoft YaHei" pitchFamily="34" charset="-120"/>
              </a:rPr>
              <a:t>无？</a:t>
            </a:r>
            <a:endParaRPr lang="en-US" sz="2000" dirty="0"/>
          </a:p>
        </p:txBody>
      </p:sp>
      <p:sp>
        <p:nvSpPr>
          <p:cNvPr id="18" name="Text 16"/>
          <p:cNvSpPr txBox="1"/>
          <p:nvPr/>
        </p:nvSpPr>
        <p:spPr>
          <a:xfrm>
            <a:off x="4901184" y="3154680"/>
            <a:ext cx="3611880" cy="13258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当前自己的研究内容是否已偏离期刊的研究范畴？</a:t>
            </a:r>
            <a:endParaRPr lang="en-US" sz="1300" dirty="0"/>
          </a:p>
          <a:p>
            <a:pPr marL="152400" indent="-152400">
              <a:spcAft>
                <a:spcPts val="6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再次核实研究内容是否符合该期刊的 Research Scope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投稿期刊研究内容评估</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Submission Guidelines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外文期刊论文的检索</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25</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3</a:t>
            </a:r>
            <a:endParaRPr lang="en-US" sz="2000" dirty="0"/>
          </a:p>
        </p:txBody>
      </p:sp>
      <p:sp>
        <p:nvSpPr>
          <p:cNvPr id="11" name="Text 9"/>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熟知期刊对论文内容和格式相关要求</a:t>
            </a:r>
            <a:endParaRPr lang="en-US" sz="1500" dirty="0"/>
          </a:p>
        </p:txBody>
      </p:sp>
      <p:sp>
        <p:nvSpPr>
          <p:cNvPr id="12" name="Shape 10"/>
          <p:cNvSpPr/>
          <p:nvPr/>
        </p:nvSpPr>
        <p:spPr>
          <a:xfrm>
            <a:off x="3035808" y="1188720"/>
            <a:ext cx="5696712" cy="3383280"/>
          </a:xfrm>
          <a:prstGeom prst="rect">
            <a:avLst/>
          </a:prstGeom>
          <a:solidFill>
            <a:srgbClr val="EBEBEB"/>
          </a:solidFill>
          <a:ln/>
        </p:spPr>
      </p:sp>
      <p:pic>
        <p:nvPicPr>
          <p:cNvPr id="13" name="Image 0" descr="s23_0">    </p:cNvPr>
          <p:cNvPicPr>
            <a:picLocks noChangeAspect="1"/>
          </p:cNvPicPr>
          <p:nvPr/>
        </p:nvPicPr>
        <p:blipFill>
          <a:blip r:embed="rId1"/>
          <a:stretch>
            <a:fillRect/>
          </a:stretch>
        </p:blipFill>
        <p:spPr>
          <a:xfrm>
            <a:off x="3172968" y="1872088"/>
            <a:ext cx="5422392" cy="201654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04</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02</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Writing for International Journals</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外文期刊论文的写作</a:t>
            </a:r>
            <a:endParaRPr lang="en-US" sz="3000" dirty="0"/>
          </a:p>
        </p:txBody>
      </p:sp>
      <p:sp>
        <p:nvSpPr>
          <p:cNvPr id="7" name="Shape 5"/>
          <p:cNvSpPr/>
          <p:nvPr/>
        </p:nvSpPr>
        <p:spPr>
          <a:xfrm>
            <a:off x="4023360" y="1828800"/>
            <a:ext cx="4709160" cy="804672"/>
          </a:xfrm>
          <a:prstGeom prst="roundRect">
            <a:avLst>
              <a:gd name="adj" fmla="val 13636"/>
            </a:avLst>
          </a:prstGeom>
          <a:solidFill>
            <a:srgbClr val="EBEBEB"/>
          </a:solidFill>
          <a:ln/>
        </p:spPr>
      </p:sp>
      <p:sp>
        <p:nvSpPr>
          <p:cNvPr id="8" name="Shape 6"/>
          <p:cNvSpPr/>
          <p:nvPr/>
        </p:nvSpPr>
        <p:spPr>
          <a:xfrm>
            <a:off x="4224528" y="2020824"/>
            <a:ext cx="146304" cy="146304"/>
          </a:xfrm>
          <a:prstGeom prst="rect">
            <a:avLst/>
          </a:prstGeom>
          <a:solidFill>
            <a:srgbClr val="40E0D0"/>
          </a:solidFill>
          <a:ln/>
        </p:spPr>
      </p:sp>
      <p:sp>
        <p:nvSpPr>
          <p:cNvPr id="9" name="Text 7"/>
          <p:cNvSpPr txBox="1"/>
          <p:nvPr/>
        </p:nvSpPr>
        <p:spPr>
          <a:xfrm>
            <a:off x="4526280" y="19202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论文的写作逻辑</a:t>
            </a:r>
            <a:endParaRPr lang="en-US" sz="1500" dirty="0"/>
          </a:p>
        </p:txBody>
      </p:sp>
      <p:sp>
        <p:nvSpPr>
          <p:cNvPr id="10" name="Text 8"/>
          <p:cNvSpPr txBox="1"/>
          <p:nvPr/>
        </p:nvSpPr>
        <p:spPr>
          <a:xfrm>
            <a:off x="4526280" y="22768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研究背景 · 国内外研究现状 · 研究缺陷→研究目标</a:t>
            </a:r>
            <a:endParaRPr lang="en-US" sz="1100" dirty="0"/>
          </a:p>
        </p:txBody>
      </p:sp>
      <p:sp>
        <p:nvSpPr>
          <p:cNvPr id="11" name="Shape 9"/>
          <p:cNvSpPr/>
          <p:nvPr/>
        </p:nvSpPr>
        <p:spPr>
          <a:xfrm>
            <a:off x="4023360" y="2743200"/>
            <a:ext cx="4709160" cy="804672"/>
          </a:xfrm>
          <a:prstGeom prst="roundRect">
            <a:avLst>
              <a:gd name="adj" fmla="val 13636"/>
            </a:avLst>
          </a:prstGeom>
          <a:solidFill>
            <a:srgbClr val="E2E2E2"/>
          </a:solidFill>
          <a:ln/>
        </p:spPr>
      </p:sp>
      <p:sp>
        <p:nvSpPr>
          <p:cNvPr id="12" name="Shape 10"/>
          <p:cNvSpPr/>
          <p:nvPr/>
        </p:nvSpPr>
        <p:spPr>
          <a:xfrm>
            <a:off x="4224528" y="2935224"/>
            <a:ext cx="146304" cy="146304"/>
          </a:xfrm>
          <a:prstGeom prst="rect">
            <a:avLst/>
          </a:prstGeom>
          <a:solidFill>
            <a:srgbClr val="2D2D2D"/>
          </a:solidFill>
          <a:ln/>
        </p:spPr>
      </p:sp>
      <p:sp>
        <p:nvSpPr>
          <p:cNvPr id="13" name="Text 11"/>
          <p:cNvSpPr txBox="1"/>
          <p:nvPr/>
        </p:nvSpPr>
        <p:spPr>
          <a:xfrm>
            <a:off x="4526280" y="28346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文献综述</a:t>
            </a:r>
            <a:endParaRPr lang="en-US" sz="1500" dirty="0"/>
          </a:p>
        </p:txBody>
      </p:sp>
      <p:sp>
        <p:nvSpPr>
          <p:cNvPr id="14" name="Text 12"/>
          <p:cNvSpPr txBox="1"/>
          <p:nvPr/>
        </p:nvSpPr>
        <p:spPr>
          <a:xfrm>
            <a:off x="4526280" y="31912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论文阅读与翻译 · 论文整理与分类</a:t>
            </a:r>
            <a:endParaRPr lang="en-US" sz="1100" dirty="0"/>
          </a:p>
        </p:txBody>
      </p:sp>
      <p:sp>
        <p:nvSpPr>
          <p:cNvPr id="15" name="Shape 13"/>
          <p:cNvSpPr/>
          <p:nvPr/>
        </p:nvSpPr>
        <p:spPr>
          <a:xfrm>
            <a:off x="4023360" y="3657600"/>
            <a:ext cx="4709160" cy="804672"/>
          </a:xfrm>
          <a:prstGeom prst="roundRect">
            <a:avLst>
              <a:gd name="adj" fmla="val 13636"/>
            </a:avLst>
          </a:prstGeom>
          <a:solidFill>
            <a:srgbClr val="EBEBEB"/>
          </a:solidFill>
          <a:ln/>
        </p:spPr>
      </p:sp>
      <p:sp>
        <p:nvSpPr>
          <p:cNvPr id="16" name="Shape 14"/>
          <p:cNvSpPr/>
          <p:nvPr/>
        </p:nvSpPr>
        <p:spPr>
          <a:xfrm>
            <a:off x="4224528" y="3849624"/>
            <a:ext cx="146304" cy="146304"/>
          </a:xfrm>
          <a:prstGeom prst="rect">
            <a:avLst/>
          </a:prstGeom>
          <a:solidFill>
            <a:srgbClr val="2D2D2D"/>
          </a:solidFill>
          <a:ln/>
        </p:spPr>
      </p:sp>
      <p:sp>
        <p:nvSpPr>
          <p:cNvPr id="17" name="Text 15"/>
          <p:cNvSpPr txBox="1"/>
          <p:nvPr/>
        </p:nvSpPr>
        <p:spPr>
          <a:xfrm>
            <a:off x="4526280" y="37490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论文的写作与润色</a:t>
            </a:r>
            <a:endParaRPr lang="en-US" sz="1500" dirty="0"/>
          </a:p>
        </p:txBody>
      </p:sp>
      <p:sp>
        <p:nvSpPr>
          <p:cNvPr id="18" name="Text 16"/>
          <p:cNvSpPr txBox="1"/>
          <p:nvPr/>
        </p:nvSpPr>
        <p:spPr>
          <a:xfrm>
            <a:off x="4526280" y="41056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润色工具 · 语料库 · 科研绘图</a:t>
            </a:r>
            <a:endParaRPr lang="en-US" sz="1100" dirty="0"/>
          </a:p>
        </p:txBody>
      </p:sp>
      <p:sp>
        <p:nvSpPr>
          <p:cNvPr id="19" name="Shape 17"/>
          <p:cNvSpPr/>
          <p:nvPr/>
        </p:nvSpPr>
        <p:spPr>
          <a:xfrm>
            <a:off x="411480" y="4791456"/>
            <a:ext cx="164592" cy="164592"/>
          </a:xfrm>
          <a:prstGeom prst="rect">
            <a:avLst/>
          </a:prstGeom>
          <a:solidFill>
            <a:srgbClr val="2D2D2D"/>
          </a:solidFill>
          <a:ln/>
        </p:spPr>
      </p:sp>
      <p:sp>
        <p:nvSpPr>
          <p:cNvPr id="20" name="Shape 18"/>
          <p:cNvSpPr/>
          <p:nvPr/>
        </p:nvSpPr>
        <p:spPr>
          <a:xfrm>
            <a:off x="493776" y="4873752"/>
            <a:ext cx="115214" cy="115214"/>
          </a:xfrm>
          <a:prstGeom prst="rect">
            <a:avLst/>
          </a:prstGeom>
          <a:solidFill>
            <a:srgbClr val="FFFFFF"/>
          </a:solidFill>
          <a:ln/>
        </p:spPr>
      </p:sp>
      <p:sp>
        <p:nvSpPr>
          <p:cNvPr id="21" name="Text 19"/>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2" name="Text 20"/>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D2D2D"/>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FFFFFF"/>
                </a:solidFill>
                <a:latin typeface="Poppins" pitchFamily="34" charset="0"/>
                <a:ea typeface="Poppins" pitchFamily="34" charset="-122"/>
                <a:cs typeface="Poppins" pitchFamily="34" charset="-120"/>
              </a:rPr>
              <a:t>QUESTION</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B5B5B5"/>
                </a:solidFill>
                <a:latin typeface="Poppins" pitchFamily="34" charset="0"/>
                <a:ea typeface="Poppins" pitchFamily="34" charset="-122"/>
                <a:cs typeface="Poppins" pitchFamily="34" charset="-120"/>
              </a:rPr>
              <a:t>Think about it</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FFFFFF"/>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B5B5B5"/>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B5B5B5"/>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B5B5B5"/>
                </a:solidFill>
                <a:latin typeface="Poppins" pitchFamily="34" charset="0"/>
                <a:ea typeface="Poppins" pitchFamily="34" charset="-122"/>
                <a:cs typeface="Poppins" pitchFamily="34" charset="-120"/>
              </a:rPr>
              <a:t>27</a:t>
            </a:r>
            <a:endParaRPr lang="en-US" sz="800" dirty="0"/>
          </a:p>
        </p:txBody>
      </p:sp>
      <p:sp>
        <p:nvSpPr>
          <p:cNvPr id="9" name="Text 7"/>
          <p:cNvSpPr txBox="1"/>
          <p:nvPr/>
        </p:nvSpPr>
        <p:spPr>
          <a:xfrm>
            <a:off x="411480" y="1280160"/>
            <a:ext cx="8321040" cy="731520"/>
          </a:xfrm>
          <a:prstGeom prst="rect">
            <a:avLst/>
          </a:prstGeom>
          <a:noFill/>
          <a:ln/>
        </p:spPr>
        <p:txBody>
          <a:bodyPr wrap="square" lIns="0" tIns="0" rIns="0" bIns="0" rtlCol="0" anchor="t"/>
          <a:lstStyle/>
          <a:p>
            <a:pPr indent="0" marL="0">
              <a:buNone/>
            </a:pPr>
            <a:r>
              <a:rPr lang="en-US" sz="2000" b="1" dirty="0">
                <a:solidFill>
                  <a:srgbClr val="40E0D0"/>
                </a:solidFill>
                <a:latin typeface="Poppins" pitchFamily="34" charset="0"/>
                <a:ea typeface="Poppins" pitchFamily="34" charset="-122"/>
                <a:cs typeface="Poppins" pitchFamily="34" charset="-120"/>
              </a:rPr>
              <a:t>QUESTION</a:t>
            </a:r>
            <a:endParaRPr lang="en-US" sz="2000" dirty="0"/>
          </a:p>
        </p:txBody>
      </p:sp>
      <p:sp>
        <p:nvSpPr>
          <p:cNvPr id="10" name="Text 8"/>
          <p:cNvSpPr txBox="1"/>
          <p:nvPr/>
        </p:nvSpPr>
        <p:spPr>
          <a:xfrm>
            <a:off x="411480" y="1920240"/>
            <a:ext cx="8321040" cy="1188720"/>
          </a:xfrm>
          <a:prstGeom prst="rect">
            <a:avLst/>
          </a:prstGeom>
          <a:noFill/>
          <a:ln/>
        </p:spPr>
        <p:txBody>
          <a:bodyPr wrap="square" lIns="0" tIns="0" rIns="0" bIns="0" rtlCol="0" anchor="ctr"/>
          <a:lstStyle/>
          <a:p>
            <a:pPr indent="0" marL="0">
              <a:buNone/>
            </a:pPr>
            <a:r>
              <a:rPr lang="en-US" sz="4200" b="1" dirty="0">
                <a:solidFill>
                  <a:srgbClr val="FFFFFF"/>
                </a:solidFill>
                <a:latin typeface="Microsoft YaHei" pitchFamily="34" charset="0"/>
                <a:ea typeface="Microsoft YaHei" pitchFamily="34" charset="-122"/>
                <a:cs typeface="Microsoft YaHei" pitchFamily="34" charset="-120"/>
              </a:rPr>
              <a:t>你是</a:t>
            </a:r>
            <a:pPr indent="0" marL="0">
              <a:buNone/>
            </a:pPr>
            <a:r>
              <a:rPr lang="en-US" sz="4200" b="1" dirty="0">
                <a:solidFill>
                  <a:srgbClr val="40E0D0"/>
                </a:solidFill>
                <a:latin typeface="Microsoft YaHei" pitchFamily="34" charset="0"/>
                <a:ea typeface="Microsoft YaHei" pitchFamily="34" charset="-122"/>
                <a:cs typeface="Microsoft YaHei" pitchFamily="34" charset="-120"/>
              </a:rPr>
              <a:t>如何</a:t>
            </a:r>
            <a:pPr indent="0" marL="0">
              <a:buNone/>
            </a:pPr>
            <a:r>
              <a:rPr lang="en-US" sz="4200" b="1" dirty="0">
                <a:solidFill>
                  <a:srgbClr val="FFFFFF"/>
                </a:solidFill>
                <a:latin typeface="Microsoft YaHei" pitchFamily="34" charset="0"/>
                <a:ea typeface="Microsoft YaHei" pitchFamily="34" charset="-122"/>
                <a:cs typeface="Microsoft YaHei" pitchFamily="34" charset="-120"/>
              </a:rPr>
              <a:t>梳理论文结构的？</a:t>
            </a:r>
            <a:endParaRPr lang="en-US" sz="4200" dirty="0"/>
          </a:p>
        </p:txBody>
      </p:sp>
      <p:sp>
        <p:nvSpPr>
          <p:cNvPr id="11" name="Shape 9"/>
          <p:cNvSpPr/>
          <p:nvPr/>
        </p:nvSpPr>
        <p:spPr>
          <a:xfrm>
            <a:off x="411480" y="3383280"/>
            <a:ext cx="457200" cy="64008"/>
          </a:xfrm>
          <a:prstGeom prst="rect">
            <a:avLst/>
          </a:prstGeom>
          <a:solidFill>
            <a:srgbClr val="40E0D0"/>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论文的写作逻辑</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The Logic of a Thesis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28</a:t>
            </a:r>
            <a:endParaRPr lang="en-US" sz="800" dirty="0"/>
          </a:p>
        </p:txBody>
      </p:sp>
      <p:sp>
        <p:nvSpPr>
          <p:cNvPr id="9" name="Shape 7"/>
          <p:cNvSpPr/>
          <p:nvPr/>
        </p:nvSpPr>
        <p:spPr>
          <a:xfrm>
            <a:off x="411480" y="1188720"/>
            <a:ext cx="2743200" cy="3383280"/>
          </a:xfrm>
          <a:prstGeom prst="rect">
            <a:avLst/>
          </a:prstGeom>
          <a:solidFill>
            <a:srgbClr val="40E0D0"/>
          </a:solidFill>
          <a:ln/>
        </p:spPr>
      </p:sp>
      <p:sp>
        <p:nvSpPr>
          <p:cNvPr id="10" name="Text 8"/>
          <p:cNvSpPr txBox="1"/>
          <p:nvPr/>
        </p:nvSpPr>
        <p:spPr>
          <a:xfrm>
            <a:off x="640080" y="1371600"/>
            <a:ext cx="2377440" cy="1188720"/>
          </a:xfrm>
          <a:prstGeom prst="rect">
            <a:avLst/>
          </a:prstGeom>
          <a:noFill/>
          <a:ln/>
        </p:spPr>
        <p:txBody>
          <a:bodyPr wrap="square" lIns="0" tIns="0" rIns="0" bIns="0" rtlCol="0" anchor="t"/>
          <a:lstStyle/>
          <a:p>
            <a:pPr indent="0" marL="0">
              <a:buNone/>
            </a:pPr>
            <a:r>
              <a:rPr lang="en-US" sz="2600" dirty="0">
                <a:solidFill>
                  <a:srgbClr val="2D2D2D"/>
                </a:solidFill>
                <a:latin typeface="Microsoft YaHei" pitchFamily="34" charset="0"/>
                <a:ea typeface="Microsoft YaHei" pitchFamily="34" charset="-122"/>
                <a:cs typeface="Microsoft YaHei" pitchFamily="34" charset="-120"/>
              </a:rPr>
              <a:t>论文的写作</a:t>
            </a:r>
            <a:endParaRPr lang="en-US" sz="2600" dirty="0"/>
          </a:p>
          <a:p>
            <a:pPr indent="0" marL="0">
              <a:buNone/>
            </a:pPr>
            <a:r>
              <a:rPr lang="en-US" sz="2600" b="1" dirty="0">
                <a:solidFill>
                  <a:srgbClr val="2D2D2D"/>
                </a:solidFill>
                <a:latin typeface="Microsoft YaHei" pitchFamily="34" charset="0"/>
                <a:ea typeface="Microsoft YaHei" pitchFamily="34" charset="-122"/>
                <a:cs typeface="Microsoft YaHei" pitchFamily="34" charset="-120"/>
              </a:rPr>
              <a:t>逻辑</a:t>
            </a:r>
            <a:endParaRPr lang="en-US" sz="2600" dirty="0"/>
          </a:p>
        </p:txBody>
      </p:sp>
      <p:sp>
        <p:nvSpPr>
          <p:cNvPr id="11" name="Text 9"/>
          <p:cNvSpPr txBox="1"/>
          <p:nvPr/>
        </p:nvSpPr>
        <p:spPr>
          <a:xfrm>
            <a:off x="640080" y="3931920"/>
            <a:ext cx="2377440" cy="457200"/>
          </a:xfrm>
          <a:prstGeom prst="rect">
            <a:avLst/>
          </a:prstGeom>
          <a:noFill/>
          <a:ln/>
        </p:spPr>
        <p:txBody>
          <a:bodyPr wrap="square" lIns="0" tIns="0" rIns="0" bIns="0" rtlCol="0" anchor="b"/>
          <a:lstStyle/>
          <a:p>
            <a:pPr indent="0" marL="0">
              <a:buNone/>
            </a:pPr>
            <a:r>
              <a:rPr lang="en-US" sz="1200" dirty="0">
                <a:solidFill>
                  <a:srgbClr val="2D2D2D"/>
                </a:solidFill>
                <a:latin typeface="Poppins" pitchFamily="34" charset="0"/>
                <a:ea typeface="Poppins" pitchFamily="34" charset="-122"/>
                <a:cs typeface="Poppins" pitchFamily="34" charset="-120"/>
              </a:rPr>
              <a:t>The Logic of a Thesis</a:t>
            </a:r>
            <a:endParaRPr lang="en-US" sz="1200" dirty="0"/>
          </a:p>
        </p:txBody>
      </p:sp>
      <p:sp>
        <p:nvSpPr>
          <p:cNvPr id="12" name="Shape 10"/>
          <p:cNvSpPr/>
          <p:nvPr/>
        </p:nvSpPr>
        <p:spPr>
          <a:xfrm>
            <a:off x="3611880" y="1325880"/>
            <a:ext cx="27432" cy="3108960"/>
          </a:xfrm>
          <a:prstGeom prst="rect">
            <a:avLst/>
          </a:prstGeom>
          <a:solidFill>
            <a:srgbClr val="CDCDCD"/>
          </a:solidFill>
          <a:ln/>
        </p:spPr>
      </p:sp>
      <p:sp>
        <p:nvSpPr>
          <p:cNvPr id="13" name="Shape 11"/>
          <p:cNvSpPr/>
          <p:nvPr/>
        </p:nvSpPr>
        <p:spPr>
          <a:xfrm>
            <a:off x="3474720" y="1225296"/>
            <a:ext cx="301752" cy="301752"/>
          </a:xfrm>
          <a:prstGeom prst="ellipse">
            <a:avLst/>
          </a:prstGeom>
          <a:solidFill>
            <a:srgbClr val="2D2D2D"/>
          </a:solidFill>
          <a:ln w="25400">
            <a:solidFill>
              <a:srgbClr val="FFFFFF"/>
            </a:solidFill>
            <a:prstDash val="solid"/>
          </a:ln>
        </p:spPr>
      </p:sp>
      <p:sp>
        <p:nvSpPr>
          <p:cNvPr id="14" name="Text 12"/>
          <p:cNvSpPr txBox="1"/>
          <p:nvPr/>
        </p:nvSpPr>
        <p:spPr>
          <a:xfrm>
            <a:off x="3474720" y="1225296"/>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1</a:t>
            </a:r>
            <a:endParaRPr lang="en-US" sz="900" dirty="0"/>
          </a:p>
        </p:txBody>
      </p:sp>
      <p:sp>
        <p:nvSpPr>
          <p:cNvPr id="15" name="Text 13"/>
          <p:cNvSpPr txBox="1"/>
          <p:nvPr/>
        </p:nvSpPr>
        <p:spPr>
          <a:xfrm>
            <a:off x="4069080" y="1207008"/>
            <a:ext cx="4572000" cy="338328"/>
          </a:xfrm>
          <a:prstGeom prst="rect">
            <a:avLst/>
          </a:prstGeom>
          <a:noFill/>
          <a:ln/>
        </p:spPr>
        <p:txBody>
          <a:bodyPr wrap="square" lIns="0" tIns="0" rIns="0" bIns="0" rtlCol="0" anchor="ctr"/>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研究背景</a:t>
            </a:r>
            <a:endParaRPr lang="en-US" sz="1250" dirty="0"/>
          </a:p>
        </p:txBody>
      </p:sp>
      <p:sp>
        <p:nvSpPr>
          <p:cNvPr id="16" name="Shape 14"/>
          <p:cNvSpPr/>
          <p:nvPr/>
        </p:nvSpPr>
        <p:spPr>
          <a:xfrm>
            <a:off x="3474720" y="1602029"/>
            <a:ext cx="301752" cy="301752"/>
          </a:xfrm>
          <a:prstGeom prst="ellipse">
            <a:avLst/>
          </a:prstGeom>
          <a:solidFill>
            <a:srgbClr val="2D2D2D"/>
          </a:solidFill>
          <a:ln w="25400">
            <a:solidFill>
              <a:srgbClr val="FFFFFF"/>
            </a:solidFill>
            <a:prstDash val="solid"/>
          </a:ln>
        </p:spPr>
      </p:sp>
      <p:sp>
        <p:nvSpPr>
          <p:cNvPr id="17" name="Text 15"/>
          <p:cNvSpPr txBox="1"/>
          <p:nvPr/>
        </p:nvSpPr>
        <p:spPr>
          <a:xfrm>
            <a:off x="3474720" y="1602029"/>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2</a:t>
            </a:r>
            <a:endParaRPr lang="en-US" sz="900" dirty="0"/>
          </a:p>
        </p:txBody>
      </p:sp>
      <p:sp>
        <p:nvSpPr>
          <p:cNvPr id="18" name="Text 16"/>
          <p:cNvSpPr txBox="1"/>
          <p:nvPr/>
        </p:nvSpPr>
        <p:spPr>
          <a:xfrm>
            <a:off x="4069080" y="1583741"/>
            <a:ext cx="4572000" cy="338328"/>
          </a:xfrm>
          <a:prstGeom prst="rect">
            <a:avLst/>
          </a:prstGeom>
          <a:noFill/>
          <a:ln/>
        </p:spPr>
        <p:txBody>
          <a:bodyPr wrap="square" lIns="0" tIns="0" rIns="0" bIns="0" rtlCol="0" anchor="ctr"/>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国内外研究现状</a:t>
            </a:r>
            <a:endParaRPr lang="en-US" sz="1250" dirty="0"/>
          </a:p>
        </p:txBody>
      </p:sp>
      <p:sp>
        <p:nvSpPr>
          <p:cNvPr id="19" name="Shape 17"/>
          <p:cNvSpPr/>
          <p:nvPr/>
        </p:nvSpPr>
        <p:spPr>
          <a:xfrm>
            <a:off x="3474720" y="1978762"/>
            <a:ext cx="301752" cy="301752"/>
          </a:xfrm>
          <a:prstGeom prst="ellipse">
            <a:avLst/>
          </a:prstGeom>
          <a:solidFill>
            <a:srgbClr val="2D2D2D"/>
          </a:solidFill>
          <a:ln w="25400">
            <a:solidFill>
              <a:srgbClr val="FFFFFF"/>
            </a:solidFill>
            <a:prstDash val="solid"/>
          </a:ln>
        </p:spPr>
      </p:sp>
      <p:sp>
        <p:nvSpPr>
          <p:cNvPr id="20" name="Text 18"/>
          <p:cNvSpPr txBox="1"/>
          <p:nvPr/>
        </p:nvSpPr>
        <p:spPr>
          <a:xfrm>
            <a:off x="3474720" y="1978762"/>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3</a:t>
            </a:r>
            <a:endParaRPr lang="en-US" sz="900" dirty="0"/>
          </a:p>
        </p:txBody>
      </p:sp>
      <p:sp>
        <p:nvSpPr>
          <p:cNvPr id="21" name="Text 19"/>
          <p:cNvSpPr txBox="1"/>
          <p:nvPr/>
        </p:nvSpPr>
        <p:spPr>
          <a:xfrm>
            <a:off x="4069080" y="1960474"/>
            <a:ext cx="4572000" cy="338328"/>
          </a:xfrm>
          <a:prstGeom prst="rect">
            <a:avLst/>
          </a:prstGeom>
          <a:noFill/>
          <a:ln/>
        </p:spPr>
        <p:txBody>
          <a:bodyPr wrap="square" lIns="0" tIns="0" rIns="0" bIns="0" rtlCol="0" anchor="ctr"/>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研究问题</a:t>
            </a:r>
            <a:endParaRPr lang="en-US" sz="1250" dirty="0"/>
          </a:p>
        </p:txBody>
      </p:sp>
      <p:sp>
        <p:nvSpPr>
          <p:cNvPr id="22" name="Shape 20"/>
          <p:cNvSpPr/>
          <p:nvPr/>
        </p:nvSpPr>
        <p:spPr>
          <a:xfrm>
            <a:off x="3474720" y="2355494"/>
            <a:ext cx="301752" cy="301752"/>
          </a:xfrm>
          <a:prstGeom prst="ellipse">
            <a:avLst/>
          </a:prstGeom>
          <a:solidFill>
            <a:srgbClr val="2D2D2D"/>
          </a:solidFill>
          <a:ln w="25400">
            <a:solidFill>
              <a:srgbClr val="FFFFFF"/>
            </a:solidFill>
            <a:prstDash val="solid"/>
          </a:ln>
        </p:spPr>
      </p:sp>
      <p:sp>
        <p:nvSpPr>
          <p:cNvPr id="23" name="Text 21"/>
          <p:cNvSpPr txBox="1"/>
          <p:nvPr/>
        </p:nvSpPr>
        <p:spPr>
          <a:xfrm>
            <a:off x="3474720" y="2355494"/>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4</a:t>
            </a:r>
            <a:endParaRPr lang="en-US" sz="900" dirty="0"/>
          </a:p>
        </p:txBody>
      </p:sp>
      <p:sp>
        <p:nvSpPr>
          <p:cNvPr id="24" name="Text 22"/>
          <p:cNvSpPr txBox="1"/>
          <p:nvPr/>
        </p:nvSpPr>
        <p:spPr>
          <a:xfrm>
            <a:off x="4069080" y="2337206"/>
            <a:ext cx="4572000" cy="338328"/>
          </a:xfrm>
          <a:prstGeom prst="rect">
            <a:avLst/>
          </a:prstGeom>
          <a:noFill/>
          <a:ln/>
        </p:spPr>
        <p:txBody>
          <a:bodyPr wrap="square" lIns="0" tIns="0" rIns="0" bIns="0" rtlCol="0" anchor="ctr"/>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研究目标</a:t>
            </a:r>
            <a:endParaRPr lang="en-US" sz="1250" dirty="0"/>
          </a:p>
        </p:txBody>
      </p:sp>
      <p:sp>
        <p:nvSpPr>
          <p:cNvPr id="25" name="Shape 23"/>
          <p:cNvSpPr/>
          <p:nvPr/>
        </p:nvSpPr>
        <p:spPr>
          <a:xfrm>
            <a:off x="3474720" y="2732227"/>
            <a:ext cx="301752" cy="301752"/>
          </a:xfrm>
          <a:prstGeom prst="ellipse">
            <a:avLst/>
          </a:prstGeom>
          <a:solidFill>
            <a:srgbClr val="E2E2E2"/>
          </a:solidFill>
          <a:ln w="25400">
            <a:solidFill>
              <a:srgbClr val="FFFFFF"/>
            </a:solidFill>
            <a:prstDash val="solid"/>
          </a:ln>
        </p:spPr>
      </p:sp>
      <p:sp>
        <p:nvSpPr>
          <p:cNvPr id="26" name="Text 24"/>
          <p:cNvSpPr txBox="1"/>
          <p:nvPr/>
        </p:nvSpPr>
        <p:spPr>
          <a:xfrm>
            <a:off x="3474720" y="2732227"/>
            <a:ext cx="301752" cy="301752"/>
          </a:xfrm>
          <a:prstGeom prst="rect">
            <a:avLst/>
          </a:prstGeom>
          <a:noFill/>
          <a:ln/>
        </p:spPr>
        <p:txBody>
          <a:bodyPr wrap="square" lIns="0" tIns="0" rIns="0" bIns="0" rtlCol="0" anchor="ctr"/>
          <a:lstStyle/>
          <a:p>
            <a:pPr algn="ctr" indent="0" marL="0">
              <a:buNone/>
            </a:pPr>
            <a:r>
              <a:rPr lang="en-US" sz="900" b="1" dirty="0">
                <a:solidFill>
                  <a:srgbClr val="2D2D2D"/>
                </a:solidFill>
                <a:latin typeface="Poppins" pitchFamily="34" charset="0"/>
                <a:ea typeface="Poppins" pitchFamily="34" charset="-122"/>
                <a:cs typeface="Poppins" pitchFamily="34" charset="-120"/>
              </a:rPr>
              <a:t>5</a:t>
            </a:r>
            <a:endParaRPr lang="en-US" sz="900" dirty="0"/>
          </a:p>
        </p:txBody>
      </p:sp>
      <p:sp>
        <p:nvSpPr>
          <p:cNvPr id="27" name="Text 25"/>
          <p:cNvSpPr txBox="1"/>
          <p:nvPr/>
        </p:nvSpPr>
        <p:spPr>
          <a:xfrm>
            <a:off x="4069080" y="2713939"/>
            <a:ext cx="4572000" cy="338328"/>
          </a:xfrm>
          <a:prstGeom prst="rect">
            <a:avLst/>
          </a:prstGeom>
          <a:noFill/>
          <a:ln/>
        </p:spPr>
        <p:txBody>
          <a:bodyPr wrap="square" lIns="0" tIns="0" rIns="0" bIns="0" rtlCol="0" anchor="ctr"/>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相关理论研究内容阐述</a:t>
            </a:r>
            <a:endParaRPr lang="en-US" sz="1250" dirty="0"/>
          </a:p>
        </p:txBody>
      </p:sp>
      <p:sp>
        <p:nvSpPr>
          <p:cNvPr id="28" name="Shape 26"/>
          <p:cNvSpPr/>
          <p:nvPr/>
        </p:nvSpPr>
        <p:spPr>
          <a:xfrm>
            <a:off x="3474720" y="3108960"/>
            <a:ext cx="301752" cy="301752"/>
          </a:xfrm>
          <a:prstGeom prst="ellipse">
            <a:avLst/>
          </a:prstGeom>
          <a:solidFill>
            <a:srgbClr val="E2E2E2"/>
          </a:solidFill>
          <a:ln w="25400">
            <a:solidFill>
              <a:srgbClr val="FFFFFF"/>
            </a:solidFill>
            <a:prstDash val="solid"/>
          </a:ln>
        </p:spPr>
      </p:sp>
      <p:sp>
        <p:nvSpPr>
          <p:cNvPr id="29" name="Text 27"/>
          <p:cNvSpPr txBox="1"/>
          <p:nvPr/>
        </p:nvSpPr>
        <p:spPr>
          <a:xfrm>
            <a:off x="3474720" y="3108960"/>
            <a:ext cx="301752" cy="301752"/>
          </a:xfrm>
          <a:prstGeom prst="rect">
            <a:avLst/>
          </a:prstGeom>
          <a:noFill/>
          <a:ln/>
        </p:spPr>
        <p:txBody>
          <a:bodyPr wrap="square" lIns="0" tIns="0" rIns="0" bIns="0" rtlCol="0" anchor="ctr"/>
          <a:lstStyle/>
          <a:p>
            <a:pPr algn="ctr" indent="0" marL="0">
              <a:buNone/>
            </a:pPr>
            <a:r>
              <a:rPr lang="en-US" sz="900" b="1" dirty="0">
                <a:solidFill>
                  <a:srgbClr val="2D2D2D"/>
                </a:solidFill>
                <a:latin typeface="Poppins" pitchFamily="34" charset="0"/>
                <a:ea typeface="Poppins" pitchFamily="34" charset="-122"/>
                <a:cs typeface="Poppins" pitchFamily="34" charset="-120"/>
              </a:rPr>
              <a:t>6</a:t>
            </a:r>
            <a:endParaRPr lang="en-US" sz="900" dirty="0"/>
          </a:p>
        </p:txBody>
      </p:sp>
      <p:sp>
        <p:nvSpPr>
          <p:cNvPr id="30" name="Text 28"/>
          <p:cNvSpPr txBox="1"/>
          <p:nvPr/>
        </p:nvSpPr>
        <p:spPr>
          <a:xfrm>
            <a:off x="4069080" y="3090672"/>
            <a:ext cx="4572000" cy="338328"/>
          </a:xfrm>
          <a:prstGeom prst="rect">
            <a:avLst/>
          </a:prstGeom>
          <a:noFill/>
          <a:ln/>
        </p:spPr>
        <p:txBody>
          <a:bodyPr wrap="square" lIns="0" tIns="0" rIns="0" bIns="0" rtlCol="0" anchor="ctr"/>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研究方法</a:t>
            </a:r>
            <a:endParaRPr lang="en-US" sz="1250" dirty="0"/>
          </a:p>
        </p:txBody>
      </p:sp>
      <p:sp>
        <p:nvSpPr>
          <p:cNvPr id="31" name="Shape 29"/>
          <p:cNvSpPr/>
          <p:nvPr/>
        </p:nvSpPr>
        <p:spPr>
          <a:xfrm>
            <a:off x="3474720" y="3485693"/>
            <a:ext cx="301752" cy="301752"/>
          </a:xfrm>
          <a:prstGeom prst="ellipse">
            <a:avLst/>
          </a:prstGeom>
          <a:solidFill>
            <a:srgbClr val="E2E2E2"/>
          </a:solidFill>
          <a:ln w="25400">
            <a:solidFill>
              <a:srgbClr val="FFFFFF"/>
            </a:solidFill>
            <a:prstDash val="solid"/>
          </a:ln>
        </p:spPr>
      </p:sp>
      <p:sp>
        <p:nvSpPr>
          <p:cNvPr id="32" name="Text 30"/>
          <p:cNvSpPr txBox="1"/>
          <p:nvPr/>
        </p:nvSpPr>
        <p:spPr>
          <a:xfrm>
            <a:off x="3474720" y="3485693"/>
            <a:ext cx="301752" cy="301752"/>
          </a:xfrm>
          <a:prstGeom prst="rect">
            <a:avLst/>
          </a:prstGeom>
          <a:noFill/>
          <a:ln/>
        </p:spPr>
        <p:txBody>
          <a:bodyPr wrap="square" lIns="0" tIns="0" rIns="0" bIns="0" rtlCol="0" anchor="ctr"/>
          <a:lstStyle/>
          <a:p>
            <a:pPr algn="ctr" indent="0" marL="0">
              <a:buNone/>
            </a:pPr>
            <a:r>
              <a:rPr lang="en-US" sz="900" b="1" dirty="0">
                <a:solidFill>
                  <a:srgbClr val="2D2D2D"/>
                </a:solidFill>
                <a:latin typeface="Poppins" pitchFamily="34" charset="0"/>
                <a:ea typeface="Poppins" pitchFamily="34" charset="-122"/>
                <a:cs typeface="Poppins" pitchFamily="34" charset="-120"/>
              </a:rPr>
              <a:t>7</a:t>
            </a:r>
            <a:endParaRPr lang="en-US" sz="900" dirty="0"/>
          </a:p>
        </p:txBody>
      </p:sp>
      <p:sp>
        <p:nvSpPr>
          <p:cNvPr id="33" name="Text 31"/>
          <p:cNvSpPr txBox="1"/>
          <p:nvPr/>
        </p:nvSpPr>
        <p:spPr>
          <a:xfrm>
            <a:off x="4069080" y="3467405"/>
            <a:ext cx="4572000" cy="338328"/>
          </a:xfrm>
          <a:prstGeom prst="rect">
            <a:avLst/>
          </a:prstGeom>
          <a:noFill/>
          <a:ln/>
        </p:spPr>
        <p:txBody>
          <a:bodyPr wrap="square" lIns="0" tIns="0" rIns="0" bIns="0" rtlCol="0" anchor="ctr"/>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研究过程</a:t>
            </a:r>
            <a:endParaRPr lang="en-US" sz="1250" dirty="0"/>
          </a:p>
        </p:txBody>
      </p:sp>
      <p:sp>
        <p:nvSpPr>
          <p:cNvPr id="34" name="Shape 32"/>
          <p:cNvSpPr/>
          <p:nvPr/>
        </p:nvSpPr>
        <p:spPr>
          <a:xfrm>
            <a:off x="3474720" y="3862426"/>
            <a:ext cx="301752" cy="301752"/>
          </a:xfrm>
          <a:prstGeom prst="ellipse">
            <a:avLst/>
          </a:prstGeom>
          <a:solidFill>
            <a:srgbClr val="40E0D0"/>
          </a:solidFill>
          <a:ln w="25400">
            <a:solidFill>
              <a:srgbClr val="FFFFFF"/>
            </a:solidFill>
            <a:prstDash val="solid"/>
          </a:ln>
        </p:spPr>
      </p:sp>
      <p:sp>
        <p:nvSpPr>
          <p:cNvPr id="35" name="Text 33"/>
          <p:cNvSpPr txBox="1"/>
          <p:nvPr/>
        </p:nvSpPr>
        <p:spPr>
          <a:xfrm>
            <a:off x="3474720" y="3862426"/>
            <a:ext cx="301752" cy="301752"/>
          </a:xfrm>
          <a:prstGeom prst="rect">
            <a:avLst/>
          </a:prstGeom>
          <a:noFill/>
          <a:ln/>
        </p:spPr>
        <p:txBody>
          <a:bodyPr wrap="square" lIns="0" tIns="0" rIns="0" bIns="0" rtlCol="0" anchor="ctr"/>
          <a:lstStyle/>
          <a:p>
            <a:pPr algn="ctr" indent="0" marL="0">
              <a:buNone/>
            </a:pPr>
            <a:r>
              <a:rPr lang="en-US" sz="900" b="1" dirty="0">
                <a:solidFill>
                  <a:srgbClr val="2D2D2D"/>
                </a:solidFill>
                <a:latin typeface="Poppins" pitchFamily="34" charset="0"/>
                <a:ea typeface="Poppins" pitchFamily="34" charset="-122"/>
                <a:cs typeface="Poppins" pitchFamily="34" charset="-120"/>
              </a:rPr>
              <a:t>8</a:t>
            </a:r>
            <a:endParaRPr lang="en-US" sz="900" dirty="0"/>
          </a:p>
        </p:txBody>
      </p:sp>
      <p:sp>
        <p:nvSpPr>
          <p:cNvPr id="36" name="Shape 34"/>
          <p:cNvSpPr/>
          <p:nvPr/>
        </p:nvSpPr>
        <p:spPr>
          <a:xfrm>
            <a:off x="3931920" y="3844138"/>
            <a:ext cx="4800600" cy="338328"/>
          </a:xfrm>
          <a:prstGeom prst="rect">
            <a:avLst/>
          </a:prstGeom>
          <a:solidFill>
            <a:srgbClr val="40E0D0"/>
          </a:solidFill>
          <a:ln/>
        </p:spPr>
      </p:sp>
      <p:sp>
        <p:nvSpPr>
          <p:cNvPr id="37" name="Text 35"/>
          <p:cNvSpPr txBox="1"/>
          <p:nvPr/>
        </p:nvSpPr>
        <p:spPr>
          <a:xfrm>
            <a:off x="4069080" y="3844138"/>
            <a:ext cx="4572000" cy="338328"/>
          </a:xfrm>
          <a:prstGeom prst="rect">
            <a:avLst/>
          </a:prstGeom>
          <a:noFill/>
          <a:ln/>
        </p:spPr>
        <p:txBody>
          <a:bodyPr wrap="square" lIns="0" tIns="0" rIns="0" bIns="0" rtlCol="0" anchor="ctr"/>
          <a:lstStyle/>
          <a:p>
            <a:pPr indent="0" marL="0">
              <a:buNone/>
            </a:pPr>
            <a:r>
              <a:rPr lang="en-US" sz="1250" b="1" dirty="0">
                <a:solidFill>
                  <a:srgbClr val="2D2D2D"/>
                </a:solidFill>
                <a:latin typeface="Microsoft YaHei" pitchFamily="34" charset="0"/>
                <a:ea typeface="Microsoft YaHei" pitchFamily="34" charset="-122"/>
                <a:cs typeface="Microsoft YaHei" pitchFamily="34" charset="-120"/>
              </a:rPr>
              <a:t>研究结果→【生成设计策略】</a:t>
            </a:r>
            <a:endParaRPr lang="en-US" sz="1250" dirty="0"/>
          </a:p>
        </p:txBody>
      </p:sp>
      <p:sp>
        <p:nvSpPr>
          <p:cNvPr id="38" name="Shape 36"/>
          <p:cNvSpPr/>
          <p:nvPr/>
        </p:nvSpPr>
        <p:spPr>
          <a:xfrm>
            <a:off x="3474720" y="4239158"/>
            <a:ext cx="301752" cy="301752"/>
          </a:xfrm>
          <a:prstGeom prst="ellipse">
            <a:avLst/>
          </a:prstGeom>
          <a:solidFill>
            <a:srgbClr val="E2E2E2"/>
          </a:solidFill>
          <a:ln w="25400">
            <a:solidFill>
              <a:srgbClr val="FFFFFF"/>
            </a:solidFill>
            <a:prstDash val="solid"/>
          </a:ln>
        </p:spPr>
      </p:sp>
      <p:sp>
        <p:nvSpPr>
          <p:cNvPr id="39" name="Text 37"/>
          <p:cNvSpPr txBox="1"/>
          <p:nvPr/>
        </p:nvSpPr>
        <p:spPr>
          <a:xfrm>
            <a:off x="3474720" y="4239158"/>
            <a:ext cx="301752" cy="301752"/>
          </a:xfrm>
          <a:prstGeom prst="rect">
            <a:avLst/>
          </a:prstGeom>
          <a:noFill/>
          <a:ln/>
        </p:spPr>
        <p:txBody>
          <a:bodyPr wrap="square" lIns="0" tIns="0" rIns="0" bIns="0" rtlCol="0" anchor="ctr"/>
          <a:lstStyle/>
          <a:p>
            <a:pPr algn="ctr" indent="0" marL="0">
              <a:buNone/>
            </a:pPr>
            <a:r>
              <a:rPr lang="en-US" sz="900" b="1" dirty="0">
                <a:solidFill>
                  <a:srgbClr val="2D2D2D"/>
                </a:solidFill>
                <a:latin typeface="Poppins" pitchFamily="34" charset="0"/>
                <a:ea typeface="Poppins" pitchFamily="34" charset="-122"/>
                <a:cs typeface="Poppins" pitchFamily="34" charset="-120"/>
              </a:rPr>
              <a:t>9</a:t>
            </a:r>
            <a:endParaRPr lang="en-US" sz="900" dirty="0"/>
          </a:p>
        </p:txBody>
      </p:sp>
      <p:sp>
        <p:nvSpPr>
          <p:cNvPr id="40" name="Text 38"/>
          <p:cNvSpPr txBox="1"/>
          <p:nvPr/>
        </p:nvSpPr>
        <p:spPr>
          <a:xfrm>
            <a:off x="4069080" y="4220870"/>
            <a:ext cx="4572000" cy="338328"/>
          </a:xfrm>
          <a:prstGeom prst="rect">
            <a:avLst/>
          </a:prstGeom>
          <a:noFill/>
          <a:ln/>
        </p:spPr>
        <p:txBody>
          <a:bodyPr wrap="square" lIns="0" tIns="0" rIns="0" bIns="0" rtlCol="0" anchor="ctr"/>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设计实践及可用性测试</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研究背景 · 国内外研究现状</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What Each Part Should Do</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29</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85800" y="1371600"/>
            <a:ext cx="3566160" cy="548640"/>
          </a:xfrm>
          <a:prstGeom prst="rect">
            <a:avLst/>
          </a:prstGeom>
          <a:noFill/>
          <a:ln/>
        </p:spPr>
        <p:txBody>
          <a:bodyPr wrap="square" lIns="0" tIns="0" rIns="0" bIns="0" rtlCol="0" anchor="ctr"/>
          <a:lstStyle/>
          <a:p>
            <a:pPr indent="0" marL="0">
              <a:buNone/>
            </a:pPr>
            <a:r>
              <a:rPr lang="en-US" sz="2400" b="1" dirty="0">
                <a:solidFill>
                  <a:srgbClr val="2D2D2D"/>
                </a:solidFill>
                <a:latin typeface="Microsoft YaHei" pitchFamily="34" charset="0"/>
                <a:ea typeface="Microsoft YaHei" pitchFamily="34" charset="-122"/>
                <a:cs typeface="Microsoft YaHei" pitchFamily="34" charset="-120"/>
              </a:rPr>
              <a:t>研究背景</a:t>
            </a:r>
            <a:endParaRPr lang="en-US" sz="2400" dirty="0"/>
          </a:p>
        </p:txBody>
      </p:sp>
      <p:sp>
        <p:nvSpPr>
          <p:cNvPr id="11" name="Shape 9"/>
          <p:cNvSpPr/>
          <p:nvPr/>
        </p:nvSpPr>
        <p:spPr>
          <a:xfrm>
            <a:off x="685800" y="2194560"/>
            <a:ext cx="3566160" cy="621792"/>
          </a:xfrm>
          <a:prstGeom prst="rect">
            <a:avLst/>
          </a:prstGeom>
          <a:solidFill>
            <a:srgbClr val="FFFFFF"/>
          </a:solidFill>
          <a:ln/>
        </p:spPr>
      </p:sp>
      <p:sp>
        <p:nvSpPr>
          <p:cNvPr id="12" name="Text 10"/>
          <p:cNvSpPr txBox="1"/>
          <p:nvPr/>
        </p:nvSpPr>
        <p:spPr>
          <a:xfrm>
            <a:off x="795528" y="2194560"/>
            <a:ext cx="365760" cy="621792"/>
          </a:xfrm>
          <a:prstGeom prst="rect">
            <a:avLst/>
          </a:prstGeom>
          <a:noFill/>
          <a:ln/>
        </p:spPr>
        <p:txBody>
          <a:bodyPr wrap="square" lIns="0" tIns="0" rIns="0" bIns="0" rtlCol="0" anchor="ctr"/>
          <a:lstStyle/>
          <a:p>
            <a:pPr indent="0" marL="0">
              <a:buNone/>
            </a:pPr>
            <a:r>
              <a:rPr lang="en-US" sz="1500" b="1" dirty="0">
                <a:solidFill>
                  <a:srgbClr val="2D2D2D"/>
                </a:solidFill>
                <a:latin typeface="Poppins" pitchFamily="34" charset="0"/>
                <a:ea typeface="Poppins" pitchFamily="34" charset="-122"/>
                <a:cs typeface="Poppins" pitchFamily="34" charset="-120"/>
              </a:rPr>
              <a:t>✓</a:t>
            </a:r>
            <a:endParaRPr lang="en-US" sz="1500" dirty="0"/>
          </a:p>
        </p:txBody>
      </p:sp>
      <p:sp>
        <p:nvSpPr>
          <p:cNvPr id="13" name="Text 11"/>
          <p:cNvSpPr txBox="1"/>
          <p:nvPr/>
        </p:nvSpPr>
        <p:spPr>
          <a:xfrm>
            <a:off x="1188720" y="2194560"/>
            <a:ext cx="2971800" cy="621792"/>
          </a:xfrm>
          <a:prstGeom prst="rect">
            <a:avLst/>
          </a:prstGeom>
          <a:noFill/>
          <a:ln/>
        </p:spPr>
        <p:txBody>
          <a:bodyPr wrap="square" lIns="0" tIns="0" rIns="0" bIns="0" rtlCol="0" anchor="ctr"/>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划定研究范畴</a:t>
            </a:r>
            <a:endParaRPr lang="en-US" sz="1300" dirty="0"/>
          </a:p>
        </p:txBody>
      </p:sp>
      <p:sp>
        <p:nvSpPr>
          <p:cNvPr id="14" name="Shape 12"/>
          <p:cNvSpPr/>
          <p:nvPr/>
        </p:nvSpPr>
        <p:spPr>
          <a:xfrm>
            <a:off x="685800" y="2944368"/>
            <a:ext cx="3566160" cy="621792"/>
          </a:xfrm>
          <a:prstGeom prst="rect">
            <a:avLst/>
          </a:prstGeom>
          <a:solidFill>
            <a:srgbClr val="FFFFFF"/>
          </a:solidFill>
          <a:ln/>
        </p:spPr>
      </p:sp>
      <p:sp>
        <p:nvSpPr>
          <p:cNvPr id="15" name="Text 13"/>
          <p:cNvSpPr txBox="1"/>
          <p:nvPr/>
        </p:nvSpPr>
        <p:spPr>
          <a:xfrm>
            <a:off x="795528" y="2944368"/>
            <a:ext cx="365760" cy="621792"/>
          </a:xfrm>
          <a:prstGeom prst="rect">
            <a:avLst/>
          </a:prstGeom>
          <a:noFill/>
          <a:ln/>
        </p:spPr>
        <p:txBody>
          <a:bodyPr wrap="square" lIns="0" tIns="0" rIns="0" bIns="0" rtlCol="0" anchor="ctr"/>
          <a:lstStyle/>
          <a:p>
            <a:pPr indent="0" marL="0">
              <a:buNone/>
            </a:pPr>
            <a:r>
              <a:rPr lang="en-US" sz="1500" b="1" dirty="0">
                <a:solidFill>
                  <a:srgbClr val="2D2D2D"/>
                </a:solidFill>
                <a:latin typeface="Poppins" pitchFamily="34" charset="0"/>
                <a:ea typeface="Poppins" pitchFamily="34" charset="-122"/>
                <a:cs typeface="Poppins" pitchFamily="34" charset="-120"/>
              </a:rPr>
              <a:t>✓</a:t>
            </a:r>
            <a:endParaRPr lang="en-US" sz="1500" dirty="0"/>
          </a:p>
        </p:txBody>
      </p:sp>
      <p:sp>
        <p:nvSpPr>
          <p:cNvPr id="16" name="Text 14"/>
          <p:cNvSpPr txBox="1"/>
          <p:nvPr/>
        </p:nvSpPr>
        <p:spPr>
          <a:xfrm>
            <a:off x="1188720" y="2944368"/>
            <a:ext cx="2971800" cy="621792"/>
          </a:xfrm>
          <a:prstGeom prst="rect">
            <a:avLst/>
          </a:prstGeom>
          <a:noFill/>
          <a:ln/>
        </p:spPr>
        <p:txBody>
          <a:bodyPr wrap="square" lIns="0" tIns="0" rIns="0" bIns="0" rtlCol="0" anchor="ctr"/>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解释研究的必要性</a:t>
            </a:r>
            <a:endParaRPr lang="en-US" sz="1300" dirty="0"/>
          </a:p>
        </p:txBody>
      </p:sp>
      <p:sp>
        <p:nvSpPr>
          <p:cNvPr id="17" name="Shape 15"/>
          <p:cNvSpPr/>
          <p:nvPr/>
        </p:nvSpPr>
        <p:spPr>
          <a:xfrm>
            <a:off x="685800" y="3694176"/>
            <a:ext cx="3566160" cy="621792"/>
          </a:xfrm>
          <a:prstGeom prst="rect">
            <a:avLst/>
          </a:prstGeom>
          <a:solidFill>
            <a:srgbClr val="FFFFFF"/>
          </a:solidFill>
          <a:ln/>
        </p:spPr>
      </p:sp>
      <p:sp>
        <p:nvSpPr>
          <p:cNvPr id="18" name="Text 16"/>
          <p:cNvSpPr txBox="1"/>
          <p:nvPr/>
        </p:nvSpPr>
        <p:spPr>
          <a:xfrm>
            <a:off x="795528" y="3694176"/>
            <a:ext cx="365760" cy="621792"/>
          </a:xfrm>
          <a:prstGeom prst="rect">
            <a:avLst/>
          </a:prstGeom>
          <a:noFill/>
          <a:ln/>
        </p:spPr>
        <p:txBody>
          <a:bodyPr wrap="square" lIns="0" tIns="0" rIns="0" bIns="0" rtlCol="0" anchor="ctr"/>
          <a:lstStyle/>
          <a:p>
            <a:pPr indent="0" marL="0">
              <a:buNone/>
            </a:pPr>
            <a:r>
              <a:rPr lang="en-US" sz="1500" b="1" dirty="0">
                <a:solidFill>
                  <a:srgbClr val="2D2D2D"/>
                </a:solidFill>
                <a:latin typeface="Poppins" pitchFamily="34" charset="0"/>
                <a:ea typeface="Poppins" pitchFamily="34" charset="-122"/>
                <a:cs typeface="Poppins" pitchFamily="34" charset="-120"/>
              </a:rPr>
              <a:t>✓</a:t>
            </a:r>
            <a:endParaRPr lang="en-US" sz="1500" dirty="0"/>
          </a:p>
        </p:txBody>
      </p:sp>
      <p:sp>
        <p:nvSpPr>
          <p:cNvPr id="19" name="Text 17"/>
          <p:cNvSpPr txBox="1"/>
          <p:nvPr/>
        </p:nvSpPr>
        <p:spPr>
          <a:xfrm>
            <a:off x="1188720" y="3694176"/>
            <a:ext cx="2971800" cy="621792"/>
          </a:xfrm>
          <a:prstGeom prst="rect">
            <a:avLst/>
          </a:prstGeom>
          <a:noFill/>
          <a:ln/>
        </p:spPr>
        <p:txBody>
          <a:bodyPr wrap="square" lIns="0" tIns="0" rIns="0" bIns="0" rtlCol="0" anchor="ctr"/>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展示研究的创新性意义</a:t>
            </a:r>
            <a:endParaRPr lang="en-US" sz="1300" dirty="0"/>
          </a:p>
        </p:txBody>
      </p:sp>
      <p:sp>
        <p:nvSpPr>
          <p:cNvPr id="20" name="Shape 18"/>
          <p:cNvSpPr/>
          <p:nvPr/>
        </p:nvSpPr>
        <p:spPr>
          <a:xfrm>
            <a:off x="4626864" y="1188720"/>
            <a:ext cx="4105656" cy="3383280"/>
          </a:xfrm>
          <a:prstGeom prst="rect">
            <a:avLst/>
          </a:prstGeom>
          <a:solidFill>
            <a:srgbClr val="2D2D2D"/>
          </a:solidFill>
          <a:ln/>
        </p:spPr>
      </p:sp>
      <p:sp>
        <p:nvSpPr>
          <p:cNvPr id="21" name="Text 19"/>
          <p:cNvSpPr txBox="1"/>
          <p:nvPr/>
        </p:nvSpPr>
        <p:spPr>
          <a:xfrm>
            <a:off x="4901184" y="1371600"/>
            <a:ext cx="3566160" cy="548640"/>
          </a:xfrm>
          <a:prstGeom prst="rect">
            <a:avLst/>
          </a:prstGeom>
          <a:noFill/>
          <a:ln/>
        </p:spPr>
        <p:txBody>
          <a:bodyPr wrap="square" lIns="0" tIns="0" rIns="0" bIns="0" rtlCol="0" anchor="ctr"/>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国内外研究现状</a:t>
            </a:r>
            <a:endParaRPr lang="en-US" sz="2400" dirty="0"/>
          </a:p>
        </p:txBody>
      </p:sp>
      <p:sp>
        <p:nvSpPr>
          <p:cNvPr id="22" name="Shape 20"/>
          <p:cNvSpPr/>
          <p:nvPr/>
        </p:nvSpPr>
        <p:spPr>
          <a:xfrm>
            <a:off x="4901184" y="2194560"/>
            <a:ext cx="3566160" cy="621792"/>
          </a:xfrm>
          <a:prstGeom prst="rect">
            <a:avLst/>
          </a:prstGeom>
          <a:solidFill>
            <a:srgbClr val="3E3E3E"/>
          </a:solidFill>
          <a:ln/>
        </p:spPr>
      </p:sp>
      <p:sp>
        <p:nvSpPr>
          <p:cNvPr id="23" name="Text 21"/>
          <p:cNvSpPr txBox="1"/>
          <p:nvPr/>
        </p:nvSpPr>
        <p:spPr>
          <a:xfrm>
            <a:off x="5010912" y="2194560"/>
            <a:ext cx="365760" cy="621792"/>
          </a:xfrm>
          <a:prstGeom prst="rect">
            <a:avLst/>
          </a:prstGeom>
          <a:noFill/>
          <a:ln/>
        </p:spPr>
        <p:txBody>
          <a:bodyPr wrap="square" lIns="0" tIns="0" rIns="0" bIns="0" rtlCol="0" anchor="ctr"/>
          <a:lstStyle/>
          <a:p>
            <a:pPr indent="0" marL="0">
              <a:buNone/>
            </a:pPr>
            <a:r>
              <a:rPr lang="en-US" sz="1500" b="1" dirty="0">
                <a:solidFill>
                  <a:srgbClr val="40E0D0"/>
                </a:solidFill>
                <a:latin typeface="Poppins" pitchFamily="34" charset="0"/>
                <a:ea typeface="Poppins" pitchFamily="34" charset="-122"/>
                <a:cs typeface="Poppins" pitchFamily="34" charset="-120"/>
              </a:rPr>
              <a:t>✓</a:t>
            </a:r>
            <a:endParaRPr lang="en-US" sz="1500" dirty="0"/>
          </a:p>
        </p:txBody>
      </p:sp>
      <p:sp>
        <p:nvSpPr>
          <p:cNvPr id="24" name="Text 22"/>
          <p:cNvSpPr txBox="1"/>
          <p:nvPr/>
        </p:nvSpPr>
        <p:spPr>
          <a:xfrm>
            <a:off x="5404104" y="2194560"/>
            <a:ext cx="2971800" cy="621792"/>
          </a:xfrm>
          <a:prstGeom prst="rect">
            <a:avLst/>
          </a:prstGeom>
          <a:noFill/>
          <a:ln/>
        </p:spPr>
        <p:txBody>
          <a:bodyPr wrap="square" lIns="0" tIns="0" rIns="0" bIns="0"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展示现有研究的“起点”和“终点”</a:t>
            </a:r>
            <a:endParaRPr lang="en-US" sz="1300" dirty="0"/>
          </a:p>
        </p:txBody>
      </p:sp>
      <p:sp>
        <p:nvSpPr>
          <p:cNvPr id="25" name="Shape 23"/>
          <p:cNvSpPr/>
          <p:nvPr/>
        </p:nvSpPr>
        <p:spPr>
          <a:xfrm>
            <a:off x="4901184" y="2944368"/>
            <a:ext cx="3566160" cy="621792"/>
          </a:xfrm>
          <a:prstGeom prst="rect">
            <a:avLst/>
          </a:prstGeom>
          <a:solidFill>
            <a:srgbClr val="40E0D0"/>
          </a:solidFill>
          <a:ln/>
        </p:spPr>
      </p:sp>
      <p:sp>
        <p:nvSpPr>
          <p:cNvPr id="26" name="Text 24"/>
          <p:cNvSpPr txBox="1"/>
          <p:nvPr/>
        </p:nvSpPr>
        <p:spPr>
          <a:xfrm>
            <a:off x="5010912" y="2944368"/>
            <a:ext cx="365760" cy="621792"/>
          </a:xfrm>
          <a:prstGeom prst="rect">
            <a:avLst/>
          </a:prstGeom>
          <a:noFill/>
          <a:ln/>
        </p:spPr>
        <p:txBody>
          <a:bodyPr wrap="square" lIns="0" tIns="0" rIns="0" bIns="0" rtlCol="0" anchor="ctr"/>
          <a:lstStyle/>
          <a:p>
            <a:pPr indent="0" marL="0">
              <a:buNone/>
            </a:pPr>
            <a:r>
              <a:rPr lang="en-US" sz="1500" b="1" dirty="0">
                <a:solidFill>
                  <a:srgbClr val="2D2D2D"/>
                </a:solidFill>
                <a:latin typeface="Poppins" pitchFamily="34" charset="0"/>
                <a:ea typeface="Poppins" pitchFamily="34" charset="-122"/>
                <a:cs typeface="Poppins" pitchFamily="34" charset="-120"/>
              </a:rPr>
              <a:t>✓</a:t>
            </a:r>
            <a:endParaRPr lang="en-US" sz="1500" dirty="0"/>
          </a:p>
        </p:txBody>
      </p:sp>
      <p:sp>
        <p:nvSpPr>
          <p:cNvPr id="27" name="Text 25"/>
          <p:cNvSpPr txBox="1"/>
          <p:nvPr/>
        </p:nvSpPr>
        <p:spPr>
          <a:xfrm>
            <a:off x="5404104" y="2944368"/>
            <a:ext cx="2971800" cy="621792"/>
          </a:xfrm>
          <a:prstGeom prst="rect">
            <a:avLst/>
          </a:prstGeom>
          <a:noFill/>
          <a:ln/>
        </p:spPr>
        <p:txBody>
          <a:bodyPr wrap="square" lIns="0" tIns="0" rIns="0" bIns="0" rtlCol="0" anchor="ctr"/>
          <a:lstStyle/>
          <a:p>
            <a:pPr indent="0" marL="0">
              <a:buNone/>
            </a:pPr>
            <a:r>
              <a:rPr lang="en-US" sz="1300" b="1" dirty="0">
                <a:solidFill>
                  <a:srgbClr val="2D2D2D"/>
                </a:solidFill>
                <a:latin typeface="Microsoft YaHei" pitchFamily="34" charset="0"/>
                <a:ea typeface="Microsoft YaHei" pitchFamily="34" charset="-122"/>
                <a:cs typeface="Microsoft YaHei" pitchFamily="34" charset="-120"/>
              </a:rPr>
              <a:t>揭示现有的研究缺陷（即研究问题）</a:t>
            </a:r>
            <a:endParaRPr lang="en-US" sz="1300" dirty="0"/>
          </a:p>
        </p:txBody>
      </p:sp>
      <p:sp>
        <p:nvSpPr>
          <p:cNvPr id="28" name="Shape 26"/>
          <p:cNvSpPr/>
          <p:nvPr/>
        </p:nvSpPr>
        <p:spPr>
          <a:xfrm>
            <a:off x="4901184" y="3694176"/>
            <a:ext cx="3566160" cy="621792"/>
          </a:xfrm>
          <a:prstGeom prst="rect">
            <a:avLst/>
          </a:prstGeom>
          <a:solidFill>
            <a:srgbClr val="3E3E3E"/>
          </a:solidFill>
          <a:ln/>
        </p:spPr>
      </p:sp>
      <p:sp>
        <p:nvSpPr>
          <p:cNvPr id="29" name="Text 27"/>
          <p:cNvSpPr txBox="1"/>
          <p:nvPr/>
        </p:nvSpPr>
        <p:spPr>
          <a:xfrm>
            <a:off x="5010912" y="3694176"/>
            <a:ext cx="365760" cy="621792"/>
          </a:xfrm>
          <a:prstGeom prst="rect">
            <a:avLst/>
          </a:prstGeom>
          <a:noFill/>
          <a:ln/>
        </p:spPr>
        <p:txBody>
          <a:bodyPr wrap="square" lIns="0" tIns="0" rIns="0" bIns="0" rtlCol="0" anchor="ctr"/>
          <a:lstStyle/>
          <a:p>
            <a:pPr indent="0" marL="0">
              <a:buNone/>
            </a:pPr>
            <a:r>
              <a:rPr lang="en-US" sz="1500" b="1" dirty="0">
                <a:solidFill>
                  <a:srgbClr val="40E0D0"/>
                </a:solidFill>
                <a:latin typeface="Poppins" pitchFamily="34" charset="0"/>
                <a:ea typeface="Poppins" pitchFamily="34" charset="-122"/>
                <a:cs typeface="Poppins" pitchFamily="34" charset="-120"/>
              </a:rPr>
              <a:t>✓</a:t>
            </a:r>
            <a:endParaRPr lang="en-US" sz="1500" dirty="0"/>
          </a:p>
        </p:txBody>
      </p:sp>
      <p:sp>
        <p:nvSpPr>
          <p:cNvPr id="30" name="Text 28"/>
          <p:cNvSpPr txBox="1"/>
          <p:nvPr/>
        </p:nvSpPr>
        <p:spPr>
          <a:xfrm>
            <a:off x="5404104" y="3694176"/>
            <a:ext cx="2971800" cy="621792"/>
          </a:xfrm>
          <a:prstGeom prst="rect">
            <a:avLst/>
          </a:prstGeom>
          <a:noFill/>
          <a:ln/>
        </p:spPr>
        <p:txBody>
          <a:bodyPr wrap="square" lIns="0" tIns="0" rIns="0" bIns="0"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文献研究 + 市场竞品分析</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研究缺陷→研究目标</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From Research Gap to Objective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30</a:t>
            </a:r>
            <a:endParaRPr lang="en-US" sz="800" dirty="0"/>
          </a:p>
        </p:txBody>
      </p:sp>
      <p:sp>
        <p:nvSpPr>
          <p:cNvPr id="9" name="Text 7"/>
          <p:cNvSpPr txBox="1"/>
          <p:nvPr/>
        </p:nvSpPr>
        <p:spPr>
          <a:xfrm>
            <a:off x="411480" y="1097280"/>
            <a:ext cx="8321040" cy="731520"/>
          </a:xfrm>
          <a:prstGeom prst="rect">
            <a:avLst/>
          </a:prstGeom>
          <a:noFill/>
          <a:ln/>
        </p:spPr>
        <p:txBody>
          <a:bodyPr wrap="square" lIns="0" tIns="0" rIns="0" bIns="0" rtlCol="0" anchor="ctr"/>
          <a:lstStyle/>
          <a:p>
            <a:pPr indent="0" marL="0">
              <a:buNone/>
            </a:pPr>
            <a:r>
              <a:rPr lang="en-US" sz="2400" b="1" dirty="0">
                <a:solidFill>
                  <a:srgbClr val="2D2D2D"/>
                </a:solidFill>
                <a:latin typeface="Microsoft YaHei" pitchFamily="34" charset="0"/>
                <a:ea typeface="Microsoft YaHei" pitchFamily="34" charset="-122"/>
                <a:cs typeface="Microsoft YaHei" pitchFamily="34" charset="-120"/>
              </a:rPr>
              <a:t>形成以“研究问题”为导向的研究思路</a:t>
            </a:r>
            <a:endParaRPr lang="en-US" sz="2400" dirty="0"/>
          </a:p>
        </p:txBody>
      </p:sp>
      <p:sp>
        <p:nvSpPr>
          <p:cNvPr id="10" name="Shape 8"/>
          <p:cNvSpPr/>
          <p:nvPr/>
        </p:nvSpPr>
        <p:spPr>
          <a:xfrm>
            <a:off x="411480" y="1874520"/>
            <a:ext cx="457200" cy="64008"/>
          </a:xfrm>
          <a:prstGeom prst="rect">
            <a:avLst/>
          </a:prstGeom>
          <a:solidFill>
            <a:srgbClr val="40E0D0"/>
          </a:solidFill>
          <a:ln/>
        </p:spPr>
      </p:sp>
      <p:sp>
        <p:nvSpPr>
          <p:cNvPr id="11" name="Shape 9"/>
          <p:cNvSpPr/>
          <p:nvPr/>
        </p:nvSpPr>
        <p:spPr>
          <a:xfrm>
            <a:off x="411480" y="2103120"/>
            <a:ext cx="4105656" cy="2468880"/>
          </a:xfrm>
          <a:prstGeom prst="rect">
            <a:avLst/>
          </a:prstGeom>
          <a:solidFill>
            <a:srgbClr val="EBEBEB"/>
          </a:solidFill>
          <a:ln/>
        </p:spPr>
      </p:sp>
      <p:sp>
        <p:nvSpPr>
          <p:cNvPr id="12" name="Text 10"/>
          <p:cNvSpPr txBox="1"/>
          <p:nvPr/>
        </p:nvSpPr>
        <p:spPr>
          <a:xfrm>
            <a:off x="640080" y="2240280"/>
            <a:ext cx="914400" cy="411480"/>
          </a:xfrm>
          <a:prstGeom prst="rect">
            <a:avLst/>
          </a:prstGeom>
          <a:noFill/>
          <a:ln/>
        </p:spPr>
        <p:txBody>
          <a:bodyPr wrap="square" lIns="0" tIns="0" rIns="0" bIns="0" rtlCol="0" anchor="t"/>
          <a:lstStyle/>
          <a:p>
            <a:pPr indent="0" marL="0">
              <a:buNone/>
            </a:pPr>
            <a:r>
              <a:rPr lang="en-US" sz="1600" b="1" dirty="0">
                <a:solidFill>
                  <a:srgbClr val="2D2D2D"/>
                </a:solidFill>
                <a:latin typeface="Poppins" pitchFamily="34" charset="0"/>
                <a:ea typeface="Poppins" pitchFamily="34" charset="-122"/>
                <a:cs typeface="Poppins" pitchFamily="34" charset="-120"/>
              </a:rPr>
              <a:t>01</a:t>
            </a:r>
            <a:endParaRPr lang="en-US" sz="1600" dirty="0"/>
          </a:p>
        </p:txBody>
      </p:sp>
      <p:sp>
        <p:nvSpPr>
          <p:cNvPr id="13" name="Text 11"/>
          <p:cNvSpPr txBox="1"/>
          <p:nvPr/>
        </p:nvSpPr>
        <p:spPr>
          <a:xfrm>
            <a:off x="640080" y="2651760"/>
            <a:ext cx="3566160" cy="411480"/>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研究问题</a:t>
            </a:r>
            <a:endParaRPr lang="en-US" sz="1700" dirty="0"/>
          </a:p>
        </p:txBody>
      </p:sp>
      <p:sp>
        <p:nvSpPr>
          <p:cNvPr id="14" name="Text 12"/>
          <p:cNvSpPr txBox="1"/>
          <p:nvPr/>
        </p:nvSpPr>
        <p:spPr>
          <a:xfrm>
            <a:off x="640080" y="3154680"/>
            <a:ext cx="3657600" cy="1325880"/>
          </a:xfrm>
          <a:prstGeom prst="rect">
            <a:avLst/>
          </a:prstGeom>
          <a:noFill/>
          <a:ln/>
        </p:spPr>
        <p:txBody>
          <a:bodyPr wrap="square" lIns="0" tIns="0" rIns="0" bIns="0" rtlCol="0" anchor="t"/>
          <a:lstStyle/>
          <a:p>
            <a:pPr indent="0" marL="0">
              <a:lnSpc>
                <a:spcPct val="140000"/>
              </a:lnSpc>
              <a:buNone/>
            </a:pPr>
            <a:r>
              <a:rPr lang="en-US" sz="1300" b="1" dirty="0">
                <a:solidFill>
                  <a:srgbClr val="2D2D2D"/>
                </a:solidFill>
                <a:latin typeface="Microsoft YaHei" pitchFamily="34" charset="0"/>
                <a:ea typeface="Microsoft YaHei" pitchFamily="34" charset="-122"/>
                <a:cs typeface="Microsoft YaHei" pitchFamily="34" charset="-120"/>
              </a:rPr>
              <a:t>研究问题</a:t>
            </a:r>
            <a:pPr indent="0" marL="0">
              <a:lnSpc>
                <a:spcPct val="140000"/>
              </a:lnSpc>
              <a:buNone/>
            </a:pPr>
            <a:r>
              <a:rPr lang="en-US" sz="1300" dirty="0">
                <a:solidFill>
                  <a:srgbClr val="2D2D2D"/>
                </a:solidFill>
                <a:latin typeface="Microsoft YaHei" pitchFamily="34" charset="0"/>
                <a:ea typeface="Microsoft YaHei" pitchFamily="34" charset="-122"/>
                <a:cs typeface="Microsoft YaHei" pitchFamily="34" charset="-120"/>
              </a:rPr>
              <a:t>是指研究者所要解决的核心问题，</a:t>
            </a:r>
            <a:pPr indent="0" marL="0">
              <a:lnSpc>
                <a:spcPct val="140000"/>
              </a:lnSpc>
              <a:buNone/>
            </a:pPr>
            <a:r>
              <a:rPr lang="en-US" sz="1300" b="1" dirty="0">
                <a:solidFill>
                  <a:srgbClr val="2D2D2D"/>
                </a:solidFill>
                <a:latin typeface="Microsoft YaHei" pitchFamily="34" charset="0"/>
                <a:ea typeface="Microsoft YaHei" pitchFamily="34" charset="-122"/>
                <a:cs typeface="Microsoft YaHei" pitchFamily="34" charset="-120"/>
              </a:rPr>
              <a:t>通常是现有理论或实践中存在的矛盾、不足、差距或需要进一步探讨的内容。</a:t>
            </a:r>
            <a:endParaRPr lang="en-US" sz="1300" dirty="0"/>
          </a:p>
        </p:txBody>
      </p:sp>
      <p:sp>
        <p:nvSpPr>
          <p:cNvPr id="15" name="Shape 13"/>
          <p:cNvSpPr/>
          <p:nvPr/>
        </p:nvSpPr>
        <p:spPr>
          <a:xfrm>
            <a:off x="4626864" y="2103120"/>
            <a:ext cx="4105656" cy="2468880"/>
          </a:xfrm>
          <a:prstGeom prst="rect">
            <a:avLst/>
          </a:prstGeom>
          <a:solidFill>
            <a:srgbClr val="40E0D0"/>
          </a:solidFill>
          <a:ln/>
        </p:spPr>
      </p:sp>
      <p:sp>
        <p:nvSpPr>
          <p:cNvPr id="16" name="Text 14"/>
          <p:cNvSpPr txBox="1"/>
          <p:nvPr/>
        </p:nvSpPr>
        <p:spPr>
          <a:xfrm>
            <a:off x="4855464" y="2240280"/>
            <a:ext cx="914400" cy="411480"/>
          </a:xfrm>
          <a:prstGeom prst="rect">
            <a:avLst/>
          </a:prstGeom>
          <a:noFill/>
          <a:ln/>
        </p:spPr>
        <p:txBody>
          <a:bodyPr wrap="square" lIns="0" tIns="0" rIns="0" bIns="0" rtlCol="0" anchor="t"/>
          <a:lstStyle/>
          <a:p>
            <a:pPr indent="0" marL="0">
              <a:buNone/>
            </a:pPr>
            <a:r>
              <a:rPr lang="en-US" sz="1600" b="1" dirty="0">
                <a:solidFill>
                  <a:srgbClr val="2D2D2D"/>
                </a:solidFill>
                <a:latin typeface="Poppins" pitchFamily="34" charset="0"/>
                <a:ea typeface="Poppins" pitchFamily="34" charset="-122"/>
                <a:cs typeface="Poppins" pitchFamily="34" charset="-120"/>
              </a:rPr>
              <a:t>02</a:t>
            </a:r>
            <a:endParaRPr lang="en-US" sz="1600" dirty="0"/>
          </a:p>
        </p:txBody>
      </p:sp>
      <p:sp>
        <p:nvSpPr>
          <p:cNvPr id="17" name="Text 15"/>
          <p:cNvSpPr txBox="1"/>
          <p:nvPr/>
        </p:nvSpPr>
        <p:spPr>
          <a:xfrm>
            <a:off x="4855464" y="2651760"/>
            <a:ext cx="3566160" cy="411480"/>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研究目标</a:t>
            </a:r>
            <a:endParaRPr lang="en-US" sz="1700" dirty="0"/>
          </a:p>
        </p:txBody>
      </p:sp>
      <p:sp>
        <p:nvSpPr>
          <p:cNvPr id="18" name="Text 16"/>
          <p:cNvSpPr txBox="1"/>
          <p:nvPr/>
        </p:nvSpPr>
        <p:spPr>
          <a:xfrm>
            <a:off x="4855464" y="3154680"/>
            <a:ext cx="3657600" cy="1325880"/>
          </a:xfrm>
          <a:prstGeom prst="rect">
            <a:avLst/>
          </a:prstGeom>
          <a:noFill/>
          <a:ln/>
        </p:spPr>
        <p:txBody>
          <a:bodyPr wrap="square" lIns="0" tIns="0" rIns="0" bIns="0" rtlCol="0" anchor="t"/>
          <a:lstStyle/>
          <a:p>
            <a:pPr indent="0" marL="0">
              <a:lnSpc>
                <a:spcPct val="140000"/>
              </a:lnSpc>
              <a:buNone/>
            </a:pPr>
            <a:r>
              <a:rPr lang="en-US" sz="1300" b="1" dirty="0">
                <a:solidFill>
                  <a:srgbClr val="2D2D2D"/>
                </a:solidFill>
                <a:latin typeface="Microsoft YaHei" pitchFamily="34" charset="0"/>
                <a:ea typeface="Microsoft YaHei" pitchFamily="34" charset="-122"/>
                <a:cs typeface="Microsoft YaHei" pitchFamily="34" charset="-120"/>
              </a:rPr>
              <a:t>研究目标</a:t>
            </a:r>
            <a:pPr indent="0" marL="0">
              <a:lnSpc>
                <a:spcPct val="140000"/>
              </a:lnSpc>
              <a:buNone/>
            </a:pPr>
            <a:r>
              <a:rPr lang="en-US" sz="1300" dirty="0">
                <a:solidFill>
                  <a:srgbClr val="2D2D2D"/>
                </a:solidFill>
                <a:latin typeface="Microsoft YaHei" pitchFamily="34" charset="0"/>
                <a:ea typeface="Microsoft YaHei" pitchFamily="34" charset="-122"/>
                <a:cs typeface="Microsoft YaHei" pitchFamily="34" charset="-120"/>
              </a:rPr>
              <a:t>则是</a:t>
            </a:r>
            <a:pPr indent="0" marL="0">
              <a:lnSpc>
                <a:spcPct val="140000"/>
              </a:lnSpc>
              <a:buNone/>
            </a:pPr>
            <a:r>
              <a:rPr lang="en-US" sz="1300" b="1" dirty="0">
                <a:solidFill>
                  <a:srgbClr val="2D2D2D"/>
                </a:solidFill>
                <a:latin typeface="Microsoft YaHei" pitchFamily="34" charset="0"/>
                <a:ea typeface="Microsoft YaHei" pitchFamily="34" charset="-122"/>
                <a:cs typeface="Microsoft YaHei" pitchFamily="34" charset="-120"/>
              </a:rPr>
              <a:t>研究者为了解决研究问题而设定的具体方向或要实现的预期结果</a:t>
            </a:r>
            <a:pPr indent="0" marL="0">
              <a:lnSpc>
                <a:spcPct val="140000"/>
              </a:lnSpc>
              <a:buNone/>
            </a:pPr>
            <a:r>
              <a:rPr lang="en-US" sz="1300" dirty="0">
                <a:solidFill>
                  <a:srgbClr val="2D2D2D"/>
                </a:solidFill>
                <a:latin typeface="Microsoft YaHei" pitchFamily="34" charset="0"/>
                <a:ea typeface="Microsoft YaHei" pitchFamily="34" charset="-122"/>
                <a:cs typeface="Microsoft YaHei" pitchFamily="34" charset="-120"/>
              </a:rPr>
              <a: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研究缺陷→研究目标 · 示例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Examples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31</a:t>
            </a:r>
            <a:endParaRPr lang="en-US" sz="800" dirty="0"/>
          </a:p>
        </p:txBody>
      </p:sp>
      <p:sp>
        <p:nvSpPr>
          <p:cNvPr id="9" name="Text 7"/>
          <p:cNvSpPr txBox="1"/>
          <p:nvPr/>
        </p:nvSpPr>
        <p:spPr>
          <a:xfrm>
            <a:off x="411480" y="1097280"/>
            <a:ext cx="4480560" cy="274320"/>
          </a:xfrm>
          <a:prstGeom prst="rect">
            <a:avLst/>
          </a:prstGeom>
          <a:noFill/>
          <a:ln/>
        </p:spPr>
        <p:txBody>
          <a:bodyPr wrap="square" lIns="0" tIns="0" rIns="0" bIns="0" rtlCol="0" anchor="t"/>
          <a:lstStyle/>
          <a:p>
            <a:pPr indent="0" marL="0">
              <a:buNone/>
            </a:pPr>
            <a:r>
              <a:rPr lang="en-US" sz="1100" b="1" dirty="0">
                <a:solidFill>
                  <a:srgbClr val="707070"/>
                </a:solidFill>
                <a:latin typeface="Microsoft YaHei" pitchFamily="34" charset="0"/>
                <a:ea typeface="Microsoft YaHei" pitchFamily="34" charset="-122"/>
                <a:cs typeface="Microsoft YaHei" pitchFamily="34" charset="-120"/>
              </a:rPr>
              <a:t>研究问题</a:t>
            </a:r>
            <a:endParaRPr lang="en-US" sz="1100" dirty="0"/>
          </a:p>
        </p:txBody>
      </p:sp>
      <p:sp>
        <p:nvSpPr>
          <p:cNvPr id="10" name="Text 8"/>
          <p:cNvSpPr txBox="1"/>
          <p:nvPr/>
        </p:nvSpPr>
        <p:spPr>
          <a:xfrm>
            <a:off x="5440680" y="1097280"/>
            <a:ext cx="3291840" cy="274320"/>
          </a:xfrm>
          <a:prstGeom prst="rect">
            <a:avLst/>
          </a:prstGeom>
          <a:noFill/>
          <a:ln/>
        </p:spPr>
        <p:txBody>
          <a:bodyPr wrap="square" lIns="0" tIns="0" rIns="0" bIns="0" rtlCol="0" anchor="t"/>
          <a:lstStyle/>
          <a:p>
            <a:pPr indent="0" marL="0">
              <a:buNone/>
            </a:pPr>
            <a:r>
              <a:rPr lang="en-US" sz="1100" b="1" dirty="0">
                <a:solidFill>
                  <a:srgbClr val="707070"/>
                </a:solidFill>
                <a:latin typeface="Microsoft YaHei" pitchFamily="34" charset="0"/>
                <a:ea typeface="Microsoft YaHei" pitchFamily="34" charset="-122"/>
                <a:cs typeface="Microsoft YaHei" pitchFamily="34" charset="-120"/>
              </a:rPr>
              <a:t>研究目标</a:t>
            </a:r>
            <a:endParaRPr lang="en-US" sz="1100" dirty="0"/>
          </a:p>
        </p:txBody>
      </p:sp>
      <p:sp>
        <p:nvSpPr>
          <p:cNvPr id="11" name="Shape 9"/>
          <p:cNvSpPr/>
          <p:nvPr/>
        </p:nvSpPr>
        <p:spPr>
          <a:xfrm>
            <a:off x="411480" y="1417320"/>
            <a:ext cx="4480560" cy="960120"/>
          </a:xfrm>
          <a:prstGeom prst="rect">
            <a:avLst/>
          </a:prstGeom>
          <a:solidFill>
            <a:srgbClr val="EBEBEB"/>
          </a:solidFill>
          <a:ln/>
        </p:spPr>
      </p:sp>
      <p:sp>
        <p:nvSpPr>
          <p:cNvPr id="12" name="Text 10"/>
          <p:cNvSpPr txBox="1"/>
          <p:nvPr/>
        </p:nvSpPr>
        <p:spPr>
          <a:xfrm>
            <a:off x="594360" y="1417320"/>
            <a:ext cx="4160520" cy="960120"/>
          </a:xfrm>
          <a:prstGeom prst="rect">
            <a:avLst/>
          </a:prstGeom>
          <a:noFill/>
          <a:ln/>
        </p:spPr>
        <p:txBody>
          <a:bodyPr wrap="square" lIns="0" tIns="0" rIns="0" bIns="0" rtlCol="0" anchor="ctr"/>
          <a:lstStyle/>
          <a:p>
            <a:pPr indent="0" marL="0">
              <a:lnSpc>
                <a:spcPct val="130000"/>
              </a:lnSpc>
              <a:buNone/>
            </a:pPr>
            <a:r>
              <a:rPr lang="en-US" sz="1150" dirty="0">
                <a:solidFill>
                  <a:srgbClr val="2D2D2D"/>
                </a:solidFill>
                <a:latin typeface="Microsoft YaHei" pitchFamily="34" charset="0"/>
                <a:ea typeface="Microsoft YaHei" pitchFamily="34" charset="-122"/>
                <a:cs typeface="Microsoft YaHei" pitchFamily="34" charset="-120"/>
              </a:rPr>
              <a:t>某城市的公共交通系统使用率低下，居民出行主要依赖私家车，这导致了严重的交通拥堵和空气污染。</a:t>
            </a:r>
            <a:endParaRPr lang="en-US" sz="1150" dirty="0"/>
          </a:p>
        </p:txBody>
      </p:sp>
      <p:sp>
        <p:nvSpPr>
          <p:cNvPr id="13" name="Text 11"/>
          <p:cNvSpPr txBox="1"/>
          <p:nvPr/>
        </p:nvSpPr>
        <p:spPr>
          <a:xfrm>
            <a:off x="4892040" y="1417320"/>
            <a:ext cx="548640" cy="960120"/>
          </a:xfrm>
          <a:prstGeom prst="rect">
            <a:avLst/>
          </a:prstGeom>
          <a:noFill/>
          <a:ln/>
        </p:spPr>
        <p:txBody>
          <a:bodyPr wrap="square" lIns="0" tIns="0" rIns="0" bIns="0" rtlCol="0" anchor="ctr"/>
          <a:lstStyle/>
          <a:p>
            <a:pPr algn="ctr" indent="0" marL="0">
              <a:buNone/>
            </a:pPr>
            <a:r>
              <a:rPr lang="en-US" sz="2200" b="1" dirty="0">
                <a:solidFill>
                  <a:srgbClr val="707070"/>
                </a:solidFill>
                <a:latin typeface="Poppins" pitchFamily="34" charset="0"/>
                <a:ea typeface="Poppins" pitchFamily="34" charset="-122"/>
                <a:cs typeface="Poppins" pitchFamily="34" charset="-120"/>
              </a:rPr>
              <a:t>→</a:t>
            </a:r>
            <a:endParaRPr lang="en-US" sz="2200" dirty="0"/>
          </a:p>
        </p:txBody>
      </p:sp>
      <p:sp>
        <p:nvSpPr>
          <p:cNvPr id="14" name="Shape 12"/>
          <p:cNvSpPr/>
          <p:nvPr/>
        </p:nvSpPr>
        <p:spPr>
          <a:xfrm>
            <a:off x="5440680" y="1417320"/>
            <a:ext cx="3291840" cy="960120"/>
          </a:xfrm>
          <a:prstGeom prst="rect">
            <a:avLst/>
          </a:prstGeom>
          <a:solidFill>
            <a:srgbClr val="40E0D0"/>
          </a:solidFill>
          <a:ln/>
        </p:spPr>
      </p:sp>
      <p:sp>
        <p:nvSpPr>
          <p:cNvPr id="15" name="Text 13"/>
          <p:cNvSpPr txBox="1"/>
          <p:nvPr/>
        </p:nvSpPr>
        <p:spPr>
          <a:xfrm>
            <a:off x="5623560" y="1417320"/>
            <a:ext cx="2971800" cy="960120"/>
          </a:xfrm>
          <a:prstGeom prst="rect">
            <a:avLst/>
          </a:prstGeom>
          <a:noFill/>
          <a:ln/>
        </p:spPr>
        <p:txBody>
          <a:bodyPr wrap="square" lIns="0" tIns="0" rIns="0" bIns="0" rtlCol="0" anchor="ctr"/>
          <a:lstStyle/>
          <a:p>
            <a:pPr indent="0" marL="0">
              <a:lnSpc>
                <a:spcPct val="130000"/>
              </a:lnSpc>
              <a:buNone/>
            </a:pPr>
            <a:r>
              <a:rPr lang="en-US" sz="1100" dirty="0">
                <a:solidFill>
                  <a:srgbClr val="2D2D2D"/>
                </a:solidFill>
                <a:latin typeface="Microsoft YaHei" pitchFamily="34" charset="0"/>
                <a:ea typeface="Microsoft YaHei" pitchFamily="34" charset="-122"/>
                <a:cs typeface="Microsoft YaHei" pitchFamily="34" charset="-120"/>
              </a:rPr>
              <a:t>探索如何优化该城市的公共交通系统，提高居民的使用率，从而减少交通拥堵和空气污染。</a:t>
            </a:r>
            <a:endParaRPr lang="en-US" sz="1100" dirty="0"/>
          </a:p>
        </p:txBody>
      </p:sp>
      <p:sp>
        <p:nvSpPr>
          <p:cNvPr id="16" name="Shape 14"/>
          <p:cNvSpPr/>
          <p:nvPr/>
        </p:nvSpPr>
        <p:spPr>
          <a:xfrm>
            <a:off x="411480" y="2487168"/>
            <a:ext cx="4480560" cy="960120"/>
          </a:xfrm>
          <a:prstGeom prst="rect">
            <a:avLst/>
          </a:prstGeom>
          <a:solidFill>
            <a:srgbClr val="EBEBEB"/>
          </a:solidFill>
          <a:ln/>
        </p:spPr>
      </p:sp>
      <p:sp>
        <p:nvSpPr>
          <p:cNvPr id="17" name="Text 15"/>
          <p:cNvSpPr txBox="1"/>
          <p:nvPr/>
        </p:nvSpPr>
        <p:spPr>
          <a:xfrm>
            <a:off x="594360" y="2487168"/>
            <a:ext cx="4160520" cy="960120"/>
          </a:xfrm>
          <a:prstGeom prst="rect">
            <a:avLst/>
          </a:prstGeom>
          <a:noFill/>
          <a:ln/>
        </p:spPr>
        <p:txBody>
          <a:bodyPr wrap="square" lIns="0" tIns="0" rIns="0" bIns="0" rtlCol="0" anchor="ctr"/>
          <a:lstStyle/>
          <a:p>
            <a:pPr indent="0" marL="0">
              <a:lnSpc>
                <a:spcPct val="130000"/>
              </a:lnSpc>
              <a:buNone/>
            </a:pPr>
            <a:r>
              <a:rPr lang="en-US" sz="1150" dirty="0">
                <a:solidFill>
                  <a:srgbClr val="2D2D2D"/>
                </a:solidFill>
                <a:latin typeface="Microsoft YaHei" pitchFamily="34" charset="0"/>
                <a:ea typeface="Microsoft YaHei" pitchFamily="34" charset="-122"/>
                <a:cs typeface="Microsoft YaHei" pitchFamily="34" charset="-120"/>
              </a:rPr>
              <a:t>大学校园内的文化空间配置混乱，导致学生在使用这些空间时缺乏明确的流线和场所感，影响了学生的文化认同感。</a:t>
            </a:r>
            <a:endParaRPr lang="en-US" sz="1150" dirty="0"/>
          </a:p>
        </p:txBody>
      </p:sp>
      <p:sp>
        <p:nvSpPr>
          <p:cNvPr id="18" name="Text 16"/>
          <p:cNvSpPr txBox="1"/>
          <p:nvPr/>
        </p:nvSpPr>
        <p:spPr>
          <a:xfrm>
            <a:off x="4892040" y="2487168"/>
            <a:ext cx="548640" cy="960120"/>
          </a:xfrm>
          <a:prstGeom prst="rect">
            <a:avLst/>
          </a:prstGeom>
          <a:noFill/>
          <a:ln/>
        </p:spPr>
        <p:txBody>
          <a:bodyPr wrap="square" lIns="0" tIns="0" rIns="0" bIns="0" rtlCol="0" anchor="ctr"/>
          <a:lstStyle/>
          <a:p>
            <a:pPr algn="ctr" indent="0" marL="0">
              <a:buNone/>
            </a:pPr>
            <a:r>
              <a:rPr lang="en-US" sz="2200" b="1" dirty="0">
                <a:solidFill>
                  <a:srgbClr val="707070"/>
                </a:solidFill>
                <a:latin typeface="Poppins" pitchFamily="34" charset="0"/>
                <a:ea typeface="Poppins" pitchFamily="34" charset="-122"/>
                <a:cs typeface="Poppins" pitchFamily="34" charset="-120"/>
              </a:rPr>
              <a:t>→</a:t>
            </a:r>
            <a:endParaRPr lang="en-US" sz="2200" dirty="0"/>
          </a:p>
        </p:txBody>
      </p:sp>
      <p:sp>
        <p:nvSpPr>
          <p:cNvPr id="19" name="Shape 17"/>
          <p:cNvSpPr/>
          <p:nvPr/>
        </p:nvSpPr>
        <p:spPr>
          <a:xfrm>
            <a:off x="5440680" y="2487168"/>
            <a:ext cx="3291840" cy="960120"/>
          </a:xfrm>
          <a:prstGeom prst="rect">
            <a:avLst/>
          </a:prstGeom>
          <a:solidFill>
            <a:srgbClr val="FFFFFF"/>
          </a:solidFill>
          <a:ln w="19050">
            <a:solidFill>
              <a:srgbClr val="40E0D0"/>
            </a:solidFill>
            <a:prstDash val="dash"/>
          </a:ln>
        </p:spPr>
      </p:sp>
      <p:sp>
        <p:nvSpPr>
          <p:cNvPr id="20" name="Text 18"/>
          <p:cNvSpPr txBox="1"/>
          <p:nvPr/>
        </p:nvSpPr>
        <p:spPr>
          <a:xfrm>
            <a:off x="5440680" y="2487168"/>
            <a:ext cx="3291840" cy="960120"/>
          </a:xfrm>
          <a:prstGeom prst="rect">
            <a:avLst/>
          </a:prstGeom>
          <a:noFill/>
          <a:ln/>
        </p:spPr>
        <p:txBody>
          <a:bodyPr wrap="square" lIns="0" tIns="0" rIns="0" bIns="0" rtlCol="0" anchor="ctr"/>
          <a:lstStyle/>
          <a:p>
            <a:pPr algn="ctr" indent="0" marL="0">
              <a:buNone/>
            </a:pPr>
            <a:r>
              <a:rPr lang="en-US" sz="2600" b="1" dirty="0">
                <a:solidFill>
                  <a:srgbClr val="40E0D0"/>
                </a:solidFill>
                <a:latin typeface="Microsoft YaHei" pitchFamily="34" charset="0"/>
                <a:ea typeface="Microsoft YaHei" pitchFamily="34" charset="-122"/>
                <a:cs typeface="Microsoft YaHei" pitchFamily="34" charset="-120"/>
              </a:rPr>
              <a:t>？</a:t>
            </a:r>
            <a:endParaRPr lang="en-US" sz="2600" dirty="0"/>
          </a:p>
        </p:txBody>
      </p:sp>
      <p:sp>
        <p:nvSpPr>
          <p:cNvPr id="21" name="Shape 19"/>
          <p:cNvSpPr/>
          <p:nvPr/>
        </p:nvSpPr>
        <p:spPr>
          <a:xfrm>
            <a:off x="411480" y="3557016"/>
            <a:ext cx="4480560" cy="960120"/>
          </a:xfrm>
          <a:prstGeom prst="rect">
            <a:avLst/>
          </a:prstGeom>
          <a:solidFill>
            <a:srgbClr val="EBEBEB"/>
          </a:solidFill>
          <a:ln/>
        </p:spPr>
      </p:sp>
      <p:sp>
        <p:nvSpPr>
          <p:cNvPr id="22" name="Text 20"/>
          <p:cNvSpPr txBox="1"/>
          <p:nvPr/>
        </p:nvSpPr>
        <p:spPr>
          <a:xfrm>
            <a:off x="594360" y="3557016"/>
            <a:ext cx="4160520" cy="960120"/>
          </a:xfrm>
          <a:prstGeom prst="rect">
            <a:avLst/>
          </a:prstGeom>
          <a:noFill/>
          <a:ln/>
        </p:spPr>
        <p:txBody>
          <a:bodyPr wrap="square" lIns="0" tIns="0" rIns="0" bIns="0" rtlCol="0" anchor="ctr"/>
          <a:lstStyle/>
          <a:p>
            <a:pPr indent="0" marL="0">
              <a:lnSpc>
                <a:spcPct val="130000"/>
              </a:lnSpc>
              <a:buNone/>
            </a:pPr>
            <a:r>
              <a:rPr lang="en-US" sz="1150" dirty="0">
                <a:solidFill>
                  <a:srgbClr val="2D2D2D"/>
                </a:solidFill>
                <a:latin typeface="Microsoft YaHei" pitchFamily="34" charset="0"/>
                <a:ea typeface="Microsoft YaHei" pitchFamily="34" charset="-122"/>
                <a:cs typeface="Microsoft YaHei" pitchFamily="34" charset="-120"/>
              </a:rPr>
              <a:t>当前的智能家居设备在交互设计上较为复杂，老年用户操作时存在困难，影响了老年用户对智能设备的使用和依赖。</a:t>
            </a:r>
            <a:endParaRPr lang="en-US" sz="1150" dirty="0"/>
          </a:p>
        </p:txBody>
      </p:sp>
      <p:sp>
        <p:nvSpPr>
          <p:cNvPr id="23" name="Text 21"/>
          <p:cNvSpPr txBox="1"/>
          <p:nvPr/>
        </p:nvSpPr>
        <p:spPr>
          <a:xfrm>
            <a:off x="4892040" y="3557016"/>
            <a:ext cx="548640" cy="960120"/>
          </a:xfrm>
          <a:prstGeom prst="rect">
            <a:avLst/>
          </a:prstGeom>
          <a:noFill/>
          <a:ln/>
        </p:spPr>
        <p:txBody>
          <a:bodyPr wrap="square" lIns="0" tIns="0" rIns="0" bIns="0" rtlCol="0" anchor="ctr"/>
          <a:lstStyle/>
          <a:p>
            <a:pPr algn="ctr" indent="0" marL="0">
              <a:buNone/>
            </a:pPr>
            <a:r>
              <a:rPr lang="en-US" sz="2200" b="1" dirty="0">
                <a:solidFill>
                  <a:srgbClr val="707070"/>
                </a:solidFill>
                <a:latin typeface="Poppins" pitchFamily="34" charset="0"/>
                <a:ea typeface="Poppins" pitchFamily="34" charset="-122"/>
                <a:cs typeface="Poppins" pitchFamily="34" charset="-120"/>
              </a:rPr>
              <a:t>→</a:t>
            </a:r>
            <a:endParaRPr lang="en-US" sz="2200" dirty="0"/>
          </a:p>
        </p:txBody>
      </p:sp>
      <p:sp>
        <p:nvSpPr>
          <p:cNvPr id="24" name="Shape 22"/>
          <p:cNvSpPr/>
          <p:nvPr/>
        </p:nvSpPr>
        <p:spPr>
          <a:xfrm>
            <a:off x="5440680" y="3557016"/>
            <a:ext cx="3291840" cy="960120"/>
          </a:xfrm>
          <a:prstGeom prst="rect">
            <a:avLst/>
          </a:prstGeom>
          <a:solidFill>
            <a:srgbClr val="FFFFFF"/>
          </a:solidFill>
          <a:ln w="19050">
            <a:solidFill>
              <a:srgbClr val="40E0D0"/>
            </a:solidFill>
            <a:prstDash val="dash"/>
          </a:ln>
        </p:spPr>
      </p:sp>
      <p:sp>
        <p:nvSpPr>
          <p:cNvPr id="25" name="Text 23"/>
          <p:cNvSpPr txBox="1"/>
          <p:nvPr/>
        </p:nvSpPr>
        <p:spPr>
          <a:xfrm>
            <a:off x="5440680" y="3557016"/>
            <a:ext cx="3291840" cy="960120"/>
          </a:xfrm>
          <a:prstGeom prst="rect">
            <a:avLst/>
          </a:prstGeom>
          <a:noFill/>
          <a:ln/>
        </p:spPr>
        <p:txBody>
          <a:bodyPr wrap="square" lIns="0" tIns="0" rIns="0" bIns="0" rtlCol="0" anchor="ctr"/>
          <a:lstStyle/>
          <a:p>
            <a:pPr algn="ctr" indent="0" marL="0">
              <a:buNone/>
            </a:pPr>
            <a:r>
              <a:rPr lang="en-US" sz="2600" b="1" dirty="0">
                <a:solidFill>
                  <a:srgbClr val="40E0D0"/>
                </a:solidFill>
                <a:latin typeface="Microsoft YaHei" pitchFamily="34" charset="0"/>
                <a:ea typeface="Microsoft YaHei" pitchFamily="34" charset="-122"/>
                <a:cs typeface="Microsoft YaHei" pitchFamily="34" charset="-120"/>
              </a:rPr>
              <a:t>？</a:t>
            </a:r>
            <a:endParaRPr lang="en-US" sz="2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文献综述</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Literature Review</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32</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85800" y="1371600"/>
            <a:ext cx="3566160" cy="731520"/>
          </a:xfrm>
          <a:prstGeom prst="rect">
            <a:avLst/>
          </a:prstGeom>
          <a:noFill/>
          <a:ln/>
        </p:spPr>
        <p:txBody>
          <a:bodyPr wrap="square" lIns="0" tIns="0" rIns="0" bIns="0" rtlCol="0" anchor="t"/>
          <a:lstStyle/>
          <a:p>
            <a:pPr indent="0" marL="0">
              <a:buNone/>
            </a:pPr>
            <a:r>
              <a:rPr lang="en-US" sz="3000" b="1" dirty="0">
                <a:solidFill>
                  <a:srgbClr val="2D2D2D"/>
                </a:solidFill>
                <a:latin typeface="Microsoft YaHei" pitchFamily="34" charset="0"/>
                <a:ea typeface="Microsoft YaHei" pitchFamily="34" charset="-122"/>
                <a:cs typeface="Microsoft YaHei" pitchFamily="34" charset="-120"/>
              </a:rPr>
              <a:t>文献综述</a:t>
            </a:r>
            <a:endParaRPr lang="en-US" sz="3000" dirty="0"/>
          </a:p>
        </p:txBody>
      </p:sp>
      <p:sp>
        <p:nvSpPr>
          <p:cNvPr id="11" name="Text 9"/>
          <p:cNvSpPr txBox="1"/>
          <p:nvPr/>
        </p:nvSpPr>
        <p:spPr>
          <a:xfrm>
            <a:off x="685800" y="2377440"/>
            <a:ext cx="3566160" cy="822960"/>
          </a:xfrm>
          <a:prstGeom prst="rect">
            <a:avLst/>
          </a:prstGeom>
          <a:noFill/>
          <a:ln/>
        </p:spPr>
        <p:txBody>
          <a:bodyPr wrap="square" lIns="0" tIns="0" rIns="0" bIns="0" rtlCol="0" anchor="t"/>
          <a:lstStyle/>
          <a:p>
            <a:pPr indent="0" marL="0">
              <a:lnSpc>
                <a:spcPct val="140000"/>
              </a:lnSpc>
              <a:buNone/>
            </a:pPr>
            <a:r>
              <a:rPr lang="en-US" sz="1350" dirty="0">
                <a:solidFill>
                  <a:srgbClr val="2D2D2D"/>
                </a:solidFill>
                <a:latin typeface="Microsoft YaHei" pitchFamily="34" charset="0"/>
                <a:ea typeface="Microsoft YaHei" pitchFamily="34" charset="-122"/>
                <a:cs typeface="Microsoft YaHei" pitchFamily="34" charset="-120"/>
              </a:rPr>
              <a:t>“文献”通常理解为图书、期刊等各种出版物的总和，即</a:t>
            </a:r>
            <a:endParaRPr lang="en-US" sz="1350" dirty="0"/>
          </a:p>
        </p:txBody>
      </p:sp>
      <p:sp>
        <p:nvSpPr>
          <p:cNvPr id="12" name="Shape 10"/>
          <p:cNvSpPr/>
          <p:nvPr/>
        </p:nvSpPr>
        <p:spPr>
          <a:xfrm>
            <a:off x="685800" y="3611880"/>
            <a:ext cx="3566160" cy="685800"/>
          </a:xfrm>
          <a:prstGeom prst="rect">
            <a:avLst/>
          </a:prstGeom>
          <a:solidFill>
            <a:srgbClr val="FFFFFF"/>
          </a:solidFill>
          <a:ln/>
        </p:spPr>
      </p:sp>
      <p:sp>
        <p:nvSpPr>
          <p:cNvPr id="13" name="Text 11"/>
          <p:cNvSpPr txBox="1"/>
          <p:nvPr/>
        </p:nvSpPr>
        <p:spPr>
          <a:xfrm>
            <a:off x="868680" y="3611880"/>
            <a:ext cx="3291840" cy="68580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学术研究现状</a:t>
            </a:r>
            <a:endParaRPr lang="en-US" sz="1600" dirty="0"/>
          </a:p>
        </p:txBody>
      </p:sp>
      <p:sp>
        <p:nvSpPr>
          <p:cNvPr id="14" name="Shape 12"/>
          <p:cNvSpPr/>
          <p:nvPr/>
        </p:nvSpPr>
        <p:spPr>
          <a:xfrm>
            <a:off x="4626864" y="1188720"/>
            <a:ext cx="4105656" cy="3383280"/>
          </a:xfrm>
          <a:prstGeom prst="rect">
            <a:avLst/>
          </a:prstGeom>
          <a:solidFill>
            <a:srgbClr val="2D2D2D"/>
          </a:solidFill>
          <a:ln/>
        </p:spPr>
      </p:sp>
      <p:sp>
        <p:nvSpPr>
          <p:cNvPr id="15" name="Text 13"/>
          <p:cNvSpPr txBox="1"/>
          <p:nvPr/>
        </p:nvSpPr>
        <p:spPr>
          <a:xfrm>
            <a:off x="4901184" y="1371600"/>
            <a:ext cx="3566160" cy="731520"/>
          </a:xfrm>
          <a:prstGeom prst="rect">
            <a:avLst/>
          </a:prstGeom>
          <a:noFill/>
          <a:ln/>
        </p:spPr>
        <p:txBody>
          <a:bodyPr wrap="square" lIns="0" tIns="0" rIns="0" bIns="0" rtlCol="0" anchor="t"/>
          <a:lstStyle/>
          <a:p>
            <a:pPr indent="0" marL="0">
              <a:buNone/>
            </a:pPr>
            <a:r>
              <a:rPr lang="en-US" sz="3000" b="1" dirty="0">
                <a:solidFill>
                  <a:srgbClr val="FFFFFF"/>
                </a:solidFill>
                <a:latin typeface="Microsoft YaHei" pitchFamily="34" charset="0"/>
                <a:ea typeface="Microsoft YaHei" pitchFamily="34" charset="-122"/>
                <a:cs typeface="Microsoft YaHei" pitchFamily="34" charset="-120"/>
              </a:rPr>
              <a:t>研究现状</a:t>
            </a:r>
            <a:endParaRPr lang="en-US" sz="3000" dirty="0"/>
          </a:p>
        </p:txBody>
      </p:sp>
      <p:sp>
        <p:nvSpPr>
          <p:cNvPr id="16" name="Shape 14"/>
          <p:cNvSpPr/>
          <p:nvPr/>
        </p:nvSpPr>
        <p:spPr>
          <a:xfrm>
            <a:off x="4901184" y="3611880"/>
            <a:ext cx="3566160" cy="685800"/>
          </a:xfrm>
          <a:prstGeom prst="rect">
            <a:avLst/>
          </a:prstGeom>
          <a:solidFill>
            <a:srgbClr val="40E0D0"/>
          </a:solidFill>
          <a:ln/>
        </p:spPr>
      </p:sp>
      <p:sp>
        <p:nvSpPr>
          <p:cNvPr id="17" name="Text 15"/>
          <p:cNvSpPr txBox="1"/>
          <p:nvPr/>
        </p:nvSpPr>
        <p:spPr>
          <a:xfrm>
            <a:off x="5084064" y="3611880"/>
            <a:ext cx="3291840" cy="68580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学术研究现状 + 市场研究现状</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文献综述的作用</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Why a Literature Review</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33</a:t>
            </a:r>
            <a:endParaRPr lang="en-US" sz="800" dirty="0"/>
          </a:p>
        </p:txBody>
      </p:sp>
      <p:sp>
        <p:nvSpPr>
          <p:cNvPr id="9" name="Shape 7"/>
          <p:cNvSpPr/>
          <p:nvPr/>
        </p:nvSpPr>
        <p:spPr>
          <a:xfrm>
            <a:off x="411480" y="1188720"/>
            <a:ext cx="1997964" cy="3383280"/>
          </a:xfrm>
          <a:prstGeom prst="rect">
            <a:avLst/>
          </a:prstGeom>
          <a:solidFill>
            <a:srgbClr val="40E0D0"/>
          </a:solidFill>
          <a:ln/>
        </p:spPr>
      </p:sp>
      <p:sp>
        <p:nvSpPr>
          <p:cNvPr id="10" name="Text 8"/>
          <p:cNvSpPr txBox="1"/>
          <p:nvPr/>
        </p:nvSpPr>
        <p:spPr>
          <a:xfrm>
            <a:off x="594360" y="1325880"/>
            <a:ext cx="914400" cy="64008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01</a:t>
            </a:r>
            <a:endParaRPr lang="en-US" sz="2800" dirty="0"/>
          </a:p>
        </p:txBody>
      </p:sp>
      <p:sp>
        <p:nvSpPr>
          <p:cNvPr id="11" name="Text 9"/>
          <p:cNvSpPr txBox="1"/>
          <p:nvPr/>
        </p:nvSpPr>
        <p:spPr>
          <a:xfrm>
            <a:off x="594360" y="2377440"/>
            <a:ext cx="1677924" cy="2011680"/>
          </a:xfrm>
          <a:prstGeom prst="rect">
            <a:avLst/>
          </a:prstGeom>
          <a:noFill/>
          <a:ln/>
        </p:spPr>
        <p:txBody>
          <a:bodyPr wrap="square" lIns="0" tIns="0" rIns="0" bIns="0" rtlCol="0" anchor="t"/>
          <a:lstStyle/>
          <a:p>
            <a:pPr indent="0" marL="0">
              <a:lnSpc>
                <a:spcPct val="140000"/>
              </a:lnSpc>
              <a:buNone/>
            </a:pPr>
            <a:r>
              <a:rPr lang="en-US" sz="1400" b="1" dirty="0">
                <a:solidFill>
                  <a:srgbClr val="2D2D2D"/>
                </a:solidFill>
                <a:latin typeface="Microsoft YaHei" pitchFamily="34" charset="0"/>
                <a:ea typeface="Microsoft YaHei" pitchFamily="34" charset="-122"/>
                <a:cs typeface="Microsoft YaHei" pitchFamily="34" charset="-120"/>
              </a:rPr>
              <a:t>避免无根据及重复性的研究</a:t>
            </a:r>
            <a:endParaRPr lang="en-US" sz="1400" dirty="0"/>
          </a:p>
        </p:txBody>
      </p:sp>
      <p:sp>
        <p:nvSpPr>
          <p:cNvPr id="12" name="Shape 10"/>
          <p:cNvSpPr/>
          <p:nvPr/>
        </p:nvSpPr>
        <p:spPr>
          <a:xfrm>
            <a:off x="2519172" y="1188720"/>
            <a:ext cx="1997964" cy="3383280"/>
          </a:xfrm>
          <a:prstGeom prst="rect">
            <a:avLst/>
          </a:prstGeom>
          <a:solidFill>
            <a:srgbClr val="EBEBEB"/>
          </a:solidFill>
          <a:ln/>
        </p:spPr>
      </p:sp>
      <p:sp>
        <p:nvSpPr>
          <p:cNvPr id="13" name="Text 11"/>
          <p:cNvSpPr txBox="1"/>
          <p:nvPr/>
        </p:nvSpPr>
        <p:spPr>
          <a:xfrm>
            <a:off x="2702052" y="1325880"/>
            <a:ext cx="914400" cy="64008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02</a:t>
            </a:r>
            <a:endParaRPr lang="en-US" sz="2800" dirty="0"/>
          </a:p>
        </p:txBody>
      </p:sp>
      <p:sp>
        <p:nvSpPr>
          <p:cNvPr id="14" name="Text 12"/>
          <p:cNvSpPr txBox="1"/>
          <p:nvPr/>
        </p:nvSpPr>
        <p:spPr>
          <a:xfrm>
            <a:off x="2702052" y="2377440"/>
            <a:ext cx="1677924" cy="2011680"/>
          </a:xfrm>
          <a:prstGeom prst="rect">
            <a:avLst/>
          </a:prstGeom>
          <a:noFill/>
          <a:ln/>
        </p:spPr>
        <p:txBody>
          <a:bodyPr wrap="square" lIns="0" tIns="0" rIns="0" bIns="0" rtlCol="0" anchor="t"/>
          <a:lstStyle/>
          <a:p>
            <a:pPr indent="0" marL="0">
              <a:lnSpc>
                <a:spcPct val="140000"/>
              </a:lnSpc>
              <a:buNone/>
            </a:pPr>
            <a:r>
              <a:rPr lang="en-US" sz="1400" b="1" dirty="0">
                <a:solidFill>
                  <a:srgbClr val="2D2D2D"/>
                </a:solidFill>
                <a:latin typeface="Microsoft YaHei" pitchFamily="34" charset="0"/>
                <a:ea typeface="Microsoft YaHei" pitchFamily="34" charset="-122"/>
                <a:cs typeface="Microsoft YaHei" pitchFamily="34" charset="-120"/>
              </a:rPr>
              <a:t>以确定相关或并行的研究状况，对相关研究领域及知识进行全面理解</a:t>
            </a:r>
            <a:endParaRPr lang="en-US" sz="1400" dirty="0"/>
          </a:p>
        </p:txBody>
      </p:sp>
      <p:sp>
        <p:nvSpPr>
          <p:cNvPr id="15" name="Shape 13"/>
          <p:cNvSpPr/>
          <p:nvPr/>
        </p:nvSpPr>
        <p:spPr>
          <a:xfrm>
            <a:off x="4626864" y="1188720"/>
            <a:ext cx="1997964" cy="3383280"/>
          </a:xfrm>
          <a:prstGeom prst="rect">
            <a:avLst/>
          </a:prstGeom>
          <a:solidFill>
            <a:srgbClr val="2D2D2D"/>
          </a:solidFill>
          <a:ln/>
        </p:spPr>
      </p:sp>
      <p:sp>
        <p:nvSpPr>
          <p:cNvPr id="16" name="Text 14"/>
          <p:cNvSpPr txBox="1"/>
          <p:nvPr/>
        </p:nvSpPr>
        <p:spPr>
          <a:xfrm>
            <a:off x="4809744" y="1325880"/>
            <a:ext cx="914400" cy="640080"/>
          </a:xfrm>
          <a:prstGeom prst="rect">
            <a:avLst/>
          </a:prstGeom>
          <a:noFill/>
          <a:ln/>
        </p:spPr>
        <p:txBody>
          <a:bodyPr wrap="square" lIns="0" tIns="0" rIns="0" bIns="0" rtlCol="0" anchor="t"/>
          <a:lstStyle/>
          <a:p>
            <a:pPr indent="0" marL="0">
              <a:buNone/>
            </a:pPr>
            <a:r>
              <a:rPr lang="en-US" sz="2800" b="1" dirty="0">
                <a:solidFill>
                  <a:srgbClr val="40E0D0"/>
                </a:solidFill>
                <a:latin typeface="Poppins" pitchFamily="34" charset="0"/>
                <a:ea typeface="Poppins" pitchFamily="34" charset="-122"/>
                <a:cs typeface="Poppins" pitchFamily="34" charset="-120"/>
              </a:rPr>
              <a:t>03</a:t>
            </a:r>
            <a:endParaRPr lang="en-US" sz="2800" dirty="0"/>
          </a:p>
        </p:txBody>
      </p:sp>
      <p:sp>
        <p:nvSpPr>
          <p:cNvPr id="17" name="Text 15"/>
          <p:cNvSpPr txBox="1"/>
          <p:nvPr/>
        </p:nvSpPr>
        <p:spPr>
          <a:xfrm>
            <a:off x="4809744" y="2377440"/>
            <a:ext cx="1677924" cy="2011680"/>
          </a:xfrm>
          <a:prstGeom prst="rect">
            <a:avLst/>
          </a:prstGeom>
          <a:noFill/>
          <a:ln/>
        </p:spPr>
        <p:txBody>
          <a:bodyPr wrap="square" lIns="0" tIns="0" rIns="0" bIns="0" rtlCol="0" anchor="t"/>
          <a:lstStyle/>
          <a:p>
            <a:pPr indent="0" marL="0">
              <a:lnSpc>
                <a:spcPct val="140000"/>
              </a:lnSpc>
              <a:buNone/>
            </a:pPr>
            <a:r>
              <a:rPr lang="en-US" sz="1400" b="1" dirty="0">
                <a:solidFill>
                  <a:srgbClr val="FFFFFF"/>
                </a:solidFill>
                <a:latin typeface="Microsoft YaHei" pitchFamily="34" charset="0"/>
                <a:ea typeface="Microsoft YaHei" pitchFamily="34" charset="-122"/>
                <a:cs typeface="Microsoft YaHei" pitchFamily="34" charset="-120"/>
              </a:rPr>
              <a:t>挖掘尚未解决的研究问题或尚未涉及的研究空白【Research Gap（研究缺陷）】</a:t>
            </a:r>
            <a:endParaRPr lang="en-US" sz="1400" dirty="0"/>
          </a:p>
        </p:txBody>
      </p:sp>
      <p:sp>
        <p:nvSpPr>
          <p:cNvPr id="18" name="Shape 16"/>
          <p:cNvSpPr/>
          <p:nvPr/>
        </p:nvSpPr>
        <p:spPr>
          <a:xfrm>
            <a:off x="6734556" y="1188720"/>
            <a:ext cx="1997964" cy="3383280"/>
          </a:xfrm>
          <a:prstGeom prst="rect">
            <a:avLst/>
          </a:prstGeom>
          <a:solidFill>
            <a:srgbClr val="E2E2E2"/>
          </a:solidFill>
          <a:ln/>
        </p:spPr>
      </p:sp>
      <p:sp>
        <p:nvSpPr>
          <p:cNvPr id="19" name="Text 17"/>
          <p:cNvSpPr txBox="1"/>
          <p:nvPr/>
        </p:nvSpPr>
        <p:spPr>
          <a:xfrm>
            <a:off x="6917436" y="1325880"/>
            <a:ext cx="914400" cy="64008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04</a:t>
            </a:r>
            <a:endParaRPr lang="en-US" sz="2800" dirty="0"/>
          </a:p>
        </p:txBody>
      </p:sp>
      <p:sp>
        <p:nvSpPr>
          <p:cNvPr id="20" name="Text 18"/>
          <p:cNvSpPr txBox="1"/>
          <p:nvPr/>
        </p:nvSpPr>
        <p:spPr>
          <a:xfrm>
            <a:off x="6917436" y="2377440"/>
            <a:ext cx="1677924" cy="2011680"/>
          </a:xfrm>
          <a:prstGeom prst="rect">
            <a:avLst/>
          </a:prstGeom>
          <a:noFill/>
          <a:ln/>
        </p:spPr>
        <p:txBody>
          <a:bodyPr wrap="square" lIns="0" tIns="0" rIns="0" bIns="0" rtlCol="0" anchor="t"/>
          <a:lstStyle/>
          <a:p>
            <a:pPr indent="0" marL="0">
              <a:lnSpc>
                <a:spcPct val="140000"/>
              </a:lnSpc>
              <a:buNone/>
            </a:pPr>
            <a:r>
              <a:rPr lang="en-US" sz="1400" b="1" dirty="0">
                <a:solidFill>
                  <a:srgbClr val="2D2D2D"/>
                </a:solidFill>
                <a:latin typeface="Microsoft YaHei" pitchFamily="34" charset="0"/>
                <a:ea typeface="Microsoft YaHei" pitchFamily="34" charset="-122"/>
                <a:cs typeface="Microsoft YaHei" pitchFamily="34" charset="-120"/>
              </a:rPr>
              <a:t>揭示问题的概念背景或为研究的假设提供基础</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论文阅读与翻译</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Reading &amp; Translation Tools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34</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640080" y="1371600"/>
            <a:ext cx="2103120" cy="1188720"/>
          </a:xfrm>
          <a:prstGeom prst="rect">
            <a:avLst/>
          </a:prstGeom>
          <a:noFill/>
          <a:ln/>
        </p:spPr>
        <p:txBody>
          <a:bodyPr wrap="square" lIns="0" tIns="0" rIns="0" bIns="0" rtlCol="0" anchor="t"/>
          <a:lstStyle/>
          <a:p>
            <a:pPr indent="0" marL="0">
              <a:buNone/>
            </a:pPr>
            <a:r>
              <a:rPr lang="en-US" sz="2600" b="1" dirty="0">
                <a:solidFill>
                  <a:srgbClr val="2D2D2D"/>
                </a:solidFill>
                <a:latin typeface="Microsoft YaHei" pitchFamily="34" charset="0"/>
                <a:ea typeface="Microsoft YaHei" pitchFamily="34" charset="-122"/>
                <a:cs typeface="Microsoft YaHei" pitchFamily="34" charset="-120"/>
              </a:rPr>
              <a:t>论文阅读</a:t>
            </a:r>
            <a:endParaRPr lang="en-US" sz="2600" dirty="0"/>
          </a:p>
          <a:p>
            <a:pPr indent="0" marL="0">
              <a:buNone/>
            </a:pPr>
            <a:r>
              <a:rPr lang="en-US" sz="2600" b="1" dirty="0">
                <a:solidFill>
                  <a:srgbClr val="2D2D2D"/>
                </a:solidFill>
                <a:latin typeface="Microsoft YaHei" pitchFamily="34" charset="0"/>
                <a:ea typeface="Microsoft YaHei" pitchFamily="34" charset="-122"/>
                <a:cs typeface="Microsoft YaHei" pitchFamily="34" charset="-120"/>
              </a:rPr>
              <a:t>与翻译</a:t>
            </a:r>
            <a:endParaRPr lang="en-US" sz="2600" dirty="0"/>
          </a:p>
        </p:txBody>
      </p:sp>
      <p:sp>
        <p:nvSpPr>
          <p:cNvPr id="11" name="Text 9"/>
          <p:cNvSpPr txBox="1"/>
          <p:nvPr/>
        </p:nvSpPr>
        <p:spPr>
          <a:xfrm>
            <a:off x="640080" y="3931920"/>
            <a:ext cx="2103120" cy="457200"/>
          </a:xfrm>
          <a:prstGeom prst="rect">
            <a:avLst/>
          </a:prstGeom>
          <a:noFill/>
          <a:ln/>
        </p:spPr>
        <p:txBody>
          <a:bodyPr wrap="square" lIns="0" tIns="0" rIns="0" bIns="0" rtlCol="0" anchor="b"/>
          <a:lstStyle/>
          <a:p>
            <a:pPr indent="0" marL="0">
              <a:buNone/>
            </a:pPr>
            <a:r>
              <a:rPr lang="en-US" sz="1100" dirty="0">
                <a:solidFill>
                  <a:srgbClr val="2D2D2D"/>
                </a:solidFill>
                <a:latin typeface="Poppins" pitchFamily="34" charset="0"/>
                <a:ea typeface="Poppins" pitchFamily="34" charset="-122"/>
                <a:cs typeface="Poppins" pitchFamily="34" charset="-120"/>
              </a:rPr>
              <a:t>Reading &amp; Translation</a:t>
            </a:r>
            <a:endParaRPr lang="en-US" sz="1100" dirty="0"/>
          </a:p>
        </p:txBody>
      </p:sp>
      <p:sp>
        <p:nvSpPr>
          <p:cNvPr id="12" name="Shape 10"/>
          <p:cNvSpPr/>
          <p:nvPr/>
        </p:nvSpPr>
        <p:spPr>
          <a:xfrm>
            <a:off x="3035808" y="1188720"/>
            <a:ext cx="1825752" cy="1636776"/>
          </a:xfrm>
          <a:prstGeom prst="rect">
            <a:avLst/>
          </a:prstGeom>
          <a:solidFill>
            <a:srgbClr val="FFFFFF"/>
          </a:solidFill>
          <a:ln w="9525">
            <a:solidFill>
              <a:srgbClr val="CDCDCD"/>
            </a:solidFill>
            <a:prstDash val="solid"/>
          </a:ln>
        </p:spPr>
      </p:sp>
      <p:pic>
        <p:nvPicPr>
          <p:cNvPr id="13" name="Image 0" descr="s33_1">    </p:cNvPr>
          <p:cNvPicPr>
            <a:picLocks noChangeAspect="1"/>
          </p:cNvPicPr>
          <p:nvPr/>
        </p:nvPicPr>
        <p:blipFill>
          <a:blip r:embed="rId1"/>
          <a:stretch>
            <a:fillRect/>
          </a:stretch>
        </p:blipFill>
        <p:spPr>
          <a:xfrm>
            <a:off x="3503290" y="1353312"/>
            <a:ext cx="890788" cy="950976"/>
          </a:xfrm>
          <a:prstGeom prst="rect">
            <a:avLst/>
          </a:prstGeom>
        </p:spPr>
      </p:pic>
      <p:sp>
        <p:nvSpPr>
          <p:cNvPr id="14" name="Text 11"/>
          <p:cNvSpPr txBox="1"/>
          <p:nvPr/>
        </p:nvSpPr>
        <p:spPr>
          <a:xfrm>
            <a:off x="3035808" y="2368296"/>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知云文献翻译器</a:t>
            </a:r>
            <a:endParaRPr lang="en-US" sz="1250" dirty="0"/>
          </a:p>
        </p:txBody>
      </p:sp>
      <p:sp>
        <p:nvSpPr>
          <p:cNvPr id="15" name="Shape 12"/>
          <p:cNvSpPr/>
          <p:nvPr/>
        </p:nvSpPr>
        <p:spPr>
          <a:xfrm>
            <a:off x="4971288" y="1188720"/>
            <a:ext cx="1825752" cy="1636776"/>
          </a:xfrm>
          <a:prstGeom prst="rect">
            <a:avLst/>
          </a:prstGeom>
          <a:solidFill>
            <a:srgbClr val="FFFFFF"/>
          </a:solidFill>
          <a:ln w="9525">
            <a:solidFill>
              <a:srgbClr val="CDCDCD"/>
            </a:solidFill>
            <a:prstDash val="solid"/>
          </a:ln>
        </p:spPr>
      </p:sp>
      <p:pic>
        <p:nvPicPr>
          <p:cNvPr id="16" name="Image 1" descr="s33_3">    </p:cNvPr>
          <p:cNvPicPr>
            <a:picLocks noChangeAspect="1"/>
          </p:cNvPicPr>
          <p:nvPr/>
        </p:nvPicPr>
        <p:blipFill>
          <a:blip r:embed="rId2"/>
          <a:stretch>
            <a:fillRect/>
          </a:stretch>
        </p:blipFill>
        <p:spPr>
          <a:xfrm>
            <a:off x="5483582" y="1353312"/>
            <a:ext cx="801165" cy="950976"/>
          </a:xfrm>
          <a:prstGeom prst="rect">
            <a:avLst/>
          </a:prstGeom>
        </p:spPr>
      </p:pic>
      <p:sp>
        <p:nvSpPr>
          <p:cNvPr id="17" name="Text 13"/>
          <p:cNvSpPr txBox="1"/>
          <p:nvPr/>
        </p:nvSpPr>
        <p:spPr>
          <a:xfrm>
            <a:off x="4971288" y="2368296"/>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Poppins" pitchFamily="34" charset="0"/>
                <a:ea typeface="Poppins" pitchFamily="34" charset="-122"/>
                <a:cs typeface="Poppins" pitchFamily="34" charset="-120"/>
              </a:rPr>
              <a:t>Deepl</a:t>
            </a:r>
            <a:endParaRPr lang="en-US" sz="1250" dirty="0"/>
          </a:p>
        </p:txBody>
      </p:sp>
      <p:sp>
        <p:nvSpPr>
          <p:cNvPr id="18" name="Shape 14"/>
          <p:cNvSpPr/>
          <p:nvPr/>
        </p:nvSpPr>
        <p:spPr>
          <a:xfrm>
            <a:off x="6906768" y="1188720"/>
            <a:ext cx="1825752" cy="1636776"/>
          </a:xfrm>
          <a:prstGeom prst="rect">
            <a:avLst/>
          </a:prstGeom>
          <a:solidFill>
            <a:srgbClr val="FFFFFF"/>
          </a:solidFill>
          <a:ln w="9525">
            <a:solidFill>
              <a:srgbClr val="CDCDCD"/>
            </a:solidFill>
            <a:prstDash val="solid"/>
          </a:ln>
        </p:spPr>
      </p:sp>
      <p:pic>
        <p:nvPicPr>
          <p:cNvPr id="19" name="Image 2" descr="s33_2">    </p:cNvPr>
          <p:cNvPicPr>
            <a:picLocks noChangeAspect="1"/>
          </p:cNvPicPr>
          <p:nvPr/>
        </p:nvPicPr>
        <p:blipFill>
          <a:blip r:embed="rId3"/>
          <a:stretch>
            <a:fillRect/>
          </a:stretch>
        </p:blipFill>
        <p:spPr>
          <a:xfrm>
            <a:off x="7384257" y="1353312"/>
            <a:ext cx="870773" cy="950976"/>
          </a:xfrm>
          <a:prstGeom prst="rect">
            <a:avLst/>
          </a:prstGeom>
        </p:spPr>
      </p:pic>
      <p:sp>
        <p:nvSpPr>
          <p:cNvPr id="20" name="Text 15"/>
          <p:cNvSpPr txBox="1"/>
          <p:nvPr/>
        </p:nvSpPr>
        <p:spPr>
          <a:xfrm>
            <a:off x="6906768" y="2368296"/>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Poppins" pitchFamily="34" charset="0"/>
                <a:ea typeface="Poppins" pitchFamily="34" charset="-122"/>
                <a:cs typeface="Poppins" pitchFamily="34" charset="-120"/>
              </a:rPr>
              <a:t>Xtranslator</a:t>
            </a:r>
            <a:endParaRPr lang="en-US" sz="1250" dirty="0"/>
          </a:p>
        </p:txBody>
      </p:sp>
      <p:sp>
        <p:nvSpPr>
          <p:cNvPr id="21" name="Shape 16"/>
          <p:cNvSpPr/>
          <p:nvPr/>
        </p:nvSpPr>
        <p:spPr>
          <a:xfrm>
            <a:off x="3035808" y="2935224"/>
            <a:ext cx="1825752" cy="1636776"/>
          </a:xfrm>
          <a:prstGeom prst="rect">
            <a:avLst/>
          </a:prstGeom>
          <a:solidFill>
            <a:srgbClr val="FFFFFF"/>
          </a:solidFill>
          <a:ln w="9525">
            <a:solidFill>
              <a:srgbClr val="CDCDCD"/>
            </a:solidFill>
            <a:prstDash val="solid"/>
          </a:ln>
        </p:spPr>
      </p:sp>
      <p:pic>
        <p:nvPicPr>
          <p:cNvPr id="22" name="Image 3" descr="s33_4">    </p:cNvPr>
          <p:cNvPicPr>
            <a:picLocks noChangeAspect="1"/>
          </p:cNvPicPr>
          <p:nvPr/>
        </p:nvPicPr>
        <p:blipFill>
          <a:blip r:embed="rId4"/>
          <a:stretch>
            <a:fillRect/>
          </a:stretch>
        </p:blipFill>
        <p:spPr>
          <a:xfrm>
            <a:off x="3528980" y="3099816"/>
            <a:ext cx="839409" cy="950976"/>
          </a:xfrm>
          <a:prstGeom prst="rect">
            <a:avLst/>
          </a:prstGeom>
        </p:spPr>
      </p:pic>
      <p:sp>
        <p:nvSpPr>
          <p:cNvPr id="23" name="Text 17"/>
          <p:cNvSpPr txBox="1"/>
          <p:nvPr/>
        </p:nvSpPr>
        <p:spPr>
          <a:xfrm>
            <a:off x="3035808" y="4114800"/>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彩云小译</a:t>
            </a:r>
            <a:endParaRPr lang="en-US" sz="1250" dirty="0"/>
          </a:p>
        </p:txBody>
      </p:sp>
      <p:sp>
        <p:nvSpPr>
          <p:cNvPr id="24" name="Shape 18"/>
          <p:cNvSpPr/>
          <p:nvPr/>
        </p:nvSpPr>
        <p:spPr>
          <a:xfrm>
            <a:off x="4971288" y="2935224"/>
            <a:ext cx="1825752" cy="1636776"/>
          </a:xfrm>
          <a:prstGeom prst="rect">
            <a:avLst/>
          </a:prstGeom>
          <a:solidFill>
            <a:srgbClr val="FFFFFF"/>
          </a:solidFill>
          <a:ln w="9525">
            <a:solidFill>
              <a:srgbClr val="CDCDCD"/>
            </a:solidFill>
            <a:prstDash val="solid"/>
          </a:ln>
        </p:spPr>
      </p:sp>
      <p:pic>
        <p:nvPicPr>
          <p:cNvPr id="25" name="Image 4" descr="s33_0">    </p:cNvPr>
          <p:cNvPicPr>
            <a:picLocks noChangeAspect="1"/>
          </p:cNvPicPr>
          <p:nvPr/>
        </p:nvPicPr>
        <p:blipFill>
          <a:blip r:embed="rId5"/>
          <a:stretch>
            <a:fillRect/>
          </a:stretch>
        </p:blipFill>
        <p:spPr>
          <a:xfrm>
            <a:off x="5408676" y="3104100"/>
            <a:ext cx="950976" cy="942409"/>
          </a:xfrm>
          <a:prstGeom prst="rect">
            <a:avLst/>
          </a:prstGeom>
        </p:spPr>
      </p:pic>
      <p:sp>
        <p:nvSpPr>
          <p:cNvPr id="26" name="Text 19"/>
          <p:cNvSpPr txBox="1"/>
          <p:nvPr/>
        </p:nvSpPr>
        <p:spPr>
          <a:xfrm>
            <a:off x="4971288" y="4114800"/>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Poppins" pitchFamily="34" charset="0"/>
                <a:ea typeface="Poppins" pitchFamily="34" charset="-122"/>
                <a:cs typeface="Poppins" pitchFamily="34" charset="-120"/>
              </a:rPr>
              <a:t>MarginNote</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论文整理与分类</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Reference Management</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35</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640080" y="1371600"/>
            <a:ext cx="2103120" cy="1188720"/>
          </a:xfrm>
          <a:prstGeom prst="rect">
            <a:avLst/>
          </a:prstGeom>
          <a:noFill/>
          <a:ln/>
        </p:spPr>
        <p:txBody>
          <a:bodyPr wrap="square" lIns="0" tIns="0" rIns="0" bIns="0" rtlCol="0" anchor="t"/>
          <a:lstStyle/>
          <a:p>
            <a:pPr indent="0" marL="0">
              <a:buNone/>
            </a:pPr>
            <a:r>
              <a:rPr lang="en-US" sz="2600" b="1" dirty="0">
                <a:solidFill>
                  <a:srgbClr val="FFFFFF"/>
                </a:solidFill>
                <a:latin typeface="Microsoft YaHei" pitchFamily="34" charset="0"/>
                <a:ea typeface="Microsoft YaHei" pitchFamily="34" charset="-122"/>
                <a:cs typeface="Microsoft YaHei" pitchFamily="34" charset="-120"/>
              </a:rPr>
              <a:t>论文整理</a:t>
            </a:r>
            <a:endParaRPr lang="en-US" sz="2600" dirty="0"/>
          </a:p>
          <a:p>
            <a:pPr indent="0" marL="0">
              <a:buNone/>
            </a:pPr>
            <a:r>
              <a:rPr lang="en-US" sz="2600" b="1" dirty="0">
                <a:solidFill>
                  <a:srgbClr val="FFFFFF"/>
                </a:solidFill>
                <a:latin typeface="Microsoft YaHei" pitchFamily="34" charset="0"/>
                <a:ea typeface="Microsoft YaHei" pitchFamily="34" charset="-122"/>
                <a:cs typeface="Microsoft YaHei" pitchFamily="34" charset="-120"/>
              </a:rPr>
              <a:t>与分类</a:t>
            </a:r>
            <a:endParaRPr lang="en-US" sz="2600" dirty="0"/>
          </a:p>
        </p:txBody>
      </p:sp>
      <p:sp>
        <p:nvSpPr>
          <p:cNvPr id="11" name="Text 9"/>
          <p:cNvSpPr txBox="1"/>
          <p:nvPr/>
        </p:nvSpPr>
        <p:spPr>
          <a:xfrm>
            <a:off x="640080" y="3931920"/>
            <a:ext cx="2103120" cy="457200"/>
          </a:xfrm>
          <a:prstGeom prst="rect">
            <a:avLst/>
          </a:prstGeom>
          <a:noFill/>
          <a:ln/>
        </p:spPr>
        <p:txBody>
          <a:bodyPr wrap="square" lIns="0" tIns="0" rIns="0" bIns="0" rtlCol="0" anchor="b"/>
          <a:lstStyle/>
          <a:p>
            <a:pPr indent="0" marL="0">
              <a:buNone/>
            </a:pPr>
            <a:r>
              <a:rPr lang="en-US" sz="1100" dirty="0">
                <a:solidFill>
                  <a:srgbClr val="40E0D0"/>
                </a:solidFill>
                <a:latin typeface="Poppins" pitchFamily="34" charset="0"/>
                <a:ea typeface="Poppins" pitchFamily="34" charset="-122"/>
                <a:cs typeface="Poppins" pitchFamily="34" charset="-120"/>
              </a:rPr>
              <a:t>Reference Management</a:t>
            </a:r>
            <a:endParaRPr lang="en-US" sz="1100" dirty="0"/>
          </a:p>
        </p:txBody>
      </p:sp>
      <p:sp>
        <p:nvSpPr>
          <p:cNvPr id="12" name="Shape 10"/>
          <p:cNvSpPr/>
          <p:nvPr/>
        </p:nvSpPr>
        <p:spPr>
          <a:xfrm>
            <a:off x="3035808" y="1188720"/>
            <a:ext cx="1825752" cy="1636776"/>
          </a:xfrm>
          <a:prstGeom prst="rect">
            <a:avLst/>
          </a:prstGeom>
          <a:solidFill>
            <a:srgbClr val="FFFFFF"/>
          </a:solidFill>
          <a:ln w="9525">
            <a:solidFill>
              <a:srgbClr val="CDCDCD"/>
            </a:solidFill>
            <a:prstDash val="solid"/>
          </a:ln>
        </p:spPr>
      </p:sp>
      <p:pic>
        <p:nvPicPr>
          <p:cNvPr id="13" name="Image 0" descr="s34_3">    </p:cNvPr>
          <p:cNvPicPr>
            <a:picLocks noChangeAspect="1"/>
          </p:cNvPicPr>
          <p:nvPr/>
        </p:nvPicPr>
        <p:blipFill>
          <a:blip r:embed="rId1"/>
          <a:stretch>
            <a:fillRect/>
          </a:stretch>
        </p:blipFill>
        <p:spPr>
          <a:xfrm>
            <a:off x="3473196" y="1387845"/>
            <a:ext cx="950976" cy="881911"/>
          </a:xfrm>
          <a:prstGeom prst="rect">
            <a:avLst/>
          </a:prstGeom>
        </p:spPr>
      </p:pic>
      <p:sp>
        <p:nvSpPr>
          <p:cNvPr id="14" name="Text 11"/>
          <p:cNvSpPr txBox="1"/>
          <p:nvPr/>
        </p:nvSpPr>
        <p:spPr>
          <a:xfrm>
            <a:off x="3035808" y="2368296"/>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Poppins" pitchFamily="34" charset="0"/>
                <a:ea typeface="Poppins" pitchFamily="34" charset="-122"/>
                <a:cs typeface="Poppins" pitchFamily="34" charset="-120"/>
              </a:rPr>
              <a:t>Endnote</a:t>
            </a:r>
            <a:endParaRPr lang="en-US" sz="1250" dirty="0"/>
          </a:p>
        </p:txBody>
      </p:sp>
      <p:sp>
        <p:nvSpPr>
          <p:cNvPr id="15" name="Shape 12"/>
          <p:cNvSpPr/>
          <p:nvPr/>
        </p:nvSpPr>
        <p:spPr>
          <a:xfrm>
            <a:off x="4971288" y="1188720"/>
            <a:ext cx="1825752" cy="1636776"/>
          </a:xfrm>
          <a:prstGeom prst="rect">
            <a:avLst/>
          </a:prstGeom>
          <a:solidFill>
            <a:srgbClr val="FFFFFF"/>
          </a:solidFill>
          <a:ln w="9525">
            <a:solidFill>
              <a:srgbClr val="CDCDCD"/>
            </a:solidFill>
            <a:prstDash val="solid"/>
          </a:ln>
        </p:spPr>
      </p:sp>
      <p:pic>
        <p:nvPicPr>
          <p:cNvPr id="16" name="Image 1" descr="s34_1">    </p:cNvPr>
          <p:cNvPicPr>
            <a:picLocks noChangeAspect="1"/>
          </p:cNvPicPr>
          <p:nvPr/>
        </p:nvPicPr>
        <p:blipFill>
          <a:blip r:embed="rId2"/>
          <a:stretch>
            <a:fillRect/>
          </a:stretch>
        </p:blipFill>
        <p:spPr>
          <a:xfrm>
            <a:off x="5408676" y="1353312"/>
            <a:ext cx="950976" cy="950976"/>
          </a:xfrm>
          <a:prstGeom prst="rect">
            <a:avLst/>
          </a:prstGeom>
        </p:spPr>
      </p:pic>
      <p:sp>
        <p:nvSpPr>
          <p:cNvPr id="17" name="Text 13"/>
          <p:cNvSpPr txBox="1"/>
          <p:nvPr/>
        </p:nvSpPr>
        <p:spPr>
          <a:xfrm>
            <a:off x="4971288" y="2368296"/>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Poppins" pitchFamily="34" charset="0"/>
                <a:ea typeface="Poppins" pitchFamily="34" charset="-122"/>
                <a:cs typeface="Poppins" pitchFamily="34" charset="-120"/>
              </a:rPr>
              <a:t>Mendeley</a:t>
            </a:r>
            <a:endParaRPr lang="en-US" sz="1250" dirty="0"/>
          </a:p>
        </p:txBody>
      </p:sp>
      <p:sp>
        <p:nvSpPr>
          <p:cNvPr id="18" name="Shape 14"/>
          <p:cNvSpPr/>
          <p:nvPr/>
        </p:nvSpPr>
        <p:spPr>
          <a:xfrm>
            <a:off x="6906768" y="1188720"/>
            <a:ext cx="1825752" cy="1636776"/>
          </a:xfrm>
          <a:prstGeom prst="rect">
            <a:avLst/>
          </a:prstGeom>
          <a:solidFill>
            <a:srgbClr val="FFFFFF"/>
          </a:solidFill>
          <a:ln w="9525">
            <a:solidFill>
              <a:srgbClr val="CDCDCD"/>
            </a:solidFill>
            <a:prstDash val="solid"/>
          </a:ln>
        </p:spPr>
      </p:sp>
      <p:pic>
        <p:nvPicPr>
          <p:cNvPr id="19" name="Image 2" descr="s34_2">    </p:cNvPr>
          <p:cNvPicPr>
            <a:picLocks noChangeAspect="1"/>
          </p:cNvPicPr>
          <p:nvPr/>
        </p:nvPicPr>
        <p:blipFill>
          <a:blip r:embed="rId3"/>
          <a:stretch>
            <a:fillRect/>
          </a:stretch>
        </p:blipFill>
        <p:spPr>
          <a:xfrm>
            <a:off x="7344156" y="1358131"/>
            <a:ext cx="950976" cy="941338"/>
          </a:xfrm>
          <a:prstGeom prst="rect">
            <a:avLst/>
          </a:prstGeom>
        </p:spPr>
      </p:pic>
      <p:sp>
        <p:nvSpPr>
          <p:cNvPr id="20" name="Text 15"/>
          <p:cNvSpPr txBox="1"/>
          <p:nvPr/>
        </p:nvSpPr>
        <p:spPr>
          <a:xfrm>
            <a:off x="6906768" y="2368296"/>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Poppins" pitchFamily="34" charset="0"/>
                <a:ea typeface="Poppins" pitchFamily="34" charset="-122"/>
                <a:cs typeface="Poppins" pitchFamily="34" charset="-120"/>
              </a:rPr>
              <a:t>Zotero</a:t>
            </a:r>
            <a:endParaRPr lang="en-US" sz="1250" dirty="0"/>
          </a:p>
        </p:txBody>
      </p:sp>
      <p:sp>
        <p:nvSpPr>
          <p:cNvPr id="21" name="Shape 16"/>
          <p:cNvSpPr/>
          <p:nvPr/>
        </p:nvSpPr>
        <p:spPr>
          <a:xfrm>
            <a:off x="3035808" y="2935224"/>
            <a:ext cx="1825752" cy="1636776"/>
          </a:xfrm>
          <a:prstGeom prst="rect">
            <a:avLst/>
          </a:prstGeom>
          <a:solidFill>
            <a:srgbClr val="FFFFFF"/>
          </a:solidFill>
          <a:ln w="9525">
            <a:solidFill>
              <a:srgbClr val="CDCDCD"/>
            </a:solidFill>
            <a:prstDash val="solid"/>
          </a:ln>
        </p:spPr>
      </p:sp>
      <p:pic>
        <p:nvPicPr>
          <p:cNvPr id="22" name="Image 3" descr="s34_0">    </p:cNvPr>
          <p:cNvPicPr>
            <a:picLocks noChangeAspect="1"/>
          </p:cNvPicPr>
          <p:nvPr/>
        </p:nvPicPr>
        <p:blipFill>
          <a:blip r:embed="rId4"/>
          <a:stretch>
            <a:fillRect/>
          </a:stretch>
        </p:blipFill>
        <p:spPr>
          <a:xfrm>
            <a:off x="3473196" y="3106285"/>
            <a:ext cx="950976" cy="938038"/>
          </a:xfrm>
          <a:prstGeom prst="rect">
            <a:avLst/>
          </a:prstGeom>
        </p:spPr>
      </p:pic>
      <p:sp>
        <p:nvSpPr>
          <p:cNvPr id="23" name="Text 17"/>
          <p:cNvSpPr txBox="1"/>
          <p:nvPr/>
        </p:nvSpPr>
        <p:spPr>
          <a:xfrm>
            <a:off x="3035808" y="4114800"/>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小绿鲸</a:t>
            </a:r>
            <a:endParaRPr lang="en-US" sz="1250" dirty="0"/>
          </a:p>
        </p:txBody>
      </p:sp>
      <p:sp>
        <p:nvSpPr>
          <p:cNvPr id="24" name="Shape 18"/>
          <p:cNvSpPr/>
          <p:nvPr/>
        </p:nvSpPr>
        <p:spPr>
          <a:xfrm>
            <a:off x="4971288" y="2935224"/>
            <a:ext cx="1825752" cy="1636776"/>
          </a:xfrm>
          <a:prstGeom prst="rect">
            <a:avLst/>
          </a:prstGeom>
          <a:solidFill>
            <a:srgbClr val="FFFFFF"/>
          </a:solidFill>
          <a:ln w="9525">
            <a:solidFill>
              <a:srgbClr val="CDCDCD"/>
            </a:solidFill>
            <a:prstDash val="solid"/>
          </a:ln>
        </p:spPr>
      </p:sp>
      <p:pic>
        <p:nvPicPr>
          <p:cNvPr id="25" name="Image 4" descr="s34_4">    </p:cNvPr>
          <p:cNvPicPr>
            <a:picLocks noChangeAspect="1"/>
          </p:cNvPicPr>
          <p:nvPr/>
        </p:nvPicPr>
        <p:blipFill>
          <a:blip r:embed="rId5"/>
          <a:stretch>
            <a:fillRect/>
          </a:stretch>
        </p:blipFill>
        <p:spPr>
          <a:xfrm>
            <a:off x="5408676" y="3148723"/>
            <a:ext cx="950976" cy="853161"/>
          </a:xfrm>
          <a:prstGeom prst="rect">
            <a:avLst/>
          </a:prstGeom>
        </p:spPr>
      </p:pic>
      <p:sp>
        <p:nvSpPr>
          <p:cNvPr id="26" name="Text 19"/>
          <p:cNvSpPr txBox="1"/>
          <p:nvPr/>
        </p:nvSpPr>
        <p:spPr>
          <a:xfrm>
            <a:off x="4971288" y="4114800"/>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坚果云</a:t>
            </a:r>
            <a:endParaRPr lang="en-US" sz="1250" dirty="0"/>
          </a:p>
        </p:txBody>
      </p:sp>
      <p:sp>
        <p:nvSpPr>
          <p:cNvPr id="27" name="Shape 20"/>
          <p:cNvSpPr/>
          <p:nvPr/>
        </p:nvSpPr>
        <p:spPr>
          <a:xfrm>
            <a:off x="6906768" y="2935224"/>
            <a:ext cx="1825752" cy="1636776"/>
          </a:xfrm>
          <a:prstGeom prst="rect">
            <a:avLst/>
          </a:prstGeom>
          <a:solidFill>
            <a:srgbClr val="FFFFFF"/>
          </a:solidFill>
          <a:ln w="9525">
            <a:solidFill>
              <a:srgbClr val="CDCDCD"/>
            </a:solidFill>
            <a:prstDash val="solid"/>
          </a:ln>
        </p:spPr>
      </p:sp>
      <p:pic>
        <p:nvPicPr>
          <p:cNvPr id="28" name="Image 5" descr="s34_5">    </p:cNvPr>
          <p:cNvPicPr>
            <a:picLocks noChangeAspect="1"/>
          </p:cNvPicPr>
          <p:nvPr/>
        </p:nvPicPr>
        <p:blipFill>
          <a:blip r:embed="rId6"/>
          <a:stretch>
            <a:fillRect/>
          </a:stretch>
        </p:blipFill>
        <p:spPr>
          <a:xfrm>
            <a:off x="7344156" y="3132608"/>
            <a:ext cx="950976" cy="885391"/>
          </a:xfrm>
          <a:prstGeom prst="rect">
            <a:avLst/>
          </a:prstGeom>
        </p:spPr>
      </p:pic>
      <p:sp>
        <p:nvSpPr>
          <p:cNvPr id="29" name="Text 21"/>
          <p:cNvSpPr txBox="1"/>
          <p:nvPr/>
        </p:nvSpPr>
        <p:spPr>
          <a:xfrm>
            <a:off x="6906768" y="4114800"/>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百度云盘</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论文整理与分类 · Zotero</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Library · Plugins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36</a:t>
            </a:r>
            <a:endParaRPr lang="en-US" sz="800" dirty="0"/>
          </a:p>
        </p:txBody>
      </p:sp>
      <p:sp>
        <p:nvSpPr>
          <p:cNvPr id="9" name="Shape 7"/>
          <p:cNvSpPr/>
          <p:nvPr/>
        </p:nvSpPr>
        <p:spPr>
          <a:xfrm>
            <a:off x="411480" y="1188720"/>
            <a:ext cx="2514600" cy="3383280"/>
          </a:xfrm>
          <a:prstGeom prst="rect">
            <a:avLst/>
          </a:prstGeom>
          <a:solidFill>
            <a:srgbClr val="40E0D0"/>
          </a:solidFill>
          <a:ln/>
        </p:spPr>
      </p:sp>
      <p:pic>
        <p:nvPicPr>
          <p:cNvPr id="10" name="Image 0" descr="s34_2">    </p:cNvPr>
          <p:cNvPicPr>
            <a:picLocks noChangeAspect="1"/>
          </p:cNvPicPr>
          <p:nvPr/>
        </p:nvPicPr>
        <p:blipFill>
          <a:blip r:embed="rId1"/>
          <a:stretch>
            <a:fillRect/>
          </a:stretch>
        </p:blipFill>
        <p:spPr>
          <a:xfrm>
            <a:off x="594360" y="1833434"/>
            <a:ext cx="914400" cy="905132"/>
          </a:xfrm>
          <a:prstGeom prst="rect">
            <a:avLst/>
          </a:prstGeom>
        </p:spPr>
      </p:pic>
      <p:sp>
        <p:nvSpPr>
          <p:cNvPr id="11" name="Text 8"/>
          <p:cNvSpPr txBox="1"/>
          <p:nvPr/>
        </p:nvSpPr>
        <p:spPr>
          <a:xfrm>
            <a:off x="594360" y="2788920"/>
            <a:ext cx="2194560" cy="822960"/>
          </a:xfrm>
          <a:prstGeom prst="rect">
            <a:avLst/>
          </a:prstGeom>
          <a:noFill/>
          <a:ln/>
        </p:spPr>
        <p:txBody>
          <a:bodyPr wrap="square" lIns="0" tIns="0" rIns="0" bIns="0" rtlCol="0" anchor="b"/>
          <a:lstStyle/>
          <a:p>
            <a:pPr indent="0" marL="0">
              <a:buNone/>
            </a:pPr>
            <a:r>
              <a:rPr lang="en-US" sz="2000" b="1" dirty="0">
                <a:solidFill>
                  <a:srgbClr val="2D2D2D"/>
                </a:solidFill>
                <a:latin typeface="Poppins" pitchFamily="34" charset="0"/>
                <a:ea typeface="Poppins" pitchFamily="34" charset="-122"/>
                <a:cs typeface="Poppins" pitchFamily="34" charset="-120"/>
              </a:rPr>
              <a:t>Zotero</a:t>
            </a:r>
            <a:endParaRPr lang="en-US" sz="2000" dirty="0"/>
          </a:p>
        </p:txBody>
      </p:sp>
      <p:sp>
        <p:nvSpPr>
          <p:cNvPr id="12" name="Shape 9"/>
          <p:cNvSpPr/>
          <p:nvPr/>
        </p:nvSpPr>
        <p:spPr>
          <a:xfrm>
            <a:off x="3035808" y="1188720"/>
            <a:ext cx="5696712" cy="3383280"/>
          </a:xfrm>
          <a:prstGeom prst="rect">
            <a:avLst/>
          </a:prstGeom>
          <a:solidFill>
            <a:srgbClr val="EBEBEB"/>
          </a:solidFill>
          <a:ln/>
        </p:spPr>
      </p:sp>
      <p:pic>
        <p:nvPicPr>
          <p:cNvPr id="13" name="Image 1" descr="s35_1">    </p:cNvPr>
          <p:cNvPicPr>
            <a:picLocks noChangeAspect="1"/>
          </p:cNvPicPr>
          <p:nvPr/>
        </p:nvPicPr>
        <p:blipFill>
          <a:blip r:embed="rId2"/>
          <a:stretch>
            <a:fillRect/>
          </a:stretch>
        </p:blipFill>
        <p:spPr>
          <a:xfrm>
            <a:off x="3198881" y="1325880"/>
            <a:ext cx="2478014" cy="3108960"/>
          </a:xfrm>
          <a:prstGeom prst="rect">
            <a:avLst/>
          </a:prstGeom>
        </p:spPr>
      </p:pic>
      <p:pic>
        <p:nvPicPr>
          <p:cNvPr id="14" name="Image 2" descr="s35_2">    </p:cNvPr>
          <p:cNvPicPr>
            <a:picLocks noChangeAspect="1"/>
          </p:cNvPicPr>
          <p:nvPr/>
        </p:nvPicPr>
        <p:blipFill>
          <a:blip r:embed="rId3"/>
          <a:stretch>
            <a:fillRect/>
          </a:stretch>
        </p:blipFill>
        <p:spPr>
          <a:xfrm>
            <a:off x="5812536" y="1697027"/>
            <a:ext cx="2782824" cy="236666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论文整理与分类 · 文献整理表</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Literature Matrix</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37</a:t>
            </a:r>
            <a:endParaRPr lang="en-US" sz="800" dirty="0"/>
          </a:p>
        </p:txBody>
      </p:sp>
      <p:sp>
        <p:nvSpPr>
          <p:cNvPr id="9" name="Shape 7"/>
          <p:cNvSpPr/>
          <p:nvPr/>
        </p:nvSpPr>
        <p:spPr>
          <a:xfrm>
            <a:off x="411480" y="1188720"/>
            <a:ext cx="3017520" cy="3383280"/>
          </a:xfrm>
          <a:prstGeom prst="rect">
            <a:avLst/>
          </a:prstGeom>
          <a:solidFill>
            <a:srgbClr val="EBEBEB"/>
          </a:solidFill>
          <a:ln/>
        </p:spPr>
      </p:sp>
      <p:sp>
        <p:nvSpPr>
          <p:cNvPr id="10" name="Text 8"/>
          <p:cNvSpPr txBox="1"/>
          <p:nvPr/>
        </p:nvSpPr>
        <p:spPr>
          <a:xfrm>
            <a:off x="566928" y="1280160"/>
            <a:ext cx="411480" cy="301752"/>
          </a:xfrm>
          <a:prstGeom prst="rect">
            <a:avLst/>
          </a:prstGeom>
          <a:noFill/>
          <a:ln/>
        </p:spPr>
        <p:txBody>
          <a:bodyPr wrap="square" lIns="0" tIns="0" rIns="0" bIns="0" rtlCol="0" anchor="ctr"/>
          <a:lstStyle/>
          <a:p>
            <a:pPr indent="0" marL="0">
              <a:buNone/>
            </a:pPr>
            <a:r>
              <a:rPr lang="en-US" sz="1000" b="1" dirty="0">
                <a:solidFill>
                  <a:srgbClr val="707070"/>
                </a:solidFill>
                <a:latin typeface="Poppins" pitchFamily="34" charset="0"/>
                <a:ea typeface="Poppins" pitchFamily="34" charset="-122"/>
                <a:cs typeface="Poppins" pitchFamily="34" charset="-120"/>
              </a:rPr>
              <a:t>01</a:t>
            </a:r>
            <a:endParaRPr lang="en-US" sz="1000" dirty="0"/>
          </a:p>
        </p:txBody>
      </p:sp>
      <p:sp>
        <p:nvSpPr>
          <p:cNvPr id="11" name="Text 9"/>
          <p:cNvSpPr txBox="1"/>
          <p:nvPr/>
        </p:nvSpPr>
        <p:spPr>
          <a:xfrm>
            <a:off x="1024128" y="1280160"/>
            <a:ext cx="2331720" cy="301752"/>
          </a:xfrm>
          <a:prstGeom prst="rect">
            <a:avLst/>
          </a:prstGeom>
          <a:noFill/>
          <a:ln/>
        </p:spPr>
        <p:txBody>
          <a:bodyPr wrap="square" lIns="0" tIns="0" rIns="0" bIns="0" rtlCol="0" anchor="ctr"/>
          <a:lstStyle/>
          <a:p>
            <a:pPr indent="0" marL="0">
              <a:buNone/>
            </a:pPr>
            <a:r>
              <a:rPr lang="en-US" sz="1050" dirty="0">
                <a:solidFill>
                  <a:srgbClr val="2D2D2D"/>
                </a:solidFill>
                <a:latin typeface="Microsoft YaHei" pitchFamily="34" charset="0"/>
                <a:ea typeface="Microsoft YaHei" pitchFamily="34" charset="-122"/>
                <a:cs typeface="Microsoft YaHei" pitchFamily="34" charset="-120"/>
              </a:rPr>
              <a:t>摘录日期</a:t>
            </a:r>
            <a:endParaRPr lang="en-US" sz="1050" dirty="0"/>
          </a:p>
        </p:txBody>
      </p:sp>
      <p:sp>
        <p:nvSpPr>
          <p:cNvPr id="12" name="Text 10"/>
          <p:cNvSpPr txBox="1"/>
          <p:nvPr/>
        </p:nvSpPr>
        <p:spPr>
          <a:xfrm>
            <a:off x="566928" y="1600200"/>
            <a:ext cx="411480" cy="301752"/>
          </a:xfrm>
          <a:prstGeom prst="rect">
            <a:avLst/>
          </a:prstGeom>
          <a:noFill/>
          <a:ln/>
        </p:spPr>
        <p:txBody>
          <a:bodyPr wrap="square" lIns="0" tIns="0" rIns="0" bIns="0" rtlCol="0" anchor="ctr"/>
          <a:lstStyle/>
          <a:p>
            <a:pPr indent="0" marL="0">
              <a:buNone/>
            </a:pPr>
            <a:r>
              <a:rPr lang="en-US" sz="1000" b="1" dirty="0">
                <a:solidFill>
                  <a:srgbClr val="707070"/>
                </a:solidFill>
                <a:latin typeface="Poppins" pitchFamily="34" charset="0"/>
                <a:ea typeface="Poppins" pitchFamily="34" charset="-122"/>
                <a:cs typeface="Poppins" pitchFamily="34" charset="-120"/>
              </a:rPr>
              <a:t>02</a:t>
            </a:r>
            <a:endParaRPr lang="en-US" sz="1000" dirty="0"/>
          </a:p>
        </p:txBody>
      </p:sp>
      <p:sp>
        <p:nvSpPr>
          <p:cNvPr id="13" name="Text 11"/>
          <p:cNvSpPr txBox="1"/>
          <p:nvPr/>
        </p:nvSpPr>
        <p:spPr>
          <a:xfrm>
            <a:off x="1024128" y="1600200"/>
            <a:ext cx="2331720" cy="301752"/>
          </a:xfrm>
          <a:prstGeom prst="rect">
            <a:avLst/>
          </a:prstGeom>
          <a:noFill/>
          <a:ln/>
        </p:spPr>
        <p:txBody>
          <a:bodyPr wrap="square" lIns="0" tIns="0" rIns="0" bIns="0" rtlCol="0" anchor="ctr"/>
          <a:lstStyle/>
          <a:p>
            <a:pPr indent="0" marL="0">
              <a:buNone/>
            </a:pPr>
            <a:r>
              <a:rPr lang="en-US" sz="1050" dirty="0">
                <a:solidFill>
                  <a:srgbClr val="2D2D2D"/>
                </a:solidFill>
                <a:latin typeface="Microsoft YaHei" pitchFamily="34" charset="0"/>
                <a:ea typeface="Microsoft YaHei" pitchFamily="34" charset="-122"/>
                <a:cs typeface="Microsoft YaHei" pitchFamily="34" charset="-120"/>
              </a:rPr>
              <a:t>文章名称</a:t>
            </a:r>
            <a:endParaRPr lang="en-US" sz="1050" dirty="0"/>
          </a:p>
        </p:txBody>
      </p:sp>
      <p:sp>
        <p:nvSpPr>
          <p:cNvPr id="14" name="Text 12"/>
          <p:cNvSpPr txBox="1"/>
          <p:nvPr/>
        </p:nvSpPr>
        <p:spPr>
          <a:xfrm>
            <a:off x="566928" y="1920240"/>
            <a:ext cx="411480" cy="301752"/>
          </a:xfrm>
          <a:prstGeom prst="rect">
            <a:avLst/>
          </a:prstGeom>
          <a:noFill/>
          <a:ln/>
        </p:spPr>
        <p:txBody>
          <a:bodyPr wrap="square" lIns="0" tIns="0" rIns="0" bIns="0" rtlCol="0" anchor="ctr"/>
          <a:lstStyle/>
          <a:p>
            <a:pPr indent="0" marL="0">
              <a:buNone/>
            </a:pPr>
            <a:r>
              <a:rPr lang="en-US" sz="1000" b="1" dirty="0">
                <a:solidFill>
                  <a:srgbClr val="707070"/>
                </a:solidFill>
                <a:latin typeface="Poppins" pitchFamily="34" charset="0"/>
                <a:ea typeface="Poppins" pitchFamily="34" charset="-122"/>
                <a:cs typeface="Poppins" pitchFamily="34" charset="-120"/>
              </a:rPr>
              <a:t>03</a:t>
            </a:r>
            <a:endParaRPr lang="en-US" sz="1000" dirty="0"/>
          </a:p>
        </p:txBody>
      </p:sp>
      <p:sp>
        <p:nvSpPr>
          <p:cNvPr id="15" name="Text 13"/>
          <p:cNvSpPr txBox="1"/>
          <p:nvPr/>
        </p:nvSpPr>
        <p:spPr>
          <a:xfrm>
            <a:off x="1024128" y="1920240"/>
            <a:ext cx="2331720" cy="301752"/>
          </a:xfrm>
          <a:prstGeom prst="rect">
            <a:avLst/>
          </a:prstGeom>
          <a:noFill/>
          <a:ln/>
        </p:spPr>
        <p:txBody>
          <a:bodyPr wrap="square" lIns="0" tIns="0" rIns="0" bIns="0" rtlCol="0" anchor="ctr"/>
          <a:lstStyle/>
          <a:p>
            <a:pPr indent="0" marL="0">
              <a:buNone/>
            </a:pPr>
            <a:r>
              <a:rPr lang="en-US" sz="1050" dirty="0">
                <a:solidFill>
                  <a:srgbClr val="2D2D2D"/>
                </a:solidFill>
                <a:latin typeface="Microsoft YaHei" pitchFamily="34" charset="0"/>
                <a:ea typeface="Microsoft YaHei" pitchFamily="34" charset="-122"/>
                <a:cs typeface="Microsoft YaHei" pitchFamily="34" charset="-120"/>
              </a:rPr>
              <a:t>期刊名称</a:t>
            </a:r>
            <a:endParaRPr lang="en-US" sz="1050" dirty="0"/>
          </a:p>
        </p:txBody>
      </p:sp>
      <p:sp>
        <p:nvSpPr>
          <p:cNvPr id="16" name="Text 14"/>
          <p:cNvSpPr txBox="1"/>
          <p:nvPr/>
        </p:nvSpPr>
        <p:spPr>
          <a:xfrm>
            <a:off x="566928" y="2240280"/>
            <a:ext cx="411480" cy="301752"/>
          </a:xfrm>
          <a:prstGeom prst="rect">
            <a:avLst/>
          </a:prstGeom>
          <a:noFill/>
          <a:ln/>
        </p:spPr>
        <p:txBody>
          <a:bodyPr wrap="square" lIns="0" tIns="0" rIns="0" bIns="0" rtlCol="0" anchor="ctr"/>
          <a:lstStyle/>
          <a:p>
            <a:pPr indent="0" marL="0">
              <a:buNone/>
            </a:pPr>
            <a:r>
              <a:rPr lang="en-US" sz="1000" b="1" dirty="0">
                <a:solidFill>
                  <a:srgbClr val="707070"/>
                </a:solidFill>
                <a:latin typeface="Poppins" pitchFamily="34" charset="0"/>
                <a:ea typeface="Poppins" pitchFamily="34" charset="-122"/>
                <a:cs typeface="Poppins" pitchFamily="34" charset="-120"/>
              </a:rPr>
              <a:t>04</a:t>
            </a:r>
            <a:endParaRPr lang="en-US" sz="1000" dirty="0"/>
          </a:p>
        </p:txBody>
      </p:sp>
      <p:sp>
        <p:nvSpPr>
          <p:cNvPr id="17" name="Text 15"/>
          <p:cNvSpPr txBox="1"/>
          <p:nvPr/>
        </p:nvSpPr>
        <p:spPr>
          <a:xfrm>
            <a:off x="1024128" y="2240280"/>
            <a:ext cx="2331720" cy="301752"/>
          </a:xfrm>
          <a:prstGeom prst="rect">
            <a:avLst/>
          </a:prstGeom>
          <a:noFill/>
          <a:ln/>
        </p:spPr>
        <p:txBody>
          <a:bodyPr wrap="square" lIns="0" tIns="0" rIns="0" bIns="0" rtlCol="0" anchor="ctr"/>
          <a:lstStyle/>
          <a:p>
            <a:pPr indent="0" marL="0">
              <a:buNone/>
            </a:pPr>
            <a:r>
              <a:rPr lang="en-US" sz="1050" dirty="0">
                <a:solidFill>
                  <a:srgbClr val="2D2D2D"/>
                </a:solidFill>
                <a:latin typeface="Microsoft YaHei" pitchFamily="34" charset="0"/>
                <a:ea typeface="Microsoft YaHei" pitchFamily="34" charset="-122"/>
                <a:cs typeface="Microsoft YaHei" pitchFamily="34" charset="-120"/>
              </a:rPr>
              <a:t>关键词</a:t>
            </a:r>
            <a:endParaRPr lang="en-US" sz="1050" dirty="0"/>
          </a:p>
        </p:txBody>
      </p:sp>
      <p:sp>
        <p:nvSpPr>
          <p:cNvPr id="18" name="Text 16"/>
          <p:cNvSpPr txBox="1"/>
          <p:nvPr/>
        </p:nvSpPr>
        <p:spPr>
          <a:xfrm>
            <a:off x="566928" y="2560320"/>
            <a:ext cx="411480" cy="301752"/>
          </a:xfrm>
          <a:prstGeom prst="rect">
            <a:avLst/>
          </a:prstGeom>
          <a:noFill/>
          <a:ln/>
        </p:spPr>
        <p:txBody>
          <a:bodyPr wrap="square" lIns="0" tIns="0" rIns="0" bIns="0" rtlCol="0" anchor="ctr"/>
          <a:lstStyle/>
          <a:p>
            <a:pPr indent="0" marL="0">
              <a:buNone/>
            </a:pPr>
            <a:r>
              <a:rPr lang="en-US" sz="1000" b="1" dirty="0">
                <a:solidFill>
                  <a:srgbClr val="707070"/>
                </a:solidFill>
                <a:latin typeface="Poppins" pitchFamily="34" charset="0"/>
                <a:ea typeface="Poppins" pitchFamily="34" charset="-122"/>
                <a:cs typeface="Poppins" pitchFamily="34" charset="-120"/>
              </a:rPr>
              <a:t>05</a:t>
            </a:r>
            <a:endParaRPr lang="en-US" sz="1000" dirty="0"/>
          </a:p>
        </p:txBody>
      </p:sp>
      <p:sp>
        <p:nvSpPr>
          <p:cNvPr id="19" name="Text 17"/>
          <p:cNvSpPr txBox="1"/>
          <p:nvPr/>
        </p:nvSpPr>
        <p:spPr>
          <a:xfrm>
            <a:off x="1024128" y="2560320"/>
            <a:ext cx="2331720" cy="301752"/>
          </a:xfrm>
          <a:prstGeom prst="rect">
            <a:avLst/>
          </a:prstGeom>
          <a:noFill/>
          <a:ln/>
        </p:spPr>
        <p:txBody>
          <a:bodyPr wrap="square" lIns="0" tIns="0" rIns="0" bIns="0" rtlCol="0" anchor="ctr"/>
          <a:lstStyle/>
          <a:p>
            <a:pPr indent="0" marL="0">
              <a:buNone/>
            </a:pPr>
            <a:r>
              <a:rPr lang="en-US" sz="1050" dirty="0">
                <a:solidFill>
                  <a:srgbClr val="2D2D2D"/>
                </a:solidFill>
                <a:latin typeface="Microsoft YaHei" pitchFamily="34" charset="0"/>
                <a:ea typeface="Microsoft YaHei" pitchFamily="34" charset="-122"/>
                <a:cs typeface="Microsoft YaHei" pitchFamily="34" charset="-120"/>
              </a:rPr>
              <a:t>作者</a:t>
            </a:r>
            <a:endParaRPr lang="en-US" sz="1050" dirty="0"/>
          </a:p>
        </p:txBody>
      </p:sp>
      <p:sp>
        <p:nvSpPr>
          <p:cNvPr id="20" name="Text 18"/>
          <p:cNvSpPr txBox="1"/>
          <p:nvPr/>
        </p:nvSpPr>
        <p:spPr>
          <a:xfrm>
            <a:off x="566928" y="2880360"/>
            <a:ext cx="411480" cy="301752"/>
          </a:xfrm>
          <a:prstGeom prst="rect">
            <a:avLst/>
          </a:prstGeom>
          <a:noFill/>
          <a:ln/>
        </p:spPr>
        <p:txBody>
          <a:bodyPr wrap="square" lIns="0" tIns="0" rIns="0" bIns="0" rtlCol="0" anchor="ctr"/>
          <a:lstStyle/>
          <a:p>
            <a:pPr indent="0" marL="0">
              <a:buNone/>
            </a:pPr>
            <a:r>
              <a:rPr lang="en-US" sz="1000" b="1" dirty="0">
                <a:solidFill>
                  <a:srgbClr val="707070"/>
                </a:solidFill>
                <a:latin typeface="Poppins" pitchFamily="34" charset="0"/>
                <a:ea typeface="Poppins" pitchFamily="34" charset="-122"/>
                <a:cs typeface="Poppins" pitchFamily="34" charset="-120"/>
              </a:rPr>
              <a:t>06</a:t>
            </a:r>
            <a:endParaRPr lang="en-US" sz="1000" dirty="0"/>
          </a:p>
        </p:txBody>
      </p:sp>
      <p:sp>
        <p:nvSpPr>
          <p:cNvPr id="21" name="Text 19"/>
          <p:cNvSpPr txBox="1"/>
          <p:nvPr/>
        </p:nvSpPr>
        <p:spPr>
          <a:xfrm>
            <a:off x="1024128" y="2880360"/>
            <a:ext cx="2331720" cy="301752"/>
          </a:xfrm>
          <a:prstGeom prst="rect">
            <a:avLst/>
          </a:prstGeom>
          <a:noFill/>
          <a:ln/>
        </p:spPr>
        <p:txBody>
          <a:bodyPr wrap="square" lIns="0" tIns="0" rIns="0" bIns="0" rtlCol="0" anchor="ctr"/>
          <a:lstStyle/>
          <a:p>
            <a:pPr indent="0" marL="0">
              <a:buNone/>
            </a:pPr>
            <a:r>
              <a:rPr lang="en-US" sz="1050" dirty="0">
                <a:solidFill>
                  <a:srgbClr val="2D2D2D"/>
                </a:solidFill>
                <a:latin typeface="Microsoft YaHei" pitchFamily="34" charset="0"/>
                <a:ea typeface="Microsoft YaHei" pitchFamily="34" charset="-122"/>
                <a:cs typeface="Microsoft YaHei" pitchFamily="34" charset="-120"/>
              </a:rPr>
              <a:t>研究目标（一段话简要描述）</a:t>
            </a:r>
            <a:endParaRPr lang="en-US" sz="1050" dirty="0"/>
          </a:p>
        </p:txBody>
      </p:sp>
      <p:sp>
        <p:nvSpPr>
          <p:cNvPr id="22" name="Text 20"/>
          <p:cNvSpPr txBox="1"/>
          <p:nvPr/>
        </p:nvSpPr>
        <p:spPr>
          <a:xfrm>
            <a:off x="566928" y="3200400"/>
            <a:ext cx="411480" cy="301752"/>
          </a:xfrm>
          <a:prstGeom prst="rect">
            <a:avLst/>
          </a:prstGeom>
          <a:noFill/>
          <a:ln/>
        </p:spPr>
        <p:txBody>
          <a:bodyPr wrap="square" lIns="0" tIns="0" rIns="0" bIns="0" rtlCol="0" anchor="ctr"/>
          <a:lstStyle/>
          <a:p>
            <a:pPr indent="0" marL="0">
              <a:buNone/>
            </a:pPr>
            <a:r>
              <a:rPr lang="en-US" sz="1000" b="1" dirty="0">
                <a:solidFill>
                  <a:srgbClr val="707070"/>
                </a:solidFill>
                <a:latin typeface="Poppins" pitchFamily="34" charset="0"/>
                <a:ea typeface="Poppins" pitchFamily="34" charset="-122"/>
                <a:cs typeface="Poppins" pitchFamily="34" charset="-120"/>
              </a:rPr>
              <a:t>07</a:t>
            </a:r>
            <a:endParaRPr lang="en-US" sz="1000" dirty="0"/>
          </a:p>
        </p:txBody>
      </p:sp>
      <p:sp>
        <p:nvSpPr>
          <p:cNvPr id="23" name="Text 21"/>
          <p:cNvSpPr txBox="1"/>
          <p:nvPr/>
        </p:nvSpPr>
        <p:spPr>
          <a:xfrm>
            <a:off x="1024128" y="3200400"/>
            <a:ext cx="2331720" cy="301752"/>
          </a:xfrm>
          <a:prstGeom prst="rect">
            <a:avLst/>
          </a:prstGeom>
          <a:noFill/>
          <a:ln/>
        </p:spPr>
        <p:txBody>
          <a:bodyPr wrap="square" lIns="0" tIns="0" rIns="0" bIns="0" rtlCol="0" anchor="ctr"/>
          <a:lstStyle/>
          <a:p>
            <a:pPr indent="0" marL="0">
              <a:buNone/>
            </a:pPr>
            <a:r>
              <a:rPr lang="en-US" sz="1050" dirty="0">
                <a:solidFill>
                  <a:srgbClr val="2D2D2D"/>
                </a:solidFill>
                <a:latin typeface="Microsoft YaHei" pitchFamily="34" charset="0"/>
                <a:ea typeface="Microsoft YaHei" pitchFamily="34" charset="-122"/>
                <a:cs typeface="Microsoft YaHei" pitchFamily="34" charset="-120"/>
              </a:rPr>
              <a:t>发刊日期</a:t>
            </a:r>
            <a:endParaRPr lang="en-US" sz="1050" dirty="0"/>
          </a:p>
        </p:txBody>
      </p:sp>
      <p:sp>
        <p:nvSpPr>
          <p:cNvPr id="24" name="Text 22"/>
          <p:cNvSpPr txBox="1"/>
          <p:nvPr/>
        </p:nvSpPr>
        <p:spPr>
          <a:xfrm>
            <a:off x="566928" y="3520440"/>
            <a:ext cx="411480" cy="301752"/>
          </a:xfrm>
          <a:prstGeom prst="rect">
            <a:avLst/>
          </a:prstGeom>
          <a:noFill/>
          <a:ln/>
        </p:spPr>
        <p:txBody>
          <a:bodyPr wrap="square" lIns="0" tIns="0" rIns="0" bIns="0" rtlCol="0" anchor="ctr"/>
          <a:lstStyle/>
          <a:p>
            <a:pPr indent="0" marL="0">
              <a:buNone/>
            </a:pPr>
            <a:r>
              <a:rPr lang="en-US" sz="1000" b="1" dirty="0">
                <a:solidFill>
                  <a:srgbClr val="707070"/>
                </a:solidFill>
                <a:latin typeface="Poppins" pitchFamily="34" charset="0"/>
                <a:ea typeface="Poppins" pitchFamily="34" charset="-122"/>
                <a:cs typeface="Poppins" pitchFamily="34" charset="-120"/>
              </a:rPr>
              <a:t>08</a:t>
            </a:r>
            <a:endParaRPr lang="en-US" sz="1000" dirty="0"/>
          </a:p>
        </p:txBody>
      </p:sp>
      <p:sp>
        <p:nvSpPr>
          <p:cNvPr id="25" name="Text 23"/>
          <p:cNvSpPr txBox="1"/>
          <p:nvPr/>
        </p:nvSpPr>
        <p:spPr>
          <a:xfrm>
            <a:off x="1024128" y="3520440"/>
            <a:ext cx="2331720" cy="301752"/>
          </a:xfrm>
          <a:prstGeom prst="rect">
            <a:avLst/>
          </a:prstGeom>
          <a:noFill/>
          <a:ln/>
        </p:spPr>
        <p:txBody>
          <a:bodyPr wrap="square" lIns="0" tIns="0" rIns="0" bIns="0" rtlCol="0" anchor="ctr"/>
          <a:lstStyle/>
          <a:p>
            <a:pPr indent="0" marL="0">
              <a:buNone/>
            </a:pPr>
            <a:r>
              <a:rPr lang="en-US" sz="1050" dirty="0">
                <a:solidFill>
                  <a:srgbClr val="2D2D2D"/>
                </a:solidFill>
                <a:latin typeface="Microsoft YaHei" pitchFamily="34" charset="0"/>
                <a:ea typeface="Microsoft YaHei" pitchFamily="34" charset="-122"/>
                <a:cs typeface="Microsoft YaHei" pitchFamily="34" charset="-120"/>
              </a:rPr>
              <a:t>主要研究内容（一段话简要描述）</a:t>
            </a:r>
            <a:endParaRPr lang="en-US" sz="1050" dirty="0"/>
          </a:p>
        </p:txBody>
      </p:sp>
      <p:sp>
        <p:nvSpPr>
          <p:cNvPr id="26" name="Text 24"/>
          <p:cNvSpPr txBox="1"/>
          <p:nvPr/>
        </p:nvSpPr>
        <p:spPr>
          <a:xfrm>
            <a:off x="566928" y="3840480"/>
            <a:ext cx="411480" cy="301752"/>
          </a:xfrm>
          <a:prstGeom prst="rect">
            <a:avLst/>
          </a:prstGeom>
          <a:noFill/>
          <a:ln/>
        </p:spPr>
        <p:txBody>
          <a:bodyPr wrap="square" lIns="0" tIns="0" rIns="0" bIns="0" rtlCol="0" anchor="ctr"/>
          <a:lstStyle/>
          <a:p>
            <a:pPr indent="0" marL="0">
              <a:buNone/>
            </a:pPr>
            <a:r>
              <a:rPr lang="en-US" sz="1000" b="1" dirty="0">
                <a:solidFill>
                  <a:srgbClr val="707070"/>
                </a:solidFill>
                <a:latin typeface="Poppins" pitchFamily="34" charset="0"/>
                <a:ea typeface="Poppins" pitchFamily="34" charset="-122"/>
                <a:cs typeface="Poppins" pitchFamily="34" charset="-120"/>
              </a:rPr>
              <a:t>09</a:t>
            </a:r>
            <a:endParaRPr lang="en-US" sz="1000" dirty="0"/>
          </a:p>
        </p:txBody>
      </p:sp>
      <p:sp>
        <p:nvSpPr>
          <p:cNvPr id="27" name="Text 25"/>
          <p:cNvSpPr txBox="1"/>
          <p:nvPr/>
        </p:nvSpPr>
        <p:spPr>
          <a:xfrm>
            <a:off x="1024128" y="3840480"/>
            <a:ext cx="2331720" cy="301752"/>
          </a:xfrm>
          <a:prstGeom prst="rect">
            <a:avLst/>
          </a:prstGeom>
          <a:noFill/>
          <a:ln/>
        </p:spPr>
        <p:txBody>
          <a:bodyPr wrap="square" lIns="0" tIns="0" rIns="0" bIns="0" rtlCol="0" anchor="ctr"/>
          <a:lstStyle/>
          <a:p>
            <a:pPr indent="0" marL="0">
              <a:buNone/>
            </a:pPr>
            <a:r>
              <a:rPr lang="en-US" sz="1050" dirty="0">
                <a:solidFill>
                  <a:srgbClr val="2D2D2D"/>
                </a:solidFill>
                <a:latin typeface="Microsoft YaHei" pitchFamily="34" charset="0"/>
                <a:ea typeface="Microsoft YaHei" pitchFamily="34" charset="-122"/>
                <a:cs typeface="Microsoft YaHei" pitchFamily="34" charset="-120"/>
              </a:rPr>
              <a:t>研究方法</a:t>
            </a:r>
            <a:endParaRPr lang="en-US" sz="1050" dirty="0"/>
          </a:p>
        </p:txBody>
      </p:sp>
      <p:sp>
        <p:nvSpPr>
          <p:cNvPr id="28" name="Text 26"/>
          <p:cNvSpPr txBox="1"/>
          <p:nvPr/>
        </p:nvSpPr>
        <p:spPr>
          <a:xfrm>
            <a:off x="566928" y="4160520"/>
            <a:ext cx="411480" cy="301752"/>
          </a:xfrm>
          <a:prstGeom prst="rect">
            <a:avLst/>
          </a:prstGeom>
          <a:noFill/>
          <a:ln/>
        </p:spPr>
        <p:txBody>
          <a:bodyPr wrap="square" lIns="0" tIns="0" rIns="0" bIns="0" rtlCol="0" anchor="ctr"/>
          <a:lstStyle/>
          <a:p>
            <a:pPr indent="0" marL="0">
              <a:buNone/>
            </a:pPr>
            <a:r>
              <a:rPr lang="en-US" sz="1000" b="1" dirty="0">
                <a:solidFill>
                  <a:srgbClr val="2D2D2D"/>
                </a:solidFill>
                <a:latin typeface="Poppins" pitchFamily="34" charset="0"/>
                <a:ea typeface="Poppins" pitchFamily="34" charset="-122"/>
                <a:cs typeface="Poppins" pitchFamily="34" charset="-120"/>
              </a:rPr>
              <a:t>10</a:t>
            </a:r>
            <a:endParaRPr lang="en-US" sz="1000" dirty="0"/>
          </a:p>
        </p:txBody>
      </p:sp>
      <p:sp>
        <p:nvSpPr>
          <p:cNvPr id="29" name="Shape 27"/>
          <p:cNvSpPr/>
          <p:nvPr/>
        </p:nvSpPr>
        <p:spPr>
          <a:xfrm>
            <a:off x="960120" y="4178808"/>
            <a:ext cx="2377440" cy="265176"/>
          </a:xfrm>
          <a:prstGeom prst="rect">
            <a:avLst/>
          </a:prstGeom>
          <a:solidFill>
            <a:srgbClr val="40E0D0"/>
          </a:solidFill>
          <a:ln/>
        </p:spPr>
      </p:sp>
      <p:sp>
        <p:nvSpPr>
          <p:cNvPr id="30" name="Text 28"/>
          <p:cNvSpPr txBox="1"/>
          <p:nvPr/>
        </p:nvSpPr>
        <p:spPr>
          <a:xfrm>
            <a:off x="1024128" y="4160520"/>
            <a:ext cx="2331720" cy="301752"/>
          </a:xfrm>
          <a:prstGeom prst="rect">
            <a:avLst/>
          </a:prstGeom>
          <a:noFill/>
          <a:ln/>
        </p:spPr>
        <p:txBody>
          <a:bodyPr wrap="square" lIns="0" tIns="0" rIns="0" bIns="0" rtlCol="0" anchor="ctr"/>
          <a:lstStyle/>
          <a:p>
            <a:pPr indent="0" marL="0">
              <a:buNone/>
            </a:pPr>
            <a:r>
              <a:rPr lang="en-US" sz="1050" b="1" dirty="0">
                <a:solidFill>
                  <a:srgbClr val="2D2D2D"/>
                </a:solidFill>
                <a:latin typeface="Microsoft YaHei" pitchFamily="34" charset="0"/>
                <a:ea typeface="Microsoft YaHei" pitchFamily="34" charset="-122"/>
                <a:cs typeface="Microsoft YaHei" pitchFamily="34" charset="-120"/>
              </a:rPr>
              <a:t>待解决研究问题（研究缺陷）</a:t>
            </a:r>
            <a:endParaRPr lang="en-US" sz="1050" dirty="0"/>
          </a:p>
        </p:txBody>
      </p:sp>
      <p:sp>
        <p:nvSpPr>
          <p:cNvPr id="31" name="Shape 29"/>
          <p:cNvSpPr/>
          <p:nvPr/>
        </p:nvSpPr>
        <p:spPr>
          <a:xfrm>
            <a:off x="3538728" y="1188720"/>
            <a:ext cx="5193792" cy="3383280"/>
          </a:xfrm>
          <a:prstGeom prst="rect">
            <a:avLst/>
          </a:prstGeom>
          <a:solidFill>
            <a:srgbClr val="EBEBEB"/>
          </a:solidFill>
          <a:ln/>
        </p:spPr>
      </p:sp>
      <p:pic>
        <p:nvPicPr>
          <p:cNvPr id="32" name="Image 0" descr="s36_0">    </p:cNvPr>
          <p:cNvPicPr>
            <a:picLocks noChangeAspect="1"/>
          </p:cNvPicPr>
          <p:nvPr/>
        </p:nvPicPr>
        <p:blipFill>
          <a:blip r:embed="rId1"/>
          <a:stretch>
            <a:fillRect/>
          </a:stretch>
        </p:blipFill>
        <p:spPr>
          <a:xfrm>
            <a:off x="3675888" y="1362168"/>
            <a:ext cx="4919472" cy="303638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论文内容润色</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Polishing Tools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38</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640080" y="1371600"/>
            <a:ext cx="2103120" cy="1188720"/>
          </a:xfrm>
          <a:prstGeom prst="rect">
            <a:avLst/>
          </a:prstGeom>
          <a:noFill/>
          <a:ln/>
        </p:spPr>
        <p:txBody>
          <a:bodyPr wrap="square" lIns="0" tIns="0" rIns="0" bIns="0" rtlCol="0" anchor="t"/>
          <a:lstStyle/>
          <a:p>
            <a:pPr indent="0" marL="0">
              <a:buNone/>
            </a:pPr>
            <a:r>
              <a:rPr lang="en-US" sz="2600" b="1" dirty="0">
                <a:solidFill>
                  <a:srgbClr val="2D2D2D"/>
                </a:solidFill>
                <a:latin typeface="Microsoft YaHei" pitchFamily="34" charset="0"/>
                <a:ea typeface="Microsoft YaHei" pitchFamily="34" charset="-122"/>
                <a:cs typeface="Microsoft YaHei" pitchFamily="34" charset="-120"/>
              </a:rPr>
              <a:t>论文内容</a:t>
            </a:r>
            <a:endParaRPr lang="en-US" sz="2600" dirty="0"/>
          </a:p>
          <a:p>
            <a:pPr indent="0" marL="0">
              <a:buNone/>
            </a:pPr>
            <a:r>
              <a:rPr lang="en-US" sz="2600" b="1" dirty="0">
                <a:solidFill>
                  <a:srgbClr val="2D2D2D"/>
                </a:solidFill>
                <a:latin typeface="Microsoft YaHei" pitchFamily="34" charset="0"/>
                <a:ea typeface="Microsoft YaHei" pitchFamily="34" charset="-122"/>
                <a:cs typeface="Microsoft YaHei" pitchFamily="34" charset="-120"/>
              </a:rPr>
              <a:t>润色</a:t>
            </a:r>
            <a:endParaRPr lang="en-US" sz="2600" dirty="0"/>
          </a:p>
        </p:txBody>
      </p:sp>
      <p:sp>
        <p:nvSpPr>
          <p:cNvPr id="11" name="Text 9"/>
          <p:cNvSpPr txBox="1"/>
          <p:nvPr/>
        </p:nvSpPr>
        <p:spPr>
          <a:xfrm>
            <a:off x="640080" y="3931920"/>
            <a:ext cx="2103120" cy="457200"/>
          </a:xfrm>
          <a:prstGeom prst="rect">
            <a:avLst/>
          </a:prstGeom>
          <a:noFill/>
          <a:ln/>
        </p:spPr>
        <p:txBody>
          <a:bodyPr wrap="square" lIns="0" tIns="0" rIns="0" bIns="0" rtlCol="0" anchor="b"/>
          <a:lstStyle/>
          <a:p>
            <a:pPr indent="0" marL="0">
              <a:buNone/>
            </a:pPr>
            <a:r>
              <a:rPr lang="en-US" sz="1100" dirty="0">
                <a:solidFill>
                  <a:srgbClr val="2D2D2D"/>
                </a:solidFill>
                <a:latin typeface="Poppins" pitchFamily="34" charset="0"/>
                <a:ea typeface="Poppins" pitchFamily="34" charset="-122"/>
                <a:cs typeface="Poppins" pitchFamily="34" charset="-120"/>
              </a:rPr>
              <a:t>Polishing</a:t>
            </a:r>
            <a:endParaRPr lang="en-US" sz="1100" dirty="0"/>
          </a:p>
        </p:txBody>
      </p:sp>
      <p:sp>
        <p:nvSpPr>
          <p:cNvPr id="12" name="Shape 10"/>
          <p:cNvSpPr/>
          <p:nvPr/>
        </p:nvSpPr>
        <p:spPr>
          <a:xfrm>
            <a:off x="3035808" y="1188720"/>
            <a:ext cx="1825752" cy="3383280"/>
          </a:xfrm>
          <a:prstGeom prst="rect">
            <a:avLst/>
          </a:prstGeom>
          <a:solidFill>
            <a:srgbClr val="FFFFFF"/>
          </a:solidFill>
          <a:ln w="9525">
            <a:solidFill>
              <a:srgbClr val="CDCDCD"/>
            </a:solidFill>
            <a:prstDash val="solid"/>
          </a:ln>
        </p:spPr>
      </p:sp>
      <p:pic>
        <p:nvPicPr>
          <p:cNvPr id="13" name="Image 0" descr="s37_0">    </p:cNvPr>
          <p:cNvPicPr>
            <a:picLocks noChangeAspect="1"/>
          </p:cNvPicPr>
          <p:nvPr/>
        </p:nvPicPr>
        <p:blipFill>
          <a:blip r:embed="rId1"/>
          <a:stretch>
            <a:fillRect/>
          </a:stretch>
        </p:blipFill>
        <p:spPr>
          <a:xfrm>
            <a:off x="3446602" y="1693054"/>
            <a:ext cx="1004164" cy="324680"/>
          </a:xfrm>
          <a:prstGeom prst="rect">
            <a:avLst/>
          </a:prstGeom>
        </p:spPr>
      </p:pic>
      <p:sp>
        <p:nvSpPr>
          <p:cNvPr id="14" name="Text 11"/>
          <p:cNvSpPr txBox="1"/>
          <p:nvPr/>
        </p:nvSpPr>
        <p:spPr>
          <a:xfrm>
            <a:off x="3035808" y="4114800"/>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Poppins" pitchFamily="34" charset="0"/>
                <a:ea typeface="Poppins" pitchFamily="34" charset="-122"/>
                <a:cs typeface="Poppins" pitchFamily="34" charset="-120"/>
              </a:rPr>
              <a:t>QuillBot</a:t>
            </a:r>
            <a:endParaRPr lang="en-US" sz="1250" dirty="0"/>
          </a:p>
        </p:txBody>
      </p:sp>
      <p:sp>
        <p:nvSpPr>
          <p:cNvPr id="15" name="Shape 12"/>
          <p:cNvSpPr/>
          <p:nvPr/>
        </p:nvSpPr>
        <p:spPr>
          <a:xfrm>
            <a:off x="4971288" y="1188720"/>
            <a:ext cx="1825752" cy="3383280"/>
          </a:xfrm>
          <a:prstGeom prst="rect">
            <a:avLst/>
          </a:prstGeom>
          <a:solidFill>
            <a:srgbClr val="FFFFFF"/>
          </a:solidFill>
          <a:ln w="9525">
            <a:solidFill>
              <a:srgbClr val="CDCDCD"/>
            </a:solidFill>
            <a:prstDash val="solid"/>
          </a:ln>
        </p:spPr>
      </p:sp>
      <p:pic>
        <p:nvPicPr>
          <p:cNvPr id="16" name="Image 1" descr="s37_1">    </p:cNvPr>
          <p:cNvPicPr>
            <a:picLocks noChangeAspect="1"/>
          </p:cNvPicPr>
          <p:nvPr/>
        </p:nvPicPr>
        <p:blipFill>
          <a:blip r:embed="rId2"/>
          <a:stretch>
            <a:fillRect/>
          </a:stretch>
        </p:blipFill>
        <p:spPr>
          <a:xfrm>
            <a:off x="5382082" y="1353312"/>
            <a:ext cx="1004164" cy="1004164"/>
          </a:xfrm>
          <a:prstGeom prst="rect">
            <a:avLst/>
          </a:prstGeom>
        </p:spPr>
      </p:pic>
      <p:sp>
        <p:nvSpPr>
          <p:cNvPr id="17" name="Text 13"/>
          <p:cNvSpPr txBox="1"/>
          <p:nvPr/>
        </p:nvSpPr>
        <p:spPr>
          <a:xfrm>
            <a:off x="4971288" y="4114800"/>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Poppins" pitchFamily="34" charset="0"/>
                <a:ea typeface="Poppins" pitchFamily="34" charset="-122"/>
                <a:cs typeface="Poppins" pitchFamily="34" charset="-120"/>
              </a:rPr>
              <a:t>Wordtune</a:t>
            </a:r>
            <a:endParaRPr lang="en-US" sz="1250" dirty="0"/>
          </a:p>
        </p:txBody>
      </p:sp>
      <p:sp>
        <p:nvSpPr>
          <p:cNvPr id="18" name="Shape 14"/>
          <p:cNvSpPr/>
          <p:nvPr/>
        </p:nvSpPr>
        <p:spPr>
          <a:xfrm>
            <a:off x="6906768" y="1188720"/>
            <a:ext cx="1825752" cy="3383280"/>
          </a:xfrm>
          <a:prstGeom prst="rect">
            <a:avLst/>
          </a:prstGeom>
          <a:solidFill>
            <a:srgbClr val="FFFFFF"/>
          </a:solidFill>
          <a:ln w="9525">
            <a:solidFill>
              <a:srgbClr val="CDCDCD"/>
            </a:solidFill>
            <a:prstDash val="solid"/>
          </a:ln>
        </p:spPr>
      </p:sp>
      <p:pic>
        <p:nvPicPr>
          <p:cNvPr id="19" name="Image 2" descr="s37_2">    </p:cNvPr>
          <p:cNvPicPr>
            <a:picLocks noChangeAspect="1"/>
          </p:cNvPicPr>
          <p:nvPr/>
        </p:nvPicPr>
        <p:blipFill>
          <a:blip r:embed="rId3"/>
          <a:stretch>
            <a:fillRect/>
          </a:stretch>
        </p:blipFill>
        <p:spPr>
          <a:xfrm>
            <a:off x="7396657" y="1353312"/>
            <a:ext cx="845973" cy="1004164"/>
          </a:xfrm>
          <a:prstGeom prst="rect">
            <a:avLst/>
          </a:prstGeom>
        </p:spPr>
      </p:pic>
      <p:sp>
        <p:nvSpPr>
          <p:cNvPr id="20" name="Text 15"/>
          <p:cNvSpPr txBox="1"/>
          <p:nvPr/>
        </p:nvSpPr>
        <p:spPr>
          <a:xfrm>
            <a:off x="6906768" y="4114800"/>
            <a:ext cx="1825752" cy="365760"/>
          </a:xfrm>
          <a:prstGeom prst="rect">
            <a:avLst/>
          </a:prstGeom>
          <a:noFill/>
          <a:ln/>
        </p:spPr>
        <p:txBody>
          <a:bodyPr wrap="square" lIns="0" tIns="0" rIns="0" bIns="0" rtlCol="0" anchor="ctr"/>
          <a:lstStyle/>
          <a:p>
            <a:pPr algn="ctr" indent="0" marL="0">
              <a:buNone/>
            </a:pPr>
            <a:r>
              <a:rPr lang="en-US" sz="1250" b="1" dirty="0">
                <a:solidFill>
                  <a:srgbClr val="2D2D2D"/>
                </a:solidFill>
                <a:latin typeface="Poppins" pitchFamily="34" charset="0"/>
                <a:ea typeface="Poppins" pitchFamily="34" charset="-122"/>
                <a:cs typeface="Poppins" pitchFamily="34" charset="-120"/>
              </a:rPr>
              <a:t>Deepl</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论文的写作与润色 · Reverso</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Context Dictionary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39</a:t>
            </a:r>
            <a:endParaRPr lang="en-US" sz="800" dirty="0"/>
          </a:p>
        </p:txBody>
      </p:sp>
      <p:sp>
        <p:nvSpPr>
          <p:cNvPr id="9" name="Shape 7"/>
          <p:cNvSpPr/>
          <p:nvPr/>
        </p:nvSpPr>
        <p:spPr>
          <a:xfrm>
            <a:off x="411480" y="1188720"/>
            <a:ext cx="2514600" cy="3383280"/>
          </a:xfrm>
          <a:prstGeom prst="rect">
            <a:avLst/>
          </a:prstGeom>
          <a:solidFill>
            <a:srgbClr val="2D2D2D"/>
          </a:solidFill>
          <a:ln/>
        </p:spPr>
      </p:sp>
      <p:pic>
        <p:nvPicPr>
          <p:cNvPr id="10" name="Image 0" descr="s38_0">    </p:cNvPr>
          <p:cNvPicPr>
            <a:picLocks noChangeAspect="1"/>
          </p:cNvPicPr>
          <p:nvPr/>
        </p:nvPicPr>
        <p:blipFill>
          <a:blip r:embed="rId1"/>
          <a:stretch>
            <a:fillRect/>
          </a:stretch>
        </p:blipFill>
        <p:spPr>
          <a:xfrm>
            <a:off x="594360" y="2126105"/>
            <a:ext cx="914400" cy="319790"/>
          </a:xfrm>
          <a:prstGeom prst="rect">
            <a:avLst/>
          </a:prstGeom>
        </p:spPr>
      </p:pic>
      <p:sp>
        <p:nvSpPr>
          <p:cNvPr id="11" name="Text 8"/>
          <p:cNvSpPr txBox="1"/>
          <p:nvPr/>
        </p:nvSpPr>
        <p:spPr>
          <a:xfrm>
            <a:off x="594360" y="278892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Poppins" pitchFamily="34" charset="0"/>
                <a:ea typeface="Poppins" pitchFamily="34" charset="-122"/>
                <a:cs typeface="Poppins" pitchFamily="34" charset="-120"/>
              </a:rPr>
              <a:t>Reverso</a:t>
            </a:r>
            <a:endParaRPr lang="en-US" sz="2000" dirty="0"/>
          </a:p>
        </p:txBody>
      </p:sp>
      <p:sp>
        <p:nvSpPr>
          <p:cNvPr id="12" name="Shape 9"/>
          <p:cNvSpPr/>
          <p:nvPr/>
        </p:nvSpPr>
        <p:spPr>
          <a:xfrm>
            <a:off x="3035808" y="1188720"/>
            <a:ext cx="5696712" cy="3383280"/>
          </a:xfrm>
          <a:prstGeom prst="rect">
            <a:avLst/>
          </a:prstGeom>
          <a:solidFill>
            <a:srgbClr val="EBEBEB"/>
          </a:solidFill>
          <a:ln/>
        </p:spPr>
      </p:sp>
      <p:pic>
        <p:nvPicPr>
          <p:cNvPr id="13" name="Image 1" descr="s38_1">    </p:cNvPr>
          <p:cNvPicPr>
            <a:picLocks noChangeAspect="1"/>
          </p:cNvPicPr>
          <p:nvPr/>
        </p:nvPicPr>
        <p:blipFill>
          <a:blip r:embed="rId2"/>
          <a:stretch>
            <a:fillRect/>
          </a:stretch>
        </p:blipFill>
        <p:spPr>
          <a:xfrm>
            <a:off x="3282746" y="1325880"/>
            <a:ext cx="5202836" cy="31089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论文的写作与润色 · COCA</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Corpus of Contemporary American English</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40</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2D2D2D"/>
                </a:solidFill>
                <a:latin typeface="Poppins" pitchFamily="34" charset="0"/>
                <a:ea typeface="Poppins" pitchFamily="34" charset="-122"/>
                <a:cs typeface="Poppins" pitchFamily="34" charset="-120"/>
              </a:rPr>
              <a:t>COCA</a:t>
            </a:r>
            <a:endParaRPr lang="en-US" sz="2000" dirty="0"/>
          </a:p>
        </p:txBody>
      </p:sp>
      <p:sp>
        <p:nvSpPr>
          <p:cNvPr id="11" name="Text 9"/>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2D2D2D"/>
                </a:solidFill>
                <a:latin typeface="Poppins" pitchFamily="34" charset="0"/>
                <a:ea typeface="Poppins" pitchFamily="34" charset="-122"/>
                <a:cs typeface="Poppins" pitchFamily="34" charset="-120"/>
              </a:rPr>
              <a:t>Corpus of Contemporary American English</a:t>
            </a:r>
            <a:endParaRPr lang="en-US" sz="1100" dirty="0"/>
          </a:p>
        </p:txBody>
      </p:sp>
      <p:sp>
        <p:nvSpPr>
          <p:cNvPr id="12" name="Shape 10"/>
          <p:cNvSpPr/>
          <p:nvPr/>
        </p:nvSpPr>
        <p:spPr>
          <a:xfrm>
            <a:off x="3035808" y="1188720"/>
            <a:ext cx="5696712" cy="3383280"/>
          </a:xfrm>
          <a:prstGeom prst="rect">
            <a:avLst/>
          </a:prstGeom>
          <a:solidFill>
            <a:srgbClr val="EBEBEB"/>
          </a:solidFill>
          <a:ln/>
        </p:spPr>
      </p:sp>
      <p:pic>
        <p:nvPicPr>
          <p:cNvPr id="13" name="Image 0" descr="s39_1">    </p:cNvPr>
          <p:cNvPicPr>
            <a:picLocks noChangeAspect="1"/>
          </p:cNvPicPr>
          <p:nvPr/>
        </p:nvPicPr>
        <p:blipFill>
          <a:blip r:embed="rId1"/>
          <a:stretch>
            <a:fillRect/>
          </a:stretch>
        </p:blipFill>
        <p:spPr>
          <a:xfrm>
            <a:off x="3172968" y="1712037"/>
            <a:ext cx="5422392" cy="233664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论文的写作与润色 · COCA</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Corpus of Contemporary American English</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41</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2D2D2D"/>
                </a:solidFill>
                <a:latin typeface="Poppins" pitchFamily="34" charset="0"/>
                <a:ea typeface="Poppins" pitchFamily="34" charset="-122"/>
                <a:cs typeface="Poppins" pitchFamily="34" charset="-120"/>
              </a:rPr>
              <a:t>COCA</a:t>
            </a:r>
            <a:endParaRPr lang="en-US" sz="2000" dirty="0"/>
          </a:p>
        </p:txBody>
      </p:sp>
      <p:sp>
        <p:nvSpPr>
          <p:cNvPr id="11" name="Text 9"/>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2D2D2D"/>
                </a:solidFill>
                <a:latin typeface="Poppins" pitchFamily="34" charset="0"/>
                <a:ea typeface="Poppins" pitchFamily="34" charset="-122"/>
                <a:cs typeface="Poppins" pitchFamily="34" charset="-120"/>
              </a:rPr>
              <a:t>Corpus of Contemporary American English</a:t>
            </a:r>
            <a:endParaRPr lang="en-US" sz="1100" dirty="0"/>
          </a:p>
        </p:txBody>
      </p:sp>
      <p:sp>
        <p:nvSpPr>
          <p:cNvPr id="12" name="Shape 10"/>
          <p:cNvSpPr/>
          <p:nvPr/>
        </p:nvSpPr>
        <p:spPr>
          <a:xfrm>
            <a:off x="3035808" y="1188720"/>
            <a:ext cx="5696712" cy="3383280"/>
          </a:xfrm>
          <a:prstGeom prst="rect">
            <a:avLst/>
          </a:prstGeom>
          <a:solidFill>
            <a:srgbClr val="EBEBEB"/>
          </a:solidFill>
          <a:ln/>
        </p:spPr>
      </p:sp>
      <p:pic>
        <p:nvPicPr>
          <p:cNvPr id="13" name="Image 0" descr="s40_1">    </p:cNvPr>
          <p:cNvPicPr>
            <a:picLocks noChangeAspect="1"/>
          </p:cNvPicPr>
          <p:nvPr/>
        </p:nvPicPr>
        <p:blipFill>
          <a:blip r:embed="rId1"/>
          <a:stretch>
            <a:fillRect/>
          </a:stretch>
        </p:blipFill>
        <p:spPr>
          <a:xfrm>
            <a:off x="3172968" y="1871875"/>
            <a:ext cx="5422392" cy="201697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论文的写作与润色 · Elsevier 作者服务</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Elsevier Author Services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42</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Poppins" pitchFamily="34" charset="0"/>
                <a:ea typeface="Poppins" pitchFamily="34" charset="-122"/>
                <a:cs typeface="Poppins" pitchFamily="34" charset="-120"/>
              </a:rPr>
              <a:t>Elsevier</a:t>
            </a:r>
            <a:endParaRPr lang="en-US" sz="2000" dirty="0"/>
          </a:p>
        </p:txBody>
      </p:sp>
      <p:sp>
        <p:nvSpPr>
          <p:cNvPr id="11" name="Text 9"/>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FFFFFF"/>
                </a:solidFill>
                <a:latin typeface="Microsoft YaHei" pitchFamily="34" charset="0"/>
                <a:ea typeface="Microsoft YaHei" pitchFamily="34" charset="-122"/>
                <a:cs typeface="Microsoft YaHei" pitchFamily="34" charset="-120"/>
              </a:rPr>
              <a:t>Elsevier 作者服务为您提供论文翻译及格式编辑服务</a:t>
            </a:r>
            <a:endParaRPr lang="en-US" sz="1100" dirty="0"/>
          </a:p>
        </p:txBody>
      </p:sp>
      <p:sp>
        <p:nvSpPr>
          <p:cNvPr id="12" name="Shape 10"/>
          <p:cNvSpPr/>
          <p:nvPr/>
        </p:nvSpPr>
        <p:spPr>
          <a:xfrm>
            <a:off x="3035808" y="1188720"/>
            <a:ext cx="5696712" cy="3383280"/>
          </a:xfrm>
          <a:prstGeom prst="rect">
            <a:avLst/>
          </a:prstGeom>
          <a:solidFill>
            <a:srgbClr val="EBEBEB"/>
          </a:solidFill>
          <a:ln/>
        </p:spPr>
      </p:sp>
      <p:pic>
        <p:nvPicPr>
          <p:cNvPr id="13" name="Image 0" descr="s41_0">    </p:cNvPr>
          <p:cNvPicPr>
            <a:picLocks noChangeAspect="1"/>
          </p:cNvPicPr>
          <p:nvPr/>
        </p:nvPicPr>
        <p:blipFill>
          <a:blip r:embed="rId1"/>
          <a:stretch>
            <a:fillRect/>
          </a:stretch>
        </p:blipFill>
        <p:spPr>
          <a:xfrm>
            <a:off x="3172968" y="1493626"/>
            <a:ext cx="5422392" cy="277346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科研绘图</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Graphics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43</a:t>
            </a:r>
            <a:endParaRPr lang="en-US" sz="800" dirty="0"/>
          </a:p>
        </p:txBody>
      </p:sp>
      <p:sp>
        <p:nvSpPr>
          <p:cNvPr id="9" name="Shape 7"/>
          <p:cNvSpPr/>
          <p:nvPr/>
        </p:nvSpPr>
        <p:spPr>
          <a:xfrm>
            <a:off x="411480" y="1188720"/>
            <a:ext cx="1997964" cy="3383280"/>
          </a:xfrm>
          <a:prstGeom prst="rect">
            <a:avLst/>
          </a:prstGeom>
          <a:solidFill>
            <a:srgbClr val="40E0D0"/>
          </a:solidFill>
          <a:ln/>
        </p:spPr>
      </p:sp>
      <p:sp>
        <p:nvSpPr>
          <p:cNvPr id="10" name="Text 8"/>
          <p:cNvSpPr txBox="1"/>
          <p:nvPr/>
        </p:nvSpPr>
        <p:spPr>
          <a:xfrm>
            <a:off x="594360" y="1325880"/>
            <a:ext cx="914400" cy="64008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01</a:t>
            </a:r>
            <a:endParaRPr lang="en-US" sz="2800" dirty="0"/>
          </a:p>
        </p:txBody>
      </p:sp>
      <p:sp>
        <p:nvSpPr>
          <p:cNvPr id="11" name="Text 9"/>
          <p:cNvSpPr txBox="1"/>
          <p:nvPr/>
        </p:nvSpPr>
        <p:spPr>
          <a:xfrm>
            <a:off x="594360" y="3291840"/>
            <a:ext cx="1677924" cy="548640"/>
          </a:xfrm>
          <a:prstGeom prst="rect">
            <a:avLst/>
          </a:prstGeom>
          <a:noFill/>
          <a:ln/>
        </p:spPr>
        <p:txBody>
          <a:bodyPr wrap="square" lIns="0" tIns="0" rIns="0" bIns="0" rtlCol="0" anchor="ctr"/>
          <a:lstStyle/>
          <a:p>
            <a:pPr indent="0" marL="0">
              <a:buNone/>
            </a:pPr>
            <a:r>
              <a:rPr lang="en-US" sz="2400" b="1" dirty="0">
                <a:solidFill>
                  <a:srgbClr val="2D2D2D"/>
                </a:solidFill>
                <a:latin typeface="Poppins" pitchFamily="34" charset="0"/>
                <a:ea typeface="Poppins" pitchFamily="34" charset="-122"/>
                <a:cs typeface="Poppins" pitchFamily="34" charset="-120"/>
              </a:rPr>
              <a:t>Origin</a:t>
            </a:r>
            <a:endParaRPr lang="en-US" sz="2400" dirty="0"/>
          </a:p>
        </p:txBody>
      </p:sp>
      <p:sp>
        <p:nvSpPr>
          <p:cNvPr id="12" name="Text 10"/>
          <p:cNvSpPr txBox="1"/>
          <p:nvPr/>
        </p:nvSpPr>
        <p:spPr>
          <a:xfrm>
            <a:off x="594360" y="3840480"/>
            <a:ext cx="1677924" cy="457200"/>
          </a:xfrm>
          <a:prstGeom prst="rect">
            <a:avLst/>
          </a:prstGeom>
          <a:noFill/>
          <a:ln/>
        </p:spPr>
        <p:txBody>
          <a:bodyPr wrap="square" lIns="0" tIns="0" rIns="0" bIns="0" rtlCol="0" anchor="t"/>
          <a:lstStyle/>
          <a:p>
            <a:pPr indent="0" marL="0">
              <a:buNone/>
            </a:pPr>
            <a:r>
              <a:rPr lang="en-US" sz="1100" dirty="0">
                <a:solidFill>
                  <a:srgbClr val="2D2D2D"/>
                </a:solidFill>
                <a:latin typeface="Microsoft YaHei" pitchFamily="34" charset="0"/>
                <a:ea typeface="Microsoft YaHei" pitchFamily="34" charset="-122"/>
                <a:cs typeface="Microsoft YaHei" pitchFamily="34" charset="-120"/>
              </a:rPr>
              <a:t>桌面绘图软件</a:t>
            </a:r>
            <a:endParaRPr lang="en-US" sz="1100" dirty="0"/>
          </a:p>
        </p:txBody>
      </p:sp>
      <p:sp>
        <p:nvSpPr>
          <p:cNvPr id="13" name="Shape 11"/>
          <p:cNvSpPr/>
          <p:nvPr/>
        </p:nvSpPr>
        <p:spPr>
          <a:xfrm>
            <a:off x="2519172" y="1188720"/>
            <a:ext cx="1997964" cy="3383280"/>
          </a:xfrm>
          <a:prstGeom prst="rect">
            <a:avLst/>
          </a:prstGeom>
          <a:solidFill>
            <a:srgbClr val="EBEBEB"/>
          </a:solidFill>
          <a:ln/>
        </p:spPr>
      </p:sp>
      <p:sp>
        <p:nvSpPr>
          <p:cNvPr id="14" name="Text 12"/>
          <p:cNvSpPr txBox="1"/>
          <p:nvPr/>
        </p:nvSpPr>
        <p:spPr>
          <a:xfrm>
            <a:off x="2702052" y="1325880"/>
            <a:ext cx="914400" cy="64008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02</a:t>
            </a:r>
            <a:endParaRPr lang="en-US" sz="2800" dirty="0"/>
          </a:p>
        </p:txBody>
      </p:sp>
      <p:sp>
        <p:nvSpPr>
          <p:cNvPr id="15" name="Text 13"/>
          <p:cNvSpPr txBox="1"/>
          <p:nvPr/>
        </p:nvSpPr>
        <p:spPr>
          <a:xfrm>
            <a:off x="2702052" y="3291840"/>
            <a:ext cx="1677924" cy="548640"/>
          </a:xfrm>
          <a:prstGeom prst="rect">
            <a:avLst/>
          </a:prstGeom>
          <a:noFill/>
          <a:ln/>
        </p:spPr>
        <p:txBody>
          <a:bodyPr wrap="square" lIns="0" tIns="0" rIns="0" bIns="0" rtlCol="0" anchor="ctr"/>
          <a:lstStyle/>
          <a:p>
            <a:pPr indent="0" marL="0">
              <a:buNone/>
            </a:pPr>
            <a:r>
              <a:rPr lang="en-US" sz="2400" b="1" dirty="0">
                <a:solidFill>
                  <a:srgbClr val="2D2D2D"/>
                </a:solidFill>
                <a:latin typeface="Poppins" pitchFamily="34" charset="0"/>
                <a:ea typeface="Poppins" pitchFamily="34" charset="-122"/>
                <a:cs typeface="Poppins" pitchFamily="34" charset="-120"/>
              </a:rPr>
              <a:t>Hiplot</a:t>
            </a:r>
            <a:endParaRPr lang="en-US" sz="2400" dirty="0"/>
          </a:p>
        </p:txBody>
      </p:sp>
      <p:sp>
        <p:nvSpPr>
          <p:cNvPr id="16" name="Text 14"/>
          <p:cNvSpPr txBox="1"/>
          <p:nvPr/>
        </p:nvSpPr>
        <p:spPr>
          <a:xfrm>
            <a:off x="2702052" y="3840480"/>
            <a:ext cx="1677924" cy="457200"/>
          </a:xfrm>
          <a:prstGeom prst="rect">
            <a:avLst/>
          </a:prstGeom>
          <a:noFill/>
          <a:ln/>
        </p:spPr>
        <p:txBody>
          <a:bodyPr wrap="square" lIns="0" tIns="0" rIns="0" bIns="0" rtlCol="0" anchor="t"/>
          <a:lstStyle/>
          <a:p>
            <a:pPr indent="0" marL="0">
              <a:buNone/>
            </a:pPr>
            <a:r>
              <a:rPr lang="en-US" sz="1100" dirty="0">
                <a:solidFill>
                  <a:srgbClr val="2D2D2D"/>
                </a:solidFill>
                <a:latin typeface="Poppins" pitchFamily="34" charset="0"/>
                <a:ea typeface="Poppins" pitchFamily="34" charset="-122"/>
                <a:cs typeface="Poppins" pitchFamily="34" charset="-120"/>
              </a:rPr>
              <a:t>hiplot.com.cn</a:t>
            </a:r>
            <a:endParaRPr lang="en-US" sz="1100" dirty="0"/>
          </a:p>
        </p:txBody>
      </p:sp>
      <p:sp>
        <p:nvSpPr>
          <p:cNvPr id="17" name="Shape 15"/>
          <p:cNvSpPr/>
          <p:nvPr/>
        </p:nvSpPr>
        <p:spPr>
          <a:xfrm>
            <a:off x="4626864" y="1188720"/>
            <a:ext cx="1997964" cy="3383280"/>
          </a:xfrm>
          <a:prstGeom prst="rect">
            <a:avLst/>
          </a:prstGeom>
          <a:solidFill>
            <a:srgbClr val="E2E2E2"/>
          </a:solidFill>
          <a:ln/>
        </p:spPr>
      </p:sp>
      <p:sp>
        <p:nvSpPr>
          <p:cNvPr id="18" name="Text 16"/>
          <p:cNvSpPr txBox="1"/>
          <p:nvPr/>
        </p:nvSpPr>
        <p:spPr>
          <a:xfrm>
            <a:off x="4809744" y="1325880"/>
            <a:ext cx="914400" cy="64008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03</a:t>
            </a:r>
            <a:endParaRPr lang="en-US" sz="2800" dirty="0"/>
          </a:p>
        </p:txBody>
      </p:sp>
      <p:sp>
        <p:nvSpPr>
          <p:cNvPr id="19" name="Text 17"/>
          <p:cNvSpPr txBox="1"/>
          <p:nvPr/>
        </p:nvSpPr>
        <p:spPr>
          <a:xfrm>
            <a:off x="4809744" y="3291840"/>
            <a:ext cx="1677924" cy="548640"/>
          </a:xfrm>
          <a:prstGeom prst="rect">
            <a:avLst/>
          </a:prstGeom>
          <a:noFill/>
          <a:ln/>
        </p:spPr>
        <p:txBody>
          <a:bodyPr wrap="square" lIns="0" tIns="0" rIns="0" bIns="0" rtlCol="0" anchor="ctr"/>
          <a:lstStyle/>
          <a:p>
            <a:pPr indent="0" marL="0">
              <a:buNone/>
            </a:pPr>
            <a:r>
              <a:rPr lang="en-US" sz="2400" b="1" dirty="0">
                <a:solidFill>
                  <a:srgbClr val="2D2D2D"/>
                </a:solidFill>
                <a:latin typeface="Poppins" pitchFamily="34" charset="0"/>
                <a:ea typeface="Poppins" pitchFamily="34" charset="-122"/>
                <a:cs typeface="Poppins" pitchFamily="34" charset="-120"/>
              </a:rPr>
              <a:t>ImageGP</a:t>
            </a:r>
            <a:endParaRPr lang="en-US" sz="2400" dirty="0"/>
          </a:p>
        </p:txBody>
      </p:sp>
      <p:sp>
        <p:nvSpPr>
          <p:cNvPr id="20" name="Text 18"/>
          <p:cNvSpPr txBox="1"/>
          <p:nvPr/>
        </p:nvSpPr>
        <p:spPr>
          <a:xfrm>
            <a:off x="4809744" y="3840480"/>
            <a:ext cx="1677924" cy="457200"/>
          </a:xfrm>
          <a:prstGeom prst="rect">
            <a:avLst/>
          </a:prstGeom>
          <a:noFill/>
          <a:ln/>
        </p:spPr>
        <p:txBody>
          <a:bodyPr wrap="square" lIns="0" tIns="0" rIns="0" bIns="0" rtlCol="0" anchor="t"/>
          <a:lstStyle/>
          <a:p>
            <a:pPr indent="0" marL="0">
              <a:buNone/>
            </a:pPr>
            <a:r>
              <a:rPr lang="en-US" sz="1100" dirty="0">
                <a:solidFill>
                  <a:srgbClr val="2D2D2D"/>
                </a:solidFill>
                <a:latin typeface="Poppins" pitchFamily="34" charset="0"/>
                <a:ea typeface="Poppins" pitchFamily="34" charset="-122"/>
                <a:cs typeface="Poppins" pitchFamily="34" charset="-120"/>
              </a:rPr>
              <a:t>bic.ac.cn/ImageGP</a:t>
            </a:r>
            <a:endParaRPr lang="en-US" sz="1100" dirty="0"/>
          </a:p>
        </p:txBody>
      </p:sp>
      <p:sp>
        <p:nvSpPr>
          <p:cNvPr id="21" name="Shape 19"/>
          <p:cNvSpPr/>
          <p:nvPr/>
        </p:nvSpPr>
        <p:spPr>
          <a:xfrm>
            <a:off x="6734556" y="1188720"/>
            <a:ext cx="1997964" cy="3383280"/>
          </a:xfrm>
          <a:prstGeom prst="rect">
            <a:avLst/>
          </a:prstGeom>
          <a:solidFill>
            <a:srgbClr val="2D2D2D"/>
          </a:solidFill>
          <a:ln/>
        </p:spPr>
      </p:sp>
      <p:sp>
        <p:nvSpPr>
          <p:cNvPr id="22" name="Text 20"/>
          <p:cNvSpPr txBox="1"/>
          <p:nvPr/>
        </p:nvSpPr>
        <p:spPr>
          <a:xfrm>
            <a:off x="6917436" y="1325880"/>
            <a:ext cx="914400" cy="640080"/>
          </a:xfrm>
          <a:prstGeom prst="rect">
            <a:avLst/>
          </a:prstGeom>
          <a:noFill/>
          <a:ln/>
        </p:spPr>
        <p:txBody>
          <a:bodyPr wrap="square" lIns="0" tIns="0" rIns="0" bIns="0" rtlCol="0" anchor="t"/>
          <a:lstStyle/>
          <a:p>
            <a:pPr indent="0" marL="0">
              <a:buNone/>
            </a:pPr>
            <a:r>
              <a:rPr lang="en-US" sz="2800" b="1" dirty="0">
                <a:solidFill>
                  <a:srgbClr val="40E0D0"/>
                </a:solidFill>
                <a:latin typeface="Poppins" pitchFamily="34" charset="0"/>
                <a:ea typeface="Poppins" pitchFamily="34" charset="-122"/>
                <a:cs typeface="Poppins" pitchFamily="34" charset="-120"/>
              </a:rPr>
              <a:t>04</a:t>
            </a:r>
            <a:endParaRPr lang="en-US" sz="2800" dirty="0"/>
          </a:p>
        </p:txBody>
      </p:sp>
      <p:sp>
        <p:nvSpPr>
          <p:cNvPr id="23" name="Text 21"/>
          <p:cNvSpPr txBox="1"/>
          <p:nvPr/>
        </p:nvSpPr>
        <p:spPr>
          <a:xfrm>
            <a:off x="6917436" y="3291840"/>
            <a:ext cx="1677924" cy="548640"/>
          </a:xfrm>
          <a:prstGeom prst="rect">
            <a:avLst/>
          </a:prstGeom>
          <a:noFill/>
          <a:ln/>
        </p:spPr>
        <p:txBody>
          <a:bodyPr wrap="square" lIns="0" tIns="0" rIns="0" bIns="0" rtlCol="0" anchor="ctr"/>
          <a:lstStyle/>
          <a:p>
            <a:pPr indent="0" marL="0">
              <a:buNone/>
            </a:pPr>
            <a:r>
              <a:rPr lang="en-US" sz="2400" b="1" dirty="0">
                <a:solidFill>
                  <a:srgbClr val="FFFFFF"/>
                </a:solidFill>
                <a:latin typeface="Poppins" pitchFamily="34" charset="0"/>
                <a:ea typeface="Poppins" pitchFamily="34" charset="-122"/>
                <a:cs typeface="Poppins" pitchFamily="34" charset="-120"/>
              </a:rPr>
              <a:t>WPS</a:t>
            </a:r>
            <a:endParaRPr lang="en-US" sz="2400" dirty="0"/>
          </a:p>
        </p:txBody>
      </p:sp>
      <p:sp>
        <p:nvSpPr>
          <p:cNvPr id="24" name="Text 22"/>
          <p:cNvSpPr txBox="1"/>
          <p:nvPr/>
        </p:nvSpPr>
        <p:spPr>
          <a:xfrm>
            <a:off x="6917436" y="3840480"/>
            <a:ext cx="1677924" cy="457200"/>
          </a:xfrm>
          <a:prstGeom prst="rect">
            <a:avLst/>
          </a:prstGeom>
          <a:noFill/>
          <a:ln/>
        </p:spPr>
        <p:txBody>
          <a:bodyPr wrap="square" lIns="0" tIns="0" rIns="0" bIns="0" rtlCol="0" anchor="t"/>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流程图 · 思维导图</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科研绘图 · Origin</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Graphics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44</a:t>
            </a:r>
            <a:endParaRPr lang="en-US" sz="800" dirty="0"/>
          </a:p>
        </p:txBody>
      </p:sp>
      <p:sp>
        <p:nvSpPr>
          <p:cNvPr id="9" name="Shape 7"/>
          <p:cNvSpPr/>
          <p:nvPr/>
        </p:nvSpPr>
        <p:spPr>
          <a:xfrm>
            <a:off x="411480" y="1188720"/>
            <a:ext cx="2514600" cy="3383280"/>
          </a:xfrm>
          <a:prstGeom prst="rect">
            <a:avLst/>
          </a:prstGeom>
          <a:solidFill>
            <a:srgbClr val="40E0D0"/>
          </a:solidFill>
          <a:ln/>
        </p:spPr>
      </p:sp>
      <p:pic>
        <p:nvPicPr>
          <p:cNvPr id="10" name="Image 0" descr="s42_0">    </p:cNvPr>
          <p:cNvPicPr>
            <a:picLocks noChangeAspect="1"/>
          </p:cNvPicPr>
          <p:nvPr/>
        </p:nvPicPr>
        <p:blipFill>
          <a:blip r:embed="rId1"/>
          <a:stretch>
            <a:fillRect/>
          </a:stretch>
        </p:blipFill>
        <p:spPr>
          <a:xfrm>
            <a:off x="594360" y="1835981"/>
            <a:ext cx="914400" cy="900038"/>
          </a:xfrm>
          <a:prstGeom prst="rect">
            <a:avLst/>
          </a:prstGeom>
        </p:spPr>
      </p:pic>
      <p:sp>
        <p:nvSpPr>
          <p:cNvPr id="11" name="Text 8"/>
          <p:cNvSpPr txBox="1"/>
          <p:nvPr/>
        </p:nvSpPr>
        <p:spPr>
          <a:xfrm>
            <a:off x="594360" y="2788920"/>
            <a:ext cx="2194560" cy="822960"/>
          </a:xfrm>
          <a:prstGeom prst="rect">
            <a:avLst/>
          </a:prstGeom>
          <a:noFill/>
          <a:ln/>
        </p:spPr>
        <p:txBody>
          <a:bodyPr wrap="square" lIns="0" tIns="0" rIns="0" bIns="0" rtlCol="0" anchor="b"/>
          <a:lstStyle/>
          <a:p>
            <a:pPr indent="0" marL="0">
              <a:buNone/>
            </a:pPr>
            <a:r>
              <a:rPr lang="en-US" sz="2000" b="1" dirty="0">
                <a:solidFill>
                  <a:srgbClr val="2D2D2D"/>
                </a:solidFill>
                <a:latin typeface="Poppins" pitchFamily="34" charset="0"/>
                <a:ea typeface="Poppins" pitchFamily="34" charset="-122"/>
                <a:cs typeface="Poppins" pitchFamily="34" charset="-120"/>
              </a:rPr>
              <a:t>Origin</a:t>
            </a:r>
            <a:endParaRPr lang="en-US" sz="2000" dirty="0"/>
          </a:p>
        </p:txBody>
      </p:sp>
      <p:sp>
        <p:nvSpPr>
          <p:cNvPr id="12" name="Shape 9"/>
          <p:cNvSpPr/>
          <p:nvPr/>
        </p:nvSpPr>
        <p:spPr>
          <a:xfrm>
            <a:off x="3035808" y="1188720"/>
            <a:ext cx="5696712" cy="3383280"/>
          </a:xfrm>
          <a:prstGeom prst="rect">
            <a:avLst/>
          </a:prstGeom>
          <a:solidFill>
            <a:srgbClr val="EBEBEB"/>
          </a:solidFill>
          <a:ln/>
        </p:spPr>
      </p:sp>
      <p:pic>
        <p:nvPicPr>
          <p:cNvPr id="13" name="Image 1" descr="s42_1">    </p:cNvPr>
          <p:cNvPicPr>
            <a:picLocks noChangeAspect="1"/>
          </p:cNvPicPr>
          <p:nvPr/>
        </p:nvPicPr>
        <p:blipFill>
          <a:blip r:embed="rId2"/>
          <a:stretch>
            <a:fillRect/>
          </a:stretch>
        </p:blipFill>
        <p:spPr>
          <a:xfrm>
            <a:off x="3172968" y="1592838"/>
            <a:ext cx="5422392" cy="257504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科研绘图 · Hiplot</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Graphics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45</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Poppins" pitchFamily="34" charset="0"/>
                <a:ea typeface="Poppins" pitchFamily="34" charset="-122"/>
                <a:cs typeface="Poppins" pitchFamily="34" charset="-120"/>
              </a:rPr>
              <a:t>Hiplot</a:t>
            </a:r>
            <a:endParaRPr lang="en-US" sz="2000" dirty="0"/>
          </a:p>
        </p:txBody>
      </p:sp>
      <p:sp>
        <p:nvSpPr>
          <p:cNvPr id="11" name="Shape 9"/>
          <p:cNvSpPr/>
          <p:nvPr/>
        </p:nvSpPr>
        <p:spPr>
          <a:xfrm>
            <a:off x="411480" y="3977640"/>
            <a:ext cx="2514600" cy="594360"/>
          </a:xfrm>
          <a:prstGeom prst="rect">
            <a:avLst/>
          </a:prstGeom>
          <a:solidFill>
            <a:srgbClr val="40E0D0"/>
          </a:solidFill>
          <a:ln/>
        </p:spPr>
      </p:sp>
      <p:sp>
        <p:nvSpPr>
          <p:cNvPr id="12" name="Text 10"/>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2D2D2D"/>
                </a:solidFill>
                <a:latin typeface="Poppins" pitchFamily="34" charset="0"/>
                <a:ea typeface="Poppins" pitchFamily="34" charset="-122"/>
                <a:cs typeface="Poppins" pitchFamily="34" charset="-120"/>
              </a:rPr>
              <a:t>https://hiplot.com.cn/</a:t>
            </a:r>
            <a:endParaRPr lang="en-US" sz="900" dirty="0"/>
          </a:p>
        </p:txBody>
      </p:sp>
      <p:sp>
        <p:nvSpPr>
          <p:cNvPr id="13" name="Shape 11"/>
          <p:cNvSpPr/>
          <p:nvPr/>
        </p:nvSpPr>
        <p:spPr>
          <a:xfrm>
            <a:off x="3035808" y="1188720"/>
            <a:ext cx="5696712" cy="3383280"/>
          </a:xfrm>
          <a:prstGeom prst="rect">
            <a:avLst/>
          </a:prstGeom>
          <a:solidFill>
            <a:srgbClr val="EBEBEB"/>
          </a:solidFill>
          <a:ln/>
        </p:spPr>
      </p:sp>
      <p:pic>
        <p:nvPicPr>
          <p:cNvPr id="14" name="Image 0" descr="s43_0">    </p:cNvPr>
          <p:cNvPicPr>
            <a:picLocks noChangeAspect="1"/>
          </p:cNvPicPr>
          <p:nvPr/>
        </p:nvPicPr>
        <p:blipFill>
          <a:blip r:embed="rId1"/>
          <a:stretch>
            <a:fillRect/>
          </a:stretch>
        </p:blipFill>
        <p:spPr>
          <a:xfrm>
            <a:off x="3172968" y="1661974"/>
            <a:ext cx="5422392" cy="243677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科研绘图 · ImageGP</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Graphics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46</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2D2D2D"/>
                </a:solidFill>
                <a:latin typeface="Poppins" pitchFamily="34" charset="0"/>
                <a:ea typeface="Poppins" pitchFamily="34" charset="-122"/>
                <a:cs typeface="Poppins" pitchFamily="34" charset="-120"/>
              </a:rPr>
              <a:t>ImageGP</a:t>
            </a:r>
            <a:endParaRPr lang="en-US" sz="2000" dirty="0"/>
          </a:p>
        </p:txBody>
      </p:sp>
      <p:sp>
        <p:nvSpPr>
          <p:cNvPr id="11" name="Shape 9"/>
          <p:cNvSpPr/>
          <p:nvPr/>
        </p:nvSpPr>
        <p:spPr>
          <a:xfrm>
            <a:off x="411480" y="3977640"/>
            <a:ext cx="2514600" cy="594360"/>
          </a:xfrm>
          <a:prstGeom prst="rect">
            <a:avLst/>
          </a:prstGeom>
          <a:solidFill>
            <a:srgbClr val="40E0D0"/>
          </a:solidFill>
          <a:ln/>
        </p:spPr>
      </p:sp>
      <p:sp>
        <p:nvSpPr>
          <p:cNvPr id="12" name="Text 10"/>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2D2D2D"/>
                </a:solidFill>
                <a:latin typeface="Poppins" pitchFamily="34" charset="0"/>
                <a:ea typeface="Poppins" pitchFamily="34" charset="-122"/>
                <a:cs typeface="Poppins" pitchFamily="34" charset="-120"/>
              </a:rPr>
              <a:t>https://www.bic.ac.cn/ImageGP/</a:t>
            </a:r>
            <a:endParaRPr lang="en-US" sz="900" dirty="0"/>
          </a:p>
        </p:txBody>
      </p:sp>
      <p:sp>
        <p:nvSpPr>
          <p:cNvPr id="13" name="Shape 11"/>
          <p:cNvSpPr/>
          <p:nvPr/>
        </p:nvSpPr>
        <p:spPr>
          <a:xfrm>
            <a:off x="3035808" y="1188720"/>
            <a:ext cx="5696712" cy="3383280"/>
          </a:xfrm>
          <a:prstGeom prst="rect">
            <a:avLst/>
          </a:prstGeom>
          <a:solidFill>
            <a:srgbClr val="EBEBEB"/>
          </a:solidFill>
          <a:ln/>
        </p:spPr>
      </p:sp>
      <p:pic>
        <p:nvPicPr>
          <p:cNvPr id="14" name="Image 0" descr="s44_0">    </p:cNvPr>
          <p:cNvPicPr>
            <a:picLocks noChangeAspect="1"/>
          </p:cNvPicPr>
          <p:nvPr/>
        </p:nvPicPr>
        <p:blipFill>
          <a:blip r:embed="rId1"/>
          <a:stretch>
            <a:fillRect/>
          </a:stretch>
        </p:blipFill>
        <p:spPr>
          <a:xfrm>
            <a:off x="3172968" y="1648917"/>
            <a:ext cx="5422392" cy="246288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科研绘图 · WPS</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Graphics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47</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3200" b="1" dirty="0">
                <a:solidFill>
                  <a:srgbClr val="FFFFFF"/>
                </a:solidFill>
                <a:latin typeface="Poppins" pitchFamily="34" charset="0"/>
                <a:ea typeface="Poppins" pitchFamily="34" charset="-122"/>
                <a:cs typeface="Poppins" pitchFamily="34" charset="-120"/>
              </a:rPr>
              <a:t>WPS</a:t>
            </a:r>
            <a:endParaRPr lang="en-US" sz="3200" dirty="0"/>
          </a:p>
        </p:txBody>
      </p:sp>
      <p:sp>
        <p:nvSpPr>
          <p:cNvPr id="11" name="Shape 9"/>
          <p:cNvSpPr/>
          <p:nvPr/>
        </p:nvSpPr>
        <p:spPr>
          <a:xfrm>
            <a:off x="3035808" y="1188720"/>
            <a:ext cx="5696712" cy="1636776"/>
          </a:xfrm>
          <a:prstGeom prst="rect">
            <a:avLst/>
          </a:prstGeom>
          <a:solidFill>
            <a:srgbClr val="EBEBEB"/>
          </a:solidFill>
          <a:ln/>
        </p:spPr>
      </p:sp>
      <p:pic>
        <p:nvPicPr>
          <p:cNvPr id="12" name="Image 0" descr="s45_0">    </p:cNvPr>
          <p:cNvPicPr>
            <a:picLocks noChangeAspect="1"/>
          </p:cNvPicPr>
          <p:nvPr/>
        </p:nvPicPr>
        <p:blipFill>
          <a:blip r:embed="rId1"/>
          <a:stretch>
            <a:fillRect/>
          </a:stretch>
        </p:blipFill>
        <p:spPr>
          <a:xfrm>
            <a:off x="3172968" y="1520839"/>
            <a:ext cx="5422392" cy="972537"/>
          </a:xfrm>
          <a:prstGeom prst="rect">
            <a:avLst/>
          </a:prstGeom>
        </p:spPr>
      </p:pic>
      <p:sp>
        <p:nvSpPr>
          <p:cNvPr id="13" name="Shape 10"/>
          <p:cNvSpPr/>
          <p:nvPr/>
        </p:nvSpPr>
        <p:spPr>
          <a:xfrm>
            <a:off x="3035808" y="2935224"/>
            <a:ext cx="5696712" cy="1636776"/>
          </a:xfrm>
          <a:prstGeom prst="rect">
            <a:avLst/>
          </a:prstGeom>
          <a:solidFill>
            <a:srgbClr val="EBEBEB"/>
          </a:solidFill>
          <a:ln/>
        </p:spPr>
      </p:sp>
      <p:pic>
        <p:nvPicPr>
          <p:cNvPr id="14" name="Image 1" descr="s45_1">    </p:cNvPr>
          <p:cNvPicPr>
            <a:picLocks noChangeAspect="1"/>
          </p:cNvPicPr>
          <p:nvPr/>
        </p:nvPicPr>
        <p:blipFill>
          <a:blip r:embed="rId2"/>
          <a:stretch>
            <a:fillRect/>
          </a:stretch>
        </p:blipFill>
        <p:spPr>
          <a:xfrm>
            <a:off x="3172968" y="3251539"/>
            <a:ext cx="5422392" cy="1004147"/>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论文的写作与润色 · 学习渠道</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Learning Channels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外文期刊论文的写作</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48</a:t>
            </a:r>
            <a:endParaRPr lang="en-US" sz="800" dirty="0"/>
          </a:p>
        </p:txBody>
      </p:sp>
      <p:sp>
        <p:nvSpPr>
          <p:cNvPr id="9" name="Shape 7"/>
          <p:cNvSpPr/>
          <p:nvPr/>
        </p:nvSpPr>
        <p:spPr>
          <a:xfrm>
            <a:off x="411480" y="1188720"/>
            <a:ext cx="2700528" cy="3383280"/>
          </a:xfrm>
          <a:prstGeom prst="rect">
            <a:avLst/>
          </a:prstGeom>
          <a:solidFill>
            <a:srgbClr val="40E0D0"/>
          </a:solidFill>
          <a:ln/>
        </p:spPr>
      </p:sp>
      <p:sp>
        <p:nvSpPr>
          <p:cNvPr id="10" name="Shape 8"/>
          <p:cNvSpPr/>
          <p:nvPr/>
        </p:nvSpPr>
        <p:spPr>
          <a:xfrm>
            <a:off x="685800" y="1463040"/>
            <a:ext cx="1005840" cy="1005840"/>
          </a:xfrm>
          <a:prstGeom prst="ellipse">
            <a:avLst/>
          </a:prstGeom>
          <a:solidFill>
            <a:srgbClr val="2D2D2D"/>
          </a:solidFill>
          <a:ln/>
        </p:spPr>
      </p:sp>
      <p:sp>
        <p:nvSpPr>
          <p:cNvPr id="11" name="Text 9"/>
          <p:cNvSpPr txBox="1"/>
          <p:nvPr/>
        </p:nvSpPr>
        <p:spPr>
          <a:xfrm>
            <a:off x="685800" y="1463040"/>
            <a:ext cx="1005840" cy="1005840"/>
          </a:xfrm>
          <a:prstGeom prst="rect">
            <a:avLst/>
          </a:prstGeom>
          <a:noFill/>
          <a:ln/>
        </p:spPr>
        <p:txBody>
          <a:bodyPr wrap="square" lIns="0" tIns="0" rIns="0" bIns="0" rtlCol="0" anchor="ctr"/>
          <a:lstStyle/>
          <a:p>
            <a:pPr algn="ctr" indent="0" marL="0">
              <a:buNone/>
            </a:pPr>
            <a:r>
              <a:rPr lang="en-US" sz="2400" dirty="0">
                <a:solidFill>
                  <a:srgbClr val="40E0D0"/>
                </a:solidFill>
                <a:latin typeface="Poppins" pitchFamily="34" charset="0"/>
                <a:ea typeface="Poppins" pitchFamily="34" charset="-122"/>
                <a:cs typeface="Poppins" pitchFamily="34" charset="-120"/>
              </a:rPr>
              <a:t>▶</a:t>
            </a:r>
            <a:endParaRPr lang="en-US" sz="2400" dirty="0"/>
          </a:p>
        </p:txBody>
      </p:sp>
      <p:sp>
        <p:nvSpPr>
          <p:cNvPr id="12" name="Text 10"/>
          <p:cNvSpPr txBox="1"/>
          <p:nvPr/>
        </p:nvSpPr>
        <p:spPr>
          <a:xfrm>
            <a:off x="685800" y="3566160"/>
            <a:ext cx="2243328" cy="731520"/>
          </a:xfrm>
          <a:prstGeom prst="rect">
            <a:avLst/>
          </a:prstGeom>
          <a:noFill/>
          <a:ln/>
        </p:spPr>
        <p:txBody>
          <a:bodyPr wrap="square" lIns="0" tIns="0" rIns="0" bIns="0" rtlCol="0" anchor="b"/>
          <a:lstStyle/>
          <a:p>
            <a:pPr indent="0" marL="0">
              <a:buNone/>
            </a:pPr>
            <a:r>
              <a:rPr lang="en-US" sz="2800" b="1" dirty="0">
                <a:solidFill>
                  <a:srgbClr val="2D2D2D"/>
                </a:solidFill>
                <a:latin typeface="Poppins" pitchFamily="34" charset="0"/>
                <a:ea typeface="Poppins" pitchFamily="34" charset="-122"/>
                <a:cs typeface="Poppins" pitchFamily="34" charset="-120"/>
              </a:rPr>
              <a:t>Bilibili</a:t>
            </a:r>
            <a:endParaRPr lang="en-US" sz="2800" dirty="0"/>
          </a:p>
        </p:txBody>
      </p:sp>
      <p:sp>
        <p:nvSpPr>
          <p:cNvPr id="13" name="Shape 11"/>
          <p:cNvSpPr/>
          <p:nvPr/>
        </p:nvSpPr>
        <p:spPr>
          <a:xfrm>
            <a:off x="3221736" y="1188720"/>
            <a:ext cx="2700528" cy="3383280"/>
          </a:xfrm>
          <a:prstGeom prst="rect">
            <a:avLst/>
          </a:prstGeom>
          <a:solidFill>
            <a:srgbClr val="EBEBEB"/>
          </a:solidFill>
          <a:ln/>
        </p:spPr>
      </p:sp>
      <p:sp>
        <p:nvSpPr>
          <p:cNvPr id="14" name="Shape 12"/>
          <p:cNvSpPr/>
          <p:nvPr/>
        </p:nvSpPr>
        <p:spPr>
          <a:xfrm>
            <a:off x="3496056" y="1463040"/>
            <a:ext cx="1005840" cy="1005840"/>
          </a:xfrm>
          <a:prstGeom prst="ellipse">
            <a:avLst/>
          </a:prstGeom>
          <a:solidFill>
            <a:srgbClr val="2D2D2D"/>
          </a:solidFill>
          <a:ln/>
        </p:spPr>
      </p:sp>
      <p:sp>
        <p:nvSpPr>
          <p:cNvPr id="15" name="Text 13"/>
          <p:cNvSpPr txBox="1"/>
          <p:nvPr/>
        </p:nvSpPr>
        <p:spPr>
          <a:xfrm>
            <a:off x="3496056" y="1463040"/>
            <a:ext cx="1005840" cy="1005840"/>
          </a:xfrm>
          <a:prstGeom prst="rect">
            <a:avLst/>
          </a:prstGeom>
          <a:noFill/>
          <a:ln/>
        </p:spPr>
        <p:txBody>
          <a:bodyPr wrap="square" lIns="0" tIns="0" rIns="0" bIns="0" rtlCol="0" anchor="ctr"/>
          <a:lstStyle/>
          <a:p>
            <a:pPr algn="ctr" indent="0" marL="0">
              <a:buNone/>
            </a:pPr>
            <a:r>
              <a:rPr lang="en-US" sz="2400" dirty="0">
                <a:solidFill>
                  <a:srgbClr val="40E0D0"/>
                </a:solidFill>
                <a:latin typeface="Poppins" pitchFamily="34" charset="0"/>
                <a:ea typeface="Poppins" pitchFamily="34" charset="-122"/>
                <a:cs typeface="Poppins" pitchFamily="34" charset="-120"/>
              </a:rPr>
              <a:t>▶</a:t>
            </a:r>
            <a:endParaRPr lang="en-US" sz="2400" dirty="0"/>
          </a:p>
        </p:txBody>
      </p:sp>
      <p:sp>
        <p:nvSpPr>
          <p:cNvPr id="16" name="Text 14"/>
          <p:cNvSpPr txBox="1"/>
          <p:nvPr/>
        </p:nvSpPr>
        <p:spPr>
          <a:xfrm>
            <a:off x="3496056" y="3566160"/>
            <a:ext cx="2243328" cy="731520"/>
          </a:xfrm>
          <a:prstGeom prst="rect">
            <a:avLst/>
          </a:prstGeom>
          <a:noFill/>
          <a:ln/>
        </p:spPr>
        <p:txBody>
          <a:bodyPr wrap="square" lIns="0" tIns="0" rIns="0" bIns="0" rtlCol="0" anchor="b"/>
          <a:lstStyle/>
          <a:p>
            <a:pPr indent="0" marL="0">
              <a:buNone/>
            </a:pPr>
            <a:r>
              <a:rPr lang="en-US" sz="2800" b="1" dirty="0">
                <a:solidFill>
                  <a:srgbClr val="2D2D2D"/>
                </a:solidFill>
                <a:latin typeface="Microsoft YaHei" pitchFamily="34" charset="0"/>
                <a:ea typeface="Microsoft YaHei" pitchFamily="34" charset="-122"/>
                <a:cs typeface="Microsoft YaHei" pitchFamily="34" charset="-120"/>
              </a:rPr>
              <a:t>小红书</a:t>
            </a:r>
            <a:endParaRPr lang="en-US" sz="2800" dirty="0"/>
          </a:p>
        </p:txBody>
      </p:sp>
      <p:sp>
        <p:nvSpPr>
          <p:cNvPr id="17" name="Shape 15"/>
          <p:cNvSpPr/>
          <p:nvPr/>
        </p:nvSpPr>
        <p:spPr>
          <a:xfrm>
            <a:off x="6031992" y="1188720"/>
            <a:ext cx="2700528" cy="3383280"/>
          </a:xfrm>
          <a:prstGeom prst="rect">
            <a:avLst/>
          </a:prstGeom>
          <a:solidFill>
            <a:srgbClr val="2D2D2D"/>
          </a:solidFill>
          <a:ln/>
        </p:spPr>
      </p:sp>
      <p:sp>
        <p:nvSpPr>
          <p:cNvPr id="18" name="Shape 16"/>
          <p:cNvSpPr/>
          <p:nvPr/>
        </p:nvSpPr>
        <p:spPr>
          <a:xfrm>
            <a:off x="6306312" y="1463040"/>
            <a:ext cx="1005840" cy="1005840"/>
          </a:xfrm>
          <a:prstGeom prst="ellipse">
            <a:avLst/>
          </a:prstGeom>
          <a:solidFill>
            <a:srgbClr val="40E0D0"/>
          </a:solidFill>
          <a:ln/>
        </p:spPr>
      </p:sp>
      <p:sp>
        <p:nvSpPr>
          <p:cNvPr id="19" name="Text 17"/>
          <p:cNvSpPr txBox="1"/>
          <p:nvPr/>
        </p:nvSpPr>
        <p:spPr>
          <a:xfrm>
            <a:off x="6306312" y="1463040"/>
            <a:ext cx="1005840" cy="1005840"/>
          </a:xfrm>
          <a:prstGeom prst="rect">
            <a:avLst/>
          </a:prstGeom>
          <a:noFill/>
          <a:ln/>
        </p:spPr>
        <p:txBody>
          <a:bodyPr wrap="square" lIns="0" tIns="0" rIns="0" bIns="0" rtlCol="0" anchor="ctr"/>
          <a:lstStyle/>
          <a:p>
            <a:pPr algn="ctr" indent="0" marL="0">
              <a:buNone/>
            </a:pPr>
            <a:r>
              <a:rPr lang="en-US" sz="2400" dirty="0">
                <a:solidFill>
                  <a:srgbClr val="2D2D2D"/>
                </a:solidFill>
                <a:latin typeface="Poppins" pitchFamily="34" charset="0"/>
                <a:ea typeface="Poppins" pitchFamily="34" charset="-122"/>
                <a:cs typeface="Poppins" pitchFamily="34" charset="-120"/>
              </a:rPr>
              <a:t>▶</a:t>
            </a:r>
            <a:endParaRPr lang="en-US" sz="2400" dirty="0"/>
          </a:p>
        </p:txBody>
      </p:sp>
      <p:sp>
        <p:nvSpPr>
          <p:cNvPr id="20" name="Text 18"/>
          <p:cNvSpPr txBox="1"/>
          <p:nvPr/>
        </p:nvSpPr>
        <p:spPr>
          <a:xfrm>
            <a:off x="6306312" y="3566160"/>
            <a:ext cx="2243328" cy="731520"/>
          </a:xfrm>
          <a:prstGeom prst="rect">
            <a:avLst/>
          </a:prstGeom>
          <a:noFill/>
          <a:ln/>
        </p:spPr>
        <p:txBody>
          <a:bodyPr wrap="square" lIns="0" tIns="0" rIns="0" bIns="0" rtlCol="0" anchor="b"/>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抖音</a:t>
            </a:r>
            <a:endParaRPr lang="en-US"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04</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03</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Publishing in International Journals</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外文期刊论文的发表</a:t>
            </a:r>
            <a:endParaRPr lang="en-US" sz="3000" dirty="0"/>
          </a:p>
        </p:txBody>
      </p:sp>
      <p:sp>
        <p:nvSpPr>
          <p:cNvPr id="7" name="Shape 5"/>
          <p:cNvSpPr/>
          <p:nvPr/>
        </p:nvSpPr>
        <p:spPr>
          <a:xfrm>
            <a:off x="4023360" y="1828800"/>
            <a:ext cx="4709160" cy="804672"/>
          </a:xfrm>
          <a:prstGeom prst="roundRect">
            <a:avLst>
              <a:gd name="adj" fmla="val 13636"/>
            </a:avLst>
          </a:prstGeom>
          <a:solidFill>
            <a:srgbClr val="EBEBEB"/>
          </a:solidFill>
          <a:ln/>
        </p:spPr>
      </p:sp>
      <p:sp>
        <p:nvSpPr>
          <p:cNvPr id="8" name="Shape 6"/>
          <p:cNvSpPr/>
          <p:nvPr/>
        </p:nvSpPr>
        <p:spPr>
          <a:xfrm>
            <a:off x="4224528" y="2020824"/>
            <a:ext cx="146304" cy="146304"/>
          </a:xfrm>
          <a:prstGeom prst="rect">
            <a:avLst/>
          </a:prstGeom>
          <a:solidFill>
            <a:srgbClr val="40E0D0"/>
          </a:solidFill>
          <a:ln/>
        </p:spPr>
      </p:sp>
      <p:sp>
        <p:nvSpPr>
          <p:cNvPr id="9" name="Text 7"/>
          <p:cNvSpPr txBox="1"/>
          <p:nvPr/>
        </p:nvSpPr>
        <p:spPr>
          <a:xfrm>
            <a:off x="4526280" y="19202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论文投稿</a:t>
            </a:r>
            <a:endParaRPr lang="en-US" sz="1500" dirty="0"/>
          </a:p>
        </p:txBody>
      </p:sp>
      <p:sp>
        <p:nvSpPr>
          <p:cNvPr id="10" name="Text 8"/>
          <p:cNvSpPr txBox="1"/>
          <p:nvPr/>
        </p:nvSpPr>
        <p:spPr>
          <a:xfrm>
            <a:off x="4526280" y="22768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投稿须知 · 学术规范 · 投稿系统</a:t>
            </a:r>
            <a:endParaRPr lang="en-US" sz="1100" dirty="0"/>
          </a:p>
        </p:txBody>
      </p:sp>
      <p:sp>
        <p:nvSpPr>
          <p:cNvPr id="11" name="Shape 9"/>
          <p:cNvSpPr/>
          <p:nvPr/>
        </p:nvSpPr>
        <p:spPr>
          <a:xfrm>
            <a:off x="4023360" y="2743200"/>
            <a:ext cx="4709160" cy="603504"/>
          </a:xfrm>
          <a:prstGeom prst="roundRect">
            <a:avLst>
              <a:gd name="adj" fmla="val 18182"/>
            </a:avLst>
          </a:prstGeom>
          <a:solidFill>
            <a:srgbClr val="E2E2E2"/>
          </a:solidFill>
          <a:ln/>
        </p:spPr>
      </p:sp>
      <p:sp>
        <p:nvSpPr>
          <p:cNvPr id="12" name="Shape 10"/>
          <p:cNvSpPr/>
          <p:nvPr/>
        </p:nvSpPr>
        <p:spPr>
          <a:xfrm>
            <a:off x="4224528" y="2971800"/>
            <a:ext cx="146304" cy="146304"/>
          </a:xfrm>
          <a:prstGeom prst="rect">
            <a:avLst/>
          </a:prstGeom>
          <a:solidFill>
            <a:srgbClr val="2D2D2D"/>
          </a:solidFill>
          <a:ln/>
        </p:spPr>
      </p:sp>
      <p:sp>
        <p:nvSpPr>
          <p:cNvPr id="13" name="Text 11"/>
          <p:cNvSpPr txBox="1"/>
          <p:nvPr/>
        </p:nvSpPr>
        <p:spPr>
          <a:xfrm>
            <a:off x="4526280" y="28620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论文的评审流程</a:t>
            </a:r>
            <a:endParaRPr lang="en-US" sz="1500" dirty="0"/>
          </a:p>
        </p:txBody>
      </p:sp>
      <p:sp>
        <p:nvSpPr>
          <p:cNvPr id="14" name="Shape 12"/>
          <p:cNvSpPr/>
          <p:nvPr/>
        </p:nvSpPr>
        <p:spPr>
          <a:xfrm>
            <a:off x="4023360" y="3456432"/>
            <a:ext cx="4709160" cy="603504"/>
          </a:xfrm>
          <a:prstGeom prst="roundRect">
            <a:avLst>
              <a:gd name="adj" fmla="val 18182"/>
            </a:avLst>
          </a:prstGeom>
          <a:solidFill>
            <a:srgbClr val="EBEBEB"/>
          </a:solidFill>
          <a:ln/>
        </p:spPr>
      </p:sp>
      <p:sp>
        <p:nvSpPr>
          <p:cNvPr id="15" name="Shape 13"/>
          <p:cNvSpPr/>
          <p:nvPr/>
        </p:nvSpPr>
        <p:spPr>
          <a:xfrm>
            <a:off x="4224528" y="3685032"/>
            <a:ext cx="146304" cy="146304"/>
          </a:xfrm>
          <a:prstGeom prst="rect">
            <a:avLst/>
          </a:prstGeom>
          <a:solidFill>
            <a:srgbClr val="2D2D2D"/>
          </a:solidFill>
          <a:ln/>
        </p:spPr>
      </p:sp>
      <p:sp>
        <p:nvSpPr>
          <p:cNvPr id="16" name="Text 14"/>
          <p:cNvSpPr txBox="1"/>
          <p:nvPr/>
        </p:nvSpPr>
        <p:spPr>
          <a:xfrm>
            <a:off x="4526280" y="35753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论文的定稿</a:t>
            </a:r>
            <a:endParaRPr lang="en-US" sz="1500" dirty="0"/>
          </a:p>
        </p:txBody>
      </p:sp>
      <p:sp>
        <p:nvSpPr>
          <p:cNvPr id="17" name="Shape 15"/>
          <p:cNvSpPr/>
          <p:nvPr/>
        </p:nvSpPr>
        <p:spPr>
          <a:xfrm>
            <a:off x="411480" y="4791456"/>
            <a:ext cx="164592" cy="164592"/>
          </a:xfrm>
          <a:prstGeom prst="rect">
            <a:avLst/>
          </a:prstGeom>
          <a:solidFill>
            <a:srgbClr val="2D2D2D"/>
          </a:solidFill>
          <a:ln/>
        </p:spPr>
      </p:sp>
      <p:sp>
        <p:nvSpPr>
          <p:cNvPr id="18" name="Shape 16"/>
          <p:cNvSpPr/>
          <p:nvPr/>
        </p:nvSpPr>
        <p:spPr>
          <a:xfrm>
            <a:off x="493776" y="4873752"/>
            <a:ext cx="115214" cy="115214"/>
          </a:xfrm>
          <a:prstGeom prst="rect">
            <a:avLst/>
          </a:prstGeom>
          <a:solidFill>
            <a:srgbClr val="FFFFFF"/>
          </a:solidFill>
          <a:ln/>
        </p:spPr>
      </p:sp>
      <p:sp>
        <p:nvSpPr>
          <p:cNvPr id="19" name="Text 17"/>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0" name="Text 18"/>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49</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论文投稿</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Submission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外文期刊论文的发表</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50</a:t>
            </a:r>
            <a:endParaRPr lang="en-US" sz="800" dirty="0"/>
          </a:p>
        </p:txBody>
      </p:sp>
      <p:sp>
        <p:nvSpPr>
          <p:cNvPr id="9" name="Shape 7"/>
          <p:cNvSpPr/>
          <p:nvPr/>
        </p:nvSpPr>
        <p:spPr>
          <a:xfrm>
            <a:off x="411480" y="1188720"/>
            <a:ext cx="4480560" cy="1033272"/>
          </a:xfrm>
          <a:prstGeom prst="rect">
            <a:avLst/>
          </a:prstGeom>
          <a:solidFill>
            <a:srgbClr val="40E0D0"/>
          </a:solidFill>
          <a:ln/>
        </p:spPr>
      </p:sp>
      <p:sp>
        <p:nvSpPr>
          <p:cNvPr id="10" name="Text 8"/>
          <p:cNvSpPr txBox="1"/>
          <p:nvPr/>
        </p:nvSpPr>
        <p:spPr>
          <a:xfrm>
            <a:off x="594360" y="1188720"/>
            <a:ext cx="731520" cy="1033272"/>
          </a:xfrm>
          <a:prstGeom prst="rect">
            <a:avLst/>
          </a:prstGeom>
          <a:noFill/>
          <a:ln/>
        </p:spPr>
        <p:txBody>
          <a:bodyPr wrap="square" lIns="0" tIns="0" rIns="0" bIns="0" rtlCol="0" anchor="ctr"/>
          <a:lstStyle/>
          <a:p>
            <a:pPr indent="0" marL="0">
              <a:buNone/>
            </a:pPr>
            <a:r>
              <a:rPr lang="en-US" sz="2400" b="1" dirty="0">
                <a:solidFill>
                  <a:srgbClr val="2D2D2D"/>
                </a:solidFill>
                <a:latin typeface="Poppins" pitchFamily="34" charset="0"/>
                <a:ea typeface="Poppins" pitchFamily="34" charset="-122"/>
                <a:cs typeface="Poppins" pitchFamily="34" charset="-120"/>
              </a:rPr>
              <a:t>01</a:t>
            </a:r>
            <a:endParaRPr lang="en-US" sz="2400" dirty="0"/>
          </a:p>
        </p:txBody>
      </p:sp>
      <p:sp>
        <p:nvSpPr>
          <p:cNvPr id="11" name="Text 9"/>
          <p:cNvSpPr txBox="1"/>
          <p:nvPr/>
        </p:nvSpPr>
        <p:spPr>
          <a:xfrm>
            <a:off x="1371600" y="1188720"/>
            <a:ext cx="3383280" cy="1033272"/>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使用学校教育邮箱进行论文投稿</a:t>
            </a:r>
            <a:endParaRPr lang="en-US" sz="1500" dirty="0"/>
          </a:p>
        </p:txBody>
      </p:sp>
      <p:sp>
        <p:nvSpPr>
          <p:cNvPr id="12" name="Shape 10"/>
          <p:cNvSpPr/>
          <p:nvPr/>
        </p:nvSpPr>
        <p:spPr>
          <a:xfrm>
            <a:off x="411480" y="2331720"/>
            <a:ext cx="4480560" cy="1033272"/>
          </a:xfrm>
          <a:prstGeom prst="rect">
            <a:avLst/>
          </a:prstGeom>
          <a:solidFill>
            <a:srgbClr val="EBEBEB"/>
          </a:solidFill>
          <a:ln/>
        </p:spPr>
      </p:sp>
      <p:sp>
        <p:nvSpPr>
          <p:cNvPr id="13" name="Text 11"/>
          <p:cNvSpPr txBox="1"/>
          <p:nvPr/>
        </p:nvSpPr>
        <p:spPr>
          <a:xfrm>
            <a:off x="594360" y="2331720"/>
            <a:ext cx="731520" cy="1033272"/>
          </a:xfrm>
          <a:prstGeom prst="rect">
            <a:avLst/>
          </a:prstGeom>
          <a:noFill/>
          <a:ln/>
        </p:spPr>
        <p:txBody>
          <a:bodyPr wrap="square" lIns="0" tIns="0" rIns="0" bIns="0" rtlCol="0" anchor="ctr"/>
          <a:lstStyle/>
          <a:p>
            <a:pPr indent="0" marL="0">
              <a:buNone/>
            </a:pPr>
            <a:r>
              <a:rPr lang="en-US" sz="2400" b="1" dirty="0">
                <a:solidFill>
                  <a:srgbClr val="2D2D2D"/>
                </a:solidFill>
                <a:latin typeface="Poppins" pitchFamily="34" charset="0"/>
                <a:ea typeface="Poppins" pitchFamily="34" charset="-122"/>
                <a:cs typeface="Poppins" pitchFamily="34" charset="-120"/>
              </a:rPr>
              <a:t>02</a:t>
            </a:r>
            <a:endParaRPr lang="en-US" sz="2400" dirty="0"/>
          </a:p>
        </p:txBody>
      </p:sp>
      <p:sp>
        <p:nvSpPr>
          <p:cNvPr id="14" name="Text 12"/>
          <p:cNvSpPr txBox="1"/>
          <p:nvPr/>
        </p:nvSpPr>
        <p:spPr>
          <a:xfrm>
            <a:off x="1371600" y="2331720"/>
            <a:ext cx="3383280" cy="1033272"/>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基于基金项目进行论文投稿</a:t>
            </a:r>
            <a:endParaRPr lang="en-US" sz="1500" dirty="0"/>
          </a:p>
        </p:txBody>
      </p:sp>
      <p:sp>
        <p:nvSpPr>
          <p:cNvPr id="15" name="Shape 13"/>
          <p:cNvSpPr/>
          <p:nvPr/>
        </p:nvSpPr>
        <p:spPr>
          <a:xfrm>
            <a:off x="411480" y="3474720"/>
            <a:ext cx="4480560" cy="1033272"/>
          </a:xfrm>
          <a:prstGeom prst="rect">
            <a:avLst/>
          </a:prstGeom>
          <a:solidFill>
            <a:srgbClr val="2D2D2D"/>
          </a:solidFill>
          <a:ln/>
        </p:spPr>
      </p:sp>
      <p:sp>
        <p:nvSpPr>
          <p:cNvPr id="16" name="Text 14"/>
          <p:cNvSpPr txBox="1"/>
          <p:nvPr/>
        </p:nvSpPr>
        <p:spPr>
          <a:xfrm>
            <a:off x="594360" y="3474720"/>
            <a:ext cx="731520" cy="1033272"/>
          </a:xfrm>
          <a:prstGeom prst="rect">
            <a:avLst/>
          </a:prstGeom>
          <a:noFill/>
          <a:ln/>
        </p:spPr>
        <p:txBody>
          <a:bodyPr wrap="square" lIns="0" tIns="0" rIns="0" bIns="0" rtlCol="0" anchor="ctr"/>
          <a:lstStyle/>
          <a:p>
            <a:pPr indent="0" marL="0">
              <a:buNone/>
            </a:pPr>
            <a:r>
              <a:rPr lang="en-US" sz="2400" b="1" dirty="0">
                <a:solidFill>
                  <a:srgbClr val="40E0D0"/>
                </a:solidFill>
                <a:latin typeface="Poppins" pitchFamily="34" charset="0"/>
                <a:ea typeface="Poppins" pitchFamily="34" charset="-122"/>
                <a:cs typeface="Poppins" pitchFamily="34" charset="-120"/>
              </a:rPr>
              <a:t>03</a:t>
            </a:r>
            <a:endParaRPr lang="en-US" sz="2400" dirty="0"/>
          </a:p>
        </p:txBody>
      </p:sp>
      <p:sp>
        <p:nvSpPr>
          <p:cNvPr id="17" name="Text 15"/>
          <p:cNvSpPr txBox="1"/>
          <p:nvPr/>
        </p:nvSpPr>
        <p:spPr>
          <a:xfrm>
            <a:off x="1371600" y="3474720"/>
            <a:ext cx="3383280" cy="1033272"/>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论文内容要杜绝敏感内容</a:t>
            </a:r>
            <a:endParaRPr lang="en-US" sz="1500" dirty="0"/>
          </a:p>
        </p:txBody>
      </p:sp>
      <p:sp>
        <p:nvSpPr>
          <p:cNvPr id="18" name="Shape 16"/>
          <p:cNvSpPr/>
          <p:nvPr/>
        </p:nvSpPr>
        <p:spPr>
          <a:xfrm>
            <a:off x="5001768" y="1188720"/>
            <a:ext cx="3730752" cy="2176272"/>
          </a:xfrm>
          <a:prstGeom prst="rect">
            <a:avLst/>
          </a:prstGeom>
          <a:solidFill>
            <a:srgbClr val="EBEBEB"/>
          </a:solidFill>
          <a:ln/>
        </p:spPr>
      </p:sp>
      <p:pic>
        <p:nvPicPr>
          <p:cNvPr id="19" name="Image 0" descr="s48_0">    </p:cNvPr>
          <p:cNvPicPr>
            <a:picLocks noChangeAspect="1"/>
          </p:cNvPicPr>
          <p:nvPr/>
        </p:nvPicPr>
        <p:blipFill>
          <a:blip r:embed="rId1"/>
          <a:stretch>
            <a:fillRect/>
          </a:stretch>
        </p:blipFill>
        <p:spPr>
          <a:xfrm>
            <a:off x="5194623" y="1325880"/>
            <a:ext cx="3345041" cy="1901952"/>
          </a:xfrm>
          <a:prstGeom prst="rect">
            <a:avLst/>
          </a:prstGeom>
        </p:spPr>
      </p:pic>
      <p:sp>
        <p:nvSpPr>
          <p:cNvPr id="20" name="Shape 17"/>
          <p:cNvSpPr/>
          <p:nvPr/>
        </p:nvSpPr>
        <p:spPr>
          <a:xfrm>
            <a:off x="5001768" y="3474720"/>
            <a:ext cx="3730752" cy="1097280"/>
          </a:xfrm>
          <a:prstGeom prst="rect">
            <a:avLst/>
          </a:prstGeom>
          <a:solidFill>
            <a:srgbClr val="EBEBEB"/>
          </a:solidFill>
          <a:ln/>
        </p:spPr>
      </p:sp>
      <p:pic>
        <p:nvPicPr>
          <p:cNvPr id="21" name="Image 1" descr="s48_1">    </p:cNvPr>
          <p:cNvPicPr>
            <a:picLocks noChangeAspect="1"/>
          </p:cNvPicPr>
          <p:nvPr/>
        </p:nvPicPr>
        <p:blipFill>
          <a:blip r:embed="rId2"/>
          <a:stretch>
            <a:fillRect/>
          </a:stretch>
        </p:blipFill>
        <p:spPr>
          <a:xfrm>
            <a:off x="5138928" y="3808174"/>
            <a:ext cx="3456432" cy="43037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投稿须知 · Author Guidelines</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Citation and References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外文期刊论文的发表</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51</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800" b="1" dirty="0">
                <a:solidFill>
                  <a:srgbClr val="FFFFFF"/>
                </a:solidFill>
                <a:latin typeface="Poppins" pitchFamily="34" charset="0"/>
                <a:ea typeface="Poppins" pitchFamily="34" charset="-122"/>
                <a:cs typeface="Poppins" pitchFamily="34" charset="-120"/>
              </a:rPr>
              <a:t>Author Guidelines</a:t>
            </a:r>
            <a:endParaRPr lang="en-US" sz="1800" dirty="0"/>
          </a:p>
        </p:txBody>
      </p:sp>
      <p:sp>
        <p:nvSpPr>
          <p:cNvPr id="11" name="Text 9"/>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FFFFFF"/>
                </a:solidFill>
                <a:latin typeface="Microsoft YaHei" pitchFamily="34" charset="0"/>
                <a:ea typeface="Microsoft YaHei" pitchFamily="34" charset="-122"/>
                <a:cs typeface="Microsoft YaHei" pitchFamily="34" charset="-120"/>
              </a:rPr>
              <a:t>仔细阅读期刊的作者指南与参考文献格式要求</a:t>
            </a:r>
            <a:endParaRPr lang="en-US" sz="1100" dirty="0"/>
          </a:p>
        </p:txBody>
      </p:sp>
      <p:sp>
        <p:nvSpPr>
          <p:cNvPr id="12" name="Shape 10"/>
          <p:cNvSpPr/>
          <p:nvPr/>
        </p:nvSpPr>
        <p:spPr>
          <a:xfrm>
            <a:off x="3035808" y="1188720"/>
            <a:ext cx="5696712" cy="3383280"/>
          </a:xfrm>
          <a:prstGeom prst="rect">
            <a:avLst/>
          </a:prstGeom>
          <a:solidFill>
            <a:srgbClr val="EBEBEB"/>
          </a:solidFill>
          <a:ln/>
        </p:spPr>
      </p:sp>
      <p:pic>
        <p:nvPicPr>
          <p:cNvPr id="13" name="Image 0" descr="s49_0">    </p:cNvPr>
          <p:cNvPicPr>
            <a:picLocks noChangeAspect="1"/>
          </p:cNvPicPr>
          <p:nvPr/>
        </p:nvPicPr>
        <p:blipFill>
          <a:blip r:embed="rId1"/>
          <a:stretch>
            <a:fillRect/>
          </a:stretch>
        </p:blipFill>
        <p:spPr>
          <a:xfrm>
            <a:off x="3172968" y="1424652"/>
            <a:ext cx="2440954" cy="2911417"/>
          </a:xfrm>
          <a:prstGeom prst="rect">
            <a:avLst/>
          </a:prstGeom>
        </p:spPr>
      </p:pic>
      <p:pic>
        <p:nvPicPr>
          <p:cNvPr id="14" name="Image 1" descr="s49_1">    </p:cNvPr>
          <p:cNvPicPr>
            <a:picLocks noChangeAspect="1"/>
          </p:cNvPicPr>
          <p:nvPr/>
        </p:nvPicPr>
        <p:blipFill>
          <a:blip r:embed="rId2"/>
          <a:stretch>
            <a:fillRect/>
          </a:stretch>
        </p:blipFill>
        <p:spPr>
          <a:xfrm>
            <a:off x="5723650" y="1667310"/>
            <a:ext cx="2871710" cy="24261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学术规范 · Plagiarism &amp; Image Permissions</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Academic Integrity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外文期刊论文的发表</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52</a:t>
            </a:r>
            <a:endParaRPr lang="en-US" sz="800" dirty="0"/>
          </a:p>
        </p:txBody>
      </p:sp>
      <p:sp>
        <p:nvSpPr>
          <p:cNvPr id="9" name="Shape 7"/>
          <p:cNvSpPr/>
          <p:nvPr/>
        </p:nvSpPr>
        <p:spPr>
          <a:xfrm>
            <a:off x="411480" y="1188720"/>
            <a:ext cx="8321040" cy="1097280"/>
          </a:xfrm>
          <a:prstGeom prst="rect">
            <a:avLst/>
          </a:prstGeom>
          <a:solidFill>
            <a:srgbClr val="EBEBEB"/>
          </a:solidFill>
          <a:ln/>
        </p:spPr>
      </p:sp>
      <p:pic>
        <p:nvPicPr>
          <p:cNvPr id="10" name="Image 0" descr="s50_0">    </p:cNvPr>
          <p:cNvPicPr>
            <a:picLocks noChangeAspect="1"/>
          </p:cNvPicPr>
          <p:nvPr/>
        </p:nvPicPr>
        <p:blipFill>
          <a:blip r:embed="rId1"/>
          <a:stretch>
            <a:fillRect/>
          </a:stretch>
        </p:blipFill>
        <p:spPr>
          <a:xfrm>
            <a:off x="2554885" y="1325880"/>
            <a:ext cx="4034230" cy="822960"/>
          </a:xfrm>
          <a:prstGeom prst="rect">
            <a:avLst/>
          </a:prstGeom>
        </p:spPr>
      </p:pic>
      <p:sp>
        <p:nvSpPr>
          <p:cNvPr id="11" name="Shape 8"/>
          <p:cNvSpPr/>
          <p:nvPr/>
        </p:nvSpPr>
        <p:spPr>
          <a:xfrm>
            <a:off x="411480" y="2395728"/>
            <a:ext cx="8321040" cy="594360"/>
          </a:xfrm>
          <a:prstGeom prst="rect">
            <a:avLst/>
          </a:prstGeom>
          <a:solidFill>
            <a:srgbClr val="2D2D2D"/>
          </a:solidFill>
          <a:ln/>
        </p:spPr>
      </p:sp>
      <p:sp>
        <p:nvSpPr>
          <p:cNvPr id="12" name="Text 9"/>
          <p:cNvSpPr txBox="1"/>
          <p:nvPr/>
        </p:nvSpPr>
        <p:spPr>
          <a:xfrm>
            <a:off x="640080" y="2395728"/>
            <a:ext cx="7863840" cy="594360"/>
          </a:xfrm>
          <a:prstGeom prst="rect">
            <a:avLst/>
          </a:prstGeom>
          <a:noFill/>
          <a:ln/>
        </p:spPr>
        <p:txBody>
          <a:bodyPr wrap="square" lIns="0" tIns="0" rIns="0" bIns="0" rtlCol="0" anchor="ctr"/>
          <a:lstStyle/>
          <a:p>
            <a:pPr indent="0" marL="0">
              <a:buNone/>
            </a:pPr>
            <a:r>
              <a:rPr lang="en-US" sz="1500" b="1" dirty="0">
                <a:solidFill>
                  <a:srgbClr val="40E0D0"/>
                </a:solidFill>
                <a:latin typeface="Microsoft YaHei" pitchFamily="34" charset="0"/>
                <a:ea typeface="Microsoft YaHei" pitchFamily="34" charset="-122"/>
                <a:cs typeface="Microsoft YaHei" pitchFamily="34" charset="-120"/>
              </a:rPr>
              <a:t>注意  </a:t>
            </a:r>
            <a:pPr indent="0" marL="0">
              <a:buNone/>
            </a:pPr>
            <a:r>
              <a:rPr lang="en-US" sz="1500" b="1" dirty="0">
                <a:solidFill>
                  <a:srgbClr val="FFFFFF"/>
                </a:solidFill>
                <a:latin typeface="Microsoft YaHei" pitchFamily="34" charset="0"/>
                <a:ea typeface="Microsoft YaHei" pitchFamily="34" charset="-122"/>
                <a:cs typeface="Microsoft YaHei" pitchFamily="34" charset="-120"/>
              </a:rPr>
              <a:t>图片是否侵犯他人隐私 / 涉及未成年人的需要认真审核</a:t>
            </a:r>
            <a:endParaRPr lang="en-US" sz="1500" dirty="0"/>
          </a:p>
        </p:txBody>
      </p:sp>
      <p:sp>
        <p:nvSpPr>
          <p:cNvPr id="13" name="Shape 10"/>
          <p:cNvSpPr/>
          <p:nvPr/>
        </p:nvSpPr>
        <p:spPr>
          <a:xfrm>
            <a:off x="411480" y="3099816"/>
            <a:ext cx="8321040" cy="1472184"/>
          </a:xfrm>
          <a:prstGeom prst="rect">
            <a:avLst/>
          </a:prstGeom>
          <a:solidFill>
            <a:srgbClr val="EBEBEB"/>
          </a:solidFill>
          <a:ln/>
        </p:spPr>
      </p:sp>
      <p:pic>
        <p:nvPicPr>
          <p:cNvPr id="14" name="Image 1" descr="s50_1">    </p:cNvPr>
          <p:cNvPicPr>
            <a:picLocks noChangeAspect="1"/>
          </p:cNvPicPr>
          <p:nvPr/>
        </p:nvPicPr>
        <p:blipFill>
          <a:blip r:embed="rId2"/>
          <a:stretch>
            <a:fillRect/>
          </a:stretch>
        </p:blipFill>
        <p:spPr>
          <a:xfrm>
            <a:off x="2572708" y="3236976"/>
            <a:ext cx="3998584" cy="119786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投稿系统 · 在线提交</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Step 1: Type, Title &amp; Abstract → Step 2: File Upload</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外文期刊论文的发表</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53</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700" b="1" dirty="0">
                <a:solidFill>
                  <a:srgbClr val="2D2D2D"/>
                </a:solidFill>
                <a:latin typeface="Poppins" pitchFamily="34" charset="0"/>
                <a:ea typeface="Poppins" pitchFamily="34" charset="-122"/>
                <a:cs typeface="Poppins" pitchFamily="34" charset="-120"/>
              </a:rPr>
              <a:t>Submission System</a:t>
            </a:r>
            <a:endParaRPr lang="en-US" sz="1700" dirty="0"/>
          </a:p>
        </p:txBody>
      </p:sp>
      <p:sp>
        <p:nvSpPr>
          <p:cNvPr id="11" name="Text 9"/>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2D2D2D"/>
                </a:solidFill>
                <a:latin typeface="Poppins" pitchFamily="34" charset="0"/>
                <a:ea typeface="Poppins" pitchFamily="34" charset="-122"/>
                <a:cs typeface="Poppins" pitchFamily="34" charset="-120"/>
              </a:rPr>
              <a:t>Type, Title &amp; Abstract · File Upload · Attributes · Authors · Review &amp; Submit</a:t>
            </a:r>
            <a:endParaRPr lang="en-US" sz="1100" dirty="0"/>
          </a:p>
        </p:txBody>
      </p:sp>
      <p:sp>
        <p:nvSpPr>
          <p:cNvPr id="12" name="Shape 10"/>
          <p:cNvSpPr/>
          <p:nvPr/>
        </p:nvSpPr>
        <p:spPr>
          <a:xfrm>
            <a:off x="3035808" y="1188720"/>
            <a:ext cx="5696712" cy="3383280"/>
          </a:xfrm>
          <a:prstGeom prst="rect">
            <a:avLst/>
          </a:prstGeom>
          <a:solidFill>
            <a:srgbClr val="EBEBEB"/>
          </a:solidFill>
          <a:ln/>
        </p:spPr>
      </p:sp>
      <p:pic>
        <p:nvPicPr>
          <p:cNvPr id="13" name="Image 0" descr="s51_0">    </p:cNvPr>
          <p:cNvPicPr>
            <a:picLocks noChangeAspect="1"/>
          </p:cNvPicPr>
          <p:nvPr/>
        </p:nvPicPr>
        <p:blipFill>
          <a:blip r:embed="rId1"/>
          <a:stretch>
            <a:fillRect/>
          </a:stretch>
        </p:blipFill>
        <p:spPr>
          <a:xfrm>
            <a:off x="3172968" y="2182721"/>
            <a:ext cx="2656332" cy="1395279"/>
          </a:xfrm>
          <a:prstGeom prst="rect">
            <a:avLst/>
          </a:prstGeom>
        </p:spPr>
      </p:pic>
      <p:pic>
        <p:nvPicPr>
          <p:cNvPr id="14" name="Image 1" descr="s52_0">    </p:cNvPr>
          <p:cNvPicPr>
            <a:picLocks noChangeAspect="1"/>
          </p:cNvPicPr>
          <p:nvPr/>
        </p:nvPicPr>
        <p:blipFill>
          <a:blip r:embed="rId2"/>
          <a:stretch>
            <a:fillRect/>
          </a:stretch>
        </p:blipFill>
        <p:spPr>
          <a:xfrm>
            <a:off x="5939028" y="2249817"/>
            <a:ext cx="2656332" cy="1261087"/>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投稿系统 · 作者后台</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Author Dashboard · Submitted Manuscripts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外文期刊论文的发表</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54</a:t>
            </a:r>
            <a:endParaRPr lang="en-US" sz="800" dirty="0"/>
          </a:p>
        </p:txBody>
      </p:sp>
      <p:sp>
        <p:nvSpPr>
          <p:cNvPr id="9" name="Shape 7"/>
          <p:cNvSpPr/>
          <p:nvPr/>
        </p:nvSpPr>
        <p:spPr>
          <a:xfrm>
            <a:off x="411480" y="1188720"/>
            <a:ext cx="2514600" cy="3383280"/>
          </a:xfrm>
          <a:prstGeom prst="rect">
            <a:avLst/>
          </a:prstGeom>
          <a:solidFill>
            <a:srgbClr val="2D2D2D"/>
          </a:solidFill>
          <a:ln/>
        </p:spPr>
      </p:sp>
      <p:sp>
        <p:nvSpPr>
          <p:cNvPr id="10" name="Text 8"/>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800" b="1" dirty="0">
                <a:solidFill>
                  <a:srgbClr val="FFFFFF"/>
                </a:solidFill>
                <a:latin typeface="Poppins" pitchFamily="34" charset="0"/>
                <a:ea typeface="Poppins" pitchFamily="34" charset="-122"/>
                <a:cs typeface="Poppins" pitchFamily="34" charset="-120"/>
              </a:rPr>
              <a:t>Author Dashboard</a:t>
            </a:r>
            <a:endParaRPr lang="en-US" sz="1800" dirty="0"/>
          </a:p>
        </p:txBody>
      </p:sp>
      <p:sp>
        <p:nvSpPr>
          <p:cNvPr id="11" name="Shape 9"/>
          <p:cNvSpPr/>
          <p:nvPr/>
        </p:nvSpPr>
        <p:spPr>
          <a:xfrm>
            <a:off x="3035808" y="1188720"/>
            <a:ext cx="5696712" cy="3383280"/>
          </a:xfrm>
          <a:prstGeom prst="rect">
            <a:avLst/>
          </a:prstGeom>
          <a:solidFill>
            <a:srgbClr val="EBEBEB"/>
          </a:solidFill>
          <a:ln/>
        </p:spPr>
      </p:sp>
      <p:pic>
        <p:nvPicPr>
          <p:cNvPr id="12" name="Image 0" descr="s53_0">    </p:cNvPr>
          <p:cNvPicPr>
            <a:picLocks noChangeAspect="1"/>
          </p:cNvPicPr>
          <p:nvPr/>
        </p:nvPicPr>
        <p:blipFill>
          <a:blip r:embed="rId1"/>
          <a:stretch>
            <a:fillRect/>
          </a:stretch>
        </p:blipFill>
        <p:spPr>
          <a:xfrm>
            <a:off x="3172968" y="1654403"/>
            <a:ext cx="5422392" cy="2451913"/>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论文的投稿与评审流程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Peer Review Process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外文期刊论文的发表</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55</a:t>
            </a:r>
            <a:endParaRPr lang="en-US" sz="800" dirty="0"/>
          </a:p>
        </p:txBody>
      </p:sp>
      <p:sp>
        <p:nvSpPr>
          <p:cNvPr id="9" name="Shape 7"/>
          <p:cNvSpPr/>
          <p:nvPr/>
        </p:nvSpPr>
        <p:spPr>
          <a:xfrm>
            <a:off x="411480" y="1554480"/>
            <a:ext cx="1325880" cy="777240"/>
          </a:xfrm>
          <a:prstGeom prst="rect">
            <a:avLst/>
          </a:prstGeom>
          <a:solidFill>
            <a:srgbClr val="EBEBEB"/>
          </a:solidFill>
          <a:ln/>
        </p:spPr>
      </p:sp>
      <p:sp>
        <p:nvSpPr>
          <p:cNvPr id="10" name="Text 8"/>
          <p:cNvSpPr txBox="1"/>
          <p:nvPr/>
        </p:nvSpPr>
        <p:spPr>
          <a:xfrm>
            <a:off x="411480" y="1554480"/>
            <a:ext cx="1325880" cy="77724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编辑初审</a:t>
            </a:r>
            <a:endParaRPr lang="en-US" sz="1250" dirty="0"/>
          </a:p>
          <a:p>
            <a:pPr algn="ctr" indent="0" marL="0">
              <a:buNone/>
            </a:pPr>
            <a:r>
              <a:rPr lang="en-US" sz="900" dirty="0">
                <a:solidFill>
                  <a:srgbClr val="707070"/>
                </a:solidFill>
                <a:latin typeface="Microsoft YaHei" pitchFamily="34" charset="0"/>
                <a:ea typeface="Microsoft YaHei" pitchFamily="34" charset="-122"/>
                <a:cs typeface="Microsoft YaHei" pitchFamily="34" charset="-120"/>
              </a:rPr>
              <a:t>7-15天</a:t>
            </a:r>
            <a:endParaRPr lang="en-US" sz="1250" dirty="0"/>
          </a:p>
        </p:txBody>
      </p:sp>
      <p:sp>
        <p:nvSpPr>
          <p:cNvPr id="11" name="Shape 9"/>
          <p:cNvSpPr/>
          <p:nvPr/>
        </p:nvSpPr>
        <p:spPr>
          <a:xfrm>
            <a:off x="1737360" y="1938528"/>
            <a:ext cx="274320" cy="914"/>
          </a:xfrm>
          <a:prstGeom prst="line">
            <a:avLst/>
          </a:prstGeom>
          <a:noFill/>
          <a:ln w="15875">
            <a:solidFill>
              <a:srgbClr val="707070"/>
            </a:solidFill>
            <a:prstDash val="solid"/>
            <a:tailEnd type="triangle"/>
          </a:ln>
        </p:spPr>
      </p:sp>
      <p:sp>
        <p:nvSpPr>
          <p:cNvPr id="12" name="Shape 10"/>
          <p:cNvSpPr/>
          <p:nvPr/>
        </p:nvSpPr>
        <p:spPr>
          <a:xfrm>
            <a:off x="2011680" y="1554480"/>
            <a:ext cx="1600200" cy="777240"/>
          </a:xfrm>
          <a:prstGeom prst="rect">
            <a:avLst/>
          </a:prstGeom>
          <a:solidFill>
            <a:srgbClr val="2D2D2D"/>
          </a:solidFill>
          <a:ln/>
        </p:spPr>
      </p:sp>
      <p:sp>
        <p:nvSpPr>
          <p:cNvPr id="13" name="Text 11"/>
          <p:cNvSpPr txBox="1"/>
          <p:nvPr/>
        </p:nvSpPr>
        <p:spPr>
          <a:xfrm>
            <a:off x="2011680" y="1554480"/>
            <a:ext cx="160020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同行评审</a:t>
            </a:r>
            <a:endParaRPr lang="en-US" sz="1250" dirty="0"/>
          </a:p>
          <a:p>
            <a:pPr algn="ctr" indent="0" marL="0">
              <a:buNone/>
            </a:pPr>
            <a:r>
              <a:rPr lang="en-US" sz="900" dirty="0">
                <a:solidFill>
                  <a:srgbClr val="40E0D0"/>
                </a:solidFill>
                <a:latin typeface="Microsoft YaHei" pitchFamily="34" charset="0"/>
                <a:ea typeface="Microsoft YaHei" pitchFamily="34" charset="-122"/>
                <a:cs typeface="Microsoft YaHei" pitchFamily="34" charset="-120"/>
              </a:rPr>
              <a:t>Peer Review · 30-90天</a:t>
            </a:r>
            <a:endParaRPr lang="en-US" sz="1250" dirty="0"/>
          </a:p>
        </p:txBody>
      </p:sp>
      <p:sp>
        <p:nvSpPr>
          <p:cNvPr id="14" name="Shape 12"/>
          <p:cNvSpPr/>
          <p:nvPr/>
        </p:nvSpPr>
        <p:spPr>
          <a:xfrm>
            <a:off x="3611880" y="1938528"/>
            <a:ext cx="274320" cy="914"/>
          </a:xfrm>
          <a:prstGeom prst="line">
            <a:avLst/>
          </a:prstGeom>
          <a:noFill/>
          <a:ln w="15875">
            <a:solidFill>
              <a:srgbClr val="707070"/>
            </a:solidFill>
            <a:prstDash val="solid"/>
            <a:tailEnd type="triangle"/>
          </a:ln>
        </p:spPr>
      </p:sp>
      <p:sp>
        <p:nvSpPr>
          <p:cNvPr id="15" name="Shape 13"/>
          <p:cNvSpPr/>
          <p:nvPr/>
        </p:nvSpPr>
        <p:spPr>
          <a:xfrm>
            <a:off x="3886200" y="1554480"/>
            <a:ext cx="1325880" cy="777240"/>
          </a:xfrm>
          <a:prstGeom prst="rect">
            <a:avLst/>
          </a:prstGeom>
          <a:solidFill>
            <a:srgbClr val="40E0D0"/>
          </a:solidFill>
          <a:ln/>
        </p:spPr>
      </p:sp>
      <p:sp>
        <p:nvSpPr>
          <p:cNvPr id="16" name="Text 14"/>
          <p:cNvSpPr txBox="1"/>
          <p:nvPr/>
        </p:nvSpPr>
        <p:spPr>
          <a:xfrm>
            <a:off x="3886200" y="1554480"/>
            <a:ext cx="1325880" cy="77724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返修</a:t>
            </a:r>
            <a:endParaRPr lang="en-US" sz="1250" dirty="0"/>
          </a:p>
          <a:p>
            <a:pPr algn="ctr" indent="0" marL="0">
              <a:buNone/>
            </a:pPr>
            <a:r>
              <a:rPr lang="en-US" sz="900" dirty="0">
                <a:solidFill>
                  <a:srgbClr val="707070"/>
                </a:solidFill>
                <a:latin typeface="Microsoft YaHei" pitchFamily="34" charset="0"/>
                <a:ea typeface="Microsoft YaHei" pitchFamily="34" charset="-122"/>
                <a:cs typeface="Microsoft YaHei" pitchFamily="34" charset="-120"/>
              </a:rPr>
              <a:t>15-20天内</a:t>
            </a:r>
            <a:endParaRPr lang="en-US" sz="1250" dirty="0"/>
          </a:p>
        </p:txBody>
      </p:sp>
      <p:sp>
        <p:nvSpPr>
          <p:cNvPr id="17" name="Shape 15"/>
          <p:cNvSpPr/>
          <p:nvPr/>
        </p:nvSpPr>
        <p:spPr>
          <a:xfrm>
            <a:off x="5532120" y="1188720"/>
            <a:ext cx="1005840" cy="548640"/>
          </a:xfrm>
          <a:prstGeom prst="rect">
            <a:avLst/>
          </a:prstGeom>
          <a:solidFill>
            <a:srgbClr val="EBEBEB"/>
          </a:solidFill>
          <a:ln/>
        </p:spPr>
      </p:sp>
      <p:sp>
        <p:nvSpPr>
          <p:cNvPr id="18" name="Text 16"/>
          <p:cNvSpPr txBox="1"/>
          <p:nvPr/>
        </p:nvSpPr>
        <p:spPr>
          <a:xfrm>
            <a:off x="5532120" y="1188720"/>
            <a:ext cx="1005840" cy="54864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大修</a:t>
            </a:r>
            <a:endParaRPr lang="en-US" sz="1250" dirty="0"/>
          </a:p>
        </p:txBody>
      </p:sp>
      <p:sp>
        <p:nvSpPr>
          <p:cNvPr id="19" name="Shape 17"/>
          <p:cNvSpPr/>
          <p:nvPr/>
        </p:nvSpPr>
        <p:spPr>
          <a:xfrm>
            <a:off x="5532120" y="2148840"/>
            <a:ext cx="1005840" cy="548640"/>
          </a:xfrm>
          <a:prstGeom prst="rect">
            <a:avLst/>
          </a:prstGeom>
          <a:solidFill>
            <a:srgbClr val="EBEBEB"/>
          </a:solidFill>
          <a:ln/>
        </p:spPr>
      </p:sp>
      <p:sp>
        <p:nvSpPr>
          <p:cNvPr id="20" name="Text 18"/>
          <p:cNvSpPr txBox="1"/>
          <p:nvPr/>
        </p:nvSpPr>
        <p:spPr>
          <a:xfrm>
            <a:off x="5532120" y="2148840"/>
            <a:ext cx="1005840" cy="54864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小修</a:t>
            </a:r>
            <a:endParaRPr lang="en-US" sz="1250" dirty="0"/>
          </a:p>
        </p:txBody>
      </p:sp>
      <p:sp>
        <p:nvSpPr>
          <p:cNvPr id="21" name="Shape 19"/>
          <p:cNvSpPr/>
          <p:nvPr/>
        </p:nvSpPr>
        <p:spPr>
          <a:xfrm flipV="1">
            <a:off x="5212080" y="1463040"/>
            <a:ext cx="320040" cy="320040"/>
          </a:xfrm>
          <a:prstGeom prst="line">
            <a:avLst/>
          </a:prstGeom>
          <a:noFill/>
          <a:ln w="15875">
            <a:solidFill>
              <a:srgbClr val="707070"/>
            </a:solidFill>
            <a:prstDash val="solid"/>
            <a:tailEnd type="triangle"/>
          </a:ln>
        </p:spPr>
      </p:sp>
      <p:sp>
        <p:nvSpPr>
          <p:cNvPr id="22" name="Shape 20"/>
          <p:cNvSpPr/>
          <p:nvPr/>
        </p:nvSpPr>
        <p:spPr>
          <a:xfrm>
            <a:off x="5212080" y="2103120"/>
            <a:ext cx="320040" cy="320040"/>
          </a:xfrm>
          <a:prstGeom prst="line">
            <a:avLst/>
          </a:prstGeom>
          <a:noFill/>
          <a:ln w="15875">
            <a:solidFill>
              <a:srgbClr val="707070"/>
            </a:solidFill>
            <a:prstDash val="solid"/>
            <a:tailEnd type="triangle"/>
          </a:ln>
        </p:spPr>
      </p:sp>
      <p:sp>
        <p:nvSpPr>
          <p:cNvPr id="23" name="Shape 21"/>
          <p:cNvSpPr/>
          <p:nvPr/>
        </p:nvSpPr>
        <p:spPr>
          <a:xfrm>
            <a:off x="6858000" y="1188720"/>
            <a:ext cx="914400" cy="548640"/>
          </a:xfrm>
          <a:prstGeom prst="rect">
            <a:avLst/>
          </a:prstGeom>
          <a:solidFill>
            <a:srgbClr val="40E0D0"/>
          </a:solidFill>
          <a:ln/>
        </p:spPr>
      </p:sp>
      <p:sp>
        <p:nvSpPr>
          <p:cNvPr id="24" name="Text 22"/>
          <p:cNvSpPr txBox="1"/>
          <p:nvPr/>
        </p:nvSpPr>
        <p:spPr>
          <a:xfrm>
            <a:off x="6858000" y="1188720"/>
            <a:ext cx="914400" cy="54864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接收</a:t>
            </a:r>
            <a:endParaRPr lang="en-US" sz="1250" dirty="0"/>
          </a:p>
        </p:txBody>
      </p:sp>
      <p:sp>
        <p:nvSpPr>
          <p:cNvPr id="25" name="Shape 23"/>
          <p:cNvSpPr/>
          <p:nvPr/>
        </p:nvSpPr>
        <p:spPr>
          <a:xfrm>
            <a:off x="6858000" y="2148840"/>
            <a:ext cx="914400" cy="548640"/>
          </a:xfrm>
          <a:prstGeom prst="rect">
            <a:avLst/>
          </a:prstGeom>
          <a:solidFill>
            <a:srgbClr val="E2E2E2"/>
          </a:solidFill>
          <a:ln/>
        </p:spPr>
      </p:sp>
      <p:sp>
        <p:nvSpPr>
          <p:cNvPr id="26" name="Text 24"/>
          <p:cNvSpPr txBox="1"/>
          <p:nvPr/>
        </p:nvSpPr>
        <p:spPr>
          <a:xfrm>
            <a:off x="6858000" y="2148840"/>
            <a:ext cx="914400" cy="54864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拒稿</a:t>
            </a:r>
            <a:endParaRPr lang="en-US" sz="1250" dirty="0"/>
          </a:p>
        </p:txBody>
      </p:sp>
      <p:sp>
        <p:nvSpPr>
          <p:cNvPr id="27" name="Shape 25"/>
          <p:cNvSpPr/>
          <p:nvPr/>
        </p:nvSpPr>
        <p:spPr>
          <a:xfrm>
            <a:off x="6537960" y="1463040"/>
            <a:ext cx="320040" cy="914"/>
          </a:xfrm>
          <a:prstGeom prst="line">
            <a:avLst/>
          </a:prstGeom>
          <a:noFill/>
          <a:ln w="15875">
            <a:solidFill>
              <a:srgbClr val="707070"/>
            </a:solidFill>
            <a:prstDash val="solid"/>
            <a:tailEnd type="triangle"/>
          </a:ln>
        </p:spPr>
      </p:sp>
      <p:sp>
        <p:nvSpPr>
          <p:cNvPr id="28" name="Shape 26"/>
          <p:cNvSpPr/>
          <p:nvPr/>
        </p:nvSpPr>
        <p:spPr>
          <a:xfrm>
            <a:off x="6537960" y="2423160"/>
            <a:ext cx="320040" cy="914"/>
          </a:xfrm>
          <a:prstGeom prst="line">
            <a:avLst/>
          </a:prstGeom>
          <a:noFill/>
          <a:ln w="15875">
            <a:solidFill>
              <a:srgbClr val="707070"/>
            </a:solidFill>
            <a:prstDash val="solid"/>
            <a:tailEnd type="triangle"/>
          </a:ln>
        </p:spPr>
      </p:sp>
      <p:sp>
        <p:nvSpPr>
          <p:cNvPr id="29" name="Shape 27"/>
          <p:cNvSpPr/>
          <p:nvPr/>
        </p:nvSpPr>
        <p:spPr>
          <a:xfrm>
            <a:off x="6537960" y="1554480"/>
            <a:ext cx="320040" cy="731520"/>
          </a:xfrm>
          <a:prstGeom prst="line">
            <a:avLst/>
          </a:prstGeom>
          <a:noFill/>
          <a:ln w="15875">
            <a:solidFill>
              <a:srgbClr val="707070"/>
            </a:solidFill>
            <a:prstDash val="solid"/>
            <a:tailEnd type="triangle"/>
          </a:ln>
        </p:spPr>
      </p:sp>
      <p:sp>
        <p:nvSpPr>
          <p:cNvPr id="30" name="Shape 28"/>
          <p:cNvSpPr/>
          <p:nvPr/>
        </p:nvSpPr>
        <p:spPr>
          <a:xfrm flipV="1">
            <a:off x="6537960" y="1600200"/>
            <a:ext cx="320040" cy="731520"/>
          </a:xfrm>
          <a:prstGeom prst="line">
            <a:avLst/>
          </a:prstGeom>
          <a:noFill/>
          <a:ln w="15875">
            <a:solidFill>
              <a:srgbClr val="707070"/>
            </a:solidFill>
            <a:prstDash val="solid"/>
            <a:tailEnd type="triangle"/>
          </a:ln>
        </p:spPr>
      </p:sp>
      <p:sp>
        <p:nvSpPr>
          <p:cNvPr id="31" name="Shape 29"/>
          <p:cNvSpPr/>
          <p:nvPr/>
        </p:nvSpPr>
        <p:spPr>
          <a:xfrm>
            <a:off x="8046720" y="1188720"/>
            <a:ext cx="685800" cy="548640"/>
          </a:xfrm>
          <a:prstGeom prst="rect">
            <a:avLst/>
          </a:prstGeom>
          <a:solidFill>
            <a:srgbClr val="2D2D2D"/>
          </a:solidFill>
          <a:ln/>
        </p:spPr>
      </p:sp>
      <p:sp>
        <p:nvSpPr>
          <p:cNvPr id="32" name="Text 30"/>
          <p:cNvSpPr txBox="1"/>
          <p:nvPr/>
        </p:nvSpPr>
        <p:spPr>
          <a:xfrm>
            <a:off x="8046720" y="1188720"/>
            <a:ext cx="68580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定稿</a:t>
            </a:r>
            <a:endParaRPr lang="en-US" sz="1250" dirty="0"/>
          </a:p>
        </p:txBody>
      </p:sp>
      <p:sp>
        <p:nvSpPr>
          <p:cNvPr id="33" name="Shape 31"/>
          <p:cNvSpPr/>
          <p:nvPr/>
        </p:nvSpPr>
        <p:spPr>
          <a:xfrm>
            <a:off x="7772400" y="1463040"/>
            <a:ext cx="274320" cy="914"/>
          </a:xfrm>
          <a:prstGeom prst="line">
            <a:avLst/>
          </a:prstGeom>
          <a:noFill/>
          <a:ln w="15875">
            <a:solidFill>
              <a:srgbClr val="707070"/>
            </a:solidFill>
            <a:prstDash val="solid"/>
            <a:tailEnd type="triangle"/>
          </a:ln>
        </p:spPr>
      </p:sp>
      <p:sp>
        <p:nvSpPr>
          <p:cNvPr id="34" name="Shape 32"/>
          <p:cNvSpPr/>
          <p:nvPr/>
        </p:nvSpPr>
        <p:spPr>
          <a:xfrm>
            <a:off x="2807208" y="2331720"/>
            <a:ext cx="914" cy="640080"/>
          </a:xfrm>
          <a:prstGeom prst="line">
            <a:avLst/>
          </a:prstGeom>
          <a:noFill/>
          <a:ln w="15875">
            <a:solidFill>
              <a:srgbClr val="707070"/>
            </a:solidFill>
            <a:prstDash val="solid"/>
            <a:tailEnd type="triangle"/>
          </a:ln>
        </p:spPr>
      </p:sp>
      <p:sp>
        <p:nvSpPr>
          <p:cNvPr id="35" name="Shape 33"/>
          <p:cNvSpPr/>
          <p:nvPr/>
        </p:nvSpPr>
        <p:spPr>
          <a:xfrm>
            <a:off x="2011680" y="2971800"/>
            <a:ext cx="1600200" cy="914400"/>
          </a:xfrm>
          <a:prstGeom prst="rect">
            <a:avLst/>
          </a:prstGeom>
          <a:solidFill>
            <a:srgbClr val="E2E2E2"/>
          </a:solidFill>
          <a:ln/>
        </p:spPr>
      </p:sp>
      <p:sp>
        <p:nvSpPr>
          <p:cNvPr id="36" name="Text 34"/>
          <p:cNvSpPr txBox="1"/>
          <p:nvPr/>
        </p:nvSpPr>
        <p:spPr>
          <a:xfrm>
            <a:off x="2011680" y="2971800"/>
            <a:ext cx="1600200" cy="91440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拒稿</a:t>
            </a:r>
            <a:endParaRPr lang="en-US" sz="1250" dirty="0"/>
          </a:p>
          <a:p>
            <a:pPr algn="ctr" indent="0" marL="0">
              <a:buNone/>
            </a:pPr>
            <a:r>
              <a:rPr lang="en-US" sz="900" dirty="0">
                <a:solidFill>
                  <a:srgbClr val="707070"/>
                </a:solidFill>
                <a:latin typeface="Microsoft YaHei" pitchFamily="34" charset="0"/>
                <a:ea typeface="Microsoft YaHei" pitchFamily="34" charset="-122"/>
                <a:cs typeface="Microsoft YaHei" pitchFamily="34" charset="-120"/>
              </a:rPr>
              <a:t>评审专家提供拒稿理由</a:t>
            </a:r>
            <a:endParaRPr lang="en-US" sz="1250" dirty="0"/>
          </a:p>
        </p:txBody>
      </p:sp>
      <p:sp>
        <p:nvSpPr>
          <p:cNvPr id="37" name="Shape 35"/>
          <p:cNvSpPr/>
          <p:nvPr/>
        </p:nvSpPr>
        <p:spPr>
          <a:xfrm>
            <a:off x="3611880" y="3429000"/>
            <a:ext cx="274320" cy="914"/>
          </a:xfrm>
          <a:prstGeom prst="line">
            <a:avLst/>
          </a:prstGeom>
          <a:noFill/>
          <a:ln w="15875">
            <a:solidFill>
              <a:srgbClr val="707070"/>
            </a:solidFill>
            <a:prstDash val="solid"/>
            <a:tailEnd type="triangle"/>
          </a:ln>
        </p:spPr>
      </p:sp>
      <p:sp>
        <p:nvSpPr>
          <p:cNvPr id="38" name="Shape 36"/>
          <p:cNvSpPr/>
          <p:nvPr/>
        </p:nvSpPr>
        <p:spPr>
          <a:xfrm>
            <a:off x="3886200" y="3108960"/>
            <a:ext cx="1325880" cy="640080"/>
          </a:xfrm>
          <a:prstGeom prst="rect">
            <a:avLst/>
          </a:prstGeom>
          <a:solidFill>
            <a:srgbClr val="40E0D0"/>
          </a:solidFill>
          <a:ln/>
        </p:spPr>
      </p:sp>
      <p:sp>
        <p:nvSpPr>
          <p:cNvPr id="39" name="Text 37"/>
          <p:cNvSpPr txBox="1"/>
          <p:nvPr/>
        </p:nvSpPr>
        <p:spPr>
          <a:xfrm>
            <a:off x="3886200" y="3108960"/>
            <a:ext cx="1325880" cy="64008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转投</a:t>
            </a:r>
            <a:endParaRPr lang="en-US" sz="1250" dirty="0"/>
          </a:p>
        </p:txBody>
      </p:sp>
      <p:sp>
        <p:nvSpPr>
          <p:cNvPr id="40" name="Shape 38"/>
          <p:cNvSpPr/>
          <p:nvPr/>
        </p:nvSpPr>
        <p:spPr>
          <a:xfrm flipV="1">
            <a:off x="5212080" y="3108960"/>
            <a:ext cx="320040" cy="182880"/>
          </a:xfrm>
          <a:prstGeom prst="line">
            <a:avLst/>
          </a:prstGeom>
          <a:noFill/>
          <a:ln w="15875">
            <a:solidFill>
              <a:srgbClr val="707070"/>
            </a:solidFill>
            <a:prstDash val="solid"/>
            <a:tailEnd type="triangle"/>
          </a:ln>
        </p:spPr>
      </p:sp>
      <p:sp>
        <p:nvSpPr>
          <p:cNvPr id="41" name="Shape 39"/>
          <p:cNvSpPr/>
          <p:nvPr/>
        </p:nvSpPr>
        <p:spPr>
          <a:xfrm>
            <a:off x="5212080" y="3566160"/>
            <a:ext cx="320040" cy="320040"/>
          </a:xfrm>
          <a:prstGeom prst="line">
            <a:avLst/>
          </a:prstGeom>
          <a:noFill/>
          <a:ln w="15875">
            <a:solidFill>
              <a:srgbClr val="707070"/>
            </a:solidFill>
            <a:prstDash val="solid"/>
            <a:tailEnd type="triangle"/>
          </a:ln>
        </p:spPr>
      </p:sp>
      <p:sp>
        <p:nvSpPr>
          <p:cNvPr id="42" name="Shape 40"/>
          <p:cNvSpPr/>
          <p:nvPr/>
        </p:nvSpPr>
        <p:spPr>
          <a:xfrm>
            <a:off x="5532120" y="2788920"/>
            <a:ext cx="3200400" cy="548640"/>
          </a:xfrm>
          <a:prstGeom prst="rect">
            <a:avLst/>
          </a:prstGeom>
          <a:solidFill>
            <a:srgbClr val="EBEBEB"/>
          </a:solidFill>
          <a:ln/>
        </p:spPr>
      </p:sp>
      <p:sp>
        <p:nvSpPr>
          <p:cNvPr id="43" name="Text 41"/>
          <p:cNvSpPr txBox="1"/>
          <p:nvPr/>
        </p:nvSpPr>
        <p:spPr>
          <a:xfrm>
            <a:off x="5532120" y="2788920"/>
            <a:ext cx="3200400" cy="548640"/>
          </a:xfrm>
          <a:prstGeom prst="rect">
            <a:avLst/>
          </a:prstGeom>
          <a:noFill/>
          <a:ln/>
        </p:spPr>
        <p:txBody>
          <a:bodyPr wrap="square" lIns="0" tIns="0" rIns="0" bIns="0" rtlCol="0" anchor="ctr"/>
          <a:lstStyle/>
          <a:p>
            <a:pPr algn="ctr" indent="0" marL="0">
              <a:buNone/>
            </a:pPr>
            <a:r>
              <a:rPr lang="en-US" sz="1250" b="1" dirty="0">
                <a:solidFill>
                  <a:srgbClr val="2D2D2D"/>
                </a:solidFill>
                <a:latin typeface="Microsoft YaHei" pitchFamily="34" charset="0"/>
                <a:ea typeface="Microsoft YaHei" pitchFamily="34" charset="-122"/>
                <a:cs typeface="Microsoft YaHei" pitchFamily="34" charset="-120"/>
              </a:rPr>
              <a:t>其他期刊转投</a:t>
            </a:r>
            <a:endParaRPr lang="en-US" sz="1250" dirty="0"/>
          </a:p>
        </p:txBody>
      </p:sp>
      <p:sp>
        <p:nvSpPr>
          <p:cNvPr id="44" name="Shape 42"/>
          <p:cNvSpPr/>
          <p:nvPr/>
        </p:nvSpPr>
        <p:spPr>
          <a:xfrm>
            <a:off x="5532120" y="3611880"/>
            <a:ext cx="3200400" cy="640080"/>
          </a:xfrm>
          <a:prstGeom prst="rect">
            <a:avLst/>
          </a:prstGeom>
          <a:solidFill>
            <a:srgbClr val="2D2D2D"/>
          </a:solidFill>
          <a:ln/>
        </p:spPr>
      </p:sp>
      <p:sp>
        <p:nvSpPr>
          <p:cNvPr id="45" name="Text 43"/>
          <p:cNvSpPr txBox="1"/>
          <p:nvPr/>
        </p:nvSpPr>
        <p:spPr>
          <a:xfrm>
            <a:off x="5532120" y="3611880"/>
            <a:ext cx="320040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同公司旗下期刊转投</a:t>
            </a:r>
            <a:endParaRPr lang="en-US" sz="1250" dirty="0"/>
          </a:p>
          <a:p>
            <a:pPr algn="ctr" indent="0" marL="0">
              <a:buNone/>
            </a:pPr>
            <a:r>
              <a:rPr lang="en-US" sz="900" dirty="0">
                <a:solidFill>
                  <a:srgbClr val="40E0D0"/>
                </a:solidFill>
                <a:latin typeface="Microsoft YaHei" pitchFamily="34" charset="0"/>
                <a:ea typeface="Microsoft YaHei" pitchFamily="34" charset="-122"/>
                <a:cs typeface="Microsoft YaHei" pitchFamily="34" charset="-120"/>
              </a:rPr>
              <a:t>Transfer Service</a:t>
            </a:r>
            <a:endParaRPr lang="en-US" sz="12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Poppins" pitchFamily="34" charset="0"/>
                <a:ea typeface="Poppins" pitchFamily="34" charset="-122"/>
                <a:cs typeface="Poppins" pitchFamily="34" charset="-120"/>
              </a:rPr>
              <a:t>Transfer Service</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How does it work?</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外文期刊论文的发表</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56</a:t>
            </a:r>
            <a:endParaRPr lang="en-US" sz="800" dirty="0"/>
          </a:p>
        </p:txBody>
      </p:sp>
      <p:sp>
        <p:nvSpPr>
          <p:cNvPr id="9" name="Shape 7"/>
          <p:cNvSpPr/>
          <p:nvPr/>
        </p:nvSpPr>
        <p:spPr>
          <a:xfrm>
            <a:off x="411480" y="1188720"/>
            <a:ext cx="2514600" cy="3383280"/>
          </a:xfrm>
          <a:prstGeom prst="rect">
            <a:avLst/>
          </a:prstGeom>
          <a:solidFill>
            <a:srgbClr val="40E0D0"/>
          </a:solidFill>
          <a:ln/>
        </p:spPr>
      </p:sp>
      <p:sp>
        <p:nvSpPr>
          <p:cNvPr id="10" name="Text 8"/>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800" b="1" dirty="0">
                <a:solidFill>
                  <a:srgbClr val="2D2D2D"/>
                </a:solidFill>
                <a:latin typeface="Poppins" pitchFamily="34" charset="0"/>
                <a:ea typeface="Poppins" pitchFamily="34" charset="-122"/>
                <a:cs typeface="Poppins" pitchFamily="34" charset="-120"/>
              </a:rPr>
              <a:t>Transfer Service</a:t>
            </a:r>
            <a:endParaRPr lang="en-US" sz="1800" dirty="0"/>
          </a:p>
        </p:txBody>
      </p:sp>
      <p:sp>
        <p:nvSpPr>
          <p:cNvPr id="11" name="Text 9"/>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2D2D2D"/>
                </a:solidFill>
                <a:latin typeface="Microsoft YaHei" pitchFamily="34" charset="0"/>
                <a:ea typeface="Microsoft YaHei" pitchFamily="34" charset="-122"/>
                <a:cs typeface="Microsoft YaHei" pitchFamily="34" charset="-120"/>
              </a:rPr>
              <a:t>同公司旗下期刊转投</a:t>
            </a:r>
            <a:endParaRPr lang="en-US" sz="1100" dirty="0"/>
          </a:p>
        </p:txBody>
      </p:sp>
      <p:sp>
        <p:nvSpPr>
          <p:cNvPr id="12" name="Shape 10"/>
          <p:cNvSpPr/>
          <p:nvPr/>
        </p:nvSpPr>
        <p:spPr>
          <a:xfrm>
            <a:off x="3035808" y="1188720"/>
            <a:ext cx="5696712" cy="3383280"/>
          </a:xfrm>
          <a:prstGeom prst="rect">
            <a:avLst/>
          </a:prstGeom>
          <a:solidFill>
            <a:srgbClr val="EBEBEB"/>
          </a:solidFill>
          <a:ln/>
        </p:spPr>
      </p:sp>
      <p:pic>
        <p:nvPicPr>
          <p:cNvPr id="13" name="Image 0" descr="s55_0">    </p:cNvPr>
          <p:cNvPicPr>
            <a:picLocks noChangeAspect="1"/>
          </p:cNvPicPr>
          <p:nvPr/>
        </p:nvPicPr>
        <p:blipFill>
          <a:blip r:embed="rId1"/>
          <a:stretch>
            <a:fillRect/>
          </a:stretch>
        </p:blipFill>
        <p:spPr>
          <a:xfrm>
            <a:off x="3172968" y="1332217"/>
            <a:ext cx="5422392" cy="3096287"/>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论文的定稿 · 回应评审意见</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Responding to Reviewers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外文期刊论文的发表</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57</a:t>
            </a:r>
            <a:endParaRPr lang="en-US" sz="800" dirty="0"/>
          </a:p>
        </p:txBody>
      </p:sp>
      <p:sp>
        <p:nvSpPr>
          <p:cNvPr id="9" name="Shape 7"/>
          <p:cNvSpPr/>
          <p:nvPr/>
        </p:nvSpPr>
        <p:spPr>
          <a:xfrm>
            <a:off x="411480" y="1188720"/>
            <a:ext cx="3017520" cy="1636776"/>
          </a:xfrm>
          <a:prstGeom prst="rect">
            <a:avLst/>
          </a:prstGeom>
          <a:solidFill>
            <a:srgbClr val="40E0D0"/>
          </a:solidFill>
          <a:ln/>
        </p:spPr>
      </p:sp>
      <p:sp>
        <p:nvSpPr>
          <p:cNvPr id="10" name="Text 8"/>
          <p:cNvSpPr txBox="1"/>
          <p:nvPr/>
        </p:nvSpPr>
        <p:spPr>
          <a:xfrm>
            <a:off x="594360" y="1325880"/>
            <a:ext cx="914400"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1" name="Text 9"/>
          <p:cNvSpPr txBox="1"/>
          <p:nvPr/>
        </p:nvSpPr>
        <p:spPr>
          <a:xfrm>
            <a:off x="594360" y="1828800"/>
            <a:ext cx="2697480" cy="914400"/>
          </a:xfrm>
          <a:prstGeom prst="rect">
            <a:avLst/>
          </a:prstGeom>
          <a:noFill/>
          <a:ln/>
        </p:spPr>
        <p:txBody>
          <a:bodyPr wrap="square" lIns="0" tIns="0" rIns="0" bIns="0" rtlCol="0" anchor="t"/>
          <a:lstStyle/>
          <a:p>
            <a:pPr indent="0" marL="0">
              <a:lnSpc>
                <a:spcPct val="130000"/>
              </a:lnSpc>
              <a:buNone/>
            </a:pPr>
            <a:r>
              <a:rPr lang="en-US" sz="1500" b="1" dirty="0">
                <a:solidFill>
                  <a:srgbClr val="2D2D2D"/>
                </a:solidFill>
                <a:latin typeface="Microsoft YaHei" pitchFamily="34" charset="0"/>
                <a:ea typeface="Microsoft YaHei" pitchFamily="34" charset="-122"/>
                <a:cs typeface="Microsoft YaHei" pitchFamily="34" charset="-120"/>
              </a:rPr>
              <a:t>认真领会评审专家的意见</a:t>
            </a:r>
            <a:endParaRPr lang="en-US" sz="1500" dirty="0"/>
          </a:p>
        </p:txBody>
      </p:sp>
      <p:sp>
        <p:nvSpPr>
          <p:cNvPr id="12" name="Shape 10"/>
          <p:cNvSpPr/>
          <p:nvPr/>
        </p:nvSpPr>
        <p:spPr>
          <a:xfrm>
            <a:off x="411480" y="2935224"/>
            <a:ext cx="3017520" cy="1636776"/>
          </a:xfrm>
          <a:prstGeom prst="rect">
            <a:avLst/>
          </a:prstGeom>
          <a:solidFill>
            <a:srgbClr val="2D2D2D"/>
          </a:solidFill>
          <a:ln/>
        </p:spPr>
      </p:sp>
      <p:sp>
        <p:nvSpPr>
          <p:cNvPr id="13" name="Text 11"/>
          <p:cNvSpPr txBox="1"/>
          <p:nvPr/>
        </p:nvSpPr>
        <p:spPr>
          <a:xfrm>
            <a:off x="594360" y="3072384"/>
            <a:ext cx="914400" cy="45720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02</a:t>
            </a:r>
            <a:endParaRPr lang="en-US" sz="2200" dirty="0"/>
          </a:p>
        </p:txBody>
      </p:sp>
      <p:sp>
        <p:nvSpPr>
          <p:cNvPr id="14" name="Text 12"/>
          <p:cNvSpPr txBox="1"/>
          <p:nvPr/>
        </p:nvSpPr>
        <p:spPr>
          <a:xfrm>
            <a:off x="594360" y="3575304"/>
            <a:ext cx="2697480" cy="914400"/>
          </a:xfrm>
          <a:prstGeom prst="rect">
            <a:avLst/>
          </a:prstGeom>
          <a:noFill/>
          <a:ln/>
        </p:spPr>
        <p:txBody>
          <a:bodyPr wrap="square" lIns="0" tIns="0" rIns="0" bIns="0" rtlCol="0" anchor="t"/>
          <a:lstStyle/>
          <a:p>
            <a:pPr indent="0" marL="0">
              <a:lnSpc>
                <a:spcPct val="130000"/>
              </a:lnSpc>
              <a:buNone/>
            </a:pPr>
            <a:r>
              <a:rPr lang="en-US" sz="1500" b="1" dirty="0">
                <a:solidFill>
                  <a:srgbClr val="FFFFFF"/>
                </a:solidFill>
                <a:latin typeface="Microsoft YaHei" pitchFamily="34" charset="0"/>
                <a:ea typeface="Microsoft YaHei" pitchFamily="34" charset="-122"/>
                <a:cs typeface="Microsoft YaHei" pitchFamily="34" charset="-120"/>
              </a:rPr>
              <a:t>与导师及时沟通，对论文内容进行修改和调整</a:t>
            </a:r>
            <a:endParaRPr lang="en-US" sz="1500" dirty="0"/>
          </a:p>
        </p:txBody>
      </p:sp>
      <p:sp>
        <p:nvSpPr>
          <p:cNvPr id="15" name="Shape 13"/>
          <p:cNvSpPr/>
          <p:nvPr/>
        </p:nvSpPr>
        <p:spPr>
          <a:xfrm>
            <a:off x="3538728" y="1188720"/>
            <a:ext cx="5193792" cy="3383280"/>
          </a:xfrm>
          <a:prstGeom prst="rect">
            <a:avLst/>
          </a:prstGeom>
          <a:solidFill>
            <a:srgbClr val="EBEBEB"/>
          </a:solidFill>
          <a:ln/>
        </p:spPr>
      </p:sp>
      <p:pic>
        <p:nvPicPr>
          <p:cNvPr id="16" name="Image 0" descr="s56_0">    </p:cNvPr>
          <p:cNvPicPr>
            <a:picLocks noChangeAspect="1"/>
          </p:cNvPicPr>
          <p:nvPr/>
        </p:nvPicPr>
        <p:blipFill>
          <a:blip r:embed="rId1"/>
          <a:stretch>
            <a:fillRect/>
          </a:stretch>
        </p:blipFill>
        <p:spPr>
          <a:xfrm>
            <a:off x="4278382" y="1325880"/>
            <a:ext cx="3714484" cy="310896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2D2D2D"/>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FFFFFF"/>
                </a:solidFill>
                <a:latin typeface="Microsoft YaHei" pitchFamily="34" charset="0"/>
                <a:ea typeface="Microsoft YaHei" pitchFamily="34" charset="-122"/>
                <a:cs typeface="Microsoft YaHei" pitchFamily="34" charset="-120"/>
              </a:rPr>
              <a:t>站在巨人的肩膀上</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B5B5B5"/>
                </a:solidFill>
                <a:latin typeface="Poppins" pitchFamily="34" charset="0"/>
                <a:ea typeface="Poppins" pitchFamily="34" charset="-122"/>
                <a:cs typeface="Poppins" pitchFamily="34" charset="-120"/>
              </a:rPr>
              <a:t>Standing on the Shoulders of Giants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FFFFFF"/>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B5B5B5"/>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B5B5B5"/>
                </a:solidFill>
                <a:latin typeface="Microsoft YaHei" pitchFamily="34" charset="0"/>
                <a:ea typeface="Microsoft YaHei" pitchFamily="34" charset="-122"/>
                <a:cs typeface="Microsoft YaHei" pitchFamily="34" charset="-120"/>
              </a:rPr>
              <a:t>03  外文期刊论文的发表</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B5B5B5"/>
                </a:solidFill>
                <a:latin typeface="Poppins" pitchFamily="34" charset="0"/>
                <a:ea typeface="Poppins" pitchFamily="34" charset="-122"/>
                <a:cs typeface="Poppins" pitchFamily="34" charset="-120"/>
              </a:rPr>
              <a:t>58</a:t>
            </a:r>
            <a:endParaRPr lang="en-US" sz="800" dirty="0"/>
          </a:p>
        </p:txBody>
      </p:sp>
      <p:sp>
        <p:nvSpPr>
          <p:cNvPr id="9" name="Text 7"/>
          <p:cNvSpPr txBox="1"/>
          <p:nvPr/>
        </p:nvSpPr>
        <p:spPr>
          <a:xfrm>
            <a:off x="411480" y="1005840"/>
            <a:ext cx="914400" cy="914400"/>
          </a:xfrm>
          <a:prstGeom prst="rect">
            <a:avLst/>
          </a:prstGeom>
          <a:noFill/>
          <a:ln/>
        </p:spPr>
        <p:txBody>
          <a:bodyPr wrap="square" lIns="0" tIns="0" rIns="0" bIns="0" rtlCol="0" anchor="t"/>
          <a:lstStyle/>
          <a:p>
            <a:pPr indent="0" marL="0">
              <a:buNone/>
            </a:pPr>
            <a:r>
              <a:rPr lang="en-US" sz="7200" b="1" dirty="0">
                <a:solidFill>
                  <a:srgbClr val="40E0D0"/>
                </a:solidFill>
                <a:latin typeface="Poppins" pitchFamily="34" charset="0"/>
                <a:ea typeface="Poppins" pitchFamily="34" charset="-122"/>
                <a:cs typeface="Poppins" pitchFamily="34" charset="-120"/>
              </a:rPr>
              <a:t>“</a:t>
            </a:r>
            <a:endParaRPr lang="en-US" sz="7200" dirty="0"/>
          </a:p>
        </p:txBody>
      </p:sp>
      <p:sp>
        <p:nvSpPr>
          <p:cNvPr id="10" name="Text 8"/>
          <p:cNvSpPr txBox="1"/>
          <p:nvPr/>
        </p:nvSpPr>
        <p:spPr>
          <a:xfrm>
            <a:off x="411480" y="1737360"/>
            <a:ext cx="8321040" cy="731520"/>
          </a:xfrm>
          <a:prstGeom prst="rect">
            <a:avLst/>
          </a:prstGeom>
          <a:noFill/>
          <a:ln/>
        </p:spPr>
        <p:txBody>
          <a:bodyPr wrap="square" lIns="0" tIns="0" rIns="0" bIns="0"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如果我看得更远，那是因为我站在巨人的肩膀上。</a:t>
            </a:r>
            <a:endParaRPr lang="en-US" sz="2800" dirty="0"/>
          </a:p>
        </p:txBody>
      </p:sp>
      <p:sp>
        <p:nvSpPr>
          <p:cNvPr id="11" name="Text 9"/>
          <p:cNvSpPr txBox="1"/>
          <p:nvPr/>
        </p:nvSpPr>
        <p:spPr>
          <a:xfrm>
            <a:off x="411480" y="2514600"/>
            <a:ext cx="8321040" cy="548640"/>
          </a:xfrm>
          <a:prstGeom prst="rect">
            <a:avLst/>
          </a:prstGeom>
          <a:noFill/>
          <a:ln/>
        </p:spPr>
        <p:txBody>
          <a:bodyPr wrap="square" lIns="0" tIns="0" rIns="0" bIns="0" rtlCol="0" anchor="ctr"/>
          <a:lstStyle/>
          <a:p>
            <a:pPr indent="0" marL="0">
              <a:buNone/>
            </a:pPr>
            <a:r>
              <a:rPr lang="en-US" sz="1800" i="1" dirty="0">
                <a:solidFill>
                  <a:srgbClr val="40E0D0"/>
                </a:solidFill>
                <a:latin typeface="Poppins" pitchFamily="34" charset="0"/>
                <a:ea typeface="Poppins" pitchFamily="34" charset="-122"/>
                <a:cs typeface="Poppins" pitchFamily="34" charset="-120"/>
              </a:rPr>
              <a:t>“If I have seen further it is by standing on the shoulder of Giants.”</a:t>
            </a:r>
            <a:endParaRPr lang="en-US" sz="1800" dirty="0"/>
          </a:p>
        </p:txBody>
      </p:sp>
      <p:sp>
        <p:nvSpPr>
          <p:cNvPr id="12" name="Text 10"/>
          <p:cNvSpPr txBox="1"/>
          <p:nvPr/>
        </p:nvSpPr>
        <p:spPr>
          <a:xfrm>
            <a:off x="411480" y="3291840"/>
            <a:ext cx="8321040" cy="411480"/>
          </a:xfrm>
          <a:prstGeom prst="rect">
            <a:avLst/>
          </a:prstGeom>
          <a:noFill/>
          <a:ln/>
        </p:spPr>
        <p:txBody>
          <a:bodyPr wrap="square" lIns="0" tIns="0" rIns="0" bIns="0" rtlCol="0" anchor="t"/>
          <a:lstStyle/>
          <a:p>
            <a:pPr algn="r" indent="0" marL="0">
              <a:buNone/>
            </a:pPr>
            <a:r>
              <a:rPr lang="en-US" sz="1400" dirty="0">
                <a:solidFill>
                  <a:srgbClr val="B5B5B5"/>
                </a:solidFill>
                <a:latin typeface="Poppins" pitchFamily="34" charset="0"/>
                <a:ea typeface="Poppins" pitchFamily="34" charset="-122"/>
                <a:cs typeface="Poppins" pitchFamily="34" charset="-120"/>
              </a:rPr>
              <a:t>—— Newton, I. 1676</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1097280"/>
            <a:ext cx="7772400" cy="1005840"/>
          </a:xfrm>
          <a:prstGeom prst="rect">
            <a:avLst/>
          </a:prstGeom>
          <a:noFill/>
          <a:ln/>
        </p:spPr>
        <p:txBody>
          <a:bodyPr wrap="square" lIns="0" tIns="0" rIns="0" bIns="0" rtlCol="0" anchor="ctr"/>
          <a:lstStyle/>
          <a:p>
            <a:pPr indent="0" marL="0">
              <a:buNone/>
            </a:pPr>
            <a:r>
              <a:rPr lang="en-US" sz="5000" b="1" dirty="0">
                <a:solidFill>
                  <a:srgbClr val="2D2D2D"/>
                </a:solidFill>
                <a:latin typeface="Microsoft YaHei" pitchFamily="34" charset="0"/>
                <a:ea typeface="Microsoft YaHei" pitchFamily="34" charset="-122"/>
                <a:cs typeface="Microsoft YaHei" pitchFamily="34" charset="-120"/>
              </a:rPr>
              <a:t>感谢聆听！THANKS</a:t>
            </a:r>
            <a:endParaRPr lang="en-US" sz="5000" dirty="0"/>
          </a:p>
        </p:txBody>
      </p:sp>
      <p:sp>
        <p:nvSpPr>
          <p:cNvPr id="3" name="Text 1"/>
          <p:cNvSpPr txBox="1"/>
          <p:nvPr/>
        </p:nvSpPr>
        <p:spPr>
          <a:xfrm>
            <a:off x="548640" y="2057400"/>
            <a:ext cx="7772400" cy="548640"/>
          </a:xfrm>
          <a:prstGeom prst="rect">
            <a:avLst/>
          </a:prstGeom>
          <a:noFill/>
          <a:ln/>
        </p:spPr>
        <p:txBody>
          <a:bodyPr wrap="square" lIns="0" tIns="0" rIns="0" bIns="0" rtlCol="0" anchor="ctr"/>
          <a:lstStyle/>
          <a:p>
            <a:pPr indent="0" marL="0">
              <a:buNone/>
            </a:pPr>
            <a:r>
              <a:rPr lang="en-US" sz="2000" dirty="0">
                <a:solidFill>
                  <a:srgbClr val="2D2D2D"/>
                </a:solidFill>
                <a:latin typeface="Poppins" pitchFamily="34" charset="0"/>
                <a:ea typeface="Poppins" pitchFamily="34" charset="-122"/>
                <a:cs typeface="Poppins" pitchFamily="34" charset="-120"/>
              </a:rPr>
              <a:t>A Global Dialogue on Design Research</a:t>
            </a:r>
            <a:endParaRPr lang="en-US" sz="2000" dirty="0"/>
          </a:p>
        </p:txBody>
      </p:sp>
      <p:sp>
        <p:nvSpPr>
          <p:cNvPr id="4" name="Shape 2"/>
          <p:cNvSpPr/>
          <p:nvPr/>
        </p:nvSpPr>
        <p:spPr>
          <a:xfrm>
            <a:off x="548640" y="3840480"/>
            <a:ext cx="402336" cy="402336"/>
          </a:xfrm>
          <a:prstGeom prst="rect">
            <a:avLst/>
          </a:prstGeom>
          <a:solidFill>
            <a:srgbClr val="2D2D2D"/>
          </a:solidFill>
          <a:ln/>
        </p:spPr>
      </p:sp>
      <p:sp>
        <p:nvSpPr>
          <p:cNvPr id="5" name="Shape 3"/>
          <p:cNvSpPr/>
          <p:nvPr/>
        </p:nvSpPr>
        <p:spPr>
          <a:xfrm>
            <a:off x="749808" y="4041648"/>
            <a:ext cx="281635" cy="281635"/>
          </a:xfrm>
          <a:prstGeom prst="rect">
            <a:avLst/>
          </a:prstGeom>
          <a:solidFill>
            <a:srgbClr val="FFFFFF"/>
          </a:solidFill>
          <a:ln/>
        </p:spPr>
      </p:sp>
      <p:sp>
        <p:nvSpPr>
          <p:cNvPr id="6" name="Text 4"/>
          <p:cNvSpPr txBox="1"/>
          <p:nvPr/>
        </p:nvSpPr>
        <p:spPr>
          <a:xfrm>
            <a:off x="1234440" y="3840480"/>
            <a:ext cx="5486400" cy="566928"/>
          </a:xfrm>
          <a:prstGeom prst="rect">
            <a:avLst/>
          </a:prstGeom>
          <a:noFill/>
          <a:ln/>
        </p:spPr>
        <p:txBody>
          <a:bodyPr wrap="square" lIns="0" tIns="0" rIns="0" bIns="0" rtlCol="0" anchor="ctr"/>
          <a:lstStyle/>
          <a:p>
            <a:pPr indent="0" marL="0">
              <a:lnSpc>
                <a:spcPct val="120000"/>
              </a:lnSpc>
              <a:buNone/>
            </a:pPr>
            <a:r>
              <a:rPr lang="en-US" sz="1200" dirty="0">
                <a:solidFill>
                  <a:srgbClr val="2D2D2D"/>
                </a:solidFill>
                <a:latin typeface="Microsoft YaHei" pitchFamily="34" charset="0"/>
                <a:ea typeface="Microsoft YaHei" pitchFamily="34" charset="-122"/>
                <a:cs typeface="Microsoft YaHei" pitchFamily="34" charset="-120"/>
              </a:rPr>
              <a:t>第4课  设计研究的全球对话</a:t>
            </a:r>
            <a:endParaRPr lang="en-US" sz="1200" dirty="0"/>
          </a:p>
          <a:p>
            <a:pPr indent="0" marL="0">
              <a:lnSpc>
                <a:spcPct val="120000"/>
              </a:lnSpc>
              <a:buNone/>
            </a:pPr>
            <a:r>
              <a:rPr lang="en-US" sz="1200" dirty="0">
                <a:solidFill>
                  <a:srgbClr val="2D2D2D"/>
                </a:solidFill>
                <a:latin typeface="Microsoft YaHei" pitchFamily="34" charset="0"/>
                <a:ea typeface="Microsoft YaHei" pitchFamily="34" charset="-122"/>
                <a:cs typeface="Microsoft YaHei" pitchFamily="34" charset="-120"/>
              </a:rPr>
              <a:t>湖北工业大学工业设计学院  ·  张萌</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第4课 设计研究的全球对话</dc:title>
  <dc:subject>PptxGenJS Presentation</dc:subject>
  <dc:creator>张萌</dc:creator>
  <cp:lastModifiedBy>张萌</cp:lastModifiedBy>
  <cp:revision>1</cp:revision>
  <dcterms:created xsi:type="dcterms:W3CDTF">2026-09-23T16:29:03Z</dcterms:created>
  <dcterms:modified xsi:type="dcterms:W3CDTF">2026-09-23T16:29:03Z</dcterms:modified>
</cp:coreProperties>
</file>