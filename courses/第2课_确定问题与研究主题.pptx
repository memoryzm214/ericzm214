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辨认准确</c:v>
                </c:pt>
              </c:strCache>
            </c:strRef>
          </c:tx>
          <c:spPr>
            <a:solidFill>
              <a:srgbClr val="2D2D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2D2D2D"/>
              </a:solidFill>
              <a:effectLst/>
            </c:spPr>
          </c:dPt>
          <c:dPt>
            <c:idx val="1"/>
            <c:invertIfNegative val="0"/>
            <c:bubble3D val="0"/>
            <c:spPr>
              <a:solidFill>
                <a:srgbClr val="40E0D0"/>
              </a:solidFill>
              <a:effectLst/>
            </c:spPr>
          </c:dPt>
          <c:cat>
            <c:multiLvlStrRef>
              <c:f>Sheet1!$A$2:$A$3</c:f>
              <c:multiLvlStrCache>
                <c:ptCount val="2"/>
                <c:lvl>
                  <c:pt idx="0">
                    <c:v>未催眠</c:v>
                  </c:pt>
                  <c:pt idx="1">
                    <c:v>催眠</c:v>
                  </c:pt>
                </c:lvl>
              </c:multiLvlStrCache>
            </c:multiLvlStrRef>
          </c:cat>
          <c:val>
            <c:numRef>
              <c:f>Sheet1!$B$2:$B$3</c:f>
              <c:numCache>
                <c:formatCode>General</c:formatCode>
                <c:ptCount val="2"/>
                <c:pt idx="0">
                  <c:v>65</c:v>
                </c:pt>
                <c:pt idx="1">
                  <c:v>45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D2D2D"/>
                </a:solidFill>
                <a:latin typeface="Microsoft YaHei"/>
              </a:defRPr>
            </a:pPr>
            <a:endParaRPr lang="en-US"/>
          </a:p>
        </c:txPr>
        <c:crossAx val="2094734552"/>
        <c:crosses val="autoZero"/>
        <c:auto val="1"/>
        <c:lblAlgn val="ctr"/>
        <c:noMultiLvlLbl val="1"/>
      </c:catAx>
      <c:valAx>
        <c:axId val="2094734552"/>
        <c:scaling>
          <c:orientation val="minMax"/>
          <c:max val="75"/>
          <c:min val="0"/>
        </c:scaling>
        <c:delete val="0"/>
        <c:axPos val="l"/>
        <c:majorGridlines>
          <c:spPr>
            <a:ln w="9525"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07070"/>
                </a:solidFill>
                <a:latin typeface="Poppins"/>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image" Target="../media/image-7-4.jpe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0E0D0"/>
        </a:solidFill>
      </p:bgPr>
    </p:bg>
    <p:spTree>
      <p:nvGrpSpPr>
        <p:cNvPr id="1" name=""/>
        <p:cNvGrpSpPr/>
        <p:nvPr/>
      </p:nvGrpSpPr>
      <p:grpSpPr>
        <a:xfrm>
          <a:off x="0" y="0"/>
          <a:ext cx="0" cy="0"/>
          <a:chOff x="0" y="0"/>
          <a:chExt cx="0" cy="0"/>
        </a:xfrm>
      </p:grpSpPr>
      <p:sp>
        <p:nvSpPr>
          <p:cNvPr id="2" name="Text 0"/>
          <p:cNvSpPr txBox="1"/>
          <p:nvPr/>
        </p:nvSpPr>
        <p:spPr>
          <a:xfrm>
            <a:off x="548640" y="548640"/>
            <a:ext cx="4937760" cy="365760"/>
          </a:xfrm>
          <a:prstGeom prst="rect">
            <a:avLst/>
          </a:prstGeom>
          <a:noFill/>
          <a:ln/>
        </p:spPr>
        <p:txBody>
          <a:bodyPr wrap="square" lIns="0" tIns="0" rIns="0" bIns="0" rtlCol="0" anchor="t"/>
          <a:lstStyle/>
          <a:p>
            <a:pPr indent="0" marL="0">
              <a:buNone/>
            </a:pPr>
            <a:r>
              <a:rPr lang="en-US" sz="1600" dirty="0">
                <a:solidFill>
                  <a:srgbClr val="2D2D2D"/>
                </a:solidFill>
                <a:latin typeface="Microsoft YaHei" pitchFamily="34" charset="0"/>
                <a:ea typeface="Microsoft YaHei" pitchFamily="34" charset="-122"/>
                <a:cs typeface="Microsoft YaHei" pitchFamily="34" charset="-120"/>
              </a:rPr>
              <a:t>第2课  ·  材料研究与产品设计</a:t>
            </a:r>
            <a:endParaRPr lang="en-US" sz="1600" dirty="0"/>
          </a:p>
        </p:txBody>
      </p:sp>
      <p:sp>
        <p:nvSpPr>
          <p:cNvPr id="3" name="Text 1"/>
          <p:cNvSpPr txBox="1"/>
          <p:nvPr/>
        </p:nvSpPr>
        <p:spPr>
          <a:xfrm>
            <a:off x="548640" y="1005840"/>
            <a:ext cx="5120640" cy="868680"/>
          </a:xfrm>
          <a:prstGeom prst="rect">
            <a:avLst/>
          </a:prstGeom>
          <a:noFill/>
          <a:ln/>
        </p:spPr>
        <p:txBody>
          <a:bodyPr wrap="square" lIns="0" tIns="0" rIns="0" bIns="0" rtlCol="0" anchor="ctr"/>
          <a:lstStyle/>
          <a:p>
            <a:pPr indent="0" marL="0">
              <a:buNone/>
            </a:pPr>
            <a:r>
              <a:rPr lang="en-US" sz="4800" b="1" dirty="0">
                <a:solidFill>
                  <a:srgbClr val="2D2D2D"/>
                </a:solidFill>
                <a:latin typeface="Microsoft YaHei" pitchFamily="34" charset="0"/>
                <a:ea typeface="Microsoft YaHei" pitchFamily="34" charset="-122"/>
                <a:cs typeface="Microsoft YaHei" pitchFamily="34" charset="-120"/>
              </a:rPr>
              <a:t>确定问题与</a:t>
            </a:r>
            <a:endParaRPr lang="en-US" sz="4800" dirty="0"/>
          </a:p>
        </p:txBody>
      </p:sp>
      <p:sp>
        <p:nvSpPr>
          <p:cNvPr id="4" name="Text 2"/>
          <p:cNvSpPr txBox="1"/>
          <p:nvPr/>
        </p:nvSpPr>
        <p:spPr>
          <a:xfrm>
            <a:off x="548640" y="1783080"/>
            <a:ext cx="5120640" cy="868680"/>
          </a:xfrm>
          <a:prstGeom prst="rect">
            <a:avLst/>
          </a:prstGeom>
          <a:noFill/>
          <a:ln/>
        </p:spPr>
        <p:txBody>
          <a:bodyPr wrap="square" lIns="0" tIns="0" rIns="0" bIns="0" rtlCol="0" anchor="ctr"/>
          <a:lstStyle/>
          <a:p>
            <a:pPr indent="0" marL="0">
              <a:buNone/>
            </a:pPr>
            <a:r>
              <a:rPr lang="en-US" sz="4800" dirty="0">
                <a:solidFill>
                  <a:srgbClr val="2D2D2D"/>
                </a:solidFill>
                <a:latin typeface="Microsoft YaHei" pitchFamily="34" charset="0"/>
                <a:ea typeface="Microsoft YaHei" pitchFamily="34" charset="-122"/>
                <a:cs typeface="Microsoft YaHei" pitchFamily="34" charset="-120"/>
              </a:rPr>
              <a:t>研究主题</a:t>
            </a:r>
            <a:endParaRPr lang="en-US" sz="4800" dirty="0"/>
          </a:p>
        </p:txBody>
      </p:sp>
      <p:sp>
        <p:nvSpPr>
          <p:cNvPr id="5" name="Text 3"/>
          <p:cNvSpPr txBox="1"/>
          <p:nvPr/>
        </p:nvSpPr>
        <p:spPr>
          <a:xfrm>
            <a:off x="548640" y="2697480"/>
            <a:ext cx="5120640" cy="365760"/>
          </a:xfrm>
          <a:prstGeom prst="rect">
            <a:avLst/>
          </a:prstGeom>
          <a:noFill/>
          <a:ln/>
        </p:spPr>
        <p:txBody>
          <a:bodyPr wrap="square" lIns="0" tIns="0" rIns="0" bIns="0" rtlCol="0" anchor="ctr"/>
          <a:lstStyle/>
          <a:p>
            <a:pPr indent="0" marL="0">
              <a:buNone/>
            </a:pPr>
            <a:r>
              <a:rPr lang="en-US" sz="1500" dirty="0">
                <a:solidFill>
                  <a:srgbClr val="2D2D2D"/>
                </a:solidFill>
                <a:latin typeface="Poppins" pitchFamily="34" charset="0"/>
                <a:ea typeface="Poppins" pitchFamily="34" charset="-122"/>
                <a:cs typeface="Poppins" pitchFamily="34" charset="-120"/>
              </a:rPr>
              <a:t>Research Questions &amp; Hypotheses</a:t>
            </a:r>
            <a:endParaRPr lang="en-US" sz="1500" dirty="0"/>
          </a:p>
        </p:txBody>
      </p:sp>
      <p:sp>
        <p:nvSpPr>
          <p:cNvPr id="6" name="Shape 4"/>
          <p:cNvSpPr/>
          <p:nvPr/>
        </p:nvSpPr>
        <p:spPr>
          <a:xfrm>
            <a:off x="548640" y="3840480"/>
            <a:ext cx="402336" cy="402336"/>
          </a:xfrm>
          <a:prstGeom prst="rect">
            <a:avLst/>
          </a:prstGeom>
          <a:solidFill>
            <a:srgbClr val="2D2D2D"/>
          </a:solidFill>
          <a:ln/>
        </p:spPr>
      </p:sp>
      <p:sp>
        <p:nvSpPr>
          <p:cNvPr id="7" name="Shape 5"/>
          <p:cNvSpPr/>
          <p:nvPr/>
        </p:nvSpPr>
        <p:spPr>
          <a:xfrm>
            <a:off x="749808" y="4041648"/>
            <a:ext cx="281635" cy="281635"/>
          </a:xfrm>
          <a:prstGeom prst="rect">
            <a:avLst/>
          </a:prstGeom>
          <a:solidFill>
            <a:srgbClr val="FFFFFF"/>
          </a:solidFill>
          <a:ln/>
        </p:spPr>
      </p:sp>
      <p:sp>
        <p:nvSpPr>
          <p:cNvPr id="8" name="Text 6"/>
          <p:cNvSpPr txBox="1"/>
          <p:nvPr/>
        </p:nvSpPr>
        <p:spPr>
          <a:xfrm>
            <a:off x="1234440" y="3840480"/>
            <a:ext cx="3200400" cy="566928"/>
          </a:xfrm>
          <a:prstGeom prst="rect">
            <a:avLst/>
          </a:prstGeom>
          <a:noFill/>
          <a:ln/>
        </p:spPr>
        <p:txBody>
          <a:bodyPr wrap="square" lIns="0" tIns="0" rIns="0" bIns="0" rtlCol="0" anchor="ctr"/>
          <a:lstStyle/>
          <a:p>
            <a:pPr indent="0" marL="0">
              <a:lnSpc>
                <a:spcPct val="120000"/>
              </a:lnSpc>
              <a:buNone/>
            </a:pPr>
            <a:r>
              <a:rPr lang="en-US" sz="1300" dirty="0">
                <a:solidFill>
                  <a:srgbClr val="2D2D2D"/>
                </a:solidFill>
                <a:latin typeface="Microsoft YaHei" pitchFamily="34" charset="0"/>
                <a:ea typeface="Microsoft YaHei" pitchFamily="34" charset="-122"/>
                <a:cs typeface="Microsoft YaHei" pitchFamily="34" charset="-120"/>
              </a:rPr>
              <a:t>工业设计学院</a:t>
            </a:r>
            <a:endParaRPr lang="en-US" sz="1300" dirty="0"/>
          </a:p>
          <a:p>
            <a:pPr indent="0" marL="0">
              <a:lnSpc>
                <a:spcPct val="120000"/>
              </a:lnSpc>
              <a:buNone/>
            </a:pPr>
            <a:r>
              <a:rPr lang="en-US" sz="1300" dirty="0">
                <a:solidFill>
                  <a:srgbClr val="2D2D2D"/>
                </a:solidFill>
                <a:latin typeface="Microsoft YaHei" pitchFamily="34" charset="0"/>
                <a:ea typeface="Microsoft YaHei" pitchFamily="34" charset="-122"/>
                <a:cs typeface="Microsoft YaHei" pitchFamily="34" charset="-120"/>
              </a:rPr>
              <a:t>张萌</a:t>
            </a:r>
            <a:endParaRPr lang="en-US" sz="1300" dirty="0"/>
          </a:p>
        </p:txBody>
      </p:sp>
      <p:pic>
        <p:nvPicPr>
          <p:cNvPr id="9" name="Image 0" descr="p01_1">    </p:cNvPr>
          <p:cNvPicPr>
            <a:picLocks noChangeAspect="1"/>
          </p:cNvPicPr>
          <p:nvPr/>
        </p:nvPicPr>
        <p:blipFill>
          <a:blip r:embed="rId1"/>
          <a:stretch>
            <a:fillRect/>
          </a:stretch>
        </p:blipFill>
        <p:spPr>
          <a:xfrm>
            <a:off x="5760720" y="0"/>
            <a:ext cx="338328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课程目录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Contents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02</a:t>
            </a:r>
            <a:endParaRPr lang="en-US" sz="800" dirty="0"/>
          </a:p>
        </p:txBody>
      </p:sp>
      <p:sp>
        <p:nvSpPr>
          <p:cNvPr id="8" name="Shape 6"/>
          <p:cNvSpPr/>
          <p:nvPr/>
        </p:nvSpPr>
        <p:spPr>
          <a:xfrm>
            <a:off x="411480" y="1188720"/>
            <a:ext cx="1576426" cy="3383280"/>
          </a:xfrm>
          <a:prstGeom prst="rect">
            <a:avLst/>
          </a:prstGeom>
          <a:solidFill>
            <a:srgbClr val="40E0D0"/>
          </a:solidFill>
          <a:ln/>
        </p:spPr>
      </p:sp>
      <p:sp>
        <p:nvSpPr>
          <p:cNvPr id="9" name="Text 7"/>
          <p:cNvSpPr txBox="1"/>
          <p:nvPr/>
        </p:nvSpPr>
        <p:spPr>
          <a:xfrm>
            <a:off x="594360" y="1325880"/>
            <a:ext cx="1302106" cy="64008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01</a:t>
            </a:r>
            <a:endParaRPr lang="en-US" sz="3000" dirty="0"/>
          </a:p>
        </p:txBody>
      </p:sp>
      <p:sp>
        <p:nvSpPr>
          <p:cNvPr id="10" name="Text 8"/>
          <p:cNvSpPr txBox="1"/>
          <p:nvPr/>
        </p:nvSpPr>
        <p:spPr>
          <a:xfrm>
            <a:off x="594360" y="2743200"/>
            <a:ext cx="1302106" cy="86868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确定问题与研究主题</a:t>
            </a:r>
            <a:endParaRPr lang="en-US" sz="1400" dirty="0"/>
          </a:p>
        </p:txBody>
      </p:sp>
      <p:sp>
        <p:nvSpPr>
          <p:cNvPr id="11" name="Text 9"/>
          <p:cNvSpPr txBox="1"/>
          <p:nvPr/>
        </p:nvSpPr>
        <p:spPr>
          <a:xfrm>
            <a:off x="594360" y="3703320"/>
            <a:ext cx="1256386" cy="685800"/>
          </a:xfrm>
          <a:prstGeom prst="rect">
            <a:avLst/>
          </a:prstGeom>
          <a:noFill/>
          <a:ln/>
        </p:spPr>
        <p:txBody>
          <a:bodyPr wrap="square" lIns="0" tIns="0" rIns="0" bIns="0" rtlCol="0" anchor="t"/>
          <a:lstStyle/>
          <a:p>
            <a:pPr indent="0" marL="0">
              <a:buNone/>
            </a:pPr>
            <a:r>
              <a:rPr lang="en-US" sz="900" dirty="0">
                <a:solidFill>
                  <a:srgbClr val="2D2D2D"/>
                </a:solidFill>
                <a:latin typeface="Poppins" pitchFamily="34" charset="0"/>
                <a:ea typeface="Poppins" pitchFamily="34" charset="-122"/>
                <a:cs typeface="Poppins" pitchFamily="34" charset="-120"/>
              </a:rPr>
              <a:t>Research Questions &amp; Topics</a:t>
            </a:r>
            <a:endParaRPr lang="en-US" sz="900" dirty="0"/>
          </a:p>
        </p:txBody>
      </p:sp>
      <p:sp>
        <p:nvSpPr>
          <p:cNvPr id="12" name="Shape 10"/>
          <p:cNvSpPr/>
          <p:nvPr/>
        </p:nvSpPr>
        <p:spPr>
          <a:xfrm>
            <a:off x="2097634" y="1188720"/>
            <a:ext cx="1576426" cy="3383280"/>
          </a:xfrm>
          <a:prstGeom prst="rect">
            <a:avLst/>
          </a:prstGeom>
          <a:solidFill>
            <a:srgbClr val="EBEBEB"/>
          </a:solidFill>
          <a:ln/>
        </p:spPr>
      </p:sp>
      <p:sp>
        <p:nvSpPr>
          <p:cNvPr id="13" name="Text 11"/>
          <p:cNvSpPr txBox="1"/>
          <p:nvPr/>
        </p:nvSpPr>
        <p:spPr>
          <a:xfrm>
            <a:off x="2280514" y="1325880"/>
            <a:ext cx="1302106" cy="64008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02</a:t>
            </a:r>
            <a:endParaRPr lang="en-US" sz="3000" dirty="0"/>
          </a:p>
        </p:txBody>
      </p:sp>
      <p:sp>
        <p:nvSpPr>
          <p:cNvPr id="14" name="Text 12"/>
          <p:cNvSpPr txBox="1"/>
          <p:nvPr/>
        </p:nvSpPr>
        <p:spPr>
          <a:xfrm>
            <a:off x="2280514" y="2743200"/>
            <a:ext cx="1302106" cy="86868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文献检索与可行性评估</a:t>
            </a:r>
            <a:endParaRPr lang="en-US" sz="1400" dirty="0"/>
          </a:p>
        </p:txBody>
      </p:sp>
      <p:sp>
        <p:nvSpPr>
          <p:cNvPr id="15" name="Text 13"/>
          <p:cNvSpPr txBox="1"/>
          <p:nvPr/>
        </p:nvSpPr>
        <p:spPr>
          <a:xfrm>
            <a:off x="2280514" y="3703320"/>
            <a:ext cx="1256386" cy="685800"/>
          </a:xfrm>
          <a:prstGeom prst="rect">
            <a:avLst/>
          </a:prstGeom>
          <a:noFill/>
          <a:ln/>
        </p:spPr>
        <p:txBody>
          <a:bodyPr wrap="square" lIns="0" tIns="0" rIns="0" bIns="0" rtlCol="0" anchor="t"/>
          <a:lstStyle/>
          <a:p>
            <a:pPr indent="0" marL="0">
              <a:buNone/>
            </a:pPr>
            <a:r>
              <a:rPr lang="en-US" sz="900" dirty="0">
                <a:solidFill>
                  <a:srgbClr val="2D2D2D"/>
                </a:solidFill>
                <a:latin typeface="Poppins" pitchFamily="34" charset="0"/>
                <a:ea typeface="Poppins" pitchFamily="34" charset="-122"/>
                <a:cs typeface="Poppins" pitchFamily="34" charset="-120"/>
              </a:rPr>
              <a:t>Literature Review &amp; Feasibility</a:t>
            </a:r>
            <a:endParaRPr lang="en-US" sz="900" dirty="0"/>
          </a:p>
        </p:txBody>
      </p:sp>
      <p:sp>
        <p:nvSpPr>
          <p:cNvPr id="16" name="Shape 14"/>
          <p:cNvSpPr/>
          <p:nvPr/>
        </p:nvSpPr>
        <p:spPr>
          <a:xfrm>
            <a:off x="3783787" y="1188720"/>
            <a:ext cx="1576426" cy="3383280"/>
          </a:xfrm>
          <a:prstGeom prst="rect">
            <a:avLst/>
          </a:prstGeom>
          <a:solidFill>
            <a:srgbClr val="2D2D2D"/>
          </a:solidFill>
          <a:ln/>
        </p:spPr>
      </p:sp>
      <p:sp>
        <p:nvSpPr>
          <p:cNvPr id="17" name="Text 15"/>
          <p:cNvSpPr txBox="1"/>
          <p:nvPr/>
        </p:nvSpPr>
        <p:spPr>
          <a:xfrm>
            <a:off x="3966667" y="1325880"/>
            <a:ext cx="1302106" cy="640080"/>
          </a:xfrm>
          <a:prstGeom prst="rect">
            <a:avLst/>
          </a:prstGeom>
          <a:noFill/>
          <a:ln/>
        </p:spPr>
        <p:txBody>
          <a:bodyPr wrap="square" lIns="0" tIns="0" rIns="0" bIns="0" rtlCol="0" anchor="t"/>
          <a:lstStyle/>
          <a:p>
            <a:pPr indent="0" marL="0">
              <a:buNone/>
            </a:pPr>
            <a:r>
              <a:rPr lang="en-US" sz="3000" b="1" dirty="0">
                <a:solidFill>
                  <a:srgbClr val="FFFFFF"/>
                </a:solidFill>
                <a:latin typeface="Poppins" pitchFamily="34" charset="0"/>
                <a:ea typeface="Poppins" pitchFamily="34" charset="-122"/>
                <a:cs typeface="Poppins" pitchFamily="34" charset="-120"/>
              </a:rPr>
              <a:t>03</a:t>
            </a:r>
            <a:endParaRPr lang="en-US" sz="3000" dirty="0"/>
          </a:p>
        </p:txBody>
      </p:sp>
      <p:sp>
        <p:nvSpPr>
          <p:cNvPr id="18" name="Text 16"/>
          <p:cNvSpPr txBox="1"/>
          <p:nvPr/>
        </p:nvSpPr>
        <p:spPr>
          <a:xfrm>
            <a:off x="3966667" y="2743200"/>
            <a:ext cx="1302106" cy="868680"/>
          </a:xfrm>
          <a:prstGeom prst="rect">
            <a:avLst/>
          </a:prstGeom>
          <a:noFill/>
          <a:ln/>
        </p:spPr>
        <p:txBody>
          <a:bodyPr wrap="square" lIns="0" tIns="0" rIns="0" bIns="0" rtlCol="0" anchor="b"/>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阐述研究问题</a:t>
            </a:r>
            <a:endParaRPr lang="en-US" sz="1400" dirty="0"/>
          </a:p>
        </p:txBody>
      </p:sp>
      <p:sp>
        <p:nvSpPr>
          <p:cNvPr id="19" name="Text 17"/>
          <p:cNvSpPr txBox="1"/>
          <p:nvPr/>
        </p:nvSpPr>
        <p:spPr>
          <a:xfrm>
            <a:off x="3966667" y="3703320"/>
            <a:ext cx="1256386" cy="685800"/>
          </a:xfrm>
          <a:prstGeom prst="rect">
            <a:avLst/>
          </a:prstGeom>
          <a:noFill/>
          <a:ln/>
        </p:spPr>
        <p:txBody>
          <a:bodyPr wrap="square" lIns="0" tIns="0" rIns="0" bIns="0" rtlCol="0" anchor="t"/>
          <a:lstStyle/>
          <a:p>
            <a:pPr indent="0" marL="0">
              <a:buNone/>
            </a:pPr>
            <a:r>
              <a:rPr lang="en-US" sz="900" dirty="0">
                <a:solidFill>
                  <a:srgbClr val="FFFFFF"/>
                </a:solidFill>
                <a:latin typeface="Poppins" pitchFamily="34" charset="0"/>
                <a:ea typeface="Poppins" pitchFamily="34" charset="-122"/>
                <a:cs typeface="Poppins" pitchFamily="34" charset="-120"/>
              </a:rPr>
              <a:t>Stating the Research Question</a:t>
            </a:r>
            <a:endParaRPr lang="en-US" sz="900" dirty="0"/>
          </a:p>
        </p:txBody>
      </p:sp>
      <p:sp>
        <p:nvSpPr>
          <p:cNvPr id="20" name="Shape 18"/>
          <p:cNvSpPr/>
          <p:nvPr/>
        </p:nvSpPr>
        <p:spPr>
          <a:xfrm>
            <a:off x="5469941" y="1188720"/>
            <a:ext cx="1576426" cy="3383280"/>
          </a:xfrm>
          <a:prstGeom prst="rect">
            <a:avLst/>
          </a:prstGeom>
          <a:solidFill>
            <a:srgbClr val="EBEBEB"/>
          </a:solidFill>
          <a:ln/>
        </p:spPr>
      </p:sp>
      <p:sp>
        <p:nvSpPr>
          <p:cNvPr id="21" name="Text 19"/>
          <p:cNvSpPr txBox="1"/>
          <p:nvPr/>
        </p:nvSpPr>
        <p:spPr>
          <a:xfrm>
            <a:off x="5652821" y="1325880"/>
            <a:ext cx="1302106" cy="64008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04</a:t>
            </a:r>
            <a:endParaRPr lang="en-US" sz="3000" dirty="0"/>
          </a:p>
        </p:txBody>
      </p:sp>
      <p:sp>
        <p:nvSpPr>
          <p:cNvPr id="22" name="Text 20"/>
          <p:cNvSpPr txBox="1"/>
          <p:nvPr/>
        </p:nvSpPr>
        <p:spPr>
          <a:xfrm>
            <a:off x="5652821" y="2743200"/>
            <a:ext cx="1302106" cy="86868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形成假设</a:t>
            </a:r>
            <a:endParaRPr lang="en-US" sz="1400" dirty="0"/>
          </a:p>
        </p:txBody>
      </p:sp>
      <p:sp>
        <p:nvSpPr>
          <p:cNvPr id="23" name="Text 21"/>
          <p:cNvSpPr txBox="1"/>
          <p:nvPr/>
        </p:nvSpPr>
        <p:spPr>
          <a:xfrm>
            <a:off x="5652821" y="3703320"/>
            <a:ext cx="1256386" cy="685800"/>
          </a:xfrm>
          <a:prstGeom prst="rect">
            <a:avLst/>
          </a:prstGeom>
          <a:noFill/>
          <a:ln/>
        </p:spPr>
        <p:txBody>
          <a:bodyPr wrap="square" lIns="0" tIns="0" rIns="0" bIns="0" rtlCol="0" anchor="t"/>
          <a:lstStyle/>
          <a:p>
            <a:pPr indent="0" marL="0">
              <a:buNone/>
            </a:pPr>
            <a:r>
              <a:rPr lang="en-US" sz="900" dirty="0">
                <a:solidFill>
                  <a:srgbClr val="2D2D2D"/>
                </a:solidFill>
                <a:latin typeface="Poppins" pitchFamily="34" charset="0"/>
                <a:ea typeface="Poppins" pitchFamily="34" charset="-122"/>
                <a:cs typeface="Poppins" pitchFamily="34" charset="-120"/>
              </a:rPr>
              <a:t>Forming Hypotheses</a:t>
            </a:r>
            <a:endParaRPr lang="en-US" sz="900" dirty="0"/>
          </a:p>
        </p:txBody>
      </p:sp>
      <p:sp>
        <p:nvSpPr>
          <p:cNvPr id="24" name="Shape 22"/>
          <p:cNvSpPr/>
          <p:nvPr/>
        </p:nvSpPr>
        <p:spPr>
          <a:xfrm>
            <a:off x="7156094" y="1188720"/>
            <a:ext cx="1576426" cy="3383280"/>
          </a:xfrm>
          <a:prstGeom prst="rect">
            <a:avLst/>
          </a:prstGeom>
          <a:solidFill>
            <a:srgbClr val="40E0D0"/>
          </a:solidFill>
          <a:ln/>
        </p:spPr>
      </p:sp>
      <p:sp>
        <p:nvSpPr>
          <p:cNvPr id="25" name="Text 23"/>
          <p:cNvSpPr txBox="1"/>
          <p:nvPr/>
        </p:nvSpPr>
        <p:spPr>
          <a:xfrm>
            <a:off x="7338974" y="1325880"/>
            <a:ext cx="1302106" cy="64008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05</a:t>
            </a:r>
            <a:endParaRPr lang="en-US" sz="3000" dirty="0"/>
          </a:p>
        </p:txBody>
      </p:sp>
      <p:sp>
        <p:nvSpPr>
          <p:cNvPr id="26" name="Text 24"/>
          <p:cNvSpPr txBox="1"/>
          <p:nvPr/>
        </p:nvSpPr>
        <p:spPr>
          <a:xfrm>
            <a:off x="7338974" y="2743200"/>
            <a:ext cx="1302106" cy="86868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总结与回顾</a:t>
            </a:r>
            <a:endParaRPr lang="en-US" sz="1400" dirty="0"/>
          </a:p>
        </p:txBody>
      </p:sp>
      <p:sp>
        <p:nvSpPr>
          <p:cNvPr id="27" name="Text 25"/>
          <p:cNvSpPr txBox="1"/>
          <p:nvPr/>
        </p:nvSpPr>
        <p:spPr>
          <a:xfrm>
            <a:off x="7338974" y="3703320"/>
            <a:ext cx="1256386" cy="685800"/>
          </a:xfrm>
          <a:prstGeom prst="rect">
            <a:avLst/>
          </a:prstGeom>
          <a:noFill/>
          <a:ln/>
        </p:spPr>
        <p:txBody>
          <a:bodyPr wrap="square" lIns="0" tIns="0" rIns="0" bIns="0" rtlCol="0" anchor="t"/>
          <a:lstStyle/>
          <a:p>
            <a:pPr indent="0" marL="0">
              <a:buNone/>
            </a:pPr>
            <a:r>
              <a:rPr lang="en-US" sz="900" dirty="0">
                <a:solidFill>
                  <a:srgbClr val="2D2D2D"/>
                </a:solidFill>
                <a:latin typeface="Poppins" pitchFamily="34" charset="0"/>
                <a:ea typeface="Poppins" pitchFamily="34" charset="-122"/>
                <a:cs typeface="Poppins" pitchFamily="34" charset="-120"/>
              </a:rPr>
              <a:t>Summary &amp; Review</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02</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01</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Research Questions &amp; Topics</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确定问题与研究主题</a:t>
            </a:r>
            <a:endParaRPr lang="en-US" sz="3000" dirty="0"/>
          </a:p>
        </p:txBody>
      </p:sp>
      <p:sp>
        <p:nvSpPr>
          <p:cNvPr id="7" name="Shape 5"/>
          <p:cNvSpPr/>
          <p:nvPr/>
        </p:nvSpPr>
        <p:spPr>
          <a:xfrm>
            <a:off x="4023360" y="1828800"/>
            <a:ext cx="4709160" cy="804672"/>
          </a:xfrm>
          <a:prstGeom prst="roundRect">
            <a:avLst>
              <a:gd name="adj" fmla="val 13636"/>
            </a:avLst>
          </a:prstGeom>
          <a:solidFill>
            <a:srgbClr val="EBEBEB"/>
          </a:solidFill>
          <a:ln/>
        </p:spPr>
      </p:sp>
      <p:sp>
        <p:nvSpPr>
          <p:cNvPr id="8" name="Shape 6"/>
          <p:cNvSpPr/>
          <p:nvPr/>
        </p:nvSpPr>
        <p:spPr>
          <a:xfrm>
            <a:off x="4224528" y="2020824"/>
            <a:ext cx="146304" cy="146304"/>
          </a:xfrm>
          <a:prstGeom prst="rect">
            <a:avLst/>
          </a:prstGeom>
          <a:solidFill>
            <a:srgbClr val="40E0D0"/>
          </a:solidFill>
          <a:ln/>
        </p:spPr>
      </p:sp>
      <p:sp>
        <p:nvSpPr>
          <p:cNvPr id="9" name="Text 7"/>
          <p:cNvSpPr txBox="1"/>
          <p:nvPr/>
        </p:nvSpPr>
        <p:spPr>
          <a:xfrm>
            <a:off x="4526280" y="1920240"/>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三类研究问题</a:t>
            </a:r>
            <a:endParaRPr lang="en-US" sz="1500" dirty="0"/>
          </a:p>
        </p:txBody>
      </p:sp>
      <p:sp>
        <p:nvSpPr>
          <p:cNvPr id="10" name="Text 8"/>
          <p:cNvSpPr txBox="1"/>
          <p:nvPr/>
        </p:nvSpPr>
        <p:spPr>
          <a:xfrm>
            <a:off x="4526280" y="2276856"/>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概念性问题  ·  实用性问题  ·  应用性问题</a:t>
            </a:r>
            <a:endParaRPr lang="en-US" sz="1100" dirty="0"/>
          </a:p>
        </p:txBody>
      </p:sp>
      <p:sp>
        <p:nvSpPr>
          <p:cNvPr id="11" name="Shape 9"/>
          <p:cNvSpPr/>
          <p:nvPr/>
        </p:nvSpPr>
        <p:spPr>
          <a:xfrm>
            <a:off x="4023360" y="2743200"/>
            <a:ext cx="4709160" cy="804672"/>
          </a:xfrm>
          <a:prstGeom prst="roundRect">
            <a:avLst>
              <a:gd name="adj" fmla="val 13636"/>
            </a:avLst>
          </a:prstGeom>
          <a:solidFill>
            <a:srgbClr val="E2E2E2"/>
          </a:solidFill>
          <a:ln/>
        </p:spPr>
      </p:sp>
      <p:sp>
        <p:nvSpPr>
          <p:cNvPr id="12" name="Shape 10"/>
          <p:cNvSpPr/>
          <p:nvPr/>
        </p:nvSpPr>
        <p:spPr>
          <a:xfrm>
            <a:off x="4224528" y="2935224"/>
            <a:ext cx="146304" cy="146304"/>
          </a:xfrm>
          <a:prstGeom prst="rect">
            <a:avLst/>
          </a:prstGeom>
          <a:solidFill>
            <a:srgbClr val="2D2D2D"/>
          </a:solidFill>
          <a:ln/>
        </p:spPr>
      </p:sp>
      <p:sp>
        <p:nvSpPr>
          <p:cNvPr id="13" name="Text 11"/>
          <p:cNvSpPr txBox="1"/>
          <p:nvPr/>
        </p:nvSpPr>
        <p:spPr>
          <a:xfrm>
            <a:off x="4526280" y="2834640"/>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研究思路的四大来源</a:t>
            </a:r>
            <a:endParaRPr lang="en-US" sz="1500" dirty="0"/>
          </a:p>
        </p:txBody>
      </p:sp>
      <p:sp>
        <p:nvSpPr>
          <p:cNvPr id="14" name="Text 12"/>
          <p:cNvSpPr txBox="1"/>
          <p:nvPr/>
        </p:nvSpPr>
        <p:spPr>
          <a:xfrm>
            <a:off x="4526280" y="3191256"/>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日常生活  ·  实际问题  ·  过往研究  ·  理论</a:t>
            </a:r>
            <a:endParaRPr lang="en-US" sz="1100" dirty="0"/>
          </a:p>
        </p:txBody>
      </p:sp>
      <p:sp>
        <p:nvSpPr>
          <p:cNvPr id="15" name="Shape 13"/>
          <p:cNvSpPr/>
          <p:nvPr/>
        </p:nvSpPr>
        <p:spPr>
          <a:xfrm>
            <a:off x="4023360" y="3657600"/>
            <a:ext cx="4709160" cy="804672"/>
          </a:xfrm>
          <a:prstGeom prst="roundRect">
            <a:avLst>
              <a:gd name="adj" fmla="val 13636"/>
            </a:avLst>
          </a:prstGeom>
          <a:solidFill>
            <a:srgbClr val="EBEBEB"/>
          </a:solidFill>
          <a:ln/>
        </p:spPr>
      </p:sp>
      <p:sp>
        <p:nvSpPr>
          <p:cNvPr id="16" name="Shape 14"/>
          <p:cNvSpPr/>
          <p:nvPr/>
        </p:nvSpPr>
        <p:spPr>
          <a:xfrm>
            <a:off x="4224528" y="3849624"/>
            <a:ext cx="146304" cy="146304"/>
          </a:xfrm>
          <a:prstGeom prst="rect">
            <a:avLst/>
          </a:prstGeom>
          <a:solidFill>
            <a:srgbClr val="2D2D2D"/>
          </a:solidFill>
          <a:ln/>
        </p:spPr>
      </p:sp>
      <p:sp>
        <p:nvSpPr>
          <p:cNvPr id="17" name="Text 15"/>
          <p:cNvSpPr txBox="1"/>
          <p:nvPr/>
        </p:nvSpPr>
        <p:spPr>
          <a:xfrm>
            <a:off x="4526280" y="3749040"/>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可研究问题的标准</a:t>
            </a:r>
            <a:endParaRPr lang="en-US" sz="1500" dirty="0"/>
          </a:p>
        </p:txBody>
      </p:sp>
      <p:sp>
        <p:nvSpPr>
          <p:cNvPr id="18" name="Text 16"/>
          <p:cNvSpPr txBox="1"/>
          <p:nvPr/>
        </p:nvSpPr>
        <p:spPr>
          <a:xfrm>
            <a:off x="4526280" y="4105656"/>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研究思路中的潜在偏见  ·  抵制过度实用化倾向</a:t>
            </a:r>
            <a:endParaRPr lang="en-US" sz="1100" dirty="0"/>
          </a:p>
        </p:txBody>
      </p:sp>
      <p:sp>
        <p:nvSpPr>
          <p:cNvPr id="19" name="Shape 17"/>
          <p:cNvSpPr/>
          <p:nvPr/>
        </p:nvSpPr>
        <p:spPr>
          <a:xfrm>
            <a:off x="411480" y="4791456"/>
            <a:ext cx="164592" cy="164592"/>
          </a:xfrm>
          <a:prstGeom prst="rect">
            <a:avLst/>
          </a:prstGeom>
          <a:solidFill>
            <a:srgbClr val="2D2D2D"/>
          </a:solidFill>
          <a:ln/>
        </p:spPr>
      </p:sp>
      <p:sp>
        <p:nvSpPr>
          <p:cNvPr id="20" name="Shape 18"/>
          <p:cNvSpPr/>
          <p:nvPr/>
        </p:nvSpPr>
        <p:spPr>
          <a:xfrm>
            <a:off x="493776" y="4873752"/>
            <a:ext cx="115214" cy="115214"/>
          </a:xfrm>
          <a:prstGeom prst="rect">
            <a:avLst/>
          </a:prstGeom>
          <a:solidFill>
            <a:srgbClr val="FFFFFF"/>
          </a:solidFill>
          <a:ln/>
        </p:spPr>
      </p:sp>
      <p:sp>
        <p:nvSpPr>
          <p:cNvPr id="21" name="Text 19"/>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2" name="Text 20"/>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D2D2D"/>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FFFFFF"/>
                </a:solidFill>
                <a:latin typeface="Microsoft YaHei" pitchFamily="34" charset="0"/>
                <a:ea typeface="Microsoft YaHei" pitchFamily="34" charset="-122"/>
                <a:cs typeface="Microsoft YaHei" pitchFamily="34" charset="-120"/>
              </a:rPr>
              <a:t>确定问题与研究主题</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B5B5B5"/>
                </a:solidFill>
                <a:latin typeface="Poppins" pitchFamily="34" charset="0"/>
                <a:ea typeface="Poppins" pitchFamily="34" charset="-122"/>
                <a:cs typeface="Poppins" pitchFamily="34" charset="-120"/>
              </a:rPr>
              <a:t>Identifying the Problem</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FFFFFF"/>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B5B5B5"/>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B5B5B5"/>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B5B5B5"/>
                </a:solidFill>
                <a:latin typeface="Poppins" pitchFamily="34" charset="0"/>
                <a:ea typeface="Poppins" pitchFamily="34" charset="-122"/>
                <a:cs typeface="Poppins" pitchFamily="34" charset="-120"/>
              </a:rPr>
              <a:t>04</a:t>
            </a:r>
            <a:endParaRPr lang="en-US" sz="800" dirty="0"/>
          </a:p>
        </p:txBody>
      </p:sp>
      <p:sp>
        <p:nvSpPr>
          <p:cNvPr id="9" name="Text 7"/>
          <p:cNvSpPr txBox="1"/>
          <p:nvPr/>
        </p:nvSpPr>
        <p:spPr>
          <a:xfrm>
            <a:off x="411480" y="1463040"/>
            <a:ext cx="8321040" cy="914400"/>
          </a:xfrm>
          <a:prstGeom prst="rect">
            <a:avLst/>
          </a:prstGeom>
          <a:noFill/>
          <a:ln/>
        </p:spPr>
        <p:txBody>
          <a:bodyPr wrap="square" lIns="0" tIns="0" rIns="0" bIns="0" rtlCol="0" anchor="ctr"/>
          <a:lstStyle/>
          <a:p>
            <a:pPr indent="0" marL="0">
              <a:buNone/>
            </a:pPr>
            <a:r>
              <a:rPr lang="en-US" sz="3400" b="1" dirty="0">
                <a:solidFill>
                  <a:srgbClr val="40E0D0"/>
                </a:solidFill>
                <a:latin typeface="Microsoft YaHei" pitchFamily="34" charset="0"/>
                <a:ea typeface="Microsoft YaHei" pitchFamily="34" charset="-122"/>
                <a:cs typeface="Microsoft YaHei" pitchFamily="34" charset="-120"/>
              </a:rPr>
              <a:t>科学研究始于一个待解决的问题。</a:t>
            </a:r>
            <a:endParaRPr lang="en-US" sz="3400" dirty="0"/>
          </a:p>
        </p:txBody>
      </p:sp>
      <p:sp>
        <p:nvSpPr>
          <p:cNvPr id="10" name="Shape 8"/>
          <p:cNvSpPr/>
          <p:nvPr/>
        </p:nvSpPr>
        <p:spPr>
          <a:xfrm>
            <a:off x="411480" y="2651760"/>
            <a:ext cx="457200" cy="64008"/>
          </a:xfrm>
          <a:prstGeom prst="rect">
            <a:avLst/>
          </a:prstGeom>
          <a:solidFill>
            <a:srgbClr val="FFFFFF"/>
          </a:solidFill>
          <a:ln/>
        </p:spPr>
      </p:sp>
      <p:sp>
        <p:nvSpPr>
          <p:cNvPr id="11" name="Text 9"/>
          <p:cNvSpPr txBox="1"/>
          <p:nvPr/>
        </p:nvSpPr>
        <p:spPr>
          <a:xfrm>
            <a:off x="411480" y="2926080"/>
            <a:ext cx="7498080" cy="1097280"/>
          </a:xfrm>
          <a:prstGeom prst="rect">
            <a:avLst/>
          </a:prstGeom>
          <a:noFill/>
          <a:ln/>
        </p:spPr>
        <p:txBody>
          <a:bodyPr wrap="square" lIns="0" tIns="0" rIns="0" bIns="0" rtlCol="0" anchor="t"/>
          <a:lstStyle/>
          <a:p>
            <a:pPr indent="0" marL="0">
              <a:lnSpc>
                <a:spcPct val="145000"/>
              </a:lnSpc>
              <a:buNone/>
            </a:pPr>
            <a:r>
              <a:rPr lang="en-US" sz="1700" dirty="0">
                <a:solidFill>
                  <a:srgbClr val="FFFFFF"/>
                </a:solidFill>
                <a:latin typeface="Microsoft YaHei" pitchFamily="34" charset="0"/>
                <a:ea typeface="Microsoft YaHei" pitchFamily="34" charset="-122"/>
                <a:cs typeface="Microsoft YaHei" pitchFamily="34" charset="-120"/>
              </a:rPr>
              <a:t>在心理学领域，确定研究思路相对简单，因为心理学研究人类行为。我们的行为本身就是大量心理学研究的焦点。</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概念性问题</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What should we think?</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05</a:t>
            </a:r>
            <a:endParaRPr lang="en-US" sz="800" dirty="0"/>
          </a:p>
        </p:txBody>
      </p:sp>
      <p:sp>
        <p:nvSpPr>
          <p:cNvPr id="9" name="Shape 7"/>
          <p:cNvSpPr/>
          <p:nvPr/>
        </p:nvSpPr>
        <p:spPr>
          <a:xfrm>
            <a:off x="411480" y="1188720"/>
            <a:ext cx="2926080" cy="3383280"/>
          </a:xfrm>
          <a:prstGeom prst="rect">
            <a:avLst/>
          </a:prstGeom>
          <a:solidFill>
            <a:srgbClr val="40E0D0"/>
          </a:solidFill>
          <a:ln/>
        </p:spPr>
      </p:sp>
      <p:sp>
        <p:nvSpPr>
          <p:cNvPr id="10" name="Text 8"/>
          <p:cNvSpPr txBox="1"/>
          <p:nvPr/>
        </p:nvSpPr>
        <p:spPr>
          <a:xfrm>
            <a:off x="640080" y="1325880"/>
            <a:ext cx="2468880" cy="640080"/>
          </a:xfrm>
          <a:prstGeom prst="rect">
            <a:avLst/>
          </a:prstGeom>
          <a:noFill/>
          <a:ln/>
        </p:spPr>
        <p:txBody>
          <a:bodyPr wrap="square" lIns="0" tIns="0" rIns="0" bIns="0" rtlCol="0" anchor="t"/>
          <a:lstStyle/>
          <a:p>
            <a:pPr indent="0" marL="0">
              <a:buNone/>
            </a:pPr>
            <a:r>
              <a:rPr lang="en-US" sz="3200" b="1" dirty="0">
                <a:solidFill>
                  <a:srgbClr val="2D2D2D"/>
                </a:solidFill>
                <a:latin typeface="Poppins" pitchFamily="34" charset="0"/>
                <a:ea typeface="Poppins" pitchFamily="34" charset="-122"/>
                <a:cs typeface="Poppins" pitchFamily="34" charset="-120"/>
              </a:rPr>
              <a:t>01</a:t>
            </a:r>
            <a:endParaRPr lang="en-US" sz="3200" dirty="0"/>
          </a:p>
        </p:txBody>
      </p:sp>
      <p:sp>
        <p:nvSpPr>
          <p:cNvPr id="11" name="Text 9"/>
          <p:cNvSpPr txBox="1"/>
          <p:nvPr/>
        </p:nvSpPr>
        <p:spPr>
          <a:xfrm>
            <a:off x="640080" y="2514600"/>
            <a:ext cx="2468880" cy="457200"/>
          </a:xfrm>
          <a:prstGeom prst="rect">
            <a:avLst/>
          </a:prstGeom>
          <a:noFill/>
          <a:ln/>
        </p:spPr>
        <p:txBody>
          <a:bodyPr wrap="square" lIns="0" tIns="0" rIns="0" bIns="0" rtlCol="0" anchor="ctr"/>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概念性问题</a:t>
            </a:r>
            <a:endParaRPr lang="en-US" sz="2000" dirty="0"/>
          </a:p>
        </p:txBody>
      </p:sp>
      <p:sp>
        <p:nvSpPr>
          <p:cNvPr id="12" name="Text 10"/>
          <p:cNvSpPr txBox="1"/>
          <p:nvPr/>
        </p:nvSpPr>
        <p:spPr>
          <a:xfrm>
            <a:off x="640080" y="3017520"/>
            <a:ext cx="2468880" cy="1371600"/>
          </a:xfrm>
          <a:prstGeom prst="rect">
            <a:avLst/>
          </a:prstGeom>
          <a:noFill/>
          <a:ln/>
        </p:spPr>
        <p:txBody>
          <a:bodyPr wrap="square" lIns="0" tIns="0" rIns="0" bIns="0" rtlCol="0" anchor="t"/>
          <a:lstStyle/>
          <a:p>
            <a:pPr indent="0" marL="0">
              <a:lnSpc>
                <a:spcPct val="115000"/>
              </a:lnSpc>
              <a:buNone/>
            </a:pPr>
            <a:r>
              <a:rPr lang="en-US" sz="1400" dirty="0">
                <a:solidFill>
                  <a:srgbClr val="2D2D2D"/>
                </a:solidFill>
                <a:latin typeface="Poppins" pitchFamily="34" charset="0"/>
                <a:ea typeface="Poppins" pitchFamily="34" charset="-122"/>
                <a:cs typeface="Poppins" pitchFamily="34" charset="-120"/>
              </a:rPr>
              <a:t>What should we think?</a:t>
            </a:r>
            <a:endParaRPr lang="en-US" sz="1400" dirty="0"/>
          </a:p>
        </p:txBody>
      </p:sp>
      <p:sp>
        <p:nvSpPr>
          <p:cNvPr id="13" name="Shape 11"/>
          <p:cNvSpPr/>
          <p:nvPr/>
        </p:nvSpPr>
        <p:spPr>
          <a:xfrm>
            <a:off x="3474720" y="1188720"/>
            <a:ext cx="5257800" cy="1636776"/>
          </a:xfrm>
          <a:prstGeom prst="roundRect">
            <a:avLst>
              <a:gd name="adj" fmla="val 6704"/>
            </a:avLst>
          </a:prstGeom>
          <a:solidFill>
            <a:srgbClr val="EBEBEB"/>
          </a:solidFill>
          <a:ln/>
        </p:spPr>
      </p:sp>
      <p:sp>
        <p:nvSpPr>
          <p:cNvPr id="14" name="Text 12"/>
          <p:cNvSpPr txBox="1"/>
          <p:nvPr/>
        </p:nvSpPr>
        <p:spPr>
          <a:xfrm>
            <a:off x="3703320" y="1298448"/>
            <a:ext cx="4846320"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概念性问题的意义</a:t>
            </a:r>
            <a:endParaRPr lang="en-US" sz="1400" dirty="0"/>
          </a:p>
        </p:txBody>
      </p:sp>
      <p:sp>
        <p:nvSpPr>
          <p:cNvPr id="15" name="Text 13"/>
          <p:cNvSpPr txBox="1"/>
          <p:nvPr/>
        </p:nvSpPr>
        <p:spPr>
          <a:xfrm>
            <a:off x="3703320" y="1691640"/>
            <a:ext cx="4846320" cy="109728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概念性问题的目的是帮助人们更好地理解某个主题，而非直接改变现实。这类问题主要存在于人文学科、社会科学和自然科学领域，通过“为什么”和“如何”的提问来深化对某一主题的理解。</a:t>
            </a:r>
            <a:endParaRPr lang="en-US" sz="1150" dirty="0"/>
          </a:p>
        </p:txBody>
      </p:sp>
      <p:sp>
        <p:nvSpPr>
          <p:cNvPr id="16" name="Shape 14"/>
          <p:cNvSpPr/>
          <p:nvPr/>
        </p:nvSpPr>
        <p:spPr>
          <a:xfrm>
            <a:off x="3474720" y="2935224"/>
            <a:ext cx="5257800" cy="1636776"/>
          </a:xfrm>
          <a:prstGeom prst="roundRect">
            <a:avLst>
              <a:gd name="adj" fmla="val 6704"/>
            </a:avLst>
          </a:prstGeom>
          <a:solidFill>
            <a:srgbClr val="E2E2E2"/>
          </a:solidFill>
          <a:ln/>
        </p:spPr>
      </p:sp>
      <p:sp>
        <p:nvSpPr>
          <p:cNvPr id="17" name="Text 15"/>
          <p:cNvSpPr txBox="1"/>
          <p:nvPr/>
        </p:nvSpPr>
        <p:spPr>
          <a:xfrm>
            <a:off x="3703320" y="3044952"/>
            <a:ext cx="4846320"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概念性问题的例子</a:t>
            </a:r>
            <a:endParaRPr lang="en-US" sz="1400" dirty="0"/>
          </a:p>
        </p:txBody>
      </p:sp>
      <p:sp>
        <p:nvSpPr>
          <p:cNvPr id="18" name="Text 16"/>
          <p:cNvSpPr txBox="1"/>
          <p:nvPr/>
        </p:nvSpPr>
        <p:spPr>
          <a:xfrm>
            <a:off x="3703320" y="3438144"/>
            <a:ext cx="4846320" cy="109728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例如，探讨莎士比亚的政治环境如何影响他的创作，或是研究特定文化的宗教仪式如何使用面具，这些问题看似与现实无关，但对学术知识的丰富具有重要意义。</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实用性问题</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What should we do?</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06</a:t>
            </a:r>
            <a:endParaRPr lang="en-US" sz="800" dirty="0"/>
          </a:p>
        </p:txBody>
      </p:sp>
      <p:sp>
        <p:nvSpPr>
          <p:cNvPr id="9" name="Shape 7"/>
          <p:cNvSpPr/>
          <p:nvPr/>
        </p:nvSpPr>
        <p:spPr>
          <a:xfrm>
            <a:off x="411480" y="1188720"/>
            <a:ext cx="2926080" cy="3383280"/>
          </a:xfrm>
          <a:prstGeom prst="rect">
            <a:avLst/>
          </a:prstGeom>
          <a:solidFill>
            <a:srgbClr val="2D2D2D"/>
          </a:solidFill>
          <a:ln/>
        </p:spPr>
      </p:sp>
      <p:sp>
        <p:nvSpPr>
          <p:cNvPr id="10" name="Text 8"/>
          <p:cNvSpPr txBox="1"/>
          <p:nvPr/>
        </p:nvSpPr>
        <p:spPr>
          <a:xfrm>
            <a:off x="640080" y="1325880"/>
            <a:ext cx="2468880" cy="640080"/>
          </a:xfrm>
          <a:prstGeom prst="rect">
            <a:avLst/>
          </a:prstGeom>
          <a:noFill/>
          <a:ln/>
        </p:spPr>
        <p:txBody>
          <a:bodyPr wrap="square" lIns="0" tIns="0" rIns="0" bIns="0" rtlCol="0" anchor="t"/>
          <a:lstStyle/>
          <a:p>
            <a:pPr indent="0" marL="0">
              <a:buNone/>
            </a:pPr>
            <a:r>
              <a:rPr lang="en-US" sz="3200" b="1" dirty="0">
                <a:solidFill>
                  <a:srgbClr val="40E0D0"/>
                </a:solidFill>
                <a:latin typeface="Poppins" pitchFamily="34" charset="0"/>
                <a:ea typeface="Poppins" pitchFamily="34" charset="-122"/>
                <a:cs typeface="Poppins" pitchFamily="34" charset="-120"/>
              </a:rPr>
              <a:t>02</a:t>
            </a:r>
            <a:endParaRPr lang="en-US" sz="3200" dirty="0"/>
          </a:p>
        </p:txBody>
      </p:sp>
      <p:sp>
        <p:nvSpPr>
          <p:cNvPr id="11" name="Text 9"/>
          <p:cNvSpPr txBox="1"/>
          <p:nvPr/>
        </p:nvSpPr>
        <p:spPr>
          <a:xfrm>
            <a:off x="640080" y="2514600"/>
            <a:ext cx="2468880" cy="457200"/>
          </a:xfrm>
          <a:prstGeom prst="rect">
            <a:avLst/>
          </a:prstGeom>
          <a:noFill/>
          <a:ln/>
        </p:spPr>
        <p:txBody>
          <a:bodyPr wrap="square" lIns="0" tIns="0" rIns="0" bIns="0"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实用性问题</a:t>
            </a:r>
            <a:endParaRPr lang="en-US" sz="2000" dirty="0"/>
          </a:p>
        </p:txBody>
      </p:sp>
      <p:sp>
        <p:nvSpPr>
          <p:cNvPr id="12" name="Text 10"/>
          <p:cNvSpPr txBox="1"/>
          <p:nvPr/>
        </p:nvSpPr>
        <p:spPr>
          <a:xfrm>
            <a:off x="640080" y="3017520"/>
            <a:ext cx="2468880" cy="1371600"/>
          </a:xfrm>
          <a:prstGeom prst="rect">
            <a:avLst/>
          </a:prstGeom>
          <a:noFill/>
          <a:ln/>
        </p:spPr>
        <p:txBody>
          <a:bodyPr wrap="square" lIns="0" tIns="0" rIns="0" bIns="0" rtlCol="0" anchor="t"/>
          <a:lstStyle/>
          <a:p>
            <a:pPr indent="0" marL="0">
              <a:lnSpc>
                <a:spcPct val="115000"/>
              </a:lnSpc>
              <a:buNone/>
            </a:pPr>
            <a:r>
              <a:rPr lang="en-US" sz="1400" dirty="0">
                <a:solidFill>
                  <a:srgbClr val="FFFFFF"/>
                </a:solidFill>
                <a:latin typeface="Poppins" pitchFamily="34" charset="0"/>
                <a:ea typeface="Poppins" pitchFamily="34" charset="-122"/>
                <a:cs typeface="Poppins" pitchFamily="34" charset="-120"/>
              </a:rPr>
              <a:t>What should we do?</a:t>
            </a:r>
            <a:endParaRPr lang="en-US" sz="1400" dirty="0"/>
          </a:p>
        </p:txBody>
      </p:sp>
      <p:sp>
        <p:nvSpPr>
          <p:cNvPr id="13" name="Shape 11"/>
          <p:cNvSpPr/>
          <p:nvPr/>
        </p:nvSpPr>
        <p:spPr>
          <a:xfrm>
            <a:off x="3474720" y="1188720"/>
            <a:ext cx="5257800" cy="1636776"/>
          </a:xfrm>
          <a:prstGeom prst="roundRect">
            <a:avLst>
              <a:gd name="adj" fmla="val 6704"/>
            </a:avLst>
          </a:prstGeom>
          <a:solidFill>
            <a:srgbClr val="EBEBEB"/>
          </a:solidFill>
          <a:ln/>
        </p:spPr>
      </p:sp>
      <p:sp>
        <p:nvSpPr>
          <p:cNvPr id="14" name="Text 12"/>
          <p:cNvSpPr txBox="1"/>
          <p:nvPr/>
        </p:nvSpPr>
        <p:spPr>
          <a:xfrm>
            <a:off x="3703320" y="1298448"/>
            <a:ext cx="4846320"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实用性问题的目标</a:t>
            </a:r>
            <a:endParaRPr lang="en-US" sz="1400" dirty="0"/>
          </a:p>
        </p:txBody>
      </p:sp>
      <p:sp>
        <p:nvSpPr>
          <p:cNvPr id="15" name="Text 13"/>
          <p:cNvSpPr txBox="1"/>
          <p:nvPr/>
        </p:nvSpPr>
        <p:spPr>
          <a:xfrm>
            <a:off x="3703320" y="1691640"/>
            <a:ext cx="4846320" cy="109728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实用性问题旨在提供实际行动的指导，解决具体的、现实中的问题。这类问题主要存在于应用科学、工程和医疗领域，通常带有清晰的实用性目标。</a:t>
            </a:r>
            <a:endParaRPr lang="en-US" sz="1150" dirty="0"/>
          </a:p>
        </p:txBody>
      </p:sp>
      <p:sp>
        <p:nvSpPr>
          <p:cNvPr id="16" name="Shape 14"/>
          <p:cNvSpPr/>
          <p:nvPr/>
        </p:nvSpPr>
        <p:spPr>
          <a:xfrm>
            <a:off x="3474720" y="2935224"/>
            <a:ext cx="5257800" cy="1636776"/>
          </a:xfrm>
          <a:prstGeom prst="roundRect">
            <a:avLst>
              <a:gd name="adj" fmla="val 6704"/>
            </a:avLst>
          </a:prstGeom>
          <a:solidFill>
            <a:srgbClr val="E2E2E2"/>
          </a:solidFill>
          <a:ln/>
        </p:spPr>
      </p:sp>
      <p:sp>
        <p:nvSpPr>
          <p:cNvPr id="17" name="Text 15"/>
          <p:cNvSpPr txBox="1"/>
          <p:nvPr/>
        </p:nvSpPr>
        <p:spPr>
          <a:xfrm>
            <a:off x="3703320" y="3044952"/>
            <a:ext cx="4846320"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实用性问题的例子</a:t>
            </a:r>
            <a:endParaRPr lang="en-US" sz="1400" dirty="0"/>
          </a:p>
        </p:txBody>
      </p:sp>
      <p:sp>
        <p:nvSpPr>
          <p:cNvPr id="18" name="Text 16"/>
          <p:cNvSpPr txBox="1"/>
          <p:nvPr/>
        </p:nvSpPr>
        <p:spPr>
          <a:xfrm>
            <a:off x="3703320" y="3438144"/>
            <a:ext cx="4846320" cy="109728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例如，研究如何改善公众对※※※※风险的认知，或是探讨应采取何种方式才能有效减少人们的心理恐惧，这些问题直接关联到人们的日常生活和社会问题。</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应用性问题</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What do we need to understand before we know what to do?</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07</a:t>
            </a:r>
            <a:endParaRPr lang="en-US" sz="800" dirty="0"/>
          </a:p>
        </p:txBody>
      </p:sp>
      <p:sp>
        <p:nvSpPr>
          <p:cNvPr id="9" name="Shape 7"/>
          <p:cNvSpPr/>
          <p:nvPr/>
        </p:nvSpPr>
        <p:spPr>
          <a:xfrm>
            <a:off x="411480" y="1188720"/>
            <a:ext cx="2926080" cy="3383280"/>
          </a:xfrm>
          <a:prstGeom prst="rect">
            <a:avLst/>
          </a:prstGeom>
          <a:solidFill>
            <a:srgbClr val="E2E2E2"/>
          </a:solidFill>
          <a:ln/>
        </p:spPr>
      </p:sp>
      <p:sp>
        <p:nvSpPr>
          <p:cNvPr id="10" name="Text 8"/>
          <p:cNvSpPr txBox="1"/>
          <p:nvPr/>
        </p:nvSpPr>
        <p:spPr>
          <a:xfrm>
            <a:off x="640080" y="1325880"/>
            <a:ext cx="2468880" cy="640080"/>
          </a:xfrm>
          <a:prstGeom prst="rect">
            <a:avLst/>
          </a:prstGeom>
          <a:noFill/>
          <a:ln/>
        </p:spPr>
        <p:txBody>
          <a:bodyPr wrap="square" lIns="0" tIns="0" rIns="0" bIns="0" rtlCol="0" anchor="t"/>
          <a:lstStyle/>
          <a:p>
            <a:pPr indent="0" marL="0">
              <a:buNone/>
            </a:pPr>
            <a:r>
              <a:rPr lang="en-US" sz="3200" b="1" dirty="0">
                <a:solidFill>
                  <a:srgbClr val="2D2D2D"/>
                </a:solidFill>
                <a:latin typeface="Poppins" pitchFamily="34" charset="0"/>
                <a:ea typeface="Poppins" pitchFamily="34" charset="-122"/>
                <a:cs typeface="Poppins" pitchFamily="34" charset="-120"/>
              </a:rPr>
              <a:t>03</a:t>
            </a:r>
            <a:endParaRPr lang="en-US" sz="3200" dirty="0"/>
          </a:p>
        </p:txBody>
      </p:sp>
      <p:sp>
        <p:nvSpPr>
          <p:cNvPr id="11" name="Text 9"/>
          <p:cNvSpPr txBox="1"/>
          <p:nvPr/>
        </p:nvSpPr>
        <p:spPr>
          <a:xfrm>
            <a:off x="640080" y="2514600"/>
            <a:ext cx="2468880" cy="457200"/>
          </a:xfrm>
          <a:prstGeom prst="rect">
            <a:avLst/>
          </a:prstGeom>
          <a:noFill/>
          <a:ln/>
        </p:spPr>
        <p:txBody>
          <a:bodyPr wrap="square" lIns="0" tIns="0" rIns="0" bIns="0" rtlCol="0" anchor="ctr"/>
          <a:lstStyle/>
          <a:p>
            <a:pPr indent="0" marL="0">
              <a:buNone/>
            </a:pPr>
            <a:r>
              <a:rPr lang="en-US" sz="2000" b="1" dirty="0">
                <a:solidFill>
                  <a:srgbClr val="2D2D2D"/>
                </a:solidFill>
                <a:latin typeface="Microsoft YaHei" pitchFamily="34" charset="0"/>
                <a:ea typeface="Microsoft YaHei" pitchFamily="34" charset="-122"/>
                <a:cs typeface="Microsoft YaHei" pitchFamily="34" charset="-120"/>
              </a:rPr>
              <a:t>应用性问题</a:t>
            </a:r>
            <a:endParaRPr lang="en-US" sz="2000" dirty="0"/>
          </a:p>
        </p:txBody>
      </p:sp>
      <p:sp>
        <p:nvSpPr>
          <p:cNvPr id="12" name="Text 10"/>
          <p:cNvSpPr txBox="1"/>
          <p:nvPr/>
        </p:nvSpPr>
        <p:spPr>
          <a:xfrm>
            <a:off x="640080" y="3017520"/>
            <a:ext cx="2468880" cy="1371600"/>
          </a:xfrm>
          <a:prstGeom prst="rect">
            <a:avLst/>
          </a:prstGeom>
          <a:noFill/>
          <a:ln/>
        </p:spPr>
        <p:txBody>
          <a:bodyPr wrap="square" lIns="0" tIns="0" rIns="0" bIns="0" rtlCol="0" anchor="t"/>
          <a:lstStyle/>
          <a:p>
            <a:pPr indent="0" marL="0">
              <a:lnSpc>
                <a:spcPct val="115000"/>
              </a:lnSpc>
              <a:buNone/>
            </a:pPr>
            <a:r>
              <a:rPr lang="en-US" sz="1400" dirty="0">
                <a:solidFill>
                  <a:srgbClr val="2D2D2D"/>
                </a:solidFill>
                <a:latin typeface="Poppins" pitchFamily="34" charset="0"/>
                <a:ea typeface="Poppins" pitchFamily="34" charset="-122"/>
                <a:cs typeface="Poppins" pitchFamily="34" charset="-120"/>
              </a:rPr>
              <a:t>What do we need to understand before we know what to do?</a:t>
            </a:r>
            <a:endParaRPr lang="en-US" sz="1400" dirty="0"/>
          </a:p>
        </p:txBody>
      </p:sp>
      <p:sp>
        <p:nvSpPr>
          <p:cNvPr id="13" name="Shape 11"/>
          <p:cNvSpPr/>
          <p:nvPr/>
        </p:nvSpPr>
        <p:spPr>
          <a:xfrm>
            <a:off x="3474720" y="1188720"/>
            <a:ext cx="5257800" cy="1097280"/>
          </a:xfrm>
          <a:prstGeom prst="roundRect">
            <a:avLst>
              <a:gd name="adj" fmla="val 10000"/>
            </a:avLst>
          </a:prstGeom>
          <a:solidFill>
            <a:srgbClr val="EBEBEB"/>
          </a:solidFill>
          <a:ln/>
        </p:spPr>
      </p:sp>
      <p:sp>
        <p:nvSpPr>
          <p:cNvPr id="14" name="Text 12"/>
          <p:cNvSpPr txBox="1"/>
          <p:nvPr/>
        </p:nvSpPr>
        <p:spPr>
          <a:xfrm>
            <a:off x="3703320" y="1243584"/>
            <a:ext cx="4846320" cy="329184"/>
          </a:xfrm>
          <a:prstGeom prst="rect">
            <a:avLst/>
          </a:prstGeom>
          <a:noFill/>
          <a:ln/>
        </p:spPr>
        <p:txBody>
          <a:bodyPr wrap="square" lIns="0" tIns="0" rIns="0" bIns="0" rtlCol="0" anchor="ctr"/>
          <a:lstStyle/>
          <a:p>
            <a:pPr indent="0" marL="0">
              <a:buNone/>
            </a:pPr>
            <a:r>
              <a:rPr lang="en-US" sz="1300" b="1" dirty="0">
                <a:solidFill>
                  <a:srgbClr val="2D2D2D"/>
                </a:solidFill>
                <a:latin typeface="Microsoft YaHei" pitchFamily="34" charset="0"/>
                <a:ea typeface="Microsoft YaHei" pitchFamily="34" charset="-122"/>
                <a:cs typeface="Microsoft YaHei" pitchFamily="34" charset="-120"/>
              </a:rPr>
              <a:t>应用性问题的意义</a:t>
            </a:r>
            <a:endParaRPr lang="en-US" sz="1300" dirty="0"/>
          </a:p>
        </p:txBody>
      </p:sp>
      <p:sp>
        <p:nvSpPr>
          <p:cNvPr id="15" name="Text 13"/>
          <p:cNvSpPr txBox="1"/>
          <p:nvPr/>
        </p:nvSpPr>
        <p:spPr>
          <a:xfrm>
            <a:off x="3703320" y="1572768"/>
            <a:ext cx="4846320" cy="685800"/>
          </a:xfrm>
          <a:prstGeom prst="rect">
            <a:avLst/>
          </a:prstGeom>
          <a:noFill/>
          <a:ln/>
        </p:spPr>
        <p:txBody>
          <a:bodyPr wrap="square" lIns="0" tIns="0" rIns="0" bIns="0" rtlCol="0" anchor="t"/>
          <a:lstStyle/>
          <a:p>
            <a:pPr indent="0" marL="0">
              <a:lnSpc>
                <a:spcPct val="130000"/>
              </a:lnSpc>
              <a:buNone/>
            </a:pPr>
            <a:r>
              <a:rPr lang="en-US" sz="1050" dirty="0">
                <a:solidFill>
                  <a:srgbClr val="2D2D2D"/>
                </a:solidFill>
                <a:latin typeface="Microsoft YaHei" pitchFamily="34" charset="0"/>
                <a:ea typeface="Microsoft YaHei" pitchFamily="34" charset="-122"/>
                <a:cs typeface="Microsoft YaHei" pitchFamily="34" charset="-120"/>
              </a:rPr>
              <a:t>应用性问题的目的是为解决实用性问题提供所需的知识或前置条件。这类问题介于概念性和实用性之间，需要进一步研究以获得对具体行动的理解。</a:t>
            </a:r>
            <a:endParaRPr lang="en-US" sz="1050" dirty="0"/>
          </a:p>
        </p:txBody>
      </p:sp>
      <p:sp>
        <p:nvSpPr>
          <p:cNvPr id="16" name="Shape 14"/>
          <p:cNvSpPr/>
          <p:nvPr/>
        </p:nvSpPr>
        <p:spPr>
          <a:xfrm>
            <a:off x="3474720" y="2377440"/>
            <a:ext cx="5257800" cy="1097280"/>
          </a:xfrm>
          <a:prstGeom prst="roundRect">
            <a:avLst>
              <a:gd name="adj" fmla="val 10000"/>
            </a:avLst>
          </a:prstGeom>
          <a:solidFill>
            <a:srgbClr val="EBEBEB"/>
          </a:solidFill>
          <a:ln/>
        </p:spPr>
      </p:sp>
      <p:sp>
        <p:nvSpPr>
          <p:cNvPr id="17" name="Text 15"/>
          <p:cNvSpPr txBox="1"/>
          <p:nvPr/>
        </p:nvSpPr>
        <p:spPr>
          <a:xfrm>
            <a:off x="3703320" y="2432304"/>
            <a:ext cx="4846320" cy="329184"/>
          </a:xfrm>
          <a:prstGeom prst="rect">
            <a:avLst/>
          </a:prstGeom>
          <a:noFill/>
          <a:ln/>
        </p:spPr>
        <p:txBody>
          <a:bodyPr wrap="square" lIns="0" tIns="0" rIns="0" bIns="0" rtlCol="0" anchor="ctr"/>
          <a:lstStyle/>
          <a:p>
            <a:pPr indent="0" marL="0">
              <a:buNone/>
            </a:pPr>
            <a:r>
              <a:rPr lang="en-US" sz="1300" b="1" dirty="0">
                <a:solidFill>
                  <a:srgbClr val="2D2D2D"/>
                </a:solidFill>
                <a:latin typeface="Microsoft YaHei" pitchFamily="34" charset="0"/>
                <a:ea typeface="Microsoft YaHei" pitchFamily="34" charset="-122"/>
                <a:cs typeface="Microsoft YaHei" pitchFamily="34" charset="-120"/>
              </a:rPr>
              <a:t>应用性问题的例子</a:t>
            </a:r>
            <a:endParaRPr lang="en-US" sz="1300" dirty="0"/>
          </a:p>
        </p:txBody>
      </p:sp>
      <p:sp>
        <p:nvSpPr>
          <p:cNvPr id="18" name="Text 16"/>
          <p:cNvSpPr txBox="1"/>
          <p:nvPr/>
        </p:nvSpPr>
        <p:spPr>
          <a:xfrm>
            <a:off x="3703320" y="2761488"/>
            <a:ext cx="4846320" cy="685800"/>
          </a:xfrm>
          <a:prstGeom prst="rect">
            <a:avLst/>
          </a:prstGeom>
          <a:noFill/>
          <a:ln/>
        </p:spPr>
        <p:txBody>
          <a:bodyPr wrap="square" lIns="0" tIns="0" rIns="0" bIns="0" rtlCol="0" anchor="t"/>
          <a:lstStyle/>
          <a:p>
            <a:pPr indent="0" marL="0">
              <a:lnSpc>
                <a:spcPct val="130000"/>
              </a:lnSpc>
              <a:buNone/>
            </a:pPr>
            <a:r>
              <a:rPr lang="en-US" sz="1050" dirty="0">
                <a:solidFill>
                  <a:srgbClr val="2D2D2D"/>
                </a:solidFill>
                <a:latin typeface="Microsoft YaHei" pitchFamily="34" charset="0"/>
                <a:ea typeface="Microsoft YaHei" pitchFamily="34" charset="-122"/>
                <a:cs typeface="Microsoft YaHei" pitchFamily="34" charset="-120"/>
              </a:rPr>
              <a:t>例如，理解“9·11”事件后，美国人的日常生活是如何改变的，从而更好地应对心理因素，这类问题为解决实用性问题提供了重要的背景和前提。</a:t>
            </a:r>
            <a:endParaRPr lang="en-US" sz="1050" dirty="0"/>
          </a:p>
        </p:txBody>
      </p:sp>
      <p:pic>
        <p:nvPicPr>
          <p:cNvPr id="19" name="Image 0" descr="p04_0">    </p:cNvPr>
          <p:cNvPicPr>
            <a:picLocks noChangeAspect="1"/>
          </p:cNvPicPr>
          <p:nvPr/>
        </p:nvPicPr>
        <p:blipFill>
          <a:blip r:embed="rId1"/>
          <a:stretch>
            <a:fillRect/>
          </a:stretch>
        </p:blipFill>
        <p:spPr>
          <a:xfrm>
            <a:off x="3474720" y="3566160"/>
            <a:ext cx="1259586" cy="1005840"/>
          </a:xfrm>
          <a:prstGeom prst="rect">
            <a:avLst/>
          </a:prstGeom>
        </p:spPr>
      </p:pic>
      <p:pic>
        <p:nvPicPr>
          <p:cNvPr id="20" name="Image 1" descr="p04_1">    </p:cNvPr>
          <p:cNvPicPr>
            <a:picLocks noChangeAspect="1"/>
          </p:cNvPicPr>
          <p:nvPr/>
        </p:nvPicPr>
        <p:blipFill>
          <a:blip r:embed="rId2"/>
          <a:stretch>
            <a:fillRect/>
          </a:stretch>
        </p:blipFill>
        <p:spPr>
          <a:xfrm>
            <a:off x="4807458" y="3566160"/>
            <a:ext cx="1259586" cy="1005840"/>
          </a:xfrm>
          <a:prstGeom prst="rect">
            <a:avLst/>
          </a:prstGeom>
        </p:spPr>
      </p:pic>
      <p:pic>
        <p:nvPicPr>
          <p:cNvPr id="21" name="Image 2" descr="p04_2">    </p:cNvPr>
          <p:cNvPicPr>
            <a:picLocks noChangeAspect="1"/>
          </p:cNvPicPr>
          <p:nvPr/>
        </p:nvPicPr>
        <p:blipFill>
          <a:blip r:embed="rId3"/>
          <a:stretch>
            <a:fillRect/>
          </a:stretch>
        </p:blipFill>
        <p:spPr>
          <a:xfrm>
            <a:off x="6140196" y="3566160"/>
            <a:ext cx="1259586" cy="1005840"/>
          </a:xfrm>
          <a:prstGeom prst="rect">
            <a:avLst/>
          </a:prstGeom>
        </p:spPr>
      </p:pic>
      <p:pic>
        <p:nvPicPr>
          <p:cNvPr id="22" name="Image 3" descr="p04_3">    </p:cNvPr>
          <p:cNvPicPr>
            <a:picLocks noChangeAspect="1"/>
          </p:cNvPicPr>
          <p:nvPr/>
        </p:nvPicPr>
        <p:blipFill>
          <a:blip r:embed="rId4"/>
          <a:stretch>
            <a:fillRect/>
          </a:stretch>
        </p:blipFill>
        <p:spPr>
          <a:xfrm>
            <a:off x="7472934" y="3566160"/>
            <a:ext cx="1259586" cy="10058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502920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9·11恐怖袭击：引发的研究问题</a:t>
            </a:r>
            <a:endParaRPr lang="en-US" sz="2200" dirty="0"/>
          </a:p>
        </p:txBody>
      </p:sp>
      <p:sp>
        <p:nvSpPr>
          <p:cNvPr id="3" name="Text 1"/>
          <p:cNvSpPr txBox="1"/>
          <p:nvPr/>
        </p:nvSpPr>
        <p:spPr>
          <a:xfrm>
            <a:off x="411480" y="731520"/>
            <a:ext cx="502920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 Questions from a Tragedy</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08</a:t>
            </a:r>
            <a:endParaRPr lang="en-US" sz="800" dirty="0"/>
          </a:p>
        </p:txBody>
      </p:sp>
      <p:pic>
        <p:nvPicPr>
          <p:cNvPr id="9" name="Image 0" descr="p05_1">    </p:cNvPr>
          <p:cNvPicPr>
            <a:picLocks noChangeAspect="1"/>
          </p:cNvPicPr>
          <p:nvPr/>
        </p:nvPicPr>
        <p:blipFill>
          <a:blip r:embed="rId1"/>
          <a:stretch>
            <a:fillRect/>
          </a:stretch>
        </p:blipFill>
        <p:spPr>
          <a:xfrm>
            <a:off x="5760720" y="0"/>
            <a:ext cx="3383280" cy="4636008"/>
          </a:xfrm>
          <a:prstGeom prst="rect">
            <a:avLst/>
          </a:prstGeom>
        </p:spPr>
      </p:pic>
      <p:sp>
        <p:nvSpPr>
          <p:cNvPr id="10" name="Shape 7"/>
          <p:cNvSpPr/>
          <p:nvPr/>
        </p:nvSpPr>
        <p:spPr>
          <a:xfrm>
            <a:off x="411480" y="1188720"/>
            <a:ext cx="5120640" cy="1600200"/>
          </a:xfrm>
          <a:prstGeom prst="rect">
            <a:avLst/>
          </a:prstGeom>
          <a:solidFill>
            <a:srgbClr val="EBEBEB"/>
          </a:solidFill>
          <a:ln/>
        </p:spPr>
      </p:sp>
      <p:sp>
        <p:nvSpPr>
          <p:cNvPr id="11" name="Text 8"/>
          <p:cNvSpPr txBox="1"/>
          <p:nvPr/>
        </p:nvSpPr>
        <p:spPr>
          <a:xfrm>
            <a:off x="612648" y="1353312"/>
            <a:ext cx="4754880"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悲剧事件</a:t>
            </a:r>
            <a:endParaRPr lang="en-US" sz="1500" dirty="0"/>
          </a:p>
        </p:txBody>
      </p:sp>
      <p:sp>
        <p:nvSpPr>
          <p:cNvPr id="12" name="Text 9"/>
          <p:cNvSpPr txBox="1"/>
          <p:nvPr/>
        </p:nvSpPr>
        <p:spPr>
          <a:xfrm>
            <a:off x="612648" y="1792224"/>
            <a:ext cx="4736592" cy="88696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2001年9月11日，19名自杀式劫机者袭击美国，造成数千名无辜者遇难。这场灾难引发了深刻的心理学研究问题。</a:t>
            </a:r>
            <a:endParaRPr lang="en-US" sz="1150" dirty="0"/>
          </a:p>
        </p:txBody>
      </p:sp>
      <p:sp>
        <p:nvSpPr>
          <p:cNvPr id="13" name="Shape 10"/>
          <p:cNvSpPr/>
          <p:nvPr/>
        </p:nvSpPr>
        <p:spPr>
          <a:xfrm>
            <a:off x="411480" y="2926080"/>
            <a:ext cx="5120640" cy="1645920"/>
          </a:xfrm>
          <a:prstGeom prst="rect">
            <a:avLst/>
          </a:prstGeom>
          <a:solidFill>
            <a:srgbClr val="40E0D0"/>
          </a:solidFill>
          <a:ln/>
        </p:spPr>
      </p:sp>
      <p:sp>
        <p:nvSpPr>
          <p:cNvPr id="14" name="Text 11"/>
          <p:cNvSpPr txBox="1"/>
          <p:nvPr/>
        </p:nvSpPr>
        <p:spPr>
          <a:xfrm>
            <a:off x="612648" y="3090672"/>
            <a:ext cx="4754880"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研究思考</a:t>
            </a:r>
            <a:endParaRPr lang="en-US" sz="1500" dirty="0"/>
          </a:p>
        </p:txBody>
      </p:sp>
      <p:sp>
        <p:nvSpPr>
          <p:cNvPr id="15" name="Text 12"/>
          <p:cNvSpPr txBox="1"/>
          <p:nvPr/>
        </p:nvSpPr>
        <p:spPr>
          <a:xfrm>
            <a:off x="612648" y="3529584"/>
            <a:ext cx="4736592" cy="93268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是什么使一个人成为自杀式恐怖袭击分子？什么激励他们杀死无辜者？美国做了什么激怒了这些人？这些都是可研究的课题。</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研究思路的四大来源</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Four Sources of Research Ideas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09</a:t>
            </a:r>
            <a:endParaRPr lang="en-US" sz="800" dirty="0"/>
          </a:p>
        </p:txBody>
      </p:sp>
      <p:sp>
        <p:nvSpPr>
          <p:cNvPr id="9" name="Shape 7"/>
          <p:cNvSpPr/>
          <p:nvPr/>
        </p:nvSpPr>
        <p:spPr>
          <a:xfrm>
            <a:off x="411480" y="1188720"/>
            <a:ext cx="4105656" cy="1636776"/>
          </a:xfrm>
          <a:prstGeom prst="rect">
            <a:avLst/>
          </a:prstGeom>
          <a:solidFill>
            <a:srgbClr val="40E0D0"/>
          </a:solidFill>
          <a:ln/>
        </p:spPr>
      </p:sp>
      <p:sp>
        <p:nvSpPr>
          <p:cNvPr id="10" name="Text 8"/>
          <p:cNvSpPr txBox="1"/>
          <p:nvPr/>
        </p:nvSpPr>
        <p:spPr>
          <a:xfrm>
            <a:off x="640080" y="1371600"/>
            <a:ext cx="1097280" cy="1097280"/>
          </a:xfrm>
          <a:prstGeom prst="rect">
            <a:avLst/>
          </a:prstGeom>
          <a:noFill/>
          <a:ln/>
        </p:spPr>
        <p:txBody>
          <a:bodyPr wrap="square" lIns="0" tIns="0" rIns="0" bIns="0" rtlCol="0" anchor="t"/>
          <a:lstStyle/>
          <a:p>
            <a:pPr indent="0" marL="0">
              <a:buNone/>
            </a:pPr>
            <a:r>
              <a:rPr lang="en-US" sz="4000" b="1" dirty="0">
                <a:solidFill>
                  <a:srgbClr val="2D2D2D"/>
                </a:solidFill>
                <a:latin typeface="Poppins" pitchFamily="34" charset="0"/>
                <a:ea typeface="Poppins" pitchFamily="34" charset="-122"/>
                <a:cs typeface="Poppins" pitchFamily="34" charset="-120"/>
              </a:rPr>
              <a:t>01</a:t>
            </a:r>
            <a:endParaRPr lang="en-US" sz="4000" dirty="0"/>
          </a:p>
        </p:txBody>
      </p:sp>
      <p:sp>
        <p:nvSpPr>
          <p:cNvPr id="11" name="Text 9"/>
          <p:cNvSpPr txBox="1"/>
          <p:nvPr/>
        </p:nvSpPr>
        <p:spPr>
          <a:xfrm>
            <a:off x="1874520" y="1463040"/>
            <a:ext cx="2459736" cy="411480"/>
          </a:xfrm>
          <a:prstGeom prst="rect">
            <a:avLst/>
          </a:prstGeom>
          <a:noFill/>
          <a:ln/>
        </p:spPr>
        <p:txBody>
          <a:bodyPr wrap="square" lIns="0" tIns="0" rIns="0" bIns="0" rtlCol="0" anchor="ctr"/>
          <a:lstStyle/>
          <a:p>
            <a:pPr indent="0" marL="0">
              <a:buNone/>
            </a:pPr>
            <a:r>
              <a:rPr lang="en-US" sz="1900" b="1" dirty="0">
                <a:solidFill>
                  <a:srgbClr val="2D2D2D"/>
                </a:solidFill>
                <a:latin typeface="Microsoft YaHei" pitchFamily="34" charset="0"/>
                <a:ea typeface="Microsoft YaHei" pitchFamily="34" charset="-122"/>
                <a:cs typeface="Microsoft YaHei" pitchFamily="34" charset="-120"/>
              </a:rPr>
              <a:t>日常生活</a:t>
            </a:r>
            <a:endParaRPr lang="en-US" sz="1900" dirty="0"/>
          </a:p>
        </p:txBody>
      </p:sp>
      <p:sp>
        <p:nvSpPr>
          <p:cNvPr id="12" name="Text 10"/>
          <p:cNvSpPr txBox="1"/>
          <p:nvPr/>
        </p:nvSpPr>
        <p:spPr>
          <a:xfrm>
            <a:off x="1874520" y="1965960"/>
            <a:ext cx="2414016" cy="73152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观察他人反应、个体差异、人际交往中的现象</a:t>
            </a:r>
            <a:endParaRPr lang="en-US" sz="1250" dirty="0"/>
          </a:p>
        </p:txBody>
      </p:sp>
      <p:sp>
        <p:nvSpPr>
          <p:cNvPr id="13" name="Shape 11"/>
          <p:cNvSpPr/>
          <p:nvPr/>
        </p:nvSpPr>
        <p:spPr>
          <a:xfrm>
            <a:off x="4626864" y="1188720"/>
            <a:ext cx="4105656" cy="1636776"/>
          </a:xfrm>
          <a:prstGeom prst="rect">
            <a:avLst/>
          </a:prstGeom>
          <a:solidFill>
            <a:srgbClr val="EBEBEB"/>
          </a:solidFill>
          <a:ln/>
        </p:spPr>
      </p:sp>
      <p:sp>
        <p:nvSpPr>
          <p:cNvPr id="14" name="Text 12"/>
          <p:cNvSpPr txBox="1"/>
          <p:nvPr/>
        </p:nvSpPr>
        <p:spPr>
          <a:xfrm>
            <a:off x="4855464" y="1371600"/>
            <a:ext cx="1097280" cy="1097280"/>
          </a:xfrm>
          <a:prstGeom prst="rect">
            <a:avLst/>
          </a:prstGeom>
          <a:noFill/>
          <a:ln/>
        </p:spPr>
        <p:txBody>
          <a:bodyPr wrap="square" lIns="0" tIns="0" rIns="0" bIns="0" rtlCol="0" anchor="t"/>
          <a:lstStyle/>
          <a:p>
            <a:pPr indent="0" marL="0">
              <a:buNone/>
            </a:pPr>
            <a:r>
              <a:rPr lang="en-US" sz="4000" b="1" dirty="0">
                <a:solidFill>
                  <a:srgbClr val="2D2D2D"/>
                </a:solidFill>
                <a:latin typeface="Poppins" pitchFamily="34" charset="0"/>
                <a:ea typeface="Poppins" pitchFamily="34" charset="-122"/>
                <a:cs typeface="Poppins" pitchFamily="34" charset="-120"/>
              </a:rPr>
              <a:t>02</a:t>
            </a:r>
            <a:endParaRPr lang="en-US" sz="4000" dirty="0"/>
          </a:p>
        </p:txBody>
      </p:sp>
      <p:sp>
        <p:nvSpPr>
          <p:cNvPr id="15" name="Text 13"/>
          <p:cNvSpPr txBox="1"/>
          <p:nvPr/>
        </p:nvSpPr>
        <p:spPr>
          <a:xfrm>
            <a:off x="6089904" y="1463040"/>
            <a:ext cx="2459736" cy="411480"/>
          </a:xfrm>
          <a:prstGeom prst="rect">
            <a:avLst/>
          </a:prstGeom>
          <a:noFill/>
          <a:ln/>
        </p:spPr>
        <p:txBody>
          <a:bodyPr wrap="square" lIns="0" tIns="0" rIns="0" bIns="0" rtlCol="0" anchor="ctr"/>
          <a:lstStyle/>
          <a:p>
            <a:pPr indent="0" marL="0">
              <a:buNone/>
            </a:pPr>
            <a:r>
              <a:rPr lang="en-US" sz="1900" b="1" dirty="0">
                <a:solidFill>
                  <a:srgbClr val="2D2D2D"/>
                </a:solidFill>
                <a:latin typeface="Microsoft YaHei" pitchFamily="34" charset="0"/>
                <a:ea typeface="Microsoft YaHei" pitchFamily="34" charset="-122"/>
                <a:cs typeface="Microsoft YaHei" pitchFamily="34" charset="-120"/>
              </a:rPr>
              <a:t>实际问题</a:t>
            </a:r>
            <a:endParaRPr lang="en-US" sz="1900" dirty="0"/>
          </a:p>
        </p:txBody>
      </p:sp>
      <p:sp>
        <p:nvSpPr>
          <p:cNvPr id="16" name="Text 14"/>
          <p:cNvSpPr txBox="1"/>
          <p:nvPr/>
        </p:nvSpPr>
        <p:spPr>
          <a:xfrm>
            <a:off x="6089904" y="1965960"/>
            <a:ext cx="2414016" cy="73152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员工士气、缺勤率、心理障碍治疗、教学质量改善</a:t>
            </a:r>
            <a:endParaRPr lang="en-US" sz="1250" dirty="0"/>
          </a:p>
        </p:txBody>
      </p:sp>
      <p:sp>
        <p:nvSpPr>
          <p:cNvPr id="17" name="Shape 15"/>
          <p:cNvSpPr/>
          <p:nvPr/>
        </p:nvSpPr>
        <p:spPr>
          <a:xfrm>
            <a:off x="411480" y="2935224"/>
            <a:ext cx="4105656" cy="1636776"/>
          </a:xfrm>
          <a:prstGeom prst="rect">
            <a:avLst/>
          </a:prstGeom>
          <a:solidFill>
            <a:srgbClr val="E2E2E2"/>
          </a:solidFill>
          <a:ln/>
        </p:spPr>
      </p:sp>
      <p:sp>
        <p:nvSpPr>
          <p:cNvPr id="18" name="Text 16"/>
          <p:cNvSpPr txBox="1"/>
          <p:nvPr/>
        </p:nvSpPr>
        <p:spPr>
          <a:xfrm>
            <a:off x="640080" y="3118104"/>
            <a:ext cx="1097280" cy="1097280"/>
          </a:xfrm>
          <a:prstGeom prst="rect">
            <a:avLst/>
          </a:prstGeom>
          <a:noFill/>
          <a:ln/>
        </p:spPr>
        <p:txBody>
          <a:bodyPr wrap="square" lIns="0" tIns="0" rIns="0" bIns="0" rtlCol="0" anchor="t"/>
          <a:lstStyle/>
          <a:p>
            <a:pPr indent="0" marL="0">
              <a:buNone/>
            </a:pPr>
            <a:r>
              <a:rPr lang="en-US" sz="4000" b="1" dirty="0">
                <a:solidFill>
                  <a:srgbClr val="2D2D2D"/>
                </a:solidFill>
                <a:latin typeface="Poppins" pitchFamily="34" charset="0"/>
                <a:ea typeface="Poppins" pitchFamily="34" charset="-122"/>
                <a:cs typeface="Poppins" pitchFamily="34" charset="-120"/>
              </a:rPr>
              <a:t>03</a:t>
            </a:r>
            <a:endParaRPr lang="en-US" sz="4000" dirty="0"/>
          </a:p>
        </p:txBody>
      </p:sp>
      <p:sp>
        <p:nvSpPr>
          <p:cNvPr id="19" name="Text 17"/>
          <p:cNvSpPr txBox="1"/>
          <p:nvPr/>
        </p:nvSpPr>
        <p:spPr>
          <a:xfrm>
            <a:off x="1874520" y="3209544"/>
            <a:ext cx="2459736" cy="411480"/>
          </a:xfrm>
          <a:prstGeom prst="rect">
            <a:avLst/>
          </a:prstGeom>
          <a:noFill/>
          <a:ln/>
        </p:spPr>
        <p:txBody>
          <a:bodyPr wrap="square" lIns="0" tIns="0" rIns="0" bIns="0" rtlCol="0" anchor="ctr"/>
          <a:lstStyle/>
          <a:p>
            <a:pPr indent="0" marL="0">
              <a:buNone/>
            </a:pPr>
            <a:r>
              <a:rPr lang="en-US" sz="1900" b="1" dirty="0">
                <a:solidFill>
                  <a:srgbClr val="2D2D2D"/>
                </a:solidFill>
                <a:latin typeface="Microsoft YaHei" pitchFamily="34" charset="0"/>
                <a:ea typeface="Microsoft YaHei" pitchFamily="34" charset="-122"/>
                <a:cs typeface="Microsoft YaHei" pitchFamily="34" charset="-120"/>
              </a:rPr>
              <a:t>过往研究</a:t>
            </a:r>
            <a:endParaRPr lang="en-US" sz="1900" dirty="0"/>
          </a:p>
        </p:txBody>
      </p:sp>
      <p:sp>
        <p:nvSpPr>
          <p:cNvPr id="20" name="Text 18"/>
          <p:cNvSpPr txBox="1"/>
          <p:nvPr/>
        </p:nvSpPr>
        <p:spPr>
          <a:xfrm>
            <a:off x="1874520" y="3712464"/>
            <a:ext cx="2414016" cy="73152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研究产生的问题往往比回答的问题多，引发后续研究</a:t>
            </a:r>
            <a:endParaRPr lang="en-US" sz="1250" dirty="0"/>
          </a:p>
        </p:txBody>
      </p:sp>
      <p:sp>
        <p:nvSpPr>
          <p:cNvPr id="21" name="Shape 19"/>
          <p:cNvSpPr/>
          <p:nvPr/>
        </p:nvSpPr>
        <p:spPr>
          <a:xfrm>
            <a:off x="4626864" y="2935224"/>
            <a:ext cx="4105656" cy="1636776"/>
          </a:xfrm>
          <a:prstGeom prst="rect">
            <a:avLst/>
          </a:prstGeom>
          <a:solidFill>
            <a:srgbClr val="2D2D2D"/>
          </a:solidFill>
          <a:ln/>
        </p:spPr>
      </p:sp>
      <p:sp>
        <p:nvSpPr>
          <p:cNvPr id="22" name="Text 20"/>
          <p:cNvSpPr txBox="1"/>
          <p:nvPr/>
        </p:nvSpPr>
        <p:spPr>
          <a:xfrm>
            <a:off x="4855464" y="3118104"/>
            <a:ext cx="1097280" cy="1097280"/>
          </a:xfrm>
          <a:prstGeom prst="rect">
            <a:avLst/>
          </a:prstGeom>
          <a:noFill/>
          <a:ln/>
        </p:spPr>
        <p:txBody>
          <a:bodyPr wrap="square" lIns="0" tIns="0" rIns="0" bIns="0" rtlCol="0" anchor="t"/>
          <a:lstStyle/>
          <a:p>
            <a:pPr indent="0" marL="0">
              <a:buNone/>
            </a:pPr>
            <a:r>
              <a:rPr lang="en-US" sz="4000" b="1" dirty="0">
                <a:solidFill>
                  <a:srgbClr val="40E0D0"/>
                </a:solidFill>
                <a:latin typeface="Poppins" pitchFamily="34" charset="0"/>
                <a:ea typeface="Poppins" pitchFamily="34" charset="-122"/>
                <a:cs typeface="Poppins" pitchFamily="34" charset="-120"/>
              </a:rPr>
              <a:t>04</a:t>
            </a:r>
            <a:endParaRPr lang="en-US" sz="4000" dirty="0"/>
          </a:p>
        </p:txBody>
      </p:sp>
      <p:sp>
        <p:nvSpPr>
          <p:cNvPr id="23" name="Text 21"/>
          <p:cNvSpPr txBox="1"/>
          <p:nvPr/>
        </p:nvSpPr>
        <p:spPr>
          <a:xfrm>
            <a:off x="6089904" y="3209544"/>
            <a:ext cx="2459736" cy="411480"/>
          </a:xfrm>
          <a:prstGeom prst="rect">
            <a:avLst/>
          </a:prstGeom>
          <a:noFill/>
          <a:ln/>
        </p:spPr>
        <p:txBody>
          <a:bodyPr wrap="square" lIns="0" tIns="0" rIns="0" bIns="0" rtlCol="0" anchor="ctr"/>
          <a:lstStyle/>
          <a:p>
            <a:pPr indent="0" marL="0">
              <a:buNone/>
            </a:pPr>
            <a:r>
              <a:rPr lang="en-US" sz="1900" b="1" dirty="0">
                <a:solidFill>
                  <a:srgbClr val="FFFFFF"/>
                </a:solidFill>
                <a:latin typeface="Microsoft YaHei" pitchFamily="34" charset="0"/>
                <a:ea typeface="Microsoft YaHei" pitchFamily="34" charset="-122"/>
                <a:cs typeface="Microsoft YaHei" pitchFamily="34" charset="-120"/>
              </a:rPr>
              <a:t>理论</a:t>
            </a:r>
            <a:endParaRPr lang="en-US" sz="1900" dirty="0"/>
          </a:p>
        </p:txBody>
      </p:sp>
      <p:sp>
        <p:nvSpPr>
          <p:cNvPr id="24" name="Text 22"/>
          <p:cNvSpPr txBox="1"/>
          <p:nvPr/>
        </p:nvSpPr>
        <p:spPr>
          <a:xfrm>
            <a:off x="6089904" y="3712464"/>
            <a:ext cx="2414016" cy="731520"/>
          </a:xfrm>
          <a:prstGeom prst="rect">
            <a:avLst/>
          </a:prstGeom>
          <a:noFill/>
          <a:ln/>
        </p:spPr>
        <p:txBody>
          <a:bodyPr wrap="square" lIns="0" tIns="0" rIns="0" bIns="0" rtlCol="0" anchor="t"/>
          <a:lstStyle/>
          <a:p>
            <a:pPr indent="0" marL="0">
              <a:lnSpc>
                <a:spcPct val="135000"/>
              </a:lnSpc>
              <a:buNone/>
            </a:pPr>
            <a:r>
              <a:rPr lang="en-US" sz="1250" dirty="0">
                <a:solidFill>
                  <a:srgbClr val="FFFFFF"/>
                </a:solidFill>
                <a:latin typeface="Microsoft YaHei" pitchFamily="34" charset="0"/>
                <a:ea typeface="Microsoft YaHei" pitchFamily="34" charset="-122"/>
                <a:cs typeface="Microsoft YaHei" pitchFamily="34" charset="-120"/>
              </a:rPr>
              <a:t>理论指导研究，启示新关系，做出新预测</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530352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日常生活中的研究机会</a:t>
            </a:r>
            <a:endParaRPr lang="en-US" sz="2200" dirty="0"/>
          </a:p>
        </p:txBody>
      </p:sp>
      <p:sp>
        <p:nvSpPr>
          <p:cNvPr id="3" name="Text 1"/>
          <p:cNvSpPr txBox="1"/>
          <p:nvPr/>
        </p:nvSpPr>
        <p:spPr>
          <a:xfrm>
            <a:off x="411480" y="731520"/>
            <a:ext cx="530352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Everyday Life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10</a:t>
            </a:r>
            <a:endParaRPr lang="en-US" sz="800" dirty="0"/>
          </a:p>
        </p:txBody>
      </p:sp>
      <p:pic>
        <p:nvPicPr>
          <p:cNvPr id="9" name="Image 0" descr="p07_1">    </p:cNvPr>
          <p:cNvPicPr>
            <a:picLocks noChangeAspect="1"/>
          </p:cNvPicPr>
          <p:nvPr/>
        </p:nvPicPr>
        <p:blipFill>
          <a:blip r:embed="rId1"/>
          <a:stretch>
            <a:fillRect/>
          </a:stretch>
        </p:blipFill>
        <p:spPr>
          <a:xfrm>
            <a:off x="5989320" y="0"/>
            <a:ext cx="3154680" cy="4636008"/>
          </a:xfrm>
          <a:prstGeom prst="rect">
            <a:avLst/>
          </a:prstGeom>
        </p:spPr>
      </p:pic>
      <p:sp>
        <p:nvSpPr>
          <p:cNvPr id="10" name="Text 7"/>
          <p:cNvSpPr txBox="1"/>
          <p:nvPr/>
        </p:nvSpPr>
        <p:spPr>
          <a:xfrm>
            <a:off x="411480" y="1143000"/>
            <a:ext cx="5394960" cy="868680"/>
          </a:xfrm>
          <a:prstGeom prst="rect">
            <a:avLst/>
          </a:prstGeom>
          <a:noFill/>
          <a:ln/>
        </p:spPr>
        <p:txBody>
          <a:bodyPr wrap="square" lIns="0" tIns="0" rIns="0" bIns="0" rtlCol="0" anchor="t"/>
          <a:lstStyle/>
          <a:p>
            <a:pPr indent="0" marL="0">
              <a:lnSpc>
                <a:spcPct val="135000"/>
              </a:lnSpc>
              <a:buNone/>
            </a:pPr>
            <a:r>
              <a:rPr lang="en-US" sz="1200" dirty="0">
                <a:solidFill>
                  <a:srgbClr val="2D2D2D"/>
                </a:solidFill>
                <a:latin typeface="Microsoft YaHei" pitchFamily="34" charset="0"/>
                <a:ea typeface="Microsoft YaHei" pitchFamily="34" charset="-122"/>
                <a:cs typeface="Microsoft YaHei" pitchFamily="34" charset="-120"/>
              </a:rPr>
              <a:t>在日常生活中，我们会遇到许多需要解决的问题。家长想知道如何对待孩子，学生想知道如何更快学习。观察操场上的孩子，我们会发现明显的个体差异。</a:t>
            </a:r>
            <a:endParaRPr lang="en-US" sz="1200" dirty="0"/>
          </a:p>
        </p:txBody>
      </p:sp>
      <p:sp>
        <p:nvSpPr>
          <p:cNvPr id="11" name="Shape 8"/>
          <p:cNvSpPr/>
          <p:nvPr/>
        </p:nvSpPr>
        <p:spPr>
          <a:xfrm>
            <a:off x="411480" y="2148840"/>
            <a:ext cx="2651760" cy="2423160"/>
          </a:xfrm>
          <a:prstGeom prst="rect">
            <a:avLst/>
          </a:prstGeom>
          <a:solidFill>
            <a:srgbClr val="EBEBEB"/>
          </a:solidFill>
          <a:ln/>
        </p:spPr>
      </p:sp>
      <p:sp>
        <p:nvSpPr>
          <p:cNvPr id="12" name="Text 9"/>
          <p:cNvSpPr txBox="1"/>
          <p:nvPr/>
        </p:nvSpPr>
        <p:spPr>
          <a:xfrm>
            <a:off x="594360" y="2258568"/>
            <a:ext cx="2286000"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观察到的现象</a:t>
            </a:r>
            <a:endParaRPr lang="en-US" sz="1400" dirty="0"/>
          </a:p>
        </p:txBody>
      </p:sp>
      <p:sp>
        <p:nvSpPr>
          <p:cNvPr id="13" name="Text 10"/>
          <p:cNvSpPr txBox="1"/>
          <p:nvPr/>
        </p:nvSpPr>
        <p:spPr>
          <a:xfrm>
            <a:off x="594360" y="2697480"/>
            <a:ext cx="2377440" cy="18288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某个孩子非常有攻击性</a:t>
            </a:r>
            <a:endParaRPr lang="en-US" sz="1100" dirty="0"/>
          </a:p>
          <a:p>
            <a:pPr marL="152400" indent="-152400">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另一个孩子保守得多</a:t>
            </a:r>
            <a:endParaRPr lang="en-US" sz="1100" dirty="0"/>
          </a:p>
          <a:p>
            <a:pPr marL="152400" indent="-152400">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同一个孩子在不同环境中表现不同</a:t>
            </a:r>
            <a:endParaRPr lang="en-US" sz="1100" dirty="0"/>
          </a:p>
          <a:p>
            <a:pPr marL="152400" indent="-152400">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有些人是领导者，其他人是跟随者</a:t>
            </a:r>
            <a:endParaRPr lang="en-US" sz="1100" dirty="0"/>
          </a:p>
        </p:txBody>
      </p:sp>
      <p:sp>
        <p:nvSpPr>
          <p:cNvPr id="14" name="Shape 11"/>
          <p:cNvSpPr/>
          <p:nvPr/>
        </p:nvSpPr>
        <p:spPr>
          <a:xfrm>
            <a:off x="3172968" y="2148840"/>
            <a:ext cx="2651760" cy="2423160"/>
          </a:xfrm>
          <a:prstGeom prst="rect">
            <a:avLst/>
          </a:prstGeom>
          <a:solidFill>
            <a:srgbClr val="40E0D0"/>
          </a:solidFill>
          <a:ln/>
        </p:spPr>
      </p:sp>
      <p:sp>
        <p:nvSpPr>
          <p:cNvPr id="15" name="Text 12"/>
          <p:cNvSpPr txBox="1"/>
          <p:nvPr/>
        </p:nvSpPr>
        <p:spPr>
          <a:xfrm>
            <a:off x="3355848" y="2258568"/>
            <a:ext cx="2286000"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可研究的问题</a:t>
            </a:r>
            <a:endParaRPr lang="en-US" sz="1400" dirty="0"/>
          </a:p>
        </p:txBody>
      </p:sp>
      <p:sp>
        <p:nvSpPr>
          <p:cNvPr id="16" name="Text 13"/>
          <p:cNvSpPr txBox="1"/>
          <p:nvPr/>
        </p:nvSpPr>
        <p:spPr>
          <a:xfrm>
            <a:off x="3355848" y="2697480"/>
            <a:ext cx="2377440" cy="18288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为什么会出现这些差异？</a:t>
            </a:r>
            <a:endParaRPr lang="en-US" sz="1100" dirty="0"/>
          </a:p>
          <a:p>
            <a:pPr marL="152400" indent="-152400">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是什么导致不同反应的产生？</a:t>
            </a:r>
            <a:endParaRPr lang="en-US" sz="1100" dirty="0"/>
          </a:p>
          <a:p>
            <a:pPr marL="152400" indent="-152400">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为什么我们喜欢某些人却不喜欢另一些人？</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实际问题驱动的研究</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Practical Problems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11</a:t>
            </a:r>
            <a:endParaRPr lang="en-US" sz="800" dirty="0"/>
          </a:p>
        </p:txBody>
      </p:sp>
      <p:sp>
        <p:nvSpPr>
          <p:cNvPr id="9" name="Text 7"/>
          <p:cNvSpPr txBox="1"/>
          <p:nvPr/>
        </p:nvSpPr>
        <p:spPr>
          <a:xfrm>
            <a:off x="411480" y="1143000"/>
            <a:ext cx="8321040" cy="685800"/>
          </a:xfrm>
          <a:prstGeom prst="rect">
            <a:avLst/>
          </a:prstGeom>
          <a:noFill/>
          <a:ln/>
        </p:spPr>
        <p:txBody>
          <a:bodyPr wrap="square" lIns="0" tIns="0" rIns="0" bIns="0" rtlCol="0" anchor="t"/>
          <a:lstStyle/>
          <a:p>
            <a:pPr indent="0" marL="0">
              <a:lnSpc>
                <a:spcPct val="135000"/>
              </a:lnSpc>
              <a:buNone/>
            </a:pPr>
            <a:r>
              <a:rPr lang="en-US" sz="1300" dirty="0">
                <a:solidFill>
                  <a:srgbClr val="2D2D2D"/>
                </a:solidFill>
                <a:latin typeface="Microsoft YaHei" pitchFamily="34" charset="0"/>
                <a:ea typeface="Microsoft YaHei" pitchFamily="34" charset="-122"/>
                <a:cs typeface="Microsoft YaHei" pitchFamily="34" charset="-120"/>
              </a:rPr>
              <a:t>许多研究问题来自需要解决的实际问题。私企面临员工士气低、缺勤率、人员流动等问题。临床心理学需要大量研究来制定更有效的治疗方案。</a:t>
            </a:r>
            <a:endParaRPr lang="en-US" sz="1300" dirty="0"/>
          </a:p>
        </p:txBody>
      </p:sp>
      <p:sp>
        <p:nvSpPr>
          <p:cNvPr id="10" name="Shape 8"/>
          <p:cNvSpPr/>
          <p:nvPr/>
        </p:nvSpPr>
        <p:spPr>
          <a:xfrm>
            <a:off x="411480" y="2011680"/>
            <a:ext cx="2700528" cy="2560320"/>
          </a:xfrm>
          <a:prstGeom prst="rect">
            <a:avLst/>
          </a:prstGeom>
          <a:solidFill>
            <a:srgbClr val="40E0D0"/>
          </a:solidFill>
          <a:ln/>
        </p:spPr>
      </p:sp>
      <p:sp>
        <p:nvSpPr>
          <p:cNvPr id="11" name="Text 9"/>
          <p:cNvSpPr txBox="1"/>
          <p:nvPr/>
        </p:nvSpPr>
        <p:spPr>
          <a:xfrm>
            <a:off x="612648" y="2176272"/>
            <a:ext cx="2334768" cy="45720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01</a:t>
            </a:r>
            <a:endParaRPr lang="en-US" sz="3000" dirty="0"/>
          </a:p>
        </p:txBody>
      </p:sp>
      <p:sp>
        <p:nvSpPr>
          <p:cNvPr id="12" name="Text 10"/>
          <p:cNvSpPr txBox="1"/>
          <p:nvPr/>
        </p:nvSpPr>
        <p:spPr>
          <a:xfrm>
            <a:off x="612648" y="2999232"/>
            <a:ext cx="2334768" cy="365760"/>
          </a:xfrm>
          <a:prstGeom prst="rect">
            <a:avLst/>
          </a:prstGeom>
          <a:noFill/>
          <a:ln/>
        </p:spPr>
        <p:txBody>
          <a:bodyPr wrap="square" lIns="0" tIns="0" rIns="0" bIns="0" rtlCol="0" anchor="ctr"/>
          <a:lstStyle/>
          <a:p>
            <a:pPr indent="0" marL="0">
              <a:buNone/>
            </a:pPr>
            <a:r>
              <a:rPr lang="en-US" sz="1800" b="1" dirty="0">
                <a:solidFill>
                  <a:srgbClr val="2D2D2D"/>
                </a:solidFill>
                <a:latin typeface="Microsoft YaHei" pitchFamily="34" charset="0"/>
                <a:ea typeface="Microsoft YaHei" pitchFamily="34" charset="-122"/>
                <a:cs typeface="Microsoft YaHei" pitchFamily="34" charset="-120"/>
              </a:rPr>
              <a:t>企业问题</a:t>
            </a:r>
            <a:endParaRPr lang="en-US" sz="1800" dirty="0"/>
          </a:p>
        </p:txBody>
      </p:sp>
      <p:sp>
        <p:nvSpPr>
          <p:cNvPr id="13" name="Text 11"/>
          <p:cNvSpPr txBox="1"/>
          <p:nvPr/>
        </p:nvSpPr>
        <p:spPr>
          <a:xfrm>
            <a:off x="612648" y="3438144"/>
            <a:ext cx="2316480" cy="1024128"/>
          </a:xfrm>
          <a:prstGeom prst="rect">
            <a:avLst/>
          </a:prstGeom>
          <a:noFill/>
          <a:ln/>
        </p:spPr>
        <p:txBody>
          <a:bodyPr wrap="square" lIns="0" tIns="0" rIns="0" bIns="0" rtlCol="0" anchor="t"/>
          <a:lstStyle/>
          <a:p>
            <a:pPr indent="0" marL="0">
              <a:lnSpc>
                <a:spcPct val="135000"/>
              </a:lnSpc>
              <a:spcAft>
                <a:spcPts val="300"/>
              </a:spcAft>
              <a:buNone/>
            </a:pPr>
            <a:r>
              <a:rPr lang="en-US" sz="1250" dirty="0">
                <a:solidFill>
                  <a:srgbClr val="2D2D2D"/>
                </a:solidFill>
                <a:latin typeface="Microsoft YaHei" pitchFamily="34" charset="0"/>
                <a:ea typeface="Microsoft YaHei" pitchFamily="34" charset="-122"/>
                <a:cs typeface="Microsoft YaHei" pitchFamily="34" charset="-120"/>
              </a:rPr>
              <a:t>员工士气、缺勤率、人员甄选和配置</a:t>
            </a:r>
            <a:endParaRPr lang="en-US" sz="1250" dirty="0"/>
          </a:p>
        </p:txBody>
      </p:sp>
      <p:sp>
        <p:nvSpPr>
          <p:cNvPr id="14" name="Shape 12"/>
          <p:cNvSpPr/>
          <p:nvPr/>
        </p:nvSpPr>
        <p:spPr>
          <a:xfrm>
            <a:off x="3221736" y="2011680"/>
            <a:ext cx="2700528" cy="2560320"/>
          </a:xfrm>
          <a:prstGeom prst="rect">
            <a:avLst/>
          </a:prstGeom>
          <a:solidFill>
            <a:srgbClr val="EBEBEB"/>
          </a:solidFill>
          <a:ln/>
        </p:spPr>
      </p:sp>
      <p:sp>
        <p:nvSpPr>
          <p:cNvPr id="15" name="Text 13"/>
          <p:cNvSpPr txBox="1"/>
          <p:nvPr/>
        </p:nvSpPr>
        <p:spPr>
          <a:xfrm>
            <a:off x="3422904" y="2176272"/>
            <a:ext cx="2334768" cy="45720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02</a:t>
            </a:r>
            <a:endParaRPr lang="en-US" sz="3000" dirty="0"/>
          </a:p>
        </p:txBody>
      </p:sp>
      <p:sp>
        <p:nvSpPr>
          <p:cNvPr id="16" name="Text 14"/>
          <p:cNvSpPr txBox="1"/>
          <p:nvPr/>
        </p:nvSpPr>
        <p:spPr>
          <a:xfrm>
            <a:off x="3422904" y="2999232"/>
            <a:ext cx="2334768" cy="365760"/>
          </a:xfrm>
          <a:prstGeom prst="rect">
            <a:avLst/>
          </a:prstGeom>
          <a:noFill/>
          <a:ln/>
        </p:spPr>
        <p:txBody>
          <a:bodyPr wrap="square" lIns="0" tIns="0" rIns="0" bIns="0" rtlCol="0" anchor="ctr"/>
          <a:lstStyle/>
          <a:p>
            <a:pPr indent="0" marL="0">
              <a:buNone/>
            </a:pPr>
            <a:r>
              <a:rPr lang="en-US" sz="1800" b="1" dirty="0">
                <a:solidFill>
                  <a:srgbClr val="2D2D2D"/>
                </a:solidFill>
                <a:latin typeface="Microsoft YaHei" pitchFamily="34" charset="0"/>
                <a:ea typeface="Microsoft YaHei" pitchFamily="34" charset="-122"/>
                <a:cs typeface="Microsoft YaHei" pitchFamily="34" charset="-120"/>
              </a:rPr>
              <a:t>临床问题</a:t>
            </a:r>
            <a:endParaRPr lang="en-US" sz="1800" dirty="0"/>
          </a:p>
        </p:txBody>
      </p:sp>
      <p:sp>
        <p:nvSpPr>
          <p:cNvPr id="17" name="Text 15"/>
          <p:cNvSpPr txBox="1"/>
          <p:nvPr/>
        </p:nvSpPr>
        <p:spPr>
          <a:xfrm>
            <a:off x="3422904" y="3438144"/>
            <a:ext cx="2316480" cy="1024128"/>
          </a:xfrm>
          <a:prstGeom prst="rect">
            <a:avLst/>
          </a:prstGeom>
          <a:noFill/>
          <a:ln/>
        </p:spPr>
        <p:txBody>
          <a:bodyPr wrap="square" lIns="0" tIns="0" rIns="0" bIns="0" rtlCol="0" anchor="t"/>
          <a:lstStyle/>
          <a:p>
            <a:pPr indent="0" marL="0">
              <a:lnSpc>
                <a:spcPct val="135000"/>
              </a:lnSpc>
              <a:spcAft>
                <a:spcPts val="300"/>
              </a:spcAft>
              <a:buNone/>
            </a:pPr>
            <a:r>
              <a:rPr lang="en-US" sz="1250" dirty="0">
                <a:solidFill>
                  <a:srgbClr val="2D2D2D"/>
                </a:solidFill>
                <a:latin typeface="Microsoft YaHei" pitchFamily="34" charset="0"/>
                <a:ea typeface="Microsoft YaHei" pitchFamily="34" charset="-122"/>
                <a:cs typeface="Microsoft YaHei" pitchFamily="34" charset="-120"/>
              </a:rPr>
              <a:t>心理障碍治疗方案的有效性研究</a:t>
            </a:r>
            <a:endParaRPr lang="en-US" sz="1250" dirty="0"/>
          </a:p>
        </p:txBody>
      </p:sp>
      <p:sp>
        <p:nvSpPr>
          <p:cNvPr id="18" name="Shape 16"/>
          <p:cNvSpPr/>
          <p:nvPr/>
        </p:nvSpPr>
        <p:spPr>
          <a:xfrm>
            <a:off x="6031992" y="2011680"/>
            <a:ext cx="2700528" cy="2560320"/>
          </a:xfrm>
          <a:prstGeom prst="rect">
            <a:avLst/>
          </a:prstGeom>
          <a:solidFill>
            <a:srgbClr val="2D2D2D"/>
          </a:solidFill>
          <a:ln/>
        </p:spPr>
      </p:sp>
      <p:sp>
        <p:nvSpPr>
          <p:cNvPr id="19" name="Text 17"/>
          <p:cNvSpPr txBox="1"/>
          <p:nvPr/>
        </p:nvSpPr>
        <p:spPr>
          <a:xfrm>
            <a:off x="6233160" y="2176272"/>
            <a:ext cx="2334768" cy="457200"/>
          </a:xfrm>
          <a:prstGeom prst="rect">
            <a:avLst/>
          </a:prstGeom>
          <a:noFill/>
          <a:ln/>
        </p:spPr>
        <p:txBody>
          <a:bodyPr wrap="square" lIns="0" tIns="0" rIns="0" bIns="0" rtlCol="0" anchor="t"/>
          <a:lstStyle/>
          <a:p>
            <a:pPr indent="0" marL="0">
              <a:buNone/>
            </a:pPr>
            <a:r>
              <a:rPr lang="en-US" sz="3000" b="1" dirty="0">
                <a:solidFill>
                  <a:srgbClr val="40E0D0"/>
                </a:solidFill>
                <a:latin typeface="Poppins" pitchFamily="34" charset="0"/>
                <a:ea typeface="Poppins" pitchFamily="34" charset="-122"/>
                <a:cs typeface="Poppins" pitchFamily="34" charset="-120"/>
              </a:rPr>
              <a:t>03</a:t>
            </a:r>
            <a:endParaRPr lang="en-US" sz="3000" dirty="0"/>
          </a:p>
        </p:txBody>
      </p:sp>
      <p:sp>
        <p:nvSpPr>
          <p:cNvPr id="20" name="Text 18"/>
          <p:cNvSpPr txBox="1"/>
          <p:nvPr/>
        </p:nvSpPr>
        <p:spPr>
          <a:xfrm>
            <a:off x="6233160" y="2999232"/>
            <a:ext cx="2334768" cy="365760"/>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教育问题</a:t>
            </a:r>
            <a:endParaRPr lang="en-US" sz="1800" dirty="0"/>
          </a:p>
        </p:txBody>
      </p:sp>
      <p:sp>
        <p:nvSpPr>
          <p:cNvPr id="21" name="Text 19"/>
          <p:cNvSpPr txBox="1"/>
          <p:nvPr/>
        </p:nvSpPr>
        <p:spPr>
          <a:xfrm>
            <a:off x="6233160" y="3438144"/>
            <a:ext cx="2316480" cy="1024128"/>
          </a:xfrm>
          <a:prstGeom prst="rect">
            <a:avLst/>
          </a:prstGeom>
          <a:noFill/>
          <a:ln/>
        </p:spPr>
        <p:txBody>
          <a:bodyPr wrap="square" lIns="0" tIns="0" rIns="0" bIns="0" rtlCol="0" anchor="t"/>
          <a:lstStyle/>
          <a:p>
            <a:pPr indent="0" marL="0">
              <a:lnSpc>
                <a:spcPct val="135000"/>
              </a:lnSpc>
              <a:spcAft>
                <a:spcPts val="300"/>
              </a:spcAft>
              <a:buNone/>
            </a:pPr>
            <a:r>
              <a:rPr lang="en-US" sz="1250" dirty="0">
                <a:solidFill>
                  <a:srgbClr val="FFFFFF"/>
                </a:solidFill>
                <a:latin typeface="Microsoft YaHei" pitchFamily="34" charset="0"/>
                <a:ea typeface="Microsoft YaHei" pitchFamily="34" charset="-122"/>
                <a:cs typeface="Microsoft YaHei" pitchFamily="34" charset="-120"/>
              </a:rPr>
              <a:t>改善教学质量的方法研究</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催眠与目击者辨认准确率</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Sanders &amp; Simmons (1983)</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12</a:t>
            </a:r>
            <a:endParaRPr lang="en-US" sz="800" dirty="0"/>
          </a:p>
        </p:txBody>
      </p:sp>
      <p:sp>
        <p:nvSpPr>
          <p:cNvPr id="9" name="Text 7"/>
          <p:cNvSpPr txBox="1"/>
          <p:nvPr/>
        </p:nvSpPr>
        <p:spPr>
          <a:xfrm>
            <a:off x="411480" y="1188720"/>
            <a:ext cx="3566160" cy="1737360"/>
          </a:xfrm>
          <a:prstGeom prst="rect">
            <a:avLst/>
          </a:prstGeom>
          <a:noFill/>
          <a:ln/>
        </p:spPr>
        <p:txBody>
          <a:bodyPr wrap="square" lIns="0" tIns="0" rIns="0" bIns="0" rtlCol="0" anchor="t"/>
          <a:lstStyle/>
          <a:p>
            <a:pPr indent="0" marL="0">
              <a:lnSpc>
                <a:spcPct val="140000"/>
              </a:lnSpc>
              <a:buNone/>
            </a:pPr>
            <a:r>
              <a:rPr lang="en-US" sz="1250" dirty="0">
                <a:solidFill>
                  <a:srgbClr val="2D2D2D"/>
                </a:solidFill>
                <a:latin typeface="Microsoft YaHei" pitchFamily="34" charset="0"/>
                <a:ea typeface="Microsoft YaHei" pitchFamily="34" charset="-122"/>
                <a:cs typeface="Microsoft YaHei" pitchFamily="34" charset="-120"/>
              </a:rPr>
              <a:t>执法机构曾使用催眠术从目击者那里提取线索，认为催眠能提取其他方法无法找到的准确证据。桑德斯和西蒙斯（1983）的研究检验了这一假设。</a:t>
            </a:r>
            <a:endParaRPr lang="en-US" sz="1250" dirty="0"/>
          </a:p>
        </p:txBody>
      </p:sp>
      <p:sp>
        <p:nvSpPr>
          <p:cNvPr id="10" name="Shape 8"/>
          <p:cNvSpPr/>
          <p:nvPr/>
        </p:nvSpPr>
        <p:spPr>
          <a:xfrm>
            <a:off x="411480" y="3017520"/>
            <a:ext cx="3566160" cy="1554480"/>
          </a:xfrm>
          <a:prstGeom prst="rect">
            <a:avLst/>
          </a:prstGeom>
          <a:solidFill>
            <a:srgbClr val="40E0D0"/>
          </a:solidFill>
          <a:ln/>
        </p:spPr>
      </p:sp>
      <p:sp>
        <p:nvSpPr>
          <p:cNvPr id="11" name="Text 9"/>
          <p:cNvSpPr txBox="1"/>
          <p:nvPr/>
        </p:nvSpPr>
        <p:spPr>
          <a:xfrm>
            <a:off x="594360" y="3017520"/>
            <a:ext cx="3200400" cy="1554480"/>
          </a:xfrm>
          <a:prstGeom prst="rect">
            <a:avLst/>
          </a:prstGeom>
          <a:noFill/>
          <a:ln/>
        </p:spPr>
        <p:txBody>
          <a:bodyPr wrap="square" lIns="0" tIns="0" rIns="0" bIns="0" rtlCol="0" anchor="ctr"/>
          <a:lstStyle/>
          <a:p>
            <a:pPr indent="0" marL="0">
              <a:lnSpc>
                <a:spcPct val="135000"/>
              </a:lnSpc>
              <a:buNone/>
            </a:pPr>
            <a:r>
              <a:rPr lang="en-US" sz="1200" b="1" dirty="0">
                <a:solidFill>
                  <a:srgbClr val="2D2D2D"/>
                </a:solidFill>
                <a:latin typeface="Microsoft YaHei" pitchFamily="34" charset="0"/>
                <a:ea typeface="Microsoft YaHei" pitchFamily="34" charset="-122"/>
                <a:cs typeface="Microsoft YaHei" pitchFamily="34" charset="-120"/>
              </a:rPr>
              <a:t>结果与预期相反：</a:t>
            </a:r>
            <a:pPr indent="0" marL="0">
              <a:lnSpc>
                <a:spcPct val="135000"/>
              </a:lnSpc>
              <a:buNone/>
            </a:pPr>
            <a:r>
              <a:rPr lang="en-US" sz="1200" dirty="0">
                <a:solidFill>
                  <a:srgbClr val="2D2D2D"/>
                </a:solidFill>
                <a:latin typeface="Microsoft YaHei" pitchFamily="34" charset="0"/>
                <a:ea typeface="Microsoft YaHei" pitchFamily="34" charset="-122"/>
                <a:cs typeface="Microsoft YaHei" pitchFamily="34" charset="-120"/>
              </a:rPr>
              <a:t>接受催眠的参与者辨认出小偷的次数少于未接受催眠的参与者。这表明催眠并非提取准确证据的有效手段。</a:t>
            </a:r>
            <a:endParaRPr lang="en-US" sz="1200" dirty="0"/>
          </a:p>
        </p:txBody>
      </p:sp>
      <p:sp>
        <p:nvSpPr>
          <p:cNvPr id="12" name="Shape 10"/>
          <p:cNvSpPr/>
          <p:nvPr/>
        </p:nvSpPr>
        <p:spPr>
          <a:xfrm>
            <a:off x="4160520" y="1188720"/>
            <a:ext cx="4572000" cy="3383280"/>
          </a:xfrm>
          <a:prstGeom prst="rect">
            <a:avLst/>
          </a:prstGeom>
          <a:solidFill>
            <a:srgbClr val="FFFFFF"/>
          </a:solidFill>
          <a:ln w="9525">
            <a:solidFill>
              <a:srgbClr val="CDCDCD"/>
            </a:solidFill>
            <a:prstDash val="solid"/>
          </a:ln>
        </p:spPr>
      </p:sp>
      <p:graphicFrame>
        <p:nvGraphicFramePr>
          <p:cNvPr id="13" name="Chart 0" descr=""/>
          <p:cNvGraphicFramePr/>
          <p:nvPr/>
        </p:nvGraphicFramePr>
        <p:xfrm>
          <a:off x="4251960" y="1280160"/>
          <a:ext cx="4389120" cy="32004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过往研究：连续的研究过程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Past Research</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13</a:t>
            </a:r>
            <a:endParaRPr lang="en-US" sz="800" dirty="0"/>
          </a:p>
        </p:txBody>
      </p:sp>
      <p:sp>
        <p:nvSpPr>
          <p:cNvPr id="9" name="Text 7"/>
          <p:cNvSpPr txBox="1"/>
          <p:nvPr/>
        </p:nvSpPr>
        <p:spPr>
          <a:xfrm>
            <a:off x="411480" y="1143000"/>
            <a:ext cx="8321040" cy="73152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过去的研究是产生新思路的极佳来源。研究有一个有趣的特征：它们产生的问题往往比回答的问题还要多。虽然每个精心设计的研究都能增加知识量，但现象通常由多种原因决定。</a:t>
            </a:r>
            <a:endParaRPr lang="en-US" sz="1250" dirty="0"/>
          </a:p>
        </p:txBody>
      </p:sp>
      <p:sp>
        <p:nvSpPr>
          <p:cNvPr id="10" name="Shape 8"/>
          <p:cNvSpPr/>
          <p:nvPr/>
        </p:nvSpPr>
        <p:spPr>
          <a:xfrm>
            <a:off x="411480" y="2011680"/>
            <a:ext cx="2889504" cy="640080"/>
          </a:xfrm>
          <a:prstGeom prst="homePlate">
            <a:avLst/>
          </a:prstGeom>
          <a:solidFill>
            <a:srgbClr val="40E0D0"/>
          </a:solidFill>
          <a:ln/>
        </p:spPr>
      </p:sp>
      <p:sp>
        <p:nvSpPr>
          <p:cNvPr id="11" name="Text 9"/>
          <p:cNvSpPr txBox="1"/>
          <p:nvPr/>
        </p:nvSpPr>
        <p:spPr>
          <a:xfrm>
            <a:off x="548640" y="2011680"/>
            <a:ext cx="2478024" cy="64008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初始研究</a:t>
            </a:r>
            <a:endParaRPr lang="en-US" sz="1400" dirty="0"/>
          </a:p>
        </p:txBody>
      </p:sp>
      <p:sp>
        <p:nvSpPr>
          <p:cNvPr id="12" name="Shape 10"/>
          <p:cNvSpPr/>
          <p:nvPr/>
        </p:nvSpPr>
        <p:spPr>
          <a:xfrm>
            <a:off x="3127248" y="2011680"/>
            <a:ext cx="2889504" cy="640080"/>
          </a:xfrm>
          <a:prstGeom prst="chevron">
            <a:avLst/>
          </a:prstGeom>
          <a:solidFill>
            <a:srgbClr val="E2E2E2"/>
          </a:solidFill>
          <a:ln/>
        </p:spPr>
      </p:sp>
      <p:sp>
        <p:nvSpPr>
          <p:cNvPr id="13" name="Text 11"/>
          <p:cNvSpPr txBox="1"/>
          <p:nvPr/>
        </p:nvSpPr>
        <p:spPr>
          <a:xfrm>
            <a:off x="3447288" y="2011680"/>
            <a:ext cx="2295144" cy="64008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发现矛盾</a:t>
            </a:r>
            <a:endParaRPr lang="en-US" sz="1400" dirty="0"/>
          </a:p>
        </p:txBody>
      </p:sp>
      <p:sp>
        <p:nvSpPr>
          <p:cNvPr id="14" name="Shape 12"/>
          <p:cNvSpPr/>
          <p:nvPr/>
        </p:nvSpPr>
        <p:spPr>
          <a:xfrm>
            <a:off x="5843016" y="2011680"/>
            <a:ext cx="2889504" cy="640080"/>
          </a:xfrm>
          <a:prstGeom prst="chevron">
            <a:avLst/>
          </a:prstGeom>
          <a:solidFill>
            <a:srgbClr val="2D2D2D"/>
          </a:solidFill>
          <a:ln/>
        </p:spPr>
      </p:sp>
      <p:sp>
        <p:nvSpPr>
          <p:cNvPr id="15" name="Text 13"/>
          <p:cNvSpPr txBox="1"/>
          <p:nvPr/>
        </p:nvSpPr>
        <p:spPr>
          <a:xfrm>
            <a:off x="6163056" y="2011680"/>
            <a:ext cx="2295144"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后续研究</a:t>
            </a:r>
            <a:endParaRPr lang="en-US" sz="1400" dirty="0"/>
          </a:p>
        </p:txBody>
      </p:sp>
      <p:sp>
        <p:nvSpPr>
          <p:cNvPr id="16" name="Text 14"/>
          <p:cNvSpPr txBox="1"/>
          <p:nvPr/>
        </p:nvSpPr>
        <p:spPr>
          <a:xfrm>
            <a:off x="502920" y="2743200"/>
            <a:ext cx="2350008" cy="457200"/>
          </a:xfrm>
          <a:prstGeom prst="rect">
            <a:avLst/>
          </a:prstGeom>
          <a:noFill/>
          <a:ln/>
        </p:spPr>
        <p:txBody>
          <a:bodyPr wrap="square" lIns="0" tIns="0" rIns="0" bIns="0" rtlCol="0" anchor="t"/>
          <a:lstStyle/>
          <a:p>
            <a:pPr indent="0" marL="0">
              <a:buNone/>
            </a:pPr>
            <a:r>
              <a:rPr lang="en-US" sz="1200" dirty="0">
                <a:solidFill>
                  <a:srgbClr val="2D2D2D"/>
                </a:solidFill>
                <a:latin typeface="Microsoft YaHei" pitchFamily="34" charset="0"/>
                <a:ea typeface="Microsoft YaHei" pitchFamily="34" charset="-122"/>
                <a:cs typeface="Microsoft YaHei" pitchFamily="34" charset="-120"/>
              </a:rPr>
              <a:t>回答某个问题，但产生新问题</a:t>
            </a:r>
            <a:endParaRPr lang="en-US" sz="1200" dirty="0"/>
          </a:p>
        </p:txBody>
      </p:sp>
      <p:sp>
        <p:nvSpPr>
          <p:cNvPr id="17" name="Text 15"/>
          <p:cNvSpPr txBox="1"/>
          <p:nvPr/>
        </p:nvSpPr>
        <p:spPr>
          <a:xfrm>
            <a:off x="3218688" y="2743200"/>
            <a:ext cx="2350008" cy="457200"/>
          </a:xfrm>
          <a:prstGeom prst="rect">
            <a:avLst/>
          </a:prstGeom>
          <a:noFill/>
          <a:ln/>
        </p:spPr>
        <p:txBody>
          <a:bodyPr wrap="square" lIns="0" tIns="0" rIns="0" bIns="0" rtlCol="0" anchor="t"/>
          <a:lstStyle/>
          <a:p>
            <a:pPr indent="0" marL="0">
              <a:buNone/>
            </a:pPr>
            <a:r>
              <a:rPr lang="en-US" sz="1200" dirty="0">
                <a:solidFill>
                  <a:srgbClr val="2D2D2D"/>
                </a:solidFill>
                <a:latin typeface="Microsoft YaHei" pitchFamily="34" charset="0"/>
                <a:ea typeface="Microsoft YaHei" pitchFamily="34" charset="-122"/>
                <a:cs typeface="Microsoft YaHei" pitchFamily="34" charset="-120"/>
              </a:rPr>
              <a:t>不同研究结果缺乏一致性</a:t>
            </a:r>
            <a:endParaRPr lang="en-US" sz="1200" dirty="0"/>
          </a:p>
        </p:txBody>
      </p:sp>
      <p:sp>
        <p:nvSpPr>
          <p:cNvPr id="18" name="Text 16"/>
          <p:cNvSpPr txBox="1"/>
          <p:nvPr/>
        </p:nvSpPr>
        <p:spPr>
          <a:xfrm>
            <a:off x="5934456" y="2743200"/>
            <a:ext cx="2350008" cy="457200"/>
          </a:xfrm>
          <a:prstGeom prst="rect">
            <a:avLst/>
          </a:prstGeom>
          <a:noFill/>
          <a:ln/>
        </p:spPr>
        <p:txBody>
          <a:bodyPr wrap="square" lIns="0" tIns="0" rIns="0" bIns="0" rtlCol="0" anchor="t"/>
          <a:lstStyle/>
          <a:p>
            <a:pPr indent="0" marL="0">
              <a:buNone/>
            </a:pPr>
            <a:r>
              <a:rPr lang="en-US" sz="1200" dirty="0">
                <a:solidFill>
                  <a:srgbClr val="2D2D2D"/>
                </a:solidFill>
                <a:latin typeface="Microsoft YaHei" pitchFamily="34" charset="0"/>
                <a:ea typeface="Microsoft YaHei" pitchFamily="34" charset="-122"/>
                <a:cs typeface="Microsoft YaHei" pitchFamily="34" charset="-120"/>
              </a:rPr>
              <a:t>找出未确定的变量，消除矛盾</a:t>
            </a:r>
            <a:endParaRPr lang="en-US" sz="1200" dirty="0"/>
          </a:p>
        </p:txBody>
      </p:sp>
      <p:pic>
        <p:nvPicPr>
          <p:cNvPr id="19" name="Image 0" descr="p10_1">    </p:cNvPr>
          <p:cNvPicPr>
            <a:picLocks noChangeAspect="1"/>
          </p:cNvPicPr>
          <p:nvPr/>
        </p:nvPicPr>
        <p:blipFill>
          <a:blip r:embed="rId1"/>
          <a:stretch>
            <a:fillRect/>
          </a:stretch>
        </p:blipFill>
        <p:spPr>
          <a:xfrm>
            <a:off x="411480" y="3383280"/>
            <a:ext cx="8321040" cy="11887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消退阻抗现象研究案例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Mellgren et al. (1978)</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14</a:t>
            </a:r>
            <a:endParaRPr lang="en-US" sz="800" dirty="0"/>
          </a:p>
        </p:txBody>
      </p:sp>
      <p:sp>
        <p:nvSpPr>
          <p:cNvPr id="9" name="Text 7"/>
          <p:cNvSpPr txBox="1"/>
          <p:nvPr/>
        </p:nvSpPr>
        <p:spPr>
          <a:xfrm>
            <a:off x="411480" y="1143000"/>
            <a:ext cx="8321040" cy="73152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梅尔格伦等人（1978）研究持续强化、无强化和部分强化程序以不同次序呈现时对消退阻抗现象的影响。先前研究结果存在冲突，有的显示消退阻抗减少，有的显示增加。</a:t>
            </a:r>
            <a:endParaRPr lang="en-US" sz="1250" dirty="0"/>
          </a:p>
        </p:txBody>
      </p:sp>
      <p:sp>
        <p:nvSpPr>
          <p:cNvPr id="10" name="Shape 8"/>
          <p:cNvSpPr/>
          <p:nvPr/>
        </p:nvSpPr>
        <p:spPr>
          <a:xfrm>
            <a:off x="411480" y="1965960"/>
            <a:ext cx="4105656" cy="1783080"/>
          </a:xfrm>
          <a:prstGeom prst="rect">
            <a:avLst/>
          </a:prstGeom>
          <a:solidFill>
            <a:srgbClr val="40E0D0"/>
          </a:solidFill>
          <a:ln/>
        </p:spPr>
      </p:sp>
      <p:sp>
        <p:nvSpPr>
          <p:cNvPr id="11" name="Text 9"/>
          <p:cNvSpPr txBox="1"/>
          <p:nvPr/>
        </p:nvSpPr>
        <p:spPr>
          <a:xfrm>
            <a:off x="612648" y="2130552"/>
            <a:ext cx="3739896"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研究发现</a:t>
            </a:r>
            <a:endParaRPr lang="en-US" sz="1500" dirty="0"/>
          </a:p>
        </p:txBody>
      </p:sp>
      <p:sp>
        <p:nvSpPr>
          <p:cNvPr id="12" name="Text 10"/>
          <p:cNvSpPr txBox="1"/>
          <p:nvPr/>
        </p:nvSpPr>
        <p:spPr>
          <a:xfrm>
            <a:off x="612648" y="2569464"/>
            <a:ext cx="3721608" cy="106984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2D2D2D"/>
                </a:solidFill>
                <a:latin typeface="Microsoft YaHei" pitchFamily="34" charset="0"/>
                <a:ea typeface="Microsoft YaHei" pitchFamily="34" charset="-122"/>
                <a:cs typeface="Microsoft YaHei" pitchFamily="34" charset="-120"/>
              </a:rPr>
              <a:t>当大量无强化试验出现在部分强化试验之前时，会出现最大强度的消退阻抗。</a:t>
            </a:r>
            <a:endParaRPr lang="en-US" sz="1200" dirty="0"/>
          </a:p>
        </p:txBody>
      </p:sp>
      <p:sp>
        <p:nvSpPr>
          <p:cNvPr id="13" name="Shape 11"/>
          <p:cNvSpPr/>
          <p:nvPr/>
        </p:nvSpPr>
        <p:spPr>
          <a:xfrm>
            <a:off x="4626864" y="1965960"/>
            <a:ext cx="4105656" cy="1783080"/>
          </a:xfrm>
          <a:prstGeom prst="rect">
            <a:avLst/>
          </a:prstGeom>
          <a:solidFill>
            <a:srgbClr val="2D2D2D"/>
          </a:solidFill>
          <a:ln/>
        </p:spPr>
      </p:sp>
      <p:sp>
        <p:nvSpPr>
          <p:cNvPr id="14" name="Text 12"/>
          <p:cNvSpPr txBox="1"/>
          <p:nvPr/>
        </p:nvSpPr>
        <p:spPr>
          <a:xfrm>
            <a:off x="4828032" y="2130552"/>
            <a:ext cx="3739896" cy="3657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未解决的问题</a:t>
            </a:r>
            <a:endParaRPr lang="en-US" sz="1500" dirty="0"/>
          </a:p>
        </p:txBody>
      </p:sp>
      <p:sp>
        <p:nvSpPr>
          <p:cNvPr id="15" name="Text 13"/>
          <p:cNvSpPr txBox="1"/>
          <p:nvPr/>
        </p:nvSpPr>
        <p:spPr>
          <a:xfrm>
            <a:off x="4828032" y="2569464"/>
            <a:ext cx="3721608" cy="106984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FFFFFF"/>
                </a:solidFill>
                <a:latin typeface="Microsoft YaHei" pitchFamily="34" charset="0"/>
                <a:ea typeface="Microsoft YaHei" pitchFamily="34" charset="-122"/>
                <a:cs typeface="Microsoft YaHei" pitchFamily="34" charset="-120"/>
              </a:rPr>
              <a:t>为什么在部分奖励试验之前安排大量无奖励试验时，消退阻抗现象会增加？这导致需要另一项研究。</a:t>
            </a:r>
            <a:endParaRPr lang="en-US" sz="1200" dirty="0"/>
          </a:p>
        </p:txBody>
      </p:sp>
      <p:sp>
        <p:nvSpPr>
          <p:cNvPr id="16" name="Shape 14"/>
          <p:cNvSpPr/>
          <p:nvPr/>
        </p:nvSpPr>
        <p:spPr>
          <a:xfrm>
            <a:off x="411480" y="3858768"/>
            <a:ext cx="8321040" cy="713232"/>
          </a:xfrm>
          <a:prstGeom prst="roundRect">
            <a:avLst>
              <a:gd name="adj" fmla="val 15385"/>
            </a:avLst>
          </a:prstGeom>
          <a:solidFill>
            <a:srgbClr val="EBEBEB"/>
          </a:solidFill>
          <a:ln/>
        </p:spPr>
      </p:sp>
      <p:sp>
        <p:nvSpPr>
          <p:cNvPr id="17" name="Text 15"/>
          <p:cNvSpPr txBox="1"/>
          <p:nvPr/>
        </p:nvSpPr>
        <p:spPr>
          <a:xfrm>
            <a:off x="640080" y="3858768"/>
            <a:ext cx="7863840" cy="713232"/>
          </a:xfrm>
          <a:prstGeom prst="rect">
            <a:avLst/>
          </a:prstGeom>
          <a:noFill/>
          <a:ln/>
        </p:spPr>
        <p:txBody>
          <a:bodyPr wrap="square" lIns="0" tIns="0" rIns="0" bIns="0" rtlCol="0" anchor="ctr"/>
          <a:lstStyle/>
          <a:p>
            <a:pPr indent="0" marL="0">
              <a:buNone/>
            </a:pPr>
            <a:r>
              <a:rPr lang="en-US" sz="1200" dirty="0">
                <a:solidFill>
                  <a:srgbClr val="2D2D2D"/>
                </a:solidFill>
                <a:latin typeface="Microsoft YaHei" pitchFamily="34" charset="0"/>
                <a:ea typeface="Microsoft YaHei" pitchFamily="34" charset="-122"/>
                <a:cs typeface="Microsoft YaHei" pitchFamily="34" charset="-120"/>
              </a:rPr>
              <a:t>正如你看到的，每一项研究都会产生后续研究，所以人们能够终其一生来研究某个特定领域。研究正是这样一个连续的过程。</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理论：研究的指导工具</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Theory</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15</a:t>
            </a:r>
            <a:endParaRPr lang="en-US" sz="800" dirty="0"/>
          </a:p>
        </p:txBody>
      </p:sp>
      <p:pic>
        <p:nvPicPr>
          <p:cNvPr id="9" name="Image 0" descr="p12_2">    </p:cNvPr>
          <p:cNvPicPr>
            <a:picLocks noChangeAspect="1"/>
          </p:cNvPicPr>
          <p:nvPr/>
        </p:nvPicPr>
        <p:blipFill>
          <a:blip r:embed="rId1"/>
          <a:stretch>
            <a:fillRect/>
          </a:stretch>
        </p:blipFill>
        <p:spPr>
          <a:xfrm>
            <a:off x="411480" y="1188720"/>
            <a:ext cx="8321040" cy="1051560"/>
          </a:xfrm>
          <a:prstGeom prst="rect">
            <a:avLst/>
          </a:prstGeom>
        </p:spPr>
      </p:pic>
      <p:sp>
        <p:nvSpPr>
          <p:cNvPr id="10" name="Text 7"/>
          <p:cNvSpPr txBox="1"/>
          <p:nvPr/>
        </p:nvSpPr>
        <p:spPr>
          <a:xfrm>
            <a:off x="411480" y="2377440"/>
            <a:ext cx="8321040" cy="868680"/>
          </a:xfrm>
          <a:prstGeom prst="rect">
            <a:avLst/>
          </a:prstGeom>
          <a:noFill/>
          <a:ln/>
        </p:spPr>
        <p:txBody>
          <a:bodyPr wrap="square" lIns="0" tIns="0" rIns="0" bIns="0" rtlCol="0" anchor="t"/>
          <a:lstStyle/>
          <a:p>
            <a:pPr indent="0" marL="0">
              <a:lnSpc>
                <a:spcPct val="140000"/>
              </a:lnSpc>
              <a:buNone/>
            </a:pPr>
            <a:r>
              <a:rPr lang="en-US" sz="1300" dirty="0">
                <a:solidFill>
                  <a:srgbClr val="2D2D2D"/>
                </a:solidFill>
                <a:latin typeface="Microsoft YaHei" pitchFamily="34" charset="0"/>
                <a:ea typeface="Microsoft YaHei" pitchFamily="34" charset="-122"/>
                <a:cs typeface="Microsoft YaHei" pitchFamily="34" charset="-120"/>
              </a:rPr>
              <a:t>理论是一组按逻辑组织起来、存在演绎相关关系的法则。理论既是工具，又是目标。理论的工具功能在于对研究有指导作用，可以超越目标功能、启示新关系和做出新预测。</a:t>
            </a:r>
            <a:endParaRPr lang="en-US" sz="1300" dirty="0"/>
          </a:p>
        </p:txBody>
      </p:sp>
      <p:sp>
        <p:nvSpPr>
          <p:cNvPr id="11" name="Shape 8"/>
          <p:cNvSpPr/>
          <p:nvPr/>
        </p:nvSpPr>
        <p:spPr>
          <a:xfrm>
            <a:off x="411480" y="3429000"/>
            <a:ext cx="8321040" cy="1143000"/>
          </a:xfrm>
          <a:prstGeom prst="rect">
            <a:avLst/>
          </a:prstGeom>
          <a:solidFill>
            <a:srgbClr val="40E0D0"/>
          </a:solidFill>
          <a:ln/>
        </p:spPr>
      </p:sp>
      <p:sp>
        <p:nvSpPr>
          <p:cNvPr id="12" name="Shape 9"/>
          <p:cNvSpPr/>
          <p:nvPr/>
        </p:nvSpPr>
        <p:spPr>
          <a:xfrm>
            <a:off x="594360" y="3845052"/>
            <a:ext cx="822960" cy="310896"/>
          </a:xfrm>
          <a:prstGeom prst="rect">
            <a:avLst/>
          </a:prstGeom>
          <a:solidFill>
            <a:srgbClr val="2D2D2D"/>
          </a:solidFill>
          <a:ln/>
        </p:spPr>
      </p:sp>
      <p:sp>
        <p:nvSpPr>
          <p:cNvPr id="13" name="Text 10"/>
          <p:cNvSpPr txBox="1"/>
          <p:nvPr/>
        </p:nvSpPr>
        <p:spPr>
          <a:xfrm>
            <a:off x="594360" y="3845052"/>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定义</a:t>
            </a:r>
            <a:endParaRPr lang="en-US" sz="1100" dirty="0"/>
          </a:p>
        </p:txBody>
      </p:sp>
      <p:sp>
        <p:nvSpPr>
          <p:cNvPr id="14" name="Text 11"/>
          <p:cNvSpPr txBox="1"/>
          <p:nvPr/>
        </p:nvSpPr>
        <p:spPr>
          <a:xfrm>
            <a:off x="1600200" y="3429000"/>
            <a:ext cx="6949440" cy="1143000"/>
          </a:xfrm>
          <a:prstGeom prst="rect">
            <a:avLst/>
          </a:prstGeom>
          <a:noFill/>
          <a:ln/>
        </p:spPr>
        <p:txBody>
          <a:bodyPr wrap="square" lIns="0" tIns="0" rIns="0" bIns="0" rtlCol="0" anchor="ctr"/>
          <a:lstStyle/>
          <a:p>
            <a:pPr indent="0" marL="0">
              <a:lnSpc>
                <a:spcPct val="130000"/>
              </a:lnSpc>
              <a:buNone/>
            </a:pPr>
            <a:r>
              <a:rPr lang="en-US" sz="1150" dirty="0">
                <a:solidFill>
                  <a:srgbClr val="2D2D2D"/>
                </a:solidFill>
                <a:latin typeface="Microsoft YaHei" pitchFamily="34" charset="0"/>
                <a:ea typeface="Microsoft YaHei" pitchFamily="34" charset="-122"/>
                <a:cs typeface="Microsoft YaHei" pitchFamily="34" charset="-120"/>
              </a:rPr>
              <a:t>理论是一组按照逻辑组织起来、存在演绎相关关系的法则。</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530352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认知失调理论的研究启示</a:t>
            </a:r>
            <a:endParaRPr lang="en-US" sz="2200" dirty="0"/>
          </a:p>
        </p:txBody>
      </p:sp>
      <p:sp>
        <p:nvSpPr>
          <p:cNvPr id="3" name="Text 1"/>
          <p:cNvSpPr txBox="1"/>
          <p:nvPr/>
        </p:nvSpPr>
        <p:spPr>
          <a:xfrm>
            <a:off x="411480" y="731520"/>
            <a:ext cx="530352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Cognitive Dissonance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16</a:t>
            </a:r>
            <a:endParaRPr lang="en-US" sz="800" dirty="0"/>
          </a:p>
        </p:txBody>
      </p:sp>
      <p:pic>
        <p:nvPicPr>
          <p:cNvPr id="9" name="Image 0" descr="p13_1">    </p:cNvPr>
          <p:cNvPicPr>
            <a:picLocks noChangeAspect="1"/>
          </p:cNvPicPr>
          <p:nvPr/>
        </p:nvPicPr>
        <p:blipFill>
          <a:blip r:embed="rId1"/>
          <a:stretch>
            <a:fillRect/>
          </a:stretch>
        </p:blipFill>
        <p:spPr>
          <a:xfrm>
            <a:off x="5989320" y="0"/>
            <a:ext cx="3154680" cy="4636008"/>
          </a:xfrm>
          <a:prstGeom prst="rect">
            <a:avLst/>
          </a:prstGeom>
        </p:spPr>
      </p:pic>
      <p:sp>
        <p:nvSpPr>
          <p:cNvPr id="10" name="Text 7"/>
          <p:cNvSpPr txBox="1"/>
          <p:nvPr/>
        </p:nvSpPr>
        <p:spPr>
          <a:xfrm>
            <a:off x="411480" y="1143000"/>
            <a:ext cx="5394960" cy="731520"/>
          </a:xfrm>
          <a:prstGeom prst="rect">
            <a:avLst/>
          </a:prstGeom>
          <a:noFill/>
          <a:ln/>
        </p:spPr>
        <p:txBody>
          <a:bodyPr wrap="square" lIns="0" tIns="0" rIns="0" bIns="0" rtlCol="0" anchor="t"/>
          <a:lstStyle/>
          <a:p>
            <a:pPr indent="0" marL="0">
              <a:lnSpc>
                <a:spcPct val="135000"/>
              </a:lnSpc>
              <a:buNone/>
            </a:pPr>
            <a:r>
              <a:rPr lang="en-US" sz="1200" dirty="0">
                <a:solidFill>
                  <a:srgbClr val="2D2D2D"/>
                </a:solidFill>
                <a:latin typeface="Microsoft YaHei" pitchFamily="34" charset="0"/>
                <a:ea typeface="Microsoft YaHei" pitchFamily="34" charset="-122"/>
                <a:cs typeface="Microsoft YaHei" pitchFamily="34" charset="-120"/>
              </a:rPr>
              <a:t>利昂·费斯廷格（1957）的认知失调理论在发表后的十年里激增了大量研究。费斯廷格和卡尔史密斯（1959）基于该理论进行了一项研究。</a:t>
            </a:r>
            <a:endParaRPr lang="en-US" sz="1200" dirty="0"/>
          </a:p>
        </p:txBody>
      </p:sp>
      <p:sp>
        <p:nvSpPr>
          <p:cNvPr id="11" name="Shape 8"/>
          <p:cNvSpPr/>
          <p:nvPr/>
        </p:nvSpPr>
        <p:spPr>
          <a:xfrm>
            <a:off x="411480" y="2011680"/>
            <a:ext cx="731520" cy="777240"/>
          </a:xfrm>
          <a:prstGeom prst="rect">
            <a:avLst/>
          </a:prstGeom>
          <a:solidFill>
            <a:srgbClr val="40E0D0"/>
          </a:solidFill>
          <a:ln/>
        </p:spPr>
      </p:sp>
      <p:sp>
        <p:nvSpPr>
          <p:cNvPr id="12" name="Text 9"/>
          <p:cNvSpPr txBox="1"/>
          <p:nvPr/>
        </p:nvSpPr>
        <p:spPr>
          <a:xfrm>
            <a:off x="411480" y="2011680"/>
            <a:ext cx="731520" cy="777240"/>
          </a:xfrm>
          <a:prstGeom prst="rect">
            <a:avLst/>
          </a:prstGeom>
          <a:noFill/>
          <a:ln/>
        </p:spPr>
        <p:txBody>
          <a:bodyPr wrap="square" lIns="0" tIns="0" rIns="0" bIns="0" rtlCol="0" anchor="ctr"/>
          <a:lstStyle/>
          <a:p>
            <a:pPr algn="ctr" indent="0" marL="0">
              <a:buNone/>
            </a:pPr>
            <a:r>
              <a:rPr lang="en-US" sz="2400" b="1" dirty="0">
                <a:solidFill>
                  <a:srgbClr val="2D2D2D"/>
                </a:solidFill>
                <a:latin typeface="Poppins" pitchFamily="34" charset="0"/>
                <a:ea typeface="Poppins" pitchFamily="34" charset="-122"/>
                <a:cs typeface="Poppins" pitchFamily="34" charset="-120"/>
              </a:rPr>
              <a:t>1</a:t>
            </a:r>
            <a:endParaRPr lang="en-US" sz="2400" dirty="0"/>
          </a:p>
        </p:txBody>
      </p:sp>
      <p:sp>
        <p:nvSpPr>
          <p:cNvPr id="13" name="Shape 10"/>
          <p:cNvSpPr/>
          <p:nvPr/>
        </p:nvSpPr>
        <p:spPr>
          <a:xfrm>
            <a:off x="1188720" y="2011680"/>
            <a:ext cx="4617720" cy="777240"/>
          </a:xfrm>
          <a:prstGeom prst="rect">
            <a:avLst/>
          </a:prstGeom>
          <a:solidFill>
            <a:srgbClr val="EBEBEB"/>
          </a:solidFill>
          <a:ln/>
        </p:spPr>
      </p:sp>
      <p:sp>
        <p:nvSpPr>
          <p:cNvPr id="14" name="Text 11"/>
          <p:cNvSpPr txBox="1"/>
          <p:nvPr/>
        </p:nvSpPr>
        <p:spPr>
          <a:xfrm>
            <a:off x="1371600" y="2066544"/>
            <a:ext cx="4297680" cy="329184"/>
          </a:xfrm>
          <a:prstGeom prst="rect">
            <a:avLst/>
          </a:prstGeom>
          <a:noFill/>
          <a:ln/>
        </p:spPr>
        <p:txBody>
          <a:bodyPr wrap="square" lIns="0" tIns="0" rIns="0" bIns="0" rtlCol="0" anchor="ctr"/>
          <a:lstStyle/>
          <a:p>
            <a:pPr indent="0" marL="0">
              <a:buNone/>
            </a:pPr>
            <a:r>
              <a:rPr lang="en-US" sz="1300" b="1" dirty="0">
                <a:solidFill>
                  <a:srgbClr val="2D2D2D"/>
                </a:solidFill>
                <a:latin typeface="Microsoft YaHei" pitchFamily="34" charset="0"/>
                <a:ea typeface="Microsoft YaHei" pitchFamily="34" charset="-122"/>
                <a:cs typeface="Microsoft YaHei" pitchFamily="34" charset="-120"/>
              </a:rPr>
              <a:t>实验任务</a:t>
            </a:r>
            <a:endParaRPr lang="en-US" sz="1300" dirty="0"/>
          </a:p>
        </p:txBody>
      </p:sp>
      <p:sp>
        <p:nvSpPr>
          <p:cNvPr id="15" name="Text 12"/>
          <p:cNvSpPr txBox="1"/>
          <p:nvPr/>
        </p:nvSpPr>
        <p:spPr>
          <a:xfrm>
            <a:off x="1371600" y="2395728"/>
            <a:ext cx="4297680" cy="329184"/>
          </a:xfrm>
          <a:prstGeom prst="rect">
            <a:avLst/>
          </a:prstGeom>
          <a:noFill/>
          <a:ln/>
        </p:spPr>
        <p:txBody>
          <a:bodyPr wrap="square" lIns="0" tIns="0" rIns="0" bIns="0" rtlCol="0" anchor="ctr"/>
          <a:lstStyle/>
          <a:p>
            <a:pPr indent="0" marL="0">
              <a:buNone/>
            </a:pPr>
            <a:r>
              <a:rPr lang="en-US" sz="1100" dirty="0">
                <a:solidFill>
                  <a:srgbClr val="2D2D2D"/>
                </a:solidFill>
                <a:latin typeface="Microsoft YaHei" pitchFamily="34" charset="0"/>
                <a:ea typeface="Microsoft YaHei" pitchFamily="34" charset="-122"/>
                <a:cs typeface="Microsoft YaHei" pitchFamily="34" charset="-120"/>
              </a:rPr>
              <a:t>参与者完成枯燥任务后，告诉实验助手任务很有趣</a:t>
            </a:r>
            <a:endParaRPr lang="en-US" sz="1100" dirty="0"/>
          </a:p>
        </p:txBody>
      </p:sp>
      <p:sp>
        <p:nvSpPr>
          <p:cNvPr id="16" name="Shape 13"/>
          <p:cNvSpPr/>
          <p:nvPr/>
        </p:nvSpPr>
        <p:spPr>
          <a:xfrm>
            <a:off x="411480" y="2880360"/>
            <a:ext cx="731520" cy="777240"/>
          </a:xfrm>
          <a:prstGeom prst="rect">
            <a:avLst/>
          </a:prstGeom>
          <a:solidFill>
            <a:srgbClr val="40E0D0"/>
          </a:solidFill>
          <a:ln/>
        </p:spPr>
      </p:sp>
      <p:sp>
        <p:nvSpPr>
          <p:cNvPr id="17" name="Text 14"/>
          <p:cNvSpPr txBox="1"/>
          <p:nvPr/>
        </p:nvSpPr>
        <p:spPr>
          <a:xfrm>
            <a:off x="411480" y="2880360"/>
            <a:ext cx="731520" cy="777240"/>
          </a:xfrm>
          <a:prstGeom prst="rect">
            <a:avLst/>
          </a:prstGeom>
          <a:noFill/>
          <a:ln/>
        </p:spPr>
        <p:txBody>
          <a:bodyPr wrap="square" lIns="0" tIns="0" rIns="0" bIns="0" rtlCol="0" anchor="ctr"/>
          <a:lstStyle/>
          <a:p>
            <a:pPr algn="ctr" indent="0" marL="0">
              <a:buNone/>
            </a:pPr>
            <a:r>
              <a:rPr lang="en-US" sz="2400" b="1" dirty="0">
                <a:solidFill>
                  <a:srgbClr val="2D2D2D"/>
                </a:solidFill>
                <a:latin typeface="Poppins" pitchFamily="34" charset="0"/>
                <a:ea typeface="Poppins" pitchFamily="34" charset="-122"/>
                <a:cs typeface="Poppins" pitchFamily="34" charset="-120"/>
              </a:rPr>
              <a:t>2</a:t>
            </a:r>
            <a:endParaRPr lang="en-US" sz="2400" dirty="0"/>
          </a:p>
        </p:txBody>
      </p:sp>
      <p:sp>
        <p:nvSpPr>
          <p:cNvPr id="18" name="Shape 15"/>
          <p:cNvSpPr/>
          <p:nvPr/>
        </p:nvSpPr>
        <p:spPr>
          <a:xfrm>
            <a:off x="1188720" y="2880360"/>
            <a:ext cx="4617720" cy="777240"/>
          </a:xfrm>
          <a:prstGeom prst="rect">
            <a:avLst/>
          </a:prstGeom>
          <a:solidFill>
            <a:srgbClr val="EBEBEB"/>
          </a:solidFill>
          <a:ln/>
        </p:spPr>
      </p:sp>
      <p:sp>
        <p:nvSpPr>
          <p:cNvPr id="19" name="Text 16"/>
          <p:cNvSpPr txBox="1"/>
          <p:nvPr/>
        </p:nvSpPr>
        <p:spPr>
          <a:xfrm>
            <a:off x="1371600" y="2935224"/>
            <a:ext cx="4297680" cy="329184"/>
          </a:xfrm>
          <a:prstGeom prst="rect">
            <a:avLst/>
          </a:prstGeom>
          <a:noFill/>
          <a:ln/>
        </p:spPr>
        <p:txBody>
          <a:bodyPr wrap="square" lIns="0" tIns="0" rIns="0" bIns="0" rtlCol="0" anchor="ctr"/>
          <a:lstStyle/>
          <a:p>
            <a:pPr indent="0" marL="0">
              <a:buNone/>
            </a:pPr>
            <a:r>
              <a:rPr lang="en-US" sz="1300" b="1" dirty="0">
                <a:solidFill>
                  <a:srgbClr val="2D2D2D"/>
                </a:solidFill>
                <a:latin typeface="Microsoft YaHei" pitchFamily="34" charset="0"/>
                <a:ea typeface="Microsoft YaHei" pitchFamily="34" charset="-122"/>
                <a:cs typeface="Microsoft YaHei" pitchFamily="34" charset="-120"/>
              </a:rPr>
              <a:t>报酬差异</a:t>
            </a:r>
            <a:endParaRPr lang="en-US" sz="1300" dirty="0"/>
          </a:p>
        </p:txBody>
      </p:sp>
      <p:sp>
        <p:nvSpPr>
          <p:cNvPr id="20" name="Text 17"/>
          <p:cNvSpPr txBox="1"/>
          <p:nvPr/>
        </p:nvSpPr>
        <p:spPr>
          <a:xfrm>
            <a:off x="1371600" y="3264408"/>
            <a:ext cx="4297680" cy="329184"/>
          </a:xfrm>
          <a:prstGeom prst="rect">
            <a:avLst/>
          </a:prstGeom>
          <a:noFill/>
          <a:ln/>
        </p:spPr>
        <p:txBody>
          <a:bodyPr wrap="square" lIns="0" tIns="0" rIns="0" bIns="0" rtlCol="0" anchor="ctr"/>
          <a:lstStyle/>
          <a:p>
            <a:pPr indent="0" marL="0">
              <a:buNone/>
            </a:pPr>
            <a:r>
              <a:rPr lang="en-US" sz="1100" dirty="0">
                <a:solidFill>
                  <a:srgbClr val="2D2D2D"/>
                </a:solidFill>
                <a:latin typeface="Microsoft YaHei" pitchFamily="34" charset="0"/>
                <a:ea typeface="Microsoft YaHei" pitchFamily="34" charset="-122"/>
                <a:cs typeface="Microsoft YaHei" pitchFamily="34" charset="-120"/>
              </a:rPr>
              <a:t>一组获得1美元，另一组获得20美元</a:t>
            </a:r>
            <a:endParaRPr lang="en-US" sz="1100" dirty="0"/>
          </a:p>
        </p:txBody>
      </p:sp>
      <p:sp>
        <p:nvSpPr>
          <p:cNvPr id="21" name="Shape 18"/>
          <p:cNvSpPr/>
          <p:nvPr/>
        </p:nvSpPr>
        <p:spPr>
          <a:xfrm>
            <a:off x="411480" y="3749040"/>
            <a:ext cx="731520" cy="777240"/>
          </a:xfrm>
          <a:prstGeom prst="rect">
            <a:avLst/>
          </a:prstGeom>
          <a:solidFill>
            <a:srgbClr val="2D2D2D"/>
          </a:solidFill>
          <a:ln/>
        </p:spPr>
      </p:sp>
      <p:sp>
        <p:nvSpPr>
          <p:cNvPr id="22" name="Text 19"/>
          <p:cNvSpPr txBox="1"/>
          <p:nvPr/>
        </p:nvSpPr>
        <p:spPr>
          <a:xfrm>
            <a:off x="411480" y="3749040"/>
            <a:ext cx="731520" cy="777240"/>
          </a:xfrm>
          <a:prstGeom prst="rect">
            <a:avLst/>
          </a:prstGeom>
          <a:noFill/>
          <a:ln/>
        </p:spPr>
        <p:txBody>
          <a:bodyPr wrap="square" lIns="0" tIns="0" rIns="0" bIns="0" rtlCol="0" anchor="ctr"/>
          <a:lstStyle/>
          <a:p>
            <a:pPr algn="ctr" indent="0" marL="0">
              <a:buNone/>
            </a:pPr>
            <a:r>
              <a:rPr lang="en-US" sz="2400" b="1" dirty="0">
                <a:solidFill>
                  <a:srgbClr val="40E0D0"/>
                </a:solidFill>
                <a:latin typeface="Poppins" pitchFamily="34" charset="0"/>
                <a:ea typeface="Poppins" pitchFamily="34" charset="-122"/>
                <a:cs typeface="Poppins" pitchFamily="34" charset="-120"/>
              </a:rPr>
              <a:t>3</a:t>
            </a:r>
            <a:endParaRPr lang="en-US" sz="2400" dirty="0"/>
          </a:p>
        </p:txBody>
      </p:sp>
      <p:sp>
        <p:nvSpPr>
          <p:cNvPr id="23" name="Shape 20"/>
          <p:cNvSpPr/>
          <p:nvPr/>
        </p:nvSpPr>
        <p:spPr>
          <a:xfrm>
            <a:off x="1188720" y="3749040"/>
            <a:ext cx="4617720" cy="777240"/>
          </a:xfrm>
          <a:prstGeom prst="rect">
            <a:avLst/>
          </a:prstGeom>
          <a:solidFill>
            <a:srgbClr val="EBEBEB"/>
          </a:solidFill>
          <a:ln/>
        </p:spPr>
      </p:sp>
      <p:sp>
        <p:nvSpPr>
          <p:cNvPr id="24" name="Text 21"/>
          <p:cNvSpPr txBox="1"/>
          <p:nvPr/>
        </p:nvSpPr>
        <p:spPr>
          <a:xfrm>
            <a:off x="1371600" y="3803904"/>
            <a:ext cx="4297680" cy="329184"/>
          </a:xfrm>
          <a:prstGeom prst="rect">
            <a:avLst/>
          </a:prstGeom>
          <a:noFill/>
          <a:ln/>
        </p:spPr>
        <p:txBody>
          <a:bodyPr wrap="square" lIns="0" tIns="0" rIns="0" bIns="0" rtlCol="0" anchor="ctr"/>
          <a:lstStyle/>
          <a:p>
            <a:pPr indent="0" marL="0">
              <a:buNone/>
            </a:pPr>
            <a:r>
              <a:rPr lang="en-US" sz="1300" b="1" dirty="0">
                <a:solidFill>
                  <a:srgbClr val="2D2D2D"/>
                </a:solidFill>
                <a:latin typeface="Microsoft YaHei" pitchFamily="34" charset="0"/>
                <a:ea typeface="Microsoft YaHei" pitchFamily="34" charset="-122"/>
                <a:cs typeface="Microsoft YaHei" pitchFamily="34" charset="-120"/>
              </a:rPr>
              <a:t>预测结果</a:t>
            </a:r>
            <a:endParaRPr lang="en-US" sz="1300" dirty="0"/>
          </a:p>
        </p:txBody>
      </p:sp>
      <p:sp>
        <p:nvSpPr>
          <p:cNvPr id="25" name="Text 22"/>
          <p:cNvSpPr txBox="1"/>
          <p:nvPr/>
        </p:nvSpPr>
        <p:spPr>
          <a:xfrm>
            <a:off x="1371600" y="4133088"/>
            <a:ext cx="4297680" cy="329184"/>
          </a:xfrm>
          <a:prstGeom prst="rect">
            <a:avLst/>
          </a:prstGeom>
          <a:noFill/>
          <a:ln/>
        </p:spPr>
        <p:txBody>
          <a:bodyPr wrap="square" lIns="0" tIns="0" rIns="0" bIns="0" rtlCol="0" anchor="ctr"/>
          <a:lstStyle/>
          <a:p>
            <a:pPr indent="0" marL="0">
              <a:buNone/>
            </a:pPr>
            <a:r>
              <a:rPr lang="en-US" sz="1100" dirty="0">
                <a:solidFill>
                  <a:srgbClr val="2D2D2D"/>
                </a:solidFill>
                <a:latin typeface="Microsoft YaHei" pitchFamily="34" charset="0"/>
                <a:ea typeface="Microsoft YaHei" pitchFamily="34" charset="-122"/>
                <a:cs typeface="Microsoft YaHei" pitchFamily="34" charset="-120"/>
              </a:rPr>
              <a:t>获得1美元的参与者比获得20美元的更喜欢实验任务</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形成研究思路的思维方式</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Mindset</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17</a:t>
            </a:r>
            <a:endParaRPr lang="en-US" sz="800" dirty="0"/>
          </a:p>
        </p:txBody>
      </p:sp>
      <p:sp>
        <p:nvSpPr>
          <p:cNvPr id="9" name="Text 7"/>
          <p:cNvSpPr txBox="1"/>
          <p:nvPr/>
        </p:nvSpPr>
        <p:spPr>
          <a:xfrm>
            <a:off x="411480" y="1097280"/>
            <a:ext cx="8321040" cy="731520"/>
          </a:xfrm>
          <a:prstGeom prst="rect">
            <a:avLst/>
          </a:prstGeom>
          <a:noFill/>
          <a:ln/>
        </p:spPr>
        <p:txBody>
          <a:bodyPr wrap="square" lIns="0" tIns="0" rIns="0" bIns="0" rtlCol="0" anchor="ctr"/>
          <a:lstStyle/>
          <a:p>
            <a:pPr indent="0" marL="0">
              <a:buNone/>
            </a:pPr>
            <a:r>
              <a:rPr lang="en-US" sz="2800" b="1" dirty="0">
                <a:solidFill>
                  <a:srgbClr val="2D2D2D"/>
                </a:solidFill>
                <a:latin typeface="Microsoft YaHei" pitchFamily="34" charset="0"/>
                <a:ea typeface="Microsoft YaHei" pitchFamily="34" charset="-122"/>
                <a:cs typeface="Microsoft YaHei" pitchFamily="34" charset="-120"/>
              </a:rPr>
              <a:t>养成对生活充满问题和好奇的习惯</a:t>
            </a:r>
            <a:endParaRPr lang="en-US" sz="2800" dirty="0"/>
          </a:p>
        </p:txBody>
      </p:sp>
      <p:sp>
        <p:nvSpPr>
          <p:cNvPr id="10" name="Shape 8"/>
          <p:cNvSpPr/>
          <p:nvPr/>
        </p:nvSpPr>
        <p:spPr>
          <a:xfrm>
            <a:off x="411480" y="1874520"/>
            <a:ext cx="457200" cy="64008"/>
          </a:xfrm>
          <a:prstGeom prst="rect">
            <a:avLst/>
          </a:prstGeom>
          <a:solidFill>
            <a:srgbClr val="40E0D0"/>
          </a:solidFill>
          <a:ln/>
        </p:spPr>
      </p:sp>
      <p:sp>
        <p:nvSpPr>
          <p:cNvPr id="11" name="Text 9"/>
          <p:cNvSpPr txBox="1"/>
          <p:nvPr/>
        </p:nvSpPr>
        <p:spPr>
          <a:xfrm>
            <a:off x="411480" y="2011680"/>
            <a:ext cx="8321040" cy="640080"/>
          </a:xfrm>
          <a:prstGeom prst="rect">
            <a:avLst/>
          </a:prstGeom>
          <a:noFill/>
          <a:ln/>
        </p:spPr>
        <p:txBody>
          <a:bodyPr wrap="square" lIns="0" tIns="0" rIns="0" bIns="0" rtlCol="0" anchor="t"/>
          <a:lstStyle/>
          <a:p>
            <a:pPr indent="0" marL="0">
              <a:lnSpc>
                <a:spcPct val="135000"/>
              </a:lnSpc>
              <a:buNone/>
            </a:pPr>
            <a:r>
              <a:rPr lang="en-US" sz="1200" dirty="0">
                <a:solidFill>
                  <a:srgbClr val="2D2D2D"/>
                </a:solidFill>
                <a:latin typeface="Microsoft YaHei" pitchFamily="34" charset="0"/>
                <a:ea typeface="Microsoft YaHei" pitchFamily="34" charset="-122"/>
                <a:cs typeface="Microsoft YaHei" pitchFamily="34" charset="-120"/>
              </a:rPr>
              <a:t>想法形成是科学研究的最初阶段。产生研究思路的四个来源几乎都不是仅靠接触其表面就能激发创造性想法的。重要的是这些想法的形成。</a:t>
            </a:r>
            <a:endParaRPr lang="en-US" sz="1200" dirty="0"/>
          </a:p>
        </p:txBody>
      </p:sp>
      <p:sp>
        <p:nvSpPr>
          <p:cNvPr id="12" name="Shape 10"/>
          <p:cNvSpPr/>
          <p:nvPr/>
        </p:nvSpPr>
        <p:spPr>
          <a:xfrm>
            <a:off x="411480" y="2743200"/>
            <a:ext cx="5120640" cy="1828800"/>
          </a:xfrm>
          <a:prstGeom prst="rect">
            <a:avLst/>
          </a:prstGeom>
          <a:solidFill>
            <a:srgbClr val="EBEBEB"/>
          </a:solidFill>
          <a:ln/>
        </p:spPr>
      </p:sp>
      <p:sp>
        <p:nvSpPr>
          <p:cNvPr id="13" name="Text 11"/>
          <p:cNvSpPr txBox="1"/>
          <p:nvPr/>
        </p:nvSpPr>
        <p:spPr>
          <a:xfrm>
            <a:off x="612648" y="2907792"/>
            <a:ext cx="4754880"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拍立得的诞生</a:t>
            </a:r>
            <a:endParaRPr lang="en-US" sz="1500" dirty="0"/>
          </a:p>
        </p:txBody>
      </p:sp>
      <p:sp>
        <p:nvSpPr>
          <p:cNvPr id="14" name="Text 12"/>
          <p:cNvSpPr txBox="1"/>
          <p:nvPr/>
        </p:nvSpPr>
        <p:spPr>
          <a:xfrm>
            <a:off x="612648" y="3346704"/>
            <a:ext cx="4736592" cy="111556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埃德温·兰德在其3岁女儿问他为什么照相机不能立刻产生照片后，发明了拍立得。他没有忽略这个问题，而是思考为什么这不可能，最终想出了解决方案。</a:t>
            </a:r>
            <a:endParaRPr lang="en-US" sz="1150" dirty="0"/>
          </a:p>
        </p:txBody>
      </p:sp>
      <p:sp>
        <p:nvSpPr>
          <p:cNvPr id="15" name="Shape 13"/>
          <p:cNvSpPr/>
          <p:nvPr/>
        </p:nvSpPr>
        <p:spPr>
          <a:xfrm>
            <a:off x="5641848" y="2743200"/>
            <a:ext cx="3090672" cy="1828800"/>
          </a:xfrm>
          <a:prstGeom prst="rect">
            <a:avLst/>
          </a:prstGeom>
          <a:solidFill>
            <a:srgbClr val="40E0D0"/>
          </a:solidFill>
          <a:ln/>
        </p:spPr>
      </p:sp>
      <p:sp>
        <p:nvSpPr>
          <p:cNvPr id="16" name="Text 14"/>
          <p:cNvSpPr txBox="1"/>
          <p:nvPr/>
        </p:nvSpPr>
        <p:spPr>
          <a:xfrm>
            <a:off x="5852160" y="2852928"/>
            <a:ext cx="2743200"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关键要素</a:t>
            </a:r>
            <a:endParaRPr lang="en-US" sz="1500" dirty="0"/>
          </a:p>
        </p:txBody>
      </p:sp>
      <p:sp>
        <p:nvSpPr>
          <p:cNvPr id="17" name="Text 15"/>
          <p:cNvSpPr txBox="1"/>
          <p:nvPr/>
        </p:nvSpPr>
        <p:spPr>
          <a:xfrm>
            <a:off x="5852160" y="3291840"/>
            <a:ext cx="2743200" cy="123444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D2D2D"/>
                </a:solidFill>
                <a:latin typeface="Microsoft YaHei" pitchFamily="34" charset="0"/>
                <a:ea typeface="Microsoft YaHei" pitchFamily="34" charset="-122"/>
                <a:cs typeface="Microsoft YaHei" pitchFamily="34" charset="-120"/>
              </a:rPr>
              <a:t>保持好奇心</a:t>
            </a:r>
            <a:endParaRPr lang="en-US" sz="1150" dirty="0"/>
          </a:p>
          <a:p>
            <a:pPr marL="152400" indent="-152400">
              <a:spcAft>
                <a:spcPts val="300"/>
              </a:spcAft>
              <a:buSzPct val="100000"/>
              <a:buChar char="•"/>
            </a:pPr>
            <a:r>
              <a:rPr lang="en-US" sz="1150" dirty="0">
                <a:solidFill>
                  <a:srgbClr val="2D2D2D"/>
                </a:solidFill>
                <a:latin typeface="Microsoft YaHei" pitchFamily="34" charset="0"/>
                <a:ea typeface="Microsoft YaHei" pitchFamily="34" charset="-122"/>
                <a:cs typeface="Microsoft YaHei" pitchFamily="34" charset="-120"/>
              </a:rPr>
              <a:t>不断提问“为什么”</a:t>
            </a:r>
            <a:endParaRPr lang="en-US" sz="1150" dirty="0"/>
          </a:p>
          <a:p>
            <a:pPr marL="152400" indent="-152400">
              <a:spcAft>
                <a:spcPts val="300"/>
              </a:spcAft>
              <a:buSzPct val="100000"/>
              <a:buChar char="•"/>
            </a:pPr>
            <a:r>
              <a:rPr lang="en-US" sz="1150" dirty="0">
                <a:solidFill>
                  <a:srgbClr val="2D2D2D"/>
                </a:solidFill>
                <a:latin typeface="Microsoft YaHei" pitchFamily="34" charset="0"/>
                <a:ea typeface="Microsoft YaHei" pitchFamily="34" charset="-122"/>
                <a:cs typeface="Microsoft YaHei" pitchFamily="34" charset="-120"/>
              </a:rPr>
              <a:t>积极思考可能性</a:t>
            </a:r>
            <a:endParaRPr lang="en-US" sz="1150" dirty="0"/>
          </a:p>
          <a:p>
            <a:pPr marL="152400" indent="-152400">
              <a:spcAft>
                <a:spcPts val="300"/>
              </a:spcAft>
              <a:buSzPct val="100000"/>
              <a:buChar char="•"/>
            </a:pPr>
            <a:r>
              <a:rPr lang="en-US" sz="1150" dirty="0">
                <a:solidFill>
                  <a:srgbClr val="2D2D2D"/>
                </a:solidFill>
                <a:latin typeface="Microsoft YaHei" pitchFamily="34" charset="0"/>
                <a:ea typeface="Microsoft YaHei" pitchFamily="34" charset="-122"/>
                <a:cs typeface="Microsoft YaHei" pitchFamily="34" charset="-120"/>
              </a:rPr>
              <a:t>将观察转化为研究问题</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研究思路中的潜在偏见</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Potential Bias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18</a:t>
            </a:r>
            <a:endParaRPr lang="en-US" sz="800" dirty="0"/>
          </a:p>
        </p:txBody>
      </p:sp>
      <p:sp>
        <p:nvSpPr>
          <p:cNvPr id="9" name="Text 7"/>
          <p:cNvSpPr txBox="1"/>
          <p:nvPr/>
        </p:nvSpPr>
        <p:spPr>
          <a:xfrm>
            <a:off x="411480" y="1143000"/>
            <a:ext cx="8321040" cy="68580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科学家也是人，他们对问题和特定课题重要性的认识会受到个人和人口统计学特征的影响，如性别、社会阶级、种族、性取向、宗教信仰、年龄等。</a:t>
            </a:r>
            <a:endParaRPr lang="en-US" sz="1250" dirty="0"/>
          </a:p>
        </p:txBody>
      </p:sp>
      <p:sp>
        <p:nvSpPr>
          <p:cNvPr id="10" name="Shape 8"/>
          <p:cNvSpPr/>
          <p:nvPr/>
        </p:nvSpPr>
        <p:spPr>
          <a:xfrm>
            <a:off x="411480" y="1920240"/>
            <a:ext cx="4105656" cy="1691640"/>
          </a:xfrm>
          <a:prstGeom prst="rect">
            <a:avLst/>
          </a:prstGeom>
          <a:solidFill>
            <a:srgbClr val="EBEBEB"/>
          </a:solidFill>
          <a:ln/>
        </p:spPr>
      </p:sp>
      <p:sp>
        <p:nvSpPr>
          <p:cNvPr id="11" name="Text 9"/>
          <p:cNvSpPr txBox="1"/>
          <p:nvPr/>
        </p:nvSpPr>
        <p:spPr>
          <a:xfrm>
            <a:off x="612648" y="2084832"/>
            <a:ext cx="3739896" cy="457200"/>
          </a:xfrm>
          <a:prstGeom prst="rect">
            <a:avLst/>
          </a:prstGeom>
          <a:noFill/>
          <a:ln/>
        </p:spPr>
        <p:txBody>
          <a:bodyPr wrap="square" lIns="0" tIns="0" rIns="0" bIns="0" rtlCol="0" anchor="t"/>
          <a:lstStyle/>
          <a:p>
            <a:pPr indent="0" marL="0">
              <a:buNone/>
            </a:pPr>
            <a:r>
              <a:rPr lang="en-US" sz="1600" b="1" dirty="0">
                <a:solidFill>
                  <a:srgbClr val="2D2D2D"/>
                </a:solidFill>
                <a:latin typeface="Poppins" pitchFamily="34" charset="0"/>
                <a:ea typeface="Poppins" pitchFamily="34" charset="-122"/>
                <a:cs typeface="Poppins" pitchFamily="34" charset="-120"/>
              </a:rPr>
              <a:t>01</a:t>
            </a:r>
            <a:endParaRPr lang="en-US" sz="1600" dirty="0"/>
          </a:p>
        </p:txBody>
      </p:sp>
      <p:sp>
        <p:nvSpPr>
          <p:cNvPr id="12" name="Text 10"/>
          <p:cNvSpPr txBox="1"/>
          <p:nvPr/>
        </p:nvSpPr>
        <p:spPr>
          <a:xfrm>
            <a:off x="612648" y="2432304"/>
            <a:ext cx="3739896"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偏见示例</a:t>
            </a:r>
            <a:endParaRPr lang="en-US" sz="1500" dirty="0"/>
          </a:p>
        </p:txBody>
      </p:sp>
      <p:sp>
        <p:nvSpPr>
          <p:cNvPr id="13" name="Text 11"/>
          <p:cNvSpPr txBox="1"/>
          <p:nvPr/>
        </p:nvSpPr>
        <p:spPr>
          <a:xfrm>
            <a:off x="612648" y="2871216"/>
            <a:ext cx="3721608" cy="630936"/>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2D2D2D"/>
                </a:solidFill>
                <a:latin typeface="Microsoft YaHei" pitchFamily="34" charset="0"/>
                <a:ea typeface="Microsoft YaHei" pitchFamily="34" charset="-122"/>
                <a:cs typeface="Microsoft YaHei" pitchFamily="34" charset="-120"/>
              </a:rPr>
              <a:t>过去许多研究关注妈妈外出工作对孩子心理幸福感的影响，却很少研究爸爸投入工作是否会损害孩子的幸福感。</a:t>
            </a:r>
            <a:endParaRPr lang="en-US" sz="1100" dirty="0"/>
          </a:p>
        </p:txBody>
      </p:sp>
      <p:sp>
        <p:nvSpPr>
          <p:cNvPr id="14" name="Shape 12"/>
          <p:cNvSpPr/>
          <p:nvPr/>
        </p:nvSpPr>
        <p:spPr>
          <a:xfrm>
            <a:off x="4626864" y="1920240"/>
            <a:ext cx="4105656" cy="1691640"/>
          </a:xfrm>
          <a:prstGeom prst="rect">
            <a:avLst/>
          </a:prstGeom>
          <a:solidFill>
            <a:srgbClr val="40E0D0"/>
          </a:solidFill>
          <a:ln/>
        </p:spPr>
      </p:sp>
      <p:sp>
        <p:nvSpPr>
          <p:cNvPr id="15" name="Text 13"/>
          <p:cNvSpPr txBox="1"/>
          <p:nvPr/>
        </p:nvSpPr>
        <p:spPr>
          <a:xfrm>
            <a:off x="4828032" y="2084832"/>
            <a:ext cx="3739896" cy="457200"/>
          </a:xfrm>
          <a:prstGeom prst="rect">
            <a:avLst/>
          </a:prstGeom>
          <a:noFill/>
          <a:ln/>
        </p:spPr>
        <p:txBody>
          <a:bodyPr wrap="square" lIns="0" tIns="0" rIns="0" bIns="0" rtlCol="0" anchor="t"/>
          <a:lstStyle/>
          <a:p>
            <a:pPr indent="0" marL="0">
              <a:buNone/>
            </a:pPr>
            <a:r>
              <a:rPr lang="en-US" sz="1600" b="1" dirty="0">
                <a:solidFill>
                  <a:srgbClr val="2D2D2D"/>
                </a:solidFill>
                <a:latin typeface="Poppins" pitchFamily="34" charset="0"/>
                <a:ea typeface="Poppins" pitchFamily="34" charset="-122"/>
                <a:cs typeface="Poppins" pitchFamily="34" charset="-120"/>
              </a:rPr>
              <a:t>02</a:t>
            </a:r>
            <a:endParaRPr lang="en-US" sz="1600" dirty="0"/>
          </a:p>
        </p:txBody>
      </p:sp>
      <p:sp>
        <p:nvSpPr>
          <p:cNvPr id="16" name="Text 14"/>
          <p:cNvSpPr txBox="1"/>
          <p:nvPr/>
        </p:nvSpPr>
        <p:spPr>
          <a:xfrm>
            <a:off x="4828032" y="2432304"/>
            <a:ext cx="3739896"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矫正方法</a:t>
            </a:r>
            <a:endParaRPr lang="en-US" sz="1500" dirty="0"/>
          </a:p>
        </p:txBody>
      </p:sp>
      <p:sp>
        <p:nvSpPr>
          <p:cNvPr id="17" name="Text 15"/>
          <p:cNvSpPr txBox="1"/>
          <p:nvPr/>
        </p:nvSpPr>
        <p:spPr>
          <a:xfrm>
            <a:off x="4828032" y="2871216"/>
            <a:ext cx="3721608" cy="630936"/>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2D2D2D"/>
                </a:solidFill>
                <a:latin typeface="Microsoft YaHei" pitchFamily="34" charset="0"/>
                <a:ea typeface="Microsoft YaHei" pitchFamily="34" charset="-122"/>
                <a:cs typeface="Microsoft YaHei" pitchFamily="34" charset="-120"/>
              </a:rPr>
              <a:t>科学界必须纳入许多具有不同个人特征和人口学特征的科学家，确保所有重要问题都得到关注。</a:t>
            </a:r>
            <a:endParaRPr lang="en-US" sz="1100" dirty="0"/>
          </a:p>
        </p:txBody>
      </p:sp>
      <p:pic>
        <p:nvPicPr>
          <p:cNvPr id="18" name="Image 0" descr="p15_1">    </p:cNvPr>
          <p:cNvPicPr>
            <a:picLocks noChangeAspect="1"/>
          </p:cNvPicPr>
          <p:nvPr/>
        </p:nvPicPr>
        <p:blipFill>
          <a:blip r:embed="rId1"/>
          <a:stretch>
            <a:fillRect/>
          </a:stretch>
        </p:blipFill>
        <p:spPr>
          <a:xfrm>
            <a:off x="411480" y="3721608"/>
            <a:ext cx="8321040" cy="85039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可研究问题的标准</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Researchable Questions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19</a:t>
            </a:r>
            <a:endParaRPr lang="en-US" sz="800" dirty="0"/>
          </a:p>
        </p:txBody>
      </p:sp>
      <p:sp>
        <p:nvSpPr>
          <p:cNvPr id="9" name="Text 7"/>
          <p:cNvSpPr txBox="1"/>
          <p:nvPr/>
        </p:nvSpPr>
        <p:spPr>
          <a:xfrm>
            <a:off x="411480" y="1097280"/>
            <a:ext cx="8321040" cy="731520"/>
          </a:xfrm>
          <a:prstGeom prst="rect">
            <a:avLst/>
          </a:prstGeom>
          <a:noFill/>
          <a:ln/>
        </p:spPr>
        <p:txBody>
          <a:bodyPr wrap="square" lIns="0" tIns="0" rIns="0" bIns="0" rtlCol="0" anchor="ctr"/>
          <a:lstStyle/>
          <a:p>
            <a:pPr indent="0" marL="0">
              <a:buNone/>
            </a:pPr>
            <a:r>
              <a:rPr lang="en-US" sz="2800" b="1" dirty="0">
                <a:solidFill>
                  <a:srgbClr val="2D2D2D"/>
                </a:solidFill>
                <a:latin typeface="Microsoft YaHei" pitchFamily="34" charset="0"/>
                <a:ea typeface="Microsoft YaHei" pitchFamily="34" charset="-122"/>
                <a:cs typeface="Microsoft YaHei" pitchFamily="34" charset="-120"/>
              </a:rPr>
              <a:t>问题必须能够被证实或证伪</a:t>
            </a:r>
            <a:endParaRPr lang="en-US" sz="2800" dirty="0"/>
          </a:p>
        </p:txBody>
      </p:sp>
      <p:sp>
        <p:nvSpPr>
          <p:cNvPr id="10" name="Shape 8"/>
          <p:cNvSpPr/>
          <p:nvPr/>
        </p:nvSpPr>
        <p:spPr>
          <a:xfrm>
            <a:off x="411480" y="1874520"/>
            <a:ext cx="457200" cy="64008"/>
          </a:xfrm>
          <a:prstGeom prst="rect">
            <a:avLst/>
          </a:prstGeom>
          <a:solidFill>
            <a:srgbClr val="40E0D0"/>
          </a:solidFill>
          <a:ln/>
        </p:spPr>
      </p:sp>
      <p:sp>
        <p:nvSpPr>
          <p:cNvPr id="11" name="Text 9"/>
          <p:cNvSpPr txBox="1"/>
          <p:nvPr/>
        </p:nvSpPr>
        <p:spPr>
          <a:xfrm>
            <a:off x="411480" y="2011680"/>
            <a:ext cx="8321040" cy="502920"/>
          </a:xfrm>
          <a:prstGeom prst="rect">
            <a:avLst/>
          </a:prstGeom>
          <a:noFill/>
          <a:ln/>
        </p:spPr>
        <p:txBody>
          <a:bodyPr wrap="square" lIns="0" tIns="0" rIns="0" bIns="0" rtlCol="0" anchor="t"/>
          <a:lstStyle/>
          <a:p>
            <a:pPr indent="0" marL="0">
              <a:buNone/>
            </a:pPr>
            <a:r>
              <a:rPr lang="en-US" sz="1250" dirty="0">
                <a:solidFill>
                  <a:srgbClr val="2D2D2D"/>
                </a:solidFill>
                <a:latin typeface="Microsoft YaHei" pitchFamily="34" charset="0"/>
                <a:ea typeface="Microsoft YaHei" pitchFamily="34" charset="-122"/>
                <a:cs typeface="Microsoft YaHei" pitchFamily="34" charset="-120"/>
              </a:rPr>
              <a:t>并非所有问题都能进行科学研究。科学研究必须符合一个标准：被研究的问题必须能够被证实或证伪。</a:t>
            </a:r>
            <a:endParaRPr lang="en-US" sz="1250" dirty="0"/>
          </a:p>
        </p:txBody>
      </p:sp>
      <p:sp>
        <p:nvSpPr>
          <p:cNvPr id="12" name="Shape 10"/>
          <p:cNvSpPr/>
          <p:nvPr/>
        </p:nvSpPr>
        <p:spPr>
          <a:xfrm>
            <a:off x="411480" y="2651760"/>
            <a:ext cx="4105656" cy="1920240"/>
          </a:xfrm>
          <a:prstGeom prst="rect">
            <a:avLst/>
          </a:prstGeom>
          <a:solidFill>
            <a:srgbClr val="40E0D0"/>
          </a:solidFill>
          <a:ln/>
        </p:spPr>
      </p:sp>
      <p:sp>
        <p:nvSpPr>
          <p:cNvPr id="13" name="Text 11"/>
          <p:cNvSpPr txBox="1"/>
          <p:nvPr/>
        </p:nvSpPr>
        <p:spPr>
          <a:xfrm>
            <a:off x="612648" y="2761488"/>
            <a:ext cx="548640" cy="502920"/>
          </a:xfrm>
          <a:prstGeom prst="rect">
            <a:avLst/>
          </a:prstGeom>
          <a:noFill/>
          <a:ln/>
        </p:spPr>
        <p:txBody>
          <a:bodyPr wrap="square" lIns="0" tIns="0" rIns="0" bIns="0" rtlCol="0" anchor="ctr"/>
          <a:lstStyle/>
          <a:p>
            <a:pPr indent="0" marL="0">
              <a:buNone/>
            </a:pPr>
            <a:r>
              <a:rPr lang="en-US" sz="2600" b="1" dirty="0">
                <a:solidFill>
                  <a:srgbClr val="2D2D2D"/>
                </a:solidFill>
                <a:latin typeface="Poppins" pitchFamily="34" charset="0"/>
                <a:ea typeface="Poppins" pitchFamily="34" charset="-122"/>
                <a:cs typeface="Poppins" pitchFamily="34" charset="-120"/>
              </a:rPr>
              <a:t>✓</a:t>
            </a:r>
            <a:endParaRPr lang="en-US" sz="2600" dirty="0"/>
          </a:p>
        </p:txBody>
      </p:sp>
      <p:sp>
        <p:nvSpPr>
          <p:cNvPr id="14" name="Text 12"/>
          <p:cNvSpPr txBox="1"/>
          <p:nvPr/>
        </p:nvSpPr>
        <p:spPr>
          <a:xfrm>
            <a:off x="1188720" y="2761488"/>
            <a:ext cx="3108960" cy="50292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可研究问题</a:t>
            </a:r>
            <a:endParaRPr lang="en-US" sz="1600" dirty="0"/>
          </a:p>
        </p:txBody>
      </p:sp>
      <p:sp>
        <p:nvSpPr>
          <p:cNvPr id="15" name="Text 13"/>
          <p:cNvSpPr txBox="1"/>
          <p:nvPr/>
        </p:nvSpPr>
        <p:spPr>
          <a:xfrm>
            <a:off x="612648" y="3337560"/>
            <a:ext cx="3703320" cy="114300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团队压力对个人行为的影响、环境压力对艾滋病患者的影响</a:t>
            </a:r>
            <a:endParaRPr lang="en-US" sz="1150" dirty="0"/>
          </a:p>
        </p:txBody>
      </p:sp>
      <p:sp>
        <p:nvSpPr>
          <p:cNvPr id="16" name="Shape 14"/>
          <p:cNvSpPr/>
          <p:nvPr/>
        </p:nvSpPr>
        <p:spPr>
          <a:xfrm>
            <a:off x="4626864" y="2651760"/>
            <a:ext cx="4105656" cy="1920240"/>
          </a:xfrm>
          <a:prstGeom prst="rect">
            <a:avLst/>
          </a:prstGeom>
          <a:solidFill>
            <a:srgbClr val="2D2D2D"/>
          </a:solidFill>
          <a:ln/>
        </p:spPr>
      </p:sp>
      <p:sp>
        <p:nvSpPr>
          <p:cNvPr id="17" name="Text 15"/>
          <p:cNvSpPr txBox="1"/>
          <p:nvPr/>
        </p:nvSpPr>
        <p:spPr>
          <a:xfrm>
            <a:off x="4828032" y="2761488"/>
            <a:ext cx="548640" cy="502920"/>
          </a:xfrm>
          <a:prstGeom prst="rect">
            <a:avLst/>
          </a:prstGeom>
          <a:noFill/>
          <a:ln/>
        </p:spPr>
        <p:txBody>
          <a:bodyPr wrap="square" lIns="0" tIns="0" rIns="0" bIns="0" rtlCol="0" anchor="ctr"/>
          <a:lstStyle/>
          <a:p>
            <a:pPr indent="0" marL="0">
              <a:buNone/>
            </a:pPr>
            <a:r>
              <a:rPr lang="en-US" sz="2600" b="1" dirty="0">
                <a:solidFill>
                  <a:srgbClr val="40E0D0"/>
                </a:solidFill>
                <a:latin typeface="Poppins" pitchFamily="34" charset="0"/>
                <a:ea typeface="Poppins" pitchFamily="34" charset="-122"/>
                <a:cs typeface="Poppins" pitchFamily="34" charset="-120"/>
              </a:rPr>
              <a:t>✕</a:t>
            </a:r>
            <a:endParaRPr lang="en-US" sz="2600" dirty="0"/>
          </a:p>
        </p:txBody>
      </p:sp>
      <p:sp>
        <p:nvSpPr>
          <p:cNvPr id="18" name="Text 16"/>
          <p:cNvSpPr txBox="1"/>
          <p:nvPr/>
        </p:nvSpPr>
        <p:spPr>
          <a:xfrm>
            <a:off x="5404104" y="2761488"/>
            <a:ext cx="3108960" cy="502920"/>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不可研究问题</a:t>
            </a:r>
            <a:endParaRPr lang="en-US" sz="1600" dirty="0"/>
          </a:p>
        </p:txBody>
      </p:sp>
      <p:sp>
        <p:nvSpPr>
          <p:cNvPr id="19" name="Text 17"/>
          <p:cNvSpPr txBox="1"/>
          <p:nvPr/>
        </p:nvSpPr>
        <p:spPr>
          <a:xfrm>
            <a:off x="4828032" y="3337560"/>
            <a:ext cx="3703320" cy="1143000"/>
          </a:xfrm>
          <a:prstGeom prst="rect">
            <a:avLst/>
          </a:prstGeom>
          <a:noFill/>
          <a:ln/>
        </p:spPr>
        <p:txBody>
          <a:bodyPr wrap="square" lIns="0" tIns="0" rIns="0" bIns="0" rtlCol="0" anchor="t"/>
          <a:lstStyle/>
          <a:p>
            <a:pPr indent="0" marL="0">
              <a:lnSpc>
                <a:spcPct val="135000"/>
              </a:lnSpc>
              <a:buNone/>
            </a:pPr>
            <a:r>
              <a:rPr lang="en-US" sz="1150" dirty="0">
                <a:solidFill>
                  <a:srgbClr val="FFFFFF"/>
                </a:solidFill>
                <a:latin typeface="Microsoft YaHei" pitchFamily="34" charset="0"/>
                <a:ea typeface="Microsoft YaHei" pitchFamily="34" charset="-122"/>
                <a:cs typeface="Microsoft YaHei" pitchFamily="34" charset="-120"/>
              </a:rPr>
              <a:t>道德和宗教问题，如堕胎是否正确。科学可以调查人们持有特定立场的原因，但不能解决哪种立场最好。</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理解不同问题类型的价值</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Value of Different Question Types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20</a:t>
            </a:r>
            <a:endParaRPr lang="en-US" sz="800" dirty="0"/>
          </a:p>
        </p:txBody>
      </p:sp>
      <p:sp>
        <p:nvSpPr>
          <p:cNvPr id="9" name="Shape 7"/>
          <p:cNvSpPr/>
          <p:nvPr/>
        </p:nvSpPr>
        <p:spPr>
          <a:xfrm>
            <a:off x="411480" y="1188720"/>
            <a:ext cx="2743200" cy="1636776"/>
          </a:xfrm>
          <a:prstGeom prst="rect">
            <a:avLst/>
          </a:prstGeom>
          <a:solidFill>
            <a:srgbClr val="40E0D0"/>
          </a:solidFill>
          <a:ln/>
        </p:spPr>
      </p:sp>
      <p:sp>
        <p:nvSpPr>
          <p:cNvPr id="10" name="Text 8"/>
          <p:cNvSpPr txBox="1"/>
          <p:nvPr/>
        </p:nvSpPr>
        <p:spPr>
          <a:xfrm>
            <a:off x="594360" y="1325880"/>
            <a:ext cx="914400"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01</a:t>
            </a:r>
            <a:endParaRPr lang="en-US" sz="2200" dirty="0"/>
          </a:p>
        </p:txBody>
      </p:sp>
      <p:sp>
        <p:nvSpPr>
          <p:cNvPr id="11" name="Text 9"/>
          <p:cNvSpPr txBox="1"/>
          <p:nvPr/>
        </p:nvSpPr>
        <p:spPr>
          <a:xfrm>
            <a:off x="594360" y="1874520"/>
            <a:ext cx="2468880" cy="822960"/>
          </a:xfrm>
          <a:prstGeom prst="rect">
            <a:avLst/>
          </a:prstGeom>
          <a:noFill/>
          <a:ln/>
        </p:spPr>
        <p:txBody>
          <a:bodyPr wrap="square" lIns="0" tIns="0" rIns="0" bIns="0" rtlCol="0" anchor="t"/>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新手与资深研究者的不同偏好</a:t>
            </a:r>
            <a:endParaRPr lang="en-US" sz="1400" dirty="0"/>
          </a:p>
        </p:txBody>
      </p:sp>
      <p:sp>
        <p:nvSpPr>
          <p:cNvPr id="12" name="Shape 10"/>
          <p:cNvSpPr/>
          <p:nvPr/>
        </p:nvSpPr>
        <p:spPr>
          <a:xfrm>
            <a:off x="3264408" y="1188720"/>
            <a:ext cx="5468112" cy="1636776"/>
          </a:xfrm>
          <a:prstGeom prst="rect">
            <a:avLst/>
          </a:prstGeom>
          <a:solidFill>
            <a:srgbClr val="EBEBEB"/>
          </a:solidFill>
          <a:ln/>
        </p:spPr>
      </p:sp>
      <p:sp>
        <p:nvSpPr>
          <p:cNvPr id="13" name="Text 11"/>
          <p:cNvSpPr txBox="1"/>
          <p:nvPr/>
        </p:nvSpPr>
        <p:spPr>
          <a:xfrm>
            <a:off x="3520440" y="1188720"/>
            <a:ext cx="4983480" cy="1636776"/>
          </a:xfrm>
          <a:prstGeom prst="rect">
            <a:avLst/>
          </a:prstGeom>
          <a:noFill/>
          <a:ln/>
        </p:spPr>
        <p:txBody>
          <a:bodyPr wrap="square" lIns="0" tIns="0" rIns="0" bIns="0" rtlCol="0" anchor="ctr"/>
          <a:lstStyle/>
          <a:p>
            <a:pPr indent="0" marL="0">
              <a:lnSpc>
                <a:spcPct val="140000"/>
              </a:lnSpc>
              <a:buNone/>
            </a:pPr>
            <a:r>
              <a:rPr lang="en-US" sz="1250" dirty="0">
                <a:solidFill>
                  <a:srgbClr val="2D2D2D"/>
                </a:solidFill>
                <a:latin typeface="Microsoft YaHei" pitchFamily="34" charset="0"/>
                <a:ea typeface="Microsoft YaHei" pitchFamily="34" charset="-122"/>
                <a:cs typeface="Microsoft YaHei" pitchFamily="34" charset="-120"/>
              </a:rPr>
              <a:t>新手研究者往往偏好实用性问题，认为这类问题更加“有用”，而资深研究者则更重视概念性问题的学术价值。这种差异源于对研究目的和意义的不同理解。</a:t>
            </a:r>
            <a:endParaRPr lang="en-US" sz="1250" dirty="0"/>
          </a:p>
        </p:txBody>
      </p:sp>
      <p:sp>
        <p:nvSpPr>
          <p:cNvPr id="14" name="Shape 12"/>
          <p:cNvSpPr/>
          <p:nvPr/>
        </p:nvSpPr>
        <p:spPr>
          <a:xfrm>
            <a:off x="411480" y="2935224"/>
            <a:ext cx="2743200" cy="1636776"/>
          </a:xfrm>
          <a:prstGeom prst="rect">
            <a:avLst/>
          </a:prstGeom>
          <a:solidFill>
            <a:srgbClr val="2D2D2D"/>
          </a:solidFill>
          <a:ln/>
        </p:spPr>
      </p:sp>
      <p:sp>
        <p:nvSpPr>
          <p:cNvPr id="15" name="Text 13"/>
          <p:cNvSpPr txBox="1"/>
          <p:nvPr/>
        </p:nvSpPr>
        <p:spPr>
          <a:xfrm>
            <a:off x="594360" y="3072384"/>
            <a:ext cx="914400" cy="457200"/>
          </a:xfrm>
          <a:prstGeom prst="rect">
            <a:avLst/>
          </a:prstGeom>
          <a:noFill/>
          <a:ln/>
        </p:spPr>
        <p:txBody>
          <a:bodyPr wrap="square" lIns="0" tIns="0" rIns="0" bIns="0" rtlCol="0" anchor="t"/>
          <a:lstStyle/>
          <a:p>
            <a:pPr indent="0" marL="0">
              <a:buNone/>
            </a:pPr>
            <a:r>
              <a:rPr lang="en-US" sz="2200" b="1" dirty="0">
                <a:solidFill>
                  <a:srgbClr val="40E0D0"/>
                </a:solidFill>
                <a:latin typeface="Poppins" pitchFamily="34" charset="0"/>
                <a:ea typeface="Poppins" pitchFamily="34" charset="-122"/>
                <a:cs typeface="Poppins" pitchFamily="34" charset="-120"/>
              </a:rPr>
              <a:t>02</a:t>
            </a:r>
            <a:endParaRPr lang="en-US" sz="2200" dirty="0"/>
          </a:p>
        </p:txBody>
      </p:sp>
      <p:sp>
        <p:nvSpPr>
          <p:cNvPr id="16" name="Text 14"/>
          <p:cNvSpPr txBox="1"/>
          <p:nvPr/>
        </p:nvSpPr>
        <p:spPr>
          <a:xfrm>
            <a:off x="594360" y="3621024"/>
            <a:ext cx="2468880" cy="822960"/>
          </a:xfrm>
          <a:prstGeom prst="rect">
            <a:avLst/>
          </a:prstGeom>
          <a:noFill/>
          <a:ln/>
        </p:spPr>
        <p:txBody>
          <a:bodyPr wrap="square" lIns="0" tIns="0" rIns="0" bIns="0" rtlCol="0" anchor="t"/>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学术领域的研究目标</a:t>
            </a:r>
            <a:endParaRPr lang="en-US" sz="1400" dirty="0"/>
          </a:p>
        </p:txBody>
      </p:sp>
      <p:sp>
        <p:nvSpPr>
          <p:cNvPr id="17" name="Shape 15"/>
          <p:cNvSpPr/>
          <p:nvPr/>
        </p:nvSpPr>
        <p:spPr>
          <a:xfrm>
            <a:off x="3264408" y="2935224"/>
            <a:ext cx="5468112" cy="1636776"/>
          </a:xfrm>
          <a:prstGeom prst="rect">
            <a:avLst/>
          </a:prstGeom>
          <a:solidFill>
            <a:srgbClr val="EBEBEB"/>
          </a:solidFill>
          <a:ln/>
        </p:spPr>
      </p:sp>
      <p:sp>
        <p:nvSpPr>
          <p:cNvPr id="18" name="Text 16"/>
          <p:cNvSpPr txBox="1"/>
          <p:nvPr/>
        </p:nvSpPr>
        <p:spPr>
          <a:xfrm>
            <a:off x="3520440" y="2935224"/>
            <a:ext cx="4983480" cy="1636776"/>
          </a:xfrm>
          <a:prstGeom prst="rect">
            <a:avLst/>
          </a:prstGeom>
          <a:noFill/>
          <a:ln/>
        </p:spPr>
        <p:txBody>
          <a:bodyPr wrap="square" lIns="0" tIns="0" rIns="0" bIns="0" rtlCol="0" anchor="ctr"/>
          <a:lstStyle/>
          <a:p>
            <a:pPr indent="0" marL="0">
              <a:lnSpc>
                <a:spcPct val="140000"/>
              </a:lnSpc>
              <a:buNone/>
            </a:pPr>
            <a:r>
              <a:rPr lang="en-US" sz="1250" dirty="0">
                <a:solidFill>
                  <a:srgbClr val="2D2D2D"/>
                </a:solidFill>
                <a:latin typeface="Microsoft YaHei" pitchFamily="34" charset="0"/>
                <a:ea typeface="Microsoft YaHei" pitchFamily="34" charset="-122"/>
                <a:cs typeface="Microsoft YaHei" pitchFamily="34" charset="-120"/>
              </a:rPr>
              <a:t>在学术领域中，许多研究的目标在于加深对世界的理解，而非直接解决现实中的问题。这种研究对于人类知识的积累和进步具有重要意义。</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抵制过度实用化倾向</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Resisting Over-Practicalization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01  确定问题与研究主题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21</a:t>
            </a:r>
            <a:endParaRPr lang="en-US" sz="800" dirty="0"/>
          </a:p>
        </p:txBody>
      </p:sp>
      <p:sp>
        <p:nvSpPr>
          <p:cNvPr id="9" name="Shape 7"/>
          <p:cNvSpPr/>
          <p:nvPr/>
        </p:nvSpPr>
        <p:spPr>
          <a:xfrm>
            <a:off x="411480" y="1188720"/>
            <a:ext cx="4105656" cy="3383280"/>
          </a:xfrm>
          <a:prstGeom prst="rect">
            <a:avLst/>
          </a:prstGeom>
          <a:solidFill>
            <a:srgbClr val="40E0D0"/>
          </a:solidFill>
          <a:ln/>
        </p:spPr>
      </p:sp>
      <p:sp>
        <p:nvSpPr>
          <p:cNvPr id="10" name="Text 8"/>
          <p:cNvSpPr txBox="1"/>
          <p:nvPr/>
        </p:nvSpPr>
        <p:spPr>
          <a:xfrm>
            <a:off x="685800" y="1371600"/>
            <a:ext cx="1097280" cy="64008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01</a:t>
            </a:r>
            <a:endParaRPr lang="en-US" sz="3000" dirty="0"/>
          </a:p>
        </p:txBody>
      </p:sp>
      <p:sp>
        <p:nvSpPr>
          <p:cNvPr id="11" name="Text 9"/>
          <p:cNvSpPr txBox="1"/>
          <p:nvPr/>
        </p:nvSpPr>
        <p:spPr>
          <a:xfrm>
            <a:off x="685800" y="2148840"/>
            <a:ext cx="3566160" cy="457200"/>
          </a:xfrm>
          <a:prstGeom prst="rect">
            <a:avLst/>
          </a:prstGeom>
          <a:noFill/>
          <a:ln/>
        </p:spPr>
        <p:txBody>
          <a:bodyPr wrap="square" lIns="0" tIns="0" rIns="0" bIns="0" rtlCol="0" anchor="ctr"/>
          <a:lstStyle/>
          <a:p>
            <a:pPr indent="0" marL="0">
              <a:buNone/>
            </a:pPr>
            <a:r>
              <a:rPr lang="en-US" sz="1900" b="1" dirty="0">
                <a:solidFill>
                  <a:srgbClr val="2D2D2D"/>
                </a:solidFill>
                <a:latin typeface="Microsoft YaHei" pitchFamily="34" charset="0"/>
                <a:ea typeface="Microsoft YaHei" pitchFamily="34" charset="-122"/>
                <a:cs typeface="Microsoft YaHei" pitchFamily="34" charset="-120"/>
              </a:rPr>
              <a:t>避免过度实用化</a:t>
            </a:r>
            <a:endParaRPr lang="en-US" sz="1900" dirty="0"/>
          </a:p>
        </p:txBody>
      </p:sp>
      <p:sp>
        <p:nvSpPr>
          <p:cNvPr id="12" name="Text 10"/>
          <p:cNvSpPr txBox="1"/>
          <p:nvPr/>
        </p:nvSpPr>
        <p:spPr>
          <a:xfrm>
            <a:off x="685800" y="2743200"/>
            <a:ext cx="3566160" cy="1737360"/>
          </a:xfrm>
          <a:prstGeom prst="rect">
            <a:avLst/>
          </a:prstGeom>
          <a:noFill/>
          <a:ln/>
        </p:spPr>
        <p:txBody>
          <a:bodyPr wrap="square" lIns="0" tIns="0" rIns="0" bIns="0" rtlCol="0" anchor="t"/>
          <a:lstStyle/>
          <a:p>
            <a:pPr indent="0" marL="0">
              <a:lnSpc>
                <a:spcPct val="145000"/>
              </a:lnSpc>
              <a:buNone/>
            </a:pPr>
            <a:r>
              <a:rPr lang="en-US" sz="1250" dirty="0">
                <a:solidFill>
                  <a:srgbClr val="2D2D2D"/>
                </a:solidFill>
                <a:latin typeface="Microsoft YaHei" pitchFamily="34" charset="0"/>
                <a:ea typeface="Microsoft YaHei" pitchFamily="34" charset="-122"/>
                <a:cs typeface="Microsoft YaHei" pitchFamily="34" charset="-120"/>
              </a:rPr>
              <a:t>尽管实际应用是许多人关注的重点，但在学术研究中，应避免牵强附会地将所有问题都转换为实用性问题。特别是在问题本质上是概念性时，更应该保持其原有的研究性质。</a:t>
            </a:r>
            <a:endParaRPr lang="en-US" sz="1250" dirty="0"/>
          </a:p>
        </p:txBody>
      </p:sp>
      <p:sp>
        <p:nvSpPr>
          <p:cNvPr id="13" name="Shape 11"/>
          <p:cNvSpPr/>
          <p:nvPr/>
        </p:nvSpPr>
        <p:spPr>
          <a:xfrm>
            <a:off x="4626864" y="1188720"/>
            <a:ext cx="4105656" cy="3383280"/>
          </a:xfrm>
          <a:prstGeom prst="rect">
            <a:avLst/>
          </a:prstGeom>
          <a:solidFill>
            <a:srgbClr val="EBEBEB"/>
          </a:solidFill>
          <a:ln/>
        </p:spPr>
      </p:sp>
      <p:sp>
        <p:nvSpPr>
          <p:cNvPr id="14" name="Text 12"/>
          <p:cNvSpPr txBox="1"/>
          <p:nvPr/>
        </p:nvSpPr>
        <p:spPr>
          <a:xfrm>
            <a:off x="4901184" y="1371600"/>
            <a:ext cx="1097280" cy="64008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02</a:t>
            </a:r>
            <a:endParaRPr lang="en-US" sz="3000" dirty="0"/>
          </a:p>
        </p:txBody>
      </p:sp>
      <p:sp>
        <p:nvSpPr>
          <p:cNvPr id="15" name="Text 13"/>
          <p:cNvSpPr txBox="1"/>
          <p:nvPr/>
        </p:nvSpPr>
        <p:spPr>
          <a:xfrm>
            <a:off x="4901184" y="2148840"/>
            <a:ext cx="3566160" cy="457200"/>
          </a:xfrm>
          <a:prstGeom prst="rect">
            <a:avLst/>
          </a:prstGeom>
          <a:noFill/>
          <a:ln/>
        </p:spPr>
        <p:txBody>
          <a:bodyPr wrap="square" lIns="0" tIns="0" rIns="0" bIns="0" rtlCol="0" anchor="ctr"/>
          <a:lstStyle/>
          <a:p>
            <a:pPr indent="0" marL="0">
              <a:buNone/>
            </a:pPr>
            <a:r>
              <a:rPr lang="en-US" sz="1900" b="1" dirty="0">
                <a:solidFill>
                  <a:srgbClr val="2D2D2D"/>
                </a:solidFill>
                <a:latin typeface="Microsoft YaHei" pitchFamily="34" charset="0"/>
                <a:ea typeface="Microsoft YaHei" pitchFamily="34" charset="-122"/>
                <a:cs typeface="Microsoft YaHei" pitchFamily="34" charset="-120"/>
              </a:rPr>
              <a:t>学术研究的独立性</a:t>
            </a:r>
            <a:endParaRPr lang="en-US" sz="1900" dirty="0"/>
          </a:p>
        </p:txBody>
      </p:sp>
      <p:sp>
        <p:nvSpPr>
          <p:cNvPr id="16" name="Text 14"/>
          <p:cNvSpPr txBox="1"/>
          <p:nvPr/>
        </p:nvSpPr>
        <p:spPr>
          <a:xfrm>
            <a:off x="4901184" y="2743200"/>
            <a:ext cx="3566160" cy="1737360"/>
          </a:xfrm>
          <a:prstGeom prst="rect">
            <a:avLst/>
          </a:prstGeom>
          <a:noFill/>
          <a:ln/>
        </p:spPr>
        <p:txBody>
          <a:bodyPr wrap="square" lIns="0" tIns="0" rIns="0" bIns="0" rtlCol="0" anchor="t"/>
          <a:lstStyle/>
          <a:p>
            <a:pPr indent="0" marL="0">
              <a:lnSpc>
                <a:spcPct val="145000"/>
              </a:lnSpc>
              <a:buNone/>
            </a:pPr>
            <a:r>
              <a:rPr lang="en-US" sz="1250" dirty="0">
                <a:solidFill>
                  <a:srgbClr val="2D2D2D"/>
                </a:solidFill>
                <a:latin typeface="Microsoft YaHei" pitchFamily="34" charset="0"/>
                <a:ea typeface="Microsoft YaHei" pitchFamily="34" charset="-122"/>
                <a:cs typeface="Microsoft YaHei" pitchFamily="34" charset="-120"/>
              </a:rPr>
              <a:t>学术研究应该保持独立性，不受过度实用化的影响。只有这样，研究才能在更深层次上推动知识的进步和发展。</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02</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02</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Literature Review &amp; Feasibility</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文献检索与可行性评估</a:t>
            </a:r>
            <a:endParaRPr lang="en-US" sz="3000" dirty="0"/>
          </a:p>
        </p:txBody>
      </p:sp>
      <p:sp>
        <p:nvSpPr>
          <p:cNvPr id="7" name="Shape 5"/>
          <p:cNvSpPr/>
          <p:nvPr/>
        </p:nvSpPr>
        <p:spPr>
          <a:xfrm>
            <a:off x="4023360" y="1828800"/>
            <a:ext cx="4709160" cy="603504"/>
          </a:xfrm>
          <a:prstGeom prst="roundRect">
            <a:avLst>
              <a:gd name="adj" fmla="val 18182"/>
            </a:avLst>
          </a:prstGeom>
          <a:solidFill>
            <a:srgbClr val="EBEBEB"/>
          </a:solidFill>
          <a:ln/>
        </p:spPr>
      </p:sp>
      <p:sp>
        <p:nvSpPr>
          <p:cNvPr id="8" name="Shape 6"/>
          <p:cNvSpPr/>
          <p:nvPr/>
        </p:nvSpPr>
        <p:spPr>
          <a:xfrm>
            <a:off x="4224528" y="2057400"/>
            <a:ext cx="146304" cy="146304"/>
          </a:xfrm>
          <a:prstGeom prst="rect">
            <a:avLst/>
          </a:prstGeom>
          <a:solidFill>
            <a:srgbClr val="40E0D0"/>
          </a:solidFill>
          <a:ln/>
        </p:spPr>
      </p:sp>
      <p:sp>
        <p:nvSpPr>
          <p:cNvPr id="9" name="Text 7"/>
          <p:cNvSpPr txBox="1"/>
          <p:nvPr/>
        </p:nvSpPr>
        <p:spPr>
          <a:xfrm>
            <a:off x="4526280" y="19476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文献综述的五大作用</a:t>
            </a:r>
            <a:endParaRPr lang="en-US" sz="1500" dirty="0"/>
          </a:p>
        </p:txBody>
      </p:sp>
      <p:sp>
        <p:nvSpPr>
          <p:cNvPr id="10" name="Shape 8"/>
          <p:cNvSpPr/>
          <p:nvPr/>
        </p:nvSpPr>
        <p:spPr>
          <a:xfrm>
            <a:off x="4023360" y="2542032"/>
            <a:ext cx="4709160" cy="804672"/>
          </a:xfrm>
          <a:prstGeom prst="roundRect">
            <a:avLst>
              <a:gd name="adj" fmla="val 13636"/>
            </a:avLst>
          </a:prstGeom>
          <a:solidFill>
            <a:srgbClr val="E2E2E2"/>
          </a:solidFill>
          <a:ln/>
        </p:spPr>
      </p:sp>
      <p:sp>
        <p:nvSpPr>
          <p:cNvPr id="11" name="Shape 9"/>
          <p:cNvSpPr/>
          <p:nvPr/>
        </p:nvSpPr>
        <p:spPr>
          <a:xfrm>
            <a:off x="4224528" y="2734056"/>
            <a:ext cx="146304" cy="146304"/>
          </a:xfrm>
          <a:prstGeom prst="rect">
            <a:avLst/>
          </a:prstGeom>
          <a:solidFill>
            <a:srgbClr val="2D2D2D"/>
          </a:solidFill>
          <a:ln/>
        </p:spPr>
      </p:sp>
      <p:sp>
        <p:nvSpPr>
          <p:cNvPr id="12" name="Text 10"/>
          <p:cNvSpPr txBox="1"/>
          <p:nvPr/>
        </p:nvSpPr>
        <p:spPr>
          <a:xfrm>
            <a:off x="4526280" y="26334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确定文献检索目标</a:t>
            </a:r>
            <a:endParaRPr lang="en-US" sz="1500" dirty="0"/>
          </a:p>
        </p:txBody>
      </p:sp>
      <p:sp>
        <p:nvSpPr>
          <p:cNvPr id="13" name="Text 11"/>
          <p:cNvSpPr txBox="1"/>
          <p:nvPr/>
        </p:nvSpPr>
        <p:spPr>
          <a:xfrm>
            <a:off x="4526280" y="2990088"/>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有效文献检索的关键要素</a:t>
            </a:r>
            <a:endParaRPr lang="en-US" sz="1100" dirty="0"/>
          </a:p>
        </p:txBody>
      </p:sp>
      <p:sp>
        <p:nvSpPr>
          <p:cNvPr id="14" name="Shape 12"/>
          <p:cNvSpPr/>
          <p:nvPr/>
        </p:nvSpPr>
        <p:spPr>
          <a:xfrm>
            <a:off x="4023360" y="3456432"/>
            <a:ext cx="4709160" cy="804672"/>
          </a:xfrm>
          <a:prstGeom prst="roundRect">
            <a:avLst>
              <a:gd name="adj" fmla="val 13636"/>
            </a:avLst>
          </a:prstGeom>
          <a:solidFill>
            <a:srgbClr val="EBEBEB"/>
          </a:solidFill>
          <a:ln/>
        </p:spPr>
      </p:sp>
      <p:sp>
        <p:nvSpPr>
          <p:cNvPr id="15" name="Shape 13"/>
          <p:cNvSpPr/>
          <p:nvPr/>
        </p:nvSpPr>
        <p:spPr>
          <a:xfrm>
            <a:off x="4224528" y="3648456"/>
            <a:ext cx="146304" cy="146304"/>
          </a:xfrm>
          <a:prstGeom prst="rect">
            <a:avLst/>
          </a:prstGeom>
          <a:solidFill>
            <a:srgbClr val="2D2D2D"/>
          </a:solidFill>
          <a:ln/>
        </p:spPr>
      </p:sp>
      <p:sp>
        <p:nvSpPr>
          <p:cNvPr id="16" name="Text 14"/>
          <p:cNvSpPr txBox="1"/>
          <p:nvPr/>
        </p:nvSpPr>
        <p:spPr>
          <a:xfrm>
            <a:off x="4526280" y="35478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研究的可行性评估</a:t>
            </a:r>
            <a:endParaRPr lang="en-US" sz="1500" dirty="0"/>
          </a:p>
        </p:txBody>
      </p:sp>
      <p:sp>
        <p:nvSpPr>
          <p:cNvPr id="17" name="Text 15"/>
          <p:cNvSpPr txBox="1"/>
          <p:nvPr/>
        </p:nvSpPr>
        <p:spPr>
          <a:xfrm>
            <a:off x="4526280" y="3904488"/>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可行性评估案例对比</a:t>
            </a:r>
            <a:endParaRPr lang="en-US" sz="1100" dirty="0"/>
          </a:p>
        </p:txBody>
      </p:sp>
      <p:sp>
        <p:nvSpPr>
          <p:cNvPr id="18" name="Shape 16"/>
          <p:cNvSpPr/>
          <p:nvPr/>
        </p:nvSpPr>
        <p:spPr>
          <a:xfrm>
            <a:off x="411480" y="4791456"/>
            <a:ext cx="164592" cy="164592"/>
          </a:xfrm>
          <a:prstGeom prst="rect">
            <a:avLst/>
          </a:prstGeom>
          <a:solidFill>
            <a:srgbClr val="2D2D2D"/>
          </a:solidFill>
          <a:ln/>
        </p:spPr>
      </p:sp>
      <p:sp>
        <p:nvSpPr>
          <p:cNvPr id="19" name="Shape 17"/>
          <p:cNvSpPr/>
          <p:nvPr/>
        </p:nvSpPr>
        <p:spPr>
          <a:xfrm>
            <a:off x="493776" y="4873752"/>
            <a:ext cx="115214" cy="115214"/>
          </a:xfrm>
          <a:prstGeom prst="rect">
            <a:avLst/>
          </a:prstGeom>
          <a:solidFill>
            <a:srgbClr val="FFFFFF"/>
          </a:solidFill>
          <a:ln/>
        </p:spPr>
      </p:sp>
      <p:sp>
        <p:nvSpPr>
          <p:cNvPr id="20" name="Text 18"/>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1" name="Text 19"/>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文献综述的五大作用</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Five Roles of Literature Review</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文献检索与可行性评估</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23</a:t>
            </a:r>
            <a:endParaRPr lang="en-US" sz="800" dirty="0"/>
          </a:p>
        </p:txBody>
      </p:sp>
      <p:sp>
        <p:nvSpPr>
          <p:cNvPr id="9" name="Shape 7"/>
          <p:cNvSpPr/>
          <p:nvPr/>
        </p:nvSpPr>
        <p:spPr>
          <a:xfrm>
            <a:off x="411480" y="1188720"/>
            <a:ext cx="1576426" cy="3383280"/>
          </a:xfrm>
          <a:prstGeom prst="rect">
            <a:avLst/>
          </a:prstGeom>
          <a:solidFill>
            <a:srgbClr val="40E0D0"/>
          </a:solidFill>
          <a:ln/>
        </p:spPr>
      </p:sp>
      <p:sp>
        <p:nvSpPr>
          <p:cNvPr id="10" name="Text 8"/>
          <p:cNvSpPr txBox="1"/>
          <p:nvPr/>
        </p:nvSpPr>
        <p:spPr>
          <a:xfrm>
            <a:off x="612648" y="1353312"/>
            <a:ext cx="1210666" cy="45720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01</a:t>
            </a:r>
            <a:endParaRPr lang="en-US" sz="2800" dirty="0"/>
          </a:p>
        </p:txBody>
      </p:sp>
      <p:sp>
        <p:nvSpPr>
          <p:cNvPr id="11" name="Text 9"/>
          <p:cNvSpPr txBox="1"/>
          <p:nvPr/>
        </p:nvSpPr>
        <p:spPr>
          <a:xfrm>
            <a:off x="612648" y="2724912"/>
            <a:ext cx="1210666"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了解研究现状</a:t>
            </a:r>
            <a:endParaRPr lang="en-US" sz="1400" dirty="0"/>
          </a:p>
        </p:txBody>
      </p:sp>
      <p:sp>
        <p:nvSpPr>
          <p:cNvPr id="12" name="Text 10"/>
          <p:cNvSpPr txBox="1"/>
          <p:nvPr/>
        </p:nvSpPr>
        <p:spPr>
          <a:xfrm>
            <a:off x="612648"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知道问题是否已被研究过，避免不必要的重复</a:t>
            </a:r>
            <a:endParaRPr lang="en-US" sz="1150" dirty="0"/>
          </a:p>
        </p:txBody>
      </p:sp>
      <p:sp>
        <p:nvSpPr>
          <p:cNvPr id="13" name="Shape 11"/>
          <p:cNvSpPr/>
          <p:nvPr/>
        </p:nvSpPr>
        <p:spPr>
          <a:xfrm>
            <a:off x="2097634" y="1188720"/>
            <a:ext cx="1576426" cy="3383280"/>
          </a:xfrm>
          <a:prstGeom prst="rect">
            <a:avLst/>
          </a:prstGeom>
          <a:solidFill>
            <a:srgbClr val="EBEBEB"/>
          </a:solidFill>
          <a:ln/>
        </p:spPr>
      </p:sp>
      <p:sp>
        <p:nvSpPr>
          <p:cNvPr id="14" name="Text 12"/>
          <p:cNvSpPr txBox="1"/>
          <p:nvPr/>
        </p:nvSpPr>
        <p:spPr>
          <a:xfrm>
            <a:off x="2298802" y="1353312"/>
            <a:ext cx="1210666" cy="45720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02</a:t>
            </a:r>
            <a:endParaRPr lang="en-US" sz="2800" dirty="0"/>
          </a:p>
        </p:txBody>
      </p:sp>
      <p:sp>
        <p:nvSpPr>
          <p:cNvPr id="15" name="Text 13"/>
          <p:cNvSpPr txBox="1"/>
          <p:nvPr/>
        </p:nvSpPr>
        <p:spPr>
          <a:xfrm>
            <a:off x="2298802" y="2724912"/>
            <a:ext cx="1210666"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获得设计灵感</a:t>
            </a:r>
            <a:endParaRPr lang="en-US" sz="1400" dirty="0"/>
          </a:p>
        </p:txBody>
      </p:sp>
      <p:sp>
        <p:nvSpPr>
          <p:cNvPr id="16" name="Text 14"/>
          <p:cNvSpPr txBox="1"/>
          <p:nvPr/>
        </p:nvSpPr>
        <p:spPr>
          <a:xfrm>
            <a:off x="2298802"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为如何进行研究设计提供灵感和思路</a:t>
            </a:r>
            <a:endParaRPr lang="en-US" sz="1150" dirty="0"/>
          </a:p>
        </p:txBody>
      </p:sp>
      <p:sp>
        <p:nvSpPr>
          <p:cNvPr id="17" name="Shape 15"/>
          <p:cNvSpPr/>
          <p:nvPr/>
        </p:nvSpPr>
        <p:spPr>
          <a:xfrm>
            <a:off x="3783787" y="1188720"/>
            <a:ext cx="1576426" cy="3383280"/>
          </a:xfrm>
          <a:prstGeom prst="rect">
            <a:avLst/>
          </a:prstGeom>
          <a:solidFill>
            <a:srgbClr val="E2E2E2"/>
          </a:solidFill>
          <a:ln/>
        </p:spPr>
      </p:sp>
      <p:sp>
        <p:nvSpPr>
          <p:cNvPr id="18" name="Text 16"/>
          <p:cNvSpPr txBox="1"/>
          <p:nvPr/>
        </p:nvSpPr>
        <p:spPr>
          <a:xfrm>
            <a:off x="3984955" y="1353312"/>
            <a:ext cx="1210666" cy="45720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03</a:t>
            </a:r>
            <a:endParaRPr lang="en-US" sz="2800" dirty="0"/>
          </a:p>
        </p:txBody>
      </p:sp>
      <p:sp>
        <p:nvSpPr>
          <p:cNvPr id="19" name="Text 17"/>
          <p:cNvSpPr txBox="1"/>
          <p:nvPr/>
        </p:nvSpPr>
        <p:spPr>
          <a:xfrm>
            <a:off x="3984955" y="2724912"/>
            <a:ext cx="1210666"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确定方法论问题</a:t>
            </a:r>
            <a:endParaRPr lang="en-US" sz="1400" dirty="0"/>
          </a:p>
        </p:txBody>
      </p:sp>
      <p:sp>
        <p:nvSpPr>
          <p:cNvPr id="20" name="Text 18"/>
          <p:cNvSpPr txBox="1"/>
          <p:nvPr/>
        </p:nvSpPr>
        <p:spPr>
          <a:xfrm>
            <a:off x="3984955"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针对研究问题提出方法论问题</a:t>
            </a:r>
            <a:endParaRPr lang="en-US" sz="1150" dirty="0"/>
          </a:p>
        </p:txBody>
      </p:sp>
      <p:sp>
        <p:nvSpPr>
          <p:cNvPr id="21" name="Shape 19"/>
          <p:cNvSpPr/>
          <p:nvPr/>
        </p:nvSpPr>
        <p:spPr>
          <a:xfrm>
            <a:off x="5469941" y="1188720"/>
            <a:ext cx="1576426" cy="3383280"/>
          </a:xfrm>
          <a:prstGeom prst="rect">
            <a:avLst/>
          </a:prstGeom>
          <a:solidFill>
            <a:srgbClr val="EBEBEB"/>
          </a:solidFill>
          <a:ln/>
        </p:spPr>
      </p:sp>
      <p:sp>
        <p:nvSpPr>
          <p:cNvPr id="22" name="Text 20"/>
          <p:cNvSpPr txBox="1"/>
          <p:nvPr/>
        </p:nvSpPr>
        <p:spPr>
          <a:xfrm>
            <a:off x="5671109" y="1353312"/>
            <a:ext cx="1210666" cy="45720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04</a:t>
            </a:r>
            <a:endParaRPr lang="en-US" sz="2800" dirty="0"/>
          </a:p>
        </p:txBody>
      </p:sp>
      <p:sp>
        <p:nvSpPr>
          <p:cNvPr id="23" name="Text 21"/>
          <p:cNvSpPr txBox="1"/>
          <p:nvPr/>
        </p:nvSpPr>
        <p:spPr>
          <a:xfrm>
            <a:off x="5671109" y="2724912"/>
            <a:ext cx="1210666"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确定所需资源</a:t>
            </a:r>
            <a:endParaRPr lang="en-US" sz="1400" dirty="0"/>
          </a:p>
        </p:txBody>
      </p:sp>
      <p:sp>
        <p:nvSpPr>
          <p:cNvPr id="24" name="Text 22"/>
          <p:cNvSpPr txBox="1"/>
          <p:nvPr/>
        </p:nvSpPr>
        <p:spPr>
          <a:xfrm>
            <a:off x="5671109"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确定是否需要特定群体或特殊设备配件</a:t>
            </a:r>
            <a:endParaRPr lang="en-US" sz="1150" dirty="0"/>
          </a:p>
        </p:txBody>
      </p:sp>
      <p:sp>
        <p:nvSpPr>
          <p:cNvPr id="25" name="Shape 23"/>
          <p:cNvSpPr/>
          <p:nvPr/>
        </p:nvSpPr>
        <p:spPr>
          <a:xfrm>
            <a:off x="7156094" y="1188720"/>
            <a:ext cx="1576426" cy="3383280"/>
          </a:xfrm>
          <a:prstGeom prst="rect">
            <a:avLst/>
          </a:prstGeom>
          <a:solidFill>
            <a:srgbClr val="2D2D2D"/>
          </a:solidFill>
          <a:ln/>
        </p:spPr>
      </p:sp>
      <p:sp>
        <p:nvSpPr>
          <p:cNvPr id="26" name="Text 24"/>
          <p:cNvSpPr txBox="1"/>
          <p:nvPr/>
        </p:nvSpPr>
        <p:spPr>
          <a:xfrm>
            <a:off x="7357262" y="1353312"/>
            <a:ext cx="1210666" cy="457200"/>
          </a:xfrm>
          <a:prstGeom prst="rect">
            <a:avLst/>
          </a:prstGeom>
          <a:noFill/>
          <a:ln/>
        </p:spPr>
        <p:txBody>
          <a:bodyPr wrap="square" lIns="0" tIns="0" rIns="0" bIns="0" rtlCol="0" anchor="t"/>
          <a:lstStyle/>
          <a:p>
            <a:pPr indent="0" marL="0">
              <a:buNone/>
            </a:pPr>
            <a:r>
              <a:rPr lang="en-US" sz="2800" b="1" dirty="0">
                <a:solidFill>
                  <a:srgbClr val="40E0D0"/>
                </a:solidFill>
                <a:latin typeface="Poppins" pitchFamily="34" charset="0"/>
                <a:ea typeface="Poppins" pitchFamily="34" charset="-122"/>
                <a:cs typeface="Poppins" pitchFamily="34" charset="-120"/>
              </a:rPr>
              <a:t>05</a:t>
            </a:r>
            <a:endParaRPr lang="en-US" sz="2800" dirty="0"/>
          </a:p>
        </p:txBody>
      </p:sp>
      <p:sp>
        <p:nvSpPr>
          <p:cNvPr id="27" name="Text 25"/>
          <p:cNvSpPr txBox="1"/>
          <p:nvPr/>
        </p:nvSpPr>
        <p:spPr>
          <a:xfrm>
            <a:off x="7357262" y="2724912"/>
            <a:ext cx="1210666" cy="365760"/>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准备研究报告</a:t>
            </a:r>
            <a:endParaRPr lang="en-US" sz="1400" dirty="0"/>
          </a:p>
        </p:txBody>
      </p:sp>
      <p:sp>
        <p:nvSpPr>
          <p:cNvPr id="28" name="Text 26"/>
          <p:cNvSpPr txBox="1"/>
          <p:nvPr/>
        </p:nvSpPr>
        <p:spPr>
          <a:xfrm>
            <a:off x="7357262"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FFFFFF"/>
                </a:solidFill>
                <a:latin typeface="Microsoft YaHei" pitchFamily="34" charset="0"/>
                <a:ea typeface="Microsoft YaHei" pitchFamily="34" charset="-122"/>
                <a:cs typeface="Microsoft YaHei" pitchFamily="34" charset="-120"/>
              </a:rPr>
              <a:t>提供在先前研究背景上开展研究所需的信息</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确定文献检索目标</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Literature Search Goals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文献检索与可行性评估</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24</a:t>
            </a:r>
            <a:endParaRPr lang="en-US" sz="800" dirty="0"/>
          </a:p>
        </p:txBody>
      </p:sp>
      <p:sp>
        <p:nvSpPr>
          <p:cNvPr id="9" name="Text 7"/>
          <p:cNvSpPr txBox="1"/>
          <p:nvPr/>
        </p:nvSpPr>
        <p:spPr>
          <a:xfrm>
            <a:off x="411480" y="1188720"/>
            <a:ext cx="3017520" cy="2377440"/>
          </a:xfrm>
          <a:prstGeom prst="rect">
            <a:avLst/>
          </a:prstGeom>
          <a:noFill/>
          <a:ln/>
        </p:spPr>
        <p:txBody>
          <a:bodyPr wrap="square" lIns="0" tIns="0" rIns="0" bIns="0" rtlCol="0" anchor="ctr"/>
          <a:lstStyle/>
          <a:p>
            <a:pPr indent="0" marL="0">
              <a:lnSpc>
                <a:spcPct val="150000"/>
              </a:lnSpc>
              <a:buNone/>
            </a:pPr>
            <a:r>
              <a:rPr lang="en-US" sz="1400" dirty="0">
                <a:solidFill>
                  <a:srgbClr val="2D2D2D"/>
                </a:solidFill>
                <a:latin typeface="Microsoft YaHei" pitchFamily="34" charset="0"/>
                <a:ea typeface="Microsoft YaHei" pitchFamily="34" charset="-122"/>
                <a:cs typeface="Microsoft YaHei" pitchFamily="34" charset="-120"/>
              </a:rPr>
              <a:t>在开始文献检索之前，有必要对目标进行确定。确定目标会让你明白进行文献检索有不同的目的，并为阅读文献提供侧重点。</a:t>
            </a:r>
            <a:endParaRPr lang="en-US" sz="1400" dirty="0"/>
          </a:p>
        </p:txBody>
      </p:sp>
      <p:sp>
        <p:nvSpPr>
          <p:cNvPr id="10" name="Shape 8"/>
          <p:cNvSpPr/>
          <p:nvPr/>
        </p:nvSpPr>
        <p:spPr>
          <a:xfrm>
            <a:off x="411480" y="3977640"/>
            <a:ext cx="3017520" cy="594360"/>
          </a:xfrm>
          <a:prstGeom prst="rect">
            <a:avLst/>
          </a:prstGeom>
          <a:solidFill>
            <a:srgbClr val="2D2D2D"/>
          </a:solidFill>
          <a:ln/>
        </p:spPr>
      </p:sp>
      <p:sp>
        <p:nvSpPr>
          <p:cNvPr id="11" name="Text 9"/>
          <p:cNvSpPr txBox="1"/>
          <p:nvPr/>
        </p:nvSpPr>
        <p:spPr>
          <a:xfrm>
            <a:off x="594360" y="3977640"/>
            <a:ext cx="2743200" cy="5943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目标类型  →</a:t>
            </a:r>
            <a:endParaRPr lang="en-US" sz="1500" dirty="0"/>
          </a:p>
        </p:txBody>
      </p:sp>
      <p:sp>
        <p:nvSpPr>
          <p:cNvPr id="12" name="Shape 10"/>
          <p:cNvSpPr/>
          <p:nvPr/>
        </p:nvSpPr>
        <p:spPr>
          <a:xfrm>
            <a:off x="3566160" y="1188720"/>
            <a:ext cx="2528316" cy="1636776"/>
          </a:xfrm>
          <a:prstGeom prst="rect">
            <a:avLst/>
          </a:prstGeom>
          <a:solidFill>
            <a:srgbClr val="40E0D0"/>
          </a:solidFill>
          <a:ln/>
        </p:spPr>
      </p:sp>
      <p:sp>
        <p:nvSpPr>
          <p:cNvPr id="13" name="Text 11"/>
          <p:cNvSpPr txBox="1"/>
          <p:nvPr/>
        </p:nvSpPr>
        <p:spPr>
          <a:xfrm>
            <a:off x="3767328" y="1353312"/>
            <a:ext cx="914400"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01</a:t>
            </a:r>
            <a:endParaRPr lang="en-US" sz="2200" dirty="0"/>
          </a:p>
        </p:txBody>
      </p:sp>
      <p:sp>
        <p:nvSpPr>
          <p:cNvPr id="14" name="Text 12"/>
          <p:cNvSpPr txBox="1"/>
          <p:nvPr/>
        </p:nvSpPr>
        <p:spPr>
          <a:xfrm>
            <a:off x="3767328" y="1965960"/>
            <a:ext cx="2162556" cy="777240"/>
          </a:xfrm>
          <a:prstGeom prst="rect">
            <a:avLst/>
          </a:prstGeom>
          <a:noFill/>
          <a:ln/>
        </p:spPr>
        <p:txBody>
          <a:bodyPr wrap="square" lIns="0" tIns="0" rIns="0" bIns="0" rtlCol="0" anchor="b"/>
          <a:lstStyle/>
          <a:p>
            <a:pPr indent="0" marL="0">
              <a:buNone/>
            </a:pPr>
            <a:r>
              <a:rPr lang="en-US" sz="1450" b="1" dirty="0">
                <a:solidFill>
                  <a:srgbClr val="2D2D2D"/>
                </a:solidFill>
                <a:latin typeface="Microsoft YaHei" pitchFamily="34" charset="0"/>
                <a:ea typeface="Microsoft YaHei" pitchFamily="34" charset="-122"/>
                <a:cs typeface="Microsoft YaHei" pitchFamily="34" charset="-120"/>
              </a:rPr>
              <a:t>熟悉想要研究的课题领域</a:t>
            </a:r>
            <a:endParaRPr lang="en-US" sz="1450" dirty="0"/>
          </a:p>
        </p:txBody>
      </p:sp>
      <p:sp>
        <p:nvSpPr>
          <p:cNvPr id="15" name="Shape 13"/>
          <p:cNvSpPr/>
          <p:nvPr/>
        </p:nvSpPr>
        <p:spPr>
          <a:xfrm>
            <a:off x="6204204" y="1188720"/>
            <a:ext cx="2528316" cy="1636776"/>
          </a:xfrm>
          <a:prstGeom prst="rect">
            <a:avLst/>
          </a:prstGeom>
          <a:solidFill>
            <a:srgbClr val="EBEBEB"/>
          </a:solidFill>
          <a:ln/>
        </p:spPr>
      </p:sp>
      <p:sp>
        <p:nvSpPr>
          <p:cNvPr id="16" name="Text 14"/>
          <p:cNvSpPr txBox="1"/>
          <p:nvPr/>
        </p:nvSpPr>
        <p:spPr>
          <a:xfrm>
            <a:off x="6405372" y="1353312"/>
            <a:ext cx="914400"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02</a:t>
            </a:r>
            <a:endParaRPr lang="en-US" sz="2200" dirty="0"/>
          </a:p>
        </p:txBody>
      </p:sp>
      <p:sp>
        <p:nvSpPr>
          <p:cNvPr id="17" name="Text 15"/>
          <p:cNvSpPr txBox="1"/>
          <p:nvPr/>
        </p:nvSpPr>
        <p:spPr>
          <a:xfrm>
            <a:off x="6405372" y="1965960"/>
            <a:ext cx="2162556" cy="777240"/>
          </a:xfrm>
          <a:prstGeom prst="rect">
            <a:avLst/>
          </a:prstGeom>
          <a:noFill/>
          <a:ln/>
        </p:spPr>
        <p:txBody>
          <a:bodyPr wrap="square" lIns="0" tIns="0" rIns="0" bIns="0" rtlCol="0" anchor="b"/>
          <a:lstStyle/>
          <a:p>
            <a:pPr indent="0" marL="0">
              <a:buNone/>
            </a:pPr>
            <a:r>
              <a:rPr lang="en-US" sz="1450" b="1" dirty="0">
                <a:solidFill>
                  <a:srgbClr val="2D2D2D"/>
                </a:solidFill>
                <a:latin typeface="Microsoft YaHei" pitchFamily="34" charset="0"/>
                <a:ea typeface="Microsoft YaHei" pitchFamily="34" charset="-122"/>
                <a:cs typeface="Microsoft YaHei" pitchFamily="34" charset="-120"/>
              </a:rPr>
              <a:t>帮助找到研究中需要使用的方法</a:t>
            </a:r>
            <a:endParaRPr lang="en-US" sz="1450" dirty="0"/>
          </a:p>
        </p:txBody>
      </p:sp>
      <p:sp>
        <p:nvSpPr>
          <p:cNvPr id="18" name="Shape 16"/>
          <p:cNvSpPr/>
          <p:nvPr/>
        </p:nvSpPr>
        <p:spPr>
          <a:xfrm>
            <a:off x="3566160" y="2935224"/>
            <a:ext cx="2528316" cy="1636776"/>
          </a:xfrm>
          <a:prstGeom prst="rect">
            <a:avLst/>
          </a:prstGeom>
          <a:solidFill>
            <a:srgbClr val="E2E2E2"/>
          </a:solidFill>
          <a:ln/>
        </p:spPr>
      </p:sp>
      <p:sp>
        <p:nvSpPr>
          <p:cNvPr id="19" name="Text 17"/>
          <p:cNvSpPr txBox="1"/>
          <p:nvPr/>
        </p:nvSpPr>
        <p:spPr>
          <a:xfrm>
            <a:off x="3767328" y="3099816"/>
            <a:ext cx="914400"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03</a:t>
            </a:r>
            <a:endParaRPr lang="en-US" sz="2200" dirty="0"/>
          </a:p>
        </p:txBody>
      </p:sp>
      <p:sp>
        <p:nvSpPr>
          <p:cNvPr id="20" name="Text 18"/>
          <p:cNvSpPr txBox="1"/>
          <p:nvPr/>
        </p:nvSpPr>
        <p:spPr>
          <a:xfrm>
            <a:off x="3767328" y="3712464"/>
            <a:ext cx="2162556" cy="777240"/>
          </a:xfrm>
          <a:prstGeom prst="rect">
            <a:avLst/>
          </a:prstGeom>
          <a:noFill/>
          <a:ln/>
        </p:spPr>
        <p:txBody>
          <a:bodyPr wrap="square" lIns="0" tIns="0" rIns="0" bIns="0" rtlCol="0" anchor="b"/>
          <a:lstStyle/>
          <a:p>
            <a:pPr indent="0" marL="0">
              <a:buNone/>
            </a:pPr>
            <a:r>
              <a:rPr lang="en-US" sz="1450" b="1" dirty="0">
                <a:solidFill>
                  <a:srgbClr val="2D2D2D"/>
                </a:solidFill>
                <a:latin typeface="Microsoft YaHei" pitchFamily="34" charset="0"/>
                <a:ea typeface="Microsoft YaHei" pitchFamily="34" charset="-122"/>
                <a:cs typeface="Microsoft YaHei" pitchFamily="34" charset="-120"/>
              </a:rPr>
              <a:t>了解相关理论框架</a:t>
            </a:r>
            <a:endParaRPr lang="en-US" sz="1450" dirty="0"/>
          </a:p>
        </p:txBody>
      </p:sp>
      <p:sp>
        <p:nvSpPr>
          <p:cNvPr id="21" name="Shape 19"/>
          <p:cNvSpPr/>
          <p:nvPr/>
        </p:nvSpPr>
        <p:spPr>
          <a:xfrm>
            <a:off x="6204204" y="2935224"/>
            <a:ext cx="2528316" cy="1636776"/>
          </a:xfrm>
          <a:prstGeom prst="rect">
            <a:avLst/>
          </a:prstGeom>
          <a:solidFill>
            <a:srgbClr val="2D2D2D"/>
          </a:solidFill>
          <a:ln/>
        </p:spPr>
      </p:sp>
      <p:sp>
        <p:nvSpPr>
          <p:cNvPr id="22" name="Text 20"/>
          <p:cNvSpPr txBox="1"/>
          <p:nvPr/>
        </p:nvSpPr>
        <p:spPr>
          <a:xfrm>
            <a:off x="6405372" y="3099816"/>
            <a:ext cx="914400" cy="457200"/>
          </a:xfrm>
          <a:prstGeom prst="rect">
            <a:avLst/>
          </a:prstGeom>
          <a:noFill/>
          <a:ln/>
        </p:spPr>
        <p:txBody>
          <a:bodyPr wrap="square" lIns="0" tIns="0" rIns="0" bIns="0" rtlCol="0" anchor="t"/>
          <a:lstStyle/>
          <a:p>
            <a:pPr indent="0" marL="0">
              <a:buNone/>
            </a:pPr>
            <a:r>
              <a:rPr lang="en-US" sz="2200" b="1" dirty="0">
                <a:solidFill>
                  <a:srgbClr val="40E0D0"/>
                </a:solidFill>
                <a:latin typeface="Poppins" pitchFamily="34" charset="0"/>
                <a:ea typeface="Poppins" pitchFamily="34" charset="-122"/>
                <a:cs typeface="Poppins" pitchFamily="34" charset="-120"/>
              </a:rPr>
              <a:t>04</a:t>
            </a:r>
            <a:endParaRPr lang="en-US" sz="2200" dirty="0"/>
          </a:p>
        </p:txBody>
      </p:sp>
      <p:sp>
        <p:nvSpPr>
          <p:cNvPr id="23" name="Text 21"/>
          <p:cNvSpPr txBox="1"/>
          <p:nvPr/>
        </p:nvSpPr>
        <p:spPr>
          <a:xfrm>
            <a:off x="6405372" y="3712464"/>
            <a:ext cx="2162556" cy="777240"/>
          </a:xfrm>
          <a:prstGeom prst="rect">
            <a:avLst/>
          </a:prstGeom>
          <a:noFill/>
          <a:ln/>
        </p:spPr>
        <p:txBody>
          <a:bodyPr wrap="square" lIns="0" tIns="0" rIns="0" bIns="0" rtlCol="0" anchor="b"/>
          <a:lstStyle/>
          <a:p>
            <a:pPr indent="0" marL="0">
              <a:buNone/>
            </a:pPr>
            <a:r>
              <a:rPr lang="en-US" sz="1450" b="1" dirty="0">
                <a:solidFill>
                  <a:srgbClr val="FFFFFF"/>
                </a:solidFill>
                <a:latin typeface="Microsoft YaHei" pitchFamily="34" charset="0"/>
                <a:ea typeface="Microsoft YaHei" pitchFamily="34" charset="-122"/>
                <a:cs typeface="Microsoft YaHei" pitchFamily="34" charset="-120"/>
              </a:rPr>
              <a:t>确定研究空白</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有效文献检索的关键要素</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Effective Literature Search</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文献检索与可行性评估</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25</a:t>
            </a:r>
            <a:endParaRPr lang="en-US" sz="800" dirty="0"/>
          </a:p>
        </p:txBody>
      </p:sp>
      <p:pic>
        <p:nvPicPr>
          <p:cNvPr id="9" name="Image 0" descr="p39_1">    </p:cNvPr>
          <p:cNvPicPr>
            <a:picLocks noChangeAspect="1"/>
          </p:cNvPicPr>
          <p:nvPr/>
        </p:nvPicPr>
        <p:blipFill>
          <a:blip r:embed="rId1"/>
          <a:stretch>
            <a:fillRect/>
          </a:stretch>
        </p:blipFill>
        <p:spPr>
          <a:xfrm>
            <a:off x="411480" y="1188720"/>
            <a:ext cx="8321040" cy="777240"/>
          </a:xfrm>
          <a:prstGeom prst="rect">
            <a:avLst/>
          </a:prstGeom>
        </p:spPr>
      </p:pic>
      <p:sp>
        <p:nvSpPr>
          <p:cNvPr id="10" name="Shape 7"/>
          <p:cNvSpPr/>
          <p:nvPr/>
        </p:nvSpPr>
        <p:spPr>
          <a:xfrm>
            <a:off x="411480" y="2075688"/>
            <a:ext cx="2700528" cy="2496312"/>
          </a:xfrm>
          <a:prstGeom prst="rect">
            <a:avLst/>
          </a:prstGeom>
          <a:solidFill>
            <a:srgbClr val="40E0D0"/>
          </a:solidFill>
          <a:ln/>
        </p:spPr>
      </p:sp>
      <p:sp>
        <p:nvSpPr>
          <p:cNvPr id="11" name="Text 8"/>
          <p:cNvSpPr txBox="1"/>
          <p:nvPr/>
        </p:nvSpPr>
        <p:spPr>
          <a:xfrm>
            <a:off x="640080" y="2194560"/>
            <a:ext cx="2243328" cy="41148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准备工作</a:t>
            </a:r>
            <a:endParaRPr lang="en-US" sz="1600" dirty="0"/>
          </a:p>
        </p:txBody>
      </p:sp>
      <p:sp>
        <p:nvSpPr>
          <p:cNvPr id="12" name="Text 9"/>
          <p:cNvSpPr txBox="1"/>
          <p:nvPr/>
        </p:nvSpPr>
        <p:spPr>
          <a:xfrm>
            <a:off x="640080" y="2697480"/>
            <a:ext cx="2243328" cy="178308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2D2D2D"/>
                </a:solidFill>
                <a:latin typeface="Microsoft YaHei" pitchFamily="34" charset="0"/>
                <a:ea typeface="Microsoft YaHei" pitchFamily="34" charset="-122"/>
                <a:cs typeface="Microsoft YaHei" pitchFamily="34" charset="-120"/>
              </a:rPr>
              <a:t>熟悉图书馆资源</a:t>
            </a:r>
            <a:endParaRPr lang="en-US" sz="1250" dirty="0"/>
          </a:p>
          <a:p>
            <a:pPr marL="152400" indent="-152400">
              <a:spcAft>
                <a:spcPts val="600"/>
              </a:spcAft>
              <a:buSzPct val="100000"/>
              <a:buChar char="•"/>
            </a:pPr>
            <a:r>
              <a:rPr lang="en-US" sz="1250" dirty="0">
                <a:solidFill>
                  <a:srgbClr val="2D2D2D"/>
                </a:solidFill>
                <a:latin typeface="Microsoft YaHei" pitchFamily="34" charset="0"/>
                <a:ea typeface="Microsoft YaHei" pitchFamily="34" charset="-122"/>
                <a:cs typeface="Microsoft YaHei" pitchFamily="34" charset="-120"/>
              </a:rPr>
              <a:t>界定课题领域</a:t>
            </a:r>
            <a:endParaRPr lang="en-US" sz="1250" dirty="0"/>
          </a:p>
          <a:p>
            <a:pPr marL="152400" indent="-152400">
              <a:spcAft>
                <a:spcPts val="600"/>
              </a:spcAft>
              <a:buSzPct val="100000"/>
              <a:buChar char="•"/>
            </a:pPr>
            <a:r>
              <a:rPr lang="en-US" sz="1250" dirty="0">
                <a:solidFill>
                  <a:srgbClr val="2D2D2D"/>
                </a:solidFill>
                <a:latin typeface="Microsoft YaHei" pitchFamily="34" charset="0"/>
                <a:ea typeface="Microsoft YaHei" pitchFamily="34" charset="-122"/>
                <a:cs typeface="Microsoft YaHei" pitchFamily="34" charset="-120"/>
              </a:rPr>
              <a:t>确定检索目标</a:t>
            </a:r>
            <a:endParaRPr lang="en-US" sz="1250" dirty="0"/>
          </a:p>
          <a:p>
            <a:pPr marL="152400" indent="-152400">
              <a:spcAft>
                <a:spcPts val="600"/>
              </a:spcAft>
              <a:buSzPct val="100000"/>
              <a:buChar char="•"/>
            </a:pPr>
            <a:r>
              <a:rPr lang="en-US" sz="1250" dirty="0">
                <a:solidFill>
                  <a:srgbClr val="2D2D2D"/>
                </a:solidFill>
                <a:latin typeface="Microsoft YaHei" pitchFamily="34" charset="0"/>
                <a:ea typeface="Microsoft YaHei" pitchFamily="34" charset="-122"/>
                <a:cs typeface="Microsoft YaHei" pitchFamily="34" charset="-120"/>
              </a:rPr>
              <a:t>准备花费大量时间</a:t>
            </a:r>
            <a:endParaRPr lang="en-US" sz="1250" dirty="0"/>
          </a:p>
        </p:txBody>
      </p:sp>
      <p:sp>
        <p:nvSpPr>
          <p:cNvPr id="13" name="Shape 10"/>
          <p:cNvSpPr/>
          <p:nvPr/>
        </p:nvSpPr>
        <p:spPr>
          <a:xfrm>
            <a:off x="3221736" y="2075688"/>
            <a:ext cx="2700528" cy="2496312"/>
          </a:xfrm>
          <a:prstGeom prst="rect">
            <a:avLst/>
          </a:prstGeom>
          <a:solidFill>
            <a:srgbClr val="EBEBEB"/>
          </a:solidFill>
          <a:ln/>
        </p:spPr>
      </p:sp>
      <p:sp>
        <p:nvSpPr>
          <p:cNvPr id="14" name="Text 11"/>
          <p:cNvSpPr txBox="1"/>
          <p:nvPr/>
        </p:nvSpPr>
        <p:spPr>
          <a:xfrm>
            <a:off x="3450336" y="2194560"/>
            <a:ext cx="2243328" cy="41148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检索资源</a:t>
            </a:r>
            <a:endParaRPr lang="en-US" sz="1600" dirty="0"/>
          </a:p>
        </p:txBody>
      </p:sp>
      <p:sp>
        <p:nvSpPr>
          <p:cNvPr id="15" name="Text 12"/>
          <p:cNvSpPr txBox="1"/>
          <p:nvPr/>
        </p:nvSpPr>
        <p:spPr>
          <a:xfrm>
            <a:off x="3450336" y="2697480"/>
            <a:ext cx="2243328" cy="178308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2D2D2D"/>
                </a:solidFill>
                <a:latin typeface="Microsoft YaHei" pitchFamily="34" charset="0"/>
                <a:ea typeface="Microsoft YaHei" pitchFamily="34" charset="-122"/>
                <a:cs typeface="Microsoft YaHei" pitchFamily="34" charset="-120"/>
              </a:rPr>
              <a:t>书籍和年鉴</a:t>
            </a:r>
            <a:endParaRPr lang="en-US" sz="1250" dirty="0"/>
          </a:p>
          <a:p>
            <a:pPr marL="152400" indent="-152400">
              <a:spcAft>
                <a:spcPts val="600"/>
              </a:spcAft>
              <a:buSzPct val="100000"/>
              <a:buChar char="•"/>
            </a:pPr>
            <a:r>
              <a:rPr lang="en-US" sz="1250" dirty="0">
                <a:solidFill>
                  <a:srgbClr val="2D2D2D"/>
                </a:solidFill>
                <a:latin typeface="Microsoft YaHei" pitchFamily="34" charset="0"/>
                <a:ea typeface="Microsoft YaHei" pitchFamily="34" charset="-122"/>
                <a:cs typeface="Microsoft YaHei" pitchFamily="34" charset="-120"/>
              </a:rPr>
              <a:t>心理学期刊</a:t>
            </a:r>
            <a:endParaRPr lang="en-US" sz="1250" dirty="0"/>
          </a:p>
          <a:p>
            <a:pPr marL="152400" indent="-152400">
              <a:spcAft>
                <a:spcPts val="600"/>
              </a:spcAft>
              <a:buSzPct val="100000"/>
              <a:buChar char="•"/>
            </a:pPr>
            <a:r>
              <a:rPr lang="en-US" sz="1250" dirty="0">
                <a:solidFill>
                  <a:srgbClr val="2D2D2D"/>
                </a:solidFill>
                <a:latin typeface="Microsoft YaHei" pitchFamily="34" charset="0"/>
                <a:ea typeface="Microsoft YaHei" pitchFamily="34" charset="-122"/>
                <a:cs typeface="Microsoft YaHei" pitchFamily="34" charset="-120"/>
              </a:rPr>
              <a:t>电子数据库</a:t>
            </a:r>
            <a:endParaRPr lang="en-US" sz="1250" dirty="0"/>
          </a:p>
          <a:p>
            <a:pPr marL="152400" indent="-152400">
              <a:spcAft>
                <a:spcPts val="600"/>
              </a:spcAft>
              <a:buSzPct val="100000"/>
              <a:buChar char="•"/>
            </a:pPr>
            <a:r>
              <a:rPr lang="en-US" sz="1250" dirty="0">
                <a:solidFill>
                  <a:srgbClr val="2D2D2D"/>
                </a:solidFill>
                <a:latin typeface="Microsoft YaHei" pitchFamily="34" charset="0"/>
                <a:ea typeface="Microsoft YaHei" pitchFamily="34" charset="-122"/>
                <a:cs typeface="Microsoft YaHei" pitchFamily="34" charset="-120"/>
              </a:rPr>
              <a:t>互联网资源</a:t>
            </a:r>
            <a:endParaRPr lang="en-US" sz="1250" dirty="0"/>
          </a:p>
        </p:txBody>
      </p:sp>
      <p:sp>
        <p:nvSpPr>
          <p:cNvPr id="16" name="Shape 13"/>
          <p:cNvSpPr/>
          <p:nvPr/>
        </p:nvSpPr>
        <p:spPr>
          <a:xfrm>
            <a:off x="6031992" y="2075688"/>
            <a:ext cx="2700528" cy="2496312"/>
          </a:xfrm>
          <a:prstGeom prst="rect">
            <a:avLst/>
          </a:prstGeom>
          <a:solidFill>
            <a:srgbClr val="2D2D2D"/>
          </a:solidFill>
          <a:ln/>
        </p:spPr>
      </p:sp>
      <p:sp>
        <p:nvSpPr>
          <p:cNvPr id="17" name="Text 14"/>
          <p:cNvSpPr txBox="1"/>
          <p:nvPr/>
        </p:nvSpPr>
        <p:spPr>
          <a:xfrm>
            <a:off x="6260592" y="2194560"/>
            <a:ext cx="2243328" cy="411480"/>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获取文献</a:t>
            </a:r>
            <a:endParaRPr lang="en-US" sz="1600" dirty="0"/>
          </a:p>
        </p:txBody>
      </p:sp>
      <p:sp>
        <p:nvSpPr>
          <p:cNvPr id="18" name="Text 15"/>
          <p:cNvSpPr txBox="1"/>
          <p:nvPr/>
        </p:nvSpPr>
        <p:spPr>
          <a:xfrm>
            <a:off x="6260592" y="2697480"/>
            <a:ext cx="2243328" cy="178308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FFFFFF"/>
                </a:solidFill>
                <a:latin typeface="Microsoft YaHei" pitchFamily="34" charset="0"/>
                <a:ea typeface="Microsoft YaHei" pitchFamily="34" charset="-122"/>
                <a:cs typeface="Microsoft YaHei" pitchFamily="34" charset="-120"/>
              </a:rPr>
              <a:t>图书馆查找</a:t>
            </a:r>
            <a:endParaRPr lang="en-US" sz="1250" dirty="0"/>
          </a:p>
          <a:p>
            <a:pPr marL="152400" indent="-152400">
              <a:spcAft>
                <a:spcPts val="600"/>
              </a:spcAft>
              <a:buSzPct val="100000"/>
              <a:buChar char="•"/>
            </a:pPr>
            <a:r>
              <a:rPr lang="en-US" sz="1250" dirty="0">
                <a:solidFill>
                  <a:srgbClr val="FFFFFF"/>
                </a:solidFill>
                <a:latin typeface="Microsoft YaHei" pitchFamily="34" charset="0"/>
                <a:ea typeface="Microsoft YaHei" pitchFamily="34" charset="-122"/>
                <a:cs typeface="Microsoft YaHei" pitchFamily="34" charset="-120"/>
              </a:rPr>
              <a:t>馆际互借</a:t>
            </a:r>
            <a:endParaRPr lang="en-US" sz="1250" dirty="0"/>
          </a:p>
          <a:p>
            <a:pPr marL="152400" indent="-152400">
              <a:spcAft>
                <a:spcPts val="600"/>
              </a:spcAft>
              <a:buSzPct val="100000"/>
              <a:buChar char="•"/>
            </a:pPr>
            <a:r>
              <a:rPr lang="en-US" sz="1250" dirty="0">
                <a:solidFill>
                  <a:srgbClr val="FFFFFF"/>
                </a:solidFill>
                <a:latin typeface="Microsoft YaHei" pitchFamily="34" charset="0"/>
                <a:ea typeface="Microsoft YaHei" pitchFamily="34" charset="-122"/>
                <a:cs typeface="Microsoft YaHei" pitchFamily="34" charset="-120"/>
              </a:rPr>
              <a:t>联系作者</a:t>
            </a:r>
            <a:endParaRPr lang="en-US" sz="1250" dirty="0"/>
          </a:p>
          <a:p>
            <a:pPr marL="152400" indent="-152400">
              <a:spcAft>
                <a:spcPts val="600"/>
              </a:spcAft>
              <a:buSzPct val="100000"/>
              <a:buChar char="•"/>
            </a:pPr>
            <a:r>
              <a:rPr lang="en-US" sz="1250" dirty="0">
                <a:solidFill>
                  <a:srgbClr val="FFFFFF"/>
                </a:solidFill>
                <a:latin typeface="Microsoft YaHei" pitchFamily="34" charset="0"/>
                <a:ea typeface="Microsoft YaHei" pitchFamily="34" charset="-122"/>
                <a:cs typeface="Microsoft YaHei" pitchFamily="34" charset="-120"/>
              </a:rPr>
              <a:t>电子版全文</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研究的可行性评估</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Feasibility</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文献检索与可行性评估</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26</a:t>
            </a:r>
            <a:endParaRPr lang="en-US" sz="800" dirty="0"/>
          </a:p>
        </p:txBody>
      </p:sp>
      <p:sp>
        <p:nvSpPr>
          <p:cNvPr id="9" name="Text 7"/>
          <p:cNvSpPr txBox="1"/>
          <p:nvPr/>
        </p:nvSpPr>
        <p:spPr>
          <a:xfrm>
            <a:off x="411480" y="1143000"/>
            <a:ext cx="8321040" cy="73152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完成文献检索后，就可以开始判断开展此项研究是否可行的问题了。每项研究在时间、研究参与者类型、费用、实验者的专业技能以及伦理敏感性等方面的要求都不相同。</a:t>
            </a:r>
            <a:endParaRPr lang="en-US" sz="1250" dirty="0"/>
          </a:p>
        </p:txBody>
      </p:sp>
      <p:sp>
        <p:nvSpPr>
          <p:cNvPr id="10" name="Shape 8"/>
          <p:cNvSpPr/>
          <p:nvPr/>
        </p:nvSpPr>
        <p:spPr>
          <a:xfrm>
            <a:off x="411480" y="2011680"/>
            <a:ext cx="1576426" cy="2560320"/>
          </a:xfrm>
          <a:prstGeom prst="rect">
            <a:avLst/>
          </a:prstGeom>
          <a:solidFill>
            <a:srgbClr val="40E0D0"/>
          </a:solidFill>
          <a:ln/>
        </p:spPr>
      </p:sp>
      <p:sp>
        <p:nvSpPr>
          <p:cNvPr id="11" name="Text 9"/>
          <p:cNvSpPr txBox="1"/>
          <p:nvPr/>
        </p:nvSpPr>
        <p:spPr>
          <a:xfrm>
            <a:off x="612648" y="2176272"/>
            <a:ext cx="1210666"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01</a:t>
            </a:r>
            <a:endParaRPr lang="en-US" sz="2200" dirty="0"/>
          </a:p>
        </p:txBody>
      </p:sp>
      <p:sp>
        <p:nvSpPr>
          <p:cNvPr id="12" name="Text 10"/>
          <p:cNvSpPr txBox="1"/>
          <p:nvPr/>
        </p:nvSpPr>
        <p:spPr>
          <a:xfrm>
            <a:off x="612648" y="2724912"/>
            <a:ext cx="1210666"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时间要求</a:t>
            </a:r>
            <a:endParaRPr lang="en-US" sz="1400" dirty="0"/>
          </a:p>
        </p:txBody>
      </p:sp>
      <p:sp>
        <p:nvSpPr>
          <p:cNvPr id="13" name="Text 11"/>
          <p:cNvSpPr txBox="1"/>
          <p:nvPr/>
        </p:nvSpPr>
        <p:spPr>
          <a:xfrm>
            <a:off x="612648"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2D2D2D"/>
                </a:solidFill>
                <a:latin typeface="Microsoft YaHei" pitchFamily="34" charset="0"/>
                <a:ea typeface="Microsoft YaHei" pitchFamily="34" charset="-122"/>
                <a:cs typeface="Microsoft YaHei" pitchFamily="34" charset="-120"/>
              </a:rPr>
              <a:t>研究需要多长时间完成？是否在可接受范围内？</a:t>
            </a:r>
            <a:endParaRPr lang="en-US" sz="1100" dirty="0"/>
          </a:p>
        </p:txBody>
      </p:sp>
      <p:sp>
        <p:nvSpPr>
          <p:cNvPr id="14" name="Shape 12"/>
          <p:cNvSpPr/>
          <p:nvPr/>
        </p:nvSpPr>
        <p:spPr>
          <a:xfrm>
            <a:off x="2097634" y="2011680"/>
            <a:ext cx="1576426" cy="2560320"/>
          </a:xfrm>
          <a:prstGeom prst="rect">
            <a:avLst/>
          </a:prstGeom>
          <a:solidFill>
            <a:srgbClr val="EBEBEB"/>
          </a:solidFill>
          <a:ln/>
        </p:spPr>
      </p:sp>
      <p:sp>
        <p:nvSpPr>
          <p:cNvPr id="15" name="Text 13"/>
          <p:cNvSpPr txBox="1"/>
          <p:nvPr/>
        </p:nvSpPr>
        <p:spPr>
          <a:xfrm>
            <a:off x="2298802" y="2176272"/>
            <a:ext cx="1210666"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02</a:t>
            </a:r>
            <a:endParaRPr lang="en-US" sz="2200" dirty="0"/>
          </a:p>
        </p:txBody>
      </p:sp>
      <p:sp>
        <p:nvSpPr>
          <p:cNvPr id="16" name="Text 14"/>
          <p:cNvSpPr txBox="1"/>
          <p:nvPr/>
        </p:nvSpPr>
        <p:spPr>
          <a:xfrm>
            <a:off x="2298802" y="2724912"/>
            <a:ext cx="1210666"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参与者获取</a:t>
            </a:r>
            <a:endParaRPr lang="en-US" sz="1400" dirty="0"/>
          </a:p>
        </p:txBody>
      </p:sp>
      <p:sp>
        <p:nvSpPr>
          <p:cNvPr id="17" name="Text 15"/>
          <p:cNvSpPr txBox="1"/>
          <p:nvPr/>
        </p:nvSpPr>
        <p:spPr>
          <a:xfrm>
            <a:off x="2298802"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2D2D2D"/>
                </a:solidFill>
                <a:latin typeface="Microsoft YaHei" pitchFamily="34" charset="0"/>
                <a:ea typeface="Microsoft YaHei" pitchFamily="34" charset="-122"/>
                <a:cs typeface="Microsoft YaHei" pitchFamily="34" charset="-120"/>
              </a:rPr>
              <a:t>能否找到所需的研究参与者？获取难度如何？</a:t>
            </a:r>
            <a:endParaRPr lang="en-US" sz="1100" dirty="0"/>
          </a:p>
        </p:txBody>
      </p:sp>
      <p:sp>
        <p:nvSpPr>
          <p:cNvPr id="18" name="Shape 16"/>
          <p:cNvSpPr/>
          <p:nvPr/>
        </p:nvSpPr>
        <p:spPr>
          <a:xfrm>
            <a:off x="3783787" y="2011680"/>
            <a:ext cx="1576426" cy="2560320"/>
          </a:xfrm>
          <a:prstGeom prst="rect">
            <a:avLst/>
          </a:prstGeom>
          <a:solidFill>
            <a:srgbClr val="E2E2E2"/>
          </a:solidFill>
          <a:ln/>
        </p:spPr>
      </p:sp>
      <p:sp>
        <p:nvSpPr>
          <p:cNvPr id="19" name="Text 17"/>
          <p:cNvSpPr txBox="1"/>
          <p:nvPr/>
        </p:nvSpPr>
        <p:spPr>
          <a:xfrm>
            <a:off x="3984955" y="2176272"/>
            <a:ext cx="1210666"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03</a:t>
            </a:r>
            <a:endParaRPr lang="en-US" sz="2200" dirty="0"/>
          </a:p>
        </p:txBody>
      </p:sp>
      <p:sp>
        <p:nvSpPr>
          <p:cNvPr id="20" name="Text 18"/>
          <p:cNvSpPr txBox="1"/>
          <p:nvPr/>
        </p:nvSpPr>
        <p:spPr>
          <a:xfrm>
            <a:off x="3984955" y="2724912"/>
            <a:ext cx="1210666"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费用预算</a:t>
            </a:r>
            <a:endParaRPr lang="en-US" sz="1400" dirty="0"/>
          </a:p>
        </p:txBody>
      </p:sp>
      <p:sp>
        <p:nvSpPr>
          <p:cNvPr id="21" name="Text 19"/>
          <p:cNvSpPr txBox="1"/>
          <p:nvPr/>
        </p:nvSpPr>
        <p:spPr>
          <a:xfrm>
            <a:off x="3984955"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2D2D2D"/>
                </a:solidFill>
                <a:latin typeface="Microsoft YaHei" pitchFamily="34" charset="0"/>
                <a:ea typeface="Microsoft YaHei" pitchFamily="34" charset="-122"/>
                <a:cs typeface="Microsoft YaHei" pitchFamily="34" charset="-120"/>
              </a:rPr>
              <a:t>研究需要多少资金？是否有或能获得这些资金？</a:t>
            </a:r>
            <a:endParaRPr lang="en-US" sz="1100" dirty="0"/>
          </a:p>
        </p:txBody>
      </p:sp>
      <p:sp>
        <p:nvSpPr>
          <p:cNvPr id="22" name="Shape 20"/>
          <p:cNvSpPr/>
          <p:nvPr/>
        </p:nvSpPr>
        <p:spPr>
          <a:xfrm>
            <a:off x="5469941" y="2011680"/>
            <a:ext cx="1576426" cy="2560320"/>
          </a:xfrm>
          <a:prstGeom prst="rect">
            <a:avLst/>
          </a:prstGeom>
          <a:solidFill>
            <a:srgbClr val="EBEBEB"/>
          </a:solidFill>
          <a:ln/>
        </p:spPr>
      </p:sp>
      <p:sp>
        <p:nvSpPr>
          <p:cNvPr id="23" name="Text 21"/>
          <p:cNvSpPr txBox="1"/>
          <p:nvPr/>
        </p:nvSpPr>
        <p:spPr>
          <a:xfrm>
            <a:off x="5671109" y="2176272"/>
            <a:ext cx="1210666"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04</a:t>
            </a:r>
            <a:endParaRPr lang="en-US" sz="2200" dirty="0"/>
          </a:p>
        </p:txBody>
      </p:sp>
      <p:sp>
        <p:nvSpPr>
          <p:cNvPr id="24" name="Text 22"/>
          <p:cNvSpPr txBox="1"/>
          <p:nvPr/>
        </p:nvSpPr>
        <p:spPr>
          <a:xfrm>
            <a:off x="5671109" y="2724912"/>
            <a:ext cx="1210666"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专业技能</a:t>
            </a:r>
            <a:endParaRPr lang="en-US" sz="1400" dirty="0"/>
          </a:p>
        </p:txBody>
      </p:sp>
      <p:sp>
        <p:nvSpPr>
          <p:cNvPr id="25" name="Text 23"/>
          <p:cNvSpPr txBox="1"/>
          <p:nvPr/>
        </p:nvSpPr>
        <p:spPr>
          <a:xfrm>
            <a:off x="5671109"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2D2D2D"/>
                </a:solidFill>
                <a:latin typeface="Microsoft YaHei" pitchFamily="34" charset="0"/>
                <a:ea typeface="Microsoft YaHei" pitchFamily="34" charset="-122"/>
                <a:cs typeface="Microsoft YaHei" pitchFamily="34" charset="-120"/>
              </a:rPr>
              <a:t>是否具备开展此研究所需的专业水准？</a:t>
            </a:r>
            <a:endParaRPr lang="en-US" sz="1100" dirty="0"/>
          </a:p>
        </p:txBody>
      </p:sp>
      <p:sp>
        <p:nvSpPr>
          <p:cNvPr id="26" name="Shape 24"/>
          <p:cNvSpPr/>
          <p:nvPr/>
        </p:nvSpPr>
        <p:spPr>
          <a:xfrm>
            <a:off x="7156094" y="2011680"/>
            <a:ext cx="1576426" cy="2560320"/>
          </a:xfrm>
          <a:prstGeom prst="rect">
            <a:avLst/>
          </a:prstGeom>
          <a:solidFill>
            <a:srgbClr val="2D2D2D"/>
          </a:solidFill>
          <a:ln/>
        </p:spPr>
      </p:sp>
      <p:sp>
        <p:nvSpPr>
          <p:cNvPr id="27" name="Text 25"/>
          <p:cNvSpPr txBox="1"/>
          <p:nvPr/>
        </p:nvSpPr>
        <p:spPr>
          <a:xfrm>
            <a:off x="7357262" y="2176272"/>
            <a:ext cx="1210666" cy="457200"/>
          </a:xfrm>
          <a:prstGeom prst="rect">
            <a:avLst/>
          </a:prstGeom>
          <a:noFill/>
          <a:ln/>
        </p:spPr>
        <p:txBody>
          <a:bodyPr wrap="square" lIns="0" tIns="0" rIns="0" bIns="0" rtlCol="0" anchor="t"/>
          <a:lstStyle/>
          <a:p>
            <a:pPr indent="0" marL="0">
              <a:buNone/>
            </a:pPr>
            <a:r>
              <a:rPr lang="en-US" sz="2200" b="1" dirty="0">
                <a:solidFill>
                  <a:srgbClr val="40E0D0"/>
                </a:solidFill>
                <a:latin typeface="Poppins" pitchFamily="34" charset="0"/>
                <a:ea typeface="Poppins" pitchFamily="34" charset="-122"/>
                <a:cs typeface="Poppins" pitchFamily="34" charset="-120"/>
              </a:rPr>
              <a:t>05</a:t>
            </a:r>
            <a:endParaRPr lang="en-US" sz="2200" dirty="0"/>
          </a:p>
        </p:txBody>
      </p:sp>
      <p:sp>
        <p:nvSpPr>
          <p:cNvPr id="28" name="Text 26"/>
          <p:cNvSpPr txBox="1"/>
          <p:nvPr/>
        </p:nvSpPr>
        <p:spPr>
          <a:xfrm>
            <a:off x="7357262" y="2724912"/>
            <a:ext cx="1210666" cy="365760"/>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伦理问题</a:t>
            </a:r>
            <a:endParaRPr lang="en-US" sz="1400" dirty="0"/>
          </a:p>
        </p:txBody>
      </p:sp>
      <p:sp>
        <p:nvSpPr>
          <p:cNvPr id="29" name="Text 27"/>
          <p:cNvSpPr txBox="1"/>
          <p:nvPr/>
        </p:nvSpPr>
        <p:spPr>
          <a:xfrm>
            <a:off x="7357262" y="3163824"/>
            <a:ext cx="1192378" cy="1298448"/>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FFFFFF"/>
                </a:solidFill>
                <a:latin typeface="Microsoft YaHei" pitchFamily="34" charset="0"/>
                <a:ea typeface="Microsoft YaHei" pitchFamily="34" charset="-122"/>
                <a:cs typeface="Microsoft YaHei" pitchFamily="34" charset="-120"/>
              </a:rPr>
              <a:t>研究是否涉及敏感的伦理问题？</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可行性评估案例对比</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Feasibility Cases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02  文献检索与可行性评估</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27</a:t>
            </a:r>
            <a:endParaRPr lang="en-US" sz="800" dirty="0"/>
          </a:p>
        </p:txBody>
      </p:sp>
      <p:pic>
        <p:nvPicPr>
          <p:cNvPr id="9" name="Image 0" descr="p21_1">    </p:cNvPr>
          <p:cNvPicPr>
            <a:picLocks noChangeAspect="1"/>
          </p:cNvPicPr>
          <p:nvPr/>
        </p:nvPicPr>
        <p:blipFill>
          <a:blip r:embed="rId1"/>
          <a:stretch>
            <a:fillRect/>
          </a:stretch>
        </p:blipFill>
        <p:spPr>
          <a:xfrm>
            <a:off x="411480" y="1188720"/>
            <a:ext cx="2011680" cy="3383280"/>
          </a:xfrm>
          <a:prstGeom prst="rect">
            <a:avLst/>
          </a:prstGeom>
        </p:spPr>
      </p:pic>
      <p:sp>
        <p:nvSpPr>
          <p:cNvPr id="10" name="Shape 7"/>
          <p:cNvSpPr/>
          <p:nvPr/>
        </p:nvSpPr>
        <p:spPr>
          <a:xfrm>
            <a:off x="2532888" y="1188720"/>
            <a:ext cx="3044952" cy="3383280"/>
          </a:xfrm>
          <a:prstGeom prst="rect">
            <a:avLst/>
          </a:prstGeom>
          <a:solidFill>
            <a:srgbClr val="2D2D2D"/>
          </a:solidFill>
          <a:ln/>
        </p:spPr>
      </p:sp>
      <p:sp>
        <p:nvSpPr>
          <p:cNvPr id="11" name="Text 8"/>
          <p:cNvSpPr txBox="1"/>
          <p:nvPr/>
        </p:nvSpPr>
        <p:spPr>
          <a:xfrm>
            <a:off x="2734056" y="1298448"/>
            <a:ext cx="2679192" cy="384048"/>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  不可行的研究</a:t>
            </a:r>
            <a:endParaRPr lang="en-US" sz="1500" dirty="0"/>
          </a:p>
        </p:txBody>
      </p:sp>
      <p:sp>
        <p:nvSpPr>
          <p:cNvPr id="12" name="Text 9"/>
          <p:cNvSpPr txBox="1"/>
          <p:nvPr/>
        </p:nvSpPr>
        <p:spPr>
          <a:xfrm>
            <a:off x="2734056" y="1737360"/>
            <a:ext cx="2679192" cy="685800"/>
          </a:xfrm>
          <a:prstGeom prst="rect">
            <a:avLst/>
          </a:prstGeom>
          <a:noFill/>
          <a:ln/>
        </p:spPr>
        <p:txBody>
          <a:bodyPr wrap="square" lIns="0" tIns="0" rIns="0" bIns="0" rtlCol="0" anchor="t"/>
          <a:lstStyle/>
          <a:p>
            <a:pPr indent="0" marL="0">
              <a:lnSpc>
                <a:spcPct val="130000"/>
              </a:lnSpc>
              <a:buNone/>
            </a:pPr>
            <a:r>
              <a:rPr lang="en-US" sz="1100" b="1" dirty="0">
                <a:solidFill>
                  <a:srgbClr val="40E0D0"/>
                </a:solidFill>
                <a:latin typeface="Microsoft YaHei" pitchFamily="34" charset="0"/>
                <a:ea typeface="Microsoft YaHei" pitchFamily="34" charset="-122"/>
                <a:cs typeface="Microsoft YaHei" pitchFamily="34" charset="-120"/>
              </a:rPr>
              <a:t>课题：儿童期遭遇性虐待对其未来婚姻关系稳定性的影响</a:t>
            </a:r>
            <a:endParaRPr lang="en-US" sz="1100" dirty="0"/>
          </a:p>
        </p:txBody>
      </p:sp>
      <p:sp>
        <p:nvSpPr>
          <p:cNvPr id="13" name="Text 10"/>
          <p:cNvSpPr txBox="1"/>
          <p:nvPr/>
        </p:nvSpPr>
        <p:spPr>
          <a:xfrm>
            <a:off x="2734056" y="2514600"/>
            <a:ext cx="2679192" cy="196596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FFFFFF"/>
                </a:solidFill>
                <a:latin typeface="Microsoft YaHei" pitchFamily="34" charset="0"/>
                <a:ea typeface="Microsoft YaHei" pitchFamily="34" charset="-122"/>
                <a:cs typeface="Microsoft YaHei" pitchFamily="34" charset="-120"/>
              </a:rPr>
              <a:t>难以找到遭受性虐待的儿童</a:t>
            </a:r>
            <a:endParaRPr lang="en-US" sz="1100" dirty="0"/>
          </a:p>
          <a:p>
            <a:pPr marL="152400" indent="-152400">
              <a:spcAft>
                <a:spcPts val="500"/>
              </a:spcAft>
              <a:buSzPct val="100000"/>
              <a:buChar char="•"/>
            </a:pPr>
            <a:r>
              <a:rPr lang="en-US" sz="1100" dirty="0">
                <a:solidFill>
                  <a:srgbClr val="FFFFFF"/>
                </a:solidFill>
                <a:latin typeface="Microsoft YaHei" pitchFamily="34" charset="0"/>
                <a:ea typeface="Microsoft YaHei" pitchFamily="34" charset="-122"/>
                <a:cs typeface="Microsoft YaHei" pitchFamily="34" charset="-120"/>
              </a:rPr>
              <a:t>需要长期追踪直到结婚</a:t>
            </a:r>
            <a:endParaRPr lang="en-US" sz="1100" dirty="0"/>
          </a:p>
          <a:p>
            <a:pPr marL="152400" indent="-152400">
              <a:spcAft>
                <a:spcPts val="500"/>
              </a:spcAft>
              <a:buSzPct val="100000"/>
              <a:buChar char="•"/>
            </a:pPr>
            <a:r>
              <a:rPr lang="en-US" sz="1100" dirty="0">
                <a:solidFill>
                  <a:srgbClr val="FFFFFF"/>
                </a:solidFill>
                <a:latin typeface="Microsoft YaHei" pitchFamily="34" charset="0"/>
                <a:ea typeface="Microsoft YaHei" pitchFamily="34" charset="-122"/>
                <a:cs typeface="Microsoft YaHei" pitchFamily="34" charset="-120"/>
              </a:rPr>
              <a:t>需要高水平专业技能评估婚姻稳定性</a:t>
            </a:r>
            <a:endParaRPr lang="en-US" sz="1100" dirty="0"/>
          </a:p>
          <a:p>
            <a:pPr marL="152400" indent="-152400">
              <a:spcAft>
                <a:spcPts val="500"/>
              </a:spcAft>
              <a:buSzPct val="100000"/>
              <a:buChar char="•"/>
            </a:pPr>
            <a:r>
              <a:rPr lang="en-US" sz="1100" dirty="0">
                <a:solidFill>
                  <a:srgbClr val="FFFFFF"/>
                </a:solidFill>
                <a:latin typeface="Microsoft YaHei" pitchFamily="34" charset="0"/>
                <a:ea typeface="Microsoft YaHei" pitchFamily="34" charset="-122"/>
                <a:cs typeface="Microsoft YaHei" pitchFamily="34" charset="-120"/>
              </a:rPr>
              <a:t>涉及伦理敏感问题</a:t>
            </a:r>
            <a:endParaRPr lang="en-US" sz="1100" dirty="0"/>
          </a:p>
        </p:txBody>
      </p:sp>
      <p:sp>
        <p:nvSpPr>
          <p:cNvPr id="14" name="Shape 11"/>
          <p:cNvSpPr/>
          <p:nvPr/>
        </p:nvSpPr>
        <p:spPr>
          <a:xfrm>
            <a:off x="5687568" y="1188720"/>
            <a:ext cx="3044952" cy="3383280"/>
          </a:xfrm>
          <a:prstGeom prst="rect">
            <a:avLst/>
          </a:prstGeom>
          <a:solidFill>
            <a:srgbClr val="40E0D0"/>
          </a:solidFill>
          <a:ln/>
        </p:spPr>
      </p:sp>
      <p:sp>
        <p:nvSpPr>
          <p:cNvPr id="15" name="Text 12"/>
          <p:cNvSpPr txBox="1"/>
          <p:nvPr/>
        </p:nvSpPr>
        <p:spPr>
          <a:xfrm>
            <a:off x="5888736" y="1298448"/>
            <a:ext cx="2679192"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  可行的研究</a:t>
            </a:r>
            <a:endParaRPr lang="en-US" sz="1500" dirty="0"/>
          </a:p>
        </p:txBody>
      </p:sp>
      <p:sp>
        <p:nvSpPr>
          <p:cNvPr id="16" name="Text 13"/>
          <p:cNvSpPr txBox="1"/>
          <p:nvPr/>
        </p:nvSpPr>
        <p:spPr>
          <a:xfrm>
            <a:off x="5888736" y="1737360"/>
            <a:ext cx="2679192" cy="685800"/>
          </a:xfrm>
          <a:prstGeom prst="rect">
            <a:avLst/>
          </a:prstGeom>
          <a:noFill/>
          <a:ln/>
        </p:spPr>
        <p:txBody>
          <a:bodyPr wrap="square" lIns="0" tIns="0" rIns="0" bIns="0" rtlCol="0" anchor="t"/>
          <a:lstStyle/>
          <a:p>
            <a:pPr indent="0" marL="0">
              <a:lnSpc>
                <a:spcPct val="130000"/>
              </a:lnSpc>
              <a:buNone/>
            </a:pPr>
            <a:r>
              <a:rPr lang="en-US" sz="1100" b="1" dirty="0">
                <a:solidFill>
                  <a:srgbClr val="2D2D2D"/>
                </a:solidFill>
                <a:latin typeface="Microsoft YaHei" pitchFamily="34" charset="0"/>
                <a:ea typeface="Microsoft YaHei" pitchFamily="34" charset="-122"/>
                <a:cs typeface="Microsoft YaHei" pitchFamily="34" charset="-120"/>
              </a:rPr>
              <a:t>课题：害羞的人寻求帮助的次数是否比不害羞的人少</a:t>
            </a:r>
            <a:endParaRPr lang="en-US" sz="1100" dirty="0"/>
          </a:p>
        </p:txBody>
      </p:sp>
      <p:sp>
        <p:nvSpPr>
          <p:cNvPr id="17" name="Text 14"/>
          <p:cNvSpPr txBox="1"/>
          <p:nvPr/>
        </p:nvSpPr>
        <p:spPr>
          <a:xfrm>
            <a:off x="5888736" y="2514600"/>
            <a:ext cx="2679192" cy="196596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相对容易操作</a:t>
            </a:r>
            <a:endParaRPr lang="en-US" sz="1100" dirty="0"/>
          </a:p>
          <a:p>
            <a:pPr marL="152400" indent="-152400">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对实验者或参与者没有特别技能要求</a:t>
            </a:r>
            <a:endParaRPr lang="en-US" sz="1100" dirty="0"/>
          </a:p>
          <a:p>
            <a:pPr marL="152400" indent="-152400">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费用较低廉</a:t>
            </a:r>
            <a:endParaRPr lang="en-US" sz="1100" dirty="0"/>
          </a:p>
          <a:p>
            <a:pPr marL="152400" indent="-152400">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花费时间不多</a:t>
            </a:r>
            <a:endParaRPr lang="en-US" sz="1100" dirty="0"/>
          </a:p>
          <a:p>
            <a:pPr marL="152400" indent="-152400">
              <a:spcAft>
                <a:spcPts val="500"/>
              </a:spcAft>
              <a:buSzPct val="100000"/>
              <a:buChar char="•"/>
            </a:pPr>
            <a:r>
              <a:rPr lang="en-US" sz="1100" dirty="0">
                <a:solidFill>
                  <a:srgbClr val="2D2D2D"/>
                </a:solidFill>
                <a:latin typeface="Microsoft YaHei" pitchFamily="34" charset="0"/>
                <a:ea typeface="Microsoft YaHei" pitchFamily="34" charset="-122"/>
                <a:cs typeface="Microsoft YaHei" pitchFamily="34" charset="-120"/>
              </a:rPr>
              <a:t>不侵犯参与者权利</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02</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03</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Stating the Research Question</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阐述研究问题</a:t>
            </a:r>
            <a:endParaRPr lang="en-US" sz="3000" dirty="0"/>
          </a:p>
        </p:txBody>
      </p:sp>
      <p:sp>
        <p:nvSpPr>
          <p:cNvPr id="7" name="Shape 5"/>
          <p:cNvSpPr/>
          <p:nvPr/>
        </p:nvSpPr>
        <p:spPr>
          <a:xfrm>
            <a:off x="4023360" y="1828800"/>
            <a:ext cx="4709160" cy="804672"/>
          </a:xfrm>
          <a:prstGeom prst="roundRect">
            <a:avLst>
              <a:gd name="adj" fmla="val 13636"/>
            </a:avLst>
          </a:prstGeom>
          <a:solidFill>
            <a:srgbClr val="EBEBEB"/>
          </a:solidFill>
          <a:ln/>
        </p:spPr>
      </p:sp>
      <p:sp>
        <p:nvSpPr>
          <p:cNvPr id="8" name="Shape 6"/>
          <p:cNvSpPr/>
          <p:nvPr/>
        </p:nvSpPr>
        <p:spPr>
          <a:xfrm>
            <a:off x="4224528" y="2020824"/>
            <a:ext cx="146304" cy="146304"/>
          </a:xfrm>
          <a:prstGeom prst="rect">
            <a:avLst/>
          </a:prstGeom>
          <a:solidFill>
            <a:srgbClr val="40E0D0"/>
          </a:solidFill>
          <a:ln/>
        </p:spPr>
      </p:sp>
      <p:sp>
        <p:nvSpPr>
          <p:cNvPr id="9" name="Text 7"/>
          <p:cNvSpPr txBox="1"/>
          <p:nvPr/>
        </p:nvSpPr>
        <p:spPr>
          <a:xfrm>
            <a:off x="4526280" y="1920240"/>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阐述研究问题的重要性</a:t>
            </a:r>
            <a:endParaRPr lang="en-US" sz="1500" dirty="0"/>
          </a:p>
        </p:txBody>
      </p:sp>
      <p:sp>
        <p:nvSpPr>
          <p:cNvPr id="10" name="Text 8"/>
          <p:cNvSpPr txBox="1"/>
          <p:nvPr/>
        </p:nvSpPr>
        <p:spPr>
          <a:xfrm>
            <a:off x="4526280" y="2276856"/>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什么是研究问题</a:t>
            </a:r>
            <a:endParaRPr lang="en-US" sz="1100" dirty="0"/>
          </a:p>
        </p:txBody>
      </p:sp>
      <p:sp>
        <p:nvSpPr>
          <p:cNvPr id="11" name="Shape 9"/>
          <p:cNvSpPr/>
          <p:nvPr/>
        </p:nvSpPr>
        <p:spPr>
          <a:xfrm>
            <a:off x="4023360" y="2743200"/>
            <a:ext cx="4709160" cy="603504"/>
          </a:xfrm>
          <a:prstGeom prst="roundRect">
            <a:avLst>
              <a:gd name="adj" fmla="val 18182"/>
            </a:avLst>
          </a:prstGeom>
          <a:solidFill>
            <a:srgbClr val="E2E2E2"/>
          </a:solidFill>
          <a:ln/>
        </p:spPr>
      </p:sp>
      <p:sp>
        <p:nvSpPr>
          <p:cNvPr id="12" name="Shape 10"/>
          <p:cNvSpPr/>
          <p:nvPr/>
        </p:nvSpPr>
        <p:spPr>
          <a:xfrm>
            <a:off x="4224528" y="2971800"/>
            <a:ext cx="146304" cy="146304"/>
          </a:xfrm>
          <a:prstGeom prst="rect">
            <a:avLst/>
          </a:prstGeom>
          <a:solidFill>
            <a:srgbClr val="2D2D2D"/>
          </a:solidFill>
          <a:ln/>
        </p:spPr>
      </p:sp>
      <p:sp>
        <p:nvSpPr>
          <p:cNvPr id="13" name="Text 11"/>
          <p:cNvSpPr txBox="1"/>
          <p:nvPr/>
        </p:nvSpPr>
        <p:spPr>
          <a:xfrm>
            <a:off x="4526280" y="28620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好的研究问题的三个标准</a:t>
            </a:r>
            <a:endParaRPr lang="en-US" sz="1500" dirty="0"/>
          </a:p>
        </p:txBody>
      </p:sp>
      <p:sp>
        <p:nvSpPr>
          <p:cNvPr id="14" name="Shape 12"/>
          <p:cNvSpPr/>
          <p:nvPr/>
        </p:nvSpPr>
        <p:spPr>
          <a:xfrm>
            <a:off x="4023360" y="3456432"/>
            <a:ext cx="4709160" cy="804672"/>
          </a:xfrm>
          <a:prstGeom prst="roundRect">
            <a:avLst>
              <a:gd name="adj" fmla="val 13636"/>
            </a:avLst>
          </a:prstGeom>
          <a:solidFill>
            <a:srgbClr val="EBEBEB"/>
          </a:solidFill>
          <a:ln/>
        </p:spPr>
      </p:sp>
      <p:sp>
        <p:nvSpPr>
          <p:cNvPr id="15" name="Shape 13"/>
          <p:cNvSpPr/>
          <p:nvPr/>
        </p:nvSpPr>
        <p:spPr>
          <a:xfrm>
            <a:off x="4224528" y="3648456"/>
            <a:ext cx="146304" cy="146304"/>
          </a:xfrm>
          <a:prstGeom prst="rect">
            <a:avLst/>
          </a:prstGeom>
          <a:solidFill>
            <a:srgbClr val="2D2D2D"/>
          </a:solidFill>
          <a:ln/>
        </p:spPr>
      </p:sp>
      <p:sp>
        <p:nvSpPr>
          <p:cNvPr id="16" name="Text 14"/>
          <p:cNvSpPr txBox="1"/>
          <p:nvPr/>
        </p:nvSpPr>
        <p:spPr>
          <a:xfrm>
            <a:off x="4526280" y="35478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问题的具体化程度</a:t>
            </a:r>
            <a:endParaRPr lang="en-US" sz="1500" dirty="0"/>
          </a:p>
        </p:txBody>
      </p:sp>
      <p:sp>
        <p:nvSpPr>
          <p:cNvPr id="17" name="Text 15"/>
          <p:cNvSpPr txBox="1"/>
          <p:nvPr/>
        </p:nvSpPr>
        <p:spPr>
          <a:xfrm>
            <a:off x="4526280" y="3904488"/>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明确问题陈述的好处</a:t>
            </a:r>
            <a:endParaRPr lang="en-US" sz="1100" dirty="0"/>
          </a:p>
        </p:txBody>
      </p:sp>
      <p:sp>
        <p:nvSpPr>
          <p:cNvPr id="18" name="Shape 16"/>
          <p:cNvSpPr/>
          <p:nvPr/>
        </p:nvSpPr>
        <p:spPr>
          <a:xfrm>
            <a:off x="411480" y="4791456"/>
            <a:ext cx="164592" cy="164592"/>
          </a:xfrm>
          <a:prstGeom prst="rect">
            <a:avLst/>
          </a:prstGeom>
          <a:solidFill>
            <a:srgbClr val="2D2D2D"/>
          </a:solidFill>
          <a:ln/>
        </p:spPr>
      </p:sp>
      <p:sp>
        <p:nvSpPr>
          <p:cNvPr id="19" name="Shape 17"/>
          <p:cNvSpPr/>
          <p:nvPr/>
        </p:nvSpPr>
        <p:spPr>
          <a:xfrm>
            <a:off x="493776" y="4873752"/>
            <a:ext cx="115214" cy="115214"/>
          </a:xfrm>
          <a:prstGeom prst="rect">
            <a:avLst/>
          </a:prstGeom>
          <a:solidFill>
            <a:srgbClr val="FFFFFF"/>
          </a:solidFill>
          <a:ln/>
        </p:spPr>
      </p:sp>
      <p:sp>
        <p:nvSpPr>
          <p:cNvPr id="20" name="Text 18"/>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1" name="Text 19"/>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阐述研究问题的重要性</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Stating the Problem</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阐述研究问题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29</a:t>
            </a:r>
            <a:endParaRPr lang="en-US" sz="800" dirty="0"/>
          </a:p>
        </p:txBody>
      </p:sp>
      <p:sp>
        <p:nvSpPr>
          <p:cNvPr id="9" name="Text 7"/>
          <p:cNvSpPr txBox="1"/>
          <p:nvPr/>
        </p:nvSpPr>
        <p:spPr>
          <a:xfrm>
            <a:off x="411480" y="1097280"/>
            <a:ext cx="8321040" cy="731520"/>
          </a:xfrm>
          <a:prstGeom prst="rect">
            <a:avLst/>
          </a:prstGeom>
          <a:noFill/>
          <a:ln/>
        </p:spPr>
        <p:txBody>
          <a:bodyPr wrap="square" lIns="0" tIns="0" rIns="0" bIns="0" rtlCol="0" anchor="ctr"/>
          <a:lstStyle/>
          <a:p>
            <a:pPr indent="0" marL="0">
              <a:buNone/>
            </a:pPr>
            <a:r>
              <a:rPr lang="en-US" sz="2800" b="1" dirty="0">
                <a:solidFill>
                  <a:srgbClr val="2D2D2D"/>
                </a:solidFill>
                <a:latin typeface="Microsoft YaHei" pitchFamily="34" charset="0"/>
                <a:ea typeface="Microsoft YaHei" pitchFamily="34" charset="-122"/>
                <a:cs typeface="Microsoft YaHei" pitchFamily="34" charset="-120"/>
              </a:rPr>
              <a:t>清晰而确切地表述研究问题</a:t>
            </a:r>
            <a:endParaRPr lang="en-US" sz="2800" dirty="0"/>
          </a:p>
        </p:txBody>
      </p:sp>
      <p:sp>
        <p:nvSpPr>
          <p:cNvPr id="10" name="Shape 8"/>
          <p:cNvSpPr/>
          <p:nvPr/>
        </p:nvSpPr>
        <p:spPr>
          <a:xfrm>
            <a:off x="411480" y="1874520"/>
            <a:ext cx="457200" cy="64008"/>
          </a:xfrm>
          <a:prstGeom prst="rect">
            <a:avLst/>
          </a:prstGeom>
          <a:solidFill>
            <a:srgbClr val="40E0D0"/>
          </a:solidFill>
          <a:ln/>
        </p:spPr>
      </p:sp>
      <p:sp>
        <p:nvSpPr>
          <p:cNvPr id="11" name="Text 9"/>
          <p:cNvSpPr txBox="1"/>
          <p:nvPr/>
        </p:nvSpPr>
        <p:spPr>
          <a:xfrm>
            <a:off x="411480" y="2057400"/>
            <a:ext cx="8321040" cy="868680"/>
          </a:xfrm>
          <a:prstGeom prst="rect">
            <a:avLst/>
          </a:prstGeom>
          <a:noFill/>
          <a:ln/>
        </p:spPr>
        <p:txBody>
          <a:bodyPr wrap="square" lIns="0" tIns="0" rIns="0" bIns="0" rtlCol="0" anchor="t"/>
          <a:lstStyle/>
          <a:p>
            <a:pPr indent="0" marL="0">
              <a:lnSpc>
                <a:spcPct val="140000"/>
              </a:lnSpc>
              <a:buNone/>
            </a:pPr>
            <a:r>
              <a:rPr lang="en-US" sz="1300" dirty="0">
                <a:solidFill>
                  <a:srgbClr val="2D2D2D"/>
                </a:solidFill>
                <a:latin typeface="Microsoft YaHei" pitchFamily="34" charset="0"/>
                <a:ea typeface="Microsoft YaHei" pitchFamily="34" charset="-122"/>
                <a:cs typeface="Microsoft YaHei" pitchFamily="34" charset="-120"/>
              </a:rPr>
              <a:t>现在你应该做好准备对具体的研究问题进行清晰而确切地表述了。文献综述不但揭示了人们现在对相关问题的了解程度，也指出了过往研究在解决问题时所使用的方法。</a:t>
            </a:r>
            <a:endParaRPr lang="en-US" sz="1300" dirty="0"/>
          </a:p>
        </p:txBody>
      </p:sp>
      <p:sp>
        <p:nvSpPr>
          <p:cNvPr id="12" name="Shape 10"/>
          <p:cNvSpPr/>
          <p:nvPr/>
        </p:nvSpPr>
        <p:spPr>
          <a:xfrm>
            <a:off x="411480" y="3154680"/>
            <a:ext cx="8321040" cy="1417320"/>
          </a:xfrm>
          <a:prstGeom prst="rect">
            <a:avLst/>
          </a:prstGeom>
          <a:solidFill>
            <a:srgbClr val="2D2D2D"/>
          </a:solidFill>
          <a:ln/>
        </p:spPr>
      </p:sp>
      <p:sp>
        <p:nvSpPr>
          <p:cNvPr id="13" name="Shape 11"/>
          <p:cNvSpPr/>
          <p:nvPr/>
        </p:nvSpPr>
        <p:spPr>
          <a:xfrm>
            <a:off x="594360" y="3707892"/>
            <a:ext cx="822960" cy="310896"/>
          </a:xfrm>
          <a:prstGeom prst="rect">
            <a:avLst/>
          </a:prstGeom>
          <a:solidFill>
            <a:srgbClr val="40E0D0"/>
          </a:solidFill>
          <a:ln/>
        </p:spPr>
      </p:sp>
      <p:sp>
        <p:nvSpPr>
          <p:cNvPr id="14" name="Text 12"/>
          <p:cNvSpPr txBox="1"/>
          <p:nvPr/>
        </p:nvSpPr>
        <p:spPr>
          <a:xfrm>
            <a:off x="594360" y="3707892"/>
            <a:ext cx="822960" cy="310896"/>
          </a:xfrm>
          <a:prstGeom prst="rect">
            <a:avLst/>
          </a:prstGeom>
          <a:noFill/>
          <a:ln/>
        </p:spPr>
        <p:txBody>
          <a:bodyPr wrap="square" lIns="0" tIns="0" rIns="0" bIns="0" rtlCol="0" anchor="ctr"/>
          <a:lstStyle/>
          <a:p>
            <a:pPr algn="ctr" indent="0" marL="0">
              <a:buNone/>
            </a:pPr>
            <a:r>
              <a:rPr lang="en-US" sz="1100" b="1" dirty="0">
                <a:solidFill>
                  <a:srgbClr val="2D2D2D"/>
                </a:solidFill>
                <a:latin typeface="Microsoft YaHei" pitchFamily="34" charset="0"/>
                <a:ea typeface="Microsoft YaHei" pitchFamily="34" charset="-122"/>
                <a:cs typeface="Microsoft YaHei" pitchFamily="34" charset="-120"/>
              </a:rPr>
              <a:t>警告</a:t>
            </a:r>
            <a:endParaRPr lang="en-US" sz="1100" dirty="0"/>
          </a:p>
        </p:txBody>
      </p:sp>
      <p:sp>
        <p:nvSpPr>
          <p:cNvPr id="15" name="Text 13"/>
          <p:cNvSpPr txBox="1"/>
          <p:nvPr/>
        </p:nvSpPr>
        <p:spPr>
          <a:xfrm>
            <a:off x="1600200" y="3154680"/>
            <a:ext cx="6949440" cy="1417320"/>
          </a:xfrm>
          <a:prstGeom prst="rect">
            <a:avLst/>
          </a:prstGeom>
          <a:noFill/>
          <a:ln/>
        </p:spPr>
        <p:txBody>
          <a:bodyPr wrap="square" lIns="0" tIns="0" rIns="0" bIns="0" rtlCol="0" anchor="ctr"/>
          <a:lstStyle/>
          <a:p>
            <a:pPr indent="0" marL="0">
              <a:lnSpc>
                <a:spcPct val="130000"/>
              </a:lnSpc>
              <a:buNone/>
            </a:pPr>
            <a:r>
              <a:rPr lang="en-US" sz="1150" dirty="0">
                <a:solidFill>
                  <a:srgbClr val="FFFFFF"/>
                </a:solidFill>
                <a:latin typeface="Microsoft YaHei" pitchFamily="34" charset="0"/>
                <a:ea typeface="Microsoft YaHei" pitchFamily="34" charset="-122"/>
                <a:cs typeface="Microsoft YaHei" pitchFamily="34" charset="-120"/>
              </a:rPr>
              <a:t>初学者有时会从研究课题选择阶段直接跳到数据收集阶段，直到数据收集完成后才将问题具体化。这样做容易导致无法获取与感兴趣的问题相关的信息。</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530352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什么是研究问题？</a:t>
            </a:r>
            <a:endParaRPr lang="en-US" sz="2200" dirty="0"/>
          </a:p>
        </p:txBody>
      </p:sp>
      <p:sp>
        <p:nvSpPr>
          <p:cNvPr id="3" name="Text 1"/>
          <p:cNvSpPr txBox="1"/>
          <p:nvPr/>
        </p:nvSpPr>
        <p:spPr>
          <a:xfrm>
            <a:off x="411480" y="731520"/>
            <a:ext cx="530352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Kerlinger (1973)</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阐述研究问题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30</a:t>
            </a:r>
            <a:endParaRPr lang="en-US" sz="800" dirty="0"/>
          </a:p>
        </p:txBody>
      </p:sp>
      <p:pic>
        <p:nvPicPr>
          <p:cNvPr id="9" name="Image 0" descr="p23_1">    </p:cNvPr>
          <p:cNvPicPr>
            <a:picLocks noChangeAspect="1"/>
          </p:cNvPicPr>
          <p:nvPr/>
        </p:nvPicPr>
        <p:blipFill>
          <a:blip r:embed="rId1"/>
          <a:stretch>
            <a:fillRect/>
          </a:stretch>
        </p:blipFill>
        <p:spPr>
          <a:xfrm>
            <a:off x="5989320" y="0"/>
            <a:ext cx="3154680" cy="4636008"/>
          </a:xfrm>
          <a:prstGeom prst="rect">
            <a:avLst/>
          </a:prstGeom>
        </p:spPr>
      </p:pic>
      <p:sp>
        <p:nvSpPr>
          <p:cNvPr id="10" name="Shape 7"/>
          <p:cNvSpPr/>
          <p:nvPr/>
        </p:nvSpPr>
        <p:spPr>
          <a:xfrm>
            <a:off x="411480" y="1188720"/>
            <a:ext cx="5394960" cy="1234440"/>
          </a:xfrm>
          <a:prstGeom prst="rect">
            <a:avLst/>
          </a:prstGeom>
          <a:solidFill>
            <a:srgbClr val="40E0D0"/>
          </a:solidFill>
          <a:ln/>
        </p:spPr>
      </p:sp>
      <p:sp>
        <p:nvSpPr>
          <p:cNvPr id="11" name="Text 8"/>
          <p:cNvSpPr txBox="1"/>
          <p:nvPr/>
        </p:nvSpPr>
        <p:spPr>
          <a:xfrm>
            <a:off x="640080" y="1188720"/>
            <a:ext cx="4983480" cy="1234440"/>
          </a:xfrm>
          <a:prstGeom prst="rect">
            <a:avLst/>
          </a:prstGeom>
          <a:noFill/>
          <a:ln/>
        </p:spPr>
        <p:txBody>
          <a:bodyPr wrap="square" lIns="0" tIns="0" rIns="0" bIns="0" rtlCol="0" anchor="ctr"/>
          <a:lstStyle/>
          <a:p>
            <a:pPr indent="0" marL="0">
              <a:lnSpc>
                <a:spcPct val="135000"/>
              </a:lnSpc>
              <a:buNone/>
            </a:pPr>
            <a:r>
              <a:rPr lang="en-US" sz="1300" b="1" dirty="0">
                <a:solidFill>
                  <a:srgbClr val="2D2D2D"/>
                </a:solidFill>
                <a:latin typeface="Microsoft YaHei" pitchFamily="34" charset="0"/>
                <a:ea typeface="Microsoft YaHei" pitchFamily="34" charset="-122"/>
                <a:cs typeface="Microsoft YaHei" pitchFamily="34" charset="-120"/>
              </a:rPr>
              <a:t>克林格（1973）将研究问题定义为：“一个疑问句或疑问陈述，对‘存在于两个或多个变量之间的关系是什么’进行提问。”</a:t>
            </a:r>
            <a:endParaRPr lang="en-US" sz="1300" dirty="0"/>
          </a:p>
        </p:txBody>
      </p:sp>
      <p:sp>
        <p:nvSpPr>
          <p:cNvPr id="12" name="Shape 9"/>
          <p:cNvSpPr/>
          <p:nvPr/>
        </p:nvSpPr>
        <p:spPr>
          <a:xfrm>
            <a:off x="411480" y="2532888"/>
            <a:ext cx="2642616" cy="2039112"/>
          </a:xfrm>
          <a:prstGeom prst="rect">
            <a:avLst/>
          </a:prstGeom>
          <a:solidFill>
            <a:srgbClr val="EBEBEB"/>
          </a:solidFill>
          <a:ln/>
        </p:spPr>
      </p:sp>
      <p:sp>
        <p:nvSpPr>
          <p:cNvPr id="13" name="Text 10"/>
          <p:cNvSpPr txBox="1"/>
          <p:nvPr/>
        </p:nvSpPr>
        <p:spPr>
          <a:xfrm>
            <a:off x="612648" y="2697480"/>
            <a:ext cx="2276856" cy="457200"/>
          </a:xfrm>
          <a:prstGeom prst="rect">
            <a:avLst/>
          </a:prstGeom>
          <a:noFill/>
          <a:ln/>
        </p:spPr>
        <p:txBody>
          <a:bodyPr wrap="square" lIns="0" tIns="0" rIns="0" bIns="0" rtlCol="0" anchor="t"/>
          <a:lstStyle/>
          <a:p>
            <a:pPr indent="0" marL="0">
              <a:buNone/>
            </a:pPr>
            <a:r>
              <a:rPr lang="en-US" sz="1600" b="1" dirty="0">
                <a:solidFill>
                  <a:srgbClr val="2D2D2D"/>
                </a:solidFill>
                <a:latin typeface="Poppins" pitchFamily="34" charset="0"/>
                <a:ea typeface="Poppins" pitchFamily="34" charset="-122"/>
                <a:cs typeface="Poppins" pitchFamily="34" charset="-120"/>
              </a:rPr>
              <a:t>01</a:t>
            </a:r>
            <a:endParaRPr lang="en-US" sz="1600" dirty="0"/>
          </a:p>
        </p:txBody>
      </p:sp>
      <p:sp>
        <p:nvSpPr>
          <p:cNvPr id="14" name="Text 11"/>
          <p:cNvSpPr txBox="1"/>
          <p:nvPr/>
        </p:nvSpPr>
        <p:spPr>
          <a:xfrm>
            <a:off x="612648" y="3063240"/>
            <a:ext cx="2276856"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定义要素</a:t>
            </a:r>
            <a:endParaRPr lang="en-US" sz="1500" dirty="0"/>
          </a:p>
        </p:txBody>
      </p:sp>
      <p:sp>
        <p:nvSpPr>
          <p:cNvPr id="15" name="Text 12"/>
          <p:cNvSpPr txBox="1"/>
          <p:nvPr/>
        </p:nvSpPr>
        <p:spPr>
          <a:xfrm>
            <a:off x="612648" y="3502152"/>
            <a:ext cx="2258568" cy="960120"/>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2D2D2D"/>
                </a:solidFill>
                <a:latin typeface="Microsoft YaHei" pitchFamily="34" charset="0"/>
                <a:ea typeface="Microsoft YaHei" pitchFamily="34" charset="-122"/>
                <a:cs typeface="Microsoft YaHei" pitchFamily="34" charset="-120"/>
              </a:rPr>
              <a:t>疑问句形式，涉及两个或多个变量，询问变量之间的关系</a:t>
            </a:r>
            <a:endParaRPr lang="en-US" sz="1100" dirty="0"/>
          </a:p>
        </p:txBody>
      </p:sp>
      <p:sp>
        <p:nvSpPr>
          <p:cNvPr id="16" name="Shape 13"/>
          <p:cNvSpPr/>
          <p:nvPr/>
        </p:nvSpPr>
        <p:spPr>
          <a:xfrm>
            <a:off x="3163824" y="2532888"/>
            <a:ext cx="2642616" cy="2039112"/>
          </a:xfrm>
          <a:prstGeom prst="rect">
            <a:avLst/>
          </a:prstGeom>
          <a:solidFill>
            <a:srgbClr val="2D2D2D"/>
          </a:solidFill>
          <a:ln/>
        </p:spPr>
      </p:sp>
      <p:sp>
        <p:nvSpPr>
          <p:cNvPr id="17" name="Text 14"/>
          <p:cNvSpPr txBox="1"/>
          <p:nvPr/>
        </p:nvSpPr>
        <p:spPr>
          <a:xfrm>
            <a:off x="3364992" y="2697480"/>
            <a:ext cx="2276856" cy="457200"/>
          </a:xfrm>
          <a:prstGeom prst="rect">
            <a:avLst/>
          </a:prstGeom>
          <a:noFill/>
          <a:ln/>
        </p:spPr>
        <p:txBody>
          <a:bodyPr wrap="square" lIns="0" tIns="0" rIns="0" bIns="0" rtlCol="0" anchor="t"/>
          <a:lstStyle/>
          <a:p>
            <a:pPr indent="0" marL="0">
              <a:buNone/>
            </a:pPr>
            <a:r>
              <a:rPr lang="en-US" sz="1600" b="1" dirty="0">
                <a:solidFill>
                  <a:srgbClr val="40E0D0"/>
                </a:solidFill>
                <a:latin typeface="Poppins" pitchFamily="34" charset="0"/>
                <a:ea typeface="Poppins" pitchFamily="34" charset="-122"/>
                <a:cs typeface="Poppins" pitchFamily="34" charset="-120"/>
              </a:rPr>
              <a:t>02</a:t>
            </a:r>
            <a:endParaRPr lang="en-US" sz="1600" dirty="0"/>
          </a:p>
        </p:txBody>
      </p:sp>
      <p:sp>
        <p:nvSpPr>
          <p:cNvPr id="18" name="Text 15"/>
          <p:cNvSpPr txBox="1"/>
          <p:nvPr/>
        </p:nvSpPr>
        <p:spPr>
          <a:xfrm>
            <a:off x="3364992" y="3063240"/>
            <a:ext cx="2276856" cy="3657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示例</a:t>
            </a:r>
            <a:endParaRPr lang="en-US" sz="1500" dirty="0"/>
          </a:p>
        </p:txBody>
      </p:sp>
      <p:sp>
        <p:nvSpPr>
          <p:cNvPr id="19" name="Text 16"/>
          <p:cNvSpPr txBox="1"/>
          <p:nvPr/>
        </p:nvSpPr>
        <p:spPr>
          <a:xfrm>
            <a:off x="3364992" y="3502152"/>
            <a:ext cx="2258568" cy="960120"/>
          </a:xfrm>
          <a:prstGeom prst="rect">
            <a:avLst/>
          </a:prstGeom>
          <a:noFill/>
          <a:ln/>
        </p:spPr>
        <p:txBody>
          <a:bodyPr wrap="square" lIns="0" tIns="0" rIns="0" bIns="0" rtlCol="0" anchor="t"/>
          <a:lstStyle/>
          <a:p>
            <a:pPr indent="0" marL="0">
              <a:lnSpc>
                <a:spcPct val="135000"/>
              </a:lnSpc>
              <a:spcAft>
                <a:spcPts val="300"/>
              </a:spcAft>
              <a:buNone/>
            </a:pPr>
            <a:r>
              <a:rPr lang="en-US" sz="1100" dirty="0">
                <a:solidFill>
                  <a:srgbClr val="FFFFFF"/>
                </a:solidFill>
                <a:latin typeface="Microsoft YaHei" pitchFamily="34" charset="0"/>
                <a:ea typeface="Microsoft YaHei" pitchFamily="34" charset="-122"/>
                <a:cs typeface="Microsoft YaHei" pitchFamily="34" charset="-120"/>
              </a:rPr>
              <a:t>米尔格拉姆（1964）：“团队能否诱导个体对另一个表达抗议的人施行越来越严厉的惩罚？”</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好的研究问题的三个标准</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Three Criteria (Kerlinger, 1973)</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阐述研究问题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31</a:t>
            </a:r>
            <a:endParaRPr lang="en-US" sz="800" dirty="0"/>
          </a:p>
        </p:txBody>
      </p:sp>
      <p:sp>
        <p:nvSpPr>
          <p:cNvPr id="9" name="Text 7"/>
          <p:cNvSpPr txBox="1"/>
          <p:nvPr/>
        </p:nvSpPr>
        <p:spPr>
          <a:xfrm>
            <a:off x="411480" y="1143000"/>
            <a:ext cx="8321040" cy="411480"/>
          </a:xfrm>
          <a:prstGeom prst="rect">
            <a:avLst/>
          </a:prstGeom>
          <a:noFill/>
          <a:ln/>
        </p:spPr>
        <p:txBody>
          <a:bodyPr wrap="square" lIns="0" tIns="0" rIns="0" bIns="0" rtlCol="0" anchor="t"/>
          <a:lstStyle/>
          <a:p>
            <a:pPr indent="0" marL="0">
              <a:buNone/>
            </a:pPr>
            <a:r>
              <a:rPr lang="en-US" sz="1250" dirty="0">
                <a:solidFill>
                  <a:srgbClr val="2D2D2D"/>
                </a:solidFill>
                <a:latin typeface="Microsoft YaHei" pitchFamily="34" charset="0"/>
                <a:ea typeface="Microsoft YaHei" pitchFamily="34" charset="-122"/>
                <a:cs typeface="Microsoft YaHei" pitchFamily="34" charset="-120"/>
              </a:rPr>
              <a:t>克林格（1973）提出好问题必须满足的三个标准，这些标准确保研究问题能够被有效地研究和检验。</a:t>
            </a:r>
            <a:endParaRPr lang="en-US" sz="1250" dirty="0"/>
          </a:p>
        </p:txBody>
      </p:sp>
      <p:sp>
        <p:nvSpPr>
          <p:cNvPr id="10" name="Shape 8"/>
          <p:cNvSpPr/>
          <p:nvPr/>
        </p:nvSpPr>
        <p:spPr>
          <a:xfrm>
            <a:off x="411480" y="1691640"/>
            <a:ext cx="2700528" cy="1920240"/>
          </a:xfrm>
          <a:prstGeom prst="rect">
            <a:avLst/>
          </a:prstGeom>
          <a:solidFill>
            <a:srgbClr val="40E0D0"/>
          </a:solidFill>
          <a:ln/>
        </p:spPr>
      </p:sp>
      <p:sp>
        <p:nvSpPr>
          <p:cNvPr id="11" name="Text 9"/>
          <p:cNvSpPr txBox="1"/>
          <p:nvPr/>
        </p:nvSpPr>
        <p:spPr>
          <a:xfrm>
            <a:off x="612648" y="1856232"/>
            <a:ext cx="2334768"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01</a:t>
            </a:r>
            <a:endParaRPr lang="en-US" sz="2200" dirty="0"/>
          </a:p>
        </p:txBody>
      </p:sp>
      <p:sp>
        <p:nvSpPr>
          <p:cNvPr id="12" name="Text 10"/>
          <p:cNvSpPr txBox="1"/>
          <p:nvPr/>
        </p:nvSpPr>
        <p:spPr>
          <a:xfrm>
            <a:off x="612648" y="2359152"/>
            <a:ext cx="2334768"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表明变量关系</a:t>
            </a:r>
            <a:endParaRPr lang="en-US" sz="1500" dirty="0"/>
          </a:p>
        </p:txBody>
      </p:sp>
      <p:sp>
        <p:nvSpPr>
          <p:cNvPr id="13" name="Text 11"/>
          <p:cNvSpPr txBox="1"/>
          <p:nvPr/>
        </p:nvSpPr>
        <p:spPr>
          <a:xfrm>
            <a:off x="612648" y="2798064"/>
            <a:ext cx="2316480" cy="70408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问题中涉及的变量应该表明了某种关系</a:t>
            </a:r>
            <a:endParaRPr lang="en-US" sz="1150" dirty="0"/>
          </a:p>
        </p:txBody>
      </p:sp>
      <p:sp>
        <p:nvSpPr>
          <p:cNvPr id="14" name="Shape 12"/>
          <p:cNvSpPr/>
          <p:nvPr/>
        </p:nvSpPr>
        <p:spPr>
          <a:xfrm>
            <a:off x="3221736" y="1691640"/>
            <a:ext cx="2700528" cy="1920240"/>
          </a:xfrm>
          <a:prstGeom prst="rect">
            <a:avLst/>
          </a:prstGeom>
          <a:solidFill>
            <a:srgbClr val="EBEBEB"/>
          </a:solidFill>
          <a:ln/>
        </p:spPr>
      </p:sp>
      <p:sp>
        <p:nvSpPr>
          <p:cNvPr id="15" name="Text 13"/>
          <p:cNvSpPr txBox="1"/>
          <p:nvPr/>
        </p:nvSpPr>
        <p:spPr>
          <a:xfrm>
            <a:off x="3422904" y="1856232"/>
            <a:ext cx="2334768"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02</a:t>
            </a:r>
            <a:endParaRPr lang="en-US" sz="2200" dirty="0"/>
          </a:p>
        </p:txBody>
      </p:sp>
      <p:sp>
        <p:nvSpPr>
          <p:cNvPr id="16" name="Text 14"/>
          <p:cNvSpPr txBox="1"/>
          <p:nvPr/>
        </p:nvSpPr>
        <p:spPr>
          <a:xfrm>
            <a:off x="3422904" y="2359152"/>
            <a:ext cx="2334768"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提问形式表述</a:t>
            </a:r>
            <a:endParaRPr lang="en-US" sz="1500" dirty="0"/>
          </a:p>
        </p:txBody>
      </p:sp>
      <p:sp>
        <p:nvSpPr>
          <p:cNvPr id="17" name="Text 15"/>
          <p:cNvSpPr txBox="1"/>
          <p:nvPr/>
        </p:nvSpPr>
        <p:spPr>
          <a:xfrm>
            <a:off x="3422904" y="2798064"/>
            <a:ext cx="2316480" cy="70408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问题应该以“什么样的作用”、“在何种条件下”、“这个作用怎样”等方式开头</a:t>
            </a:r>
            <a:endParaRPr lang="en-US" sz="1150" dirty="0"/>
          </a:p>
        </p:txBody>
      </p:sp>
      <p:sp>
        <p:nvSpPr>
          <p:cNvPr id="18" name="Shape 16"/>
          <p:cNvSpPr/>
          <p:nvPr/>
        </p:nvSpPr>
        <p:spPr>
          <a:xfrm>
            <a:off x="6031992" y="1691640"/>
            <a:ext cx="2700528" cy="1920240"/>
          </a:xfrm>
          <a:prstGeom prst="rect">
            <a:avLst/>
          </a:prstGeom>
          <a:solidFill>
            <a:srgbClr val="2D2D2D"/>
          </a:solidFill>
          <a:ln/>
        </p:spPr>
      </p:sp>
      <p:sp>
        <p:nvSpPr>
          <p:cNvPr id="19" name="Text 17"/>
          <p:cNvSpPr txBox="1"/>
          <p:nvPr/>
        </p:nvSpPr>
        <p:spPr>
          <a:xfrm>
            <a:off x="6233160" y="1856232"/>
            <a:ext cx="2334768" cy="457200"/>
          </a:xfrm>
          <a:prstGeom prst="rect">
            <a:avLst/>
          </a:prstGeom>
          <a:noFill/>
          <a:ln/>
        </p:spPr>
        <p:txBody>
          <a:bodyPr wrap="square" lIns="0" tIns="0" rIns="0" bIns="0" rtlCol="0" anchor="t"/>
          <a:lstStyle/>
          <a:p>
            <a:pPr indent="0" marL="0">
              <a:buNone/>
            </a:pPr>
            <a:r>
              <a:rPr lang="en-US" sz="2200" b="1" dirty="0">
                <a:solidFill>
                  <a:srgbClr val="40E0D0"/>
                </a:solidFill>
                <a:latin typeface="Poppins" pitchFamily="34" charset="0"/>
                <a:ea typeface="Poppins" pitchFamily="34" charset="-122"/>
                <a:cs typeface="Poppins" pitchFamily="34" charset="-120"/>
              </a:rPr>
              <a:t>03</a:t>
            </a:r>
            <a:endParaRPr lang="en-US" sz="2200" dirty="0"/>
          </a:p>
        </p:txBody>
      </p:sp>
      <p:sp>
        <p:nvSpPr>
          <p:cNvPr id="20" name="Text 18"/>
          <p:cNvSpPr txBox="1"/>
          <p:nvPr/>
        </p:nvSpPr>
        <p:spPr>
          <a:xfrm>
            <a:off x="6233160" y="2359152"/>
            <a:ext cx="2334768" cy="3657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可实证检验</a:t>
            </a:r>
            <a:endParaRPr lang="en-US" sz="1500" dirty="0"/>
          </a:p>
        </p:txBody>
      </p:sp>
      <p:sp>
        <p:nvSpPr>
          <p:cNvPr id="21" name="Text 19"/>
          <p:cNvSpPr txBox="1"/>
          <p:nvPr/>
        </p:nvSpPr>
        <p:spPr>
          <a:xfrm>
            <a:off x="6233160" y="2798064"/>
            <a:ext cx="2316480" cy="70408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FFFFFF"/>
                </a:solidFill>
                <a:latin typeface="Microsoft YaHei" pitchFamily="34" charset="0"/>
                <a:ea typeface="Microsoft YaHei" pitchFamily="34" charset="-122"/>
                <a:cs typeface="Microsoft YaHei" pitchFamily="34" charset="-120"/>
              </a:rPr>
              <a:t>陈述的问题应该有接受实证检验的可能性</a:t>
            </a:r>
            <a:endParaRPr lang="en-US" sz="1150" dirty="0"/>
          </a:p>
        </p:txBody>
      </p:sp>
      <p:sp>
        <p:nvSpPr>
          <p:cNvPr id="22" name="Shape 20"/>
          <p:cNvSpPr/>
          <p:nvPr/>
        </p:nvSpPr>
        <p:spPr>
          <a:xfrm>
            <a:off x="411480" y="3721608"/>
            <a:ext cx="8321040" cy="850392"/>
          </a:xfrm>
          <a:prstGeom prst="rect">
            <a:avLst/>
          </a:prstGeom>
          <a:solidFill>
            <a:srgbClr val="EBEBEB"/>
          </a:solidFill>
          <a:ln/>
        </p:spPr>
      </p:sp>
      <p:sp>
        <p:nvSpPr>
          <p:cNvPr id="23" name="Shape 21"/>
          <p:cNvSpPr/>
          <p:nvPr/>
        </p:nvSpPr>
        <p:spPr>
          <a:xfrm>
            <a:off x="594360" y="3991356"/>
            <a:ext cx="822960" cy="310896"/>
          </a:xfrm>
          <a:prstGeom prst="rect">
            <a:avLst/>
          </a:prstGeom>
          <a:solidFill>
            <a:srgbClr val="2D2D2D"/>
          </a:solidFill>
          <a:ln/>
        </p:spPr>
      </p:sp>
      <p:sp>
        <p:nvSpPr>
          <p:cNvPr id="24" name="Text 22"/>
          <p:cNvSpPr txBox="1"/>
          <p:nvPr/>
        </p:nvSpPr>
        <p:spPr>
          <a:xfrm>
            <a:off x="594360" y="3991356"/>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注意</a:t>
            </a:r>
            <a:endParaRPr lang="en-US" sz="1100" dirty="0"/>
          </a:p>
        </p:txBody>
      </p:sp>
      <p:sp>
        <p:nvSpPr>
          <p:cNvPr id="25" name="Text 23"/>
          <p:cNvSpPr txBox="1"/>
          <p:nvPr/>
        </p:nvSpPr>
        <p:spPr>
          <a:xfrm>
            <a:off x="1600200" y="3721608"/>
            <a:ext cx="6949440" cy="850392"/>
          </a:xfrm>
          <a:prstGeom prst="rect">
            <a:avLst/>
          </a:prstGeom>
          <a:noFill/>
          <a:ln/>
        </p:spPr>
        <p:txBody>
          <a:bodyPr wrap="square" lIns="0" tIns="0" rIns="0" bIns="0" rtlCol="0" anchor="ctr"/>
          <a:lstStyle/>
          <a:p>
            <a:pPr indent="0" marL="0">
              <a:lnSpc>
                <a:spcPct val="130000"/>
              </a:lnSpc>
              <a:buNone/>
            </a:pPr>
            <a:r>
              <a:rPr lang="en-US" sz="1150" dirty="0">
                <a:solidFill>
                  <a:srgbClr val="2D2D2D"/>
                </a:solidFill>
                <a:latin typeface="Microsoft YaHei" pitchFamily="34" charset="0"/>
                <a:ea typeface="Microsoft YaHei" pitchFamily="34" charset="-122"/>
                <a:cs typeface="Microsoft YaHei" pitchFamily="34" charset="-120"/>
              </a:rPr>
              <a:t>许多有趣且重要的问题都不能满足可实证检验这个标准，因此不能对其进行科学研究。这些问题通常都是围绕道德和宗教展开的。</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问题的具体化程度</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Specificity</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阐述研究问题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32</a:t>
            </a:r>
            <a:endParaRPr lang="en-US" sz="800" dirty="0"/>
          </a:p>
        </p:txBody>
      </p:sp>
      <p:pic>
        <p:nvPicPr>
          <p:cNvPr id="9" name="Image 0" descr="p25_1">    </p:cNvPr>
          <p:cNvPicPr>
            <a:picLocks noChangeAspect="1"/>
          </p:cNvPicPr>
          <p:nvPr/>
        </p:nvPicPr>
        <p:blipFill>
          <a:blip r:embed="rId1"/>
          <a:stretch>
            <a:fillRect/>
          </a:stretch>
        </p:blipFill>
        <p:spPr>
          <a:xfrm>
            <a:off x="411480" y="1188720"/>
            <a:ext cx="2011680" cy="3383280"/>
          </a:xfrm>
          <a:prstGeom prst="rect">
            <a:avLst/>
          </a:prstGeom>
        </p:spPr>
      </p:pic>
      <p:sp>
        <p:nvSpPr>
          <p:cNvPr id="10" name="Text 7"/>
          <p:cNvSpPr txBox="1"/>
          <p:nvPr/>
        </p:nvSpPr>
        <p:spPr>
          <a:xfrm>
            <a:off x="2560320" y="1143000"/>
            <a:ext cx="6172200" cy="548640"/>
          </a:xfrm>
          <a:prstGeom prst="rect">
            <a:avLst/>
          </a:prstGeom>
          <a:noFill/>
          <a:ln/>
        </p:spPr>
        <p:txBody>
          <a:bodyPr wrap="square" lIns="0" tIns="0" rIns="0" bIns="0" rtlCol="0" anchor="t"/>
          <a:lstStyle/>
          <a:p>
            <a:pPr indent="0" marL="0">
              <a:lnSpc>
                <a:spcPct val="130000"/>
              </a:lnSpc>
              <a:buNone/>
            </a:pPr>
            <a:r>
              <a:rPr lang="en-US" sz="1200" dirty="0">
                <a:solidFill>
                  <a:srgbClr val="2D2D2D"/>
                </a:solidFill>
                <a:latin typeface="Microsoft YaHei" pitchFamily="34" charset="0"/>
                <a:ea typeface="Microsoft YaHei" pitchFamily="34" charset="-122"/>
                <a:cs typeface="Microsoft YaHei" pitchFamily="34" charset="-120"/>
              </a:rPr>
              <a:t>研究问题的具体化是阐述问题时需要着重考虑的一个方面。一个明确的表述有助于保证实验者理解这个问题。</a:t>
            </a:r>
            <a:endParaRPr lang="en-US" sz="1200" dirty="0"/>
          </a:p>
        </p:txBody>
      </p:sp>
      <p:sp>
        <p:nvSpPr>
          <p:cNvPr id="11" name="Shape 8"/>
          <p:cNvSpPr/>
          <p:nvPr/>
        </p:nvSpPr>
        <p:spPr>
          <a:xfrm>
            <a:off x="2560320" y="1783080"/>
            <a:ext cx="3035808" cy="2788920"/>
          </a:xfrm>
          <a:prstGeom prst="rect">
            <a:avLst/>
          </a:prstGeom>
          <a:solidFill>
            <a:srgbClr val="E2E2E2"/>
          </a:solidFill>
          <a:ln/>
        </p:spPr>
      </p:sp>
      <p:sp>
        <p:nvSpPr>
          <p:cNvPr id="12" name="Text 9"/>
          <p:cNvSpPr txBox="1"/>
          <p:nvPr/>
        </p:nvSpPr>
        <p:spPr>
          <a:xfrm>
            <a:off x="2743200" y="1874520"/>
            <a:ext cx="2670048"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含糊的问题</a:t>
            </a:r>
            <a:endParaRPr lang="en-US" sz="1400" dirty="0"/>
          </a:p>
        </p:txBody>
      </p:sp>
      <p:sp>
        <p:nvSpPr>
          <p:cNvPr id="13" name="Text 10"/>
          <p:cNvSpPr txBox="1"/>
          <p:nvPr/>
        </p:nvSpPr>
        <p:spPr>
          <a:xfrm>
            <a:off x="2743200" y="2286000"/>
            <a:ext cx="2670048" cy="731520"/>
          </a:xfrm>
          <a:prstGeom prst="rect">
            <a:avLst/>
          </a:prstGeom>
          <a:noFill/>
          <a:ln/>
        </p:spPr>
        <p:txBody>
          <a:bodyPr wrap="square" lIns="0" tIns="0" rIns="0" bIns="0" rtlCol="0" anchor="t"/>
          <a:lstStyle/>
          <a:p>
            <a:pPr indent="0" marL="0">
              <a:lnSpc>
                <a:spcPct val="125000"/>
              </a:lnSpc>
              <a:buNone/>
            </a:pPr>
            <a:r>
              <a:rPr lang="en-US" sz="1300" b="1" dirty="0">
                <a:solidFill>
                  <a:srgbClr val="2D2D2D"/>
                </a:solidFill>
                <a:latin typeface="Microsoft YaHei" pitchFamily="34" charset="0"/>
                <a:ea typeface="Microsoft YaHei" pitchFamily="34" charset="-122"/>
                <a:cs typeface="Microsoft YaHei" pitchFamily="34" charset="-120"/>
              </a:rPr>
              <a:t>“环境对学习能力会有什么影响？”</a:t>
            </a:r>
            <a:endParaRPr lang="en-US" sz="1300" dirty="0"/>
          </a:p>
        </p:txBody>
      </p:sp>
      <p:sp>
        <p:nvSpPr>
          <p:cNvPr id="14" name="Text 11"/>
          <p:cNvSpPr txBox="1"/>
          <p:nvPr/>
        </p:nvSpPr>
        <p:spPr>
          <a:xfrm>
            <a:off x="2743200" y="3063240"/>
            <a:ext cx="2670048" cy="1463040"/>
          </a:xfrm>
          <a:prstGeom prst="rect">
            <a:avLst/>
          </a:prstGeom>
          <a:noFill/>
          <a:ln/>
        </p:spPr>
        <p:txBody>
          <a:bodyPr wrap="square" lIns="0" tIns="0" rIns="0" bIns="0" rtlCol="0" anchor="t"/>
          <a:lstStyle/>
          <a:p>
            <a:pPr indent="0" marL="0">
              <a:lnSpc>
                <a:spcPct val="135000"/>
              </a:lnSpc>
              <a:buNone/>
            </a:pPr>
            <a:r>
              <a:rPr lang="en-US" sz="1050" dirty="0">
                <a:solidFill>
                  <a:srgbClr val="2D2D2D"/>
                </a:solidFill>
                <a:latin typeface="Microsoft YaHei" pitchFamily="34" charset="0"/>
                <a:ea typeface="Microsoft YaHei" pitchFamily="34" charset="-122"/>
                <a:cs typeface="Microsoft YaHei" pitchFamily="34" charset="-120"/>
              </a:rPr>
              <a:t>这个问题表述得如此含糊，以至于研究者搞不清楚到底要研究什么。环境和学习能力这两个概念是模糊的。</a:t>
            </a:r>
            <a:endParaRPr lang="en-US" sz="1050" dirty="0"/>
          </a:p>
        </p:txBody>
      </p:sp>
      <p:sp>
        <p:nvSpPr>
          <p:cNvPr id="15" name="Shape 12"/>
          <p:cNvSpPr/>
          <p:nvPr/>
        </p:nvSpPr>
        <p:spPr>
          <a:xfrm>
            <a:off x="5696712" y="1783080"/>
            <a:ext cx="3035808" cy="2788920"/>
          </a:xfrm>
          <a:prstGeom prst="rect">
            <a:avLst/>
          </a:prstGeom>
          <a:solidFill>
            <a:srgbClr val="40E0D0"/>
          </a:solidFill>
          <a:ln/>
        </p:spPr>
      </p:sp>
      <p:sp>
        <p:nvSpPr>
          <p:cNvPr id="16" name="Text 13"/>
          <p:cNvSpPr txBox="1"/>
          <p:nvPr/>
        </p:nvSpPr>
        <p:spPr>
          <a:xfrm>
            <a:off x="5879592" y="1874520"/>
            <a:ext cx="2670048"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明确的问题</a:t>
            </a:r>
            <a:endParaRPr lang="en-US" sz="1400" dirty="0"/>
          </a:p>
        </p:txBody>
      </p:sp>
      <p:sp>
        <p:nvSpPr>
          <p:cNvPr id="17" name="Text 14"/>
          <p:cNvSpPr txBox="1"/>
          <p:nvPr/>
        </p:nvSpPr>
        <p:spPr>
          <a:xfrm>
            <a:off x="5879592" y="2286000"/>
            <a:ext cx="2670048" cy="731520"/>
          </a:xfrm>
          <a:prstGeom prst="rect">
            <a:avLst/>
          </a:prstGeom>
          <a:noFill/>
          <a:ln/>
        </p:spPr>
        <p:txBody>
          <a:bodyPr wrap="square" lIns="0" tIns="0" rIns="0" bIns="0" rtlCol="0" anchor="t"/>
          <a:lstStyle/>
          <a:p>
            <a:pPr indent="0" marL="0">
              <a:lnSpc>
                <a:spcPct val="125000"/>
              </a:lnSpc>
              <a:buNone/>
            </a:pPr>
            <a:r>
              <a:rPr lang="en-US" sz="1300" b="1" dirty="0">
                <a:solidFill>
                  <a:srgbClr val="2D2D2D"/>
                </a:solidFill>
                <a:latin typeface="Microsoft YaHei" pitchFamily="34" charset="0"/>
                <a:ea typeface="Microsoft YaHei" pitchFamily="34" charset="-122"/>
                <a:cs typeface="Microsoft YaHei" pitchFamily="34" charset="-120"/>
              </a:rPr>
              <a:t>“单词的曝光量对学习单词的速度会有什么样的影响？”</a:t>
            </a:r>
            <a:endParaRPr lang="en-US" sz="1300" dirty="0"/>
          </a:p>
        </p:txBody>
      </p:sp>
      <p:sp>
        <p:nvSpPr>
          <p:cNvPr id="18" name="Text 15"/>
          <p:cNvSpPr txBox="1"/>
          <p:nvPr/>
        </p:nvSpPr>
        <p:spPr>
          <a:xfrm>
            <a:off x="5879592" y="3063240"/>
            <a:ext cx="2670048" cy="1463040"/>
          </a:xfrm>
          <a:prstGeom prst="rect">
            <a:avLst/>
          </a:prstGeom>
          <a:noFill/>
          <a:ln/>
        </p:spPr>
        <p:txBody>
          <a:bodyPr wrap="square" lIns="0" tIns="0" rIns="0" bIns="0" rtlCol="0" anchor="t"/>
          <a:lstStyle/>
          <a:p>
            <a:pPr indent="0" marL="0">
              <a:lnSpc>
                <a:spcPct val="135000"/>
              </a:lnSpc>
              <a:buNone/>
            </a:pPr>
            <a:r>
              <a:rPr lang="en-US" sz="1050" dirty="0">
                <a:solidFill>
                  <a:srgbClr val="2D2D2D"/>
                </a:solidFill>
                <a:latin typeface="Microsoft YaHei" pitchFamily="34" charset="0"/>
                <a:ea typeface="Microsoft YaHei" pitchFamily="34" charset="-122"/>
                <a:cs typeface="Microsoft YaHei" pitchFamily="34" charset="-120"/>
              </a:rPr>
              <a:t>这个问题明确地指出了要研究的问题是什么，有助于做出关于参与者、设备、工具和测量方法的决策。</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明确问题陈述的好处</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Benefits of a Clear Statement</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03  阐述研究问题</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33</a:t>
            </a:r>
            <a:endParaRPr lang="en-US" sz="800" dirty="0"/>
          </a:p>
        </p:txBody>
      </p:sp>
      <p:sp>
        <p:nvSpPr>
          <p:cNvPr id="9" name="Shape 7"/>
          <p:cNvSpPr/>
          <p:nvPr/>
        </p:nvSpPr>
        <p:spPr>
          <a:xfrm>
            <a:off x="411480" y="1188720"/>
            <a:ext cx="2700528" cy="2423160"/>
          </a:xfrm>
          <a:prstGeom prst="rect">
            <a:avLst/>
          </a:prstGeom>
          <a:solidFill>
            <a:srgbClr val="40E0D0"/>
          </a:solidFill>
          <a:ln/>
        </p:spPr>
      </p:sp>
      <p:sp>
        <p:nvSpPr>
          <p:cNvPr id="10" name="Text 8"/>
          <p:cNvSpPr txBox="1"/>
          <p:nvPr/>
        </p:nvSpPr>
        <p:spPr>
          <a:xfrm>
            <a:off x="612648" y="1353312"/>
            <a:ext cx="2334768" cy="45720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01</a:t>
            </a:r>
            <a:endParaRPr lang="en-US" sz="2800" dirty="0"/>
          </a:p>
        </p:txBody>
      </p:sp>
      <p:sp>
        <p:nvSpPr>
          <p:cNvPr id="11" name="Text 9"/>
          <p:cNvSpPr txBox="1"/>
          <p:nvPr/>
        </p:nvSpPr>
        <p:spPr>
          <a:xfrm>
            <a:off x="612648" y="2130552"/>
            <a:ext cx="2334768" cy="365760"/>
          </a:xfrm>
          <a:prstGeom prst="rect">
            <a:avLst/>
          </a:prstGeom>
          <a:noFill/>
          <a:ln/>
        </p:spPr>
        <p:txBody>
          <a:bodyPr wrap="square" lIns="0" tIns="0" rIns="0" bIns="0" rtlCol="0" anchor="ctr"/>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确保理解</a:t>
            </a:r>
            <a:endParaRPr lang="en-US" sz="1700" dirty="0"/>
          </a:p>
        </p:txBody>
      </p:sp>
      <p:sp>
        <p:nvSpPr>
          <p:cNvPr id="12" name="Text 10"/>
          <p:cNvSpPr txBox="1"/>
          <p:nvPr/>
        </p:nvSpPr>
        <p:spPr>
          <a:xfrm>
            <a:off x="612648" y="2569464"/>
            <a:ext cx="2316480" cy="93268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2D2D2D"/>
                </a:solidFill>
                <a:latin typeface="Microsoft YaHei" pitchFamily="34" charset="0"/>
                <a:ea typeface="Microsoft YaHei" pitchFamily="34" charset="-122"/>
                <a:cs typeface="Microsoft YaHei" pitchFamily="34" charset="-120"/>
              </a:rPr>
              <a:t>帮助实验者理解要研究的问题，避免设计出不能解决问题的研究</a:t>
            </a:r>
            <a:endParaRPr lang="en-US" sz="1200" dirty="0"/>
          </a:p>
        </p:txBody>
      </p:sp>
      <p:sp>
        <p:nvSpPr>
          <p:cNvPr id="13" name="Shape 11"/>
          <p:cNvSpPr/>
          <p:nvPr/>
        </p:nvSpPr>
        <p:spPr>
          <a:xfrm>
            <a:off x="3221736" y="1188720"/>
            <a:ext cx="2700528" cy="2423160"/>
          </a:xfrm>
          <a:prstGeom prst="rect">
            <a:avLst/>
          </a:prstGeom>
          <a:solidFill>
            <a:srgbClr val="EBEBEB"/>
          </a:solidFill>
          <a:ln/>
        </p:spPr>
      </p:sp>
      <p:sp>
        <p:nvSpPr>
          <p:cNvPr id="14" name="Text 12"/>
          <p:cNvSpPr txBox="1"/>
          <p:nvPr/>
        </p:nvSpPr>
        <p:spPr>
          <a:xfrm>
            <a:off x="3422904" y="1353312"/>
            <a:ext cx="2334768" cy="45720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02</a:t>
            </a:r>
            <a:endParaRPr lang="en-US" sz="2800" dirty="0"/>
          </a:p>
        </p:txBody>
      </p:sp>
      <p:sp>
        <p:nvSpPr>
          <p:cNvPr id="15" name="Text 13"/>
          <p:cNvSpPr txBox="1"/>
          <p:nvPr/>
        </p:nvSpPr>
        <p:spPr>
          <a:xfrm>
            <a:off x="3422904" y="2130552"/>
            <a:ext cx="2334768" cy="365760"/>
          </a:xfrm>
          <a:prstGeom prst="rect">
            <a:avLst/>
          </a:prstGeom>
          <a:noFill/>
          <a:ln/>
        </p:spPr>
        <p:txBody>
          <a:bodyPr wrap="square" lIns="0" tIns="0" rIns="0" bIns="0" rtlCol="0" anchor="ctr"/>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辅助决策</a:t>
            </a:r>
            <a:endParaRPr lang="en-US" sz="1700" dirty="0"/>
          </a:p>
        </p:txBody>
      </p:sp>
      <p:sp>
        <p:nvSpPr>
          <p:cNvPr id="16" name="Text 14"/>
          <p:cNvSpPr txBox="1"/>
          <p:nvPr/>
        </p:nvSpPr>
        <p:spPr>
          <a:xfrm>
            <a:off x="3422904" y="2569464"/>
            <a:ext cx="2316480" cy="93268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2D2D2D"/>
                </a:solidFill>
                <a:latin typeface="Microsoft YaHei" pitchFamily="34" charset="0"/>
                <a:ea typeface="Microsoft YaHei" pitchFamily="34" charset="-122"/>
                <a:cs typeface="Microsoft YaHei" pitchFamily="34" charset="-120"/>
              </a:rPr>
              <a:t>有利于实验者进行有关参与者、设备、工具和测量方法的决策</a:t>
            </a:r>
            <a:endParaRPr lang="en-US" sz="1200" dirty="0"/>
          </a:p>
        </p:txBody>
      </p:sp>
      <p:sp>
        <p:nvSpPr>
          <p:cNvPr id="17" name="Shape 15"/>
          <p:cNvSpPr/>
          <p:nvPr/>
        </p:nvSpPr>
        <p:spPr>
          <a:xfrm>
            <a:off x="6031992" y="1188720"/>
            <a:ext cx="2700528" cy="2423160"/>
          </a:xfrm>
          <a:prstGeom prst="rect">
            <a:avLst/>
          </a:prstGeom>
          <a:solidFill>
            <a:srgbClr val="2D2D2D"/>
          </a:solidFill>
          <a:ln/>
        </p:spPr>
      </p:sp>
      <p:sp>
        <p:nvSpPr>
          <p:cNvPr id="18" name="Text 16"/>
          <p:cNvSpPr txBox="1"/>
          <p:nvPr/>
        </p:nvSpPr>
        <p:spPr>
          <a:xfrm>
            <a:off x="6233160" y="1353312"/>
            <a:ext cx="2334768" cy="457200"/>
          </a:xfrm>
          <a:prstGeom prst="rect">
            <a:avLst/>
          </a:prstGeom>
          <a:noFill/>
          <a:ln/>
        </p:spPr>
        <p:txBody>
          <a:bodyPr wrap="square" lIns="0" tIns="0" rIns="0" bIns="0" rtlCol="0" anchor="t"/>
          <a:lstStyle/>
          <a:p>
            <a:pPr indent="0" marL="0">
              <a:buNone/>
            </a:pPr>
            <a:r>
              <a:rPr lang="en-US" sz="2800" b="1" dirty="0">
                <a:solidFill>
                  <a:srgbClr val="40E0D0"/>
                </a:solidFill>
                <a:latin typeface="Poppins" pitchFamily="34" charset="0"/>
                <a:ea typeface="Poppins" pitchFamily="34" charset="-122"/>
                <a:cs typeface="Poppins" pitchFamily="34" charset="-120"/>
              </a:rPr>
              <a:t>03</a:t>
            </a:r>
            <a:endParaRPr lang="en-US" sz="2800" dirty="0"/>
          </a:p>
        </p:txBody>
      </p:sp>
      <p:sp>
        <p:nvSpPr>
          <p:cNvPr id="19" name="Text 17"/>
          <p:cNvSpPr txBox="1"/>
          <p:nvPr/>
        </p:nvSpPr>
        <p:spPr>
          <a:xfrm>
            <a:off x="6233160" y="2130552"/>
            <a:ext cx="2334768" cy="365760"/>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指导设计</a:t>
            </a:r>
            <a:endParaRPr lang="en-US" sz="1700" dirty="0"/>
          </a:p>
        </p:txBody>
      </p:sp>
      <p:sp>
        <p:nvSpPr>
          <p:cNvPr id="20" name="Text 18"/>
          <p:cNvSpPr txBox="1"/>
          <p:nvPr/>
        </p:nvSpPr>
        <p:spPr>
          <a:xfrm>
            <a:off x="6233160" y="2569464"/>
            <a:ext cx="2316480" cy="93268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FFFFFF"/>
                </a:solidFill>
                <a:latin typeface="Microsoft YaHei" pitchFamily="34" charset="0"/>
                <a:ea typeface="Microsoft YaHei" pitchFamily="34" charset="-122"/>
                <a:cs typeface="Microsoft YaHei" pitchFamily="34" charset="-120"/>
              </a:rPr>
              <a:t>为如何进行研究设计提供明确方向</a:t>
            </a:r>
            <a:endParaRPr lang="en-US" sz="1200" dirty="0"/>
          </a:p>
        </p:txBody>
      </p:sp>
      <p:sp>
        <p:nvSpPr>
          <p:cNvPr id="21" name="Shape 19"/>
          <p:cNvSpPr/>
          <p:nvPr/>
        </p:nvSpPr>
        <p:spPr>
          <a:xfrm>
            <a:off x="411480" y="3721608"/>
            <a:ext cx="8321040" cy="850392"/>
          </a:xfrm>
          <a:prstGeom prst="roundRect">
            <a:avLst>
              <a:gd name="adj" fmla="val 12903"/>
            </a:avLst>
          </a:prstGeom>
          <a:solidFill>
            <a:srgbClr val="EBEBEB"/>
          </a:solidFill>
          <a:ln/>
        </p:spPr>
      </p:sp>
      <p:sp>
        <p:nvSpPr>
          <p:cNvPr id="22" name="Text 20"/>
          <p:cNvSpPr txBox="1"/>
          <p:nvPr/>
        </p:nvSpPr>
        <p:spPr>
          <a:xfrm>
            <a:off x="640080" y="3721608"/>
            <a:ext cx="7863840" cy="850392"/>
          </a:xfrm>
          <a:prstGeom prst="rect">
            <a:avLst/>
          </a:prstGeom>
          <a:noFill/>
          <a:ln/>
        </p:spPr>
        <p:txBody>
          <a:bodyPr wrap="square" lIns="0" tIns="0" rIns="0" bIns="0" rtlCol="0" anchor="ctr"/>
          <a:lstStyle/>
          <a:p>
            <a:pPr indent="0" marL="0">
              <a:buNone/>
            </a:pPr>
            <a:r>
              <a:rPr lang="en-US" sz="1200" dirty="0">
                <a:solidFill>
                  <a:srgbClr val="2D2D2D"/>
                </a:solidFill>
                <a:latin typeface="Microsoft YaHei" pitchFamily="34" charset="0"/>
                <a:ea typeface="Microsoft YaHei" pitchFamily="34" charset="-122"/>
                <a:cs typeface="Microsoft YaHei" pitchFamily="34" charset="-120"/>
              </a:rPr>
              <a:t>具体化的程度取决于问题陈述的目的。如果对问题的阐述已经足够为这些目的服务，那就不需要再进一步具体化了。</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02</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04</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Forming Hypotheses</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形成假设</a:t>
            </a:r>
            <a:endParaRPr lang="en-US" sz="3000" dirty="0"/>
          </a:p>
        </p:txBody>
      </p:sp>
      <p:sp>
        <p:nvSpPr>
          <p:cNvPr id="7" name="Shape 5"/>
          <p:cNvSpPr/>
          <p:nvPr/>
        </p:nvSpPr>
        <p:spPr>
          <a:xfrm>
            <a:off x="4023360" y="1828800"/>
            <a:ext cx="4709160" cy="603504"/>
          </a:xfrm>
          <a:prstGeom prst="roundRect">
            <a:avLst>
              <a:gd name="adj" fmla="val 18182"/>
            </a:avLst>
          </a:prstGeom>
          <a:solidFill>
            <a:srgbClr val="EBEBEB"/>
          </a:solidFill>
          <a:ln/>
        </p:spPr>
      </p:sp>
      <p:sp>
        <p:nvSpPr>
          <p:cNvPr id="8" name="Shape 6"/>
          <p:cNvSpPr/>
          <p:nvPr/>
        </p:nvSpPr>
        <p:spPr>
          <a:xfrm>
            <a:off x="4224528" y="2057400"/>
            <a:ext cx="146304" cy="146304"/>
          </a:xfrm>
          <a:prstGeom prst="rect">
            <a:avLst/>
          </a:prstGeom>
          <a:solidFill>
            <a:srgbClr val="40E0D0"/>
          </a:solidFill>
          <a:ln/>
        </p:spPr>
      </p:sp>
      <p:sp>
        <p:nvSpPr>
          <p:cNvPr id="9" name="Text 7"/>
          <p:cNvSpPr txBox="1"/>
          <p:nvPr/>
        </p:nvSpPr>
        <p:spPr>
          <a:xfrm>
            <a:off x="4526280" y="19476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假设的来源与标准</a:t>
            </a:r>
            <a:endParaRPr lang="en-US" sz="1500" dirty="0"/>
          </a:p>
        </p:txBody>
      </p:sp>
      <p:sp>
        <p:nvSpPr>
          <p:cNvPr id="10" name="Shape 8"/>
          <p:cNvSpPr/>
          <p:nvPr/>
        </p:nvSpPr>
        <p:spPr>
          <a:xfrm>
            <a:off x="4023360" y="2542032"/>
            <a:ext cx="4709160" cy="804672"/>
          </a:xfrm>
          <a:prstGeom prst="roundRect">
            <a:avLst>
              <a:gd name="adj" fmla="val 13636"/>
            </a:avLst>
          </a:prstGeom>
          <a:solidFill>
            <a:srgbClr val="E2E2E2"/>
          </a:solidFill>
          <a:ln/>
        </p:spPr>
      </p:sp>
      <p:sp>
        <p:nvSpPr>
          <p:cNvPr id="11" name="Shape 9"/>
          <p:cNvSpPr/>
          <p:nvPr/>
        </p:nvSpPr>
        <p:spPr>
          <a:xfrm>
            <a:off x="4224528" y="2734056"/>
            <a:ext cx="146304" cy="146304"/>
          </a:xfrm>
          <a:prstGeom prst="rect">
            <a:avLst/>
          </a:prstGeom>
          <a:solidFill>
            <a:srgbClr val="2D2D2D"/>
          </a:solidFill>
          <a:ln/>
        </p:spPr>
      </p:sp>
      <p:sp>
        <p:nvSpPr>
          <p:cNvPr id="12" name="Text 10"/>
          <p:cNvSpPr txBox="1"/>
          <p:nvPr/>
        </p:nvSpPr>
        <p:spPr>
          <a:xfrm>
            <a:off x="4526280" y="26334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研究假设与虚无假设</a:t>
            </a:r>
            <a:endParaRPr lang="en-US" sz="1500" dirty="0"/>
          </a:p>
        </p:txBody>
      </p:sp>
      <p:sp>
        <p:nvSpPr>
          <p:cNvPr id="13" name="Text 11"/>
          <p:cNvSpPr txBox="1"/>
          <p:nvPr/>
        </p:nvSpPr>
        <p:spPr>
          <a:xfrm>
            <a:off x="4526280" y="2990088"/>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为什么检验虚无假设</a:t>
            </a:r>
            <a:endParaRPr lang="en-US" sz="1100" dirty="0"/>
          </a:p>
        </p:txBody>
      </p:sp>
      <p:sp>
        <p:nvSpPr>
          <p:cNvPr id="14" name="Shape 12"/>
          <p:cNvSpPr/>
          <p:nvPr/>
        </p:nvSpPr>
        <p:spPr>
          <a:xfrm>
            <a:off x="4023360" y="3456432"/>
            <a:ext cx="4709160" cy="804672"/>
          </a:xfrm>
          <a:prstGeom prst="roundRect">
            <a:avLst>
              <a:gd name="adj" fmla="val 13636"/>
            </a:avLst>
          </a:prstGeom>
          <a:solidFill>
            <a:srgbClr val="EBEBEB"/>
          </a:solidFill>
          <a:ln/>
        </p:spPr>
      </p:sp>
      <p:sp>
        <p:nvSpPr>
          <p:cNvPr id="15" name="Shape 13"/>
          <p:cNvSpPr/>
          <p:nvPr/>
        </p:nvSpPr>
        <p:spPr>
          <a:xfrm>
            <a:off x="4224528" y="3648456"/>
            <a:ext cx="146304" cy="146304"/>
          </a:xfrm>
          <a:prstGeom prst="rect">
            <a:avLst/>
          </a:prstGeom>
          <a:solidFill>
            <a:srgbClr val="2D2D2D"/>
          </a:solidFill>
          <a:ln/>
        </p:spPr>
      </p:sp>
      <p:sp>
        <p:nvSpPr>
          <p:cNvPr id="16" name="Text 14"/>
          <p:cNvSpPr txBox="1"/>
          <p:nvPr/>
        </p:nvSpPr>
        <p:spPr>
          <a:xfrm>
            <a:off x="4526280" y="35478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假设的重要作用</a:t>
            </a:r>
            <a:endParaRPr lang="en-US" sz="1500" dirty="0"/>
          </a:p>
        </p:txBody>
      </p:sp>
      <p:sp>
        <p:nvSpPr>
          <p:cNvPr id="17" name="Text 15"/>
          <p:cNvSpPr txBox="1"/>
          <p:nvPr/>
        </p:nvSpPr>
        <p:spPr>
          <a:xfrm>
            <a:off x="4526280" y="3904488"/>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消化性溃疡研究案例</a:t>
            </a:r>
            <a:endParaRPr lang="en-US" sz="1100" dirty="0"/>
          </a:p>
        </p:txBody>
      </p:sp>
      <p:sp>
        <p:nvSpPr>
          <p:cNvPr id="18" name="Shape 16"/>
          <p:cNvSpPr/>
          <p:nvPr/>
        </p:nvSpPr>
        <p:spPr>
          <a:xfrm>
            <a:off x="411480" y="4791456"/>
            <a:ext cx="164592" cy="164592"/>
          </a:xfrm>
          <a:prstGeom prst="rect">
            <a:avLst/>
          </a:prstGeom>
          <a:solidFill>
            <a:srgbClr val="2D2D2D"/>
          </a:solidFill>
          <a:ln/>
        </p:spPr>
      </p:sp>
      <p:sp>
        <p:nvSpPr>
          <p:cNvPr id="19" name="Shape 17"/>
          <p:cNvSpPr/>
          <p:nvPr/>
        </p:nvSpPr>
        <p:spPr>
          <a:xfrm>
            <a:off x="493776" y="4873752"/>
            <a:ext cx="115214" cy="115214"/>
          </a:xfrm>
          <a:prstGeom prst="rect">
            <a:avLst/>
          </a:prstGeom>
          <a:solidFill>
            <a:srgbClr val="FFFFFF"/>
          </a:solidFill>
          <a:ln/>
        </p:spPr>
      </p:sp>
      <p:sp>
        <p:nvSpPr>
          <p:cNvPr id="20" name="Text 18"/>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1" name="Text 19"/>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34</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6035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形成假设</a:t>
            </a:r>
            <a:endParaRPr lang="en-US" sz="2200" dirty="0"/>
          </a:p>
        </p:txBody>
      </p:sp>
      <p:sp>
        <p:nvSpPr>
          <p:cNvPr id="3" name="Text 1"/>
          <p:cNvSpPr txBox="1"/>
          <p:nvPr/>
        </p:nvSpPr>
        <p:spPr>
          <a:xfrm>
            <a:off x="411480" y="731520"/>
            <a:ext cx="6035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Forming a Hypothesis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形成假设</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35</a:t>
            </a:r>
            <a:endParaRPr lang="en-US" sz="800" dirty="0"/>
          </a:p>
        </p:txBody>
      </p:sp>
      <p:pic>
        <p:nvPicPr>
          <p:cNvPr id="9" name="Image 0" descr="p27_1">    </p:cNvPr>
          <p:cNvPicPr>
            <a:picLocks noChangeAspect="1"/>
          </p:cNvPicPr>
          <p:nvPr/>
        </p:nvPicPr>
        <p:blipFill>
          <a:blip r:embed="rId1"/>
          <a:stretch>
            <a:fillRect/>
          </a:stretch>
        </p:blipFill>
        <p:spPr>
          <a:xfrm>
            <a:off x="6720840" y="0"/>
            <a:ext cx="2423160" cy="4636008"/>
          </a:xfrm>
          <a:prstGeom prst="rect">
            <a:avLst/>
          </a:prstGeom>
        </p:spPr>
      </p:pic>
      <p:sp>
        <p:nvSpPr>
          <p:cNvPr id="10" name="Text 7"/>
          <p:cNvSpPr txBox="1"/>
          <p:nvPr/>
        </p:nvSpPr>
        <p:spPr>
          <a:xfrm>
            <a:off x="411480" y="1143000"/>
            <a:ext cx="6126480" cy="73152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回顾完文献，并以提问的方式对研究问题进行表述之后，就应该开始形成假设了。假设代表了对存在于变量之间关系的预测或解决问题的试探性方法。</a:t>
            </a:r>
            <a:endParaRPr lang="en-US" sz="1250" dirty="0"/>
          </a:p>
        </p:txBody>
      </p:sp>
      <p:sp>
        <p:nvSpPr>
          <p:cNvPr id="11" name="Shape 8"/>
          <p:cNvSpPr/>
          <p:nvPr/>
        </p:nvSpPr>
        <p:spPr>
          <a:xfrm>
            <a:off x="411480" y="2011680"/>
            <a:ext cx="2157984" cy="640080"/>
          </a:xfrm>
          <a:prstGeom prst="homePlate">
            <a:avLst/>
          </a:prstGeom>
          <a:solidFill>
            <a:srgbClr val="E2E2E2"/>
          </a:solidFill>
          <a:ln/>
        </p:spPr>
      </p:sp>
      <p:sp>
        <p:nvSpPr>
          <p:cNvPr id="12" name="Text 9"/>
          <p:cNvSpPr txBox="1"/>
          <p:nvPr/>
        </p:nvSpPr>
        <p:spPr>
          <a:xfrm>
            <a:off x="548640" y="2011680"/>
            <a:ext cx="1746504" cy="64008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文献综述</a:t>
            </a:r>
            <a:endParaRPr lang="en-US" sz="1400" dirty="0"/>
          </a:p>
        </p:txBody>
      </p:sp>
      <p:sp>
        <p:nvSpPr>
          <p:cNvPr id="13" name="Shape 10"/>
          <p:cNvSpPr/>
          <p:nvPr/>
        </p:nvSpPr>
        <p:spPr>
          <a:xfrm>
            <a:off x="2395728" y="2011680"/>
            <a:ext cx="2157984" cy="640080"/>
          </a:xfrm>
          <a:prstGeom prst="chevron">
            <a:avLst/>
          </a:prstGeom>
          <a:solidFill>
            <a:srgbClr val="EBEBEB"/>
          </a:solidFill>
          <a:ln/>
        </p:spPr>
      </p:sp>
      <p:sp>
        <p:nvSpPr>
          <p:cNvPr id="14" name="Text 11"/>
          <p:cNvSpPr txBox="1"/>
          <p:nvPr/>
        </p:nvSpPr>
        <p:spPr>
          <a:xfrm>
            <a:off x="2715768" y="2011680"/>
            <a:ext cx="1563624" cy="64008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问题陈述</a:t>
            </a:r>
            <a:endParaRPr lang="en-US" sz="1400" dirty="0"/>
          </a:p>
        </p:txBody>
      </p:sp>
      <p:sp>
        <p:nvSpPr>
          <p:cNvPr id="15" name="Shape 12"/>
          <p:cNvSpPr/>
          <p:nvPr/>
        </p:nvSpPr>
        <p:spPr>
          <a:xfrm>
            <a:off x="4379976" y="2011680"/>
            <a:ext cx="2157984" cy="640080"/>
          </a:xfrm>
          <a:prstGeom prst="chevron">
            <a:avLst/>
          </a:prstGeom>
          <a:solidFill>
            <a:srgbClr val="40E0D0"/>
          </a:solidFill>
          <a:ln/>
        </p:spPr>
      </p:sp>
      <p:sp>
        <p:nvSpPr>
          <p:cNvPr id="16" name="Text 13"/>
          <p:cNvSpPr txBox="1"/>
          <p:nvPr/>
        </p:nvSpPr>
        <p:spPr>
          <a:xfrm>
            <a:off x="4700016" y="2011680"/>
            <a:ext cx="1563624" cy="640080"/>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形成假设</a:t>
            </a:r>
            <a:endParaRPr lang="en-US" sz="1400" dirty="0"/>
          </a:p>
        </p:txBody>
      </p:sp>
      <p:sp>
        <p:nvSpPr>
          <p:cNvPr id="17" name="Text 14"/>
          <p:cNvSpPr txBox="1"/>
          <p:nvPr/>
        </p:nvSpPr>
        <p:spPr>
          <a:xfrm>
            <a:off x="502920" y="2743200"/>
            <a:ext cx="1709928" cy="365760"/>
          </a:xfrm>
          <a:prstGeom prst="rect">
            <a:avLst/>
          </a:prstGeom>
          <a:noFill/>
          <a:ln/>
        </p:spPr>
        <p:txBody>
          <a:bodyPr wrap="square" lIns="0" tIns="0" rIns="0" bIns="0" rtlCol="0" anchor="t"/>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了解现有研究和理论</a:t>
            </a:r>
            <a:endParaRPr lang="en-US" sz="1150" dirty="0"/>
          </a:p>
        </p:txBody>
      </p:sp>
      <p:sp>
        <p:nvSpPr>
          <p:cNvPr id="18" name="Text 15"/>
          <p:cNvSpPr txBox="1"/>
          <p:nvPr/>
        </p:nvSpPr>
        <p:spPr>
          <a:xfrm>
            <a:off x="2487168" y="2743200"/>
            <a:ext cx="1709928" cy="365760"/>
          </a:xfrm>
          <a:prstGeom prst="rect">
            <a:avLst/>
          </a:prstGeom>
          <a:noFill/>
          <a:ln/>
        </p:spPr>
        <p:txBody>
          <a:bodyPr wrap="square" lIns="0" tIns="0" rIns="0" bIns="0" rtlCol="0" anchor="t"/>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明确要研究的问题</a:t>
            </a:r>
            <a:endParaRPr lang="en-US" sz="1150" dirty="0"/>
          </a:p>
        </p:txBody>
      </p:sp>
      <p:sp>
        <p:nvSpPr>
          <p:cNvPr id="19" name="Text 16"/>
          <p:cNvSpPr txBox="1"/>
          <p:nvPr/>
        </p:nvSpPr>
        <p:spPr>
          <a:xfrm>
            <a:off x="4471416" y="2743200"/>
            <a:ext cx="1709928" cy="365760"/>
          </a:xfrm>
          <a:prstGeom prst="rect">
            <a:avLst/>
          </a:prstGeom>
          <a:noFill/>
          <a:ln/>
        </p:spPr>
        <p:txBody>
          <a:bodyPr wrap="square" lIns="0" tIns="0" rIns="0" bIns="0" rtlCol="0" anchor="t"/>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预测变量之间的关系</a:t>
            </a:r>
            <a:endParaRPr lang="en-US" sz="1150" dirty="0"/>
          </a:p>
        </p:txBody>
      </p:sp>
      <p:sp>
        <p:nvSpPr>
          <p:cNvPr id="20" name="Shape 17"/>
          <p:cNvSpPr/>
          <p:nvPr/>
        </p:nvSpPr>
        <p:spPr>
          <a:xfrm>
            <a:off x="411480" y="3337560"/>
            <a:ext cx="6126480" cy="1234440"/>
          </a:xfrm>
          <a:prstGeom prst="rect">
            <a:avLst/>
          </a:prstGeom>
          <a:solidFill>
            <a:srgbClr val="2D2D2D"/>
          </a:solidFill>
          <a:ln/>
        </p:spPr>
      </p:sp>
      <p:sp>
        <p:nvSpPr>
          <p:cNvPr id="21" name="Shape 18"/>
          <p:cNvSpPr/>
          <p:nvPr/>
        </p:nvSpPr>
        <p:spPr>
          <a:xfrm>
            <a:off x="594360" y="3799332"/>
            <a:ext cx="822960" cy="310896"/>
          </a:xfrm>
          <a:prstGeom prst="rect">
            <a:avLst/>
          </a:prstGeom>
          <a:solidFill>
            <a:srgbClr val="40E0D0"/>
          </a:solidFill>
          <a:ln/>
        </p:spPr>
      </p:sp>
      <p:sp>
        <p:nvSpPr>
          <p:cNvPr id="22" name="Text 19"/>
          <p:cNvSpPr txBox="1"/>
          <p:nvPr/>
        </p:nvSpPr>
        <p:spPr>
          <a:xfrm>
            <a:off x="594360" y="3799332"/>
            <a:ext cx="822960" cy="310896"/>
          </a:xfrm>
          <a:prstGeom prst="rect">
            <a:avLst/>
          </a:prstGeom>
          <a:noFill/>
          <a:ln/>
        </p:spPr>
        <p:txBody>
          <a:bodyPr wrap="square" lIns="0" tIns="0" rIns="0" bIns="0" rtlCol="0" anchor="ctr"/>
          <a:lstStyle/>
          <a:p>
            <a:pPr algn="ctr" indent="0" marL="0">
              <a:buNone/>
            </a:pPr>
            <a:r>
              <a:rPr lang="en-US" sz="1100" b="1" dirty="0">
                <a:solidFill>
                  <a:srgbClr val="2D2D2D"/>
                </a:solidFill>
                <a:latin typeface="Microsoft YaHei" pitchFamily="34" charset="0"/>
                <a:ea typeface="Microsoft YaHei" pitchFamily="34" charset="-122"/>
                <a:cs typeface="Microsoft YaHei" pitchFamily="34" charset="-120"/>
              </a:rPr>
              <a:t>示例</a:t>
            </a:r>
            <a:endParaRPr lang="en-US" sz="1100" dirty="0"/>
          </a:p>
        </p:txBody>
      </p:sp>
      <p:sp>
        <p:nvSpPr>
          <p:cNvPr id="23" name="Text 20"/>
          <p:cNvSpPr txBox="1"/>
          <p:nvPr/>
        </p:nvSpPr>
        <p:spPr>
          <a:xfrm>
            <a:off x="1600200" y="3337560"/>
            <a:ext cx="4754880" cy="1234440"/>
          </a:xfrm>
          <a:prstGeom prst="rect">
            <a:avLst/>
          </a:prstGeom>
          <a:noFill/>
          <a:ln/>
        </p:spPr>
        <p:txBody>
          <a:bodyPr wrap="square" lIns="0" tIns="0" rIns="0" bIns="0" rtlCol="0" anchor="ctr"/>
          <a:lstStyle/>
          <a:p>
            <a:pPr indent="0" marL="0">
              <a:lnSpc>
                <a:spcPct val="130000"/>
              </a:lnSpc>
              <a:buNone/>
            </a:pPr>
            <a:r>
              <a:rPr lang="en-US" sz="1150" dirty="0">
                <a:solidFill>
                  <a:srgbClr val="FFFFFF"/>
                </a:solidFill>
                <a:latin typeface="Microsoft YaHei" pitchFamily="34" charset="0"/>
                <a:ea typeface="Microsoft YaHei" pitchFamily="34" charset="-122"/>
                <a:cs typeface="Microsoft YaHei" pitchFamily="34" charset="-120"/>
              </a:rPr>
              <a:t>如果你正在调查旁观者数量对于紧急情况下干预速度的影响，那你也许就可以假设，当旁观者数量增加时干预速度会降低。</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假设的来源</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Sources of Hypotheses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形成假设</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36</a:t>
            </a:r>
            <a:endParaRPr lang="en-US" sz="800" dirty="0"/>
          </a:p>
        </p:txBody>
      </p:sp>
      <p:sp>
        <p:nvSpPr>
          <p:cNvPr id="9" name="Text 7"/>
          <p:cNvSpPr txBox="1"/>
          <p:nvPr/>
        </p:nvSpPr>
        <p:spPr>
          <a:xfrm>
            <a:off x="411480" y="1143000"/>
            <a:ext cx="8321040" cy="68580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需要检验的假设常常是文献综述的结果，虽然假设也经常从理论中得到。理论指导研究，而其中一个方式就是对变量之间可能的关系进行预测。</a:t>
            </a:r>
            <a:endParaRPr lang="en-US" sz="1250" dirty="0"/>
          </a:p>
        </p:txBody>
      </p:sp>
      <p:sp>
        <p:nvSpPr>
          <p:cNvPr id="10" name="Shape 8"/>
          <p:cNvSpPr/>
          <p:nvPr/>
        </p:nvSpPr>
        <p:spPr>
          <a:xfrm>
            <a:off x="411480" y="1920240"/>
            <a:ext cx="4105656" cy="1271016"/>
          </a:xfrm>
          <a:prstGeom prst="rect">
            <a:avLst/>
          </a:prstGeom>
          <a:solidFill>
            <a:srgbClr val="40E0D0"/>
          </a:solidFill>
          <a:ln/>
        </p:spPr>
      </p:sp>
      <p:sp>
        <p:nvSpPr>
          <p:cNvPr id="11" name="Text 9"/>
          <p:cNvSpPr txBox="1"/>
          <p:nvPr/>
        </p:nvSpPr>
        <p:spPr>
          <a:xfrm>
            <a:off x="640080" y="2057400"/>
            <a:ext cx="2916936"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文献综述</a:t>
            </a:r>
            <a:endParaRPr lang="en-US" sz="1500" dirty="0"/>
          </a:p>
        </p:txBody>
      </p:sp>
      <p:sp>
        <p:nvSpPr>
          <p:cNvPr id="12" name="Text 10"/>
          <p:cNvSpPr txBox="1"/>
          <p:nvPr/>
        </p:nvSpPr>
        <p:spPr>
          <a:xfrm>
            <a:off x="640080" y="2468880"/>
            <a:ext cx="2871216" cy="640080"/>
          </a:xfrm>
          <a:prstGeom prst="rect">
            <a:avLst/>
          </a:prstGeom>
          <a:noFill/>
          <a:ln/>
        </p:spPr>
        <p:txBody>
          <a:bodyPr wrap="square" lIns="0" tIns="0" rIns="0" bIns="0" rtlCol="0" anchor="t"/>
          <a:lstStyle/>
          <a:p>
            <a:pPr indent="0" marL="0">
              <a:lnSpc>
                <a:spcPct val="130000"/>
              </a:lnSpc>
              <a:buNone/>
            </a:pPr>
            <a:r>
              <a:rPr lang="en-US" sz="1150" dirty="0">
                <a:solidFill>
                  <a:srgbClr val="2D2D2D"/>
                </a:solidFill>
                <a:latin typeface="Microsoft YaHei" pitchFamily="34" charset="0"/>
                <a:ea typeface="Microsoft YaHei" pitchFamily="34" charset="-122"/>
                <a:cs typeface="Microsoft YaHei" pitchFamily="34" charset="-120"/>
              </a:rPr>
              <a:t>最常见的假设来源，基于先前研究结果</a:t>
            </a:r>
            <a:endParaRPr lang="en-US" sz="1150" dirty="0"/>
          </a:p>
        </p:txBody>
      </p:sp>
      <p:sp>
        <p:nvSpPr>
          <p:cNvPr id="13" name="Shape 11"/>
          <p:cNvSpPr/>
          <p:nvPr/>
        </p:nvSpPr>
        <p:spPr>
          <a:xfrm>
            <a:off x="4626864" y="1920240"/>
            <a:ext cx="4105656" cy="1271016"/>
          </a:xfrm>
          <a:prstGeom prst="rect">
            <a:avLst/>
          </a:prstGeom>
          <a:solidFill>
            <a:srgbClr val="EBEBEB"/>
          </a:solidFill>
          <a:ln/>
        </p:spPr>
      </p:sp>
      <p:sp>
        <p:nvSpPr>
          <p:cNvPr id="14" name="Text 12"/>
          <p:cNvSpPr txBox="1"/>
          <p:nvPr/>
        </p:nvSpPr>
        <p:spPr>
          <a:xfrm>
            <a:off x="5586984" y="2057400"/>
            <a:ext cx="2916936"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理论</a:t>
            </a:r>
            <a:endParaRPr lang="en-US" sz="1500" dirty="0"/>
          </a:p>
        </p:txBody>
      </p:sp>
      <p:sp>
        <p:nvSpPr>
          <p:cNvPr id="15" name="Text 13"/>
          <p:cNvSpPr txBox="1"/>
          <p:nvPr/>
        </p:nvSpPr>
        <p:spPr>
          <a:xfrm>
            <a:off x="5586984" y="2468880"/>
            <a:ext cx="2871216" cy="640080"/>
          </a:xfrm>
          <a:prstGeom prst="rect">
            <a:avLst/>
          </a:prstGeom>
          <a:noFill/>
          <a:ln/>
        </p:spPr>
        <p:txBody>
          <a:bodyPr wrap="square" lIns="0" tIns="0" rIns="0" bIns="0" rtlCol="0" anchor="t"/>
          <a:lstStyle/>
          <a:p>
            <a:pPr indent="0" marL="0">
              <a:lnSpc>
                <a:spcPct val="130000"/>
              </a:lnSpc>
              <a:buNone/>
            </a:pPr>
            <a:r>
              <a:rPr lang="en-US" sz="1150" dirty="0">
                <a:solidFill>
                  <a:srgbClr val="2D2D2D"/>
                </a:solidFill>
                <a:latin typeface="Microsoft YaHei" pitchFamily="34" charset="0"/>
                <a:ea typeface="Microsoft YaHei" pitchFamily="34" charset="-122"/>
                <a:cs typeface="Microsoft YaHei" pitchFamily="34" charset="-120"/>
              </a:rPr>
              <a:t>理论预测变量之间可能的关系</a:t>
            </a:r>
            <a:endParaRPr lang="en-US" sz="1150" dirty="0"/>
          </a:p>
        </p:txBody>
      </p:sp>
      <p:sp>
        <p:nvSpPr>
          <p:cNvPr id="16" name="Shape 14"/>
          <p:cNvSpPr/>
          <p:nvPr/>
        </p:nvSpPr>
        <p:spPr>
          <a:xfrm>
            <a:off x="411480" y="3300984"/>
            <a:ext cx="4105656" cy="1271016"/>
          </a:xfrm>
          <a:prstGeom prst="rect">
            <a:avLst/>
          </a:prstGeom>
          <a:solidFill>
            <a:srgbClr val="EBEBEB"/>
          </a:solidFill>
          <a:ln/>
        </p:spPr>
      </p:sp>
      <p:sp>
        <p:nvSpPr>
          <p:cNvPr id="17" name="Text 15"/>
          <p:cNvSpPr txBox="1"/>
          <p:nvPr/>
        </p:nvSpPr>
        <p:spPr>
          <a:xfrm>
            <a:off x="640080" y="3438144"/>
            <a:ext cx="2916936"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因果观察</a:t>
            </a:r>
            <a:endParaRPr lang="en-US" sz="1500" dirty="0"/>
          </a:p>
        </p:txBody>
      </p:sp>
      <p:sp>
        <p:nvSpPr>
          <p:cNvPr id="18" name="Text 16"/>
          <p:cNvSpPr txBox="1"/>
          <p:nvPr/>
        </p:nvSpPr>
        <p:spPr>
          <a:xfrm>
            <a:off x="640080" y="3849624"/>
            <a:ext cx="2871216" cy="640080"/>
          </a:xfrm>
          <a:prstGeom prst="rect">
            <a:avLst/>
          </a:prstGeom>
          <a:noFill/>
          <a:ln/>
        </p:spPr>
        <p:txBody>
          <a:bodyPr wrap="square" lIns="0" tIns="0" rIns="0" bIns="0" rtlCol="0" anchor="t"/>
          <a:lstStyle/>
          <a:p>
            <a:pPr indent="0" marL="0">
              <a:lnSpc>
                <a:spcPct val="130000"/>
              </a:lnSpc>
              <a:buNone/>
            </a:pPr>
            <a:r>
              <a:rPr lang="en-US" sz="1150" dirty="0">
                <a:solidFill>
                  <a:srgbClr val="2D2D2D"/>
                </a:solidFill>
                <a:latin typeface="Microsoft YaHei" pitchFamily="34" charset="0"/>
                <a:ea typeface="Microsoft YaHei" pitchFamily="34" charset="-122"/>
                <a:cs typeface="Microsoft YaHei" pitchFamily="34" charset="-120"/>
              </a:rPr>
              <a:t>对事件进行因果观察后的推理，较少使用</a:t>
            </a:r>
            <a:endParaRPr lang="en-US" sz="1150" dirty="0"/>
          </a:p>
        </p:txBody>
      </p:sp>
      <p:sp>
        <p:nvSpPr>
          <p:cNvPr id="19" name="Shape 17"/>
          <p:cNvSpPr/>
          <p:nvPr/>
        </p:nvSpPr>
        <p:spPr>
          <a:xfrm>
            <a:off x="4626864" y="3300984"/>
            <a:ext cx="4105656" cy="1271016"/>
          </a:xfrm>
          <a:prstGeom prst="rect">
            <a:avLst/>
          </a:prstGeom>
          <a:solidFill>
            <a:srgbClr val="E2E2E2"/>
          </a:solidFill>
          <a:ln/>
        </p:spPr>
      </p:sp>
      <p:sp>
        <p:nvSpPr>
          <p:cNvPr id="20" name="Text 18"/>
          <p:cNvSpPr txBox="1"/>
          <p:nvPr/>
        </p:nvSpPr>
        <p:spPr>
          <a:xfrm>
            <a:off x="5586984" y="3438144"/>
            <a:ext cx="2916936"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探索性工作</a:t>
            </a:r>
            <a:endParaRPr lang="en-US" sz="1500" dirty="0"/>
          </a:p>
        </p:txBody>
      </p:sp>
      <p:sp>
        <p:nvSpPr>
          <p:cNvPr id="21" name="Text 19"/>
          <p:cNvSpPr txBox="1"/>
          <p:nvPr/>
        </p:nvSpPr>
        <p:spPr>
          <a:xfrm>
            <a:off x="5586984" y="3849624"/>
            <a:ext cx="2871216" cy="640080"/>
          </a:xfrm>
          <a:prstGeom prst="rect">
            <a:avLst/>
          </a:prstGeom>
          <a:noFill/>
          <a:ln/>
        </p:spPr>
        <p:txBody>
          <a:bodyPr wrap="square" lIns="0" tIns="0" rIns="0" bIns="0" rtlCol="0" anchor="t"/>
          <a:lstStyle/>
          <a:p>
            <a:pPr indent="0" marL="0">
              <a:lnSpc>
                <a:spcPct val="130000"/>
              </a:lnSpc>
              <a:buNone/>
            </a:pPr>
            <a:r>
              <a:rPr lang="en-US" sz="1150" dirty="0">
                <a:solidFill>
                  <a:srgbClr val="2D2D2D"/>
                </a:solidFill>
                <a:latin typeface="Microsoft YaHei" pitchFamily="34" charset="0"/>
                <a:ea typeface="Microsoft YaHei" pitchFamily="34" charset="-122"/>
                <a:cs typeface="Microsoft YaHei" pitchFamily="34" charset="-120"/>
              </a:rPr>
              <a:t>在较新领域，重要变量及关系还不为人知时，假设用处较少</a:t>
            </a:r>
            <a:endParaRPr lang="en-US" sz="1150" dirty="0"/>
          </a:p>
        </p:txBody>
      </p:sp>
      <p:sp>
        <p:nvSpPr>
          <p:cNvPr id="22" name="Shape 20"/>
          <p:cNvSpPr/>
          <p:nvPr/>
        </p:nvSpPr>
        <p:spPr>
          <a:xfrm>
            <a:off x="3840480" y="2514600"/>
            <a:ext cx="1463040" cy="1463040"/>
          </a:xfrm>
          <a:prstGeom prst="ellipse">
            <a:avLst/>
          </a:prstGeom>
          <a:solidFill>
            <a:srgbClr val="2D2D2D"/>
          </a:solidFill>
          <a:ln w="50800">
            <a:solidFill>
              <a:srgbClr val="FFFFFF"/>
            </a:solidFill>
            <a:prstDash val="solid"/>
          </a:ln>
        </p:spPr>
      </p:sp>
      <p:sp>
        <p:nvSpPr>
          <p:cNvPr id="23" name="Text 21"/>
          <p:cNvSpPr txBox="1"/>
          <p:nvPr/>
        </p:nvSpPr>
        <p:spPr>
          <a:xfrm>
            <a:off x="3840480" y="2514600"/>
            <a:ext cx="1463040" cy="1463040"/>
          </a:xfrm>
          <a:prstGeom prst="rect">
            <a:avLst/>
          </a:prstGeom>
          <a:noFill/>
          <a:ln/>
        </p:spPr>
        <p:txBody>
          <a:bodyPr wrap="square" lIns="0" tIns="0" rIns="0" bIns="0"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假设</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假设必须满足的标准</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Criterion for Hypotheses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形成假设</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37</a:t>
            </a:r>
            <a:endParaRPr lang="en-US" sz="800" dirty="0"/>
          </a:p>
        </p:txBody>
      </p:sp>
      <p:sp>
        <p:nvSpPr>
          <p:cNvPr id="9" name="Text 7"/>
          <p:cNvSpPr txBox="1"/>
          <p:nvPr/>
        </p:nvSpPr>
        <p:spPr>
          <a:xfrm>
            <a:off x="411480" y="1097280"/>
            <a:ext cx="8321040" cy="731520"/>
          </a:xfrm>
          <a:prstGeom prst="rect">
            <a:avLst/>
          </a:prstGeom>
          <a:noFill/>
          <a:ln/>
        </p:spPr>
        <p:txBody>
          <a:bodyPr wrap="square" lIns="0" tIns="0" rIns="0" bIns="0" rtlCol="0" anchor="ctr"/>
          <a:lstStyle/>
          <a:p>
            <a:pPr indent="0" marL="0">
              <a:buNone/>
            </a:pPr>
            <a:r>
              <a:rPr lang="en-US" sz="2800" b="1" dirty="0">
                <a:solidFill>
                  <a:srgbClr val="2D2D2D"/>
                </a:solidFill>
                <a:latin typeface="Microsoft YaHei" pitchFamily="34" charset="0"/>
                <a:ea typeface="Microsoft YaHei" pitchFamily="34" charset="-122"/>
                <a:cs typeface="Microsoft YaHei" pitchFamily="34" charset="-120"/>
              </a:rPr>
              <a:t>假设必须能被证伪或证实</a:t>
            </a:r>
            <a:endParaRPr lang="en-US" sz="2800" dirty="0"/>
          </a:p>
        </p:txBody>
      </p:sp>
      <p:sp>
        <p:nvSpPr>
          <p:cNvPr id="10" name="Shape 8"/>
          <p:cNvSpPr/>
          <p:nvPr/>
        </p:nvSpPr>
        <p:spPr>
          <a:xfrm>
            <a:off x="411480" y="1874520"/>
            <a:ext cx="457200" cy="64008"/>
          </a:xfrm>
          <a:prstGeom prst="rect">
            <a:avLst/>
          </a:prstGeom>
          <a:solidFill>
            <a:srgbClr val="40E0D0"/>
          </a:solidFill>
          <a:ln/>
        </p:spPr>
      </p:sp>
      <p:sp>
        <p:nvSpPr>
          <p:cNvPr id="11" name="Text 9"/>
          <p:cNvSpPr txBox="1"/>
          <p:nvPr/>
        </p:nvSpPr>
        <p:spPr>
          <a:xfrm>
            <a:off x="411480" y="2011680"/>
            <a:ext cx="8321040" cy="64008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不管假设的来源是什么，它必须符合一个标准：假设的陈述方式必须要确保它能被证伪或证实。在一个实验中，接受检验的是假设而不是问题。</a:t>
            </a:r>
            <a:endParaRPr lang="en-US" sz="1250" dirty="0"/>
          </a:p>
        </p:txBody>
      </p:sp>
      <p:sp>
        <p:nvSpPr>
          <p:cNvPr id="12" name="Shape 10"/>
          <p:cNvSpPr/>
          <p:nvPr/>
        </p:nvSpPr>
        <p:spPr>
          <a:xfrm>
            <a:off x="411480" y="2788920"/>
            <a:ext cx="4105656" cy="1783080"/>
          </a:xfrm>
          <a:prstGeom prst="rect">
            <a:avLst/>
          </a:prstGeom>
          <a:solidFill>
            <a:srgbClr val="40E0D0"/>
          </a:solidFill>
          <a:ln/>
        </p:spPr>
      </p:sp>
      <p:sp>
        <p:nvSpPr>
          <p:cNvPr id="13" name="Text 11"/>
          <p:cNvSpPr txBox="1"/>
          <p:nvPr/>
        </p:nvSpPr>
        <p:spPr>
          <a:xfrm>
            <a:off x="612648" y="2880360"/>
            <a:ext cx="548640" cy="457200"/>
          </a:xfrm>
          <a:prstGeom prst="rect">
            <a:avLst/>
          </a:prstGeom>
          <a:noFill/>
          <a:ln/>
        </p:spPr>
        <p:txBody>
          <a:bodyPr wrap="square" lIns="0" tIns="0" rIns="0" bIns="0" rtlCol="0" anchor="ctr"/>
          <a:lstStyle/>
          <a:p>
            <a:pPr indent="0" marL="0">
              <a:buNone/>
            </a:pPr>
            <a:r>
              <a:rPr lang="en-US" sz="2400" b="1" dirty="0">
                <a:solidFill>
                  <a:srgbClr val="2D2D2D"/>
                </a:solidFill>
                <a:latin typeface="Poppins" pitchFamily="34" charset="0"/>
                <a:ea typeface="Poppins" pitchFamily="34" charset="-122"/>
                <a:cs typeface="Poppins" pitchFamily="34" charset="-120"/>
              </a:rPr>
              <a:t>✓</a:t>
            </a:r>
            <a:endParaRPr lang="en-US" sz="2400" dirty="0"/>
          </a:p>
        </p:txBody>
      </p:sp>
      <p:sp>
        <p:nvSpPr>
          <p:cNvPr id="14" name="Text 12"/>
          <p:cNvSpPr txBox="1"/>
          <p:nvPr/>
        </p:nvSpPr>
        <p:spPr>
          <a:xfrm>
            <a:off x="1143000" y="2880360"/>
            <a:ext cx="3108960" cy="45720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可检验的假设</a:t>
            </a:r>
            <a:endParaRPr lang="en-US" sz="1500" dirty="0"/>
          </a:p>
        </p:txBody>
      </p:sp>
      <p:sp>
        <p:nvSpPr>
          <p:cNvPr id="15" name="Text 13"/>
          <p:cNvSpPr txBox="1"/>
          <p:nvPr/>
        </p:nvSpPr>
        <p:spPr>
          <a:xfrm>
            <a:off x="612648" y="3383280"/>
            <a:ext cx="3703320" cy="1143000"/>
          </a:xfrm>
          <a:prstGeom prst="rect">
            <a:avLst/>
          </a:prstGeom>
          <a:noFill/>
          <a:ln/>
        </p:spPr>
        <p:txBody>
          <a:bodyPr wrap="square" lIns="0" tIns="0" rIns="0" bIns="0" rtlCol="0" anchor="t"/>
          <a:lstStyle/>
          <a:p>
            <a:pPr indent="0" marL="0">
              <a:lnSpc>
                <a:spcPct val="135000"/>
              </a:lnSpc>
              <a:buNone/>
            </a:pPr>
            <a:r>
              <a:rPr lang="en-US" sz="1100" dirty="0">
                <a:solidFill>
                  <a:srgbClr val="2D2D2D"/>
                </a:solidFill>
                <a:latin typeface="Microsoft YaHei" pitchFamily="34" charset="0"/>
                <a:ea typeface="Microsoft YaHei" pitchFamily="34" charset="-122"/>
                <a:cs typeface="Microsoft YaHei" pitchFamily="34" charset="-120"/>
              </a:rPr>
              <a:t>米尔格拉姆的假设：“团队压力增加了参与者施行惩罚的严厉程度。”这个假设可以通过实验进行检验。</a:t>
            </a:r>
            <a:endParaRPr lang="en-US" sz="1100" dirty="0"/>
          </a:p>
        </p:txBody>
      </p:sp>
      <p:sp>
        <p:nvSpPr>
          <p:cNvPr id="16" name="Shape 14"/>
          <p:cNvSpPr/>
          <p:nvPr/>
        </p:nvSpPr>
        <p:spPr>
          <a:xfrm>
            <a:off x="4626864" y="2788920"/>
            <a:ext cx="4105656" cy="1783080"/>
          </a:xfrm>
          <a:prstGeom prst="rect">
            <a:avLst/>
          </a:prstGeom>
          <a:solidFill>
            <a:srgbClr val="2D2D2D"/>
          </a:solidFill>
          <a:ln/>
        </p:spPr>
      </p:sp>
      <p:sp>
        <p:nvSpPr>
          <p:cNvPr id="17" name="Text 15"/>
          <p:cNvSpPr txBox="1"/>
          <p:nvPr/>
        </p:nvSpPr>
        <p:spPr>
          <a:xfrm>
            <a:off x="4828032" y="2880360"/>
            <a:ext cx="548640" cy="457200"/>
          </a:xfrm>
          <a:prstGeom prst="rect">
            <a:avLst/>
          </a:prstGeom>
          <a:noFill/>
          <a:ln/>
        </p:spPr>
        <p:txBody>
          <a:bodyPr wrap="square" lIns="0" tIns="0" rIns="0" bIns="0" rtlCol="0" anchor="ctr"/>
          <a:lstStyle/>
          <a:p>
            <a:pPr indent="0" marL="0">
              <a:buNone/>
            </a:pPr>
            <a:r>
              <a:rPr lang="en-US" sz="2400" b="1" dirty="0">
                <a:solidFill>
                  <a:srgbClr val="40E0D0"/>
                </a:solidFill>
                <a:latin typeface="Poppins" pitchFamily="34" charset="0"/>
                <a:ea typeface="Poppins" pitchFamily="34" charset="-122"/>
                <a:cs typeface="Poppins" pitchFamily="34" charset="-120"/>
              </a:rPr>
              <a:t>✕</a:t>
            </a:r>
            <a:endParaRPr lang="en-US" sz="2400" dirty="0"/>
          </a:p>
        </p:txBody>
      </p:sp>
      <p:sp>
        <p:nvSpPr>
          <p:cNvPr id="18" name="Text 16"/>
          <p:cNvSpPr txBox="1"/>
          <p:nvPr/>
        </p:nvSpPr>
        <p:spPr>
          <a:xfrm>
            <a:off x="5358384" y="2880360"/>
            <a:ext cx="3108960" cy="45720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不可检验的假设</a:t>
            </a:r>
            <a:endParaRPr lang="en-US" sz="1500" dirty="0"/>
          </a:p>
        </p:txBody>
      </p:sp>
      <p:sp>
        <p:nvSpPr>
          <p:cNvPr id="19" name="Text 17"/>
          <p:cNvSpPr txBox="1"/>
          <p:nvPr/>
        </p:nvSpPr>
        <p:spPr>
          <a:xfrm>
            <a:off x="4828032" y="3383280"/>
            <a:ext cx="3703320" cy="1143000"/>
          </a:xfrm>
          <a:prstGeom prst="rect">
            <a:avLst/>
          </a:prstGeom>
          <a:noFill/>
          <a:ln/>
        </p:spPr>
        <p:txBody>
          <a:bodyPr wrap="square" lIns="0" tIns="0" rIns="0" bIns="0" rtlCol="0" anchor="t"/>
          <a:lstStyle/>
          <a:p>
            <a:pPr indent="0" marL="0">
              <a:lnSpc>
                <a:spcPct val="135000"/>
              </a:lnSpc>
              <a:buNone/>
            </a:pPr>
            <a:r>
              <a:rPr lang="en-US" sz="1100" dirty="0">
                <a:solidFill>
                  <a:srgbClr val="FFFFFF"/>
                </a:solidFill>
                <a:latin typeface="Microsoft YaHei" pitchFamily="34" charset="0"/>
                <a:ea typeface="Microsoft YaHei" pitchFamily="34" charset="-122"/>
                <a:cs typeface="Microsoft YaHei" pitchFamily="34" charset="-120"/>
              </a:rPr>
              <a:t>一个无法满足可检验性标准的假设会把研究问题带离科学研究的轨道。任何来自不可检验假设的结论，都不能代表科学知识。</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6035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研究假设与虚无假设</a:t>
            </a:r>
            <a:endParaRPr lang="en-US" sz="2200" dirty="0"/>
          </a:p>
        </p:txBody>
      </p:sp>
      <p:sp>
        <p:nvSpPr>
          <p:cNvPr id="3" name="Text 1"/>
          <p:cNvSpPr txBox="1"/>
          <p:nvPr/>
        </p:nvSpPr>
        <p:spPr>
          <a:xfrm>
            <a:off x="411480" y="731520"/>
            <a:ext cx="6035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 vs. Null Hypothesis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形成假设</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38</a:t>
            </a:r>
            <a:endParaRPr lang="en-US" sz="800" dirty="0"/>
          </a:p>
        </p:txBody>
      </p:sp>
      <p:pic>
        <p:nvPicPr>
          <p:cNvPr id="9" name="Image 0" descr="p30_1">    </p:cNvPr>
          <p:cNvPicPr>
            <a:picLocks noChangeAspect="1"/>
          </p:cNvPicPr>
          <p:nvPr/>
        </p:nvPicPr>
        <p:blipFill>
          <a:blip r:embed="rId1"/>
          <a:stretch>
            <a:fillRect/>
          </a:stretch>
        </p:blipFill>
        <p:spPr>
          <a:xfrm>
            <a:off x="6720840" y="0"/>
            <a:ext cx="2423160" cy="4636008"/>
          </a:xfrm>
          <a:prstGeom prst="rect">
            <a:avLst/>
          </a:prstGeom>
        </p:spPr>
      </p:pic>
      <p:sp>
        <p:nvSpPr>
          <p:cNvPr id="10" name="Text 7"/>
          <p:cNvSpPr txBox="1"/>
          <p:nvPr/>
        </p:nvSpPr>
        <p:spPr>
          <a:xfrm>
            <a:off x="411480" y="1143000"/>
            <a:ext cx="6126480" cy="73152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我们必须对研究假设和虚无假设进行区分。研究假设代表了研究者对研究变量之间的关系的预测。而虚无假设是对研究变量之间不存在关系的一种陈述。</a:t>
            </a:r>
            <a:endParaRPr lang="en-US" sz="1250" dirty="0"/>
          </a:p>
        </p:txBody>
      </p:sp>
      <p:sp>
        <p:nvSpPr>
          <p:cNvPr id="11" name="Shape 8"/>
          <p:cNvSpPr/>
          <p:nvPr/>
        </p:nvSpPr>
        <p:spPr>
          <a:xfrm>
            <a:off x="411480" y="2011680"/>
            <a:ext cx="3008376" cy="2560320"/>
          </a:xfrm>
          <a:prstGeom prst="rect">
            <a:avLst/>
          </a:prstGeom>
          <a:solidFill>
            <a:srgbClr val="40E0D0"/>
          </a:solidFill>
          <a:ln/>
        </p:spPr>
      </p:sp>
      <p:sp>
        <p:nvSpPr>
          <p:cNvPr id="12" name="Text 9"/>
          <p:cNvSpPr txBox="1"/>
          <p:nvPr/>
        </p:nvSpPr>
        <p:spPr>
          <a:xfrm>
            <a:off x="612648" y="2176272"/>
            <a:ext cx="2642616" cy="457200"/>
          </a:xfrm>
          <a:prstGeom prst="rect">
            <a:avLst/>
          </a:prstGeom>
          <a:noFill/>
          <a:ln/>
        </p:spPr>
        <p:txBody>
          <a:bodyPr wrap="square" lIns="0" tIns="0" rIns="0" bIns="0" rtlCol="0" anchor="t"/>
          <a:lstStyle/>
          <a:p>
            <a:pPr indent="0" marL="0">
              <a:buNone/>
            </a:pPr>
            <a:r>
              <a:rPr lang="en-US" sz="2200" b="1" dirty="0">
                <a:solidFill>
                  <a:srgbClr val="2D2D2D"/>
                </a:solidFill>
                <a:latin typeface="Poppins" pitchFamily="34" charset="0"/>
                <a:ea typeface="Poppins" pitchFamily="34" charset="-122"/>
                <a:cs typeface="Poppins" pitchFamily="34" charset="-120"/>
              </a:rPr>
              <a:t>01</a:t>
            </a:r>
            <a:endParaRPr lang="en-US" sz="2200" dirty="0"/>
          </a:p>
        </p:txBody>
      </p:sp>
      <p:sp>
        <p:nvSpPr>
          <p:cNvPr id="13" name="Text 10"/>
          <p:cNvSpPr txBox="1"/>
          <p:nvPr/>
        </p:nvSpPr>
        <p:spPr>
          <a:xfrm>
            <a:off x="612648" y="2724912"/>
            <a:ext cx="2642616" cy="36576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研究假设</a:t>
            </a:r>
            <a:endParaRPr lang="en-US" sz="1600" dirty="0"/>
          </a:p>
        </p:txBody>
      </p:sp>
      <p:sp>
        <p:nvSpPr>
          <p:cNvPr id="14" name="Text 11"/>
          <p:cNvSpPr txBox="1"/>
          <p:nvPr/>
        </p:nvSpPr>
        <p:spPr>
          <a:xfrm>
            <a:off x="612648" y="3163824"/>
            <a:ext cx="2624328" cy="129844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2D2D2D"/>
                </a:solidFill>
                <a:latin typeface="Microsoft YaHei" pitchFamily="34" charset="0"/>
                <a:ea typeface="Microsoft YaHei" pitchFamily="34" charset="-122"/>
                <a:cs typeface="Microsoft YaHei" pitchFamily="34" charset="-120"/>
              </a:rPr>
              <a:t>哈什特劳迪等人（1983）的研究假设：意义语境的联想会使酒精诱发的记忆缺失减少</a:t>
            </a:r>
            <a:endParaRPr lang="en-US" sz="1200" dirty="0"/>
          </a:p>
        </p:txBody>
      </p:sp>
      <p:sp>
        <p:nvSpPr>
          <p:cNvPr id="15" name="Shape 12"/>
          <p:cNvSpPr/>
          <p:nvPr/>
        </p:nvSpPr>
        <p:spPr>
          <a:xfrm>
            <a:off x="3529584" y="2011680"/>
            <a:ext cx="3008376" cy="2560320"/>
          </a:xfrm>
          <a:prstGeom prst="rect">
            <a:avLst/>
          </a:prstGeom>
          <a:solidFill>
            <a:srgbClr val="2D2D2D"/>
          </a:solidFill>
          <a:ln/>
        </p:spPr>
      </p:sp>
      <p:sp>
        <p:nvSpPr>
          <p:cNvPr id="16" name="Text 13"/>
          <p:cNvSpPr txBox="1"/>
          <p:nvPr/>
        </p:nvSpPr>
        <p:spPr>
          <a:xfrm>
            <a:off x="3730752" y="2176272"/>
            <a:ext cx="2642616" cy="457200"/>
          </a:xfrm>
          <a:prstGeom prst="rect">
            <a:avLst/>
          </a:prstGeom>
          <a:noFill/>
          <a:ln/>
        </p:spPr>
        <p:txBody>
          <a:bodyPr wrap="square" lIns="0" tIns="0" rIns="0" bIns="0" rtlCol="0" anchor="t"/>
          <a:lstStyle/>
          <a:p>
            <a:pPr indent="0" marL="0">
              <a:buNone/>
            </a:pPr>
            <a:r>
              <a:rPr lang="en-US" sz="2200" b="1" dirty="0">
                <a:solidFill>
                  <a:srgbClr val="40E0D0"/>
                </a:solidFill>
                <a:latin typeface="Poppins" pitchFamily="34" charset="0"/>
                <a:ea typeface="Poppins" pitchFamily="34" charset="-122"/>
                <a:cs typeface="Poppins" pitchFamily="34" charset="-120"/>
              </a:rPr>
              <a:t>02</a:t>
            </a:r>
            <a:endParaRPr lang="en-US" sz="2200" dirty="0"/>
          </a:p>
        </p:txBody>
      </p:sp>
      <p:sp>
        <p:nvSpPr>
          <p:cNvPr id="17" name="Text 14"/>
          <p:cNvSpPr txBox="1"/>
          <p:nvPr/>
        </p:nvSpPr>
        <p:spPr>
          <a:xfrm>
            <a:off x="3730752" y="2724912"/>
            <a:ext cx="2642616" cy="365760"/>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虚无假设</a:t>
            </a:r>
            <a:endParaRPr lang="en-US" sz="1600" dirty="0"/>
          </a:p>
        </p:txBody>
      </p:sp>
      <p:sp>
        <p:nvSpPr>
          <p:cNvPr id="18" name="Text 15"/>
          <p:cNvSpPr txBox="1"/>
          <p:nvPr/>
        </p:nvSpPr>
        <p:spPr>
          <a:xfrm>
            <a:off x="3730752" y="3163824"/>
            <a:ext cx="2624328" cy="129844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FFFFFF"/>
                </a:solidFill>
                <a:latin typeface="Microsoft YaHei" pitchFamily="34" charset="0"/>
                <a:ea typeface="Microsoft YaHei" pitchFamily="34" charset="-122"/>
                <a:cs typeface="Microsoft YaHei" pitchFamily="34" charset="-120"/>
              </a:rPr>
              <a:t>进行意义语境联想的醉酒者和未这样做的醉酒者在回忆能力上没有差别</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为什么检验虚无假设？</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Why Test the Null Hypothesis?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形成假设</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39</a:t>
            </a:r>
            <a:endParaRPr lang="en-US" sz="800" dirty="0"/>
          </a:p>
        </p:txBody>
      </p:sp>
      <p:sp>
        <p:nvSpPr>
          <p:cNvPr id="9" name="Text 7"/>
          <p:cNvSpPr txBox="1"/>
          <p:nvPr/>
        </p:nvSpPr>
        <p:spPr>
          <a:xfrm>
            <a:off x="411480" y="1143000"/>
            <a:ext cx="8321040" cy="68580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虽然看起来一项研究似乎是在强调对研究假设进行直接检验，但事实上却并非如此。任何一个依赖统计假设检验的研究，检验的都是虚无假设。</a:t>
            </a:r>
            <a:endParaRPr lang="en-US" sz="1250" dirty="0"/>
          </a:p>
        </p:txBody>
      </p:sp>
      <p:sp>
        <p:nvSpPr>
          <p:cNvPr id="10" name="Shape 8"/>
          <p:cNvSpPr/>
          <p:nvPr/>
        </p:nvSpPr>
        <p:spPr>
          <a:xfrm>
            <a:off x="411480" y="1920240"/>
            <a:ext cx="2889504" cy="566928"/>
          </a:xfrm>
          <a:prstGeom prst="homePlate">
            <a:avLst/>
          </a:prstGeom>
          <a:solidFill>
            <a:srgbClr val="E2E2E2"/>
          </a:solidFill>
          <a:ln/>
        </p:spPr>
      </p:sp>
      <p:sp>
        <p:nvSpPr>
          <p:cNvPr id="11" name="Text 9"/>
          <p:cNvSpPr txBox="1"/>
          <p:nvPr/>
        </p:nvSpPr>
        <p:spPr>
          <a:xfrm>
            <a:off x="548640" y="1920240"/>
            <a:ext cx="2478024"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研究假设无法明确</a:t>
            </a:r>
            <a:endParaRPr lang="en-US" sz="1400" dirty="0"/>
          </a:p>
        </p:txBody>
      </p:sp>
      <p:sp>
        <p:nvSpPr>
          <p:cNvPr id="12" name="Shape 10"/>
          <p:cNvSpPr/>
          <p:nvPr/>
        </p:nvSpPr>
        <p:spPr>
          <a:xfrm>
            <a:off x="3127248" y="1920240"/>
            <a:ext cx="2889504" cy="566928"/>
          </a:xfrm>
          <a:prstGeom prst="chevron">
            <a:avLst/>
          </a:prstGeom>
          <a:solidFill>
            <a:srgbClr val="EBEBEB"/>
          </a:solidFill>
          <a:ln/>
        </p:spPr>
      </p:sp>
      <p:sp>
        <p:nvSpPr>
          <p:cNvPr id="13" name="Text 11"/>
          <p:cNvSpPr txBox="1"/>
          <p:nvPr/>
        </p:nvSpPr>
        <p:spPr>
          <a:xfrm>
            <a:off x="3447288" y="1920240"/>
            <a:ext cx="2295144"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收集证据</a:t>
            </a:r>
            <a:endParaRPr lang="en-US" sz="1400" dirty="0"/>
          </a:p>
        </p:txBody>
      </p:sp>
      <p:sp>
        <p:nvSpPr>
          <p:cNvPr id="14" name="Shape 12"/>
          <p:cNvSpPr/>
          <p:nvPr/>
        </p:nvSpPr>
        <p:spPr>
          <a:xfrm>
            <a:off x="5843016" y="1920240"/>
            <a:ext cx="2889504" cy="566928"/>
          </a:xfrm>
          <a:prstGeom prst="chevron">
            <a:avLst/>
          </a:prstGeom>
          <a:solidFill>
            <a:srgbClr val="40E0D0"/>
          </a:solidFill>
          <a:ln/>
        </p:spPr>
      </p:sp>
      <p:sp>
        <p:nvSpPr>
          <p:cNvPr id="15" name="Text 13"/>
          <p:cNvSpPr txBox="1"/>
          <p:nvPr/>
        </p:nvSpPr>
        <p:spPr>
          <a:xfrm>
            <a:off x="6163056" y="1920240"/>
            <a:ext cx="2295144"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间接支持</a:t>
            </a:r>
            <a:endParaRPr lang="en-US" sz="1400" dirty="0"/>
          </a:p>
        </p:txBody>
      </p:sp>
      <p:sp>
        <p:nvSpPr>
          <p:cNvPr id="16" name="Text 14"/>
          <p:cNvSpPr txBox="1"/>
          <p:nvPr/>
        </p:nvSpPr>
        <p:spPr>
          <a:xfrm>
            <a:off x="502920" y="2606040"/>
            <a:ext cx="2304288" cy="777240"/>
          </a:xfrm>
          <a:prstGeom prst="rect">
            <a:avLst/>
          </a:prstGeom>
          <a:noFill/>
          <a:ln/>
        </p:spPr>
        <p:txBody>
          <a:bodyPr wrap="square" lIns="0" tIns="0" rIns="0" bIns="0" rtlCol="0" anchor="t"/>
          <a:lstStyle/>
          <a:p>
            <a:pPr indent="0" marL="0">
              <a:lnSpc>
                <a:spcPct val="130000"/>
              </a:lnSpc>
              <a:buNone/>
            </a:pPr>
            <a:r>
              <a:rPr lang="en-US" sz="1150" dirty="0">
                <a:solidFill>
                  <a:srgbClr val="2D2D2D"/>
                </a:solidFill>
                <a:latin typeface="Microsoft YaHei" pitchFamily="34" charset="0"/>
                <a:ea typeface="Microsoft YaHei" pitchFamily="34" charset="-122"/>
                <a:cs typeface="Microsoft YaHei" pitchFamily="34" charset="-120"/>
              </a:rPr>
              <a:t>研究假设无法明确它所预测的影响到底有多大</a:t>
            </a:r>
            <a:endParaRPr lang="en-US" sz="1150" dirty="0"/>
          </a:p>
        </p:txBody>
      </p:sp>
      <p:sp>
        <p:nvSpPr>
          <p:cNvPr id="17" name="Text 15"/>
          <p:cNvSpPr txBox="1"/>
          <p:nvPr/>
        </p:nvSpPr>
        <p:spPr>
          <a:xfrm>
            <a:off x="3218688" y="2606040"/>
            <a:ext cx="2304288" cy="777240"/>
          </a:xfrm>
          <a:prstGeom prst="rect">
            <a:avLst/>
          </a:prstGeom>
          <a:noFill/>
          <a:ln/>
        </p:spPr>
        <p:txBody>
          <a:bodyPr wrap="square" lIns="0" tIns="0" rIns="0" bIns="0" rtlCol="0" anchor="t"/>
          <a:lstStyle/>
          <a:p>
            <a:pPr indent="0" marL="0">
              <a:lnSpc>
                <a:spcPct val="130000"/>
              </a:lnSpc>
              <a:buNone/>
            </a:pPr>
            <a:r>
              <a:rPr lang="en-US" sz="1150" dirty="0">
                <a:solidFill>
                  <a:srgbClr val="2D2D2D"/>
                </a:solidFill>
                <a:latin typeface="Microsoft YaHei" pitchFamily="34" charset="0"/>
                <a:ea typeface="Microsoft YaHei" pitchFamily="34" charset="-122"/>
                <a:cs typeface="Microsoft YaHei" pitchFamily="34" charset="-120"/>
              </a:rPr>
              <a:t>收集证据，确定这些证据是否能让你拒绝虚无假设</a:t>
            </a:r>
            <a:endParaRPr lang="en-US" sz="1150" dirty="0"/>
          </a:p>
        </p:txBody>
      </p:sp>
      <p:sp>
        <p:nvSpPr>
          <p:cNvPr id="18" name="Text 16"/>
          <p:cNvSpPr txBox="1"/>
          <p:nvPr/>
        </p:nvSpPr>
        <p:spPr>
          <a:xfrm>
            <a:off x="5934456" y="2606040"/>
            <a:ext cx="2304288" cy="777240"/>
          </a:xfrm>
          <a:prstGeom prst="rect">
            <a:avLst/>
          </a:prstGeom>
          <a:noFill/>
          <a:ln/>
        </p:spPr>
        <p:txBody>
          <a:bodyPr wrap="square" lIns="0" tIns="0" rIns="0" bIns="0" rtlCol="0" anchor="t"/>
          <a:lstStyle/>
          <a:p>
            <a:pPr indent="0" marL="0">
              <a:lnSpc>
                <a:spcPct val="130000"/>
              </a:lnSpc>
              <a:buNone/>
            </a:pPr>
            <a:r>
              <a:rPr lang="en-US" sz="1150" dirty="0">
                <a:solidFill>
                  <a:srgbClr val="2D2D2D"/>
                </a:solidFill>
                <a:latin typeface="Microsoft YaHei" pitchFamily="34" charset="0"/>
                <a:ea typeface="Microsoft YaHei" pitchFamily="34" charset="-122"/>
                <a:cs typeface="Microsoft YaHei" pitchFamily="34" charset="-120"/>
              </a:rPr>
              <a:t>对研究假设的支持是通过对虚无假设的拒绝而间接实现的</a:t>
            </a:r>
            <a:endParaRPr lang="en-US" sz="1150" dirty="0"/>
          </a:p>
        </p:txBody>
      </p:sp>
      <p:sp>
        <p:nvSpPr>
          <p:cNvPr id="19" name="Shape 17"/>
          <p:cNvSpPr/>
          <p:nvPr/>
        </p:nvSpPr>
        <p:spPr>
          <a:xfrm>
            <a:off x="411480" y="3611880"/>
            <a:ext cx="8321040" cy="960120"/>
          </a:xfrm>
          <a:prstGeom prst="rect">
            <a:avLst/>
          </a:prstGeom>
          <a:solidFill>
            <a:srgbClr val="2D2D2D"/>
          </a:solidFill>
          <a:ln/>
        </p:spPr>
      </p:sp>
      <p:sp>
        <p:nvSpPr>
          <p:cNvPr id="20" name="Shape 18"/>
          <p:cNvSpPr/>
          <p:nvPr/>
        </p:nvSpPr>
        <p:spPr>
          <a:xfrm>
            <a:off x="594360" y="3936492"/>
            <a:ext cx="822960" cy="310896"/>
          </a:xfrm>
          <a:prstGeom prst="rect">
            <a:avLst/>
          </a:prstGeom>
          <a:solidFill>
            <a:srgbClr val="40E0D0"/>
          </a:solidFill>
          <a:ln/>
        </p:spPr>
      </p:sp>
      <p:sp>
        <p:nvSpPr>
          <p:cNvPr id="21" name="Text 19"/>
          <p:cNvSpPr txBox="1"/>
          <p:nvPr/>
        </p:nvSpPr>
        <p:spPr>
          <a:xfrm>
            <a:off x="594360" y="3936492"/>
            <a:ext cx="822960" cy="310896"/>
          </a:xfrm>
          <a:prstGeom prst="rect">
            <a:avLst/>
          </a:prstGeom>
          <a:noFill/>
          <a:ln/>
        </p:spPr>
        <p:txBody>
          <a:bodyPr wrap="square" lIns="0" tIns="0" rIns="0" bIns="0" rtlCol="0" anchor="ctr"/>
          <a:lstStyle/>
          <a:p>
            <a:pPr algn="ctr" indent="0" marL="0">
              <a:buNone/>
            </a:pPr>
            <a:r>
              <a:rPr lang="en-US" sz="1100" b="1" dirty="0">
                <a:solidFill>
                  <a:srgbClr val="2D2D2D"/>
                </a:solidFill>
                <a:latin typeface="Microsoft YaHei" pitchFamily="34" charset="0"/>
                <a:ea typeface="Microsoft YaHei" pitchFamily="34" charset="-122"/>
                <a:cs typeface="Microsoft YaHei" pitchFamily="34" charset="-120"/>
              </a:rPr>
              <a:t>原因</a:t>
            </a:r>
            <a:endParaRPr lang="en-US" sz="1100" dirty="0"/>
          </a:p>
        </p:txBody>
      </p:sp>
      <p:sp>
        <p:nvSpPr>
          <p:cNvPr id="22" name="Text 20"/>
          <p:cNvSpPr txBox="1"/>
          <p:nvPr/>
        </p:nvSpPr>
        <p:spPr>
          <a:xfrm>
            <a:off x="1600200" y="3611880"/>
            <a:ext cx="6949440" cy="960120"/>
          </a:xfrm>
          <a:prstGeom prst="rect">
            <a:avLst/>
          </a:prstGeom>
          <a:noFill/>
          <a:ln/>
        </p:spPr>
        <p:txBody>
          <a:bodyPr wrap="square" lIns="0" tIns="0" rIns="0" bIns="0" rtlCol="0" anchor="ctr"/>
          <a:lstStyle/>
          <a:p>
            <a:pPr indent="0" marL="0">
              <a:lnSpc>
                <a:spcPct val="130000"/>
              </a:lnSpc>
              <a:buNone/>
            </a:pPr>
            <a:r>
              <a:rPr lang="en-US" sz="1150" dirty="0">
                <a:solidFill>
                  <a:srgbClr val="FFFFFF"/>
                </a:solidFill>
                <a:latin typeface="Microsoft YaHei" pitchFamily="34" charset="0"/>
                <a:ea typeface="Microsoft YaHei" pitchFamily="34" charset="-122"/>
                <a:cs typeface="Microsoft YaHei" pitchFamily="34" charset="-120"/>
              </a:rPr>
              <a:t>之所以检验虚无假设而不是研究假设，其根本原因在于统计假设检验的理论。</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4791456"/>
            <a:ext cx="164592" cy="164592"/>
          </a:xfrm>
          <a:prstGeom prst="rect">
            <a:avLst/>
          </a:prstGeom>
          <a:solidFill>
            <a:srgbClr val="40E0D0"/>
          </a:solidFill>
          <a:ln/>
        </p:spPr>
      </p:sp>
      <p:sp>
        <p:nvSpPr>
          <p:cNvPr id="3" name="Shape 1"/>
          <p:cNvSpPr/>
          <p:nvPr/>
        </p:nvSpPr>
        <p:spPr>
          <a:xfrm>
            <a:off x="493776" y="4873752"/>
            <a:ext cx="115214" cy="115214"/>
          </a:xfrm>
          <a:prstGeom prst="rect">
            <a:avLst/>
          </a:prstGeom>
          <a:solidFill>
            <a:srgbClr val="2D2D2D"/>
          </a:solidFill>
          <a:ln/>
        </p:spPr>
      </p:sp>
      <p:sp>
        <p:nvSpPr>
          <p:cNvPr id="4" name="Text 2"/>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5" name="Text 3"/>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形成假设</a:t>
            </a:r>
            <a:endParaRPr lang="en-US" sz="800" dirty="0"/>
          </a:p>
        </p:txBody>
      </p:sp>
      <p:sp>
        <p:nvSpPr>
          <p:cNvPr id="6" name="Text 4"/>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40</a:t>
            </a:r>
            <a:endParaRPr lang="en-US" sz="800" dirty="0"/>
          </a:p>
        </p:txBody>
      </p:sp>
      <p:pic>
        <p:nvPicPr>
          <p:cNvPr id="7" name="Image 0" descr="p32_1">    </p:cNvPr>
          <p:cNvPicPr>
            <a:picLocks noChangeAspect="1"/>
          </p:cNvPicPr>
          <p:nvPr/>
        </p:nvPicPr>
        <p:blipFill>
          <a:blip r:embed="rId1"/>
          <a:stretch>
            <a:fillRect/>
          </a:stretch>
        </p:blipFill>
        <p:spPr>
          <a:xfrm>
            <a:off x="0" y="0"/>
            <a:ext cx="3108960" cy="4636008"/>
          </a:xfrm>
          <a:prstGeom prst="rect">
            <a:avLst/>
          </a:prstGeom>
        </p:spPr>
      </p:pic>
      <p:sp>
        <p:nvSpPr>
          <p:cNvPr id="8" name="Text 5"/>
          <p:cNvSpPr txBox="1"/>
          <p:nvPr/>
        </p:nvSpPr>
        <p:spPr>
          <a:xfrm>
            <a:off x="3429000" y="292608"/>
            <a:ext cx="5303520" cy="438912"/>
          </a:xfrm>
          <a:prstGeom prst="rect">
            <a:avLst/>
          </a:prstGeom>
          <a:noFill/>
          <a:ln/>
        </p:spPr>
        <p:txBody>
          <a:bodyPr wrap="square" lIns="0" tIns="0" rIns="0" bIns="0" rtlCol="0" anchor="ct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假设的重要作用</a:t>
            </a:r>
            <a:endParaRPr lang="en-US" sz="2200" dirty="0"/>
          </a:p>
        </p:txBody>
      </p:sp>
      <p:sp>
        <p:nvSpPr>
          <p:cNvPr id="9" name="Text 6"/>
          <p:cNvSpPr txBox="1"/>
          <p:nvPr/>
        </p:nvSpPr>
        <p:spPr>
          <a:xfrm>
            <a:off x="3429000" y="731520"/>
            <a:ext cx="530352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The Role of Hypotheses</a:t>
            </a:r>
            <a:endParaRPr lang="en-US" sz="950" dirty="0"/>
          </a:p>
        </p:txBody>
      </p:sp>
      <p:sp>
        <p:nvSpPr>
          <p:cNvPr id="10" name="Text 7"/>
          <p:cNvSpPr txBox="1"/>
          <p:nvPr/>
        </p:nvSpPr>
        <p:spPr>
          <a:xfrm>
            <a:off x="3429000" y="1143000"/>
            <a:ext cx="5303520" cy="73152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为什么应该将研究假设放在首要位置？为什么不能够跳过假设再继续努力寻找问题的答案？假设起着很有意义的作用。</a:t>
            </a:r>
            <a:endParaRPr lang="en-US" sz="1250" dirty="0"/>
          </a:p>
        </p:txBody>
      </p:sp>
      <p:sp>
        <p:nvSpPr>
          <p:cNvPr id="11" name="Shape 8"/>
          <p:cNvSpPr/>
          <p:nvPr/>
        </p:nvSpPr>
        <p:spPr>
          <a:xfrm>
            <a:off x="3429000" y="2011680"/>
            <a:ext cx="2596896" cy="2560320"/>
          </a:xfrm>
          <a:prstGeom prst="rect">
            <a:avLst/>
          </a:prstGeom>
          <a:solidFill>
            <a:srgbClr val="40E0D0"/>
          </a:solidFill>
          <a:ln/>
        </p:spPr>
      </p:sp>
      <p:sp>
        <p:nvSpPr>
          <p:cNvPr id="12" name="Text 9"/>
          <p:cNvSpPr txBox="1"/>
          <p:nvPr/>
        </p:nvSpPr>
        <p:spPr>
          <a:xfrm>
            <a:off x="3630168" y="2176272"/>
            <a:ext cx="2231136"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假设被证实时</a:t>
            </a:r>
            <a:endParaRPr lang="en-US" sz="1500" dirty="0"/>
          </a:p>
        </p:txBody>
      </p:sp>
      <p:sp>
        <p:nvSpPr>
          <p:cNvPr id="13" name="Text 10"/>
          <p:cNvSpPr txBox="1"/>
          <p:nvPr/>
        </p:nvSpPr>
        <p:spPr>
          <a:xfrm>
            <a:off x="3630168" y="2615184"/>
            <a:ext cx="2212848" cy="184708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除了为所提的问题找到答案之外，它还对那些暗示存在这些假设的文献提供了额外的支持。</a:t>
            </a:r>
            <a:endParaRPr lang="en-US" sz="1150" dirty="0"/>
          </a:p>
        </p:txBody>
      </p:sp>
      <p:sp>
        <p:nvSpPr>
          <p:cNvPr id="14" name="Shape 11"/>
          <p:cNvSpPr/>
          <p:nvPr/>
        </p:nvSpPr>
        <p:spPr>
          <a:xfrm>
            <a:off x="6135624" y="2011680"/>
            <a:ext cx="2596896" cy="2560320"/>
          </a:xfrm>
          <a:prstGeom prst="rect">
            <a:avLst/>
          </a:prstGeom>
          <a:solidFill>
            <a:srgbClr val="2D2D2D"/>
          </a:solidFill>
          <a:ln/>
        </p:spPr>
      </p:sp>
      <p:sp>
        <p:nvSpPr>
          <p:cNvPr id="15" name="Text 12"/>
          <p:cNvSpPr txBox="1"/>
          <p:nvPr/>
        </p:nvSpPr>
        <p:spPr>
          <a:xfrm>
            <a:off x="6336792" y="2176272"/>
            <a:ext cx="2231136" cy="3657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假设未被证实时</a:t>
            </a:r>
            <a:endParaRPr lang="en-US" sz="1500" dirty="0"/>
          </a:p>
        </p:txBody>
      </p:sp>
      <p:sp>
        <p:nvSpPr>
          <p:cNvPr id="16" name="Text 13"/>
          <p:cNvSpPr txBox="1"/>
          <p:nvPr/>
        </p:nvSpPr>
        <p:spPr>
          <a:xfrm>
            <a:off x="6336792" y="2615184"/>
            <a:ext cx="2212848" cy="184708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FFFFFF"/>
                </a:solidFill>
                <a:latin typeface="Microsoft YaHei" pitchFamily="34" charset="0"/>
                <a:ea typeface="Microsoft YaHei" pitchFamily="34" charset="-122"/>
                <a:cs typeface="Microsoft YaHei" pitchFamily="34" charset="-120"/>
              </a:rPr>
              <a:t>这个假设或者假设中的某些概念就是错的，或者其他一些假定是错误的。这意味着有什么地方出错了，需要研究者找出来。</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假设未被证实的可能原因</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Why a Hypothesis Is Not Supported</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形成假设</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41</a:t>
            </a:r>
            <a:endParaRPr lang="en-US" sz="800" dirty="0"/>
          </a:p>
        </p:txBody>
      </p:sp>
      <p:sp>
        <p:nvSpPr>
          <p:cNvPr id="9" name="Shape 7"/>
          <p:cNvSpPr/>
          <p:nvPr/>
        </p:nvSpPr>
        <p:spPr>
          <a:xfrm>
            <a:off x="411480" y="1188720"/>
            <a:ext cx="1997964" cy="2423160"/>
          </a:xfrm>
          <a:prstGeom prst="rect">
            <a:avLst/>
          </a:prstGeom>
          <a:solidFill>
            <a:srgbClr val="40E0D0"/>
          </a:solidFill>
          <a:ln/>
        </p:spPr>
      </p:sp>
      <p:sp>
        <p:nvSpPr>
          <p:cNvPr id="10" name="Text 8"/>
          <p:cNvSpPr txBox="1"/>
          <p:nvPr/>
        </p:nvSpPr>
        <p:spPr>
          <a:xfrm>
            <a:off x="612648" y="1353312"/>
            <a:ext cx="1632204" cy="457200"/>
          </a:xfrm>
          <a:prstGeom prst="rect">
            <a:avLst/>
          </a:prstGeom>
          <a:noFill/>
          <a:ln/>
        </p:spPr>
        <p:txBody>
          <a:bodyPr wrap="square" lIns="0" tIns="0" rIns="0" bIns="0" rtlCol="0" anchor="t"/>
          <a:lstStyle/>
          <a:p>
            <a:pPr indent="0" marL="0">
              <a:buNone/>
            </a:pPr>
            <a:r>
              <a:rPr lang="en-US" sz="2600" b="1" dirty="0">
                <a:solidFill>
                  <a:srgbClr val="2D2D2D"/>
                </a:solidFill>
                <a:latin typeface="Poppins" pitchFamily="34" charset="0"/>
                <a:ea typeface="Poppins" pitchFamily="34" charset="-122"/>
                <a:cs typeface="Poppins" pitchFamily="34" charset="-120"/>
              </a:rPr>
              <a:t>01</a:t>
            </a:r>
            <a:endParaRPr lang="en-US" sz="2600" dirty="0"/>
          </a:p>
        </p:txBody>
      </p:sp>
      <p:sp>
        <p:nvSpPr>
          <p:cNvPr id="11" name="Text 9"/>
          <p:cNvSpPr txBox="1"/>
          <p:nvPr/>
        </p:nvSpPr>
        <p:spPr>
          <a:xfrm>
            <a:off x="612648" y="2176272"/>
            <a:ext cx="1632204" cy="36576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概念化错误</a:t>
            </a:r>
            <a:endParaRPr lang="en-US" sz="1600" dirty="0"/>
          </a:p>
        </p:txBody>
      </p:sp>
      <p:sp>
        <p:nvSpPr>
          <p:cNvPr id="12" name="Text 10"/>
          <p:cNvSpPr txBox="1"/>
          <p:nvPr/>
        </p:nvSpPr>
        <p:spPr>
          <a:xfrm>
            <a:off x="612648" y="2615184"/>
            <a:ext cx="1613916" cy="88696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2D2D2D"/>
                </a:solidFill>
                <a:latin typeface="Microsoft YaHei" pitchFamily="34" charset="0"/>
                <a:ea typeface="Microsoft YaHei" pitchFamily="34" charset="-122"/>
                <a:cs typeface="Microsoft YaHei" pitchFamily="34" charset="-120"/>
              </a:rPr>
              <a:t>在概念化中有一个错误</a:t>
            </a:r>
            <a:endParaRPr lang="en-US" sz="1200" dirty="0"/>
          </a:p>
        </p:txBody>
      </p:sp>
      <p:sp>
        <p:nvSpPr>
          <p:cNvPr id="13" name="Shape 11"/>
          <p:cNvSpPr/>
          <p:nvPr/>
        </p:nvSpPr>
        <p:spPr>
          <a:xfrm>
            <a:off x="2519172" y="1188720"/>
            <a:ext cx="1997964" cy="2423160"/>
          </a:xfrm>
          <a:prstGeom prst="rect">
            <a:avLst/>
          </a:prstGeom>
          <a:solidFill>
            <a:srgbClr val="EBEBEB"/>
          </a:solidFill>
          <a:ln/>
        </p:spPr>
      </p:sp>
      <p:sp>
        <p:nvSpPr>
          <p:cNvPr id="14" name="Text 12"/>
          <p:cNvSpPr txBox="1"/>
          <p:nvPr/>
        </p:nvSpPr>
        <p:spPr>
          <a:xfrm>
            <a:off x="2720340" y="1353312"/>
            <a:ext cx="1632204" cy="457200"/>
          </a:xfrm>
          <a:prstGeom prst="rect">
            <a:avLst/>
          </a:prstGeom>
          <a:noFill/>
          <a:ln/>
        </p:spPr>
        <p:txBody>
          <a:bodyPr wrap="square" lIns="0" tIns="0" rIns="0" bIns="0" rtlCol="0" anchor="t"/>
          <a:lstStyle/>
          <a:p>
            <a:pPr indent="0" marL="0">
              <a:buNone/>
            </a:pPr>
            <a:r>
              <a:rPr lang="en-US" sz="2600" b="1" dirty="0">
                <a:solidFill>
                  <a:srgbClr val="2D2D2D"/>
                </a:solidFill>
                <a:latin typeface="Poppins" pitchFamily="34" charset="0"/>
                <a:ea typeface="Poppins" pitchFamily="34" charset="-122"/>
                <a:cs typeface="Poppins" pitchFamily="34" charset="-120"/>
              </a:rPr>
              <a:t>02</a:t>
            </a:r>
            <a:endParaRPr lang="en-US" sz="2600" dirty="0"/>
          </a:p>
        </p:txBody>
      </p:sp>
      <p:sp>
        <p:nvSpPr>
          <p:cNvPr id="15" name="Text 13"/>
          <p:cNvSpPr txBox="1"/>
          <p:nvPr/>
        </p:nvSpPr>
        <p:spPr>
          <a:xfrm>
            <a:off x="2720340" y="2176272"/>
            <a:ext cx="1632204" cy="36576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信息错误</a:t>
            </a:r>
            <a:endParaRPr lang="en-US" sz="1600" dirty="0"/>
          </a:p>
        </p:txBody>
      </p:sp>
      <p:sp>
        <p:nvSpPr>
          <p:cNvPr id="16" name="Text 14"/>
          <p:cNvSpPr txBox="1"/>
          <p:nvPr/>
        </p:nvSpPr>
        <p:spPr>
          <a:xfrm>
            <a:off x="2720340" y="2615184"/>
            <a:ext cx="1613916" cy="88696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2D2D2D"/>
                </a:solidFill>
                <a:latin typeface="Microsoft YaHei" pitchFamily="34" charset="0"/>
                <a:ea typeface="Microsoft YaHei" pitchFamily="34" charset="-122"/>
                <a:cs typeface="Microsoft YaHei" pitchFamily="34" charset="-120"/>
              </a:rPr>
              <a:t>从先前实验中获得了某些错误信息</a:t>
            </a:r>
            <a:endParaRPr lang="en-US" sz="1200" dirty="0"/>
          </a:p>
        </p:txBody>
      </p:sp>
      <p:sp>
        <p:nvSpPr>
          <p:cNvPr id="17" name="Shape 15"/>
          <p:cNvSpPr/>
          <p:nvPr/>
        </p:nvSpPr>
        <p:spPr>
          <a:xfrm>
            <a:off x="4626864" y="1188720"/>
            <a:ext cx="1997964" cy="2423160"/>
          </a:xfrm>
          <a:prstGeom prst="rect">
            <a:avLst/>
          </a:prstGeom>
          <a:solidFill>
            <a:srgbClr val="E2E2E2"/>
          </a:solidFill>
          <a:ln/>
        </p:spPr>
      </p:sp>
      <p:sp>
        <p:nvSpPr>
          <p:cNvPr id="18" name="Text 16"/>
          <p:cNvSpPr txBox="1"/>
          <p:nvPr/>
        </p:nvSpPr>
        <p:spPr>
          <a:xfrm>
            <a:off x="4828032" y="1353312"/>
            <a:ext cx="1632204" cy="457200"/>
          </a:xfrm>
          <a:prstGeom prst="rect">
            <a:avLst/>
          </a:prstGeom>
          <a:noFill/>
          <a:ln/>
        </p:spPr>
        <p:txBody>
          <a:bodyPr wrap="square" lIns="0" tIns="0" rIns="0" bIns="0" rtlCol="0" anchor="t"/>
          <a:lstStyle/>
          <a:p>
            <a:pPr indent="0" marL="0">
              <a:buNone/>
            </a:pPr>
            <a:r>
              <a:rPr lang="en-US" sz="2600" b="1" dirty="0">
                <a:solidFill>
                  <a:srgbClr val="2D2D2D"/>
                </a:solidFill>
                <a:latin typeface="Poppins" pitchFamily="34" charset="0"/>
                <a:ea typeface="Poppins" pitchFamily="34" charset="-122"/>
                <a:cs typeface="Poppins" pitchFamily="34" charset="-120"/>
              </a:rPr>
              <a:t>03</a:t>
            </a:r>
            <a:endParaRPr lang="en-US" sz="2600" dirty="0"/>
          </a:p>
        </p:txBody>
      </p:sp>
      <p:sp>
        <p:nvSpPr>
          <p:cNvPr id="19" name="Text 17"/>
          <p:cNvSpPr txBox="1"/>
          <p:nvPr/>
        </p:nvSpPr>
        <p:spPr>
          <a:xfrm>
            <a:off x="4828032" y="2176272"/>
            <a:ext cx="1632204" cy="36576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遗漏信息</a:t>
            </a:r>
            <a:endParaRPr lang="en-US" sz="1600" dirty="0"/>
          </a:p>
        </p:txBody>
      </p:sp>
      <p:sp>
        <p:nvSpPr>
          <p:cNvPr id="20" name="Text 18"/>
          <p:cNvSpPr txBox="1"/>
          <p:nvPr/>
        </p:nvSpPr>
        <p:spPr>
          <a:xfrm>
            <a:off x="4828032" y="2615184"/>
            <a:ext cx="1613916" cy="88696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2D2D2D"/>
                </a:solidFill>
                <a:latin typeface="Microsoft YaHei" pitchFamily="34" charset="0"/>
                <a:ea typeface="Microsoft YaHei" pitchFamily="34" charset="-122"/>
                <a:cs typeface="Microsoft YaHei" pitchFamily="34" charset="-120"/>
              </a:rPr>
              <a:t>在查阅文献时忽略了某些相关信息</a:t>
            </a:r>
            <a:endParaRPr lang="en-US" sz="1200" dirty="0"/>
          </a:p>
        </p:txBody>
      </p:sp>
      <p:sp>
        <p:nvSpPr>
          <p:cNvPr id="21" name="Shape 19"/>
          <p:cNvSpPr/>
          <p:nvPr/>
        </p:nvSpPr>
        <p:spPr>
          <a:xfrm>
            <a:off x="6734556" y="1188720"/>
            <a:ext cx="1997964" cy="2423160"/>
          </a:xfrm>
          <a:prstGeom prst="rect">
            <a:avLst/>
          </a:prstGeom>
          <a:solidFill>
            <a:srgbClr val="2D2D2D"/>
          </a:solidFill>
          <a:ln/>
        </p:spPr>
      </p:sp>
      <p:sp>
        <p:nvSpPr>
          <p:cNvPr id="22" name="Text 20"/>
          <p:cNvSpPr txBox="1"/>
          <p:nvPr/>
        </p:nvSpPr>
        <p:spPr>
          <a:xfrm>
            <a:off x="6935724" y="1353312"/>
            <a:ext cx="1632204" cy="457200"/>
          </a:xfrm>
          <a:prstGeom prst="rect">
            <a:avLst/>
          </a:prstGeom>
          <a:noFill/>
          <a:ln/>
        </p:spPr>
        <p:txBody>
          <a:bodyPr wrap="square" lIns="0" tIns="0" rIns="0" bIns="0" rtlCol="0" anchor="t"/>
          <a:lstStyle/>
          <a:p>
            <a:pPr indent="0" marL="0">
              <a:buNone/>
            </a:pPr>
            <a:r>
              <a:rPr lang="en-US" sz="2600" b="1" dirty="0">
                <a:solidFill>
                  <a:srgbClr val="40E0D0"/>
                </a:solidFill>
                <a:latin typeface="Poppins" pitchFamily="34" charset="0"/>
                <a:ea typeface="Poppins" pitchFamily="34" charset="-122"/>
                <a:cs typeface="Poppins" pitchFamily="34" charset="-120"/>
              </a:rPr>
              <a:t>04</a:t>
            </a:r>
            <a:endParaRPr lang="en-US" sz="2600" dirty="0"/>
          </a:p>
        </p:txBody>
      </p:sp>
      <p:sp>
        <p:nvSpPr>
          <p:cNvPr id="23" name="Text 21"/>
          <p:cNvSpPr txBox="1"/>
          <p:nvPr/>
        </p:nvSpPr>
        <p:spPr>
          <a:xfrm>
            <a:off x="6935724" y="2176272"/>
            <a:ext cx="1632204" cy="365760"/>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曲解文献</a:t>
            </a:r>
            <a:endParaRPr lang="en-US" sz="1600" dirty="0"/>
          </a:p>
        </p:txBody>
      </p:sp>
      <p:sp>
        <p:nvSpPr>
          <p:cNvPr id="24" name="Text 22"/>
          <p:cNvSpPr txBox="1"/>
          <p:nvPr/>
        </p:nvSpPr>
        <p:spPr>
          <a:xfrm>
            <a:off x="6935724" y="2615184"/>
            <a:ext cx="1613916" cy="886968"/>
          </a:xfrm>
          <a:prstGeom prst="rect">
            <a:avLst/>
          </a:prstGeom>
          <a:noFill/>
          <a:ln/>
        </p:spPr>
        <p:txBody>
          <a:bodyPr wrap="square" lIns="0" tIns="0" rIns="0" bIns="0" rtlCol="0" anchor="t"/>
          <a:lstStyle/>
          <a:p>
            <a:pPr indent="0" marL="0">
              <a:lnSpc>
                <a:spcPct val="135000"/>
              </a:lnSpc>
              <a:spcAft>
                <a:spcPts val="300"/>
              </a:spcAft>
              <a:buNone/>
            </a:pPr>
            <a:r>
              <a:rPr lang="en-US" sz="1200" dirty="0">
                <a:solidFill>
                  <a:srgbClr val="FFFFFF"/>
                </a:solidFill>
                <a:latin typeface="Microsoft YaHei" pitchFamily="34" charset="0"/>
                <a:ea typeface="Microsoft YaHei" pitchFamily="34" charset="-122"/>
                <a:cs typeface="Microsoft YaHei" pitchFamily="34" charset="-120"/>
              </a:rPr>
              <a:t>研究者曲解了某些文献的内容</a:t>
            </a:r>
            <a:endParaRPr lang="en-US" sz="1200" dirty="0"/>
          </a:p>
        </p:txBody>
      </p:sp>
      <p:sp>
        <p:nvSpPr>
          <p:cNvPr id="25" name="Shape 23"/>
          <p:cNvSpPr/>
          <p:nvPr/>
        </p:nvSpPr>
        <p:spPr>
          <a:xfrm>
            <a:off x="411480" y="3721608"/>
            <a:ext cx="8321040" cy="850392"/>
          </a:xfrm>
          <a:prstGeom prst="roundRect">
            <a:avLst>
              <a:gd name="adj" fmla="val 12903"/>
            </a:avLst>
          </a:prstGeom>
          <a:solidFill>
            <a:srgbClr val="EBEBEB"/>
          </a:solidFill>
          <a:ln/>
        </p:spPr>
      </p:sp>
      <p:sp>
        <p:nvSpPr>
          <p:cNvPr id="26" name="Text 24"/>
          <p:cNvSpPr txBox="1"/>
          <p:nvPr/>
        </p:nvSpPr>
        <p:spPr>
          <a:xfrm>
            <a:off x="640080" y="3721608"/>
            <a:ext cx="7863840" cy="850392"/>
          </a:xfrm>
          <a:prstGeom prst="rect">
            <a:avLst/>
          </a:prstGeom>
          <a:noFill/>
          <a:ln/>
        </p:spPr>
        <p:txBody>
          <a:bodyPr wrap="square" lIns="0" tIns="0" rIns="0" bIns="0" rtlCol="0" anchor="ctr"/>
          <a:lstStyle/>
          <a:p>
            <a:pPr indent="0" marL="0">
              <a:buNone/>
            </a:pPr>
            <a:r>
              <a:rPr lang="en-US" sz="1200" dirty="0">
                <a:solidFill>
                  <a:srgbClr val="2D2D2D"/>
                </a:solidFill>
                <a:latin typeface="Microsoft YaHei" pitchFamily="34" charset="0"/>
                <a:ea typeface="Microsoft YaHei" pitchFamily="34" charset="-122"/>
                <a:cs typeface="Microsoft YaHei" pitchFamily="34" charset="-120"/>
              </a:rPr>
              <a:t>一旦研究者发现哪里想错了，就能提出一个可以被检验的新假设，于是研究者就有了另一个研究可以开展。这就是科学的连续过程。</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假设错误时知识仍在进步</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Knowledge Still Advances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形成假设</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42</a:t>
            </a:r>
            <a:endParaRPr lang="en-US" sz="800" dirty="0"/>
          </a:p>
        </p:txBody>
      </p:sp>
      <p:sp>
        <p:nvSpPr>
          <p:cNvPr id="9" name="Text 7"/>
          <p:cNvSpPr txBox="1"/>
          <p:nvPr/>
        </p:nvSpPr>
        <p:spPr>
          <a:xfrm>
            <a:off x="411480" y="1188720"/>
            <a:ext cx="3566160" cy="1188720"/>
          </a:xfrm>
          <a:prstGeom prst="rect">
            <a:avLst/>
          </a:prstGeom>
          <a:noFill/>
          <a:ln/>
        </p:spPr>
        <p:txBody>
          <a:bodyPr wrap="square" lIns="0" tIns="0" rIns="0" bIns="0" rtlCol="0" anchor="ctr"/>
          <a:lstStyle/>
          <a:p>
            <a:pPr indent="0" marL="0">
              <a:lnSpc>
                <a:spcPct val="120000"/>
              </a:lnSpc>
              <a:buNone/>
            </a:pPr>
            <a:r>
              <a:rPr lang="en-US" sz="2500" b="1" dirty="0">
                <a:solidFill>
                  <a:srgbClr val="2D2D2D"/>
                </a:solidFill>
                <a:latin typeface="Microsoft YaHei" pitchFamily="34" charset="0"/>
                <a:ea typeface="Microsoft YaHei" pitchFamily="34" charset="-122"/>
                <a:cs typeface="Microsoft YaHei" pitchFamily="34" charset="-120"/>
              </a:rPr>
              <a:t>即使假设是错误的，知识也在进步</a:t>
            </a:r>
            <a:endParaRPr lang="en-US" sz="2500" dirty="0"/>
          </a:p>
        </p:txBody>
      </p:sp>
      <p:sp>
        <p:nvSpPr>
          <p:cNvPr id="10" name="Shape 8"/>
          <p:cNvSpPr/>
          <p:nvPr/>
        </p:nvSpPr>
        <p:spPr>
          <a:xfrm>
            <a:off x="411480" y="2514600"/>
            <a:ext cx="457200" cy="64008"/>
          </a:xfrm>
          <a:prstGeom prst="rect">
            <a:avLst/>
          </a:prstGeom>
          <a:solidFill>
            <a:srgbClr val="40E0D0"/>
          </a:solidFill>
          <a:ln/>
        </p:spPr>
      </p:sp>
      <p:sp>
        <p:nvSpPr>
          <p:cNvPr id="11" name="Text 9"/>
          <p:cNvSpPr txBox="1"/>
          <p:nvPr/>
        </p:nvSpPr>
        <p:spPr>
          <a:xfrm>
            <a:off x="411480" y="2697480"/>
            <a:ext cx="3566160" cy="1188720"/>
          </a:xfrm>
          <a:prstGeom prst="rect">
            <a:avLst/>
          </a:prstGeom>
          <a:noFill/>
          <a:ln/>
        </p:spPr>
        <p:txBody>
          <a:bodyPr wrap="square" lIns="0" tIns="0" rIns="0" bIns="0" rtlCol="0" anchor="t"/>
          <a:lstStyle/>
          <a:p>
            <a:pPr indent="0" marL="0">
              <a:lnSpc>
                <a:spcPct val="145000"/>
              </a:lnSpc>
              <a:buNone/>
            </a:pPr>
            <a:r>
              <a:rPr lang="en-US" sz="1300" dirty="0">
                <a:solidFill>
                  <a:srgbClr val="2D2D2D"/>
                </a:solidFill>
                <a:latin typeface="Microsoft YaHei" pitchFamily="34" charset="0"/>
                <a:ea typeface="Microsoft YaHei" pitchFamily="34" charset="-122"/>
                <a:cs typeface="Microsoft YaHei" pitchFamily="34" charset="-120"/>
              </a:rPr>
              <a:t>当假设是错误的时候，一个不正确的假设就被排除了。为了解决问题，必须形成并检验一个新假设。</a:t>
            </a:r>
            <a:endParaRPr lang="en-US" sz="1300" dirty="0"/>
          </a:p>
        </p:txBody>
      </p:sp>
      <p:sp>
        <p:nvSpPr>
          <p:cNvPr id="12" name="Shape 10"/>
          <p:cNvSpPr/>
          <p:nvPr/>
        </p:nvSpPr>
        <p:spPr>
          <a:xfrm>
            <a:off x="5760720" y="1920240"/>
            <a:ext cx="1920240" cy="1920240"/>
          </a:xfrm>
          <a:prstGeom prst="blockArc">
            <a:avLst>
              <a:gd name="adj1" fmla="val 16320000"/>
              <a:gd name="adj2" fmla="val 21480000"/>
              <a:gd name="adj3" fmla="val 15000"/>
            </a:avLst>
          </a:prstGeom>
          <a:solidFill>
            <a:srgbClr val="40E0D0"/>
          </a:solidFill>
          <a:ln/>
        </p:spPr>
      </p:sp>
      <p:sp>
        <p:nvSpPr>
          <p:cNvPr id="13" name="Text 11"/>
          <p:cNvSpPr txBox="1"/>
          <p:nvPr/>
        </p:nvSpPr>
        <p:spPr>
          <a:xfrm>
            <a:off x="7529063" y="1889257"/>
            <a:ext cx="1691640" cy="365760"/>
          </a:xfrm>
          <a:prstGeom prst="rect">
            <a:avLst/>
          </a:prstGeom>
          <a:noFill/>
          <a:ln/>
        </p:spPr>
        <p:txBody>
          <a:bodyPr wrap="square" lIns="0" tIns="0" rIns="0" bIns="0" rtlCol="0" anchor="ctr"/>
          <a:lstStyle/>
          <a:p>
            <a:pPr algn="l" indent="0" marL="0">
              <a:buNone/>
            </a:pPr>
            <a:r>
              <a:rPr lang="en-US" sz="1200" b="1" dirty="0">
                <a:solidFill>
                  <a:srgbClr val="707070"/>
                </a:solidFill>
                <a:latin typeface="Poppins" pitchFamily="34" charset="0"/>
                <a:ea typeface="Poppins" pitchFamily="34" charset="-122"/>
                <a:cs typeface="Poppins" pitchFamily="34" charset="-120"/>
              </a:rPr>
              <a:t>01  </a:t>
            </a:r>
            <a:pPr algn="l" indent="0" marL="0">
              <a:buNone/>
            </a:pPr>
            <a:r>
              <a:rPr lang="en-US" sz="1200" b="1" dirty="0">
                <a:solidFill>
                  <a:srgbClr val="2D2D2D"/>
                </a:solidFill>
                <a:latin typeface="Microsoft YaHei" pitchFamily="34" charset="0"/>
                <a:ea typeface="Microsoft YaHei" pitchFamily="34" charset="-122"/>
                <a:cs typeface="Microsoft YaHei" pitchFamily="34" charset="-120"/>
              </a:rPr>
              <a:t>形成假设</a:t>
            </a:r>
            <a:endParaRPr lang="en-US" sz="1200" dirty="0"/>
          </a:p>
        </p:txBody>
      </p:sp>
      <p:sp>
        <p:nvSpPr>
          <p:cNvPr id="14" name="Shape 12"/>
          <p:cNvSpPr/>
          <p:nvPr/>
        </p:nvSpPr>
        <p:spPr>
          <a:xfrm>
            <a:off x="5760720" y="1920240"/>
            <a:ext cx="1920240" cy="1920240"/>
          </a:xfrm>
          <a:prstGeom prst="blockArc">
            <a:avLst>
              <a:gd name="adj1" fmla="val 120000"/>
              <a:gd name="adj2" fmla="val 5280000"/>
              <a:gd name="adj3" fmla="val 15000"/>
            </a:avLst>
          </a:prstGeom>
          <a:solidFill>
            <a:srgbClr val="E2E2E2"/>
          </a:solidFill>
          <a:ln/>
        </p:spPr>
      </p:sp>
      <p:sp>
        <p:nvSpPr>
          <p:cNvPr id="15" name="Text 13"/>
          <p:cNvSpPr txBox="1"/>
          <p:nvPr/>
        </p:nvSpPr>
        <p:spPr>
          <a:xfrm>
            <a:off x="7529063" y="3505703"/>
            <a:ext cx="1691640" cy="365760"/>
          </a:xfrm>
          <a:prstGeom prst="rect">
            <a:avLst/>
          </a:prstGeom>
          <a:noFill/>
          <a:ln/>
        </p:spPr>
        <p:txBody>
          <a:bodyPr wrap="square" lIns="0" tIns="0" rIns="0" bIns="0" rtlCol="0" anchor="ctr"/>
          <a:lstStyle/>
          <a:p>
            <a:pPr algn="l" indent="0" marL="0">
              <a:buNone/>
            </a:pPr>
            <a:r>
              <a:rPr lang="en-US" sz="1200" b="1" dirty="0">
                <a:solidFill>
                  <a:srgbClr val="707070"/>
                </a:solidFill>
                <a:latin typeface="Poppins" pitchFamily="34" charset="0"/>
                <a:ea typeface="Poppins" pitchFamily="34" charset="-122"/>
                <a:cs typeface="Poppins" pitchFamily="34" charset="-120"/>
              </a:rPr>
              <a:t>02  </a:t>
            </a:r>
            <a:pPr algn="l" indent="0" marL="0">
              <a:buNone/>
            </a:pPr>
            <a:r>
              <a:rPr lang="en-US" sz="1200" b="1" dirty="0">
                <a:solidFill>
                  <a:srgbClr val="2D2D2D"/>
                </a:solidFill>
                <a:latin typeface="Microsoft YaHei" pitchFamily="34" charset="0"/>
                <a:ea typeface="Microsoft YaHei" pitchFamily="34" charset="-122"/>
                <a:cs typeface="Microsoft YaHei" pitchFamily="34" charset="-120"/>
              </a:rPr>
              <a:t>检验假设</a:t>
            </a:r>
            <a:endParaRPr lang="en-US" sz="1200" dirty="0"/>
          </a:p>
        </p:txBody>
      </p:sp>
      <p:sp>
        <p:nvSpPr>
          <p:cNvPr id="16" name="Shape 14"/>
          <p:cNvSpPr/>
          <p:nvPr/>
        </p:nvSpPr>
        <p:spPr>
          <a:xfrm>
            <a:off x="5760720" y="1920240"/>
            <a:ext cx="1920240" cy="1920240"/>
          </a:xfrm>
          <a:prstGeom prst="blockArc">
            <a:avLst>
              <a:gd name="adj1" fmla="val 5520000"/>
              <a:gd name="adj2" fmla="val 10680000"/>
              <a:gd name="adj3" fmla="val 15000"/>
            </a:avLst>
          </a:prstGeom>
          <a:solidFill>
            <a:srgbClr val="2D2D2D"/>
          </a:solidFill>
          <a:ln/>
        </p:spPr>
      </p:sp>
      <p:sp>
        <p:nvSpPr>
          <p:cNvPr id="17" name="Text 15"/>
          <p:cNvSpPr txBox="1"/>
          <p:nvPr/>
        </p:nvSpPr>
        <p:spPr>
          <a:xfrm>
            <a:off x="4220977" y="3505703"/>
            <a:ext cx="1691640" cy="365760"/>
          </a:xfrm>
          <a:prstGeom prst="rect">
            <a:avLst/>
          </a:prstGeom>
          <a:noFill/>
          <a:ln/>
        </p:spPr>
        <p:txBody>
          <a:bodyPr wrap="square" lIns="0" tIns="0" rIns="0" bIns="0" rtlCol="0" anchor="ctr"/>
          <a:lstStyle/>
          <a:p>
            <a:pPr algn="r" indent="0" marL="0">
              <a:buNone/>
            </a:pPr>
            <a:r>
              <a:rPr lang="en-US" sz="1200" b="1" dirty="0">
                <a:solidFill>
                  <a:srgbClr val="707070"/>
                </a:solidFill>
                <a:latin typeface="Poppins" pitchFamily="34" charset="0"/>
                <a:ea typeface="Poppins" pitchFamily="34" charset="-122"/>
                <a:cs typeface="Poppins" pitchFamily="34" charset="-120"/>
              </a:rPr>
              <a:t>03  </a:t>
            </a:r>
            <a:pPr algn="r" indent="0" marL="0">
              <a:buNone/>
            </a:pPr>
            <a:r>
              <a:rPr lang="en-US" sz="1200" b="1" dirty="0">
                <a:solidFill>
                  <a:srgbClr val="2D2D2D"/>
                </a:solidFill>
                <a:latin typeface="Microsoft YaHei" pitchFamily="34" charset="0"/>
                <a:ea typeface="Microsoft YaHei" pitchFamily="34" charset="-122"/>
                <a:cs typeface="Microsoft YaHei" pitchFamily="34" charset="-120"/>
              </a:rPr>
              <a:t>分析结果</a:t>
            </a:r>
            <a:endParaRPr lang="en-US" sz="1200" dirty="0"/>
          </a:p>
        </p:txBody>
      </p:sp>
      <p:sp>
        <p:nvSpPr>
          <p:cNvPr id="18" name="Shape 16"/>
          <p:cNvSpPr/>
          <p:nvPr/>
        </p:nvSpPr>
        <p:spPr>
          <a:xfrm>
            <a:off x="5760720" y="1920240"/>
            <a:ext cx="1920240" cy="1920240"/>
          </a:xfrm>
          <a:prstGeom prst="blockArc">
            <a:avLst>
              <a:gd name="adj1" fmla="val 10920000"/>
              <a:gd name="adj2" fmla="val 16080000"/>
              <a:gd name="adj3" fmla="val 15000"/>
            </a:avLst>
          </a:prstGeom>
          <a:solidFill>
            <a:srgbClr val="EBEBEB"/>
          </a:solidFill>
          <a:ln/>
        </p:spPr>
      </p:sp>
      <p:sp>
        <p:nvSpPr>
          <p:cNvPr id="19" name="Text 17"/>
          <p:cNvSpPr txBox="1"/>
          <p:nvPr/>
        </p:nvSpPr>
        <p:spPr>
          <a:xfrm>
            <a:off x="4220977" y="1889257"/>
            <a:ext cx="1691640" cy="365760"/>
          </a:xfrm>
          <a:prstGeom prst="rect">
            <a:avLst/>
          </a:prstGeom>
          <a:noFill/>
          <a:ln/>
        </p:spPr>
        <p:txBody>
          <a:bodyPr wrap="square" lIns="0" tIns="0" rIns="0" bIns="0" rtlCol="0" anchor="ctr"/>
          <a:lstStyle/>
          <a:p>
            <a:pPr algn="r" indent="0" marL="0">
              <a:buNone/>
            </a:pPr>
            <a:r>
              <a:rPr lang="en-US" sz="1200" b="1" dirty="0">
                <a:solidFill>
                  <a:srgbClr val="707070"/>
                </a:solidFill>
                <a:latin typeface="Poppins" pitchFamily="34" charset="0"/>
                <a:ea typeface="Poppins" pitchFamily="34" charset="-122"/>
                <a:cs typeface="Poppins" pitchFamily="34" charset="-120"/>
              </a:rPr>
              <a:t>04  </a:t>
            </a:r>
            <a:pPr algn="r" indent="0" marL="0">
              <a:buNone/>
            </a:pPr>
            <a:r>
              <a:rPr lang="en-US" sz="1200" b="1" dirty="0">
                <a:solidFill>
                  <a:srgbClr val="2D2D2D"/>
                </a:solidFill>
                <a:latin typeface="Microsoft YaHei" pitchFamily="34" charset="0"/>
                <a:ea typeface="Microsoft YaHei" pitchFamily="34" charset="-122"/>
                <a:cs typeface="Microsoft YaHei" pitchFamily="34" charset="-120"/>
              </a:rPr>
              <a:t>修正或形成新假设</a:t>
            </a:r>
            <a:endParaRPr lang="en-US" sz="1200" dirty="0"/>
          </a:p>
        </p:txBody>
      </p:sp>
      <p:sp>
        <p:nvSpPr>
          <p:cNvPr id="20" name="Text 18"/>
          <p:cNvSpPr txBox="1"/>
          <p:nvPr/>
        </p:nvSpPr>
        <p:spPr>
          <a:xfrm>
            <a:off x="6172200" y="2331720"/>
            <a:ext cx="1097280" cy="1097280"/>
          </a:xfrm>
          <a:prstGeom prst="rect">
            <a:avLst/>
          </a:prstGeom>
          <a:noFill/>
          <a:ln/>
        </p:spPr>
        <p:txBody>
          <a:bodyPr wrap="square" lIns="0" tIns="0" rIns="0" bIns="0" rtlCol="0" anchor="ctr"/>
          <a:lstStyle/>
          <a:p>
            <a:pPr algn="ctr" indent="0" marL="0">
              <a:buNone/>
            </a:pPr>
            <a:r>
              <a:rPr lang="en-US" sz="3400" dirty="0">
                <a:solidFill>
                  <a:srgbClr val="2D2D2D"/>
                </a:solidFill>
                <a:latin typeface="Poppins" pitchFamily="34" charset="0"/>
                <a:ea typeface="Poppins" pitchFamily="34" charset="-122"/>
                <a:cs typeface="Poppins" pitchFamily="34" charset="-120"/>
              </a:rPr>
              <a:t>↻</a:t>
            </a:r>
            <a:endParaRPr lang="en-US" sz="3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消化性溃疡研究案例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Peptic Ulcer Case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形成假设</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43</a:t>
            </a:r>
            <a:endParaRPr lang="en-US" sz="800" dirty="0"/>
          </a:p>
        </p:txBody>
      </p:sp>
      <p:sp>
        <p:nvSpPr>
          <p:cNvPr id="9" name="Text 7"/>
          <p:cNvSpPr txBox="1"/>
          <p:nvPr/>
        </p:nvSpPr>
        <p:spPr>
          <a:xfrm>
            <a:off x="411480" y="1143000"/>
            <a:ext cx="8321040" cy="68580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在二十世纪早期，人们认为消化性溃疡是由压力和饮食不当造成的。直到1982年，澳大利亚医生沃伦和马歇尔首次确认了幽门螺杆菌和溃疡之间存在联系。</a:t>
            </a:r>
            <a:endParaRPr lang="en-US" sz="1250" dirty="0"/>
          </a:p>
        </p:txBody>
      </p:sp>
      <p:sp>
        <p:nvSpPr>
          <p:cNvPr id="10" name="Shape 8"/>
          <p:cNvSpPr/>
          <p:nvPr/>
        </p:nvSpPr>
        <p:spPr>
          <a:xfrm>
            <a:off x="411480" y="2395728"/>
            <a:ext cx="8321040" cy="45720"/>
          </a:xfrm>
          <a:prstGeom prst="rect">
            <a:avLst/>
          </a:prstGeom>
          <a:solidFill>
            <a:srgbClr val="CDCDCD"/>
          </a:solidFill>
          <a:ln/>
        </p:spPr>
      </p:sp>
      <p:sp>
        <p:nvSpPr>
          <p:cNvPr id="11" name="Shape 9"/>
          <p:cNvSpPr/>
          <p:nvPr/>
        </p:nvSpPr>
        <p:spPr>
          <a:xfrm>
            <a:off x="502920" y="2103120"/>
            <a:ext cx="603504" cy="603504"/>
          </a:xfrm>
          <a:prstGeom prst="ellipse">
            <a:avLst/>
          </a:prstGeom>
          <a:solidFill>
            <a:srgbClr val="40E0D0"/>
          </a:solidFill>
          <a:ln w="38100">
            <a:solidFill>
              <a:srgbClr val="FFFFFF"/>
            </a:solidFill>
            <a:prstDash val="solid"/>
          </a:ln>
        </p:spPr>
      </p:sp>
      <p:sp>
        <p:nvSpPr>
          <p:cNvPr id="12" name="Text 10"/>
          <p:cNvSpPr txBox="1"/>
          <p:nvPr/>
        </p:nvSpPr>
        <p:spPr>
          <a:xfrm>
            <a:off x="502920" y="2103120"/>
            <a:ext cx="603504" cy="603504"/>
          </a:xfrm>
          <a:prstGeom prst="rect">
            <a:avLst/>
          </a:prstGeom>
          <a:noFill/>
          <a:ln/>
        </p:spPr>
        <p:txBody>
          <a:bodyPr wrap="square" lIns="0" tIns="0" rIns="0" bIns="0" rtlCol="0" anchor="ctr"/>
          <a:lstStyle/>
          <a:p>
            <a:pPr algn="ctr" indent="0" marL="0">
              <a:buNone/>
            </a:pPr>
            <a:r>
              <a:rPr lang="en-US" sz="1800" b="1" dirty="0">
                <a:solidFill>
                  <a:srgbClr val="2D2D2D"/>
                </a:solidFill>
                <a:latin typeface="Poppins" pitchFamily="34" charset="0"/>
                <a:ea typeface="Poppins" pitchFamily="34" charset="-122"/>
                <a:cs typeface="Poppins" pitchFamily="34" charset="-120"/>
              </a:rPr>
              <a:t>1</a:t>
            </a:r>
            <a:endParaRPr lang="en-US" sz="1800" dirty="0"/>
          </a:p>
        </p:txBody>
      </p:sp>
      <p:sp>
        <p:nvSpPr>
          <p:cNvPr id="13" name="Shape 11"/>
          <p:cNvSpPr/>
          <p:nvPr/>
        </p:nvSpPr>
        <p:spPr>
          <a:xfrm>
            <a:off x="411480" y="2880360"/>
            <a:ext cx="1997964" cy="1691640"/>
          </a:xfrm>
          <a:prstGeom prst="rect">
            <a:avLst/>
          </a:prstGeom>
          <a:solidFill>
            <a:srgbClr val="E2E2E2"/>
          </a:solidFill>
          <a:ln/>
        </p:spPr>
      </p:sp>
      <p:sp>
        <p:nvSpPr>
          <p:cNvPr id="14" name="Text 12"/>
          <p:cNvSpPr txBox="1"/>
          <p:nvPr/>
        </p:nvSpPr>
        <p:spPr>
          <a:xfrm>
            <a:off x="594360" y="2990088"/>
            <a:ext cx="1677924"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传统观念</a:t>
            </a:r>
            <a:endParaRPr lang="en-US" sz="1500" dirty="0"/>
          </a:p>
        </p:txBody>
      </p:sp>
      <p:sp>
        <p:nvSpPr>
          <p:cNvPr id="15" name="Text 13"/>
          <p:cNvSpPr txBox="1"/>
          <p:nvPr/>
        </p:nvSpPr>
        <p:spPr>
          <a:xfrm>
            <a:off x="594360" y="3401568"/>
            <a:ext cx="1650492" cy="109728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压力和饮食导致溃疡，治疗方法是卧床休息和食疗</a:t>
            </a:r>
            <a:endParaRPr lang="en-US" sz="1150" dirty="0"/>
          </a:p>
        </p:txBody>
      </p:sp>
      <p:sp>
        <p:nvSpPr>
          <p:cNvPr id="16" name="Shape 14"/>
          <p:cNvSpPr/>
          <p:nvPr/>
        </p:nvSpPr>
        <p:spPr>
          <a:xfrm>
            <a:off x="2610612" y="2103120"/>
            <a:ext cx="603504" cy="603504"/>
          </a:xfrm>
          <a:prstGeom prst="ellipse">
            <a:avLst/>
          </a:prstGeom>
          <a:solidFill>
            <a:srgbClr val="40E0D0"/>
          </a:solidFill>
          <a:ln w="38100">
            <a:solidFill>
              <a:srgbClr val="FFFFFF"/>
            </a:solidFill>
            <a:prstDash val="solid"/>
          </a:ln>
        </p:spPr>
      </p:sp>
      <p:sp>
        <p:nvSpPr>
          <p:cNvPr id="17" name="Text 15"/>
          <p:cNvSpPr txBox="1"/>
          <p:nvPr/>
        </p:nvSpPr>
        <p:spPr>
          <a:xfrm>
            <a:off x="2610612" y="2103120"/>
            <a:ext cx="603504" cy="603504"/>
          </a:xfrm>
          <a:prstGeom prst="rect">
            <a:avLst/>
          </a:prstGeom>
          <a:noFill/>
          <a:ln/>
        </p:spPr>
        <p:txBody>
          <a:bodyPr wrap="square" lIns="0" tIns="0" rIns="0" bIns="0" rtlCol="0" anchor="ctr"/>
          <a:lstStyle/>
          <a:p>
            <a:pPr algn="ctr" indent="0" marL="0">
              <a:buNone/>
            </a:pPr>
            <a:r>
              <a:rPr lang="en-US" sz="1800" b="1" dirty="0">
                <a:solidFill>
                  <a:srgbClr val="2D2D2D"/>
                </a:solidFill>
                <a:latin typeface="Poppins" pitchFamily="34" charset="0"/>
                <a:ea typeface="Poppins" pitchFamily="34" charset="-122"/>
                <a:cs typeface="Poppins" pitchFamily="34" charset="-120"/>
              </a:rPr>
              <a:t>2</a:t>
            </a:r>
            <a:endParaRPr lang="en-US" sz="1800" dirty="0"/>
          </a:p>
        </p:txBody>
      </p:sp>
      <p:sp>
        <p:nvSpPr>
          <p:cNvPr id="18" name="Shape 16"/>
          <p:cNvSpPr/>
          <p:nvPr/>
        </p:nvSpPr>
        <p:spPr>
          <a:xfrm>
            <a:off x="2519172" y="2880360"/>
            <a:ext cx="1997964" cy="1691640"/>
          </a:xfrm>
          <a:prstGeom prst="rect">
            <a:avLst/>
          </a:prstGeom>
          <a:solidFill>
            <a:srgbClr val="40E0D0"/>
          </a:solidFill>
          <a:ln/>
        </p:spPr>
      </p:sp>
      <p:sp>
        <p:nvSpPr>
          <p:cNvPr id="19" name="Text 17"/>
          <p:cNvSpPr txBox="1"/>
          <p:nvPr/>
        </p:nvSpPr>
        <p:spPr>
          <a:xfrm>
            <a:off x="2702052" y="2990088"/>
            <a:ext cx="1677924"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新发现</a:t>
            </a:r>
            <a:endParaRPr lang="en-US" sz="1500" dirty="0"/>
          </a:p>
        </p:txBody>
      </p:sp>
      <p:sp>
        <p:nvSpPr>
          <p:cNvPr id="20" name="Text 18"/>
          <p:cNvSpPr txBox="1"/>
          <p:nvPr/>
        </p:nvSpPr>
        <p:spPr>
          <a:xfrm>
            <a:off x="2702052" y="3401568"/>
            <a:ext cx="1650492" cy="109728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1982年确认幽门螺杆菌与溃疡的联系</a:t>
            </a:r>
            <a:endParaRPr lang="en-US" sz="1150" dirty="0"/>
          </a:p>
        </p:txBody>
      </p:sp>
      <p:sp>
        <p:nvSpPr>
          <p:cNvPr id="21" name="Shape 19"/>
          <p:cNvSpPr/>
          <p:nvPr/>
        </p:nvSpPr>
        <p:spPr>
          <a:xfrm>
            <a:off x="4718304" y="2103120"/>
            <a:ext cx="603504" cy="603504"/>
          </a:xfrm>
          <a:prstGeom prst="ellipse">
            <a:avLst/>
          </a:prstGeom>
          <a:solidFill>
            <a:srgbClr val="40E0D0"/>
          </a:solidFill>
          <a:ln w="38100">
            <a:solidFill>
              <a:srgbClr val="FFFFFF"/>
            </a:solidFill>
            <a:prstDash val="solid"/>
          </a:ln>
        </p:spPr>
      </p:sp>
      <p:sp>
        <p:nvSpPr>
          <p:cNvPr id="22" name="Text 20"/>
          <p:cNvSpPr txBox="1"/>
          <p:nvPr/>
        </p:nvSpPr>
        <p:spPr>
          <a:xfrm>
            <a:off x="4718304" y="2103120"/>
            <a:ext cx="603504" cy="603504"/>
          </a:xfrm>
          <a:prstGeom prst="rect">
            <a:avLst/>
          </a:prstGeom>
          <a:noFill/>
          <a:ln/>
        </p:spPr>
        <p:txBody>
          <a:bodyPr wrap="square" lIns="0" tIns="0" rIns="0" bIns="0" rtlCol="0" anchor="ctr"/>
          <a:lstStyle/>
          <a:p>
            <a:pPr algn="ctr" indent="0" marL="0">
              <a:buNone/>
            </a:pPr>
            <a:r>
              <a:rPr lang="en-US" sz="1800" b="1" dirty="0">
                <a:solidFill>
                  <a:srgbClr val="2D2D2D"/>
                </a:solidFill>
                <a:latin typeface="Poppins" pitchFamily="34" charset="0"/>
                <a:ea typeface="Poppins" pitchFamily="34" charset="-122"/>
                <a:cs typeface="Poppins" pitchFamily="34" charset="-120"/>
              </a:rPr>
              <a:t>3</a:t>
            </a:r>
            <a:endParaRPr lang="en-US" sz="1800" dirty="0"/>
          </a:p>
        </p:txBody>
      </p:sp>
      <p:sp>
        <p:nvSpPr>
          <p:cNvPr id="23" name="Shape 21"/>
          <p:cNvSpPr/>
          <p:nvPr/>
        </p:nvSpPr>
        <p:spPr>
          <a:xfrm>
            <a:off x="4626864" y="2880360"/>
            <a:ext cx="1997964" cy="1691640"/>
          </a:xfrm>
          <a:prstGeom prst="rect">
            <a:avLst/>
          </a:prstGeom>
          <a:solidFill>
            <a:srgbClr val="EBEBEB"/>
          </a:solidFill>
          <a:ln/>
        </p:spPr>
      </p:sp>
      <p:sp>
        <p:nvSpPr>
          <p:cNvPr id="24" name="Text 22"/>
          <p:cNvSpPr txBox="1"/>
          <p:nvPr/>
        </p:nvSpPr>
        <p:spPr>
          <a:xfrm>
            <a:off x="4809744" y="2990088"/>
            <a:ext cx="1677924"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缓慢接纳</a:t>
            </a:r>
            <a:endParaRPr lang="en-US" sz="1500" dirty="0"/>
          </a:p>
        </p:txBody>
      </p:sp>
      <p:sp>
        <p:nvSpPr>
          <p:cNvPr id="25" name="Text 23"/>
          <p:cNvSpPr txBox="1"/>
          <p:nvPr/>
        </p:nvSpPr>
        <p:spPr>
          <a:xfrm>
            <a:off x="4809744" y="3401568"/>
            <a:ext cx="1650492" cy="109728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医学界花了十年以上时间才承认这一发现</a:t>
            </a:r>
            <a:endParaRPr lang="en-US" sz="1150" dirty="0"/>
          </a:p>
        </p:txBody>
      </p:sp>
      <p:sp>
        <p:nvSpPr>
          <p:cNvPr id="26" name="Shape 24"/>
          <p:cNvSpPr/>
          <p:nvPr/>
        </p:nvSpPr>
        <p:spPr>
          <a:xfrm>
            <a:off x="6825996" y="2103120"/>
            <a:ext cx="603504" cy="603504"/>
          </a:xfrm>
          <a:prstGeom prst="ellipse">
            <a:avLst/>
          </a:prstGeom>
          <a:solidFill>
            <a:srgbClr val="2D2D2D"/>
          </a:solidFill>
          <a:ln w="38100">
            <a:solidFill>
              <a:srgbClr val="FFFFFF"/>
            </a:solidFill>
            <a:prstDash val="solid"/>
          </a:ln>
        </p:spPr>
      </p:sp>
      <p:sp>
        <p:nvSpPr>
          <p:cNvPr id="27" name="Text 25"/>
          <p:cNvSpPr txBox="1"/>
          <p:nvPr/>
        </p:nvSpPr>
        <p:spPr>
          <a:xfrm>
            <a:off x="6825996" y="2103120"/>
            <a:ext cx="603504" cy="603504"/>
          </a:xfrm>
          <a:prstGeom prst="rect">
            <a:avLst/>
          </a:prstGeom>
          <a:noFill/>
          <a:ln/>
        </p:spPr>
        <p:txBody>
          <a:bodyPr wrap="square" lIns="0" tIns="0" rIns="0" bIns="0" rtlCol="0" anchor="ctr"/>
          <a:lstStyle/>
          <a:p>
            <a:pPr algn="ctr" indent="0" marL="0">
              <a:buNone/>
            </a:pPr>
            <a:r>
              <a:rPr lang="en-US" sz="1800" b="1" dirty="0">
                <a:solidFill>
                  <a:srgbClr val="40E0D0"/>
                </a:solidFill>
                <a:latin typeface="Poppins" pitchFamily="34" charset="0"/>
                <a:ea typeface="Poppins" pitchFamily="34" charset="-122"/>
                <a:cs typeface="Poppins" pitchFamily="34" charset="-120"/>
              </a:rPr>
              <a:t>4</a:t>
            </a:r>
            <a:endParaRPr lang="en-US" sz="1800" dirty="0"/>
          </a:p>
        </p:txBody>
      </p:sp>
      <p:sp>
        <p:nvSpPr>
          <p:cNvPr id="28" name="Shape 26"/>
          <p:cNvSpPr/>
          <p:nvPr/>
        </p:nvSpPr>
        <p:spPr>
          <a:xfrm>
            <a:off x="6734556" y="2880360"/>
            <a:ext cx="1997964" cy="1691640"/>
          </a:xfrm>
          <a:prstGeom prst="rect">
            <a:avLst/>
          </a:prstGeom>
          <a:solidFill>
            <a:srgbClr val="2D2D2D"/>
          </a:solidFill>
          <a:ln/>
        </p:spPr>
      </p:sp>
      <p:sp>
        <p:nvSpPr>
          <p:cNvPr id="29" name="Text 27"/>
          <p:cNvSpPr txBox="1"/>
          <p:nvPr/>
        </p:nvSpPr>
        <p:spPr>
          <a:xfrm>
            <a:off x="6917436" y="2990088"/>
            <a:ext cx="1677924" cy="3657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治疗革新</a:t>
            </a:r>
            <a:endParaRPr lang="en-US" sz="1500" dirty="0"/>
          </a:p>
        </p:txBody>
      </p:sp>
      <p:sp>
        <p:nvSpPr>
          <p:cNvPr id="30" name="Text 28"/>
          <p:cNvSpPr txBox="1"/>
          <p:nvPr/>
        </p:nvSpPr>
        <p:spPr>
          <a:xfrm>
            <a:off x="6917436" y="3401568"/>
            <a:ext cx="1650492" cy="1097280"/>
          </a:xfrm>
          <a:prstGeom prst="rect">
            <a:avLst/>
          </a:prstGeom>
          <a:noFill/>
          <a:ln/>
        </p:spPr>
        <p:txBody>
          <a:bodyPr wrap="square" lIns="0" tIns="0" rIns="0" bIns="0" rtlCol="0" anchor="t"/>
          <a:lstStyle/>
          <a:p>
            <a:pPr indent="0" marL="0">
              <a:lnSpc>
                <a:spcPct val="135000"/>
              </a:lnSpc>
              <a:buNone/>
            </a:pPr>
            <a:r>
              <a:rPr lang="en-US" sz="1150" dirty="0">
                <a:solidFill>
                  <a:srgbClr val="FFFFFF"/>
                </a:solidFill>
                <a:latin typeface="Microsoft YaHei" pitchFamily="34" charset="0"/>
                <a:ea typeface="Microsoft YaHei" pitchFamily="34" charset="-122"/>
                <a:cs typeface="Microsoft YaHei" pitchFamily="34" charset="-120"/>
              </a:rPr>
              <a:t>1996年FDA批准首种抗生素治疗方案</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4791456"/>
            <a:ext cx="164592" cy="164592"/>
          </a:xfrm>
          <a:prstGeom prst="rect">
            <a:avLst/>
          </a:prstGeom>
          <a:solidFill>
            <a:srgbClr val="40E0D0"/>
          </a:solidFill>
          <a:ln/>
        </p:spPr>
      </p:sp>
      <p:sp>
        <p:nvSpPr>
          <p:cNvPr id="3" name="Shape 1"/>
          <p:cNvSpPr/>
          <p:nvPr/>
        </p:nvSpPr>
        <p:spPr>
          <a:xfrm>
            <a:off x="493776" y="4873752"/>
            <a:ext cx="115214" cy="115214"/>
          </a:xfrm>
          <a:prstGeom prst="rect">
            <a:avLst/>
          </a:prstGeom>
          <a:solidFill>
            <a:srgbClr val="2D2D2D"/>
          </a:solidFill>
          <a:ln/>
        </p:spPr>
      </p:sp>
      <p:sp>
        <p:nvSpPr>
          <p:cNvPr id="4" name="Text 2"/>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5" name="Text 3"/>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04  形成假设</a:t>
            </a:r>
            <a:endParaRPr lang="en-US" sz="800" dirty="0"/>
          </a:p>
        </p:txBody>
      </p:sp>
      <p:sp>
        <p:nvSpPr>
          <p:cNvPr id="6" name="Text 4"/>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44</a:t>
            </a:r>
            <a:endParaRPr lang="en-US" sz="800" dirty="0"/>
          </a:p>
        </p:txBody>
      </p:sp>
      <p:pic>
        <p:nvPicPr>
          <p:cNvPr id="7" name="Image 0" descr="p36_1">    </p:cNvPr>
          <p:cNvPicPr>
            <a:picLocks noChangeAspect="1"/>
          </p:cNvPicPr>
          <p:nvPr/>
        </p:nvPicPr>
        <p:blipFill>
          <a:blip r:embed="rId1"/>
          <a:stretch>
            <a:fillRect/>
          </a:stretch>
        </p:blipFill>
        <p:spPr>
          <a:xfrm>
            <a:off x="0" y="0"/>
            <a:ext cx="2743200" cy="4636008"/>
          </a:xfrm>
          <a:prstGeom prst="rect">
            <a:avLst/>
          </a:prstGeom>
        </p:spPr>
      </p:pic>
      <p:sp>
        <p:nvSpPr>
          <p:cNvPr id="8" name="Text 5"/>
          <p:cNvSpPr txBox="1"/>
          <p:nvPr/>
        </p:nvSpPr>
        <p:spPr>
          <a:xfrm>
            <a:off x="3063240" y="292608"/>
            <a:ext cx="5669280" cy="438912"/>
          </a:xfrm>
          <a:prstGeom prst="rect">
            <a:avLst/>
          </a:prstGeom>
          <a:noFill/>
          <a:ln/>
        </p:spPr>
        <p:txBody>
          <a:bodyPr wrap="square" lIns="0" tIns="0" rIns="0" bIns="0" rtlCol="0" anchor="ct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马歇尔的坚持与突破</a:t>
            </a:r>
            <a:endParaRPr lang="en-US" sz="2200" dirty="0"/>
          </a:p>
        </p:txBody>
      </p:sp>
      <p:sp>
        <p:nvSpPr>
          <p:cNvPr id="9" name="Text 6"/>
          <p:cNvSpPr txBox="1"/>
          <p:nvPr/>
        </p:nvSpPr>
        <p:spPr>
          <a:xfrm>
            <a:off x="3063240" y="731520"/>
            <a:ext cx="566928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Marshall’s Persistence</a:t>
            </a:r>
            <a:endParaRPr lang="en-US" sz="950" dirty="0"/>
          </a:p>
        </p:txBody>
      </p:sp>
      <p:sp>
        <p:nvSpPr>
          <p:cNvPr id="10" name="Text 7"/>
          <p:cNvSpPr txBox="1"/>
          <p:nvPr/>
        </p:nvSpPr>
        <p:spPr>
          <a:xfrm>
            <a:off x="3063240" y="1143000"/>
            <a:ext cx="5669280" cy="68580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尽管所有人都固执地认为马歇尔错了，但只有他自己坚信自己是正确的。这一知识正是在这样的情况下产生的。</a:t>
            </a:r>
            <a:endParaRPr lang="en-US" sz="1250" dirty="0"/>
          </a:p>
        </p:txBody>
      </p:sp>
      <p:sp>
        <p:nvSpPr>
          <p:cNvPr id="11" name="Shape 8"/>
          <p:cNvSpPr/>
          <p:nvPr/>
        </p:nvSpPr>
        <p:spPr>
          <a:xfrm>
            <a:off x="3063240" y="1965960"/>
            <a:ext cx="2779776" cy="2606040"/>
          </a:xfrm>
          <a:prstGeom prst="rect">
            <a:avLst/>
          </a:prstGeom>
          <a:solidFill>
            <a:srgbClr val="EBEBEB"/>
          </a:solidFill>
          <a:ln/>
        </p:spPr>
      </p:sp>
      <p:sp>
        <p:nvSpPr>
          <p:cNvPr id="12" name="Text 9"/>
          <p:cNvSpPr txBox="1"/>
          <p:nvPr/>
        </p:nvSpPr>
        <p:spPr>
          <a:xfrm>
            <a:off x="3246120" y="2057400"/>
            <a:ext cx="2414016"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研究过程</a:t>
            </a:r>
            <a:endParaRPr lang="en-US" sz="1500" dirty="0"/>
          </a:p>
        </p:txBody>
      </p:sp>
      <p:sp>
        <p:nvSpPr>
          <p:cNvPr id="13" name="Text 10"/>
          <p:cNvSpPr txBox="1"/>
          <p:nvPr/>
        </p:nvSpPr>
        <p:spPr>
          <a:xfrm>
            <a:off x="3246120" y="2514600"/>
            <a:ext cx="2432304" cy="2011680"/>
          </a:xfrm>
          <a:prstGeom prst="rect">
            <a:avLst/>
          </a:prstGeom>
          <a:noFill/>
          <a:ln/>
        </p:spPr>
        <p:txBody>
          <a:bodyPr wrap="square" lIns="0" tIns="0" rIns="0" bIns="0" rtlCol="0" anchor="t"/>
          <a:lstStyle/>
          <a:p>
            <a:pPr marL="152400" indent="-152400">
              <a:lnSpc>
                <a:spcPct val="120000"/>
              </a:lnSpc>
              <a:spcAft>
                <a:spcPts val="400"/>
              </a:spcAft>
              <a:buSzPct val="100000"/>
              <a:buChar char="•"/>
            </a:pPr>
            <a:r>
              <a:rPr lang="en-US" sz="1050" dirty="0">
                <a:solidFill>
                  <a:srgbClr val="2D2D2D"/>
                </a:solidFill>
                <a:latin typeface="Microsoft YaHei" pitchFamily="34" charset="0"/>
                <a:ea typeface="Microsoft YaHei" pitchFamily="34" charset="-122"/>
                <a:cs typeface="Microsoft YaHei" pitchFamily="34" charset="-120"/>
              </a:rPr>
              <a:t>文献回顾发现十九世纪末期就有报道称发现胃部螺形杆菌</a:t>
            </a:r>
            <a:endParaRPr lang="en-US" sz="1050" dirty="0"/>
          </a:p>
          <a:p>
            <a:pPr marL="152400" indent="-152400">
              <a:lnSpc>
                <a:spcPct val="120000"/>
              </a:lnSpc>
              <a:spcAft>
                <a:spcPts val="400"/>
              </a:spcAft>
              <a:buSzPct val="100000"/>
              <a:buChar char="•"/>
            </a:pPr>
            <a:r>
              <a:rPr lang="en-US" sz="1050" dirty="0">
                <a:solidFill>
                  <a:srgbClr val="2D2D2D"/>
                </a:solidFill>
                <a:latin typeface="Microsoft YaHei" pitchFamily="34" charset="0"/>
                <a:ea typeface="Microsoft YaHei" pitchFamily="34" charset="-122"/>
                <a:cs typeface="Microsoft YaHei" pitchFamily="34" charset="-120"/>
              </a:rPr>
              <a:t>与病理学医生沃伦合作研究</a:t>
            </a:r>
            <a:endParaRPr lang="en-US" sz="1050" dirty="0"/>
          </a:p>
          <a:p>
            <a:pPr marL="152400" indent="-152400">
              <a:lnSpc>
                <a:spcPct val="120000"/>
              </a:lnSpc>
              <a:spcAft>
                <a:spcPts val="400"/>
              </a:spcAft>
              <a:buSzPct val="100000"/>
              <a:buChar char="•"/>
            </a:pPr>
            <a:r>
              <a:rPr lang="en-US" sz="1050" dirty="0">
                <a:solidFill>
                  <a:srgbClr val="2D2D2D"/>
                </a:solidFill>
                <a:latin typeface="Microsoft YaHei" pitchFamily="34" charset="0"/>
                <a:ea typeface="Microsoft YaHei" pitchFamily="34" charset="-122"/>
                <a:cs typeface="Microsoft YaHei" pitchFamily="34" charset="-120"/>
              </a:rPr>
              <a:t>用致病菌让自己感染以创造实验模型</a:t>
            </a:r>
            <a:endParaRPr lang="en-US" sz="1050" dirty="0"/>
          </a:p>
          <a:p>
            <a:pPr marL="152400" indent="-152400">
              <a:lnSpc>
                <a:spcPct val="120000"/>
              </a:lnSpc>
              <a:spcAft>
                <a:spcPts val="400"/>
              </a:spcAft>
              <a:buSzPct val="100000"/>
              <a:buChar char="•"/>
            </a:pPr>
            <a:r>
              <a:rPr lang="en-US" sz="1050" dirty="0">
                <a:solidFill>
                  <a:srgbClr val="2D2D2D"/>
                </a:solidFill>
                <a:latin typeface="Microsoft YaHei" pitchFamily="34" charset="0"/>
                <a:ea typeface="Microsoft YaHei" pitchFamily="34" charset="-122"/>
                <a:cs typeface="Microsoft YaHei" pitchFamily="34" charset="-120"/>
              </a:rPr>
              <a:t>向已被接受的观念发起挑战</a:t>
            </a:r>
            <a:endParaRPr lang="en-US" sz="1050" dirty="0"/>
          </a:p>
        </p:txBody>
      </p:sp>
      <p:sp>
        <p:nvSpPr>
          <p:cNvPr id="14" name="Shape 11"/>
          <p:cNvSpPr/>
          <p:nvPr/>
        </p:nvSpPr>
        <p:spPr>
          <a:xfrm>
            <a:off x="5952744" y="1965960"/>
            <a:ext cx="2779776" cy="2606040"/>
          </a:xfrm>
          <a:prstGeom prst="rect">
            <a:avLst/>
          </a:prstGeom>
          <a:solidFill>
            <a:srgbClr val="40E0D0"/>
          </a:solidFill>
          <a:ln/>
        </p:spPr>
      </p:sp>
      <p:sp>
        <p:nvSpPr>
          <p:cNvPr id="15" name="Text 12"/>
          <p:cNvSpPr txBox="1"/>
          <p:nvPr/>
        </p:nvSpPr>
        <p:spPr>
          <a:xfrm>
            <a:off x="6135624" y="2057400"/>
            <a:ext cx="2414016" cy="384048"/>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最终成果</a:t>
            </a:r>
            <a:endParaRPr lang="en-US" sz="1500" dirty="0"/>
          </a:p>
        </p:txBody>
      </p:sp>
      <p:sp>
        <p:nvSpPr>
          <p:cNvPr id="16" name="Text 13"/>
          <p:cNvSpPr txBox="1"/>
          <p:nvPr/>
        </p:nvSpPr>
        <p:spPr>
          <a:xfrm>
            <a:off x="6135624" y="2514600"/>
            <a:ext cx="2432304" cy="2011680"/>
          </a:xfrm>
          <a:prstGeom prst="rect">
            <a:avLst/>
          </a:prstGeom>
          <a:noFill/>
          <a:ln/>
        </p:spPr>
        <p:txBody>
          <a:bodyPr wrap="square" lIns="0" tIns="0" rIns="0" bIns="0" rtlCol="0" anchor="t"/>
          <a:lstStyle/>
          <a:p>
            <a:pPr marL="152400" indent="-152400">
              <a:lnSpc>
                <a:spcPct val="120000"/>
              </a:lnSpc>
              <a:spcAft>
                <a:spcPts val="400"/>
              </a:spcAft>
              <a:buSzPct val="100000"/>
              <a:buChar char="•"/>
            </a:pPr>
            <a:r>
              <a:rPr lang="en-US" sz="1050" dirty="0">
                <a:solidFill>
                  <a:srgbClr val="2D2D2D"/>
                </a:solidFill>
                <a:latin typeface="Microsoft YaHei" pitchFamily="34" charset="0"/>
                <a:ea typeface="Microsoft YaHei" pitchFamily="34" charset="-122"/>
                <a:cs typeface="Microsoft YaHei" pitchFamily="34" charset="-120"/>
              </a:rPr>
              <a:t>证明了幽门螺杆菌对消化性溃疡的意义</a:t>
            </a:r>
            <a:endParaRPr lang="en-US" sz="1050" dirty="0"/>
          </a:p>
          <a:p>
            <a:pPr marL="152400" indent="-152400">
              <a:lnSpc>
                <a:spcPct val="120000"/>
              </a:lnSpc>
              <a:spcAft>
                <a:spcPts val="400"/>
              </a:spcAft>
              <a:buSzPct val="100000"/>
              <a:buChar char="•"/>
            </a:pPr>
            <a:r>
              <a:rPr lang="en-US" sz="1050" dirty="0">
                <a:solidFill>
                  <a:srgbClr val="2D2D2D"/>
                </a:solidFill>
                <a:latin typeface="Microsoft YaHei" pitchFamily="34" charset="0"/>
                <a:ea typeface="Microsoft YaHei" pitchFamily="34" charset="-122"/>
                <a:cs typeface="Microsoft YaHei" pitchFamily="34" charset="-120"/>
              </a:rPr>
              <a:t>1996年FDA批准药物治疗方案</a:t>
            </a:r>
            <a:endParaRPr lang="en-US" sz="1050" dirty="0"/>
          </a:p>
          <a:p>
            <a:pPr marL="152400" indent="-152400">
              <a:lnSpc>
                <a:spcPct val="120000"/>
              </a:lnSpc>
              <a:spcAft>
                <a:spcPts val="400"/>
              </a:spcAft>
              <a:buSzPct val="100000"/>
              <a:buChar char="•"/>
            </a:pPr>
            <a:r>
              <a:rPr lang="en-US" sz="1050" dirty="0">
                <a:solidFill>
                  <a:srgbClr val="2D2D2D"/>
                </a:solidFill>
                <a:latin typeface="Microsoft YaHei" pitchFamily="34" charset="0"/>
                <a:ea typeface="Microsoft YaHei" pitchFamily="34" charset="-122"/>
                <a:cs typeface="Microsoft YaHei" pitchFamily="34" charset="-120"/>
              </a:rPr>
              <a:t>继续研究细菌与胃癌的关系</a:t>
            </a:r>
            <a:endParaRPr lang="en-US" sz="1050" dirty="0"/>
          </a:p>
          <a:p>
            <a:pPr marL="152400" indent="-152400">
              <a:lnSpc>
                <a:spcPct val="120000"/>
              </a:lnSpc>
              <a:spcAft>
                <a:spcPts val="400"/>
              </a:spcAft>
              <a:buSzPct val="100000"/>
              <a:buChar char="•"/>
            </a:pPr>
            <a:r>
              <a:rPr lang="en-US" sz="1050" dirty="0">
                <a:solidFill>
                  <a:srgbClr val="2D2D2D"/>
                </a:solidFill>
                <a:latin typeface="Microsoft YaHei" pitchFamily="34" charset="0"/>
                <a:ea typeface="Microsoft YaHei" pitchFamily="34" charset="-122"/>
                <a:cs typeface="Microsoft YaHei" pitchFamily="34" charset="-120"/>
              </a:rPr>
              <a:t>这一观点在业内被接受</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Lesson 02</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05</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Summary &amp; Review</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总结与回顾</a:t>
            </a:r>
            <a:endParaRPr lang="en-US" sz="3000" dirty="0"/>
          </a:p>
        </p:txBody>
      </p:sp>
      <p:sp>
        <p:nvSpPr>
          <p:cNvPr id="7" name="Shape 5"/>
          <p:cNvSpPr/>
          <p:nvPr/>
        </p:nvSpPr>
        <p:spPr>
          <a:xfrm>
            <a:off x="4023360" y="1828800"/>
            <a:ext cx="4709160" cy="603504"/>
          </a:xfrm>
          <a:prstGeom prst="roundRect">
            <a:avLst>
              <a:gd name="adj" fmla="val 18182"/>
            </a:avLst>
          </a:prstGeom>
          <a:solidFill>
            <a:srgbClr val="EBEBEB"/>
          </a:solidFill>
          <a:ln/>
        </p:spPr>
      </p:sp>
      <p:sp>
        <p:nvSpPr>
          <p:cNvPr id="8" name="Shape 6"/>
          <p:cNvSpPr/>
          <p:nvPr/>
        </p:nvSpPr>
        <p:spPr>
          <a:xfrm>
            <a:off x="4224528" y="2057400"/>
            <a:ext cx="146304" cy="146304"/>
          </a:xfrm>
          <a:prstGeom prst="rect">
            <a:avLst/>
          </a:prstGeom>
          <a:solidFill>
            <a:srgbClr val="40E0D0"/>
          </a:solidFill>
          <a:ln/>
        </p:spPr>
      </p:sp>
      <p:sp>
        <p:nvSpPr>
          <p:cNvPr id="9" name="Text 7"/>
          <p:cNvSpPr txBox="1"/>
          <p:nvPr/>
        </p:nvSpPr>
        <p:spPr>
          <a:xfrm>
            <a:off x="4526280" y="19476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研究过程总结</a:t>
            </a:r>
            <a:endParaRPr lang="en-US" sz="1500" dirty="0"/>
          </a:p>
        </p:txBody>
      </p:sp>
      <p:sp>
        <p:nvSpPr>
          <p:cNvPr id="10" name="Shape 8"/>
          <p:cNvSpPr/>
          <p:nvPr/>
        </p:nvSpPr>
        <p:spPr>
          <a:xfrm>
            <a:off x="4023360" y="2542032"/>
            <a:ext cx="4709160" cy="603504"/>
          </a:xfrm>
          <a:prstGeom prst="roundRect">
            <a:avLst>
              <a:gd name="adj" fmla="val 18182"/>
            </a:avLst>
          </a:prstGeom>
          <a:solidFill>
            <a:srgbClr val="E2E2E2"/>
          </a:solidFill>
          <a:ln/>
        </p:spPr>
      </p:sp>
      <p:sp>
        <p:nvSpPr>
          <p:cNvPr id="11" name="Shape 9"/>
          <p:cNvSpPr/>
          <p:nvPr/>
        </p:nvSpPr>
        <p:spPr>
          <a:xfrm>
            <a:off x="4224528" y="2770632"/>
            <a:ext cx="146304" cy="146304"/>
          </a:xfrm>
          <a:prstGeom prst="rect">
            <a:avLst/>
          </a:prstGeom>
          <a:solidFill>
            <a:srgbClr val="2D2D2D"/>
          </a:solidFill>
          <a:ln/>
        </p:spPr>
      </p:sp>
      <p:sp>
        <p:nvSpPr>
          <p:cNvPr id="12" name="Text 10"/>
          <p:cNvSpPr txBox="1"/>
          <p:nvPr/>
        </p:nvSpPr>
        <p:spPr>
          <a:xfrm>
            <a:off x="4526280" y="26609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研究问题与假设的关系</a:t>
            </a:r>
            <a:endParaRPr lang="en-US" sz="1500" dirty="0"/>
          </a:p>
        </p:txBody>
      </p:sp>
      <p:sp>
        <p:nvSpPr>
          <p:cNvPr id="13" name="Shape 11"/>
          <p:cNvSpPr/>
          <p:nvPr/>
        </p:nvSpPr>
        <p:spPr>
          <a:xfrm>
            <a:off x="4023360" y="3255264"/>
            <a:ext cx="4709160" cy="804672"/>
          </a:xfrm>
          <a:prstGeom prst="roundRect">
            <a:avLst>
              <a:gd name="adj" fmla="val 13636"/>
            </a:avLst>
          </a:prstGeom>
          <a:solidFill>
            <a:srgbClr val="EBEBEB"/>
          </a:solidFill>
          <a:ln/>
        </p:spPr>
      </p:sp>
      <p:sp>
        <p:nvSpPr>
          <p:cNvPr id="14" name="Shape 12"/>
          <p:cNvSpPr/>
          <p:nvPr/>
        </p:nvSpPr>
        <p:spPr>
          <a:xfrm>
            <a:off x="4224528" y="3447288"/>
            <a:ext cx="146304" cy="146304"/>
          </a:xfrm>
          <a:prstGeom prst="rect">
            <a:avLst/>
          </a:prstGeom>
          <a:solidFill>
            <a:srgbClr val="2D2D2D"/>
          </a:solidFill>
          <a:ln/>
        </p:spPr>
      </p:sp>
      <p:sp>
        <p:nvSpPr>
          <p:cNvPr id="15" name="Text 13"/>
          <p:cNvSpPr txBox="1"/>
          <p:nvPr/>
        </p:nvSpPr>
        <p:spPr>
          <a:xfrm>
            <a:off x="4526280" y="3346704"/>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科学研究的连续性</a:t>
            </a:r>
            <a:endParaRPr lang="en-US" sz="1500" dirty="0"/>
          </a:p>
        </p:txBody>
      </p:sp>
      <p:sp>
        <p:nvSpPr>
          <p:cNvPr id="16" name="Text 14"/>
          <p:cNvSpPr txBox="1"/>
          <p:nvPr/>
        </p:nvSpPr>
        <p:spPr>
          <a:xfrm>
            <a:off x="4526280" y="3703320"/>
            <a:ext cx="4069080" cy="256032"/>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关键要点回顾</a:t>
            </a:r>
            <a:endParaRPr lang="en-US" sz="1100" dirty="0"/>
          </a:p>
        </p:txBody>
      </p:sp>
      <p:sp>
        <p:nvSpPr>
          <p:cNvPr id="17" name="Shape 15"/>
          <p:cNvSpPr/>
          <p:nvPr/>
        </p:nvSpPr>
        <p:spPr>
          <a:xfrm>
            <a:off x="411480" y="4791456"/>
            <a:ext cx="164592" cy="164592"/>
          </a:xfrm>
          <a:prstGeom prst="rect">
            <a:avLst/>
          </a:prstGeom>
          <a:solidFill>
            <a:srgbClr val="2D2D2D"/>
          </a:solidFill>
          <a:ln/>
        </p:spPr>
      </p:sp>
      <p:sp>
        <p:nvSpPr>
          <p:cNvPr id="18" name="Shape 16"/>
          <p:cNvSpPr/>
          <p:nvPr/>
        </p:nvSpPr>
        <p:spPr>
          <a:xfrm>
            <a:off x="493776" y="4873752"/>
            <a:ext cx="115214" cy="115214"/>
          </a:xfrm>
          <a:prstGeom prst="rect">
            <a:avLst/>
          </a:prstGeom>
          <a:solidFill>
            <a:srgbClr val="FFFFFF"/>
          </a:solidFill>
          <a:ln/>
        </p:spPr>
      </p:sp>
      <p:sp>
        <p:nvSpPr>
          <p:cNvPr id="19" name="Text 17"/>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20" name="Text 18"/>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45</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研究过程总结</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The Research Process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总结与回顾</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46</a:t>
            </a:r>
            <a:endParaRPr lang="en-US" sz="800" dirty="0"/>
          </a:p>
        </p:txBody>
      </p:sp>
      <p:sp>
        <p:nvSpPr>
          <p:cNvPr id="9" name="Shape 7"/>
          <p:cNvSpPr/>
          <p:nvPr/>
        </p:nvSpPr>
        <p:spPr>
          <a:xfrm>
            <a:off x="411480" y="1188720"/>
            <a:ext cx="1803197" cy="566928"/>
          </a:xfrm>
          <a:prstGeom prst="homePlate">
            <a:avLst/>
          </a:prstGeom>
          <a:solidFill>
            <a:srgbClr val="E2E2E2"/>
          </a:solidFill>
          <a:ln/>
        </p:spPr>
      </p:sp>
      <p:sp>
        <p:nvSpPr>
          <p:cNvPr id="10" name="Text 8"/>
          <p:cNvSpPr txBox="1"/>
          <p:nvPr/>
        </p:nvSpPr>
        <p:spPr>
          <a:xfrm>
            <a:off x="548640" y="1188720"/>
            <a:ext cx="1391717"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Poppins" pitchFamily="34" charset="0"/>
                <a:ea typeface="Poppins" pitchFamily="34" charset="-122"/>
                <a:cs typeface="Poppins" pitchFamily="34" charset="-120"/>
              </a:rPr>
              <a:t>1</a:t>
            </a:r>
            <a:endParaRPr lang="en-US" sz="1400" dirty="0"/>
          </a:p>
        </p:txBody>
      </p:sp>
      <p:sp>
        <p:nvSpPr>
          <p:cNvPr id="11" name="Shape 9"/>
          <p:cNvSpPr/>
          <p:nvPr/>
        </p:nvSpPr>
        <p:spPr>
          <a:xfrm>
            <a:off x="2040941" y="1188720"/>
            <a:ext cx="1803197" cy="566928"/>
          </a:xfrm>
          <a:prstGeom prst="chevron">
            <a:avLst/>
          </a:prstGeom>
          <a:solidFill>
            <a:srgbClr val="EBEBEB"/>
          </a:solidFill>
          <a:ln/>
        </p:spPr>
      </p:sp>
      <p:sp>
        <p:nvSpPr>
          <p:cNvPr id="12" name="Text 10"/>
          <p:cNvSpPr txBox="1"/>
          <p:nvPr/>
        </p:nvSpPr>
        <p:spPr>
          <a:xfrm>
            <a:off x="2360981" y="1188720"/>
            <a:ext cx="1208837"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Poppins" pitchFamily="34" charset="0"/>
                <a:ea typeface="Poppins" pitchFamily="34" charset="-122"/>
                <a:cs typeface="Poppins" pitchFamily="34" charset="-120"/>
              </a:rPr>
              <a:t>2</a:t>
            </a:r>
            <a:endParaRPr lang="en-US" sz="1400" dirty="0"/>
          </a:p>
        </p:txBody>
      </p:sp>
      <p:sp>
        <p:nvSpPr>
          <p:cNvPr id="13" name="Shape 11"/>
          <p:cNvSpPr/>
          <p:nvPr/>
        </p:nvSpPr>
        <p:spPr>
          <a:xfrm>
            <a:off x="3670402" y="1188720"/>
            <a:ext cx="1803197" cy="566928"/>
          </a:xfrm>
          <a:prstGeom prst="chevron">
            <a:avLst/>
          </a:prstGeom>
          <a:solidFill>
            <a:srgbClr val="E2E2E2"/>
          </a:solidFill>
          <a:ln/>
        </p:spPr>
      </p:sp>
      <p:sp>
        <p:nvSpPr>
          <p:cNvPr id="14" name="Text 12"/>
          <p:cNvSpPr txBox="1"/>
          <p:nvPr/>
        </p:nvSpPr>
        <p:spPr>
          <a:xfrm>
            <a:off x="3990442" y="1188720"/>
            <a:ext cx="1208837"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Poppins" pitchFamily="34" charset="0"/>
                <a:ea typeface="Poppins" pitchFamily="34" charset="-122"/>
                <a:cs typeface="Poppins" pitchFamily="34" charset="-120"/>
              </a:rPr>
              <a:t>3</a:t>
            </a:r>
            <a:endParaRPr lang="en-US" sz="1400" dirty="0"/>
          </a:p>
        </p:txBody>
      </p:sp>
      <p:sp>
        <p:nvSpPr>
          <p:cNvPr id="15" name="Shape 13"/>
          <p:cNvSpPr/>
          <p:nvPr/>
        </p:nvSpPr>
        <p:spPr>
          <a:xfrm>
            <a:off x="5299862" y="1188720"/>
            <a:ext cx="1803197" cy="566928"/>
          </a:xfrm>
          <a:prstGeom prst="chevron">
            <a:avLst/>
          </a:prstGeom>
          <a:solidFill>
            <a:srgbClr val="EBEBEB"/>
          </a:solidFill>
          <a:ln/>
        </p:spPr>
      </p:sp>
      <p:sp>
        <p:nvSpPr>
          <p:cNvPr id="16" name="Text 14"/>
          <p:cNvSpPr txBox="1"/>
          <p:nvPr/>
        </p:nvSpPr>
        <p:spPr>
          <a:xfrm>
            <a:off x="5619902" y="1188720"/>
            <a:ext cx="1208837"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Poppins" pitchFamily="34" charset="0"/>
                <a:ea typeface="Poppins" pitchFamily="34" charset="-122"/>
                <a:cs typeface="Poppins" pitchFamily="34" charset="-120"/>
              </a:rPr>
              <a:t>4</a:t>
            </a:r>
            <a:endParaRPr lang="en-US" sz="1400" dirty="0"/>
          </a:p>
        </p:txBody>
      </p:sp>
      <p:sp>
        <p:nvSpPr>
          <p:cNvPr id="17" name="Shape 15"/>
          <p:cNvSpPr/>
          <p:nvPr/>
        </p:nvSpPr>
        <p:spPr>
          <a:xfrm>
            <a:off x="6929323" y="1188720"/>
            <a:ext cx="1803197" cy="566928"/>
          </a:xfrm>
          <a:prstGeom prst="chevron">
            <a:avLst/>
          </a:prstGeom>
          <a:solidFill>
            <a:srgbClr val="40E0D0"/>
          </a:solidFill>
          <a:ln/>
        </p:spPr>
      </p:sp>
      <p:sp>
        <p:nvSpPr>
          <p:cNvPr id="18" name="Text 16"/>
          <p:cNvSpPr txBox="1"/>
          <p:nvPr/>
        </p:nvSpPr>
        <p:spPr>
          <a:xfrm>
            <a:off x="7249363" y="1188720"/>
            <a:ext cx="1208837" cy="566928"/>
          </a:xfrm>
          <a:prstGeom prst="rect">
            <a:avLst/>
          </a:prstGeom>
          <a:noFill/>
          <a:ln/>
        </p:spPr>
        <p:txBody>
          <a:bodyPr wrap="square" lIns="0" tIns="0" rIns="0" bIns="0" rtlCol="0" anchor="ctr"/>
          <a:lstStyle/>
          <a:p>
            <a:pPr algn="ctr" indent="0" marL="0">
              <a:buNone/>
            </a:pPr>
            <a:r>
              <a:rPr lang="en-US" sz="1400" b="1" dirty="0">
                <a:solidFill>
                  <a:srgbClr val="2D2D2D"/>
                </a:solidFill>
                <a:latin typeface="Poppins" pitchFamily="34" charset="0"/>
                <a:ea typeface="Poppins" pitchFamily="34" charset="-122"/>
                <a:cs typeface="Poppins" pitchFamily="34" charset="-120"/>
              </a:rPr>
              <a:t>5</a:t>
            </a:r>
            <a:endParaRPr lang="en-US" sz="1400" dirty="0"/>
          </a:p>
        </p:txBody>
      </p:sp>
      <p:sp>
        <p:nvSpPr>
          <p:cNvPr id="19" name="Shape 17"/>
          <p:cNvSpPr/>
          <p:nvPr/>
        </p:nvSpPr>
        <p:spPr>
          <a:xfrm>
            <a:off x="411480" y="1920240"/>
            <a:ext cx="1576426" cy="2651760"/>
          </a:xfrm>
          <a:prstGeom prst="rect">
            <a:avLst/>
          </a:prstGeom>
          <a:solidFill>
            <a:srgbClr val="EBEBEB"/>
          </a:solidFill>
          <a:ln/>
        </p:spPr>
      </p:sp>
      <p:sp>
        <p:nvSpPr>
          <p:cNvPr id="20" name="Text 18"/>
          <p:cNvSpPr txBox="1"/>
          <p:nvPr/>
        </p:nvSpPr>
        <p:spPr>
          <a:xfrm>
            <a:off x="576072" y="2057400"/>
            <a:ext cx="1302106" cy="640080"/>
          </a:xfrm>
          <a:prstGeom prst="rect">
            <a:avLst/>
          </a:prstGeom>
          <a:noFill/>
          <a:ln/>
        </p:spPr>
        <p:txBody>
          <a:bodyPr wrap="square" lIns="0" tIns="0" rIns="0" bIns="0" rtlCol="0" anchor="t"/>
          <a:lstStyle/>
          <a:p>
            <a:pPr indent="0" marL="0">
              <a:buNone/>
            </a:pPr>
            <a:r>
              <a:rPr lang="en-US" sz="1450" b="1" dirty="0">
                <a:solidFill>
                  <a:srgbClr val="2D2D2D"/>
                </a:solidFill>
                <a:latin typeface="Microsoft YaHei" pitchFamily="34" charset="0"/>
                <a:ea typeface="Microsoft YaHei" pitchFamily="34" charset="-122"/>
                <a:cs typeface="Microsoft YaHei" pitchFamily="34" charset="-120"/>
              </a:rPr>
              <a:t>确定研究思路</a:t>
            </a:r>
            <a:endParaRPr lang="en-US" sz="1450" dirty="0"/>
          </a:p>
        </p:txBody>
      </p:sp>
      <p:sp>
        <p:nvSpPr>
          <p:cNvPr id="21" name="Text 19"/>
          <p:cNvSpPr txBox="1"/>
          <p:nvPr/>
        </p:nvSpPr>
        <p:spPr>
          <a:xfrm>
            <a:off x="576072" y="2743200"/>
            <a:ext cx="1302106" cy="173736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从日常生活、实际问题、过往研究或理论中获得</a:t>
            </a:r>
            <a:endParaRPr lang="en-US" sz="1150" dirty="0"/>
          </a:p>
        </p:txBody>
      </p:sp>
      <p:sp>
        <p:nvSpPr>
          <p:cNvPr id="22" name="Shape 20"/>
          <p:cNvSpPr/>
          <p:nvPr/>
        </p:nvSpPr>
        <p:spPr>
          <a:xfrm>
            <a:off x="2097634" y="1920240"/>
            <a:ext cx="1576426" cy="2651760"/>
          </a:xfrm>
          <a:prstGeom prst="rect">
            <a:avLst/>
          </a:prstGeom>
          <a:solidFill>
            <a:srgbClr val="EBEBEB"/>
          </a:solidFill>
          <a:ln/>
        </p:spPr>
      </p:sp>
      <p:sp>
        <p:nvSpPr>
          <p:cNvPr id="23" name="Text 21"/>
          <p:cNvSpPr txBox="1"/>
          <p:nvPr/>
        </p:nvSpPr>
        <p:spPr>
          <a:xfrm>
            <a:off x="2262226" y="2057400"/>
            <a:ext cx="1302106" cy="640080"/>
          </a:xfrm>
          <a:prstGeom prst="rect">
            <a:avLst/>
          </a:prstGeom>
          <a:noFill/>
          <a:ln/>
        </p:spPr>
        <p:txBody>
          <a:bodyPr wrap="square" lIns="0" tIns="0" rIns="0" bIns="0" rtlCol="0" anchor="t"/>
          <a:lstStyle/>
          <a:p>
            <a:pPr indent="0" marL="0">
              <a:buNone/>
            </a:pPr>
            <a:r>
              <a:rPr lang="en-US" sz="1450" b="1" dirty="0">
                <a:solidFill>
                  <a:srgbClr val="2D2D2D"/>
                </a:solidFill>
                <a:latin typeface="Microsoft YaHei" pitchFamily="34" charset="0"/>
                <a:ea typeface="Microsoft YaHei" pitchFamily="34" charset="-122"/>
                <a:cs typeface="Microsoft YaHei" pitchFamily="34" charset="-120"/>
              </a:rPr>
              <a:t>文献综述</a:t>
            </a:r>
            <a:endParaRPr lang="en-US" sz="1450" dirty="0"/>
          </a:p>
        </p:txBody>
      </p:sp>
      <p:sp>
        <p:nvSpPr>
          <p:cNvPr id="24" name="Text 22"/>
          <p:cNvSpPr txBox="1"/>
          <p:nvPr/>
        </p:nvSpPr>
        <p:spPr>
          <a:xfrm>
            <a:off x="2262226" y="2743200"/>
            <a:ext cx="1302106" cy="173736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了解现有知识状况，确定研究方法</a:t>
            </a:r>
            <a:endParaRPr lang="en-US" sz="1150" dirty="0"/>
          </a:p>
        </p:txBody>
      </p:sp>
      <p:sp>
        <p:nvSpPr>
          <p:cNvPr id="25" name="Shape 23"/>
          <p:cNvSpPr/>
          <p:nvPr/>
        </p:nvSpPr>
        <p:spPr>
          <a:xfrm>
            <a:off x="3783787" y="1920240"/>
            <a:ext cx="1576426" cy="2651760"/>
          </a:xfrm>
          <a:prstGeom prst="rect">
            <a:avLst/>
          </a:prstGeom>
          <a:solidFill>
            <a:srgbClr val="EBEBEB"/>
          </a:solidFill>
          <a:ln/>
        </p:spPr>
      </p:sp>
      <p:sp>
        <p:nvSpPr>
          <p:cNvPr id="26" name="Text 24"/>
          <p:cNvSpPr txBox="1"/>
          <p:nvPr/>
        </p:nvSpPr>
        <p:spPr>
          <a:xfrm>
            <a:off x="3948379" y="2057400"/>
            <a:ext cx="1302106" cy="640080"/>
          </a:xfrm>
          <a:prstGeom prst="rect">
            <a:avLst/>
          </a:prstGeom>
          <a:noFill/>
          <a:ln/>
        </p:spPr>
        <p:txBody>
          <a:bodyPr wrap="square" lIns="0" tIns="0" rIns="0" bIns="0" rtlCol="0" anchor="t"/>
          <a:lstStyle/>
          <a:p>
            <a:pPr indent="0" marL="0">
              <a:buNone/>
            </a:pPr>
            <a:r>
              <a:rPr lang="en-US" sz="1450" b="1" dirty="0">
                <a:solidFill>
                  <a:srgbClr val="2D2D2D"/>
                </a:solidFill>
                <a:latin typeface="Microsoft YaHei" pitchFamily="34" charset="0"/>
                <a:ea typeface="Microsoft YaHei" pitchFamily="34" charset="-122"/>
                <a:cs typeface="Microsoft YaHei" pitchFamily="34" charset="-120"/>
              </a:rPr>
              <a:t>评估可行性</a:t>
            </a:r>
            <a:endParaRPr lang="en-US" sz="1450" dirty="0"/>
          </a:p>
        </p:txBody>
      </p:sp>
      <p:sp>
        <p:nvSpPr>
          <p:cNvPr id="27" name="Text 25"/>
          <p:cNvSpPr txBox="1"/>
          <p:nvPr/>
        </p:nvSpPr>
        <p:spPr>
          <a:xfrm>
            <a:off x="3948379" y="2743200"/>
            <a:ext cx="1302106" cy="173736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考虑时间、费用、参与者、技能和伦理问题</a:t>
            </a:r>
            <a:endParaRPr lang="en-US" sz="1150" dirty="0"/>
          </a:p>
        </p:txBody>
      </p:sp>
      <p:sp>
        <p:nvSpPr>
          <p:cNvPr id="28" name="Shape 26"/>
          <p:cNvSpPr/>
          <p:nvPr/>
        </p:nvSpPr>
        <p:spPr>
          <a:xfrm>
            <a:off x="5469941" y="1920240"/>
            <a:ext cx="1576426" cy="2651760"/>
          </a:xfrm>
          <a:prstGeom prst="rect">
            <a:avLst/>
          </a:prstGeom>
          <a:solidFill>
            <a:srgbClr val="EBEBEB"/>
          </a:solidFill>
          <a:ln/>
        </p:spPr>
      </p:sp>
      <p:sp>
        <p:nvSpPr>
          <p:cNvPr id="29" name="Text 27"/>
          <p:cNvSpPr txBox="1"/>
          <p:nvPr/>
        </p:nvSpPr>
        <p:spPr>
          <a:xfrm>
            <a:off x="5634533" y="2057400"/>
            <a:ext cx="1302106" cy="640080"/>
          </a:xfrm>
          <a:prstGeom prst="rect">
            <a:avLst/>
          </a:prstGeom>
          <a:noFill/>
          <a:ln/>
        </p:spPr>
        <p:txBody>
          <a:bodyPr wrap="square" lIns="0" tIns="0" rIns="0" bIns="0" rtlCol="0" anchor="t"/>
          <a:lstStyle/>
          <a:p>
            <a:pPr indent="0" marL="0">
              <a:buNone/>
            </a:pPr>
            <a:r>
              <a:rPr lang="en-US" sz="1450" b="1" dirty="0">
                <a:solidFill>
                  <a:srgbClr val="2D2D2D"/>
                </a:solidFill>
                <a:latin typeface="Microsoft YaHei" pitchFamily="34" charset="0"/>
                <a:ea typeface="Microsoft YaHei" pitchFamily="34" charset="-122"/>
                <a:cs typeface="Microsoft YaHei" pitchFamily="34" charset="-120"/>
              </a:rPr>
              <a:t>阐述研究问题</a:t>
            </a:r>
            <a:endParaRPr lang="en-US" sz="1450" dirty="0"/>
          </a:p>
        </p:txBody>
      </p:sp>
      <p:sp>
        <p:nvSpPr>
          <p:cNvPr id="30" name="Text 28"/>
          <p:cNvSpPr txBox="1"/>
          <p:nvPr/>
        </p:nvSpPr>
        <p:spPr>
          <a:xfrm>
            <a:off x="5634533" y="2743200"/>
            <a:ext cx="1302106" cy="173736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清晰、确切、具体地表述问题</a:t>
            </a:r>
            <a:endParaRPr lang="en-US" sz="1150" dirty="0"/>
          </a:p>
        </p:txBody>
      </p:sp>
      <p:sp>
        <p:nvSpPr>
          <p:cNvPr id="31" name="Shape 29"/>
          <p:cNvSpPr/>
          <p:nvPr/>
        </p:nvSpPr>
        <p:spPr>
          <a:xfrm>
            <a:off x="7156094" y="1920240"/>
            <a:ext cx="1576426" cy="2651760"/>
          </a:xfrm>
          <a:prstGeom prst="rect">
            <a:avLst/>
          </a:prstGeom>
          <a:solidFill>
            <a:srgbClr val="2D2D2D"/>
          </a:solidFill>
          <a:ln/>
        </p:spPr>
      </p:sp>
      <p:sp>
        <p:nvSpPr>
          <p:cNvPr id="32" name="Text 30"/>
          <p:cNvSpPr txBox="1"/>
          <p:nvPr/>
        </p:nvSpPr>
        <p:spPr>
          <a:xfrm>
            <a:off x="7320686" y="2057400"/>
            <a:ext cx="1302106" cy="640080"/>
          </a:xfrm>
          <a:prstGeom prst="rect">
            <a:avLst/>
          </a:prstGeom>
          <a:noFill/>
          <a:ln/>
        </p:spPr>
        <p:txBody>
          <a:bodyPr wrap="square" lIns="0" tIns="0" rIns="0" bIns="0" rtlCol="0" anchor="t"/>
          <a:lstStyle/>
          <a:p>
            <a:pPr indent="0" marL="0">
              <a:buNone/>
            </a:pPr>
            <a:r>
              <a:rPr lang="en-US" sz="1450" b="1" dirty="0">
                <a:solidFill>
                  <a:srgbClr val="FFFFFF"/>
                </a:solidFill>
                <a:latin typeface="Microsoft YaHei" pitchFamily="34" charset="0"/>
                <a:ea typeface="Microsoft YaHei" pitchFamily="34" charset="-122"/>
                <a:cs typeface="Microsoft YaHei" pitchFamily="34" charset="-120"/>
              </a:rPr>
              <a:t>形成假设</a:t>
            </a:r>
            <a:endParaRPr lang="en-US" sz="1450" dirty="0"/>
          </a:p>
        </p:txBody>
      </p:sp>
      <p:sp>
        <p:nvSpPr>
          <p:cNvPr id="33" name="Text 31"/>
          <p:cNvSpPr txBox="1"/>
          <p:nvPr/>
        </p:nvSpPr>
        <p:spPr>
          <a:xfrm>
            <a:off x="7320686" y="2743200"/>
            <a:ext cx="1302106" cy="1737360"/>
          </a:xfrm>
          <a:prstGeom prst="rect">
            <a:avLst/>
          </a:prstGeom>
          <a:noFill/>
          <a:ln/>
        </p:spPr>
        <p:txBody>
          <a:bodyPr wrap="square" lIns="0" tIns="0" rIns="0" bIns="0" rtlCol="0" anchor="t"/>
          <a:lstStyle/>
          <a:p>
            <a:pPr indent="0" marL="0">
              <a:lnSpc>
                <a:spcPct val="135000"/>
              </a:lnSpc>
              <a:buNone/>
            </a:pPr>
            <a:r>
              <a:rPr lang="en-US" sz="1150" dirty="0">
                <a:solidFill>
                  <a:srgbClr val="FFFFFF"/>
                </a:solidFill>
                <a:latin typeface="Microsoft YaHei" pitchFamily="34" charset="0"/>
                <a:ea typeface="Microsoft YaHei" pitchFamily="34" charset="-122"/>
                <a:cs typeface="Microsoft YaHei" pitchFamily="34" charset="-120"/>
              </a:rPr>
              <a:t>预测变量之间的关系，确保可检验性</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研究问题与假设的关系</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Questions &amp; Hypotheses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总结与回顾</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47</a:t>
            </a:r>
            <a:endParaRPr lang="en-US" sz="800" dirty="0"/>
          </a:p>
        </p:txBody>
      </p:sp>
      <p:sp>
        <p:nvSpPr>
          <p:cNvPr id="9" name="Text 7"/>
          <p:cNvSpPr txBox="1"/>
          <p:nvPr/>
        </p:nvSpPr>
        <p:spPr>
          <a:xfrm>
            <a:off x="411480" y="1143000"/>
            <a:ext cx="8321040" cy="68580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从逻辑上来说，假设的形成在问题陈述之后，因为没有人能在没有问题的情况下形成假设。但这并不代表问题总是有明确的表述。</a:t>
            </a:r>
            <a:endParaRPr lang="en-US" sz="1250" dirty="0"/>
          </a:p>
        </p:txBody>
      </p:sp>
      <p:sp>
        <p:nvSpPr>
          <p:cNvPr id="10" name="Shape 8"/>
          <p:cNvSpPr/>
          <p:nvPr/>
        </p:nvSpPr>
        <p:spPr>
          <a:xfrm>
            <a:off x="411480" y="2011680"/>
            <a:ext cx="1828800" cy="2560320"/>
          </a:xfrm>
          <a:prstGeom prst="rect">
            <a:avLst/>
          </a:prstGeom>
          <a:solidFill>
            <a:srgbClr val="EBEBEB"/>
          </a:solidFill>
          <a:ln/>
        </p:spPr>
      </p:sp>
      <p:sp>
        <p:nvSpPr>
          <p:cNvPr id="11" name="Text 9"/>
          <p:cNvSpPr txBox="1"/>
          <p:nvPr/>
        </p:nvSpPr>
        <p:spPr>
          <a:xfrm>
            <a:off x="612648" y="2176272"/>
            <a:ext cx="1463040" cy="457200"/>
          </a:xfrm>
          <a:prstGeom prst="rect">
            <a:avLst/>
          </a:prstGeom>
          <a:noFill/>
          <a:ln/>
        </p:spPr>
        <p:txBody>
          <a:bodyPr wrap="square" lIns="0" tIns="0" rIns="0" bIns="0" rtlCol="0" anchor="t"/>
          <a:lstStyle/>
          <a:p>
            <a:pPr indent="0" marL="0">
              <a:buNone/>
            </a:pPr>
            <a:r>
              <a:rPr lang="en-US" sz="2400" b="1" dirty="0">
                <a:solidFill>
                  <a:srgbClr val="2D2D2D"/>
                </a:solidFill>
                <a:latin typeface="Poppins" pitchFamily="34" charset="0"/>
                <a:ea typeface="Poppins" pitchFamily="34" charset="-122"/>
                <a:cs typeface="Poppins" pitchFamily="34" charset="-120"/>
              </a:rPr>
              <a:t>01</a:t>
            </a:r>
            <a:endParaRPr lang="en-US" sz="2400" dirty="0"/>
          </a:p>
        </p:txBody>
      </p:sp>
      <p:sp>
        <p:nvSpPr>
          <p:cNvPr id="12" name="Text 10"/>
          <p:cNvSpPr txBox="1"/>
          <p:nvPr/>
        </p:nvSpPr>
        <p:spPr>
          <a:xfrm>
            <a:off x="612648" y="2907792"/>
            <a:ext cx="1463040"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研究问题</a:t>
            </a:r>
            <a:endParaRPr lang="en-US" sz="1500" dirty="0"/>
          </a:p>
        </p:txBody>
      </p:sp>
      <p:sp>
        <p:nvSpPr>
          <p:cNvPr id="13" name="Text 11"/>
          <p:cNvSpPr txBox="1"/>
          <p:nvPr/>
        </p:nvSpPr>
        <p:spPr>
          <a:xfrm>
            <a:off x="612648" y="3346704"/>
            <a:ext cx="1444752" cy="111556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疑问句形式，询问变量之间的关系</a:t>
            </a:r>
            <a:endParaRPr lang="en-US" sz="1150" dirty="0"/>
          </a:p>
        </p:txBody>
      </p:sp>
      <p:sp>
        <p:nvSpPr>
          <p:cNvPr id="14" name="Text 12"/>
          <p:cNvSpPr txBox="1"/>
          <p:nvPr/>
        </p:nvSpPr>
        <p:spPr>
          <a:xfrm>
            <a:off x="2240280" y="3017520"/>
            <a:ext cx="335280" cy="548640"/>
          </a:xfrm>
          <a:prstGeom prst="rect">
            <a:avLst/>
          </a:prstGeom>
          <a:noFill/>
          <a:ln/>
        </p:spPr>
        <p:txBody>
          <a:bodyPr wrap="square" lIns="0" tIns="0" rIns="0" bIns="0" rtlCol="0" anchor="ctr"/>
          <a:lstStyle/>
          <a:p>
            <a:pPr algn="ctr" indent="0" marL="0">
              <a:buNone/>
            </a:pPr>
            <a:r>
              <a:rPr lang="en-US" sz="2000" b="1" dirty="0">
                <a:solidFill>
                  <a:srgbClr val="707070"/>
                </a:solidFill>
                <a:latin typeface="Poppins" pitchFamily="34" charset="0"/>
                <a:ea typeface="Poppins" pitchFamily="34" charset="-122"/>
                <a:cs typeface="Poppins" pitchFamily="34" charset="-120"/>
              </a:rPr>
              <a:t>→</a:t>
            </a:r>
            <a:endParaRPr lang="en-US" sz="2000" dirty="0"/>
          </a:p>
        </p:txBody>
      </p:sp>
      <p:sp>
        <p:nvSpPr>
          <p:cNvPr id="15" name="Shape 13"/>
          <p:cNvSpPr/>
          <p:nvPr/>
        </p:nvSpPr>
        <p:spPr>
          <a:xfrm>
            <a:off x="2575560" y="2011680"/>
            <a:ext cx="1828800" cy="2560320"/>
          </a:xfrm>
          <a:prstGeom prst="rect">
            <a:avLst/>
          </a:prstGeom>
          <a:solidFill>
            <a:srgbClr val="40E0D0"/>
          </a:solidFill>
          <a:ln/>
        </p:spPr>
      </p:sp>
      <p:sp>
        <p:nvSpPr>
          <p:cNvPr id="16" name="Text 14"/>
          <p:cNvSpPr txBox="1"/>
          <p:nvPr/>
        </p:nvSpPr>
        <p:spPr>
          <a:xfrm>
            <a:off x="2776728" y="2176272"/>
            <a:ext cx="1463040" cy="457200"/>
          </a:xfrm>
          <a:prstGeom prst="rect">
            <a:avLst/>
          </a:prstGeom>
          <a:noFill/>
          <a:ln/>
        </p:spPr>
        <p:txBody>
          <a:bodyPr wrap="square" lIns="0" tIns="0" rIns="0" bIns="0" rtlCol="0" anchor="t"/>
          <a:lstStyle/>
          <a:p>
            <a:pPr indent="0" marL="0">
              <a:buNone/>
            </a:pPr>
            <a:r>
              <a:rPr lang="en-US" sz="2400" b="1" dirty="0">
                <a:solidFill>
                  <a:srgbClr val="2D2D2D"/>
                </a:solidFill>
                <a:latin typeface="Poppins" pitchFamily="34" charset="0"/>
                <a:ea typeface="Poppins" pitchFamily="34" charset="-122"/>
                <a:cs typeface="Poppins" pitchFamily="34" charset="-120"/>
              </a:rPr>
              <a:t>02</a:t>
            </a:r>
            <a:endParaRPr lang="en-US" sz="2400" dirty="0"/>
          </a:p>
        </p:txBody>
      </p:sp>
      <p:sp>
        <p:nvSpPr>
          <p:cNvPr id="17" name="Text 15"/>
          <p:cNvSpPr txBox="1"/>
          <p:nvPr/>
        </p:nvSpPr>
        <p:spPr>
          <a:xfrm>
            <a:off x="2776728" y="2907792"/>
            <a:ext cx="1463040"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研究假设</a:t>
            </a:r>
            <a:endParaRPr lang="en-US" sz="1500" dirty="0"/>
          </a:p>
        </p:txBody>
      </p:sp>
      <p:sp>
        <p:nvSpPr>
          <p:cNvPr id="18" name="Text 16"/>
          <p:cNvSpPr txBox="1"/>
          <p:nvPr/>
        </p:nvSpPr>
        <p:spPr>
          <a:xfrm>
            <a:off x="2776728" y="3346704"/>
            <a:ext cx="1444752" cy="111556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预测变量之间的关系</a:t>
            </a:r>
            <a:endParaRPr lang="en-US" sz="1150" dirty="0"/>
          </a:p>
        </p:txBody>
      </p:sp>
      <p:sp>
        <p:nvSpPr>
          <p:cNvPr id="19" name="Text 17"/>
          <p:cNvSpPr txBox="1"/>
          <p:nvPr/>
        </p:nvSpPr>
        <p:spPr>
          <a:xfrm>
            <a:off x="4404360" y="3017520"/>
            <a:ext cx="335280" cy="548640"/>
          </a:xfrm>
          <a:prstGeom prst="rect">
            <a:avLst/>
          </a:prstGeom>
          <a:noFill/>
          <a:ln/>
        </p:spPr>
        <p:txBody>
          <a:bodyPr wrap="square" lIns="0" tIns="0" rIns="0" bIns="0" rtlCol="0" anchor="ctr"/>
          <a:lstStyle/>
          <a:p>
            <a:pPr algn="ctr" indent="0" marL="0">
              <a:buNone/>
            </a:pPr>
            <a:r>
              <a:rPr lang="en-US" sz="2000" b="1" dirty="0">
                <a:solidFill>
                  <a:srgbClr val="707070"/>
                </a:solidFill>
                <a:latin typeface="Poppins" pitchFamily="34" charset="0"/>
                <a:ea typeface="Poppins" pitchFamily="34" charset="-122"/>
                <a:cs typeface="Poppins" pitchFamily="34" charset="-120"/>
              </a:rPr>
              <a:t>→</a:t>
            </a:r>
            <a:endParaRPr lang="en-US" sz="2000" dirty="0"/>
          </a:p>
        </p:txBody>
      </p:sp>
      <p:sp>
        <p:nvSpPr>
          <p:cNvPr id="20" name="Shape 18"/>
          <p:cNvSpPr/>
          <p:nvPr/>
        </p:nvSpPr>
        <p:spPr>
          <a:xfrm>
            <a:off x="4739640" y="2011680"/>
            <a:ext cx="1828800" cy="2560320"/>
          </a:xfrm>
          <a:prstGeom prst="rect">
            <a:avLst/>
          </a:prstGeom>
          <a:solidFill>
            <a:srgbClr val="E2E2E2"/>
          </a:solidFill>
          <a:ln/>
        </p:spPr>
      </p:sp>
      <p:sp>
        <p:nvSpPr>
          <p:cNvPr id="21" name="Text 19"/>
          <p:cNvSpPr txBox="1"/>
          <p:nvPr/>
        </p:nvSpPr>
        <p:spPr>
          <a:xfrm>
            <a:off x="4940808" y="2176272"/>
            <a:ext cx="1463040" cy="457200"/>
          </a:xfrm>
          <a:prstGeom prst="rect">
            <a:avLst/>
          </a:prstGeom>
          <a:noFill/>
          <a:ln/>
        </p:spPr>
        <p:txBody>
          <a:bodyPr wrap="square" lIns="0" tIns="0" rIns="0" bIns="0" rtlCol="0" anchor="t"/>
          <a:lstStyle/>
          <a:p>
            <a:pPr indent="0" marL="0">
              <a:buNone/>
            </a:pPr>
            <a:r>
              <a:rPr lang="en-US" sz="2400" b="1" dirty="0">
                <a:solidFill>
                  <a:srgbClr val="2D2D2D"/>
                </a:solidFill>
                <a:latin typeface="Poppins" pitchFamily="34" charset="0"/>
                <a:ea typeface="Poppins" pitchFamily="34" charset="-122"/>
                <a:cs typeface="Poppins" pitchFamily="34" charset="-120"/>
              </a:rPr>
              <a:t>03</a:t>
            </a:r>
            <a:endParaRPr lang="en-US" sz="2400" dirty="0"/>
          </a:p>
        </p:txBody>
      </p:sp>
      <p:sp>
        <p:nvSpPr>
          <p:cNvPr id="22" name="Text 20"/>
          <p:cNvSpPr txBox="1"/>
          <p:nvPr/>
        </p:nvSpPr>
        <p:spPr>
          <a:xfrm>
            <a:off x="4940808" y="2907792"/>
            <a:ext cx="1463040"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虚无假设</a:t>
            </a:r>
            <a:endParaRPr lang="en-US" sz="1500" dirty="0"/>
          </a:p>
        </p:txBody>
      </p:sp>
      <p:sp>
        <p:nvSpPr>
          <p:cNvPr id="23" name="Text 21"/>
          <p:cNvSpPr txBox="1"/>
          <p:nvPr/>
        </p:nvSpPr>
        <p:spPr>
          <a:xfrm>
            <a:off x="4940808" y="3346704"/>
            <a:ext cx="1444752" cy="111556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陈述变量之间不存在关系</a:t>
            </a:r>
            <a:endParaRPr lang="en-US" sz="1150" dirty="0"/>
          </a:p>
        </p:txBody>
      </p:sp>
      <p:sp>
        <p:nvSpPr>
          <p:cNvPr id="24" name="Text 22"/>
          <p:cNvSpPr txBox="1"/>
          <p:nvPr/>
        </p:nvSpPr>
        <p:spPr>
          <a:xfrm>
            <a:off x="6568440" y="3017520"/>
            <a:ext cx="335280" cy="548640"/>
          </a:xfrm>
          <a:prstGeom prst="rect">
            <a:avLst/>
          </a:prstGeom>
          <a:noFill/>
          <a:ln/>
        </p:spPr>
        <p:txBody>
          <a:bodyPr wrap="square" lIns="0" tIns="0" rIns="0" bIns="0" rtlCol="0" anchor="ctr"/>
          <a:lstStyle/>
          <a:p>
            <a:pPr algn="ctr" indent="0" marL="0">
              <a:buNone/>
            </a:pPr>
            <a:r>
              <a:rPr lang="en-US" sz="2000" b="1" dirty="0">
                <a:solidFill>
                  <a:srgbClr val="707070"/>
                </a:solidFill>
                <a:latin typeface="Poppins" pitchFamily="34" charset="0"/>
                <a:ea typeface="Poppins" pitchFamily="34" charset="-122"/>
                <a:cs typeface="Poppins" pitchFamily="34" charset="-120"/>
              </a:rPr>
              <a:t>→</a:t>
            </a:r>
            <a:endParaRPr lang="en-US" sz="2000" dirty="0"/>
          </a:p>
        </p:txBody>
      </p:sp>
      <p:sp>
        <p:nvSpPr>
          <p:cNvPr id="25" name="Shape 23"/>
          <p:cNvSpPr/>
          <p:nvPr/>
        </p:nvSpPr>
        <p:spPr>
          <a:xfrm>
            <a:off x="6903720" y="2011680"/>
            <a:ext cx="1828800" cy="2560320"/>
          </a:xfrm>
          <a:prstGeom prst="rect">
            <a:avLst/>
          </a:prstGeom>
          <a:solidFill>
            <a:srgbClr val="2D2D2D"/>
          </a:solidFill>
          <a:ln/>
        </p:spPr>
      </p:sp>
      <p:sp>
        <p:nvSpPr>
          <p:cNvPr id="26" name="Text 24"/>
          <p:cNvSpPr txBox="1"/>
          <p:nvPr/>
        </p:nvSpPr>
        <p:spPr>
          <a:xfrm>
            <a:off x="7104888" y="2176272"/>
            <a:ext cx="1463040" cy="457200"/>
          </a:xfrm>
          <a:prstGeom prst="rect">
            <a:avLst/>
          </a:prstGeom>
          <a:noFill/>
          <a:ln/>
        </p:spPr>
        <p:txBody>
          <a:bodyPr wrap="square" lIns="0" tIns="0" rIns="0" bIns="0" rtlCol="0" anchor="t"/>
          <a:lstStyle/>
          <a:p>
            <a:pPr indent="0" marL="0">
              <a:buNone/>
            </a:pPr>
            <a:r>
              <a:rPr lang="en-US" sz="2400" b="1" dirty="0">
                <a:solidFill>
                  <a:srgbClr val="40E0D0"/>
                </a:solidFill>
                <a:latin typeface="Poppins" pitchFamily="34" charset="0"/>
                <a:ea typeface="Poppins" pitchFamily="34" charset="-122"/>
                <a:cs typeface="Poppins" pitchFamily="34" charset="-120"/>
              </a:rPr>
              <a:t>04</a:t>
            </a:r>
            <a:endParaRPr lang="en-US" sz="2400" dirty="0"/>
          </a:p>
        </p:txBody>
      </p:sp>
      <p:sp>
        <p:nvSpPr>
          <p:cNvPr id="27" name="Text 25"/>
          <p:cNvSpPr txBox="1"/>
          <p:nvPr/>
        </p:nvSpPr>
        <p:spPr>
          <a:xfrm>
            <a:off x="7104888" y="2907792"/>
            <a:ext cx="1463040" cy="3657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统计检验</a:t>
            </a:r>
            <a:endParaRPr lang="en-US" sz="1500" dirty="0"/>
          </a:p>
        </p:txBody>
      </p:sp>
      <p:sp>
        <p:nvSpPr>
          <p:cNvPr id="28" name="Text 26"/>
          <p:cNvSpPr txBox="1"/>
          <p:nvPr/>
        </p:nvSpPr>
        <p:spPr>
          <a:xfrm>
            <a:off x="7104888" y="3346704"/>
            <a:ext cx="1444752" cy="1115568"/>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FFFFFF"/>
                </a:solidFill>
                <a:latin typeface="Microsoft YaHei" pitchFamily="34" charset="0"/>
                <a:ea typeface="Microsoft YaHei" pitchFamily="34" charset="-122"/>
                <a:cs typeface="Microsoft YaHei" pitchFamily="34" charset="-120"/>
              </a:rPr>
              <a:t>检验虚无假设，间接支持研究假设</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科学研究的连续性</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Continuity of Science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总结与回顾</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48</a:t>
            </a:r>
            <a:endParaRPr lang="en-US" sz="800" dirty="0"/>
          </a:p>
        </p:txBody>
      </p:sp>
      <p:sp>
        <p:nvSpPr>
          <p:cNvPr id="9" name="Text 7"/>
          <p:cNvSpPr txBox="1"/>
          <p:nvPr/>
        </p:nvSpPr>
        <p:spPr>
          <a:xfrm>
            <a:off x="411480" y="1188720"/>
            <a:ext cx="3291840" cy="3383280"/>
          </a:xfrm>
          <a:prstGeom prst="rect">
            <a:avLst/>
          </a:prstGeom>
          <a:noFill/>
          <a:ln/>
        </p:spPr>
        <p:txBody>
          <a:bodyPr wrap="square" lIns="0" tIns="0" rIns="0" bIns="0" rtlCol="0" anchor="ctr"/>
          <a:lstStyle/>
          <a:p>
            <a:pPr indent="0" marL="0">
              <a:lnSpc>
                <a:spcPct val="150000"/>
              </a:lnSpc>
              <a:buNone/>
            </a:pPr>
            <a:r>
              <a:rPr lang="en-US" sz="1350" dirty="0">
                <a:solidFill>
                  <a:srgbClr val="2D2D2D"/>
                </a:solidFill>
                <a:latin typeface="Microsoft YaHei" pitchFamily="34" charset="0"/>
                <a:ea typeface="Microsoft YaHei" pitchFamily="34" charset="-122"/>
                <a:cs typeface="Microsoft YaHei" pitchFamily="34" charset="-120"/>
              </a:rPr>
              <a:t>科学研究是一个连续的过程。每一项研究都会产生后续研究，知识在不断积累和进步。即使假设是错误的，知识也在进步，因为一个不正确的假设就被排除了。</a:t>
            </a:r>
            <a:endParaRPr lang="en-US" sz="1350" dirty="0"/>
          </a:p>
        </p:txBody>
      </p:sp>
      <p:sp>
        <p:nvSpPr>
          <p:cNvPr id="10" name="Shape 8"/>
          <p:cNvSpPr/>
          <p:nvPr/>
        </p:nvSpPr>
        <p:spPr>
          <a:xfrm>
            <a:off x="5052060" y="1760220"/>
            <a:ext cx="2240280" cy="2240280"/>
          </a:xfrm>
          <a:prstGeom prst="blockArc">
            <a:avLst>
              <a:gd name="adj1" fmla="val 16320000"/>
              <a:gd name="adj2" fmla="val 19165714"/>
              <a:gd name="adj3" fmla="val 17000"/>
            </a:avLst>
          </a:prstGeom>
          <a:solidFill>
            <a:srgbClr val="40E0D0"/>
          </a:solidFill>
          <a:ln/>
        </p:spPr>
      </p:sp>
      <p:sp>
        <p:nvSpPr>
          <p:cNvPr id="11" name="Text 9"/>
          <p:cNvSpPr txBox="1"/>
          <p:nvPr/>
        </p:nvSpPr>
        <p:spPr>
          <a:xfrm>
            <a:off x="6737559" y="1523500"/>
            <a:ext cx="1554480" cy="365760"/>
          </a:xfrm>
          <a:prstGeom prst="rect">
            <a:avLst/>
          </a:prstGeom>
          <a:noFill/>
          <a:ln/>
        </p:spPr>
        <p:txBody>
          <a:bodyPr wrap="square" lIns="0" tIns="0" rIns="0" bIns="0" rtlCol="0" anchor="ctr"/>
          <a:lstStyle/>
          <a:p>
            <a:pPr algn="l" indent="0" marL="0">
              <a:buNone/>
            </a:pPr>
            <a:r>
              <a:rPr lang="en-US" sz="1150" b="1" dirty="0">
                <a:solidFill>
                  <a:srgbClr val="707070"/>
                </a:solidFill>
                <a:latin typeface="Poppins" pitchFamily="34" charset="0"/>
                <a:ea typeface="Poppins" pitchFamily="34" charset="-122"/>
                <a:cs typeface="Poppins" pitchFamily="34" charset="-120"/>
              </a:rPr>
              <a:t>01  </a:t>
            </a:r>
            <a:pPr algn="l" indent="0" marL="0">
              <a:buNone/>
            </a:pPr>
            <a:r>
              <a:rPr lang="en-US" sz="1150" b="1" dirty="0">
                <a:solidFill>
                  <a:srgbClr val="2D2D2D"/>
                </a:solidFill>
                <a:latin typeface="Microsoft YaHei" pitchFamily="34" charset="0"/>
                <a:ea typeface="Microsoft YaHei" pitchFamily="34" charset="-122"/>
                <a:cs typeface="Microsoft YaHei" pitchFamily="34" charset="-120"/>
              </a:rPr>
              <a:t>提出问题</a:t>
            </a:r>
            <a:endParaRPr lang="en-US" sz="1150" dirty="0"/>
          </a:p>
        </p:txBody>
      </p:sp>
      <p:sp>
        <p:nvSpPr>
          <p:cNvPr id="12" name="Shape 10"/>
          <p:cNvSpPr/>
          <p:nvPr/>
        </p:nvSpPr>
        <p:spPr>
          <a:xfrm>
            <a:off x="5052060" y="1760220"/>
            <a:ext cx="2240280" cy="2240280"/>
          </a:xfrm>
          <a:prstGeom prst="blockArc">
            <a:avLst>
              <a:gd name="adj1" fmla="val 19405714"/>
              <a:gd name="adj2" fmla="val 651429"/>
              <a:gd name="adj3" fmla="val 17000"/>
            </a:avLst>
          </a:prstGeom>
          <a:solidFill>
            <a:srgbClr val="EBEBEB"/>
          </a:solidFill>
          <a:ln/>
        </p:spPr>
      </p:sp>
      <p:sp>
        <p:nvSpPr>
          <p:cNvPr id="13" name="Text 11"/>
          <p:cNvSpPr txBox="1"/>
          <p:nvPr/>
        </p:nvSpPr>
        <p:spPr>
          <a:xfrm>
            <a:off x="7442551" y="2407531"/>
            <a:ext cx="1554480" cy="365760"/>
          </a:xfrm>
          <a:prstGeom prst="rect">
            <a:avLst/>
          </a:prstGeom>
          <a:noFill/>
          <a:ln/>
        </p:spPr>
        <p:txBody>
          <a:bodyPr wrap="square" lIns="0" tIns="0" rIns="0" bIns="0" rtlCol="0" anchor="ctr"/>
          <a:lstStyle/>
          <a:p>
            <a:pPr algn="l" indent="0" marL="0">
              <a:buNone/>
            </a:pPr>
            <a:r>
              <a:rPr lang="en-US" sz="1150" b="1" dirty="0">
                <a:solidFill>
                  <a:srgbClr val="707070"/>
                </a:solidFill>
                <a:latin typeface="Poppins" pitchFamily="34" charset="0"/>
                <a:ea typeface="Poppins" pitchFamily="34" charset="-122"/>
                <a:cs typeface="Poppins" pitchFamily="34" charset="-120"/>
              </a:rPr>
              <a:t>02  </a:t>
            </a:r>
            <a:pPr algn="l" indent="0" marL="0">
              <a:buNone/>
            </a:pPr>
            <a:r>
              <a:rPr lang="en-US" sz="1150" b="1" dirty="0">
                <a:solidFill>
                  <a:srgbClr val="2D2D2D"/>
                </a:solidFill>
                <a:latin typeface="Microsoft YaHei" pitchFamily="34" charset="0"/>
                <a:ea typeface="Microsoft YaHei" pitchFamily="34" charset="-122"/>
                <a:cs typeface="Microsoft YaHei" pitchFamily="34" charset="-120"/>
              </a:rPr>
              <a:t>文献综述</a:t>
            </a:r>
            <a:endParaRPr lang="en-US" sz="1150" dirty="0"/>
          </a:p>
        </p:txBody>
      </p:sp>
      <p:sp>
        <p:nvSpPr>
          <p:cNvPr id="14" name="Shape 12"/>
          <p:cNvSpPr/>
          <p:nvPr/>
        </p:nvSpPr>
        <p:spPr>
          <a:xfrm>
            <a:off x="5052060" y="1760220"/>
            <a:ext cx="2240280" cy="2240280"/>
          </a:xfrm>
          <a:prstGeom prst="blockArc">
            <a:avLst>
              <a:gd name="adj1" fmla="val 891429"/>
              <a:gd name="adj2" fmla="val 3737143"/>
              <a:gd name="adj3" fmla="val 17000"/>
            </a:avLst>
          </a:prstGeom>
          <a:solidFill>
            <a:srgbClr val="E2E2E2"/>
          </a:solidFill>
          <a:ln/>
        </p:spPr>
      </p:sp>
      <p:sp>
        <p:nvSpPr>
          <p:cNvPr id="15" name="Text 13"/>
          <p:cNvSpPr txBox="1"/>
          <p:nvPr/>
        </p:nvSpPr>
        <p:spPr>
          <a:xfrm>
            <a:off x="7190942" y="3509900"/>
            <a:ext cx="1554480" cy="365760"/>
          </a:xfrm>
          <a:prstGeom prst="rect">
            <a:avLst/>
          </a:prstGeom>
          <a:noFill/>
          <a:ln/>
        </p:spPr>
        <p:txBody>
          <a:bodyPr wrap="square" lIns="0" tIns="0" rIns="0" bIns="0" rtlCol="0" anchor="ctr"/>
          <a:lstStyle/>
          <a:p>
            <a:pPr algn="l" indent="0" marL="0">
              <a:buNone/>
            </a:pPr>
            <a:r>
              <a:rPr lang="en-US" sz="1150" b="1" dirty="0">
                <a:solidFill>
                  <a:srgbClr val="707070"/>
                </a:solidFill>
                <a:latin typeface="Poppins" pitchFamily="34" charset="0"/>
                <a:ea typeface="Poppins" pitchFamily="34" charset="-122"/>
                <a:cs typeface="Poppins" pitchFamily="34" charset="-120"/>
              </a:rPr>
              <a:t>03  </a:t>
            </a:r>
            <a:pPr algn="l" indent="0" marL="0">
              <a:buNone/>
            </a:pPr>
            <a:r>
              <a:rPr lang="en-US" sz="1150" b="1" dirty="0">
                <a:solidFill>
                  <a:srgbClr val="2D2D2D"/>
                </a:solidFill>
                <a:latin typeface="Microsoft YaHei" pitchFamily="34" charset="0"/>
                <a:ea typeface="Microsoft YaHei" pitchFamily="34" charset="-122"/>
                <a:cs typeface="Microsoft YaHei" pitchFamily="34" charset="-120"/>
              </a:rPr>
              <a:t>形成假设</a:t>
            </a:r>
            <a:endParaRPr lang="en-US" sz="1150" dirty="0"/>
          </a:p>
        </p:txBody>
      </p:sp>
      <p:sp>
        <p:nvSpPr>
          <p:cNvPr id="16" name="Shape 14"/>
          <p:cNvSpPr/>
          <p:nvPr/>
        </p:nvSpPr>
        <p:spPr>
          <a:xfrm>
            <a:off x="5052060" y="1760220"/>
            <a:ext cx="2240280" cy="2240280"/>
          </a:xfrm>
          <a:prstGeom prst="blockArc">
            <a:avLst>
              <a:gd name="adj1" fmla="val 3977143"/>
              <a:gd name="adj2" fmla="val 6822857"/>
              <a:gd name="adj3" fmla="val 17000"/>
            </a:avLst>
          </a:prstGeom>
          <a:solidFill>
            <a:srgbClr val="2D2D2D"/>
          </a:solidFill>
          <a:ln/>
        </p:spPr>
      </p:sp>
      <p:sp>
        <p:nvSpPr>
          <p:cNvPr id="17" name="Text 15"/>
          <p:cNvSpPr txBox="1"/>
          <p:nvPr/>
        </p:nvSpPr>
        <p:spPr>
          <a:xfrm>
            <a:off x="5394960" y="4000500"/>
            <a:ext cx="1554480" cy="365760"/>
          </a:xfrm>
          <a:prstGeom prst="rect">
            <a:avLst/>
          </a:prstGeom>
          <a:noFill/>
          <a:ln/>
        </p:spPr>
        <p:txBody>
          <a:bodyPr wrap="square" lIns="0" tIns="0" rIns="0" bIns="0" rtlCol="0" anchor="ctr"/>
          <a:lstStyle/>
          <a:p>
            <a:pPr algn="ctr" indent="0" marL="0">
              <a:buNone/>
            </a:pPr>
            <a:r>
              <a:rPr lang="en-US" sz="1150" b="1" dirty="0">
                <a:solidFill>
                  <a:srgbClr val="707070"/>
                </a:solidFill>
                <a:latin typeface="Poppins" pitchFamily="34" charset="0"/>
                <a:ea typeface="Poppins" pitchFamily="34" charset="-122"/>
                <a:cs typeface="Poppins" pitchFamily="34" charset="-120"/>
              </a:rPr>
              <a:t>04  </a:t>
            </a:r>
            <a:pPr algn="ctr" indent="0" marL="0">
              <a:buNone/>
            </a:pPr>
            <a:r>
              <a:rPr lang="en-US" sz="1150" b="1" dirty="0">
                <a:solidFill>
                  <a:srgbClr val="2D2D2D"/>
                </a:solidFill>
                <a:latin typeface="Microsoft YaHei" pitchFamily="34" charset="0"/>
                <a:ea typeface="Microsoft YaHei" pitchFamily="34" charset="-122"/>
                <a:cs typeface="Microsoft YaHei" pitchFamily="34" charset="-120"/>
              </a:rPr>
              <a:t>设计实验</a:t>
            </a:r>
            <a:endParaRPr lang="en-US" sz="1150" dirty="0"/>
          </a:p>
        </p:txBody>
      </p:sp>
      <p:sp>
        <p:nvSpPr>
          <p:cNvPr id="18" name="Shape 16"/>
          <p:cNvSpPr/>
          <p:nvPr/>
        </p:nvSpPr>
        <p:spPr>
          <a:xfrm>
            <a:off x="5052060" y="1760220"/>
            <a:ext cx="2240280" cy="2240280"/>
          </a:xfrm>
          <a:prstGeom prst="blockArc">
            <a:avLst>
              <a:gd name="adj1" fmla="val 7062857"/>
              <a:gd name="adj2" fmla="val 9908571"/>
              <a:gd name="adj3" fmla="val 17000"/>
            </a:avLst>
          </a:prstGeom>
          <a:solidFill>
            <a:srgbClr val="E2E2E2"/>
          </a:solidFill>
          <a:ln/>
        </p:spPr>
      </p:sp>
      <p:sp>
        <p:nvSpPr>
          <p:cNvPr id="19" name="Text 17"/>
          <p:cNvSpPr txBox="1"/>
          <p:nvPr/>
        </p:nvSpPr>
        <p:spPr>
          <a:xfrm>
            <a:off x="3598978" y="3509900"/>
            <a:ext cx="1554480" cy="365760"/>
          </a:xfrm>
          <a:prstGeom prst="rect">
            <a:avLst/>
          </a:prstGeom>
          <a:noFill/>
          <a:ln/>
        </p:spPr>
        <p:txBody>
          <a:bodyPr wrap="square" lIns="0" tIns="0" rIns="0" bIns="0" rtlCol="0" anchor="ctr"/>
          <a:lstStyle/>
          <a:p>
            <a:pPr algn="r" indent="0" marL="0">
              <a:buNone/>
            </a:pPr>
            <a:r>
              <a:rPr lang="en-US" sz="1150" b="1" dirty="0">
                <a:solidFill>
                  <a:srgbClr val="707070"/>
                </a:solidFill>
                <a:latin typeface="Poppins" pitchFamily="34" charset="0"/>
                <a:ea typeface="Poppins" pitchFamily="34" charset="-122"/>
                <a:cs typeface="Poppins" pitchFamily="34" charset="-120"/>
              </a:rPr>
              <a:t>05  </a:t>
            </a:r>
            <a:pPr algn="r" indent="0" marL="0">
              <a:buNone/>
            </a:pPr>
            <a:r>
              <a:rPr lang="en-US" sz="1150" b="1" dirty="0">
                <a:solidFill>
                  <a:srgbClr val="2D2D2D"/>
                </a:solidFill>
                <a:latin typeface="Microsoft YaHei" pitchFamily="34" charset="0"/>
                <a:ea typeface="Microsoft YaHei" pitchFamily="34" charset="-122"/>
                <a:cs typeface="Microsoft YaHei" pitchFamily="34" charset="-120"/>
              </a:rPr>
              <a:t>收集数据</a:t>
            </a:r>
            <a:endParaRPr lang="en-US" sz="1150" dirty="0"/>
          </a:p>
        </p:txBody>
      </p:sp>
      <p:sp>
        <p:nvSpPr>
          <p:cNvPr id="20" name="Shape 18"/>
          <p:cNvSpPr/>
          <p:nvPr/>
        </p:nvSpPr>
        <p:spPr>
          <a:xfrm>
            <a:off x="5052060" y="1760220"/>
            <a:ext cx="2240280" cy="2240280"/>
          </a:xfrm>
          <a:prstGeom prst="blockArc">
            <a:avLst>
              <a:gd name="adj1" fmla="val 10148571"/>
              <a:gd name="adj2" fmla="val 12994286"/>
              <a:gd name="adj3" fmla="val 17000"/>
            </a:avLst>
          </a:prstGeom>
          <a:solidFill>
            <a:srgbClr val="EBEBEB"/>
          </a:solidFill>
          <a:ln/>
        </p:spPr>
      </p:sp>
      <p:sp>
        <p:nvSpPr>
          <p:cNvPr id="21" name="Text 19"/>
          <p:cNvSpPr txBox="1"/>
          <p:nvPr/>
        </p:nvSpPr>
        <p:spPr>
          <a:xfrm>
            <a:off x="3347369" y="2407531"/>
            <a:ext cx="1554480" cy="365760"/>
          </a:xfrm>
          <a:prstGeom prst="rect">
            <a:avLst/>
          </a:prstGeom>
          <a:noFill/>
          <a:ln/>
        </p:spPr>
        <p:txBody>
          <a:bodyPr wrap="square" lIns="0" tIns="0" rIns="0" bIns="0" rtlCol="0" anchor="ctr"/>
          <a:lstStyle/>
          <a:p>
            <a:pPr algn="r" indent="0" marL="0">
              <a:buNone/>
            </a:pPr>
            <a:r>
              <a:rPr lang="en-US" sz="1150" b="1" dirty="0">
                <a:solidFill>
                  <a:srgbClr val="707070"/>
                </a:solidFill>
                <a:latin typeface="Poppins" pitchFamily="34" charset="0"/>
                <a:ea typeface="Poppins" pitchFamily="34" charset="-122"/>
                <a:cs typeface="Poppins" pitchFamily="34" charset="-120"/>
              </a:rPr>
              <a:t>06  </a:t>
            </a:r>
            <a:pPr algn="r" indent="0" marL="0">
              <a:buNone/>
            </a:pPr>
            <a:r>
              <a:rPr lang="en-US" sz="1150" b="1" dirty="0">
                <a:solidFill>
                  <a:srgbClr val="2D2D2D"/>
                </a:solidFill>
                <a:latin typeface="Microsoft YaHei" pitchFamily="34" charset="0"/>
                <a:ea typeface="Microsoft YaHei" pitchFamily="34" charset="-122"/>
                <a:cs typeface="Microsoft YaHei" pitchFamily="34" charset="-120"/>
              </a:rPr>
              <a:t>分析结果</a:t>
            </a:r>
            <a:endParaRPr lang="en-US" sz="1150" dirty="0"/>
          </a:p>
        </p:txBody>
      </p:sp>
      <p:sp>
        <p:nvSpPr>
          <p:cNvPr id="22" name="Shape 20"/>
          <p:cNvSpPr/>
          <p:nvPr/>
        </p:nvSpPr>
        <p:spPr>
          <a:xfrm>
            <a:off x="5052060" y="1760220"/>
            <a:ext cx="2240280" cy="2240280"/>
          </a:xfrm>
          <a:prstGeom prst="blockArc">
            <a:avLst>
              <a:gd name="adj1" fmla="val 13234286"/>
              <a:gd name="adj2" fmla="val 16080000"/>
              <a:gd name="adj3" fmla="val 17000"/>
            </a:avLst>
          </a:prstGeom>
          <a:solidFill>
            <a:srgbClr val="40E0D0"/>
          </a:solidFill>
          <a:ln/>
        </p:spPr>
      </p:sp>
      <p:sp>
        <p:nvSpPr>
          <p:cNvPr id="23" name="Text 21"/>
          <p:cNvSpPr txBox="1"/>
          <p:nvPr/>
        </p:nvSpPr>
        <p:spPr>
          <a:xfrm>
            <a:off x="4052361" y="1523500"/>
            <a:ext cx="1554480" cy="365760"/>
          </a:xfrm>
          <a:prstGeom prst="rect">
            <a:avLst/>
          </a:prstGeom>
          <a:noFill/>
          <a:ln/>
        </p:spPr>
        <p:txBody>
          <a:bodyPr wrap="square" lIns="0" tIns="0" rIns="0" bIns="0" rtlCol="0" anchor="ctr"/>
          <a:lstStyle/>
          <a:p>
            <a:pPr algn="r" indent="0" marL="0">
              <a:buNone/>
            </a:pPr>
            <a:r>
              <a:rPr lang="en-US" sz="1150" b="1" dirty="0">
                <a:solidFill>
                  <a:srgbClr val="707070"/>
                </a:solidFill>
                <a:latin typeface="Poppins" pitchFamily="34" charset="0"/>
                <a:ea typeface="Poppins" pitchFamily="34" charset="-122"/>
                <a:cs typeface="Poppins" pitchFamily="34" charset="-120"/>
              </a:rPr>
              <a:t>07  </a:t>
            </a:r>
            <a:pPr algn="r" indent="0" marL="0">
              <a:buNone/>
            </a:pPr>
            <a:r>
              <a:rPr lang="en-US" sz="1150" b="1" dirty="0">
                <a:solidFill>
                  <a:srgbClr val="2D2D2D"/>
                </a:solidFill>
                <a:latin typeface="Microsoft YaHei" pitchFamily="34" charset="0"/>
                <a:ea typeface="Microsoft YaHei" pitchFamily="34" charset="-122"/>
                <a:cs typeface="Microsoft YaHei" pitchFamily="34" charset="-120"/>
              </a:rPr>
              <a:t>产生新问题</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关键要点回顾</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Key Takeaways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05  总结与回顾</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49</a:t>
            </a:r>
            <a:endParaRPr lang="en-US" sz="800" dirty="0"/>
          </a:p>
        </p:txBody>
      </p:sp>
      <p:sp>
        <p:nvSpPr>
          <p:cNvPr id="9" name="Shape 7"/>
          <p:cNvSpPr/>
          <p:nvPr/>
        </p:nvSpPr>
        <p:spPr>
          <a:xfrm>
            <a:off x="411480" y="1188720"/>
            <a:ext cx="2700528" cy="1636776"/>
          </a:xfrm>
          <a:prstGeom prst="rect">
            <a:avLst/>
          </a:prstGeom>
          <a:solidFill>
            <a:srgbClr val="40E0D0"/>
          </a:solidFill>
          <a:ln/>
        </p:spPr>
      </p:sp>
      <p:sp>
        <p:nvSpPr>
          <p:cNvPr id="10" name="Text 8"/>
          <p:cNvSpPr txBox="1"/>
          <p:nvPr/>
        </p:nvSpPr>
        <p:spPr>
          <a:xfrm>
            <a:off x="612648" y="1353312"/>
            <a:ext cx="2334768" cy="457200"/>
          </a:xfrm>
          <a:prstGeom prst="rect">
            <a:avLst/>
          </a:prstGeom>
          <a:noFill/>
          <a:ln/>
        </p:spPr>
        <p:txBody>
          <a:bodyPr wrap="square" lIns="0" tIns="0" rIns="0" bIns="0" rtlCol="0" anchor="t"/>
          <a:lstStyle/>
          <a:p>
            <a:pPr indent="0" marL="0">
              <a:buNone/>
            </a:pPr>
            <a:r>
              <a:rPr lang="en-US" sz="1800" b="1" dirty="0">
                <a:solidFill>
                  <a:srgbClr val="2D2D2D"/>
                </a:solidFill>
                <a:latin typeface="Poppins" pitchFamily="34" charset="0"/>
                <a:ea typeface="Poppins" pitchFamily="34" charset="-122"/>
                <a:cs typeface="Poppins" pitchFamily="34" charset="-120"/>
              </a:rPr>
              <a:t>01</a:t>
            </a:r>
            <a:endParaRPr lang="en-US" sz="1800" dirty="0"/>
          </a:p>
        </p:txBody>
      </p:sp>
      <p:sp>
        <p:nvSpPr>
          <p:cNvPr id="11" name="Text 9"/>
          <p:cNvSpPr txBox="1"/>
          <p:nvPr/>
        </p:nvSpPr>
        <p:spPr>
          <a:xfrm>
            <a:off x="612648" y="1764792"/>
            <a:ext cx="2334768"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研究思路来源</a:t>
            </a:r>
            <a:endParaRPr lang="en-US" sz="1500" dirty="0"/>
          </a:p>
        </p:txBody>
      </p:sp>
      <p:sp>
        <p:nvSpPr>
          <p:cNvPr id="12" name="Text 10"/>
          <p:cNvSpPr txBox="1"/>
          <p:nvPr/>
        </p:nvSpPr>
        <p:spPr>
          <a:xfrm>
            <a:off x="612648" y="2203704"/>
            <a:ext cx="2316480" cy="512064"/>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日常生活、实际问题、过往研究和理论</a:t>
            </a:r>
            <a:endParaRPr lang="en-US" sz="1150" dirty="0"/>
          </a:p>
        </p:txBody>
      </p:sp>
      <p:sp>
        <p:nvSpPr>
          <p:cNvPr id="13" name="Shape 11"/>
          <p:cNvSpPr/>
          <p:nvPr/>
        </p:nvSpPr>
        <p:spPr>
          <a:xfrm>
            <a:off x="3221736" y="1188720"/>
            <a:ext cx="2700528" cy="1636776"/>
          </a:xfrm>
          <a:prstGeom prst="rect">
            <a:avLst/>
          </a:prstGeom>
          <a:solidFill>
            <a:srgbClr val="EBEBEB"/>
          </a:solidFill>
          <a:ln/>
        </p:spPr>
      </p:sp>
      <p:sp>
        <p:nvSpPr>
          <p:cNvPr id="14" name="Text 12"/>
          <p:cNvSpPr txBox="1"/>
          <p:nvPr/>
        </p:nvSpPr>
        <p:spPr>
          <a:xfrm>
            <a:off x="3422904" y="1353312"/>
            <a:ext cx="2334768" cy="457200"/>
          </a:xfrm>
          <a:prstGeom prst="rect">
            <a:avLst/>
          </a:prstGeom>
          <a:noFill/>
          <a:ln/>
        </p:spPr>
        <p:txBody>
          <a:bodyPr wrap="square" lIns="0" tIns="0" rIns="0" bIns="0" rtlCol="0" anchor="t"/>
          <a:lstStyle/>
          <a:p>
            <a:pPr indent="0" marL="0">
              <a:buNone/>
            </a:pPr>
            <a:r>
              <a:rPr lang="en-US" sz="1800" b="1" dirty="0">
                <a:solidFill>
                  <a:srgbClr val="2D2D2D"/>
                </a:solidFill>
                <a:latin typeface="Poppins" pitchFamily="34" charset="0"/>
                <a:ea typeface="Poppins" pitchFamily="34" charset="-122"/>
                <a:cs typeface="Poppins" pitchFamily="34" charset="-120"/>
              </a:rPr>
              <a:t>02</a:t>
            </a:r>
            <a:endParaRPr lang="en-US" sz="1800" dirty="0"/>
          </a:p>
        </p:txBody>
      </p:sp>
      <p:sp>
        <p:nvSpPr>
          <p:cNvPr id="15" name="Text 13"/>
          <p:cNvSpPr txBox="1"/>
          <p:nvPr/>
        </p:nvSpPr>
        <p:spPr>
          <a:xfrm>
            <a:off x="3422904" y="1764792"/>
            <a:ext cx="2334768"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文献综述必要性</a:t>
            </a:r>
            <a:endParaRPr lang="en-US" sz="1500" dirty="0"/>
          </a:p>
        </p:txBody>
      </p:sp>
      <p:sp>
        <p:nvSpPr>
          <p:cNvPr id="16" name="Text 14"/>
          <p:cNvSpPr txBox="1"/>
          <p:nvPr/>
        </p:nvSpPr>
        <p:spPr>
          <a:xfrm>
            <a:off x="3422904" y="2203704"/>
            <a:ext cx="2316480" cy="512064"/>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了解现有知识，获得设计灵感，确定方法论问题</a:t>
            </a:r>
            <a:endParaRPr lang="en-US" sz="1150" dirty="0"/>
          </a:p>
        </p:txBody>
      </p:sp>
      <p:sp>
        <p:nvSpPr>
          <p:cNvPr id="17" name="Shape 15"/>
          <p:cNvSpPr/>
          <p:nvPr/>
        </p:nvSpPr>
        <p:spPr>
          <a:xfrm>
            <a:off x="6031992" y="1188720"/>
            <a:ext cx="2700528" cy="1636776"/>
          </a:xfrm>
          <a:prstGeom prst="rect">
            <a:avLst/>
          </a:prstGeom>
          <a:solidFill>
            <a:srgbClr val="E2E2E2"/>
          </a:solidFill>
          <a:ln/>
        </p:spPr>
      </p:sp>
      <p:sp>
        <p:nvSpPr>
          <p:cNvPr id="18" name="Text 16"/>
          <p:cNvSpPr txBox="1"/>
          <p:nvPr/>
        </p:nvSpPr>
        <p:spPr>
          <a:xfrm>
            <a:off x="6233160" y="1353312"/>
            <a:ext cx="2334768" cy="457200"/>
          </a:xfrm>
          <a:prstGeom prst="rect">
            <a:avLst/>
          </a:prstGeom>
          <a:noFill/>
          <a:ln/>
        </p:spPr>
        <p:txBody>
          <a:bodyPr wrap="square" lIns="0" tIns="0" rIns="0" bIns="0" rtlCol="0" anchor="t"/>
          <a:lstStyle/>
          <a:p>
            <a:pPr indent="0" marL="0">
              <a:buNone/>
            </a:pPr>
            <a:r>
              <a:rPr lang="en-US" sz="1800" b="1" dirty="0">
                <a:solidFill>
                  <a:srgbClr val="2D2D2D"/>
                </a:solidFill>
                <a:latin typeface="Poppins" pitchFamily="34" charset="0"/>
                <a:ea typeface="Poppins" pitchFamily="34" charset="-122"/>
                <a:cs typeface="Poppins" pitchFamily="34" charset="-120"/>
              </a:rPr>
              <a:t>03</a:t>
            </a:r>
            <a:endParaRPr lang="en-US" sz="1800" dirty="0"/>
          </a:p>
        </p:txBody>
      </p:sp>
      <p:sp>
        <p:nvSpPr>
          <p:cNvPr id="19" name="Text 17"/>
          <p:cNvSpPr txBox="1"/>
          <p:nvPr/>
        </p:nvSpPr>
        <p:spPr>
          <a:xfrm>
            <a:off x="6233160" y="1764792"/>
            <a:ext cx="2334768"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可行性评估</a:t>
            </a:r>
            <a:endParaRPr lang="en-US" sz="1500" dirty="0"/>
          </a:p>
        </p:txBody>
      </p:sp>
      <p:sp>
        <p:nvSpPr>
          <p:cNvPr id="20" name="Text 18"/>
          <p:cNvSpPr txBox="1"/>
          <p:nvPr/>
        </p:nvSpPr>
        <p:spPr>
          <a:xfrm>
            <a:off x="6233160" y="2203704"/>
            <a:ext cx="2316480" cy="512064"/>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考虑时间、费用、参与者、技能和伦理问题</a:t>
            </a:r>
            <a:endParaRPr lang="en-US" sz="1150" dirty="0"/>
          </a:p>
        </p:txBody>
      </p:sp>
      <p:sp>
        <p:nvSpPr>
          <p:cNvPr id="21" name="Shape 19"/>
          <p:cNvSpPr/>
          <p:nvPr/>
        </p:nvSpPr>
        <p:spPr>
          <a:xfrm>
            <a:off x="411480" y="2935224"/>
            <a:ext cx="2700528" cy="1636776"/>
          </a:xfrm>
          <a:prstGeom prst="rect">
            <a:avLst/>
          </a:prstGeom>
          <a:solidFill>
            <a:srgbClr val="EBEBEB"/>
          </a:solidFill>
          <a:ln/>
        </p:spPr>
      </p:sp>
      <p:sp>
        <p:nvSpPr>
          <p:cNvPr id="22" name="Text 20"/>
          <p:cNvSpPr txBox="1"/>
          <p:nvPr/>
        </p:nvSpPr>
        <p:spPr>
          <a:xfrm>
            <a:off x="612648" y="3099816"/>
            <a:ext cx="2334768" cy="457200"/>
          </a:xfrm>
          <a:prstGeom prst="rect">
            <a:avLst/>
          </a:prstGeom>
          <a:noFill/>
          <a:ln/>
        </p:spPr>
        <p:txBody>
          <a:bodyPr wrap="square" lIns="0" tIns="0" rIns="0" bIns="0" rtlCol="0" anchor="t"/>
          <a:lstStyle/>
          <a:p>
            <a:pPr indent="0" marL="0">
              <a:buNone/>
            </a:pPr>
            <a:r>
              <a:rPr lang="en-US" sz="1800" b="1" dirty="0">
                <a:solidFill>
                  <a:srgbClr val="2D2D2D"/>
                </a:solidFill>
                <a:latin typeface="Poppins" pitchFamily="34" charset="0"/>
                <a:ea typeface="Poppins" pitchFamily="34" charset="-122"/>
                <a:cs typeface="Poppins" pitchFamily="34" charset="-120"/>
              </a:rPr>
              <a:t>04</a:t>
            </a:r>
            <a:endParaRPr lang="en-US" sz="1800" dirty="0"/>
          </a:p>
        </p:txBody>
      </p:sp>
      <p:sp>
        <p:nvSpPr>
          <p:cNvPr id="23" name="Text 21"/>
          <p:cNvSpPr txBox="1"/>
          <p:nvPr/>
        </p:nvSpPr>
        <p:spPr>
          <a:xfrm>
            <a:off x="612648" y="3511296"/>
            <a:ext cx="2334768"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问题阐述</a:t>
            </a:r>
            <a:endParaRPr lang="en-US" sz="1500" dirty="0"/>
          </a:p>
        </p:txBody>
      </p:sp>
      <p:sp>
        <p:nvSpPr>
          <p:cNvPr id="24" name="Text 22"/>
          <p:cNvSpPr txBox="1"/>
          <p:nvPr/>
        </p:nvSpPr>
        <p:spPr>
          <a:xfrm>
            <a:off x="612648" y="3950208"/>
            <a:ext cx="2316480" cy="512064"/>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清晰、确切、具体，表明变量关系，可实证检验</a:t>
            </a:r>
            <a:endParaRPr lang="en-US" sz="1150" dirty="0"/>
          </a:p>
        </p:txBody>
      </p:sp>
      <p:sp>
        <p:nvSpPr>
          <p:cNvPr id="25" name="Shape 23"/>
          <p:cNvSpPr/>
          <p:nvPr/>
        </p:nvSpPr>
        <p:spPr>
          <a:xfrm>
            <a:off x="3221736" y="2935224"/>
            <a:ext cx="2700528" cy="1636776"/>
          </a:xfrm>
          <a:prstGeom prst="rect">
            <a:avLst/>
          </a:prstGeom>
          <a:solidFill>
            <a:srgbClr val="E2E2E2"/>
          </a:solidFill>
          <a:ln/>
        </p:spPr>
      </p:sp>
      <p:sp>
        <p:nvSpPr>
          <p:cNvPr id="26" name="Text 24"/>
          <p:cNvSpPr txBox="1"/>
          <p:nvPr/>
        </p:nvSpPr>
        <p:spPr>
          <a:xfrm>
            <a:off x="3422904" y="3099816"/>
            <a:ext cx="2334768" cy="457200"/>
          </a:xfrm>
          <a:prstGeom prst="rect">
            <a:avLst/>
          </a:prstGeom>
          <a:noFill/>
          <a:ln/>
        </p:spPr>
        <p:txBody>
          <a:bodyPr wrap="square" lIns="0" tIns="0" rIns="0" bIns="0" rtlCol="0" anchor="t"/>
          <a:lstStyle/>
          <a:p>
            <a:pPr indent="0" marL="0">
              <a:buNone/>
            </a:pPr>
            <a:r>
              <a:rPr lang="en-US" sz="1800" b="1" dirty="0">
                <a:solidFill>
                  <a:srgbClr val="2D2D2D"/>
                </a:solidFill>
                <a:latin typeface="Poppins" pitchFamily="34" charset="0"/>
                <a:ea typeface="Poppins" pitchFamily="34" charset="-122"/>
                <a:cs typeface="Poppins" pitchFamily="34" charset="-120"/>
              </a:rPr>
              <a:t>05</a:t>
            </a:r>
            <a:endParaRPr lang="en-US" sz="1800" dirty="0"/>
          </a:p>
        </p:txBody>
      </p:sp>
      <p:sp>
        <p:nvSpPr>
          <p:cNvPr id="27" name="Text 25"/>
          <p:cNvSpPr txBox="1"/>
          <p:nvPr/>
        </p:nvSpPr>
        <p:spPr>
          <a:xfrm>
            <a:off x="3422904" y="3511296"/>
            <a:ext cx="2334768" cy="36576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假设形成</a:t>
            </a:r>
            <a:endParaRPr lang="en-US" sz="1500" dirty="0"/>
          </a:p>
        </p:txBody>
      </p:sp>
      <p:sp>
        <p:nvSpPr>
          <p:cNvPr id="28" name="Text 26"/>
          <p:cNvSpPr txBox="1"/>
          <p:nvPr/>
        </p:nvSpPr>
        <p:spPr>
          <a:xfrm>
            <a:off x="3422904" y="3950208"/>
            <a:ext cx="2316480" cy="512064"/>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2D2D2D"/>
                </a:solidFill>
                <a:latin typeface="Microsoft YaHei" pitchFamily="34" charset="0"/>
                <a:ea typeface="Microsoft YaHei" pitchFamily="34" charset="-122"/>
                <a:cs typeface="Microsoft YaHei" pitchFamily="34" charset="-120"/>
              </a:rPr>
              <a:t>预测变量关系，必须能被证伪或证实</a:t>
            </a:r>
            <a:endParaRPr lang="en-US" sz="1150" dirty="0"/>
          </a:p>
        </p:txBody>
      </p:sp>
      <p:sp>
        <p:nvSpPr>
          <p:cNvPr id="29" name="Shape 27"/>
          <p:cNvSpPr/>
          <p:nvPr/>
        </p:nvSpPr>
        <p:spPr>
          <a:xfrm>
            <a:off x="6031992" y="2935224"/>
            <a:ext cx="2700528" cy="1636776"/>
          </a:xfrm>
          <a:prstGeom prst="rect">
            <a:avLst/>
          </a:prstGeom>
          <a:solidFill>
            <a:srgbClr val="2D2D2D"/>
          </a:solidFill>
          <a:ln/>
        </p:spPr>
      </p:sp>
      <p:sp>
        <p:nvSpPr>
          <p:cNvPr id="30" name="Text 28"/>
          <p:cNvSpPr txBox="1"/>
          <p:nvPr/>
        </p:nvSpPr>
        <p:spPr>
          <a:xfrm>
            <a:off x="6233160" y="3099816"/>
            <a:ext cx="2334768" cy="457200"/>
          </a:xfrm>
          <a:prstGeom prst="rect">
            <a:avLst/>
          </a:prstGeom>
          <a:noFill/>
          <a:ln/>
        </p:spPr>
        <p:txBody>
          <a:bodyPr wrap="square" lIns="0" tIns="0" rIns="0" bIns="0" rtlCol="0" anchor="t"/>
          <a:lstStyle/>
          <a:p>
            <a:pPr indent="0" marL="0">
              <a:buNone/>
            </a:pPr>
            <a:r>
              <a:rPr lang="en-US" sz="1800" b="1" dirty="0">
                <a:solidFill>
                  <a:srgbClr val="40E0D0"/>
                </a:solidFill>
                <a:latin typeface="Poppins" pitchFamily="34" charset="0"/>
                <a:ea typeface="Poppins" pitchFamily="34" charset="-122"/>
                <a:cs typeface="Poppins" pitchFamily="34" charset="-120"/>
              </a:rPr>
              <a:t>06</a:t>
            </a:r>
            <a:endParaRPr lang="en-US" sz="1800" dirty="0"/>
          </a:p>
        </p:txBody>
      </p:sp>
      <p:sp>
        <p:nvSpPr>
          <p:cNvPr id="31" name="Text 29"/>
          <p:cNvSpPr txBox="1"/>
          <p:nvPr/>
        </p:nvSpPr>
        <p:spPr>
          <a:xfrm>
            <a:off x="6233160" y="3511296"/>
            <a:ext cx="2334768" cy="365760"/>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科学连续性</a:t>
            </a:r>
            <a:endParaRPr lang="en-US" sz="1500" dirty="0"/>
          </a:p>
        </p:txBody>
      </p:sp>
      <p:sp>
        <p:nvSpPr>
          <p:cNvPr id="32" name="Text 30"/>
          <p:cNvSpPr txBox="1"/>
          <p:nvPr/>
        </p:nvSpPr>
        <p:spPr>
          <a:xfrm>
            <a:off x="6233160" y="3950208"/>
            <a:ext cx="2316480" cy="512064"/>
          </a:xfrm>
          <a:prstGeom prst="rect">
            <a:avLst/>
          </a:prstGeom>
          <a:noFill/>
          <a:ln/>
        </p:spPr>
        <p:txBody>
          <a:bodyPr wrap="square" lIns="0" tIns="0" rIns="0" bIns="0" rtlCol="0" anchor="t"/>
          <a:lstStyle/>
          <a:p>
            <a:pPr indent="0" marL="0">
              <a:lnSpc>
                <a:spcPct val="135000"/>
              </a:lnSpc>
              <a:spcAft>
                <a:spcPts val="300"/>
              </a:spcAft>
              <a:buNone/>
            </a:pPr>
            <a:r>
              <a:rPr lang="en-US" sz="1150" dirty="0">
                <a:solidFill>
                  <a:srgbClr val="FFFFFF"/>
                </a:solidFill>
                <a:latin typeface="Microsoft YaHei" pitchFamily="34" charset="0"/>
                <a:ea typeface="Microsoft YaHei" pitchFamily="34" charset="-122"/>
                <a:cs typeface="Microsoft YaHei" pitchFamily="34" charset="-120"/>
              </a:rPr>
              <a:t>每项研究产生新问题，知识不断积累进步</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40E0D0"/>
        </a:solidFill>
      </p:bgPr>
    </p:bg>
    <p:spTree>
      <p:nvGrpSpPr>
        <p:cNvPr id="1" name=""/>
        <p:cNvGrpSpPr/>
        <p:nvPr/>
      </p:nvGrpSpPr>
      <p:grpSpPr>
        <a:xfrm>
          <a:off x="0" y="0"/>
          <a:ext cx="0" cy="0"/>
          <a:chOff x="0" y="0"/>
          <a:chExt cx="0" cy="0"/>
        </a:xfrm>
      </p:grpSpPr>
      <p:sp>
        <p:nvSpPr>
          <p:cNvPr id="2" name="Text 0"/>
          <p:cNvSpPr txBox="1"/>
          <p:nvPr/>
        </p:nvSpPr>
        <p:spPr>
          <a:xfrm>
            <a:off x="548640" y="1097280"/>
            <a:ext cx="7772400" cy="1005840"/>
          </a:xfrm>
          <a:prstGeom prst="rect">
            <a:avLst/>
          </a:prstGeom>
          <a:noFill/>
          <a:ln/>
        </p:spPr>
        <p:txBody>
          <a:bodyPr wrap="square" lIns="0" tIns="0" rIns="0" bIns="0" rtlCol="0" anchor="ctr"/>
          <a:lstStyle/>
          <a:p>
            <a:pPr indent="0" marL="0">
              <a:buNone/>
            </a:pPr>
            <a:r>
              <a:rPr lang="en-US" sz="6000" b="1" dirty="0">
                <a:solidFill>
                  <a:srgbClr val="2D2D2D"/>
                </a:solidFill>
                <a:latin typeface="Poppins" pitchFamily="34" charset="0"/>
                <a:ea typeface="Poppins" pitchFamily="34" charset="-122"/>
                <a:cs typeface="Poppins" pitchFamily="34" charset="-120"/>
              </a:rPr>
              <a:t>Thank you</a:t>
            </a:r>
            <a:endParaRPr lang="en-US" sz="6000" dirty="0"/>
          </a:p>
        </p:txBody>
      </p:sp>
      <p:sp>
        <p:nvSpPr>
          <p:cNvPr id="3" name="Text 1"/>
          <p:cNvSpPr txBox="1"/>
          <p:nvPr/>
        </p:nvSpPr>
        <p:spPr>
          <a:xfrm>
            <a:off x="548640" y="2057400"/>
            <a:ext cx="7772400" cy="731520"/>
          </a:xfrm>
          <a:prstGeom prst="rect">
            <a:avLst/>
          </a:prstGeom>
          <a:noFill/>
          <a:ln/>
        </p:spPr>
        <p:txBody>
          <a:bodyPr wrap="square" lIns="0" tIns="0" rIns="0" bIns="0" rtlCol="0" anchor="ctr"/>
          <a:lstStyle/>
          <a:p>
            <a:pPr indent="0" marL="0">
              <a:buNone/>
            </a:pPr>
            <a:r>
              <a:rPr lang="en-US" sz="3600" dirty="0">
                <a:solidFill>
                  <a:srgbClr val="2D2D2D"/>
                </a:solidFill>
                <a:latin typeface="Microsoft YaHei" pitchFamily="34" charset="0"/>
                <a:ea typeface="Microsoft YaHei" pitchFamily="34" charset="-122"/>
                <a:cs typeface="Microsoft YaHei" pitchFamily="34" charset="-120"/>
              </a:rPr>
              <a:t>谢谢观看</a:t>
            </a:r>
            <a:endParaRPr lang="en-US" sz="3600" dirty="0"/>
          </a:p>
        </p:txBody>
      </p:sp>
      <p:sp>
        <p:nvSpPr>
          <p:cNvPr id="4" name="Shape 2"/>
          <p:cNvSpPr/>
          <p:nvPr/>
        </p:nvSpPr>
        <p:spPr>
          <a:xfrm>
            <a:off x="548640" y="3840480"/>
            <a:ext cx="402336" cy="402336"/>
          </a:xfrm>
          <a:prstGeom prst="rect">
            <a:avLst/>
          </a:prstGeom>
          <a:solidFill>
            <a:srgbClr val="2D2D2D"/>
          </a:solidFill>
          <a:ln/>
        </p:spPr>
      </p:sp>
      <p:sp>
        <p:nvSpPr>
          <p:cNvPr id="5" name="Shape 3"/>
          <p:cNvSpPr/>
          <p:nvPr/>
        </p:nvSpPr>
        <p:spPr>
          <a:xfrm>
            <a:off x="749808" y="4041648"/>
            <a:ext cx="281635" cy="281635"/>
          </a:xfrm>
          <a:prstGeom prst="rect">
            <a:avLst/>
          </a:prstGeom>
          <a:solidFill>
            <a:srgbClr val="FFFFFF"/>
          </a:solidFill>
          <a:ln/>
        </p:spPr>
      </p:sp>
      <p:sp>
        <p:nvSpPr>
          <p:cNvPr id="6" name="Text 4"/>
          <p:cNvSpPr txBox="1"/>
          <p:nvPr/>
        </p:nvSpPr>
        <p:spPr>
          <a:xfrm>
            <a:off x="1234440" y="3840480"/>
            <a:ext cx="5486400" cy="566928"/>
          </a:xfrm>
          <a:prstGeom prst="rect">
            <a:avLst/>
          </a:prstGeom>
          <a:noFill/>
          <a:ln/>
        </p:spPr>
        <p:txBody>
          <a:bodyPr wrap="square" lIns="0" tIns="0" rIns="0" bIns="0" rtlCol="0" anchor="ctr"/>
          <a:lstStyle/>
          <a:p>
            <a:pPr indent="0" marL="0">
              <a:lnSpc>
                <a:spcPct val="120000"/>
              </a:lnSpc>
              <a:buNone/>
            </a:pPr>
            <a:r>
              <a:rPr lang="en-US" sz="1200" dirty="0">
                <a:solidFill>
                  <a:srgbClr val="2D2D2D"/>
                </a:solidFill>
                <a:latin typeface="Microsoft YaHei" pitchFamily="34" charset="0"/>
                <a:ea typeface="Microsoft YaHei" pitchFamily="34" charset="-122"/>
                <a:cs typeface="Microsoft YaHei" pitchFamily="34" charset="-120"/>
              </a:rPr>
              <a:t>第2课  确定问题与研究主题</a:t>
            </a:r>
            <a:endParaRPr lang="en-US" sz="1200" dirty="0"/>
          </a:p>
          <a:p>
            <a:pPr indent="0" marL="0">
              <a:lnSpc>
                <a:spcPct val="120000"/>
              </a:lnSpc>
              <a:buNone/>
            </a:pPr>
            <a:r>
              <a:rPr lang="en-US" sz="1200" dirty="0">
                <a:solidFill>
                  <a:srgbClr val="2D2D2D"/>
                </a:solidFill>
                <a:latin typeface="Microsoft YaHei" pitchFamily="34" charset="0"/>
                <a:ea typeface="Microsoft YaHei" pitchFamily="34" charset="-122"/>
                <a:cs typeface="Microsoft YaHei" pitchFamily="34" charset="-120"/>
              </a:rPr>
              <a:t>工业设计学院  ·  张萌</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第2课 确定问题与研究主题</dc:title>
  <dc:subject>PptxGenJS Presentation</dc:subject>
  <dc:creator>张萌</dc:creator>
  <cp:lastModifiedBy>张萌</cp:lastModifiedBy>
  <cp:revision>1</cp:revision>
  <dcterms:created xsi:type="dcterms:W3CDTF">2026-09-23T14:56:56Z</dcterms:created>
  <dcterms:modified xsi:type="dcterms:W3CDTF">2026-09-23T14:56:56Z</dcterms:modified>
</cp:coreProperties>
</file>